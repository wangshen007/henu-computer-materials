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Default Extension="png" ContentType="image/png"/>
  <Override PartName="/ppt/slides/slide3.xml" ContentType="application/vnd.openxmlformats-officedocument.presentationml.slide+xml"/>
  <Default Extension="jpg" ContentType="image/jpg"/>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showMasterSp="0">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17" name="bg object 17"/>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18" name="bg object 18"/>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sp>
        <p:nvSpPr>
          <p:cNvPr id="19" name="bg object 19"/>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2" name="Holder 2"/>
          <p:cNvSpPr>
            <a:spLocks noGrp="1"/>
          </p:cNvSpPr>
          <p:nvPr>
            <p:ph type="ctrTitle"/>
          </p:nvPr>
        </p:nvSpPr>
        <p:spPr>
          <a:xfrm>
            <a:off x="1163637" y="211023"/>
            <a:ext cx="11041380" cy="514350"/>
          </a:xfrm>
          <a:prstGeom prst="rect">
            <a:avLst/>
          </a:prstGeom>
        </p:spPr>
        <p:txBody>
          <a:bodyPr wrap="square" lIns="0" tIns="0" rIns="0" bIns="0">
            <a:spAutoFit/>
          </a:bodyPr>
          <a:lstStyle>
            <a:lvl1pPr>
              <a:defRPr sz="3200" b="1" i="0" u="heavy">
                <a:solidFill>
                  <a:srgbClr val="0000CC"/>
                </a:solidFill>
                <a:latin typeface="黑体"/>
                <a:cs typeface="黑体"/>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u="heavy">
                <a:solidFill>
                  <a:srgbClr val="0000CC"/>
                </a:solidFill>
                <a:latin typeface="黑体"/>
                <a:cs typeface="黑体"/>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u="heavy">
                <a:solidFill>
                  <a:srgbClr val="0000CC"/>
                </a:solidFill>
                <a:latin typeface="黑体"/>
                <a:cs typeface="黑体"/>
              </a:defRPr>
            </a:lvl1pPr>
          </a:lstStyle>
          <a:p/>
        </p:txBody>
      </p:sp>
      <p:sp>
        <p:nvSpPr>
          <p:cNvPr id="3" name="Holder 3"/>
          <p:cNvSpPr>
            <a:spLocks noGrp="1"/>
          </p:cNvSpPr>
          <p:nvPr>
            <p:ph idx="2" sz="half"/>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showMasterSp="0">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17" name="bg object 17"/>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18" name="bg object 18"/>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sp>
        <p:nvSpPr>
          <p:cNvPr id="19" name="bg object 19"/>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2" name="Holder 2"/>
          <p:cNvSpPr>
            <a:spLocks noGrp="1"/>
          </p:cNvSpPr>
          <p:nvPr>
            <p:ph type="title"/>
          </p:nvPr>
        </p:nvSpPr>
        <p:spPr/>
        <p:txBody>
          <a:bodyPr lIns="0" tIns="0" rIns="0" bIns="0"/>
          <a:lstStyle>
            <a:lvl1pPr>
              <a:defRPr sz="3200" b="1" i="0" u="heavy">
                <a:solidFill>
                  <a:srgbClr val="0000CC"/>
                </a:solidFill>
                <a:latin typeface="黑体"/>
                <a:cs typeface="黑体"/>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showMasterSp="0">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sp>
        <p:nvSpPr>
          <p:cNvPr id="17" name="bg object 17"/>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18" name="bg object 18"/>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19" name="bg object 19"/>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sp>
        <p:nvSpPr>
          <p:cNvPr id="20" name="bg object 20"/>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17" name="bg object 17"/>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18" name="bg object 18"/>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sp>
        <p:nvSpPr>
          <p:cNvPr id="2" name="Holder 2"/>
          <p:cNvSpPr>
            <a:spLocks noGrp="1"/>
          </p:cNvSpPr>
          <p:nvPr>
            <p:ph type="title"/>
          </p:nvPr>
        </p:nvSpPr>
        <p:spPr>
          <a:xfrm>
            <a:off x="1163637" y="176530"/>
            <a:ext cx="11041380" cy="513715"/>
          </a:xfrm>
          <a:prstGeom prst="rect">
            <a:avLst/>
          </a:prstGeom>
        </p:spPr>
        <p:txBody>
          <a:bodyPr wrap="square" lIns="0" tIns="0" rIns="0" bIns="0">
            <a:spAutoFit/>
          </a:bodyPr>
          <a:lstStyle>
            <a:lvl1pPr>
              <a:defRPr sz="3200" b="1" i="0" u="heavy">
                <a:solidFill>
                  <a:srgbClr val="0000CC"/>
                </a:solidFill>
                <a:latin typeface="黑体"/>
                <a:cs typeface="黑体"/>
              </a:defRPr>
            </a:lvl1pPr>
          </a:lstStyle>
          <a:p/>
        </p:txBody>
      </p:sp>
      <p:sp>
        <p:nvSpPr>
          <p:cNvPr id="3" name="Holder 3"/>
          <p:cNvSpPr>
            <a:spLocks noGrp="1"/>
          </p:cNvSpPr>
          <p:nvPr>
            <p:ph type="body" idx="1"/>
          </p:nvPr>
        </p:nvSpPr>
        <p:spPr>
          <a:xfrm>
            <a:off x="1866963" y="2262187"/>
            <a:ext cx="8455025" cy="443357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0.xml"/><Relationship Id="rId3" Type="http://schemas.openxmlformats.org/officeDocument/2006/relationships/slide" Target="slide19.xml"/><Relationship Id="rId4" Type="http://schemas.openxmlformats.org/officeDocument/2006/relationships/slide" Target="slide35.xml"/><Relationship Id="rId5" Type="http://schemas.openxmlformats.org/officeDocument/2006/relationships/slide" Target="slide90.xml"/><Relationship Id="rId6" Type="http://schemas.openxmlformats.org/officeDocument/2006/relationships/slide" Target="slide105.xml"/><Relationship Id="rId7" Type="http://schemas.openxmlformats.org/officeDocument/2006/relationships/slide" Target="slide1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jpg"/><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jpg"/><Relationship Id="rId3" Type="http://schemas.openxmlformats.org/officeDocument/2006/relationships/image" Target="../media/image1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jpg"/><Relationship Id="rId3" Type="http://schemas.openxmlformats.org/officeDocument/2006/relationships/image" Target="../media/image2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23.png"/><Relationship Id="rId4" Type="http://schemas.openxmlformats.org/officeDocument/2006/relationships/image" Target="../media/image2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image" Target="../media/image2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3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jp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495425" cy="333375"/>
          </a:xfrm>
          <a:custGeom>
            <a:avLst/>
            <a:gdLst/>
            <a:ahLst/>
            <a:cxnLst/>
            <a:rect l="l" t="t" r="r" b="b"/>
            <a:pathLst>
              <a:path w="1495425" h="333375">
                <a:moveTo>
                  <a:pt x="0" y="333375"/>
                </a:moveTo>
                <a:lnTo>
                  <a:pt x="1495425" y="333375"/>
                </a:lnTo>
                <a:lnTo>
                  <a:pt x="1495425" y="0"/>
                </a:lnTo>
                <a:lnTo>
                  <a:pt x="0" y="0"/>
                </a:lnTo>
                <a:lnTo>
                  <a:pt x="0" y="333375"/>
                </a:lnTo>
                <a:close/>
              </a:path>
            </a:pathLst>
          </a:custGeom>
          <a:solidFill>
            <a:srgbClr val="044775"/>
          </a:solidFill>
        </p:spPr>
        <p:txBody>
          <a:bodyPr wrap="square" lIns="0" tIns="0" rIns="0" bIns="0" rtlCol="0"/>
          <a:lstStyle/>
          <a:p/>
        </p:txBody>
      </p:sp>
      <p:sp>
        <p:nvSpPr>
          <p:cNvPr id="8" name="object 8" descr=""/>
          <p:cNvSpPr/>
          <p:nvPr/>
        </p:nvSpPr>
        <p:spPr>
          <a:xfrm>
            <a:off x="10701401" y="6524624"/>
            <a:ext cx="1490980" cy="333375"/>
          </a:xfrm>
          <a:custGeom>
            <a:avLst/>
            <a:gdLst/>
            <a:ahLst/>
            <a:cxnLst/>
            <a:rect l="l" t="t" r="r" b="b"/>
            <a:pathLst>
              <a:path w="1490979" h="333375">
                <a:moveTo>
                  <a:pt x="0" y="333375"/>
                </a:moveTo>
                <a:lnTo>
                  <a:pt x="1490599" y="333375"/>
                </a:lnTo>
                <a:lnTo>
                  <a:pt x="1490599"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579367" y="28143"/>
            <a:ext cx="4598035" cy="574675"/>
          </a:xfrm>
          <a:prstGeom prst="rect"/>
        </p:spPr>
        <p:txBody>
          <a:bodyPr wrap="square" lIns="0" tIns="12700" rIns="0" bIns="0" rtlCol="0" vert="horz">
            <a:spAutoFit/>
          </a:bodyPr>
          <a:lstStyle/>
          <a:p>
            <a:pPr marL="12700">
              <a:lnSpc>
                <a:spcPct val="100000"/>
              </a:lnSpc>
              <a:spcBef>
                <a:spcPts val="100"/>
              </a:spcBef>
            </a:pPr>
            <a:r>
              <a:rPr dirty="0" u="none" sz="3600" spc="-10" b="0">
                <a:solidFill>
                  <a:srgbClr val="2C44A3"/>
                </a:solidFill>
                <a:latin typeface="黑体"/>
                <a:cs typeface="黑体"/>
              </a:rPr>
              <a:t>第2</a:t>
            </a:r>
            <a:r>
              <a:rPr dirty="0" u="none" sz="3600" spc="-15" b="0">
                <a:solidFill>
                  <a:srgbClr val="2C44A3"/>
                </a:solidFill>
                <a:latin typeface="黑体"/>
                <a:cs typeface="黑体"/>
              </a:rPr>
              <a:t>章 指令系统的设计</a:t>
            </a:r>
            <a:endParaRPr sz="3600">
              <a:latin typeface="黑体"/>
              <a:cs typeface="黑体"/>
            </a:endParaRPr>
          </a:p>
        </p:txBody>
      </p:sp>
      <p:sp>
        <p:nvSpPr>
          <p:cNvPr id="10" name="object 10" descr=""/>
          <p:cNvSpPr txBox="1"/>
          <p:nvPr/>
        </p:nvSpPr>
        <p:spPr>
          <a:xfrm>
            <a:off x="3725671" y="1515089"/>
            <a:ext cx="3990975" cy="3317875"/>
          </a:xfrm>
          <a:prstGeom prst="rect">
            <a:avLst/>
          </a:prstGeom>
        </p:spPr>
        <p:txBody>
          <a:bodyPr wrap="square" lIns="0" tIns="194945" rIns="0" bIns="0" rtlCol="0" vert="horz">
            <a:spAutoFit/>
          </a:bodyPr>
          <a:lstStyle/>
          <a:p>
            <a:pPr lvl="1" marL="926465" indent="-913765">
              <a:lnSpc>
                <a:spcPct val="100000"/>
              </a:lnSpc>
              <a:spcBef>
                <a:spcPts val="1535"/>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2" action="ppaction://hlinksldjump"/>
              </a:rPr>
              <a:t>指令系统结构的分类</a:t>
            </a:r>
            <a:endParaRPr sz="2400">
              <a:latin typeface="黑体"/>
              <a:cs typeface="黑体"/>
            </a:endParaRPr>
          </a:p>
          <a:p>
            <a:pPr lvl="1" marL="926465" indent="-913765">
              <a:lnSpc>
                <a:spcPct val="100000"/>
              </a:lnSpc>
              <a:spcBef>
                <a:spcPts val="1440"/>
              </a:spcBef>
              <a:buClr>
                <a:srgbClr val="40458B"/>
              </a:buClr>
              <a:buAutoNum type="arabicPeriod"/>
              <a:tabLst>
                <a:tab pos="926465" algn="l"/>
              </a:tabLst>
            </a:pPr>
            <a:r>
              <a:rPr dirty="0" u="sng" sz="2400" spc="-15">
                <a:solidFill>
                  <a:srgbClr val="4668F5"/>
                </a:solidFill>
                <a:uFill>
                  <a:solidFill>
                    <a:srgbClr val="4668F5"/>
                  </a:solidFill>
                </a:uFill>
                <a:latin typeface="黑体"/>
                <a:cs typeface="黑体"/>
                <a:hlinkClick r:id="rId3" action="ppaction://hlinksldjump"/>
              </a:rPr>
              <a:t>寻址方式</a:t>
            </a:r>
            <a:endParaRPr sz="2400">
              <a:latin typeface="黑体"/>
              <a:cs typeface="黑体"/>
            </a:endParaRPr>
          </a:p>
          <a:p>
            <a:pPr lvl="1" marL="926465" indent="-913765">
              <a:lnSpc>
                <a:spcPct val="100000"/>
              </a:lnSpc>
              <a:spcBef>
                <a:spcPts val="1445"/>
              </a:spcBef>
              <a:buClr>
                <a:srgbClr val="40458B"/>
              </a:buClr>
              <a:buAutoNum type="arabicPeriod"/>
              <a:tabLst>
                <a:tab pos="926465" algn="l"/>
              </a:tabLst>
            </a:pPr>
            <a:r>
              <a:rPr dirty="0" u="sng" sz="2400" spc="-5">
                <a:solidFill>
                  <a:srgbClr val="4668F5"/>
                </a:solidFill>
                <a:uFill>
                  <a:solidFill>
                    <a:srgbClr val="4668F5"/>
                  </a:solidFill>
                </a:uFill>
                <a:latin typeface="黑体"/>
                <a:cs typeface="黑体"/>
                <a:hlinkClick r:id="rId4" action="ppaction://hlinksldjump"/>
              </a:rPr>
              <a:t>指令系统的设计与优化</a:t>
            </a:r>
            <a:endParaRPr sz="2400">
              <a:latin typeface="黑体"/>
              <a:cs typeface="黑体"/>
            </a:endParaRPr>
          </a:p>
          <a:p>
            <a:pPr lvl="1" marL="926465" indent="-913765">
              <a:lnSpc>
                <a:spcPct val="100000"/>
              </a:lnSpc>
              <a:spcBef>
                <a:spcPts val="1440"/>
              </a:spcBef>
              <a:buClr>
                <a:srgbClr val="40458B"/>
              </a:buClr>
              <a:buAutoNum type="arabicPeriod"/>
              <a:tabLst>
                <a:tab pos="926465" algn="l"/>
              </a:tabLst>
            </a:pPr>
            <a:r>
              <a:rPr dirty="0" u="sng" sz="2400" spc="-5">
                <a:solidFill>
                  <a:srgbClr val="4668F5"/>
                </a:solidFill>
                <a:uFill>
                  <a:solidFill>
                    <a:srgbClr val="4668F5"/>
                  </a:solidFill>
                </a:uFill>
                <a:latin typeface="黑体"/>
                <a:cs typeface="黑体"/>
                <a:hlinkClick r:id="rId5" action="ppaction://hlinksldjump"/>
              </a:rPr>
              <a:t>指令系统的发展和改进</a:t>
            </a:r>
            <a:endParaRPr sz="2400">
              <a:latin typeface="黑体"/>
              <a:cs typeface="黑体"/>
            </a:endParaRPr>
          </a:p>
          <a:p>
            <a:pPr lvl="1" marL="926465" indent="-913765">
              <a:lnSpc>
                <a:spcPct val="100000"/>
              </a:lnSpc>
              <a:spcBef>
                <a:spcPts val="1440"/>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6" action="ppaction://hlinksldjump"/>
              </a:rPr>
              <a:t>操作数的类型和大小</a:t>
            </a:r>
            <a:endParaRPr sz="2400">
              <a:latin typeface="黑体"/>
              <a:cs typeface="黑体"/>
            </a:endParaRPr>
          </a:p>
          <a:p>
            <a:pPr lvl="1" marL="926465" indent="-913765">
              <a:lnSpc>
                <a:spcPct val="100000"/>
              </a:lnSpc>
              <a:spcBef>
                <a:spcPts val="1440"/>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7" action="ppaction://hlinksldjump"/>
              </a:rPr>
              <a:t>MIPS</a:t>
            </a:r>
            <a:r>
              <a:rPr dirty="0" u="sng" sz="2400" spc="-10">
                <a:solidFill>
                  <a:srgbClr val="4668F5"/>
                </a:solidFill>
                <a:uFill>
                  <a:solidFill>
                    <a:srgbClr val="4668F5"/>
                  </a:solidFill>
                </a:uFill>
                <a:latin typeface="黑体"/>
                <a:cs typeface="黑体"/>
                <a:hlinkClick r:id="rId7" action="ppaction://hlinksldjump"/>
              </a:rPr>
              <a:t>指令系统结构</a:t>
            </a:r>
            <a:endParaRPr sz="2400">
              <a:latin typeface="黑体"/>
              <a:cs typeface="黑体"/>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2775457" y="1700910"/>
            <a:ext cx="276225" cy="292100"/>
          </a:xfrm>
          <a:prstGeom prst="rect">
            <a:avLst/>
          </a:prstGeom>
        </p:spPr>
      </p:pic>
      <p:sp>
        <p:nvSpPr>
          <p:cNvPr id="3" name="object 3" descr=""/>
          <p:cNvSpPr txBox="1"/>
          <p:nvPr/>
        </p:nvSpPr>
        <p:spPr>
          <a:xfrm>
            <a:off x="1637792" y="1602993"/>
            <a:ext cx="8495665" cy="3919854"/>
          </a:xfrm>
          <a:prstGeom prst="rect">
            <a:avLst/>
          </a:prstGeom>
        </p:spPr>
        <p:txBody>
          <a:bodyPr wrap="square" lIns="0" tIns="12065" rIns="0" bIns="0" rtlCol="0" vert="horz">
            <a:spAutoFit/>
          </a:bodyPr>
          <a:lstStyle/>
          <a:p>
            <a:pPr marL="1456055" indent="-814069">
              <a:lnSpc>
                <a:spcPct val="100000"/>
              </a:lnSpc>
              <a:spcBef>
                <a:spcPts val="95"/>
              </a:spcBef>
              <a:buClr>
                <a:srgbClr val="40458B"/>
              </a:buClr>
              <a:buSzPct val="89285"/>
              <a:buFont typeface="Wingdings"/>
              <a:buChar char=""/>
              <a:tabLst>
                <a:tab pos="1456055" algn="l"/>
              </a:tabLst>
            </a:pPr>
            <a:r>
              <a:rPr dirty="0" sz="2800" spc="-25">
                <a:solidFill>
                  <a:srgbClr val="181B1F"/>
                </a:solidFill>
                <a:latin typeface="黑体"/>
                <a:cs typeface="黑体"/>
              </a:rPr>
              <a:t>顾:</a:t>
            </a:r>
            <a:r>
              <a:rPr dirty="0" sz="2800" spc="-35">
                <a:solidFill>
                  <a:srgbClr val="40458B"/>
                </a:solidFill>
                <a:latin typeface="黑体"/>
                <a:cs typeface="黑体"/>
              </a:rPr>
              <a:t>程序执行的</a:t>
            </a:r>
            <a:r>
              <a:rPr dirty="0" sz="2800" spc="-20">
                <a:solidFill>
                  <a:srgbClr val="40458B"/>
                </a:solidFill>
                <a:latin typeface="黑体"/>
                <a:cs typeface="黑体"/>
              </a:rPr>
              <a:t>CPU</a:t>
            </a:r>
            <a:r>
              <a:rPr dirty="0" sz="2800" spc="-40">
                <a:solidFill>
                  <a:srgbClr val="40458B"/>
                </a:solidFill>
                <a:latin typeface="黑体"/>
                <a:cs typeface="黑体"/>
              </a:rPr>
              <a:t>时间可以写成</a:t>
            </a:r>
            <a:endParaRPr sz="2800">
              <a:latin typeface="黑体"/>
              <a:cs typeface="黑体"/>
            </a:endParaRPr>
          </a:p>
          <a:p>
            <a:pPr marL="1403985">
              <a:lnSpc>
                <a:spcPct val="100000"/>
              </a:lnSpc>
              <a:spcBef>
                <a:spcPts val="2120"/>
              </a:spcBef>
            </a:pPr>
            <a:r>
              <a:rPr dirty="0" sz="2400">
                <a:solidFill>
                  <a:srgbClr val="FF0000"/>
                </a:solidFill>
                <a:latin typeface="黑体"/>
                <a:cs typeface="黑体"/>
              </a:rPr>
              <a:t>CPU</a:t>
            </a:r>
            <a:r>
              <a:rPr dirty="0" sz="2400" spc="-150">
                <a:solidFill>
                  <a:srgbClr val="FF0000"/>
                </a:solidFill>
                <a:latin typeface="黑体"/>
                <a:cs typeface="黑体"/>
              </a:rPr>
              <a:t>时间 </a:t>
            </a:r>
            <a:r>
              <a:rPr dirty="0" sz="2400" spc="-10">
                <a:solidFill>
                  <a:srgbClr val="FF0000"/>
                </a:solidFill>
                <a:latin typeface="Tahoma"/>
                <a:cs typeface="Tahoma"/>
              </a:rPr>
              <a:t>= </a:t>
            </a:r>
            <a:r>
              <a:rPr dirty="0" sz="2400">
                <a:solidFill>
                  <a:srgbClr val="FF0000"/>
                </a:solidFill>
                <a:latin typeface="黑体"/>
                <a:cs typeface="黑体"/>
              </a:rPr>
              <a:t>IC</a:t>
            </a:r>
            <a:r>
              <a:rPr dirty="0" sz="2400" spc="-5">
                <a:solidFill>
                  <a:srgbClr val="FF0000"/>
                </a:solidFill>
                <a:latin typeface="黑体"/>
                <a:cs typeface="黑体"/>
              </a:rPr>
              <a:t> </a:t>
            </a:r>
            <a:r>
              <a:rPr dirty="0" sz="2400">
                <a:solidFill>
                  <a:srgbClr val="FF0000"/>
                </a:solidFill>
                <a:latin typeface="黑体"/>
                <a:cs typeface="黑体"/>
              </a:rPr>
              <a:t>×CPI</a:t>
            </a:r>
            <a:r>
              <a:rPr dirty="0" sz="2400" spc="-75">
                <a:solidFill>
                  <a:srgbClr val="FF0000"/>
                </a:solidFill>
                <a:latin typeface="黑体"/>
                <a:cs typeface="黑体"/>
              </a:rPr>
              <a:t> ×时钟周期时间</a:t>
            </a:r>
            <a:endParaRPr sz="2400">
              <a:latin typeface="黑体"/>
              <a:cs typeface="黑体"/>
            </a:endParaRPr>
          </a:p>
          <a:p>
            <a:pPr marL="12700">
              <a:lnSpc>
                <a:spcPct val="100000"/>
              </a:lnSpc>
              <a:spcBef>
                <a:spcPts val="1580"/>
              </a:spcBef>
              <a:tabLst>
                <a:tab pos="469265" algn="l"/>
              </a:tabLst>
            </a:pPr>
            <a:r>
              <a:rPr dirty="0" sz="2400" spc="-25">
                <a:solidFill>
                  <a:srgbClr val="40458B"/>
                </a:solidFill>
                <a:latin typeface="Tahoma"/>
                <a:cs typeface="Tahoma"/>
              </a:rPr>
              <a:t>1.</a:t>
            </a:r>
            <a:r>
              <a:rPr dirty="0" sz="2400">
                <a:solidFill>
                  <a:srgbClr val="40458B"/>
                </a:solidFill>
                <a:latin typeface="Tahoma"/>
                <a:cs typeface="Tahoma"/>
              </a:rPr>
              <a:t>	</a:t>
            </a:r>
            <a:r>
              <a:rPr dirty="0" sz="2400" spc="-5">
                <a:solidFill>
                  <a:srgbClr val="E14B04"/>
                </a:solidFill>
                <a:latin typeface="黑体"/>
                <a:cs typeface="黑体"/>
              </a:rPr>
              <a:t>指令系统</a:t>
            </a:r>
            <a:r>
              <a:rPr dirty="0" sz="2400" spc="-20">
                <a:solidFill>
                  <a:srgbClr val="E14B04"/>
                </a:solidFill>
                <a:latin typeface="Tahoma"/>
                <a:cs typeface="Tahoma"/>
              </a:rPr>
              <a:t>(IS)</a:t>
            </a:r>
            <a:r>
              <a:rPr dirty="0" sz="2400" spc="-20">
                <a:solidFill>
                  <a:srgbClr val="E14B04"/>
                </a:solidFill>
                <a:latin typeface="黑体"/>
                <a:cs typeface="黑体"/>
              </a:rPr>
              <a:t>的目的</a:t>
            </a:r>
            <a:endParaRPr sz="2400">
              <a:latin typeface="黑体"/>
              <a:cs typeface="黑体"/>
            </a:endParaRPr>
          </a:p>
          <a:p>
            <a:pPr marL="1027430" indent="-457200">
              <a:lnSpc>
                <a:spcPct val="100000"/>
              </a:lnSpc>
              <a:spcBef>
                <a:spcPts val="1445"/>
              </a:spcBef>
              <a:buSzPct val="89583"/>
              <a:buFont typeface="Wingdings"/>
              <a:buChar char=""/>
              <a:tabLst>
                <a:tab pos="1027430" algn="l"/>
              </a:tabLst>
            </a:pPr>
            <a:r>
              <a:rPr dirty="0" u="sng" sz="2400" spc="-15">
                <a:solidFill>
                  <a:srgbClr val="40458B"/>
                </a:solidFill>
                <a:uFill>
                  <a:solidFill>
                    <a:srgbClr val="40458B"/>
                  </a:solidFill>
                </a:uFill>
                <a:latin typeface="黑体"/>
                <a:cs typeface="黑体"/>
              </a:rPr>
              <a:t>运行程序，较快地运行程序</a:t>
            </a:r>
            <a:endParaRPr sz="2400">
              <a:latin typeface="黑体"/>
              <a:cs typeface="黑体"/>
            </a:endParaRPr>
          </a:p>
          <a:p>
            <a:pPr lvl="1" marL="1727200" indent="-342900">
              <a:lnSpc>
                <a:spcPct val="100000"/>
              </a:lnSpc>
              <a:spcBef>
                <a:spcPts val="1275"/>
              </a:spcBef>
              <a:buClr>
                <a:srgbClr val="4668F5"/>
              </a:buClr>
              <a:buSzPct val="60000"/>
              <a:buFont typeface="Wingdings"/>
              <a:buChar char=""/>
              <a:tabLst>
                <a:tab pos="1727200" algn="l"/>
              </a:tabLst>
            </a:pPr>
            <a:r>
              <a:rPr dirty="0" sz="2000" spc="-10" b="1">
                <a:solidFill>
                  <a:srgbClr val="FF0000"/>
                </a:solidFill>
                <a:latin typeface="宋体"/>
                <a:cs typeface="宋体"/>
              </a:rPr>
              <a:t>可改进的地方（</a:t>
            </a:r>
            <a:r>
              <a:rPr dirty="0" sz="2000" spc="-15" b="1">
                <a:solidFill>
                  <a:srgbClr val="FF0000"/>
                </a:solidFill>
                <a:latin typeface="宋体"/>
                <a:cs typeface="宋体"/>
              </a:rPr>
              <a:t>根据上述公式</a:t>
            </a:r>
            <a:r>
              <a:rPr dirty="0" sz="2000" spc="-20" b="1">
                <a:solidFill>
                  <a:srgbClr val="FF0000"/>
                </a:solidFill>
                <a:latin typeface="宋体"/>
                <a:cs typeface="宋体"/>
              </a:rPr>
              <a:t>）</a:t>
            </a:r>
            <a:r>
              <a:rPr dirty="0" sz="2000" spc="-20" b="1">
                <a:latin typeface="宋体"/>
                <a:cs typeface="宋体"/>
              </a:rPr>
              <a:t>：</a:t>
            </a:r>
            <a:r>
              <a:rPr dirty="0" sz="2000" spc="-20" b="1">
                <a:latin typeface="黑体"/>
                <a:cs typeface="黑体"/>
              </a:rPr>
              <a:t>IC</a:t>
            </a:r>
            <a:r>
              <a:rPr dirty="0" sz="2000" spc="-20" b="1">
                <a:latin typeface="宋体"/>
                <a:cs typeface="宋体"/>
              </a:rPr>
              <a:t>（</a:t>
            </a:r>
            <a:r>
              <a:rPr dirty="0" sz="2000" spc="-15" b="1">
                <a:latin typeface="宋体"/>
                <a:cs typeface="宋体"/>
              </a:rPr>
              <a:t>指令条数</a:t>
            </a:r>
            <a:r>
              <a:rPr dirty="0" sz="2000" spc="-10" b="1">
                <a:latin typeface="宋体"/>
                <a:cs typeface="宋体"/>
              </a:rPr>
              <a:t>），</a:t>
            </a:r>
            <a:r>
              <a:rPr dirty="0" sz="2000" spc="-10" b="1">
                <a:latin typeface="黑体"/>
                <a:cs typeface="黑体"/>
              </a:rPr>
              <a:t>CPI</a:t>
            </a:r>
            <a:endParaRPr sz="2000">
              <a:latin typeface="黑体"/>
              <a:cs typeface="黑体"/>
            </a:endParaRPr>
          </a:p>
          <a:p>
            <a:pPr marL="1727200">
              <a:lnSpc>
                <a:spcPct val="100000"/>
              </a:lnSpc>
              <a:spcBef>
                <a:spcPts val="720"/>
              </a:spcBef>
            </a:pPr>
            <a:r>
              <a:rPr dirty="0" sz="2000" spc="-10" b="1">
                <a:latin typeface="宋体"/>
                <a:cs typeface="宋体"/>
              </a:rPr>
              <a:t>（</a:t>
            </a:r>
            <a:r>
              <a:rPr dirty="0" sz="2000" spc="-15" b="1">
                <a:latin typeface="宋体"/>
                <a:cs typeface="宋体"/>
              </a:rPr>
              <a:t>每条指令平均执行的时钟周期数</a:t>
            </a:r>
            <a:r>
              <a:rPr dirty="0" sz="2000" spc="-50" b="1">
                <a:latin typeface="宋体"/>
                <a:cs typeface="宋体"/>
              </a:rPr>
              <a:t>）</a:t>
            </a:r>
            <a:endParaRPr sz="2000">
              <a:latin typeface="宋体"/>
              <a:cs typeface="宋体"/>
            </a:endParaRPr>
          </a:p>
          <a:p>
            <a:pPr lvl="1" marL="1841500" indent="-457200">
              <a:lnSpc>
                <a:spcPct val="100000"/>
              </a:lnSpc>
              <a:spcBef>
                <a:spcPts val="1200"/>
              </a:spcBef>
              <a:buClr>
                <a:srgbClr val="4668F5"/>
              </a:buClr>
              <a:buSzPct val="60000"/>
              <a:buFont typeface="Wingdings"/>
              <a:buChar char=""/>
              <a:tabLst>
                <a:tab pos="1841500" algn="l"/>
              </a:tabLst>
            </a:pPr>
            <a:r>
              <a:rPr dirty="0" sz="2000" spc="-20" b="1">
                <a:solidFill>
                  <a:srgbClr val="FF0000"/>
                </a:solidFill>
                <a:latin typeface="宋体"/>
                <a:cs typeface="宋体"/>
              </a:rPr>
              <a:t>时钟周期时间</a:t>
            </a:r>
            <a:r>
              <a:rPr dirty="0" sz="2000" spc="-25" b="1">
                <a:latin typeface="宋体"/>
                <a:cs typeface="宋体"/>
              </a:rPr>
              <a:t>：与硬件频率相关，目前已接近其物理极限，</a:t>
            </a:r>
            <a:endParaRPr sz="2000">
              <a:latin typeface="宋体"/>
              <a:cs typeface="宋体"/>
            </a:endParaRPr>
          </a:p>
          <a:p>
            <a:pPr marL="1841500">
              <a:lnSpc>
                <a:spcPct val="100000"/>
              </a:lnSpc>
              <a:spcBef>
                <a:spcPts val="725"/>
              </a:spcBef>
            </a:pPr>
            <a:r>
              <a:rPr dirty="0" sz="2000" spc="-20" b="1">
                <a:latin typeface="宋体"/>
                <a:cs typeface="宋体"/>
              </a:rPr>
              <a:t>暂不考虑</a:t>
            </a:r>
            <a:endParaRPr sz="2000">
              <a:latin typeface="宋体"/>
              <a:cs typeface="宋体"/>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1602994" y="819302"/>
            <a:ext cx="8984615" cy="1136015"/>
          </a:xfrm>
          <a:prstGeom prst="rect">
            <a:avLst/>
          </a:prstGeom>
        </p:spPr>
        <p:txBody>
          <a:bodyPr wrap="square" lIns="0" tIns="27305" rIns="0" bIns="0" rtlCol="0" vert="horz">
            <a:spAutoFit/>
          </a:bodyPr>
          <a:lstStyle/>
          <a:p>
            <a:pPr marL="355600" marR="5080" indent="-342900">
              <a:lnSpc>
                <a:spcPts val="4370"/>
              </a:lnSpc>
              <a:spcBef>
                <a:spcPts val="215"/>
              </a:spcBef>
              <a:buClr>
                <a:srgbClr val="40458B"/>
              </a:buClr>
              <a:buSzPct val="114285"/>
              <a:buFont typeface="Wingdings"/>
              <a:buChar char=""/>
              <a:tabLst>
                <a:tab pos="355600" algn="l"/>
              </a:tabLst>
            </a:pPr>
            <a:r>
              <a:rPr dirty="0" sz="2800" spc="-35">
                <a:solidFill>
                  <a:srgbClr val="172152"/>
                </a:solidFill>
                <a:latin typeface="黑体"/>
                <a:cs typeface="黑体"/>
              </a:rPr>
              <a:t>计算机指令系统</a:t>
            </a:r>
            <a:r>
              <a:rPr dirty="0" sz="2800">
                <a:solidFill>
                  <a:srgbClr val="172152"/>
                </a:solidFill>
                <a:latin typeface="黑体"/>
                <a:cs typeface="黑体"/>
              </a:rPr>
              <a:t>（</a:t>
            </a:r>
            <a:r>
              <a:rPr dirty="0" sz="2800">
                <a:solidFill>
                  <a:srgbClr val="172152"/>
                </a:solidFill>
                <a:latin typeface="Tahoma"/>
                <a:cs typeface="Tahoma"/>
              </a:rPr>
              <a:t>Instruction</a:t>
            </a:r>
            <a:r>
              <a:rPr dirty="0" sz="2800" spc="-5">
                <a:solidFill>
                  <a:srgbClr val="172152"/>
                </a:solidFill>
                <a:latin typeface="Tahoma"/>
                <a:cs typeface="Tahoma"/>
              </a:rPr>
              <a:t> </a:t>
            </a:r>
            <a:r>
              <a:rPr dirty="0" sz="2800" spc="-25">
                <a:solidFill>
                  <a:srgbClr val="172152"/>
                </a:solidFill>
                <a:latin typeface="Tahoma"/>
                <a:cs typeface="Tahoma"/>
              </a:rPr>
              <a:t>System</a:t>
            </a:r>
            <a:r>
              <a:rPr dirty="0" sz="2800" spc="-25">
                <a:solidFill>
                  <a:srgbClr val="172152"/>
                </a:solidFill>
                <a:latin typeface="黑体"/>
                <a:cs typeface="黑体"/>
              </a:rPr>
              <a:t>，</a:t>
            </a:r>
            <a:r>
              <a:rPr dirty="0" sz="2800" spc="-25">
                <a:solidFill>
                  <a:srgbClr val="172152"/>
                </a:solidFill>
                <a:latin typeface="Tahoma"/>
                <a:cs typeface="Tahoma"/>
              </a:rPr>
              <a:t>IS</a:t>
            </a:r>
            <a:r>
              <a:rPr dirty="0" sz="2800" spc="-25">
                <a:solidFill>
                  <a:srgbClr val="172152"/>
                </a:solidFill>
                <a:latin typeface="黑体"/>
                <a:cs typeface="黑体"/>
              </a:rPr>
              <a:t>）：</a:t>
            </a:r>
            <a:r>
              <a:rPr dirty="0" sz="2800" spc="-35">
                <a:solidFill>
                  <a:srgbClr val="172152"/>
                </a:solidFill>
                <a:latin typeface="黑体"/>
                <a:cs typeface="黑体"/>
              </a:rPr>
              <a:t>一台计算</a:t>
            </a:r>
            <a:r>
              <a:rPr dirty="0" sz="2800" spc="-40">
                <a:solidFill>
                  <a:srgbClr val="172152"/>
                </a:solidFill>
                <a:latin typeface="黑体"/>
                <a:cs typeface="黑体"/>
              </a:rPr>
              <a:t>机能够直接识别与执行的机器指令的集合。</a:t>
            </a:r>
            <a:endParaRPr sz="2800">
              <a:latin typeface="黑体"/>
              <a:cs typeface="黑体"/>
            </a:endParaRPr>
          </a:p>
        </p:txBody>
      </p:sp>
      <p:pic>
        <p:nvPicPr>
          <p:cNvPr id="4" name="object 4" descr=""/>
          <p:cNvPicPr/>
          <p:nvPr/>
        </p:nvPicPr>
        <p:blipFill>
          <a:blip r:embed="rId2" cstate="print"/>
          <a:stretch>
            <a:fillRect/>
          </a:stretch>
        </p:blipFill>
        <p:spPr>
          <a:xfrm>
            <a:off x="2005076" y="2395473"/>
            <a:ext cx="8220075" cy="2600325"/>
          </a:xfrm>
          <a:prstGeom prst="rect">
            <a:avLst/>
          </a:prstGeom>
        </p:spPr>
      </p:pic>
      <p:sp>
        <p:nvSpPr>
          <p:cNvPr id="5" name="object 5"/>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006FC0"/>
                </a:solidFill>
              </a:rPr>
              <a:t>	2.1</a:t>
            </a:r>
            <a:r>
              <a:rPr dirty="0" spc="5">
                <a:solidFill>
                  <a:srgbClr val="006FC0"/>
                </a:solidFill>
              </a:rPr>
              <a:t> </a:t>
            </a:r>
            <a:r>
              <a:rPr dirty="0" spc="-10">
                <a:solidFill>
                  <a:srgbClr val="006FC0"/>
                </a:solidFill>
                <a:latin typeface="微软雅黑"/>
                <a:cs typeface="微软雅黑"/>
              </a:rPr>
              <a:t>指令系统结构的分</a:t>
            </a:r>
            <a:r>
              <a:rPr dirty="0" spc="-50">
                <a:solidFill>
                  <a:srgbClr val="006FC0"/>
                </a:solidFill>
                <a:latin typeface="微软雅黑"/>
                <a:cs typeface="微软雅黑"/>
              </a:rPr>
              <a:t>类</a:t>
            </a:r>
            <a:r>
              <a:rPr dirty="0">
                <a:solidFill>
                  <a:srgbClr val="006FC0"/>
                </a:solidFill>
                <a:latin typeface="微软雅黑"/>
                <a:cs typeface="微软雅黑"/>
              </a:rPr>
              <a:t>	</a:t>
            </a:r>
          </a:p>
        </p:txBody>
      </p:sp>
      <p:sp>
        <p:nvSpPr>
          <p:cNvPr id="6" name="object 6" descr=""/>
          <p:cNvSpPr txBox="1"/>
          <p:nvPr/>
        </p:nvSpPr>
        <p:spPr>
          <a:xfrm>
            <a:off x="4230751" y="5550509"/>
            <a:ext cx="2313940" cy="331470"/>
          </a:xfrm>
          <a:prstGeom prst="rect">
            <a:avLst/>
          </a:prstGeom>
        </p:spPr>
        <p:txBody>
          <a:bodyPr wrap="square" lIns="0" tIns="13335" rIns="0" bIns="0" rtlCol="0" vert="horz">
            <a:spAutoFit/>
          </a:bodyPr>
          <a:lstStyle/>
          <a:p>
            <a:pPr marL="12700">
              <a:lnSpc>
                <a:spcPct val="100000"/>
              </a:lnSpc>
              <a:spcBef>
                <a:spcPts val="105"/>
              </a:spcBef>
            </a:pPr>
            <a:r>
              <a:rPr dirty="0" sz="2000" spc="-20">
                <a:solidFill>
                  <a:srgbClr val="40458B"/>
                </a:solidFill>
                <a:latin typeface="黑体"/>
                <a:cs typeface="黑体"/>
              </a:rPr>
              <a:t>计算机系统工作流程</a:t>
            </a:r>
            <a:endParaRPr sz="2000">
              <a:latin typeface="黑体"/>
              <a:cs typeface="黑体"/>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602994" y="704883"/>
            <a:ext cx="9083040" cy="2551430"/>
          </a:xfrm>
          <a:prstGeom prst="rect">
            <a:avLst/>
          </a:prstGeom>
        </p:spPr>
        <p:txBody>
          <a:bodyPr wrap="square" lIns="0" tIns="235585" rIns="0" bIns="0" rtlCol="0" vert="horz">
            <a:spAutoFit/>
          </a:bodyPr>
          <a:lstStyle/>
          <a:p>
            <a:pPr marL="469265" indent="-456565">
              <a:lnSpc>
                <a:spcPct val="100000"/>
              </a:lnSpc>
              <a:spcBef>
                <a:spcPts val="1855"/>
              </a:spcBef>
              <a:buClr>
                <a:srgbClr val="40458B"/>
              </a:buClr>
              <a:buSzPct val="118518"/>
              <a:buFont typeface="Wingdings"/>
              <a:buChar char=""/>
              <a:tabLst>
                <a:tab pos="469265" algn="l"/>
              </a:tabLst>
            </a:pPr>
            <a:r>
              <a:rPr dirty="0" sz="2700">
                <a:solidFill>
                  <a:srgbClr val="172152"/>
                </a:solidFill>
                <a:latin typeface="黑体"/>
                <a:cs typeface="黑体"/>
              </a:rPr>
              <a:t>指令系统结构（</a:t>
            </a:r>
            <a:r>
              <a:rPr dirty="0" sz="2700">
                <a:solidFill>
                  <a:srgbClr val="172152"/>
                </a:solidFill>
                <a:latin typeface="Tahoma"/>
                <a:cs typeface="Tahoma"/>
              </a:rPr>
              <a:t>Instruction</a:t>
            </a:r>
            <a:r>
              <a:rPr dirty="0" sz="2700" spc="-20">
                <a:solidFill>
                  <a:srgbClr val="172152"/>
                </a:solidFill>
                <a:latin typeface="Tahoma"/>
                <a:cs typeface="Tahoma"/>
              </a:rPr>
              <a:t> </a:t>
            </a:r>
            <a:r>
              <a:rPr dirty="0" sz="2700">
                <a:solidFill>
                  <a:srgbClr val="172152"/>
                </a:solidFill>
                <a:latin typeface="Tahoma"/>
                <a:cs typeface="Tahoma"/>
              </a:rPr>
              <a:t>Set </a:t>
            </a:r>
            <a:r>
              <a:rPr dirty="0" sz="2700" spc="-10">
                <a:solidFill>
                  <a:srgbClr val="172152"/>
                </a:solidFill>
                <a:latin typeface="Tahoma"/>
                <a:cs typeface="Tahoma"/>
              </a:rPr>
              <a:t>Architecture</a:t>
            </a:r>
            <a:r>
              <a:rPr dirty="0" sz="2700" spc="-10">
                <a:solidFill>
                  <a:srgbClr val="172152"/>
                </a:solidFill>
                <a:latin typeface="黑体"/>
                <a:cs typeface="黑体"/>
              </a:rPr>
              <a:t>，</a:t>
            </a:r>
            <a:r>
              <a:rPr dirty="0" sz="2700" spc="-10">
                <a:solidFill>
                  <a:srgbClr val="172152"/>
                </a:solidFill>
                <a:latin typeface="Tahoma"/>
                <a:cs typeface="Tahoma"/>
              </a:rPr>
              <a:t>ISA</a:t>
            </a:r>
            <a:r>
              <a:rPr dirty="0" sz="2700" spc="-10">
                <a:solidFill>
                  <a:srgbClr val="172152"/>
                </a:solidFill>
                <a:latin typeface="黑体"/>
                <a:cs typeface="黑体"/>
              </a:rPr>
              <a:t>）</a:t>
            </a:r>
            <a:r>
              <a:rPr dirty="0" sz="2700" spc="-25">
                <a:solidFill>
                  <a:srgbClr val="172152"/>
                </a:solidFill>
                <a:latin typeface="黑体"/>
                <a:cs typeface="黑体"/>
              </a:rPr>
              <a:t>概念</a:t>
            </a:r>
            <a:endParaRPr sz="2700">
              <a:latin typeface="黑体"/>
              <a:cs typeface="黑体"/>
            </a:endParaRPr>
          </a:p>
          <a:p>
            <a:pPr lvl="1" marL="812165" indent="-467359">
              <a:lnSpc>
                <a:spcPct val="100000"/>
              </a:lnSpc>
              <a:spcBef>
                <a:spcPts val="1425"/>
              </a:spcBef>
              <a:buSzPct val="88636"/>
              <a:buFont typeface="Wingdings"/>
              <a:buChar char=""/>
              <a:tabLst>
                <a:tab pos="812165" algn="l"/>
              </a:tabLst>
            </a:pPr>
            <a:r>
              <a:rPr dirty="0" sz="2200" spc="-35">
                <a:solidFill>
                  <a:srgbClr val="006FC0"/>
                </a:solidFill>
                <a:latin typeface="黑体"/>
                <a:cs typeface="黑体"/>
              </a:rPr>
              <a:t>又名指令集架构，或计算机架构，是计算机的抽象模型</a:t>
            </a:r>
            <a:endParaRPr sz="2200">
              <a:latin typeface="黑体"/>
              <a:cs typeface="黑体"/>
            </a:endParaRPr>
          </a:p>
          <a:p>
            <a:pPr lvl="1" marL="812800" marR="5080" indent="-467995">
              <a:lnSpc>
                <a:spcPct val="130000"/>
              </a:lnSpc>
              <a:spcBef>
                <a:spcPts val="530"/>
              </a:spcBef>
              <a:buSzPct val="88636"/>
              <a:buFont typeface="Wingdings"/>
              <a:buChar char=""/>
              <a:tabLst>
                <a:tab pos="812800" algn="l"/>
              </a:tabLst>
            </a:pPr>
            <a:r>
              <a:rPr dirty="0" sz="2200" spc="-20">
                <a:solidFill>
                  <a:srgbClr val="006FC0"/>
                </a:solidFill>
                <a:latin typeface="Tahoma"/>
                <a:cs typeface="Tahoma"/>
              </a:rPr>
              <a:t>ISA</a:t>
            </a:r>
            <a:r>
              <a:rPr dirty="0" sz="2200" spc="-35">
                <a:solidFill>
                  <a:srgbClr val="006FC0"/>
                </a:solidFill>
                <a:latin typeface="黑体"/>
                <a:cs typeface="黑体"/>
              </a:rPr>
              <a:t>定义了支持的数据类型、寄存器、管理主存的硬件支持、基本功</a:t>
            </a:r>
            <a:r>
              <a:rPr dirty="0" sz="2200" spc="-25">
                <a:solidFill>
                  <a:srgbClr val="006FC0"/>
                </a:solidFill>
                <a:latin typeface="黑体"/>
                <a:cs typeface="黑体"/>
              </a:rPr>
              <a:t>能（</a:t>
            </a:r>
            <a:r>
              <a:rPr dirty="0" sz="2200" spc="-30">
                <a:solidFill>
                  <a:srgbClr val="006FC0"/>
                </a:solidFill>
                <a:latin typeface="黑体"/>
                <a:cs typeface="黑体"/>
              </a:rPr>
              <a:t>寻址模式、虚存等</a:t>
            </a:r>
            <a:r>
              <a:rPr dirty="0" sz="2200" spc="-25">
                <a:solidFill>
                  <a:srgbClr val="006FC0"/>
                </a:solidFill>
                <a:latin typeface="黑体"/>
                <a:cs typeface="黑体"/>
              </a:rPr>
              <a:t>）</a:t>
            </a:r>
            <a:r>
              <a:rPr dirty="0" sz="2200" spc="-30">
                <a:solidFill>
                  <a:srgbClr val="006FC0"/>
                </a:solidFill>
                <a:latin typeface="黑体"/>
                <a:cs typeface="黑体"/>
              </a:rPr>
              <a:t>、指令格式，以及</a:t>
            </a:r>
            <a:r>
              <a:rPr dirty="0" sz="2200" spc="-20">
                <a:solidFill>
                  <a:srgbClr val="006FC0"/>
                </a:solidFill>
                <a:latin typeface="Tahoma"/>
                <a:cs typeface="Tahoma"/>
              </a:rPr>
              <a:t>ISA</a:t>
            </a:r>
            <a:r>
              <a:rPr dirty="0" sz="2200" spc="-30">
                <a:solidFill>
                  <a:srgbClr val="006FC0"/>
                </a:solidFill>
                <a:latin typeface="黑体"/>
                <a:cs typeface="黑体"/>
              </a:rPr>
              <a:t>一系列实现的</a:t>
            </a:r>
            <a:r>
              <a:rPr dirty="0" sz="2200" spc="-25">
                <a:solidFill>
                  <a:srgbClr val="006FC0"/>
                </a:solidFill>
                <a:latin typeface="Tahoma"/>
                <a:cs typeface="Tahoma"/>
              </a:rPr>
              <a:t>I/O</a:t>
            </a:r>
            <a:r>
              <a:rPr dirty="0" sz="2200" spc="-50">
                <a:solidFill>
                  <a:srgbClr val="006FC0"/>
                </a:solidFill>
                <a:latin typeface="黑体"/>
                <a:cs typeface="黑体"/>
              </a:rPr>
              <a:t>模</a:t>
            </a:r>
            <a:r>
              <a:rPr dirty="0" sz="2200" spc="-25">
                <a:solidFill>
                  <a:srgbClr val="006FC0"/>
                </a:solidFill>
                <a:latin typeface="黑体"/>
                <a:cs typeface="黑体"/>
              </a:rPr>
              <a:t>型</a:t>
            </a:r>
            <a:r>
              <a:rPr dirty="0" sz="2200" spc="-30">
                <a:solidFill>
                  <a:srgbClr val="006FC0"/>
                </a:solidFill>
                <a:latin typeface="黑体"/>
                <a:cs typeface="黑体"/>
              </a:rPr>
              <a:t>（交互模式等</a:t>
            </a:r>
            <a:r>
              <a:rPr dirty="0" sz="2200" spc="-50">
                <a:solidFill>
                  <a:srgbClr val="006FC0"/>
                </a:solidFill>
                <a:latin typeface="黑体"/>
                <a:cs typeface="黑体"/>
              </a:rPr>
              <a:t>）</a:t>
            </a:r>
            <a:endParaRPr sz="2200">
              <a:latin typeface="黑体"/>
              <a:cs typeface="黑体"/>
            </a:endParaRPr>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000000"/>
                </a:solidFill>
              </a:rPr>
              <a:t>	2.1</a:t>
            </a:r>
            <a:r>
              <a:rPr dirty="0" spc="-35">
                <a:solidFill>
                  <a:srgbClr val="000000"/>
                </a:solidFill>
              </a:rPr>
              <a:t> </a:t>
            </a:r>
            <a:r>
              <a:rPr dirty="0">
                <a:solidFill>
                  <a:srgbClr val="000000"/>
                </a:solidFill>
                <a:latin typeface="微软雅黑"/>
                <a:cs typeface="微软雅黑"/>
              </a:rPr>
              <a:t>指令系统结构的分</a:t>
            </a:r>
            <a:r>
              <a:rPr dirty="0" spc="-50">
                <a:solidFill>
                  <a:srgbClr val="000000"/>
                </a:solidFill>
                <a:latin typeface="微软雅黑"/>
                <a:cs typeface="微软雅黑"/>
              </a:rPr>
              <a:t>类</a:t>
            </a:r>
            <a:r>
              <a:rPr dirty="0">
                <a:solidFill>
                  <a:srgbClr val="000000"/>
                </a:solidFill>
                <a:latin typeface="微软雅黑"/>
                <a:cs typeface="微软雅黑"/>
              </a:rPr>
              <a:t>	</a:t>
            </a:r>
          </a:p>
        </p:txBody>
      </p:sp>
      <p:grpSp>
        <p:nvGrpSpPr>
          <p:cNvPr id="5" name="object 5" descr=""/>
          <p:cNvGrpSpPr/>
          <p:nvPr/>
        </p:nvGrpSpPr>
        <p:grpSpPr>
          <a:xfrm>
            <a:off x="1782762" y="3717861"/>
            <a:ext cx="8734425" cy="2611755"/>
            <a:chOff x="1782762" y="3717861"/>
            <a:chExt cx="8734425" cy="2611755"/>
          </a:xfrm>
        </p:grpSpPr>
        <p:pic>
          <p:nvPicPr>
            <p:cNvPr id="6" name="object 6"/>
            <p:cNvPicPr/>
            <p:nvPr/>
          </p:nvPicPr>
          <p:blipFill>
            <a:blip r:embed="rId2" cstate="print"/>
            <a:stretch>
              <a:fillRect/>
            </a:stretch>
          </p:blipFill>
          <p:spPr>
            <a:xfrm>
              <a:off x="2486976" y="3774646"/>
              <a:ext cx="7304417" cy="2503949"/>
            </a:xfrm>
            <a:prstGeom prst="rect">
              <a:avLst/>
            </a:prstGeom>
          </p:spPr>
        </p:pic>
        <p:sp>
          <p:nvSpPr>
            <p:cNvPr id="7" name="object 7" descr=""/>
            <p:cNvSpPr/>
            <p:nvPr/>
          </p:nvSpPr>
          <p:spPr>
            <a:xfrm>
              <a:off x="1787525" y="3722623"/>
              <a:ext cx="8724900" cy="2602230"/>
            </a:xfrm>
            <a:custGeom>
              <a:avLst/>
              <a:gdLst/>
              <a:ahLst/>
              <a:cxnLst/>
              <a:rect l="l" t="t" r="r" b="b"/>
              <a:pathLst>
                <a:path w="8724900" h="2602229">
                  <a:moveTo>
                    <a:pt x="0" y="2601976"/>
                  </a:moveTo>
                  <a:lnTo>
                    <a:pt x="8724900" y="2601976"/>
                  </a:lnTo>
                  <a:lnTo>
                    <a:pt x="8724900" y="0"/>
                  </a:lnTo>
                  <a:lnTo>
                    <a:pt x="0" y="0"/>
                  </a:lnTo>
                  <a:lnTo>
                    <a:pt x="0" y="2601976"/>
                  </a:lnTo>
                  <a:close/>
                </a:path>
              </a:pathLst>
            </a:custGeom>
            <a:ln w="9525">
              <a:solidFill>
                <a:srgbClr val="E14B04"/>
              </a:solidFill>
            </a:ln>
          </p:spPr>
          <p:txBody>
            <a:bodyPr wrap="square" lIns="0" tIns="0" rIns="0" bIns="0" rtlCol="0"/>
            <a:lstStyle/>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602994" y="768337"/>
            <a:ext cx="8729345" cy="2713355"/>
          </a:xfrm>
          <a:prstGeom prst="rect">
            <a:avLst/>
          </a:prstGeom>
        </p:spPr>
        <p:txBody>
          <a:bodyPr wrap="square" lIns="0" tIns="245745" rIns="0" bIns="0" rtlCol="0" vert="horz">
            <a:spAutoFit/>
          </a:bodyPr>
          <a:lstStyle/>
          <a:p>
            <a:pPr marL="469265" indent="-456565">
              <a:lnSpc>
                <a:spcPct val="100000"/>
              </a:lnSpc>
              <a:spcBef>
                <a:spcPts val="1935"/>
              </a:spcBef>
              <a:buClr>
                <a:srgbClr val="40458B"/>
              </a:buClr>
              <a:buSzPct val="117857"/>
              <a:buFont typeface="Wingdings"/>
              <a:buChar char=""/>
              <a:tabLst>
                <a:tab pos="469265" algn="l"/>
              </a:tabLst>
            </a:pPr>
            <a:r>
              <a:rPr dirty="0" sz="2800" spc="-25">
                <a:solidFill>
                  <a:srgbClr val="172152"/>
                </a:solidFill>
                <a:latin typeface="黑体"/>
                <a:cs typeface="黑体"/>
              </a:rPr>
              <a:t>指令系统</a:t>
            </a:r>
            <a:r>
              <a:rPr dirty="0" sz="2800" spc="-20">
                <a:solidFill>
                  <a:srgbClr val="172152"/>
                </a:solidFill>
                <a:latin typeface="Tahoma"/>
                <a:cs typeface="Tahoma"/>
              </a:rPr>
              <a:t>(ISA)</a:t>
            </a:r>
            <a:r>
              <a:rPr dirty="0" sz="2800" spc="-40">
                <a:solidFill>
                  <a:srgbClr val="172152"/>
                </a:solidFill>
                <a:latin typeface="黑体"/>
                <a:cs typeface="黑体"/>
              </a:rPr>
              <a:t>：软硬件的分界面</a:t>
            </a:r>
            <a:endParaRPr sz="2800">
              <a:latin typeface="黑体"/>
              <a:cs typeface="黑体"/>
            </a:endParaRPr>
          </a:p>
          <a:p>
            <a:pPr lvl="1" marL="1027430" indent="-457200">
              <a:lnSpc>
                <a:spcPct val="100000"/>
              </a:lnSpc>
              <a:spcBef>
                <a:spcPts val="1445"/>
              </a:spcBef>
              <a:buClr>
                <a:srgbClr val="006FC0"/>
              </a:buClr>
              <a:buSzPct val="88636"/>
              <a:buFont typeface="Wingdings"/>
              <a:buChar char=""/>
              <a:tabLst>
                <a:tab pos="1027430" algn="l"/>
              </a:tabLst>
            </a:pPr>
            <a:r>
              <a:rPr dirty="0" u="sng" sz="2200" spc="-25">
                <a:solidFill>
                  <a:srgbClr val="FF0000"/>
                </a:solidFill>
                <a:uFill>
                  <a:solidFill>
                    <a:srgbClr val="FF0000"/>
                  </a:solidFill>
                </a:uFill>
                <a:latin typeface="黑体"/>
                <a:cs typeface="黑体"/>
              </a:rPr>
              <a:t>定义</a:t>
            </a:r>
            <a:r>
              <a:rPr dirty="0" u="sng" sz="2200" spc="-30">
                <a:solidFill>
                  <a:srgbClr val="006FC0"/>
                </a:solidFill>
                <a:uFill>
                  <a:solidFill>
                    <a:srgbClr val="006FC0"/>
                  </a:solidFill>
                </a:uFill>
                <a:latin typeface="黑体"/>
                <a:cs typeface="黑体"/>
              </a:rPr>
              <a:t>了</a:t>
            </a:r>
            <a:r>
              <a:rPr dirty="0" u="none" sz="2200" spc="-35">
                <a:solidFill>
                  <a:srgbClr val="006FC0"/>
                </a:solidFill>
                <a:latin typeface="黑体"/>
                <a:cs typeface="黑体"/>
              </a:rPr>
              <a:t>软件硬件交互的“协约或接口”</a:t>
            </a:r>
            <a:endParaRPr sz="2200">
              <a:latin typeface="黑体"/>
              <a:cs typeface="黑体"/>
            </a:endParaRPr>
          </a:p>
          <a:p>
            <a:pPr lvl="1" marL="1027430" indent="-457200">
              <a:lnSpc>
                <a:spcPct val="100000"/>
              </a:lnSpc>
              <a:spcBef>
                <a:spcPts val="1320"/>
              </a:spcBef>
              <a:buClr>
                <a:srgbClr val="006FC0"/>
              </a:buClr>
              <a:buSzPct val="88636"/>
              <a:buFont typeface="Wingdings"/>
              <a:buChar char=""/>
              <a:tabLst>
                <a:tab pos="1027430" algn="l"/>
              </a:tabLst>
            </a:pPr>
            <a:r>
              <a:rPr dirty="0" u="sng" sz="2200" spc="-25">
                <a:solidFill>
                  <a:srgbClr val="FF0000"/>
                </a:solidFill>
                <a:uFill>
                  <a:solidFill>
                    <a:srgbClr val="FF0000"/>
                  </a:solidFill>
                </a:uFill>
                <a:latin typeface="黑体"/>
                <a:cs typeface="黑体"/>
              </a:rPr>
              <a:t>提供</a:t>
            </a:r>
            <a:r>
              <a:rPr dirty="0" u="sng" sz="2200" spc="-30">
                <a:solidFill>
                  <a:srgbClr val="006FC0"/>
                </a:solidFill>
                <a:uFill>
                  <a:solidFill>
                    <a:srgbClr val="006FC0"/>
                  </a:solidFill>
                </a:uFill>
                <a:latin typeface="黑体"/>
                <a:cs typeface="黑体"/>
              </a:rPr>
              <a:t>了</a:t>
            </a:r>
            <a:r>
              <a:rPr dirty="0" u="none" sz="2200" spc="-35">
                <a:solidFill>
                  <a:srgbClr val="006FC0"/>
                </a:solidFill>
                <a:latin typeface="黑体"/>
                <a:cs typeface="黑体"/>
              </a:rPr>
              <a:t>一种机制：软件告诉硬件该执行什么操作的机制</a:t>
            </a:r>
            <a:endParaRPr sz="2200">
              <a:latin typeface="黑体"/>
              <a:cs typeface="黑体"/>
            </a:endParaRPr>
          </a:p>
          <a:p>
            <a:pPr lvl="1" marL="1027430" indent="-457200">
              <a:lnSpc>
                <a:spcPct val="100000"/>
              </a:lnSpc>
              <a:spcBef>
                <a:spcPts val="1320"/>
              </a:spcBef>
              <a:buClr>
                <a:srgbClr val="006FC0"/>
              </a:buClr>
              <a:buSzPct val="88636"/>
              <a:buFont typeface="Wingdings"/>
              <a:buChar char=""/>
              <a:tabLst>
                <a:tab pos="1027430" algn="l"/>
              </a:tabLst>
            </a:pPr>
            <a:r>
              <a:rPr dirty="0" sz="2200" spc="-25">
                <a:solidFill>
                  <a:srgbClr val="FF0000"/>
                </a:solidFill>
                <a:latin typeface="黑体"/>
                <a:cs typeface="黑体"/>
              </a:rPr>
              <a:t>是</a:t>
            </a:r>
            <a:r>
              <a:rPr dirty="0" sz="2200" spc="-30">
                <a:solidFill>
                  <a:srgbClr val="006FC0"/>
                </a:solidFill>
                <a:latin typeface="黑体"/>
                <a:cs typeface="黑体"/>
              </a:rPr>
              <a:t>软件硬件交流的工具</a:t>
            </a:r>
            <a:r>
              <a:rPr dirty="0" sz="2200" spc="-25">
                <a:solidFill>
                  <a:srgbClr val="006FC0"/>
                </a:solidFill>
                <a:latin typeface="黑体"/>
                <a:cs typeface="黑体"/>
              </a:rPr>
              <a:t>（</a:t>
            </a:r>
            <a:r>
              <a:rPr dirty="0" sz="2200" spc="-30">
                <a:solidFill>
                  <a:srgbClr val="006FC0"/>
                </a:solidFill>
                <a:latin typeface="黑体"/>
                <a:cs typeface="黑体"/>
              </a:rPr>
              <a:t>使用同一种指令系统</a:t>
            </a:r>
            <a:r>
              <a:rPr dirty="0" sz="2200" spc="-50">
                <a:solidFill>
                  <a:srgbClr val="006FC0"/>
                </a:solidFill>
                <a:latin typeface="黑体"/>
                <a:cs typeface="黑体"/>
              </a:rPr>
              <a:t>）</a:t>
            </a:r>
            <a:endParaRPr sz="2200">
              <a:latin typeface="黑体"/>
              <a:cs typeface="黑体"/>
            </a:endParaRPr>
          </a:p>
          <a:p>
            <a:pPr lvl="1" marL="1027430" indent="-457200">
              <a:lnSpc>
                <a:spcPct val="100000"/>
              </a:lnSpc>
              <a:spcBef>
                <a:spcPts val="1320"/>
              </a:spcBef>
              <a:buClr>
                <a:srgbClr val="006FC0"/>
              </a:buClr>
              <a:buSzPct val="88636"/>
              <a:buFont typeface="Wingdings"/>
              <a:buChar char=""/>
              <a:tabLst>
                <a:tab pos="1027430" algn="l"/>
              </a:tabLst>
            </a:pPr>
            <a:r>
              <a:rPr dirty="0" sz="2200" spc="-25">
                <a:solidFill>
                  <a:srgbClr val="FF0000"/>
                </a:solidFill>
                <a:latin typeface="黑体"/>
                <a:cs typeface="黑体"/>
              </a:rPr>
              <a:t>承担</a:t>
            </a:r>
            <a:r>
              <a:rPr dirty="0" sz="2200" spc="-30">
                <a:solidFill>
                  <a:srgbClr val="006FC0"/>
                </a:solidFill>
                <a:latin typeface="黑体"/>
                <a:cs typeface="黑体"/>
              </a:rPr>
              <a:t>软硬件接口的重任，</a:t>
            </a:r>
            <a:r>
              <a:rPr dirty="0" sz="2200" spc="-10">
                <a:solidFill>
                  <a:srgbClr val="006FC0"/>
                </a:solidFill>
                <a:latin typeface="黑体"/>
                <a:cs typeface="黑体"/>
              </a:rPr>
              <a:t>ISA</a:t>
            </a:r>
            <a:r>
              <a:rPr dirty="0" sz="2200" spc="-35">
                <a:solidFill>
                  <a:srgbClr val="006FC0"/>
                </a:solidFill>
                <a:latin typeface="黑体"/>
                <a:cs typeface="黑体"/>
              </a:rPr>
              <a:t>设计与扩展必须遵循严格的工程化</a:t>
            </a:r>
            <a:endParaRPr sz="2200">
              <a:latin typeface="黑体"/>
              <a:cs typeface="黑体"/>
            </a:endParaRPr>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000000"/>
                </a:solidFill>
              </a:rPr>
              <a:t>	2.1</a:t>
            </a:r>
            <a:r>
              <a:rPr dirty="0" spc="-35">
                <a:solidFill>
                  <a:srgbClr val="000000"/>
                </a:solidFill>
              </a:rPr>
              <a:t> </a:t>
            </a:r>
            <a:r>
              <a:rPr dirty="0">
                <a:solidFill>
                  <a:srgbClr val="000000"/>
                </a:solidFill>
                <a:latin typeface="微软雅黑"/>
                <a:cs typeface="微软雅黑"/>
              </a:rPr>
              <a:t>指令系统结构的分</a:t>
            </a:r>
            <a:r>
              <a:rPr dirty="0" spc="-50">
                <a:solidFill>
                  <a:srgbClr val="000000"/>
                </a:solidFill>
                <a:latin typeface="微软雅黑"/>
                <a:cs typeface="微软雅黑"/>
              </a:rPr>
              <a:t>类</a:t>
            </a:r>
            <a:r>
              <a:rPr dirty="0">
                <a:solidFill>
                  <a:srgbClr val="000000"/>
                </a:solidFill>
                <a:latin typeface="微软雅黑"/>
                <a:cs typeface="微软雅黑"/>
              </a:rPr>
              <a:t>	</a:t>
            </a:r>
          </a:p>
        </p:txBody>
      </p:sp>
      <p:grpSp>
        <p:nvGrpSpPr>
          <p:cNvPr id="5" name="object 5" descr=""/>
          <p:cNvGrpSpPr/>
          <p:nvPr/>
        </p:nvGrpSpPr>
        <p:grpSpPr>
          <a:xfrm>
            <a:off x="1982787" y="3779901"/>
            <a:ext cx="8474075" cy="2564130"/>
            <a:chOff x="1982787" y="3779901"/>
            <a:chExt cx="8474075" cy="2564130"/>
          </a:xfrm>
        </p:grpSpPr>
        <p:pic>
          <p:nvPicPr>
            <p:cNvPr id="6" name="object 6"/>
            <p:cNvPicPr/>
            <p:nvPr/>
          </p:nvPicPr>
          <p:blipFill>
            <a:blip r:embed="rId2" cstate="print"/>
            <a:stretch>
              <a:fillRect/>
            </a:stretch>
          </p:blipFill>
          <p:spPr>
            <a:xfrm>
              <a:off x="2119445" y="3789426"/>
              <a:ext cx="8200885" cy="2490556"/>
            </a:xfrm>
            <a:prstGeom prst="rect">
              <a:avLst/>
            </a:prstGeom>
          </p:spPr>
        </p:pic>
        <p:sp>
          <p:nvSpPr>
            <p:cNvPr id="7" name="object 7" descr=""/>
            <p:cNvSpPr/>
            <p:nvPr/>
          </p:nvSpPr>
          <p:spPr>
            <a:xfrm>
              <a:off x="1987550" y="3784663"/>
              <a:ext cx="8464550" cy="2554605"/>
            </a:xfrm>
            <a:custGeom>
              <a:avLst/>
              <a:gdLst/>
              <a:ahLst/>
              <a:cxnLst/>
              <a:rect l="l" t="t" r="r" b="b"/>
              <a:pathLst>
                <a:path w="8464550" h="2554604">
                  <a:moveTo>
                    <a:pt x="0" y="2554224"/>
                  </a:moveTo>
                  <a:lnTo>
                    <a:pt x="8464550" y="2554224"/>
                  </a:lnTo>
                  <a:lnTo>
                    <a:pt x="8464550" y="0"/>
                  </a:lnTo>
                  <a:lnTo>
                    <a:pt x="0" y="0"/>
                  </a:lnTo>
                  <a:lnTo>
                    <a:pt x="0" y="2554224"/>
                  </a:lnTo>
                  <a:close/>
                </a:path>
              </a:pathLst>
            </a:custGeom>
            <a:ln w="9525">
              <a:solidFill>
                <a:srgbClr val="E14B04"/>
              </a:solidFill>
            </a:ln>
          </p:spPr>
          <p:txBody>
            <a:bodyPr wrap="square" lIns="0" tIns="0" rIns="0" bIns="0" rtlCol="0"/>
            <a:lstStyle/>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0" y="5111812"/>
            <a:ext cx="12184380" cy="1746250"/>
            <a:chOff x="0" y="5111812"/>
            <a:chExt cx="12184380" cy="1746250"/>
          </a:xfrm>
        </p:grpSpPr>
        <p:sp>
          <p:nvSpPr>
            <p:cNvPr id="3" name="object 3"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pic>
          <p:nvPicPr>
            <p:cNvPr id="4" name="object 4" descr=""/>
            <p:cNvPicPr/>
            <p:nvPr/>
          </p:nvPicPr>
          <p:blipFill>
            <a:blip r:embed="rId2" cstate="print"/>
            <a:stretch>
              <a:fillRect/>
            </a:stretch>
          </p:blipFill>
          <p:spPr>
            <a:xfrm>
              <a:off x="4545076" y="5111812"/>
              <a:ext cx="6119622" cy="1728724"/>
            </a:xfrm>
            <a:prstGeom prst="rect">
              <a:avLst/>
            </a:prstGeom>
          </p:spPr>
        </p:pic>
      </p:grpSp>
      <p:sp>
        <p:nvSpPr>
          <p:cNvPr id="5" name="object 5" descr=""/>
          <p:cNvSpPr txBox="1"/>
          <p:nvPr/>
        </p:nvSpPr>
        <p:spPr>
          <a:xfrm>
            <a:off x="1598167" y="624745"/>
            <a:ext cx="8872220" cy="4293235"/>
          </a:xfrm>
          <a:prstGeom prst="rect">
            <a:avLst/>
          </a:prstGeom>
        </p:spPr>
        <p:txBody>
          <a:bodyPr wrap="square" lIns="0" tIns="246379" rIns="0" bIns="0" rtlCol="0" vert="horz">
            <a:spAutoFit/>
          </a:bodyPr>
          <a:lstStyle/>
          <a:p>
            <a:pPr marL="469265" indent="-456565">
              <a:lnSpc>
                <a:spcPct val="100000"/>
              </a:lnSpc>
              <a:spcBef>
                <a:spcPts val="1939"/>
              </a:spcBef>
              <a:buClr>
                <a:srgbClr val="40458B"/>
              </a:buClr>
              <a:buSzPct val="117857"/>
              <a:buFont typeface="Wingdings"/>
              <a:buChar char=""/>
              <a:tabLst>
                <a:tab pos="469265" algn="l"/>
              </a:tabLst>
            </a:pPr>
            <a:r>
              <a:rPr dirty="0" sz="2800" spc="-30">
                <a:solidFill>
                  <a:srgbClr val="172152"/>
                </a:solidFill>
                <a:latin typeface="黑体"/>
                <a:cs typeface="黑体"/>
              </a:rPr>
              <a:t>指令系统</a:t>
            </a:r>
            <a:r>
              <a:rPr dirty="0" sz="2800" spc="-20">
                <a:solidFill>
                  <a:srgbClr val="172152"/>
                </a:solidFill>
                <a:latin typeface="Tahoma"/>
                <a:cs typeface="Tahoma"/>
              </a:rPr>
              <a:t>(IS)</a:t>
            </a:r>
            <a:endParaRPr sz="2800">
              <a:latin typeface="Tahoma"/>
              <a:cs typeface="Tahoma"/>
            </a:endParaRPr>
          </a:p>
          <a:p>
            <a:pPr lvl="1" marL="1027430" indent="-457200">
              <a:lnSpc>
                <a:spcPct val="100000"/>
              </a:lnSpc>
              <a:spcBef>
                <a:spcPts val="1445"/>
              </a:spcBef>
              <a:buClr>
                <a:srgbClr val="006FC0"/>
              </a:buClr>
              <a:buSzPct val="88636"/>
              <a:buFont typeface="Wingdings"/>
              <a:buChar char=""/>
              <a:tabLst>
                <a:tab pos="1027430" algn="l"/>
              </a:tabLst>
            </a:pPr>
            <a:r>
              <a:rPr dirty="0" sz="2200" spc="-30">
                <a:solidFill>
                  <a:srgbClr val="FF0000"/>
                </a:solidFill>
                <a:latin typeface="黑体"/>
                <a:cs typeface="黑体"/>
              </a:rPr>
              <a:t>软硬件界面：</a:t>
            </a:r>
            <a:r>
              <a:rPr dirty="0" sz="2200" spc="-35">
                <a:solidFill>
                  <a:srgbClr val="006FC0"/>
                </a:solidFill>
                <a:latin typeface="黑体"/>
                <a:cs typeface="黑体"/>
              </a:rPr>
              <a:t>所以软件最终都是以指令形式运行</a:t>
            </a:r>
            <a:endParaRPr sz="2200">
              <a:latin typeface="黑体"/>
              <a:cs typeface="黑体"/>
            </a:endParaRPr>
          </a:p>
          <a:p>
            <a:pPr lvl="1" marL="1027430" indent="-457200">
              <a:lnSpc>
                <a:spcPct val="100000"/>
              </a:lnSpc>
              <a:spcBef>
                <a:spcPts val="1320"/>
              </a:spcBef>
              <a:buClr>
                <a:srgbClr val="006FC0"/>
              </a:buClr>
              <a:buSzPct val="88636"/>
              <a:buFont typeface="Wingdings"/>
              <a:buChar char=""/>
              <a:tabLst>
                <a:tab pos="1027430" algn="l"/>
              </a:tabLst>
            </a:pPr>
            <a:r>
              <a:rPr dirty="0" u="sng" sz="2200" spc="-30">
                <a:solidFill>
                  <a:srgbClr val="FF0000"/>
                </a:solidFill>
                <a:uFill>
                  <a:solidFill>
                    <a:srgbClr val="FF0000"/>
                  </a:solidFill>
                </a:uFill>
                <a:latin typeface="黑体"/>
                <a:cs typeface="黑体"/>
              </a:rPr>
              <a:t>体现</a:t>
            </a:r>
            <a:r>
              <a:rPr dirty="0" u="sng" sz="2200" spc="-30">
                <a:solidFill>
                  <a:srgbClr val="006FC0"/>
                </a:solidFill>
                <a:uFill>
                  <a:solidFill>
                    <a:srgbClr val="006FC0"/>
                  </a:solidFill>
                </a:uFill>
                <a:latin typeface="黑体"/>
                <a:cs typeface="黑体"/>
              </a:rPr>
              <a:t>了</a:t>
            </a:r>
            <a:r>
              <a:rPr dirty="0" u="none" sz="2200" spc="-35">
                <a:solidFill>
                  <a:srgbClr val="006FC0"/>
                </a:solidFill>
                <a:latin typeface="黑体"/>
                <a:cs typeface="黑体"/>
              </a:rPr>
              <a:t>结构设计者对计算机系统及其应用的深刻理解</a:t>
            </a:r>
            <a:endParaRPr sz="2200">
              <a:latin typeface="黑体"/>
              <a:cs typeface="黑体"/>
            </a:endParaRPr>
          </a:p>
          <a:p>
            <a:pPr lvl="1" marL="1027430" marR="5080" indent="-457200">
              <a:lnSpc>
                <a:spcPct val="130000"/>
              </a:lnSpc>
              <a:spcBef>
                <a:spcPts val="530"/>
              </a:spcBef>
              <a:buSzPct val="88636"/>
              <a:buFont typeface="Wingdings"/>
              <a:buChar char=""/>
              <a:tabLst>
                <a:tab pos="1027430" algn="l"/>
              </a:tabLst>
            </a:pPr>
            <a:r>
              <a:rPr dirty="0" sz="2200" spc="-35">
                <a:solidFill>
                  <a:srgbClr val="006FC0"/>
                </a:solidFill>
                <a:latin typeface="黑体"/>
                <a:cs typeface="黑体"/>
              </a:rPr>
              <a:t>计算机指令系统的设计是计算机体系结构设计的核心问题，是软硬件功能分配最主要的交界面</a:t>
            </a:r>
            <a:endParaRPr sz="2200">
              <a:latin typeface="黑体"/>
              <a:cs typeface="黑体"/>
            </a:endParaRPr>
          </a:p>
          <a:p>
            <a:pPr marL="685165" indent="-456565">
              <a:lnSpc>
                <a:spcPct val="100000"/>
              </a:lnSpc>
              <a:spcBef>
                <a:spcPts val="1560"/>
              </a:spcBef>
              <a:buClr>
                <a:srgbClr val="40458B"/>
              </a:buClr>
              <a:buSzPct val="117857"/>
              <a:buFont typeface="Wingdings"/>
              <a:buChar char=""/>
              <a:tabLst>
                <a:tab pos="685165" algn="l"/>
              </a:tabLst>
            </a:pPr>
            <a:r>
              <a:rPr dirty="0" sz="2800" spc="-35">
                <a:solidFill>
                  <a:srgbClr val="172152"/>
                </a:solidFill>
                <a:latin typeface="黑体"/>
                <a:cs typeface="黑体"/>
              </a:rPr>
              <a:t>指令系统结构</a:t>
            </a:r>
            <a:r>
              <a:rPr dirty="0" sz="2800" spc="-25">
                <a:solidFill>
                  <a:srgbClr val="172152"/>
                </a:solidFill>
                <a:latin typeface="黑体"/>
                <a:cs typeface="黑体"/>
              </a:rPr>
              <a:t>ISA</a:t>
            </a:r>
            <a:r>
              <a:rPr dirty="0" sz="2800" spc="-40">
                <a:solidFill>
                  <a:srgbClr val="172152"/>
                </a:solidFill>
                <a:latin typeface="黑体"/>
                <a:cs typeface="黑体"/>
              </a:rPr>
              <a:t>不仅仅是指令功能编码</a:t>
            </a:r>
            <a:endParaRPr sz="2800">
              <a:latin typeface="黑体"/>
              <a:cs typeface="黑体"/>
            </a:endParaRPr>
          </a:p>
          <a:p>
            <a:pPr lvl="1" marL="1027430" indent="-457200">
              <a:lnSpc>
                <a:spcPct val="100000"/>
              </a:lnSpc>
              <a:spcBef>
                <a:spcPts val="1440"/>
              </a:spcBef>
              <a:buSzPct val="88636"/>
              <a:buFont typeface="Wingdings"/>
              <a:buChar char=""/>
              <a:tabLst>
                <a:tab pos="1027430" algn="l"/>
              </a:tabLst>
            </a:pPr>
            <a:r>
              <a:rPr dirty="0" sz="2200" spc="-35">
                <a:solidFill>
                  <a:srgbClr val="006FC0"/>
                </a:solidFill>
                <a:latin typeface="黑体"/>
                <a:cs typeface="黑体"/>
              </a:rPr>
              <a:t>地址空间、中断系统、存储管理、安全管理、网络管理等</a:t>
            </a:r>
            <a:endParaRPr sz="2200">
              <a:latin typeface="黑体"/>
              <a:cs typeface="黑体"/>
            </a:endParaRPr>
          </a:p>
          <a:p>
            <a:pPr lvl="1" marL="1027430" indent="-457200">
              <a:lnSpc>
                <a:spcPct val="100000"/>
              </a:lnSpc>
              <a:spcBef>
                <a:spcPts val="1320"/>
              </a:spcBef>
              <a:buSzPct val="88636"/>
              <a:buFont typeface="Wingdings"/>
              <a:buChar char=""/>
              <a:tabLst>
                <a:tab pos="1027430" algn="l"/>
              </a:tabLst>
            </a:pPr>
            <a:r>
              <a:rPr dirty="0" sz="2200" spc="-35">
                <a:solidFill>
                  <a:srgbClr val="006FC0"/>
                </a:solidFill>
                <a:latin typeface="黑体"/>
                <a:cs typeface="黑体"/>
              </a:rPr>
              <a:t>上述运行环境功能不统一</a:t>
            </a:r>
            <a:endParaRPr sz="2200">
              <a:latin typeface="黑体"/>
              <a:cs typeface="黑体"/>
            </a:endParaRPr>
          </a:p>
        </p:txBody>
      </p:sp>
      <p:sp>
        <p:nvSpPr>
          <p:cNvPr id="6" name="object 6"/>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000000"/>
                </a:solidFill>
              </a:rPr>
              <a:t>	2.1</a:t>
            </a:r>
            <a:r>
              <a:rPr dirty="0" spc="-35">
                <a:solidFill>
                  <a:srgbClr val="000000"/>
                </a:solidFill>
              </a:rPr>
              <a:t> </a:t>
            </a:r>
            <a:r>
              <a:rPr dirty="0">
                <a:solidFill>
                  <a:srgbClr val="000000"/>
                </a:solidFill>
                <a:latin typeface="微软雅黑"/>
                <a:cs typeface="微软雅黑"/>
              </a:rPr>
              <a:t>指令系统结构的分</a:t>
            </a:r>
            <a:r>
              <a:rPr dirty="0" spc="-50">
                <a:solidFill>
                  <a:srgbClr val="000000"/>
                </a:solidFill>
                <a:latin typeface="微软雅黑"/>
                <a:cs typeface="微软雅黑"/>
              </a:rPr>
              <a:t>类</a:t>
            </a:r>
            <a:r>
              <a:rPr dirty="0">
                <a:solidFill>
                  <a:srgbClr val="000000"/>
                </a:solidFill>
                <a:latin typeface="微软雅黑"/>
                <a:cs typeface="微软雅黑"/>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602994" y="552887"/>
            <a:ext cx="8885555" cy="5058410"/>
          </a:xfrm>
          <a:prstGeom prst="rect">
            <a:avLst/>
          </a:prstGeom>
        </p:spPr>
        <p:txBody>
          <a:bodyPr wrap="square" lIns="0" tIns="245745" rIns="0" bIns="0" rtlCol="0" vert="horz">
            <a:spAutoFit/>
          </a:bodyPr>
          <a:lstStyle/>
          <a:p>
            <a:pPr marL="469265" indent="-456565">
              <a:lnSpc>
                <a:spcPct val="100000"/>
              </a:lnSpc>
              <a:spcBef>
                <a:spcPts val="1935"/>
              </a:spcBef>
              <a:buClr>
                <a:srgbClr val="40458B"/>
              </a:buClr>
              <a:buSzPct val="117857"/>
              <a:buFont typeface="Wingdings"/>
              <a:buChar char=""/>
              <a:tabLst>
                <a:tab pos="469265" algn="l"/>
              </a:tabLst>
            </a:pPr>
            <a:r>
              <a:rPr dirty="0" sz="2800" spc="-40">
                <a:solidFill>
                  <a:srgbClr val="181B1F"/>
                </a:solidFill>
                <a:latin typeface="黑体"/>
                <a:cs typeface="黑体"/>
              </a:rPr>
              <a:t>流行指令集</a:t>
            </a:r>
            <a:endParaRPr sz="2800">
              <a:latin typeface="黑体"/>
              <a:cs typeface="黑体"/>
            </a:endParaRPr>
          </a:p>
          <a:p>
            <a:pPr lvl="1" marL="1091565" indent="-521334">
              <a:lnSpc>
                <a:spcPct val="100000"/>
              </a:lnSpc>
              <a:spcBef>
                <a:spcPts val="1440"/>
              </a:spcBef>
              <a:buClr>
                <a:srgbClr val="006FC0"/>
              </a:buClr>
              <a:buSzPct val="88636"/>
              <a:buFont typeface="Wingdings"/>
              <a:buChar char=""/>
              <a:tabLst>
                <a:tab pos="1091565" algn="l"/>
              </a:tabLst>
            </a:pPr>
            <a:r>
              <a:rPr dirty="0" sz="2200">
                <a:solidFill>
                  <a:srgbClr val="181B1F"/>
                </a:solidFill>
                <a:latin typeface="Calibri"/>
                <a:cs typeface="Calibri"/>
              </a:rPr>
              <a:t>Intel</a:t>
            </a:r>
            <a:r>
              <a:rPr dirty="0" sz="2200" spc="-10">
                <a:solidFill>
                  <a:srgbClr val="181B1F"/>
                </a:solidFill>
                <a:latin typeface="Calibri"/>
                <a:cs typeface="Calibri"/>
              </a:rPr>
              <a:t> </a:t>
            </a:r>
            <a:r>
              <a:rPr dirty="0" sz="2200" spc="135">
                <a:solidFill>
                  <a:srgbClr val="181B1F"/>
                </a:solidFill>
                <a:latin typeface="黑体"/>
                <a:cs typeface="黑体"/>
              </a:rPr>
              <a:t>公司的</a:t>
            </a:r>
            <a:r>
              <a:rPr dirty="0" sz="2200">
                <a:solidFill>
                  <a:srgbClr val="181B1F"/>
                </a:solidFill>
                <a:latin typeface="Calibri"/>
                <a:cs typeface="Calibri"/>
              </a:rPr>
              <a:t>x86</a:t>
            </a:r>
            <a:r>
              <a:rPr dirty="0" sz="2200" spc="5">
                <a:solidFill>
                  <a:srgbClr val="181B1F"/>
                </a:solidFill>
                <a:latin typeface="Calibri"/>
                <a:cs typeface="Calibri"/>
              </a:rPr>
              <a:t> </a:t>
            </a:r>
            <a:r>
              <a:rPr dirty="0" sz="2200" spc="-145">
                <a:solidFill>
                  <a:srgbClr val="181B1F"/>
                </a:solidFill>
                <a:latin typeface="黑体"/>
                <a:cs typeface="黑体"/>
              </a:rPr>
              <a:t>指令集、 </a:t>
            </a:r>
            <a:r>
              <a:rPr dirty="0" sz="2200">
                <a:solidFill>
                  <a:srgbClr val="181B1F"/>
                </a:solidFill>
                <a:latin typeface="Calibri"/>
                <a:cs typeface="Calibri"/>
              </a:rPr>
              <a:t>ARM</a:t>
            </a:r>
            <a:r>
              <a:rPr dirty="0" sz="2200" spc="5">
                <a:solidFill>
                  <a:srgbClr val="181B1F"/>
                </a:solidFill>
                <a:latin typeface="Calibri"/>
                <a:cs typeface="Calibri"/>
              </a:rPr>
              <a:t> </a:t>
            </a:r>
            <a:r>
              <a:rPr dirty="0" sz="2200" spc="140">
                <a:solidFill>
                  <a:srgbClr val="181B1F"/>
                </a:solidFill>
                <a:latin typeface="黑体"/>
                <a:cs typeface="黑体"/>
              </a:rPr>
              <a:t>公司的</a:t>
            </a:r>
            <a:r>
              <a:rPr dirty="0" sz="2200">
                <a:solidFill>
                  <a:srgbClr val="181B1F"/>
                </a:solidFill>
                <a:latin typeface="Calibri"/>
                <a:cs typeface="Calibri"/>
              </a:rPr>
              <a:t>ARM</a:t>
            </a:r>
            <a:r>
              <a:rPr dirty="0" sz="2200" spc="10">
                <a:solidFill>
                  <a:srgbClr val="181B1F"/>
                </a:solidFill>
                <a:latin typeface="Calibri"/>
                <a:cs typeface="Calibri"/>
              </a:rPr>
              <a:t> </a:t>
            </a:r>
            <a:r>
              <a:rPr dirty="0" sz="2200" spc="-105">
                <a:solidFill>
                  <a:srgbClr val="181B1F"/>
                </a:solidFill>
                <a:latin typeface="黑体"/>
                <a:cs typeface="黑体"/>
              </a:rPr>
              <a:t>指令集， 开源的</a:t>
            </a:r>
            <a:endParaRPr sz="2200">
              <a:latin typeface="黑体"/>
              <a:cs typeface="黑体"/>
            </a:endParaRPr>
          </a:p>
          <a:p>
            <a:pPr marL="1027430">
              <a:lnSpc>
                <a:spcPct val="100000"/>
              </a:lnSpc>
              <a:spcBef>
                <a:spcPts val="790"/>
              </a:spcBef>
            </a:pPr>
            <a:r>
              <a:rPr dirty="0" sz="2200" spc="-20">
                <a:solidFill>
                  <a:srgbClr val="181B1F"/>
                </a:solidFill>
                <a:latin typeface="Calibri"/>
                <a:cs typeface="Calibri"/>
              </a:rPr>
              <a:t>RISC-</a:t>
            </a:r>
            <a:r>
              <a:rPr dirty="0" sz="2200">
                <a:solidFill>
                  <a:srgbClr val="181B1F"/>
                </a:solidFill>
                <a:latin typeface="Calibri"/>
                <a:cs typeface="Calibri"/>
              </a:rPr>
              <a:t>V</a:t>
            </a:r>
            <a:r>
              <a:rPr dirty="0" sz="2200" spc="50">
                <a:solidFill>
                  <a:srgbClr val="181B1F"/>
                </a:solidFill>
                <a:latin typeface="Calibri"/>
                <a:cs typeface="Calibri"/>
              </a:rPr>
              <a:t> </a:t>
            </a:r>
            <a:r>
              <a:rPr dirty="0" sz="2200" spc="-35">
                <a:solidFill>
                  <a:srgbClr val="181B1F"/>
                </a:solidFill>
                <a:latin typeface="黑体"/>
                <a:cs typeface="黑体"/>
              </a:rPr>
              <a:t>指令集</a:t>
            </a:r>
            <a:endParaRPr sz="2200">
              <a:latin typeface="黑体"/>
              <a:cs typeface="黑体"/>
            </a:endParaRPr>
          </a:p>
          <a:p>
            <a:pPr algn="just" lvl="2" marL="1452880" marR="5080" indent="-358140">
              <a:lnSpc>
                <a:spcPct val="130000"/>
              </a:lnSpc>
              <a:spcBef>
                <a:spcPts val="515"/>
              </a:spcBef>
              <a:buClr>
                <a:srgbClr val="4668F5"/>
              </a:buClr>
              <a:buSzPct val="72500"/>
              <a:buFont typeface="Wingdings"/>
              <a:buChar char=""/>
              <a:tabLst>
                <a:tab pos="1452880" algn="l"/>
              </a:tabLst>
            </a:pPr>
            <a:r>
              <a:rPr dirty="0" sz="2000" spc="-20" b="1">
                <a:solidFill>
                  <a:srgbClr val="6F2F9F"/>
                </a:solidFill>
                <a:latin typeface="黑体"/>
                <a:cs typeface="黑体"/>
              </a:rPr>
              <a:t>X86</a:t>
            </a:r>
            <a:r>
              <a:rPr dirty="0" sz="2000" spc="-25" b="1">
                <a:solidFill>
                  <a:srgbClr val="6F2F9F"/>
                </a:solidFill>
                <a:latin typeface="黑体"/>
                <a:cs typeface="黑体"/>
              </a:rPr>
              <a:t>架构是微处理器执行的计算机语言指令集，指一个</a:t>
            </a:r>
            <a:r>
              <a:rPr dirty="0" sz="2000" spc="-10" b="1">
                <a:solidFill>
                  <a:srgbClr val="6F2F9F"/>
                </a:solidFill>
                <a:latin typeface="黑体"/>
                <a:cs typeface="黑体"/>
              </a:rPr>
              <a:t>intel</a:t>
            </a:r>
            <a:r>
              <a:rPr dirty="0" sz="2000" spc="-25" b="1">
                <a:solidFill>
                  <a:srgbClr val="6F2F9F"/>
                </a:solidFill>
                <a:latin typeface="黑体"/>
                <a:cs typeface="黑体"/>
              </a:rPr>
              <a:t>通用计</a:t>
            </a:r>
            <a:r>
              <a:rPr dirty="0" sz="2000" spc="-30" b="1">
                <a:solidFill>
                  <a:srgbClr val="6F2F9F"/>
                </a:solidFill>
                <a:latin typeface="黑体"/>
                <a:cs typeface="黑体"/>
              </a:rPr>
              <a:t>算机系列的标准编号缩写,也标识一套通用的计算机指令集合。</a:t>
            </a:r>
            <a:endParaRPr sz="2000">
              <a:latin typeface="黑体"/>
              <a:cs typeface="黑体"/>
            </a:endParaRPr>
          </a:p>
          <a:p>
            <a:pPr algn="just" lvl="2" marL="1452880" marR="120650" indent="-358140">
              <a:lnSpc>
                <a:spcPct val="130100"/>
              </a:lnSpc>
              <a:spcBef>
                <a:spcPts val="480"/>
              </a:spcBef>
              <a:buClr>
                <a:srgbClr val="4668F5"/>
              </a:buClr>
              <a:buSzPct val="72500"/>
              <a:buFont typeface="Wingdings"/>
              <a:buChar char=""/>
              <a:tabLst>
                <a:tab pos="1452880" algn="l"/>
              </a:tabLst>
            </a:pPr>
            <a:r>
              <a:rPr dirty="0" sz="2000" spc="-10" b="1">
                <a:solidFill>
                  <a:srgbClr val="6F2F9F"/>
                </a:solidFill>
                <a:latin typeface="黑体"/>
                <a:cs typeface="黑体"/>
              </a:rPr>
              <a:t>ARM</a:t>
            </a:r>
            <a:r>
              <a:rPr dirty="0" sz="2000" spc="-20" b="1">
                <a:solidFill>
                  <a:srgbClr val="6F2F9F"/>
                </a:solidFill>
                <a:latin typeface="黑体"/>
                <a:cs typeface="黑体"/>
              </a:rPr>
              <a:t>架构，进阶精简指令集机器</a:t>
            </a:r>
            <a:r>
              <a:rPr dirty="0" sz="2000" b="1">
                <a:solidFill>
                  <a:srgbClr val="6F2F9F"/>
                </a:solidFill>
                <a:latin typeface="黑体"/>
                <a:cs typeface="黑体"/>
              </a:rPr>
              <a:t>（Advanced</a:t>
            </a:r>
            <a:r>
              <a:rPr dirty="0" sz="2000" spc="-5" b="1">
                <a:solidFill>
                  <a:srgbClr val="6F2F9F"/>
                </a:solidFill>
                <a:latin typeface="黑体"/>
                <a:cs typeface="黑体"/>
              </a:rPr>
              <a:t> </a:t>
            </a:r>
            <a:r>
              <a:rPr dirty="0" sz="2000" b="1">
                <a:solidFill>
                  <a:srgbClr val="6F2F9F"/>
                </a:solidFill>
                <a:latin typeface="黑体"/>
                <a:cs typeface="黑体"/>
              </a:rPr>
              <a:t>RISC</a:t>
            </a:r>
            <a:r>
              <a:rPr dirty="0" sz="2000" spc="5" b="1">
                <a:solidFill>
                  <a:srgbClr val="6F2F9F"/>
                </a:solidFill>
                <a:latin typeface="黑体"/>
                <a:cs typeface="黑体"/>
              </a:rPr>
              <a:t> </a:t>
            </a:r>
            <a:r>
              <a:rPr dirty="0" sz="2000" spc="-10" b="1">
                <a:solidFill>
                  <a:srgbClr val="6F2F9F"/>
                </a:solidFill>
                <a:latin typeface="黑体"/>
                <a:cs typeface="黑体"/>
              </a:rPr>
              <a:t>Machine）</a:t>
            </a:r>
            <a:r>
              <a:rPr dirty="0" sz="2000" spc="-30" b="1">
                <a:solidFill>
                  <a:srgbClr val="6F2F9F"/>
                </a:solidFill>
                <a:latin typeface="黑体"/>
                <a:cs typeface="黑体"/>
              </a:rPr>
              <a:t>,一个</a:t>
            </a:r>
            <a:r>
              <a:rPr dirty="0" sz="2000" spc="-50" b="1">
                <a:solidFill>
                  <a:srgbClr val="6F2F9F"/>
                </a:solidFill>
                <a:latin typeface="黑体"/>
                <a:cs typeface="黑体"/>
              </a:rPr>
              <a:t> </a:t>
            </a:r>
            <a:r>
              <a:rPr dirty="0" sz="2000" spc="-10" b="1">
                <a:solidFill>
                  <a:srgbClr val="6F2F9F"/>
                </a:solidFill>
                <a:latin typeface="黑体"/>
                <a:cs typeface="黑体"/>
              </a:rPr>
              <a:t>32</a:t>
            </a:r>
            <a:r>
              <a:rPr dirty="0" sz="2000" spc="-20" b="1">
                <a:solidFill>
                  <a:srgbClr val="6F2F9F"/>
                </a:solidFill>
                <a:latin typeface="黑体"/>
                <a:cs typeface="黑体"/>
              </a:rPr>
              <a:t>位精简指令集</a:t>
            </a:r>
            <a:r>
              <a:rPr dirty="0" sz="2000" spc="-10" b="1">
                <a:solidFill>
                  <a:srgbClr val="6F2F9F"/>
                </a:solidFill>
                <a:latin typeface="黑体"/>
                <a:cs typeface="黑体"/>
              </a:rPr>
              <a:t>（RISC）</a:t>
            </a:r>
            <a:r>
              <a:rPr dirty="0" sz="2000" spc="-15" b="1">
                <a:solidFill>
                  <a:srgbClr val="6F2F9F"/>
                </a:solidFill>
                <a:latin typeface="黑体"/>
                <a:cs typeface="黑体"/>
              </a:rPr>
              <a:t>处理器架构。</a:t>
            </a:r>
            <a:r>
              <a:rPr dirty="0" sz="2000" spc="-25" b="1">
                <a:solidFill>
                  <a:srgbClr val="6F2F9F"/>
                </a:solidFill>
                <a:latin typeface="黑体"/>
                <a:cs typeface="黑体"/>
              </a:rPr>
              <a:t>ARM</a:t>
            </a:r>
            <a:r>
              <a:rPr dirty="0" sz="2000" spc="-20" b="1">
                <a:solidFill>
                  <a:srgbClr val="6F2F9F"/>
                </a:solidFill>
                <a:latin typeface="黑体"/>
                <a:cs typeface="黑体"/>
              </a:rPr>
              <a:t>处理器广泛使用在嵌入式系统设计.</a:t>
            </a:r>
            <a:endParaRPr sz="2000">
              <a:latin typeface="黑体"/>
              <a:cs typeface="黑体"/>
            </a:endParaRPr>
          </a:p>
          <a:p>
            <a:pPr lvl="2" marL="1452245" indent="-358140">
              <a:lnSpc>
                <a:spcPct val="100000"/>
              </a:lnSpc>
              <a:spcBef>
                <a:spcPts val="1200"/>
              </a:spcBef>
              <a:buClr>
                <a:srgbClr val="4668F5"/>
              </a:buClr>
              <a:buSzPct val="72500"/>
              <a:buFont typeface="Wingdings"/>
              <a:buChar char=""/>
              <a:tabLst>
                <a:tab pos="1452245" algn="l"/>
              </a:tabLst>
            </a:pPr>
            <a:r>
              <a:rPr dirty="0" sz="2000" spc="-10" b="1">
                <a:solidFill>
                  <a:srgbClr val="6F2F9F"/>
                </a:solidFill>
                <a:latin typeface="黑体"/>
                <a:cs typeface="黑体"/>
              </a:rPr>
              <a:t>RISC-V</a:t>
            </a:r>
            <a:r>
              <a:rPr dirty="0" sz="2000" spc="-20" b="1">
                <a:solidFill>
                  <a:srgbClr val="6F2F9F"/>
                </a:solidFill>
                <a:latin typeface="黑体"/>
                <a:cs typeface="黑体"/>
              </a:rPr>
              <a:t>是一种指令集，</a:t>
            </a:r>
            <a:r>
              <a:rPr dirty="0" sz="2000" spc="-10" b="1">
                <a:solidFill>
                  <a:srgbClr val="6F2F9F"/>
                </a:solidFill>
                <a:latin typeface="黑体"/>
                <a:cs typeface="黑体"/>
              </a:rPr>
              <a:t>RISC</a:t>
            </a:r>
            <a:r>
              <a:rPr dirty="0" sz="2000" spc="-20" b="1">
                <a:solidFill>
                  <a:srgbClr val="6F2F9F"/>
                </a:solidFill>
                <a:latin typeface="黑体"/>
                <a:cs typeface="黑体"/>
              </a:rPr>
              <a:t>系列指令集的第五代产品。被</a:t>
            </a:r>
            <a:r>
              <a:rPr dirty="0" sz="2000" spc="-10" b="1">
                <a:solidFill>
                  <a:srgbClr val="6F2F9F"/>
                </a:solidFill>
                <a:latin typeface="黑体"/>
                <a:cs typeface="黑体"/>
              </a:rPr>
              <a:t>CPU</a:t>
            </a:r>
            <a:r>
              <a:rPr dirty="0" sz="2000" spc="-35" b="1">
                <a:solidFill>
                  <a:srgbClr val="6F2F9F"/>
                </a:solidFill>
                <a:latin typeface="黑体"/>
                <a:cs typeface="黑体"/>
              </a:rPr>
              <a:t>读取</a:t>
            </a:r>
            <a:endParaRPr sz="2000">
              <a:latin typeface="黑体"/>
              <a:cs typeface="黑体"/>
            </a:endParaRPr>
          </a:p>
          <a:p>
            <a:pPr marL="1452880">
              <a:lnSpc>
                <a:spcPct val="100000"/>
              </a:lnSpc>
              <a:spcBef>
                <a:spcPts val="720"/>
              </a:spcBef>
            </a:pPr>
            <a:r>
              <a:rPr dirty="0" sz="2000" spc="-25" b="1">
                <a:solidFill>
                  <a:srgbClr val="6F2F9F"/>
                </a:solidFill>
                <a:latin typeface="黑体"/>
                <a:cs typeface="黑体"/>
              </a:rPr>
              <a:t>到内存后，指导计算机运行的指令集合。</a:t>
            </a:r>
            <a:endParaRPr sz="2000">
              <a:latin typeface="黑体"/>
              <a:cs typeface="黑体"/>
            </a:endParaRPr>
          </a:p>
          <a:p>
            <a:pPr lvl="2" marL="1452245" indent="-358140">
              <a:lnSpc>
                <a:spcPct val="100000"/>
              </a:lnSpc>
              <a:spcBef>
                <a:spcPts val="1200"/>
              </a:spcBef>
              <a:buClr>
                <a:srgbClr val="4668F5"/>
              </a:buClr>
              <a:buSzPct val="72500"/>
              <a:buFont typeface="Wingdings"/>
              <a:buChar char=""/>
              <a:tabLst>
                <a:tab pos="1452245" algn="l"/>
              </a:tabLst>
            </a:pPr>
            <a:r>
              <a:rPr dirty="0" sz="2000" spc="-20" b="1">
                <a:solidFill>
                  <a:srgbClr val="6F2F9F"/>
                </a:solidFill>
                <a:latin typeface="黑体"/>
                <a:cs typeface="黑体"/>
              </a:rPr>
              <a:t>CPU指令集有两种架构：CISC</a:t>
            </a:r>
            <a:r>
              <a:rPr dirty="0" sz="2000" spc="-10" b="1">
                <a:solidFill>
                  <a:srgbClr val="6F2F9F"/>
                </a:solidFill>
                <a:latin typeface="黑体"/>
                <a:cs typeface="黑体"/>
              </a:rPr>
              <a:t>与</a:t>
            </a:r>
            <a:r>
              <a:rPr dirty="0" sz="2000" spc="-20" b="1">
                <a:solidFill>
                  <a:srgbClr val="6F2F9F"/>
                </a:solidFill>
                <a:latin typeface="黑体"/>
                <a:cs typeface="黑体"/>
              </a:rPr>
              <a:t>RISC</a:t>
            </a:r>
            <a:r>
              <a:rPr dirty="0" sz="2000" spc="-50" b="1">
                <a:solidFill>
                  <a:srgbClr val="6F2F9F"/>
                </a:solidFill>
                <a:latin typeface="黑体"/>
                <a:cs typeface="黑体"/>
              </a:rPr>
              <a:t>。</a:t>
            </a:r>
            <a:endParaRPr sz="2000">
              <a:latin typeface="黑体"/>
              <a:cs typeface="黑体"/>
            </a:endParaRPr>
          </a:p>
        </p:txBody>
      </p:sp>
      <p:sp>
        <p:nvSpPr>
          <p:cNvPr id="4" name="object 4"/>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000000"/>
                </a:solidFill>
              </a:rPr>
              <a:t>	2.1</a:t>
            </a:r>
            <a:r>
              <a:rPr dirty="0" spc="-35">
                <a:solidFill>
                  <a:srgbClr val="000000"/>
                </a:solidFill>
              </a:rPr>
              <a:t> </a:t>
            </a:r>
            <a:r>
              <a:rPr dirty="0">
                <a:solidFill>
                  <a:srgbClr val="000000"/>
                </a:solidFill>
                <a:latin typeface="微软雅黑"/>
                <a:cs typeface="微软雅黑"/>
              </a:rPr>
              <a:t>指令系统结构的分</a:t>
            </a:r>
            <a:r>
              <a:rPr dirty="0" spc="-50">
                <a:solidFill>
                  <a:srgbClr val="000000"/>
                </a:solidFill>
                <a:latin typeface="微软雅黑"/>
                <a:cs typeface="微软雅黑"/>
              </a:rPr>
              <a:t>类</a:t>
            </a:r>
            <a:r>
              <a:rPr dirty="0">
                <a:solidFill>
                  <a:srgbClr val="000000"/>
                </a:solidFill>
                <a:latin typeface="微软雅黑"/>
                <a:cs typeface="微软雅黑"/>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567815" algn="l"/>
                <a:tab pos="11028045" algn="l"/>
              </a:tabLst>
            </a:pPr>
            <a:r>
              <a:rPr dirty="0">
                <a:solidFill>
                  <a:srgbClr val="000000"/>
                </a:solidFill>
              </a:rPr>
              <a:t>	2.1</a:t>
            </a:r>
            <a:r>
              <a:rPr dirty="0" spc="5">
                <a:solidFill>
                  <a:srgbClr val="000000"/>
                </a:solidFill>
              </a:rPr>
              <a:t> </a:t>
            </a:r>
            <a:r>
              <a:rPr dirty="0" spc="-10">
                <a:solidFill>
                  <a:srgbClr val="000000"/>
                </a:solidFill>
                <a:latin typeface="微软雅黑"/>
                <a:cs typeface="微软雅黑"/>
              </a:rPr>
              <a:t>指令系统结构的分</a:t>
            </a:r>
            <a:r>
              <a:rPr dirty="0" spc="-50">
                <a:solidFill>
                  <a:srgbClr val="000000"/>
                </a:solidFill>
                <a:latin typeface="微软雅黑"/>
                <a:cs typeface="微软雅黑"/>
              </a:rPr>
              <a:t>类</a:t>
            </a:r>
            <a:r>
              <a:rPr dirty="0">
                <a:solidFill>
                  <a:srgbClr val="000000"/>
                </a:solidFill>
                <a:latin typeface="微软雅黑"/>
                <a:cs typeface="微软雅黑"/>
              </a:rPr>
              <a:t>	</a:t>
            </a:r>
          </a:p>
        </p:txBody>
      </p:sp>
      <p:sp>
        <p:nvSpPr>
          <p:cNvPr id="4" name="object 4" descr=""/>
          <p:cNvSpPr txBox="1"/>
          <p:nvPr/>
        </p:nvSpPr>
        <p:spPr>
          <a:xfrm>
            <a:off x="1852041" y="624745"/>
            <a:ext cx="8338820" cy="5014595"/>
          </a:xfrm>
          <a:prstGeom prst="rect">
            <a:avLst/>
          </a:prstGeom>
        </p:spPr>
        <p:txBody>
          <a:bodyPr wrap="square" lIns="0" tIns="246379" rIns="0" bIns="0" rtlCol="0" vert="horz">
            <a:spAutoFit/>
          </a:bodyPr>
          <a:lstStyle/>
          <a:p>
            <a:pPr marL="469900" indent="-457200">
              <a:lnSpc>
                <a:spcPct val="100000"/>
              </a:lnSpc>
              <a:spcBef>
                <a:spcPts val="1939"/>
              </a:spcBef>
              <a:buClr>
                <a:srgbClr val="40458B"/>
              </a:buClr>
              <a:buSzPct val="117857"/>
              <a:buFont typeface="Wingdings"/>
              <a:buChar char=""/>
              <a:tabLst>
                <a:tab pos="469900" algn="l"/>
              </a:tabLst>
            </a:pPr>
            <a:r>
              <a:rPr dirty="0" sz="2800" spc="-20">
                <a:solidFill>
                  <a:srgbClr val="181B1F"/>
                </a:solidFill>
                <a:latin typeface="Calibri"/>
                <a:cs typeface="Calibri"/>
              </a:rPr>
              <a:t>CPU</a:t>
            </a:r>
            <a:r>
              <a:rPr dirty="0" sz="2800" spc="-30">
                <a:solidFill>
                  <a:srgbClr val="181B1F"/>
                </a:solidFill>
                <a:latin typeface="黑体"/>
                <a:cs typeface="黑体"/>
              </a:rPr>
              <a:t>与</a:t>
            </a:r>
            <a:r>
              <a:rPr dirty="0" sz="2800" spc="-20">
                <a:solidFill>
                  <a:srgbClr val="181B1F"/>
                </a:solidFill>
                <a:latin typeface="Calibri"/>
                <a:cs typeface="Calibri"/>
              </a:rPr>
              <a:t>ISA</a:t>
            </a:r>
            <a:r>
              <a:rPr dirty="0" sz="2800" spc="-40">
                <a:solidFill>
                  <a:srgbClr val="181B1F"/>
                </a:solidFill>
                <a:latin typeface="黑体"/>
                <a:cs typeface="黑体"/>
              </a:rPr>
              <a:t>的关系</a:t>
            </a:r>
            <a:endParaRPr sz="2800">
              <a:latin typeface="黑体"/>
              <a:cs typeface="黑体"/>
            </a:endParaRPr>
          </a:p>
          <a:p>
            <a:pPr lvl="1" marL="1027430" indent="-457200">
              <a:lnSpc>
                <a:spcPct val="100000"/>
              </a:lnSpc>
              <a:spcBef>
                <a:spcPts val="1445"/>
              </a:spcBef>
              <a:buSzPct val="88636"/>
              <a:buFont typeface="Wingdings"/>
              <a:buChar char=""/>
              <a:tabLst>
                <a:tab pos="1027430" algn="l"/>
              </a:tabLst>
            </a:pPr>
            <a:r>
              <a:rPr dirty="0" sz="2200" spc="-20">
                <a:solidFill>
                  <a:srgbClr val="006FC0"/>
                </a:solidFill>
                <a:latin typeface="黑体"/>
                <a:cs typeface="黑体"/>
              </a:rPr>
              <a:t>先有</a:t>
            </a:r>
            <a:r>
              <a:rPr dirty="0" sz="2200" spc="-20">
                <a:solidFill>
                  <a:srgbClr val="006FC0"/>
                </a:solidFill>
                <a:latin typeface="Tahoma"/>
                <a:cs typeface="Tahoma"/>
              </a:rPr>
              <a:t>ISA</a:t>
            </a:r>
            <a:r>
              <a:rPr dirty="0" sz="2200" spc="-20">
                <a:solidFill>
                  <a:srgbClr val="006FC0"/>
                </a:solidFill>
                <a:latin typeface="黑体"/>
                <a:cs typeface="黑体"/>
              </a:rPr>
              <a:t>，然后才有</a:t>
            </a:r>
            <a:r>
              <a:rPr dirty="0" sz="2200" spc="-20">
                <a:solidFill>
                  <a:srgbClr val="006FC0"/>
                </a:solidFill>
                <a:latin typeface="Tahoma"/>
                <a:cs typeface="Tahoma"/>
              </a:rPr>
              <a:t>CPU</a:t>
            </a:r>
            <a:r>
              <a:rPr dirty="0" sz="2200" spc="-40">
                <a:solidFill>
                  <a:srgbClr val="006FC0"/>
                </a:solidFill>
                <a:latin typeface="黑体"/>
                <a:cs typeface="黑体"/>
              </a:rPr>
              <a:t>的设计</a:t>
            </a:r>
            <a:endParaRPr sz="2200">
              <a:latin typeface="黑体"/>
              <a:cs typeface="黑体"/>
            </a:endParaRPr>
          </a:p>
          <a:p>
            <a:pPr lvl="1" marL="1027430" indent="-457200">
              <a:lnSpc>
                <a:spcPct val="100000"/>
              </a:lnSpc>
              <a:spcBef>
                <a:spcPts val="1320"/>
              </a:spcBef>
              <a:buSzPct val="88636"/>
              <a:buFont typeface="Wingdings"/>
              <a:buChar char=""/>
              <a:tabLst>
                <a:tab pos="1027430" algn="l"/>
              </a:tabLst>
            </a:pPr>
            <a:r>
              <a:rPr dirty="0" sz="2200" spc="-20">
                <a:solidFill>
                  <a:srgbClr val="006FC0"/>
                </a:solidFill>
                <a:latin typeface="Tahoma"/>
                <a:cs typeface="Tahoma"/>
              </a:rPr>
              <a:t>CPU</a:t>
            </a:r>
            <a:r>
              <a:rPr dirty="0" sz="2200" spc="-20">
                <a:solidFill>
                  <a:srgbClr val="006FC0"/>
                </a:solidFill>
                <a:latin typeface="黑体"/>
                <a:cs typeface="黑体"/>
              </a:rPr>
              <a:t>是</a:t>
            </a:r>
            <a:r>
              <a:rPr dirty="0" sz="2200" spc="-20">
                <a:solidFill>
                  <a:srgbClr val="006FC0"/>
                </a:solidFill>
                <a:latin typeface="Tahoma"/>
                <a:cs typeface="Tahoma"/>
              </a:rPr>
              <a:t>ISA</a:t>
            </a:r>
            <a:r>
              <a:rPr dirty="0" sz="2200" spc="-30">
                <a:solidFill>
                  <a:srgbClr val="006FC0"/>
                </a:solidFill>
                <a:latin typeface="黑体"/>
                <a:cs typeface="黑体"/>
              </a:rPr>
              <a:t>的具体实现</a:t>
            </a:r>
            <a:endParaRPr sz="2200">
              <a:latin typeface="黑体"/>
              <a:cs typeface="黑体"/>
            </a:endParaRPr>
          </a:p>
          <a:p>
            <a:pPr marL="469900" indent="-457200">
              <a:lnSpc>
                <a:spcPct val="100000"/>
              </a:lnSpc>
              <a:spcBef>
                <a:spcPts val="1640"/>
              </a:spcBef>
              <a:buClr>
                <a:srgbClr val="40458B"/>
              </a:buClr>
              <a:buSzPct val="117857"/>
              <a:buFont typeface="Wingdings"/>
              <a:buChar char=""/>
              <a:tabLst>
                <a:tab pos="469900" algn="l"/>
              </a:tabLst>
            </a:pPr>
            <a:r>
              <a:rPr dirty="0" sz="2800" spc="-35">
                <a:solidFill>
                  <a:srgbClr val="181B1F"/>
                </a:solidFill>
                <a:latin typeface="黑体"/>
                <a:cs typeface="黑体"/>
              </a:rPr>
              <a:t>流行指令集架构</a:t>
            </a:r>
            <a:r>
              <a:rPr dirty="0" sz="2800" spc="-25">
                <a:solidFill>
                  <a:srgbClr val="181B1F"/>
                </a:solidFill>
                <a:latin typeface="Calibri"/>
                <a:cs typeface="Calibri"/>
              </a:rPr>
              <a:t>ISA</a:t>
            </a:r>
            <a:endParaRPr sz="2800">
              <a:latin typeface="Calibri"/>
              <a:cs typeface="Calibri"/>
            </a:endParaRPr>
          </a:p>
          <a:p>
            <a:pPr lvl="1" marL="1027430" indent="-457200">
              <a:lnSpc>
                <a:spcPct val="100000"/>
              </a:lnSpc>
              <a:spcBef>
                <a:spcPts val="1440"/>
              </a:spcBef>
              <a:buSzPct val="88636"/>
              <a:buFont typeface="Wingdings"/>
              <a:buChar char=""/>
              <a:tabLst>
                <a:tab pos="1027430" algn="l"/>
              </a:tabLst>
            </a:pPr>
            <a:r>
              <a:rPr dirty="0" sz="2200">
                <a:solidFill>
                  <a:srgbClr val="006FC0"/>
                </a:solidFill>
                <a:latin typeface="Tahoma"/>
                <a:cs typeface="Tahoma"/>
              </a:rPr>
              <a:t>CISC:</a:t>
            </a:r>
            <a:r>
              <a:rPr dirty="0" sz="2200" spc="-35">
                <a:solidFill>
                  <a:srgbClr val="006FC0"/>
                </a:solidFill>
                <a:latin typeface="Tahoma"/>
                <a:cs typeface="Tahoma"/>
              </a:rPr>
              <a:t> </a:t>
            </a:r>
            <a:r>
              <a:rPr dirty="0" sz="2200" spc="-25">
                <a:solidFill>
                  <a:srgbClr val="006FC0"/>
                </a:solidFill>
                <a:latin typeface="Tahoma"/>
                <a:cs typeface="Tahoma"/>
              </a:rPr>
              <a:t>x86</a:t>
            </a:r>
            <a:endParaRPr sz="2200">
              <a:latin typeface="Tahoma"/>
              <a:cs typeface="Tahoma"/>
            </a:endParaRPr>
          </a:p>
          <a:p>
            <a:pPr lvl="2" marL="1695450" indent="-513715">
              <a:lnSpc>
                <a:spcPct val="100000"/>
              </a:lnSpc>
              <a:spcBef>
                <a:spcPts val="1230"/>
              </a:spcBef>
              <a:buClr>
                <a:srgbClr val="4668F5"/>
              </a:buClr>
              <a:buSzPct val="72500"/>
              <a:buFont typeface="Wingdings"/>
              <a:buChar char=""/>
              <a:tabLst>
                <a:tab pos="1695450" algn="l"/>
              </a:tabLst>
            </a:pPr>
            <a:r>
              <a:rPr dirty="0" sz="2000" b="1">
                <a:solidFill>
                  <a:srgbClr val="6F2F9F"/>
                </a:solidFill>
                <a:latin typeface="黑体"/>
                <a:cs typeface="黑体"/>
              </a:rPr>
              <a:t>Intel</a:t>
            </a:r>
            <a:r>
              <a:rPr dirty="0" sz="2000" spc="-25" b="1">
                <a:solidFill>
                  <a:srgbClr val="6F2F9F"/>
                </a:solidFill>
                <a:latin typeface="黑体"/>
                <a:cs typeface="黑体"/>
              </a:rPr>
              <a:t> 公司的 </a:t>
            </a:r>
            <a:r>
              <a:rPr dirty="0" sz="2000" b="1">
                <a:solidFill>
                  <a:srgbClr val="6F2F9F"/>
                </a:solidFill>
                <a:latin typeface="黑体"/>
                <a:cs typeface="黑体"/>
              </a:rPr>
              <a:t>x86</a:t>
            </a:r>
            <a:r>
              <a:rPr dirty="0" sz="2000" spc="-20" b="1">
                <a:solidFill>
                  <a:srgbClr val="6F2F9F"/>
                </a:solidFill>
                <a:latin typeface="黑体"/>
                <a:cs typeface="黑体"/>
              </a:rPr>
              <a:t> 指令集</a:t>
            </a:r>
            <a:endParaRPr sz="2000">
              <a:latin typeface="黑体"/>
              <a:cs typeface="黑体"/>
            </a:endParaRPr>
          </a:p>
          <a:p>
            <a:pPr lvl="3" marL="1998345" marR="5080" indent="-457200">
              <a:lnSpc>
                <a:spcPct val="110000"/>
              </a:lnSpc>
              <a:spcBef>
                <a:spcPts val="600"/>
              </a:spcBef>
              <a:buClr>
                <a:srgbClr val="64CD80"/>
              </a:buClr>
              <a:buSzPct val="65000"/>
              <a:buFont typeface="Wingdings"/>
              <a:buChar char=""/>
              <a:tabLst>
                <a:tab pos="1998345" algn="l"/>
              </a:tabLst>
            </a:pPr>
            <a:r>
              <a:rPr dirty="0" sz="2000" spc="-10" b="1">
                <a:solidFill>
                  <a:srgbClr val="40458B"/>
                </a:solidFill>
                <a:latin typeface="宋体"/>
                <a:cs typeface="宋体"/>
              </a:rPr>
              <a:t>有两家厂商基于</a:t>
            </a:r>
            <a:r>
              <a:rPr dirty="0" sz="2000" spc="-25" b="1">
                <a:solidFill>
                  <a:srgbClr val="40458B"/>
                </a:solidFill>
                <a:latin typeface="Tahoma"/>
                <a:cs typeface="Tahoma"/>
              </a:rPr>
              <a:t>X86</a:t>
            </a:r>
            <a:r>
              <a:rPr dirty="0" sz="2000" spc="-10" b="1">
                <a:solidFill>
                  <a:srgbClr val="40458B"/>
                </a:solidFill>
                <a:latin typeface="宋体"/>
                <a:cs typeface="宋体"/>
              </a:rPr>
              <a:t>生产对应的</a:t>
            </a:r>
            <a:r>
              <a:rPr dirty="0" sz="2000" spc="-10" b="1">
                <a:solidFill>
                  <a:srgbClr val="40458B"/>
                </a:solidFill>
                <a:latin typeface="Tahoma"/>
                <a:cs typeface="Tahoma"/>
              </a:rPr>
              <a:t>CPU</a:t>
            </a:r>
            <a:r>
              <a:rPr dirty="0" sz="2000" spc="-10" b="1">
                <a:solidFill>
                  <a:srgbClr val="40458B"/>
                </a:solidFill>
                <a:latin typeface="宋体"/>
                <a:cs typeface="宋体"/>
              </a:rPr>
              <a:t>：</a:t>
            </a:r>
            <a:r>
              <a:rPr dirty="0" sz="2000" spc="-10" b="1">
                <a:solidFill>
                  <a:srgbClr val="40458B"/>
                </a:solidFill>
                <a:latin typeface="Tahoma"/>
                <a:cs typeface="Tahoma"/>
              </a:rPr>
              <a:t>Intel</a:t>
            </a:r>
            <a:r>
              <a:rPr dirty="0" sz="2000" spc="-10" b="1">
                <a:solidFill>
                  <a:srgbClr val="40458B"/>
                </a:solidFill>
                <a:latin typeface="宋体"/>
                <a:cs typeface="宋体"/>
              </a:rPr>
              <a:t>和</a:t>
            </a:r>
            <a:r>
              <a:rPr dirty="0" sz="2000" spc="-25" b="1">
                <a:solidFill>
                  <a:srgbClr val="40458B"/>
                </a:solidFill>
                <a:latin typeface="Tahoma"/>
                <a:cs typeface="Tahoma"/>
              </a:rPr>
              <a:t>AMD</a:t>
            </a:r>
            <a:r>
              <a:rPr dirty="0" sz="2000" spc="-25" b="1">
                <a:solidFill>
                  <a:srgbClr val="40458B"/>
                </a:solidFill>
                <a:latin typeface="宋体"/>
                <a:cs typeface="宋体"/>
              </a:rPr>
              <a:t>（</a:t>
            </a:r>
            <a:r>
              <a:rPr dirty="0" sz="2000" spc="-50" b="1">
                <a:solidFill>
                  <a:srgbClr val="40458B"/>
                </a:solidFill>
                <a:latin typeface="宋体"/>
                <a:cs typeface="宋体"/>
              </a:rPr>
              <a:t>授</a:t>
            </a:r>
            <a:r>
              <a:rPr dirty="0" sz="2000" spc="-10" b="1">
                <a:solidFill>
                  <a:srgbClr val="40458B"/>
                </a:solidFill>
                <a:latin typeface="宋体"/>
                <a:cs typeface="宋体"/>
              </a:rPr>
              <a:t>权公司）</a:t>
            </a:r>
            <a:r>
              <a:rPr dirty="0" sz="2000" spc="-50" b="1">
                <a:solidFill>
                  <a:srgbClr val="40458B"/>
                </a:solidFill>
                <a:latin typeface="宋体"/>
                <a:cs typeface="宋体"/>
              </a:rPr>
              <a:t>。</a:t>
            </a:r>
            <a:endParaRPr sz="2000">
              <a:latin typeface="宋体"/>
              <a:cs typeface="宋体"/>
            </a:endParaRPr>
          </a:p>
          <a:p>
            <a:pPr lvl="1" marL="1027430" indent="-457200">
              <a:lnSpc>
                <a:spcPct val="100000"/>
              </a:lnSpc>
              <a:spcBef>
                <a:spcPts val="1175"/>
              </a:spcBef>
              <a:buSzPct val="88636"/>
              <a:buFont typeface="Wingdings"/>
              <a:buChar char=""/>
              <a:tabLst>
                <a:tab pos="1027430" algn="l"/>
              </a:tabLst>
            </a:pPr>
            <a:r>
              <a:rPr dirty="0" sz="2200">
                <a:solidFill>
                  <a:srgbClr val="006FC0"/>
                </a:solidFill>
                <a:latin typeface="Tahoma"/>
                <a:cs typeface="Tahoma"/>
              </a:rPr>
              <a:t>RISC:</a:t>
            </a:r>
            <a:r>
              <a:rPr dirty="0" sz="2200" spc="135">
                <a:solidFill>
                  <a:srgbClr val="006FC0"/>
                </a:solidFill>
                <a:latin typeface="Tahoma"/>
                <a:cs typeface="Tahoma"/>
              </a:rPr>
              <a:t> </a:t>
            </a:r>
            <a:r>
              <a:rPr dirty="0" sz="2200" spc="-20">
                <a:solidFill>
                  <a:srgbClr val="006FC0"/>
                </a:solidFill>
                <a:latin typeface="Tahoma"/>
                <a:cs typeface="Tahoma"/>
              </a:rPr>
              <a:t>ARM</a:t>
            </a:r>
            <a:r>
              <a:rPr dirty="0" sz="2200" spc="-20">
                <a:solidFill>
                  <a:srgbClr val="006FC0"/>
                </a:solidFill>
                <a:latin typeface="黑体"/>
                <a:cs typeface="黑体"/>
              </a:rPr>
              <a:t>、</a:t>
            </a:r>
            <a:r>
              <a:rPr dirty="0" sz="2200" spc="-25">
                <a:solidFill>
                  <a:srgbClr val="006FC0"/>
                </a:solidFill>
                <a:latin typeface="Tahoma"/>
                <a:cs typeface="Tahoma"/>
              </a:rPr>
              <a:t>MIPS</a:t>
            </a:r>
            <a:r>
              <a:rPr dirty="0" sz="2200" spc="-20">
                <a:solidFill>
                  <a:srgbClr val="006FC0"/>
                </a:solidFill>
                <a:latin typeface="黑体"/>
                <a:cs typeface="黑体"/>
              </a:rPr>
              <a:t>、</a:t>
            </a:r>
            <a:r>
              <a:rPr dirty="0" sz="2200" spc="-20">
                <a:solidFill>
                  <a:srgbClr val="006FC0"/>
                </a:solidFill>
                <a:latin typeface="Tahoma"/>
                <a:cs typeface="Tahoma"/>
              </a:rPr>
              <a:t>RISC-</a:t>
            </a:r>
            <a:r>
              <a:rPr dirty="0" sz="2200" spc="-25">
                <a:solidFill>
                  <a:srgbClr val="006FC0"/>
                </a:solidFill>
                <a:latin typeface="Tahoma"/>
                <a:cs typeface="Tahoma"/>
              </a:rPr>
              <a:t>V</a:t>
            </a:r>
            <a:r>
              <a:rPr dirty="0" sz="2200" spc="-20">
                <a:solidFill>
                  <a:srgbClr val="006FC0"/>
                </a:solidFill>
                <a:latin typeface="黑体"/>
                <a:cs typeface="黑体"/>
              </a:rPr>
              <a:t>、</a:t>
            </a:r>
            <a:r>
              <a:rPr dirty="0" sz="2200" spc="-20">
                <a:solidFill>
                  <a:srgbClr val="006FC0"/>
                </a:solidFill>
                <a:latin typeface="Tahoma"/>
                <a:cs typeface="Tahoma"/>
              </a:rPr>
              <a:t>LongArch</a:t>
            </a:r>
            <a:r>
              <a:rPr dirty="0" sz="2200" spc="-30">
                <a:solidFill>
                  <a:srgbClr val="006FC0"/>
                </a:solidFill>
                <a:latin typeface="黑体"/>
                <a:cs typeface="黑体"/>
              </a:rPr>
              <a:t>龙芯系列</a:t>
            </a:r>
            <a:endParaRPr sz="2200">
              <a:latin typeface="黑体"/>
              <a:cs typeface="黑体"/>
            </a:endParaRPr>
          </a:p>
          <a:p>
            <a:pPr lvl="2" marL="1638935" indent="-457200">
              <a:lnSpc>
                <a:spcPct val="100000"/>
              </a:lnSpc>
              <a:spcBef>
                <a:spcPts val="1230"/>
              </a:spcBef>
              <a:buClr>
                <a:srgbClr val="4668F5"/>
              </a:buClr>
              <a:buSzPct val="72500"/>
              <a:buFont typeface="Wingdings"/>
              <a:buChar char=""/>
              <a:tabLst>
                <a:tab pos="1638935" algn="l"/>
              </a:tabLst>
            </a:pPr>
            <a:r>
              <a:rPr dirty="0" sz="2000" spc="-20" b="1">
                <a:solidFill>
                  <a:srgbClr val="6F2F9F"/>
                </a:solidFill>
                <a:latin typeface="黑体"/>
                <a:cs typeface="黑体"/>
              </a:rPr>
              <a:t>都有自身对应的</a:t>
            </a:r>
            <a:r>
              <a:rPr dirty="0" sz="2000" spc="-25" b="1">
                <a:solidFill>
                  <a:srgbClr val="6F2F9F"/>
                </a:solidFill>
                <a:latin typeface="黑体"/>
                <a:cs typeface="黑体"/>
              </a:rPr>
              <a:t>ISA</a:t>
            </a:r>
            <a:endParaRPr sz="2000">
              <a:latin typeface="黑体"/>
              <a:cs typeface="黑体"/>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926717" y="1112037"/>
            <a:ext cx="8336915" cy="3665854"/>
          </a:xfrm>
          <a:prstGeom prst="rect">
            <a:avLst/>
          </a:prstGeom>
        </p:spPr>
        <p:txBody>
          <a:bodyPr wrap="square" lIns="0" tIns="12700" rIns="0" bIns="0" rtlCol="0" vert="horz">
            <a:spAutoFit/>
          </a:bodyPr>
          <a:lstStyle/>
          <a:p>
            <a:pPr marL="469900" marR="5080" indent="-457200">
              <a:lnSpc>
                <a:spcPct val="130000"/>
              </a:lnSpc>
              <a:spcBef>
                <a:spcPts val="100"/>
              </a:spcBef>
              <a:buClr>
                <a:srgbClr val="40458B"/>
              </a:buClr>
              <a:buSzPct val="117857"/>
              <a:buFont typeface="Wingdings"/>
              <a:buChar char=""/>
              <a:tabLst>
                <a:tab pos="469900" algn="l"/>
              </a:tabLst>
            </a:pPr>
            <a:r>
              <a:rPr dirty="0" sz="2800" spc="-30">
                <a:solidFill>
                  <a:srgbClr val="172152"/>
                </a:solidFill>
                <a:latin typeface="黑体"/>
                <a:cs typeface="黑体"/>
              </a:rPr>
              <a:t>一般可以从</a:t>
            </a:r>
            <a:r>
              <a:rPr dirty="0" sz="2800" spc="-10">
                <a:solidFill>
                  <a:srgbClr val="172152"/>
                </a:solidFill>
                <a:latin typeface="Tahoma"/>
                <a:cs typeface="Tahoma"/>
              </a:rPr>
              <a:t>5</a:t>
            </a:r>
            <a:r>
              <a:rPr dirty="0" sz="2800" spc="-35">
                <a:solidFill>
                  <a:srgbClr val="172152"/>
                </a:solidFill>
                <a:latin typeface="黑体"/>
                <a:cs typeface="黑体"/>
              </a:rPr>
              <a:t>个方面</a:t>
            </a:r>
            <a:r>
              <a:rPr dirty="0" sz="2800" spc="-35">
                <a:solidFill>
                  <a:srgbClr val="D50092"/>
                </a:solidFill>
                <a:latin typeface="黑体"/>
                <a:cs typeface="黑体"/>
              </a:rPr>
              <a:t>因素考虑对</a:t>
            </a:r>
            <a:r>
              <a:rPr dirty="0" sz="2800" spc="-20">
                <a:solidFill>
                  <a:srgbClr val="D50092"/>
                </a:solidFill>
                <a:latin typeface="Tahoma"/>
                <a:cs typeface="Tahoma"/>
              </a:rPr>
              <a:t>ISA</a:t>
            </a:r>
            <a:r>
              <a:rPr dirty="0" sz="2800" spc="-35">
                <a:solidFill>
                  <a:srgbClr val="D50092"/>
                </a:solidFill>
                <a:latin typeface="黑体"/>
                <a:cs typeface="黑体"/>
              </a:rPr>
              <a:t>进行分类（</a:t>
            </a:r>
            <a:r>
              <a:rPr dirty="0" sz="2800" spc="-40">
                <a:solidFill>
                  <a:srgbClr val="D50092"/>
                </a:solidFill>
                <a:latin typeface="黑体"/>
                <a:cs typeface="黑体"/>
              </a:rPr>
              <a:t>补充</a:t>
            </a:r>
            <a:r>
              <a:rPr dirty="0" sz="2800" spc="-30">
                <a:solidFill>
                  <a:srgbClr val="D50092"/>
                </a:solidFill>
                <a:latin typeface="黑体"/>
                <a:cs typeface="黑体"/>
              </a:rPr>
              <a:t>内容</a:t>
            </a:r>
            <a:r>
              <a:rPr dirty="0" sz="2800" spc="-50">
                <a:solidFill>
                  <a:srgbClr val="D50092"/>
                </a:solidFill>
                <a:latin typeface="黑体"/>
                <a:cs typeface="黑体"/>
              </a:rPr>
              <a:t>）</a:t>
            </a:r>
            <a:endParaRPr sz="2800">
              <a:latin typeface="黑体"/>
              <a:cs typeface="黑体"/>
            </a:endParaRPr>
          </a:p>
          <a:p>
            <a:pPr lvl="1" marL="1099185" indent="-457200">
              <a:lnSpc>
                <a:spcPct val="100000"/>
              </a:lnSpc>
              <a:spcBef>
                <a:spcPts val="1440"/>
              </a:spcBef>
              <a:buSzPct val="88636"/>
              <a:buFont typeface="Wingdings"/>
              <a:buChar char=""/>
              <a:tabLst>
                <a:tab pos="1099185" algn="l"/>
              </a:tabLst>
            </a:pPr>
            <a:r>
              <a:rPr dirty="0" sz="2200" spc="-25">
                <a:solidFill>
                  <a:srgbClr val="006FC0"/>
                </a:solidFill>
                <a:latin typeface="黑体"/>
                <a:cs typeface="黑体"/>
              </a:rPr>
              <a:t>在</a:t>
            </a:r>
            <a:r>
              <a:rPr dirty="0" sz="2200" spc="-20">
                <a:solidFill>
                  <a:srgbClr val="006FC0"/>
                </a:solidFill>
                <a:latin typeface="Tahoma"/>
                <a:cs typeface="Tahoma"/>
              </a:rPr>
              <a:t>CPU</a:t>
            </a:r>
            <a:r>
              <a:rPr dirty="0" sz="2200" spc="-35">
                <a:solidFill>
                  <a:srgbClr val="006FC0"/>
                </a:solidFill>
                <a:latin typeface="黑体"/>
                <a:cs typeface="黑体"/>
              </a:rPr>
              <a:t>中操作数的存储方法</a:t>
            </a:r>
            <a:endParaRPr sz="2200">
              <a:latin typeface="黑体"/>
              <a:cs typeface="黑体"/>
            </a:endParaRPr>
          </a:p>
          <a:p>
            <a:pPr lvl="1" marL="1099185" indent="-457200">
              <a:lnSpc>
                <a:spcPct val="100000"/>
              </a:lnSpc>
              <a:spcBef>
                <a:spcPts val="1320"/>
              </a:spcBef>
              <a:buSzPct val="88636"/>
              <a:buFont typeface="Wingdings"/>
              <a:buChar char=""/>
              <a:tabLst>
                <a:tab pos="1099185" algn="l"/>
              </a:tabLst>
            </a:pPr>
            <a:r>
              <a:rPr dirty="0" sz="2200" spc="-35">
                <a:solidFill>
                  <a:srgbClr val="006FC0"/>
                </a:solidFill>
                <a:latin typeface="黑体"/>
                <a:cs typeface="黑体"/>
              </a:rPr>
              <a:t>指令中显示表示的操作数的个数</a:t>
            </a:r>
            <a:endParaRPr sz="2200">
              <a:latin typeface="黑体"/>
              <a:cs typeface="黑体"/>
            </a:endParaRPr>
          </a:p>
          <a:p>
            <a:pPr lvl="1" marL="1099185" indent="-457200">
              <a:lnSpc>
                <a:spcPct val="100000"/>
              </a:lnSpc>
              <a:spcBef>
                <a:spcPts val="1320"/>
              </a:spcBef>
              <a:buSzPct val="88636"/>
              <a:buFont typeface="Wingdings"/>
              <a:buChar char=""/>
              <a:tabLst>
                <a:tab pos="1099185" algn="l"/>
              </a:tabLst>
            </a:pPr>
            <a:r>
              <a:rPr dirty="0" sz="2200" spc="-35">
                <a:solidFill>
                  <a:srgbClr val="006FC0"/>
                </a:solidFill>
                <a:latin typeface="黑体"/>
                <a:cs typeface="黑体"/>
              </a:rPr>
              <a:t>操作数的寻址方式</a:t>
            </a:r>
            <a:endParaRPr sz="2200">
              <a:latin typeface="黑体"/>
              <a:cs typeface="黑体"/>
            </a:endParaRPr>
          </a:p>
          <a:p>
            <a:pPr lvl="1" marL="1099185" indent="-457200">
              <a:lnSpc>
                <a:spcPct val="100000"/>
              </a:lnSpc>
              <a:spcBef>
                <a:spcPts val="1325"/>
              </a:spcBef>
              <a:buSzPct val="88636"/>
              <a:buFont typeface="Wingdings"/>
              <a:buChar char=""/>
              <a:tabLst>
                <a:tab pos="1099185" algn="l"/>
              </a:tabLst>
            </a:pPr>
            <a:r>
              <a:rPr dirty="0" sz="2200" spc="-35">
                <a:solidFill>
                  <a:srgbClr val="006FC0"/>
                </a:solidFill>
                <a:latin typeface="黑体"/>
                <a:cs typeface="黑体"/>
              </a:rPr>
              <a:t>指令集所提供的操作数类型</a:t>
            </a:r>
            <a:endParaRPr sz="2200">
              <a:latin typeface="黑体"/>
              <a:cs typeface="黑体"/>
            </a:endParaRPr>
          </a:p>
          <a:p>
            <a:pPr lvl="1" marL="1099185" indent="-457200">
              <a:lnSpc>
                <a:spcPct val="100000"/>
              </a:lnSpc>
              <a:spcBef>
                <a:spcPts val="1320"/>
              </a:spcBef>
              <a:buSzPct val="88636"/>
              <a:buFont typeface="Wingdings"/>
              <a:buChar char=""/>
              <a:tabLst>
                <a:tab pos="1099185" algn="l"/>
              </a:tabLst>
            </a:pPr>
            <a:r>
              <a:rPr dirty="0" sz="2200" spc="-35">
                <a:solidFill>
                  <a:srgbClr val="006FC0"/>
                </a:solidFill>
                <a:latin typeface="黑体"/>
                <a:cs typeface="黑体"/>
              </a:rPr>
              <a:t>操作数的类型和大小</a:t>
            </a:r>
            <a:endParaRPr sz="2200">
              <a:latin typeface="黑体"/>
              <a:cs typeface="黑体"/>
            </a:endParaRPr>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000000"/>
                </a:solidFill>
              </a:rPr>
              <a:t>	2.1</a:t>
            </a:r>
            <a:r>
              <a:rPr dirty="0" spc="-35">
                <a:solidFill>
                  <a:srgbClr val="000000"/>
                </a:solidFill>
              </a:rPr>
              <a:t> </a:t>
            </a:r>
            <a:r>
              <a:rPr dirty="0">
                <a:solidFill>
                  <a:srgbClr val="000000"/>
                </a:solidFill>
                <a:latin typeface="微软雅黑"/>
                <a:cs typeface="微软雅黑"/>
              </a:rPr>
              <a:t>指令系统结构的分</a:t>
            </a:r>
            <a:r>
              <a:rPr dirty="0" spc="-50">
                <a:solidFill>
                  <a:srgbClr val="000000"/>
                </a:solidFill>
                <a:latin typeface="微软雅黑"/>
                <a:cs typeface="微软雅黑"/>
              </a:rPr>
              <a:t>类</a:t>
            </a:r>
            <a:r>
              <a:rPr dirty="0">
                <a:solidFill>
                  <a:srgbClr val="000000"/>
                </a:solidFill>
                <a:latin typeface="微软雅黑"/>
                <a:cs typeface="微软雅黑"/>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998345" y="1007039"/>
            <a:ext cx="8238490" cy="4546600"/>
          </a:xfrm>
          <a:prstGeom prst="rect">
            <a:avLst/>
          </a:prstGeom>
        </p:spPr>
        <p:txBody>
          <a:bodyPr wrap="square" lIns="0" tIns="245745" rIns="0" bIns="0" rtlCol="0" vert="horz">
            <a:spAutoFit/>
          </a:bodyPr>
          <a:lstStyle/>
          <a:p>
            <a:pPr marL="469265" indent="-456565">
              <a:lnSpc>
                <a:spcPct val="100000"/>
              </a:lnSpc>
              <a:spcBef>
                <a:spcPts val="1935"/>
              </a:spcBef>
              <a:buClr>
                <a:srgbClr val="40458B"/>
              </a:buClr>
              <a:buSzPct val="117857"/>
              <a:buFont typeface="Wingdings"/>
              <a:buChar char=""/>
              <a:tabLst>
                <a:tab pos="469265" algn="l"/>
              </a:tabLst>
            </a:pPr>
            <a:r>
              <a:rPr dirty="0" sz="2800" spc="-10">
                <a:solidFill>
                  <a:srgbClr val="172152"/>
                </a:solidFill>
                <a:latin typeface="Tahoma"/>
                <a:cs typeface="Tahoma"/>
              </a:rPr>
              <a:t>1</a:t>
            </a:r>
            <a:r>
              <a:rPr dirty="0" sz="2800" spc="-35">
                <a:solidFill>
                  <a:srgbClr val="172152"/>
                </a:solidFill>
                <a:latin typeface="黑体"/>
                <a:cs typeface="黑体"/>
              </a:rPr>
              <a:t>、区别不同指令系统结构的</a:t>
            </a:r>
            <a:r>
              <a:rPr dirty="0" sz="2800" spc="-40">
                <a:solidFill>
                  <a:srgbClr val="D50092"/>
                </a:solidFill>
                <a:latin typeface="黑体"/>
                <a:cs typeface="黑体"/>
              </a:rPr>
              <a:t>主要因素</a:t>
            </a:r>
            <a:endParaRPr sz="2800">
              <a:latin typeface="黑体"/>
              <a:cs typeface="黑体"/>
            </a:endParaRPr>
          </a:p>
          <a:p>
            <a:pPr marL="1062355">
              <a:lnSpc>
                <a:spcPct val="100000"/>
              </a:lnSpc>
              <a:spcBef>
                <a:spcPts val="1440"/>
              </a:spcBef>
            </a:pPr>
            <a:r>
              <a:rPr dirty="0" sz="2200" spc="-20">
                <a:solidFill>
                  <a:srgbClr val="006FC0"/>
                </a:solidFill>
                <a:latin typeface="黑体"/>
                <a:cs typeface="黑体"/>
              </a:rPr>
              <a:t>CPU</a:t>
            </a:r>
            <a:r>
              <a:rPr dirty="0" sz="2200" spc="-35">
                <a:solidFill>
                  <a:srgbClr val="006FC0"/>
                </a:solidFill>
                <a:latin typeface="黑体"/>
                <a:cs typeface="黑体"/>
              </a:rPr>
              <a:t>中用来存储操作数的存储单元的类型</a:t>
            </a:r>
            <a:endParaRPr sz="2200">
              <a:latin typeface="黑体"/>
              <a:cs typeface="黑体"/>
            </a:endParaRPr>
          </a:p>
          <a:p>
            <a:pPr marL="469900" marR="5080" indent="-457200">
              <a:lnSpc>
                <a:spcPct val="130100"/>
              </a:lnSpc>
              <a:spcBef>
                <a:spcPts val="550"/>
              </a:spcBef>
              <a:buClr>
                <a:srgbClr val="40458B"/>
              </a:buClr>
              <a:buSzPct val="117857"/>
              <a:buFont typeface="Wingdings"/>
              <a:buChar char=""/>
              <a:tabLst>
                <a:tab pos="469900" algn="l"/>
              </a:tabLst>
            </a:pPr>
            <a:r>
              <a:rPr dirty="0" sz="2800" spc="-30">
                <a:solidFill>
                  <a:srgbClr val="172152"/>
                </a:solidFill>
                <a:latin typeface="Tahoma"/>
                <a:cs typeface="Tahoma"/>
              </a:rPr>
              <a:t>CPU</a:t>
            </a:r>
            <a:r>
              <a:rPr dirty="0" sz="2800" spc="-35">
                <a:solidFill>
                  <a:srgbClr val="172152"/>
                </a:solidFill>
                <a:latin typeface="黑体"/>
                <a:cs typeface="黑体"/>
              </a:rPr>
              <a:t>中用来存储操作数的存储单元（</a:t>
            </a:r>
            <a:r>
              <a:rPr dirty="0" sz="2800" spc="-40">
                <a:solidFill>
                  <a:srgbClr val="172152"/>
                </a:solidFill>
                <a:latin typeface="黑体"/>
                <a:cs typeface="黑体"/>
              </a:rPr>
              <a:t>指令使用的数</a:t>
            </a:r>
            <a:r>
              <a:rPr dirty="0" sz="2800" spc="-25">
                <a:solidFill>
                  <a:srgbClr val="172152"/>
                </a:solidFill>
                <a:latin typeface="黑体"/>
                <a:cs typeface="黑体"/>
              </a:rPr>
              <a:t>据</a:t>
            </a:r>
            <a:r>
              <a:rPr dirty="0" sz="2800" spc="-50">
                <a:solidFill>
                  <a:srgbClr val="172152"/>
                </a:solidFill>
                <a:latin typeface="黑体"/>
                <a:cs typeface="黑体"/>
              </a:rPr>
              <a:t>）</a:t>
            </a:r>
            <a:endParaRPr sz="2800">
              <a:latin typeface="黑体"/>
              <a:cs typeface="黑体"/>
            </a:endParaRPr>
          </a:p>
          <a:p>
            <a:pPr lvl="1" marL="1099185" indent="-457200">
              <a:lnSpc>
                <a:spcPct val="100000"/>
              </a:lnSpc>
              <a:spcBef>
                <a:spcPts val="1440"/>
              </a:spcBef>
              <a:buSzPct val="88636"/>
              <a:buFont typeface="Wingdings"/>
              <a:buChar char=""/>
              <a:tabLst>
                <a:tab pos="1099185" algn="l"/>
              </a:tabLst>
            </a:pPr>
            <a:r>
              <a:rPr dirty="0" sz="2200" spc="-35">
                <a:solidFill>
                  <a:srgbClr val="006FC0"/>
                </a:solidFill>
                <a:latin typeface="黑体"/>
                <a:cs typeface="黑体"/>
              </a:rPr>
              <a:t>堆栈</a:t>
            </a:r>
            <a:endParaRPr sz="2200">
              <a:latin typeface="黑体"/>
              <a:cs typeface="黑体"/>
            </a:endParaRPr>
          </a:p>
          <a:p>
            <a:pPr lvl="1" marL="1099185" indent="-457200">
              <a:lnSpc>
                <a:spcPct val="100000"/>
              </a:lnSpc>
              <a:spcBef>
                <a:spcPts val="1320"/>
              </a:spcBef>
              <a:buSzPct val="88636"/>
              <a:buFont typeface="Wingdings"/>
              <a:buChar char=""/>
              <a:tabLst>
                <a:tab pos="1099185" algn="l"/>
              </a:tabLst>
            </a:pPr>
            <a:r>
              <a:rPr dirty="0" sz="2200" spc="-40">
                <a:solidFill>
                  <a:srgbClr val="006FC0"/>
                </a:solidFill>
                <a:latin typeface="黑体"/>
                <a:cs typeface="黑体"/>
              </a:rPr>
              <a:t>累加器</a:t>
            </a:r>
            <a:endParaRPr sz="2200">
              <a:latin typeface="黑体"/>
              <a:cs typeface="黑体"/>
            </a:endParaRPr>
          </a:p>
          <a:p>
            <a:pPr lvl="1" marL="1099185" indent="-457200">
              <a:lnSpc>
                <a:spcPct val="100000"/>
              </a:lnSpc>
              <a:spcBef>
                <a:spcPts val="1320"/>
              </a:spcBef>
              <a:buSzPct val="88636"/>
              <a:buFont typeface="Wingdings"/>
              <a:buChar char=""/>
              <a:tabLst>
                <a:tab pos="1099185" algn="l"/>
              </a:tabLst>
            </a:pPr>
            <a:r>
              <a:rPr dirty="0" sz="2200" spc="-35">
                <a:solidFill>
                  <a:srgbClr val="006FC0"/>
                </a:solidFill>
                <a:latin typeface="黑体"/>
                <a:cs typeface="黑体"/>
              </a:rPr>
              <a:t>通用寄存器组</a:t>
            </a:r>
            <a:endParaRPr sz="2200">
              <a:latin typeface="黑体"/>
              <a:cs typeface="黑体"/>
            </a:endParaRPr>
          </a:p>
          <a:p>
            <a:pPr marL="469265" indent="-456565">
              <a:lnSpc>
                <a:spcPct val="100000"/>
              </a:lnSpc>
              <a:spcBef>
                <a:spcPts val="1565"/>
              </a:spcBef>
              <a:buClr>
                <a:srgbClr val="40458B"/>
              </a:buClr>
              <a:buSzPct val="117857"/>
              <a:buFont typeface="Wingdings"/>
              <a:buChar char=""/>
              <a:tabLst>
                <a:tab pos="469265" algn="l"/>
              </a:tabLst>
            </a:pPr>
            <a:r>
              <a:rPr dirty="0" sz="2800" spc="-40">
                <a:solidFill>
                  <a:srgbClr val="172152"/>
                </a:solidFill>
                <a:latin typeface="黑体"/>
                <a:cs typeface="黑体"/>
              </a:rPr>
              <a:t>根据上述内容将指令系统的结构分为三种类型</a:t>
            </a:r>
            <a:endParaRPr sz="2800">
              <a:latin typeface="黑体"/>
              <a:cs typeface="黑体"/>
            </a:endParaRPr>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000000"/>
                </a:solidFill>
              </a:rPr>
              <a:t>	2.1</a:t>
            </a:r>
            <a:r>
              <a:rPr dirty="0" spc="-35">
                <a:solidFill>
                  <a:srgbClr val="000000"/>
                </a:solidFill>
              </a:rPr>
              <a:t> </a:t>
            </a:r>
            <a:r>
              <a:rPr dirty="0">
                <a:solidFill>
                  <a:srgbClr val="000000"/>
                </a:solidFill>
                <a:latin typeface="微软雅黑"/>
                <a:cs typeface="微软雅黑"/>
              </a:rPr>
              <a:t>指令系统结构的分</a:t>
            </a:r>
            <a:r>
              <a:rPr dirty="0" spc="-50">
                <a:solidFill>
                  <a:srgbClr val="000000"/>
                </a:solidFill>
                <a:latin typeface="微软雅黑"/>
                <a:cs typeface="微软雅黑"/>
              </a:rPr>
              <a:t>类</a:t>
            </a:r>
            <a:r>
              <a:rPr dirty="0">
                <a:solidFill>
                  <a:srgbClr val="000000"/>
                </a:solidFill>
                <a:latin typeface="微软雅黑"/>
                <a:cs typeface="微软雅黑"/>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2.1</a:t>
            </a:r>
            <a:r>
              <a:rPr dirty="0" spc="-35">
                <a:solidFill>
                  <a:srgbClr val="4F55AC"/>
                </a:solidFill>
              </a:rPr>
              <a:t> </a:t>
            </a:r>
            <a:r>
              <a:rPr dirty="0">
                <a:solidFill>
                  <a:srgbClr val="4F55AC"/>
                </a:solidFill>
                <a:latin typeface="微软雅黑"/>
                <a:cs typeface="微软雅黑"/>
              </a:rPr>
              <a:t>指令系统结构的分</a:t>
            </a:r>
            <a:r>
              <a:rPr dirty="0" spc="-50">
                <a:solidFill>
                  <a:srgbClr val="4F55AC"/>
                </a:solidFill>
                <a:latin typeface="微软雅黑"/>
                <a:cs typeface="微软雅黑"/>
              </a:rPr>
              <a:t>类</a:t>
            </a:r>
            <a:r>
              <a:rPr dirty="0">
                <a:solidFill>
                  <a:srgbClr val="4F55AC"/>
                </a:solidFill>
                <a:latin typeface="微软雅黑"/>
                <a:cs typeface="微软雅黑"/>
              </a:rPr>
              <a:t>	</a:t>
            </a:r>
          </a:p>
        </p:txBody>
      </p:sp>
      <p:sp>
        <p:nvSpPr>
          <p:cNvPr id="4" name="object 4" descr=""/>
          <p:cNvSpPr txBox="1"/>
          <p:nvPr/>
        </p:nvSpPr>
        <p:spPr>
          <a:xfrm>
            <a:off x="1853945" y="866204"/>
            <a:ext cx="8835390" cy="5353685"/>
          </a:xfrm>
          <a:prstGeom prst="rect">
            <a:avLst/>
          </a:prstGeom>
        </p:spPr>
        <p:txBody>
          <a:bodyPr wrap="square" lIns="0" tIns="245110" rIns="0" bIns="0" rtlCol="0" vert="horz">
            <a:spAutoFit/>
          </a:bodyPr>
          <a:lstStyle/>
          <a:p>
            <a:pPr marL="469900" indent="-457200">
              <a:lnSpc>
                <a:spcPct val="100000"/>
              </a:lnSpc>
              <a:spcBef>
                <a:spcPts val="1930"/>
              </a:spcBef>
              <a:buClr>
                <a:srgbClr val="40458B"/>
              </a:buClr>
              <a:buSzPct val="117857"/>
              <a:buFont typeface="Wingdings"/>
              <a:buChar char=""/>
              <a:tabLst>
                <a:tab pos="469900" algn="l"/>
              </a:tabLst>
            </a:pPr>
            <a:r>
              <a:rPr dirty="0" sz="2800" spc="-10">
                <a:solidFill>
                  <a:srgbClr val="172152"/>
                </a:solidFill>
                <a:latin typeface="Tahoma"/>
                <a:cs typeface="Tahoma"/>
              </a:rPr>
              <a:t>3</a:t>
            </a:r>
            <a:r>
              <a:rPr dirty="0" sz="2800" spc="-40">
                <a:solidFill>
                  <a:srgbClr val="172152"/>
                </a:solidFill>
                <a:latin typeface="黑体"/>
                <a:cs typeface="黑体"/>
              </a:rPr>
              <a:t>、将指令系统的结构分为三种类型</a:t>
            </a:r>
            <a:endParaRPr sz="2800">
              <a:latin typeface="黑体"/>
              <a:cs typeface="黑体"/>
            </a:endParaRPr>
          </a:p>
          <a:p>
            <a:pPr lvl="1" marL="1027430" indent="-457200">
              <a:lnSpc>
                <a:spcPct val="100000"/>
              </a:lnSpc>
              <a:spcBef>
                <a:spcPts val="1440"/>
              </a:spcBef>
              <a:buSzPct val="88636"/>
              <a:buFont typeface="Wingdings"/>
              <a:buChar char=""/>
              <a:tabLst>
                <a:tab pos="1027430" algn="l"/>
              </a:tabLst>
            </a:pPr>
            <a:r>
              <a:rPr dirty="0" sz="2200" spc="-35">
                <a:solidFill>
                  <a:srgbClr val="006FC0"/>
                </a:solidFill>
                <a:latin typeface="黑体"/>
                <a:cs typeface="黑体"/>
              </a:rPr>
              <a:t>堆栈结构</a:t>
            </a:r>
            <a:endParaRPr sz="2200">
              <a:latin typeface="黑体"/>
              <a:cs typeface="黑体"/>
            </a:endParaRPr>
          </a:p>
          <a:p>
            <a:pPr lvl="1" marL="1027430" indent="-457200">
              <a:lnSpc>
                <a:spcPct val="100000"/>
              </a:lnSpc>
              <a:spcBef>
                <a:spcPts val="1320"/>
              </a:spcBef>
              <a:buSzPct val="88636"/>
              <a:buFont typeface="Wingdings"/>
              <a:buChar char=""/>
              <a:tabLst>
                <a:tab pos="1027430" algn="l"/>
              </a:tabLst>
            </a:pPr>
            <a:r>
              <a:rPr dirty="0" sz="2200" spc="-35">
                <a:solidFill>
                  <a:srgbClr val="006FC0"/>
                </a:solidFill>
                <a:latin typeface="黑体"/>
                <a:cs typeface="黑体"/>
              </a:rPr>
              <a:t>累加器结构</a:t>
            </a:r>
            <a:endParaRPr sz="2200">
              <a:latin typeface="黑体"/>
              <a:cs typeface="黑体"/>
            </a:endParaRPr>
          </a:p>
          <a:p>
            <a:pPr lvl="1" marL="1027430" indent="-457200">
              <a:lnSpc>
                <a:spcPct val="100000"/>
              </a:lnSpc>
              <a:spcBef>
                <a:spcPts val="1320"/>
              </a:spcBef>
              <a:buSzPct val="88636"/>
              <a:buFont typeface="Wingdings"/>
              <a:buChar char=""/>
              <a:tabLst>
                <a:tab pos="1027430" algn="l"/>
              </a:tabLst>
            </a:pPr>
            <a:r>
              <a:rPr dirty="0" sz="2200" spc="-35">
                <a:solidFill>
                  <a:srgbClr val="006FC0"/>
                </a:solidFill>
                <a:latin typeface="黑体"/>
                <a:cs typeface="黑体"/>
              </a:rPr>
              <a:t>通用寄存器结构</a:t>
            </a:r>
            <a:endParaRPr sz="2200">
              <a:latin typeface="黑体"/>
              <a:cs typeface="黑体"/>
            </a:endParaRPr>
          </a:p>
          <a:p>
            <a:pPr marL="876935">
              <a:lnSpc>
                <a:spcPct val="100000"/>
              </a:lnSpc>
              <a:spcBef>
                <a:spcPts val="1235"/>
              </a:spcBef>
            </a:pPr>
            <a:r>
              <a:rPr dirty="0" sz="2000" spc="-25" b="1">
                <a:solidFill>
                  <a:srgbClr val="6F2F9F"/>
                </a:solidFill>
                <a:latin typeface="黑体"/>
                <a:cs typeface="黑体"/>
              </a:rPr>
              <a:t>根据操作数的来源不同，又可进一步分为:</a:t>
            </a:r>
            <a:endParaRPr sz="2000">
              <a:latin typeface="黑体"/>
              <a:cs typeface="黑体"/>
            </a:endParaRPr>
          </a:p>
          <a:p>
            <a:pPr lvl="2" marL="1236345" indent="-359410">
              <a:lnSpc>
                <a:spcPct val="100000"/>
              </a:lnSpc>
              <a:spcBef>
                <a:spcPts val="1200"/>
              </a:spcBef>
              <a:buClr>
                <a:srgbClr val="4668F5"/>
              </a:buClr>
              <a:buSzPct val="72500"/>
              <a:buFont typeface="Wingdings"/>
              <a:buChar char=""/>
              <a:tabLst>
                <a:tab pos="1236345" algn="l"/>
              </a:tabLst>
            </a:pPr>
            <a:r>
              <a:rPr dirty="0" sz="2000" spc="-5" b="1">
                <a:solidFill>
                  <a:srgbClr val="FF0000"/>
                </a:solidFill>
                <a:latin typeface="黑体"/>
                <a:cs typeface="黑体"/>
              </a:rPr>
              <a:t>寄存器</a:t>
            </a:r>
            <a:r>
              <a:rPr dirty="0" sz="2000" spc="-15" b="1">
                <a:solidFill>
                  <a:srgbClr val="FF0000"/>
                </a:solidFill>
                <a:latin typeface="宋体"/>
                <a:cs typeface="宋体"/>
              </a:rPr>
              <a:t>-</a:t>
            </a:r>
            <a:r>
              <a:rPr dirty="0" sz="2000" spc="-15" b="1">
                <a:solidFill>
                  <a:srgbClr val="FF0000"/>
                </a:solidFill>
                <a:latin typeface="黑体"/>
                <a:cs typeface="黑体"/>
              </a:rPr>
              <a:t>存储器结构</a:t>
            </a:r>
            <a:r>
              <a:rPr dirty="0" sz="2000" spc="-20" b="1">
                <a:solidFill>
                  <a:srgbClr val="6F2F9F"/>
                </a:solidFill>
                <a:latin typeface="黑体"/>
                <a:cs typeface="黑体"/>
              </a:rPr>
              <a:t>（</a:t>
            </a:r>
            <a:r>
              <a:rPr dirty="0" sz="2000" spc="-20" b="1">
                <a:solidFill>
                  <a:srgbClr val="6600FF"/>
                </a:solidFill>
                <a:latin typeface="宋体"/>
                <a:cs typeface="宋体"/>
              </a:rPr>
              <a:t>RM</a:t>
            </a:r>
            <a:r>
              <a:rPr dirty="0" sz="2000" spc="-10" b="1">
                <a:solidFill>
                  <a:srgbClr val="6F2F9F"/>
                </a:solidFill>
                <a:latin typeface="黑体"/>
                <a:cs typeface="黑体"/>
              </a:rPr>
              <a:t>结构</a:t>
            </a:r>
            <a:r>
              <a:rPr dirty="0" sz="2000" spc="-50" b="1">
                <a:solidFill>
                  <a:srgbClr val="6F2F9F"/>
                </a:solidFill>
                <a:latin typeface="黑体"/>
                <a:cs typeface="黑体"/>
              </a:rPr>
              <a:t>）</a:t>
            </a:r>
            <a:endParaRPr sz="2000">
              <a:latin typeface="黑体"/>
              <a:cs typeface="黑体"/>
            </a:endParaRPr>
          </a:p>
          <a:p>
            <a:pPr marL="1777364">
              <a:lnSpc>
                <a:spcPct val="100000"/>
              </a:lnSpc>
              <a:spcBef>
                <a:spcPts val="1200"/>
              </a:spcBef>
            </a:pPr>
            <a:r>
              <a:rPr dirty="0" sz="2000" spc="-10" b="1">
                <a:solidFill>
                  <a:srgbClr val="6F2F9F"/>
                </a:solidFill>
                <a:latin typeface="宋体"/>
                <a:cs typeface="宋体"/>
              </a:rPr>
              <a:t>(</a:t>
            </a:r>
            <a:r>
              <a:rPr dirty="0" sz="2000" spc="-25" b="1">
                <a:solidFill>
                  <a:srgbClr val="6F2F9F"/>
                </a:solidFill>
                <a:latin typeface="黑体"/>
                <a:cs typeface="黑体"/>
              </a:rPr>
              <a:t>操作数可以来自存储器 </a:t>
            </a:r>
            <a:r>
              <a:rPr dirty="0" sz="2000" spc="-50" b="1">
                <a:solidFill>
                  <a:srgbClr val="6F2F9F"/>
                </a:solidFill>
                <a:latin typeface="宋体"/>
                <a:cs typeface="宋体"/>
              </a:rPr>
              <a:t>)</a:t>
            </a:r>
            <a:endParaRPr sz="2000">
              <a:latin typeface="宋体"/>
              <a:cs typeface="宋体"/>
            </a:endParaRPr>
          </a:p>
          <a:p>
            <a:pPr lvl="2" marL="1236345" indent="-359410">
              <a:lnSpc>
                <a:spcPct val="100000"/>
              </a:lnSpc>
              <a:spcBef>
                <a:spcPts val="1205"/>
              </a:spcBef>
              <a:buClr>
                <a:srgbClr val="4668F5"/>
              </a:buClr>
              <a:buSzPct val="72500"/>
              <a:buFont typeface="Wingdings"/>
              <a:buChar char=""/>
              <a:tabLst>
                <a:tab pos="1236345" algn="l"/>
              </a:tabLst>
            </a:pPr>
            <a:r>
              <a:rPr dirty="0" sz="2000" spc="-5" b="1">
                <a:solidFill>
                  <a:srgbClr val="FF0000"/>
                </a:solidFill>
                <a:latin typeface="黑体"/>
                <a:cs typeface="黑体"/>
              </a:rPr>
              <a:t>寄存器</a:t>
            </a:r>
            <a:r>
              <a:rPr dirty="0" sz="2000" spc="-15" b="1">
                <a:solidFill>
                  <a:srgbClr val="FF0000"/>
                </a:solidFill>
                <a:latin typeface="宋体"/>
                <a:cs typeface="宋体"/>
              </a:rPr>
              <a:t>-</a:t>
            </a:r>
            <a:r>
              <a:rPr dirty="0" sz="2000" spc="-15" b="1">
                <a:solidFill>
                  <a:srgbClr val="FF0000"/>
                </a:solidFill>
                <a:latin typeface="黑体"/>
                <a:cs typeface="黑体"/>
              </a:rPr>
              <a:t>寄存器结构</a:t>
            </a:r>
            <a:r>
              <a:rPr dirty="0" sz="2000" spc="-20" b="1">
                <a:solidFill>
                  <a:srgbClr val="6F2F9F"/>
                </a:solidFill>
                <a:latin typeface="黑体"/>
                <a:cs typeface="黑体"/>
              </a:rPr>
              <a:t>（</a:t>
            </a:r>
            <a:r>
              <a:rPr dirty="0" sz="2000" spc="-20" b="1">
                <a:solidFill>
                  <a:srgbClr val="6600FF"/>
                </a:solidFill>
                <a:latin typeface="宋体"/>
                <a:cs typeface="宋体"/>
              </a:rPr>
              <a:t>RR</a:t>
            </a:r>
            <a:r>
              <a:rPr dirty="0" sz="2000" spc="-10" b="1">
                <a:solidFill>
                  <a:srgbClr val="6F2F9F"/>
                </a:solidFill>
                <a:latin typeface="黑体"/>
                <a:cs typeface="黑体"/>
              </a:rPr>
              <a:t>结构</a:t>
            </a:r>
            <a:r>
              <a:rPr dirty="0" sz="2000" spc="-50" b="1">
                <a:solidFill>
                  <a:srgbClr val="6F2F9F"/>
                </a:solidFill>
                <a:latin typeface="黑体"/>
                <a:cs typeface="黑体"/>
              </a:rPr>
              <a:t>）</a:t>
            </a:r>
            <a:endParaRPr sz="2000">
              <a:latin typeface="黑体"/>
              <a:cs typeface="黑体"/>
            </a:endParaRPr>
          </a:p>
          <a:p>
            <a:pPr marL="1777364">
              <a:lnSpc>
                <a:spcPct val="100000"/>
              </a:lnSpc>
              <a:spcBef>
                <a:spcPts val="1200"/>
              </a:spcBef>
            </a:pPr>
            <a:r>
              <a:rPr dirty="0" sz="2000" spc="-10" b="1">
                <a:solidFill>
                  <a:srgbClr val="6F2F9F"/>
                </a:solidFill>
                <a:latin typeface="宋体"/>
                <a:cs typeface="宋体"/>
              </a:rPr>
              <a:t>(</a:t>
            </a:r>
            <a:r>
              <a:rPr dirty="0" sz="2000" spc="-20" b="1">
                <a:solidFill>
                  <a:srgbClr val="6F2F9F"/>
                </a:solidFill>
                <a:latin typeface="黑体"/>
                <a:cs typeface="黑体"/>
              </a:rPr>
              <a:t>所有操作数都是来自通用寄存器组</a:t>
            </a:r>
            <a:r>
              <a:rPr dirty="0" sz="2000" spc="-50" b="1">
                <a:solidFill>
                  <a:srgbClr val="6F2F9F"/>
                </a:solidFill>
                <a:latin typeface="宋体"/>
                <a:cs typeface="宋体"/>
              </a:rPr>
              <a:t>)</a:t>
            </a:r>
            <a:endParaRPr sz="2000">
              <a:latin typeface="宋体"/>
              <a:cs typeface="宋体"/>
            </a:endParaRPr>
          </a:p>
          <a:p>
            <a:pPr marL="1004569">
              <a:lnSpc>
                <a:spcPct val="100000"/>
              </a:lnSpc>
              <a:spcBef>
                <a:spcPts val="1200"/>
              </a:spcBef>
            </a:pPr>
            <a:r>
              <a:rPr dirty="0" sz="2000" spc="-5" b="1">
                <a:solidFill>
                  <a:srgbClr val="6F2F9F"/>
                </a:solidFill>
                <a:latin typeface="黑体"/>
                <a:cs typeface="黑体"/>
              </a:rPr>
              <a:t>也称为</a:t>
            </a:r>
            <a:r>
              <a:rPr dirty="0" sz="2000" spc="-20" b="1">
                <a:solidFill>
                  <a:srgbClr val="6600FF"/>
                </a:solidFill>
                <a:latin typeface="宋体"/>
                <a:cs typeface="宋体"/>
              </a:rPr>
              <a:t>load-</a:t>
            </a:r>
            <a:r>
              <a:rPr dirty="0" sz="2000" spc="-10" b="1">
                <a:solidFill>
                  <a:srgbClr val="6600FF"/>
                </a:solidFill>
                <a:latin typeface="宋体"/>
                <a:cs typeface="宋体"/>
              </a:rPr>
              <a:t>store</a:t>
            </a:r>
            <a:r>
              <a:rPr dirty="0" sz="2000" spc="-20" b="1">
                <a:solidFill>
                  <a:srgbClr val="6F2F9F"/>
                </a:solidFill>
                <a:latin typeface="黑体"/>
                <a:cs typeface="黑体"/>
              </a:rPr>
              <a:t>结构，这个名称强调：只有</a:t>
            </a:r>
            <a:r>
              <a:rPr dirty="0" sz="2000" spc="-20" b="1">
                <a:solidFill>
                  <a:srgbClr val="6600FF"/>
                </a:solidFill>
                <a:latin typeface="宋体"/>
                <a:cs typeface="宋体"/>
              </a:rPr>
              <a:t>load</a:t>
            </a:r>
            <a:r>
              <a:rPr dirty="0" sz="2000" spc="-15" b="1">
                <a:solidFill>
                  <a:srgbClr val="6F2F9F"/>
                </a:solidFill>
                <a:latin typeface="黑体"/>
                <a:cs typeface="黑体"/>
              </a:rPr>
              <a:t>指令和</a:t>
            </a:r>
            <a:r>
              <a:rPr dirty="0" sz="2000" spc="-10" b="1">
                <a:solidFill>
                  <a:srgbClr val="6600FF"/>
                </a:solidFill>
                <a:latin typeface="宋体"/>
                <a:cs typeface="宋体"/>
              </a:rPr>
              <a:t>store</a:t>
            </a:r>
            <a:r>
              <a:rPr dirty="0" sz="2000" spc="-25" b="1">
                <a:solidFill>
                  <a:srgbClr val="6F2F9F"/>
                </a:solidFill>
                <a:latin typeface="黑体"/>
                <a:cs typeface="黑体"/>
              </a:rPr>
              <a:t>指令能</a:t>
            </a:r>
            <a:endParaRPr sz="2000">
              <a:latin typeface="黑体"/>
              <a:cs typeface="黑体"/>
            </a:endParaRPr>
          </a:p>
          <a:p>
            <a:pPr marL="1236345">
              <a:lnSpc>
                <a:spcPct val="100000"/>
              </a:lnSpc>
              <a:spcBef>
                <a:spcPts val="720"/>
              </a:spcBef>
            </a:pPr>
            <a:r>
              <a:rPr dirty="0" sz="2000" spc="-15" b="1">
                <a:solidFill>
                  <a:srgbClr val="6F2F9F"/>
                </a:solidFill>
                <a:latin typeface="黑体"/>
                <a:cs typeface="黑体"/>
              </a:rPr>
              <a:t>够访问存储器</a:t>
            </a:r>
            <a:r>
              <a:rPr dirty="0" sz="2000" spc="-10" b="1">
                <a:solidFill>
                  <a:srgbClr val="6F2F9F"/>
                </a:solidFill>
                <a:latin typeface="宋体"/>
                <a:cs typeface="宋体"/>
              </a:rPr>
              <a:t>(</a:t>
            </a:r>
            <a:r>
              <a:rPr dirty="0" sz="2000" spc="-15" b="1">
                <a:solidFill>
                  <a:srgbClr val="6F2F9F"/>
                </a:solidFill>
                <a:latin typeface="黑体"/>
                <a:cs typeface="黑体"/>
              </a:rPr>
              <a:t>加快访问速度</a:t>
            </a:r>
            <a:r>
              <a:rPr dirty="0" sz="2000" spc="-10" b="1">
                <a:solidFill>
                  <a:srgbClr val="6F2F9F"/>
                </a:solidFill>
                <a:latin typeface="宋体"/>
                <a:cs typeface="宋体"/>
              </a:rPr>
              <a:t>)</a:t>
            </a:r>
            <a:r>
              <a:rPr dirty="0" sz="2000" spc="-50" b="1">
                <a:solidFill>
                  <a:srgbClr val="6F2F9F"/>
                </a:solidFill>
                <a:latin typeface="黑体"/>
                <a:cs typeface="黑体"/>
              </a:rPr>
              <a:t>。</a:t>
            </a:r>
            <a:endParaRPr sz="2000">
              <a:latin typeface="黑体"/>
              <a:cs typeface="黑体"/>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2.1</a:t>
            </a:r>
            <a:r>
              <a:rPr dirty="0" spc="-35">
                <a:solidFill>
                  <a:srgbClr val="4F55AC"/>
                </a:solidFill>
              </a:rPr>
              <a:t> </a:t>
            </a:r>
            <a:r>
              <a:rPr dirty="0">
                <a:solidFill>
                  <a:srgbClr val="4F55AC"/>
                </a:solidFill>
                <a:latin typeface="微软雅黑"/>
                <a:cs typeface="微软雅黑"/>
              </a:rPr>
              <a:t>指令系统结构的分</a:t>
            </a:r>
            <a:r>
              <a:rPr dirty="0" spc="-50">
                <a:solidFill>
                  <a:srgbClr val="4F55AC"/>
                </a:solidFill>
                <a:latin typeface="微软雅黑"/>
                <a:cs typeface="微软雅黑"/>
              </a:rPr>
              <a:t>类</a:t>
            </a:r>
            <a:r>
              <a:rPr dirty="0">
                <a:solidFill>
                  <a:srgbClr val="4F55AC"/>
                </a:solidFill>
                <a:latin typeface="微软雅黑"/>
                <a:cs typeface="微软雅黑"/>
              </a:rPr>
              <a:t>	</a:t>
            </a:r>
          </a:p>
        </p:txBody>
      </p:sp>
      <p:sp>
        <p:nvSpPr>
          <p:cNvPr id="4" name="object 4" descr=""/>
          <p:cNvSpPr txBox="1"/>
          <p:nvPr/>
        </p:nvSpPr>
        <p:spPr>
          <a:xfrm>
            <a:off x="1728342" y="1091750"/>
            <a:ext cx="8466455" cy="2592070"/>
          </a:xfrm>
          <a:prstGeom prst="rect">
            <a:avLst/>
          </a:prstGeom>
        </p:spPr>
        <p:txBody>
          <a:bodyPr wrap="square" lIns="0" tIns="52069" rIns="0" bIns="0" rtlCol="0" vert="horz">
            <a:spAutoFit/>
          </a:bodyPr>
          <a:lstStyle/>
          <a:p>
            <a:pPr marL="355600" marR="79375" indent="-342900">
              <a:lnSpc>
                <a:spcPts val="4370"/>
              </a:lnSpc>
              <a:spcBef>
                <a:spcPts val="409"/>
              </a:spcBef>
              <a:buClr>
                <a:srgbClr val="40458B"/>
              </a:buClr>
              <a:buSzPct val="114285"/>
              <a:buFont typeface="Wingdings"/>
              <a:buChar char=""/>
              <a:tabLst>
                <a:tab pos="355600" algn="l"/>
              </a:tabLst>
            </a:pPr>
            <a:r>
              <a:rPr dirty="0" sz="2800" spc="-10">
                <a:solidFill>
                  <a:srgbClr val="172152"/>
                </a:solidFill>
                <a:latin typeface="Tahoma"/>
                <a:cs typeface="Tahoma"/>
              </a:rPr>
              <a:t>4</a:t>
            </a:r>
            <a:r>
              <a:rPr dirty="0" sz="2800" spc="-40">
                <a:solidFill>
                  <a:srgbClr val="172152"/>
                </a:solidFill>
                <a:latin typeface="黑体"/>
                <a:cs typeface="黑体"/>
              </a:rPr>
              <a:t>、对于不同类型的结构，操作数的位置、个数以及</a:t>
            </a:r>
            <a:r>
              <a:rPr dirty="0" sz="2800" spc="-35">
                <a:solidFill>
                  <a:srgbClr val="172152"/>
                </a:solidFill>
                <a:latin typeface="黑体"/>
                <a:cs typeface="黑体"/>
              </a:rPr>
              <a:t>操作数的给出方式（显式或隐式）</a:t>
            </a:r>
            <a:r>
              <a:rPr dirty="0" sz="2800" spc="-40">
                <a:solidFill>
                  <a:srgbClr val="172152"/>
                </a:solidFill>
                <a:latin typeface="黑体"/>
                <a:cs typeface="黑体"/>
              </a:rPr>
              <a:t>也会不同。</a:t>
            </a:r>
            <a:endParaRPr sz="2800">
              <a:latin typeface="黑体"/>
              <a:cs typeface="黑体"/>
            </a:endParaRPr>
          </a:p>
          <a:p>
            <a:pPr lvl="1" marL="1099185" indent="-457200">
              <a:lnSpc>
                <a:spcPct val="100000"/>
              </a:lnSpc>
              <a:spcBef>
                <a:spcPts val="1125"/>
              </a:spcBef>
              <a:buSzPct val="88636"/>
              <a:buFont typeface="Wingdings"/>
              <a:buChar char=""/>
              <a:tabLst>
                <a:tab pos="1099185" algn="l"/>
              </a:tabLst>
            </a:pPr>
            <a:r>
              <a:rPr dirty="0" sz="2200" spc="-35">
                <a:solidFill>
                  <a:srgbClr val="006FC0"/>
                </a:solidFill>
                <a:latin typeface="黑体"/>
                <a:cs typeface="黑体"/>
              </a:rPr>
              <a:t>显式给出：用指令字中的操作数字段给出</a:t>
            </a:r>
            <a:endParaRPr sz="2200">
              <a:latin typeface="黑体"/>
              <a:cs typeface="黑体"/>
            </a:endParaRPr>
          </a:p>
          <a:p>
            <a:pPr lvl="1" marL="1099185" indent="-457200">
              <a:lnSpc>
                <a:spcPct val="100000"/>
              </a:lnSpc>
              <a:spcBef>
                <a:spcPts val="1320"/>
              </a:spcBef>
              <a:buSzPct val="88636"/>
              <a:buFont typeface="Wingdings"/>
              <a:buChar char=""/>
              <a:tabLst>
                <a:tab pos="1099185" algn="l"/>
              </a:tabLst>
            </a:pPr>
            <a:r>
              <a:rPr dirty="0" sz="2200" spc="-45">
                <a:solidFill>
                  <a:srgbClr val="006FC0"/>
                </a:solidFill>
                <a:latin typeface="黑体"/>
                <a:cs typeface="黑体"/>
              </a:rPr>
              <a:t>隐式给出：使用事先约定好的单元 </a:t>
            </a:r>
            <a:r>
              <a:rPr dirty="0" sz="2200" spc="-25">
                <a:solidFill>
                  <a:srgbClr val="006FC0"/>
                </a:solidFill>
                <a:latin typeface="黑体"/>
                <a:cs typeface="黑体"/>
              </a:rPr>
              <a:t>（</a:t>
            </a:r>
            <a:r>
              <a:rPr dirty="0" sz="2200" spc="-35">
                <a:solidFill>
                  <a:srgbClr val="006FC0"/>
                </a:solidFill>
                <a:latin typeface="黑体"/>
                <a:cs typeface="黑体"/>
              </a:rPr>
              <a:t>例如堆栈结构中，栈顶</a:t>
            </a:r>
            <a:endParaRPr sz="2200">
              <a:latin typeface="黑体"/>
              <a:cs typeface="黑体"/>
            </a:endParaRPr>
          </a:p>
          <a:p>
            <a:pPr algn="ctr" marL="438784">
              <a:lnSpc>
                <a:spcPct val="100000"/>
              </a:lnSpc>
              <a:spcBef>
                <a:spcPts val="790"/>
              </a:spcBef>
            </a:pPr>
            <a:r>
              <a:rPr dirty="0" sz="2200" spc="-30">
                <a:solidFill>
                  <a:srgbClr val="006FC0"/>
                </a:solidFill>
                <a:latin typeface="黑体"/>
                <a:cs typeface="黑体"/>
              </a:rPr>
              <a:t>操作数都是隐式的；累加器其中一个操作数是隐式的</a:t>
            </a:r>
            <a:r>
              <a:rPr dirty="0" sz="2200" spc="-50">
                <a:solidFill>
                  <a:srgbClr val="006FC0"/>
                </a:solidFill>
                <a:latin typeface="黑体"/>
                <a:cs typeface="黑体"/>
              </a:rPr>
              <a:t>）</a:t>
            </a:r>
            <a:endParaRPr sz="2200">
              <a:latin typeface="黑体"/>
              <a:cs typeface="黑体"/>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39288" y="211023"/>
            <a:ext cx="4505960" cy="514350"/>
          </a:xfrm>
          <a:prstGeom prst="rect"/>
        </p:spPr>
        <p:txBody>
          <a:bodyPr wrap="square" lIns="0" tIns="13335" rIns="0" bIns="0" rtlCol="0" vert="horz">
            <a:spAutoFit/>
          </a:bodyPr>
          <a:lstStyle/>
          <a:p>
            <a:pPr marL="12700">
              <a:lnSpc>
                <a:spcPct val="100000"/>
              </a:lnSpc>
              <a:spcBef>
                <a:spcPts val="105"/>
              </a:spcBef>
            </a:pPr>
            <a:r>
              <a:rPr dirty="0" u="none">
                <a:solidFill>
                  <a:srgbClr val="4F55AC"/>
                </a:solidFill>
              </a:rPr>
              <a:t>2.1</a:t>
            </a:r>
            <a:r>
              <a:rPr dirty="0" u="none" spc="5">
                <a:solidFill>
                  <a:srgbClr val="4F55AC"/>
                </a:solidFill>
              </a:rPr>
              <a:t> </a:t>
            </a:r>
            <a:r>
              <a:rPr dirty="0" u="none" spc="-15">
                <a:solidFill>
                  <a:srgbClr val="4F55AC"/>
                </a:solidFill>
                <a:latin typeface="微软雅黑"/>
                <a:cs typeface="微软雅黑"/>
              </a:rPr>
              <a:t>指令系统结构的分类</a:t>
            </a:r>
          </a:p>
        </p:txBody>
      </p:sp>
      <p:sp>
        <p:nvSpPr>
          <p:cNvPr id="3" name="object 3" descr=""/>
          <p:cNvSpPr txBox="1"/>
          <p:nvPr/>
        </p:nvSpPr>
        <p:spPr>
          <a:xfrm>
            <a:off x="2699130" y="1116363"/>
            <a:ext cx="6981190" cy="1452245"/>
          </a:xfrm>
          <a:prstGeom prst="rect">
            <a:avLst/>
          </a:prstGeom>
        </p:spPr>
        <p:txBody>
          <a:bodyPr wrap="square" lIns="0" tIns="12065" rIns="0" bIns="0" rtlCol="0" vert="horz">
            <a:spAutoFit/>
          </a:bodyPr>
          <a:lstStyle/>
          <a:p>
            <a:pPr marL="379730" marR="5080" indent="-367665">
              <a:lnSpc>
                <a:spcPct val="130000"/>
              </a:lnSpc>
              <a:spcBef>
                <a:spcPts val="95"/>
              </a:spcBef>
            </a:pPr>
            <a:r>
              <a:rPr dirty="0" sz="2400">
                <a:solidFill>
                  <a:srgbClr val="E14B04"/>
                </a:solidFill>
                <a:latin typeface="黑体"/>
                <a:cs typeface="黑体"/>
              </a:rPr>
              <a:t>例</a:t>
            </a:r>
            <a:r>
              <a:rPr dirty="0" sz="2400">
                <a:solidFill>
                  <a:srgbClr val="E14B04"/>
                </a:solidFill>
                <a:latin typeface="Tahoma"/>
                <a:cs typeface="Tahoma"/>
              </a:rPr>
              <a:t>: </a:t>
            </a:r>
            <a:r>
              <a:rPr dirty="0" sz="2400" spc="-20" b="1">
                <a:latin typeface="宋体"/>
                <a:cs typeface="宋体"/>
              </a:rPr>
              <a:t>表达式Z</a:t>
            </a:r>
            <a:r>
              <a:rPr dirty="0" sz="2400" spc="-20" b="1">
                <a:solidFill>
                  <a:srgbClr val="E14B04"/>
                </a:solidFill>
                <a:latin typeface="宋体"/>
                <a:cs typeface="宋体"/>
              </a:rPr>
              <a:t>=X+Y</a:t>
            </a:r>
            <a:r>
              <a:rPr dirty="0" sz="2400" spc="-20" b="1">
                <a:latin typeface="宋体"/>
                <a:cs typeface="宋体"/>
              </a:rPr>
              <a:t>在4</a:t>
            </a:r>
            <a:r>
              <a:rPr dirty="0" sz="2400" spc="-25" b="1">
                <a:latin typeface="宋体"/>
                <a:cs typeface="宋体"/>
              </a:rPr>
              <a:t>种类型指令系统结构上的代码。假设：</a:t>
            </a:r>
            <a:r>
              <a:rPr dirty="0" sz="2400" spc="-20" b="1">
                <a:latin typeface="宋体"/>
                <a:cs typeface="宋体"/>
              </a:rPr>
              <a:t>X</a:t>
            </a:r>
            <a:r>
              <a:rPr dirty="0" sz="2400" spc="-25" b="1">
                <a:latin typeface="宋体"/>
                <a:cs typeface="宋体"/>
              </a:rPr>
              <a:t>、</a:t>
            </a:r>
            <a:r>
              <a:rPr dirty="0" sz="2400" spc="-10" b="1">
                <a:latin typeface="宋体"/>
                <a:cs typeface="宋体"/>
              </a:rPr>
              <a:t>Y</a:t>
            </a:r>
            <a:r>
              <a:rPr dirty="0" sz="2400" spc="-25" b="1">
                <a:latin typeface="宋体"/>
                <a:cs typeface="宋体"/>
              </a:rPr>
              <a:t>、</a:t>
            </a:r>
            <a:r>
              <a:rPr dirty="0" sz="2400" spc="-10" b="1">
                <a:latin typeface="宋体"/>
                <a:cs typeface="宋体"/>
              </a:rPr>
              <a:t>Z</a:t>
            </a:r>
            <a:r>
              <a:rPr dirty="0" sz="2400" spc="-30" b="1">
                <a:latin typeface="宋体"/>
                <a:cs typeface="宋体"/>
              </a:rPr>
              <a:t>均保存在存储器单元中，并且不能</a:t>
            </a:r>
            <a:endParaRPr sz="2400">
              <a:latin typeface="宋体"/>
              <a:cs typeface="宋体"/>
            </a:endParaRPr>
          </a:p>
          <a:p>
            <a:pPr marL="1304925">
              <a:lnSpc>
                <a:spcPct val="100000"/>
              </a:lnSpc>
              <a:spcBef>
                <a:spcPts val="865"/>
              </a:spcBef>
            </a:pPr>
            <a:r>
              <a:rPr dirty="0" sz="2400" spc="-20" b="1">
                <a:latin typeface="宋体"/>
                <a:cs typeface="宋体"/>
              </a:rPr>
              <a:t>破坏X和Y</a:t>
            </a:r>
            <a:r>
              <a:rPr dirty="0" sz="2400" spc="-35" b="1">
                <a:latin typeface="宋体"/>
                <a:cs typeface="宋体"/>
              </a:rPr>
              <a:t>的值。</a:t>
            </a:r>
            <a:endParaRPr sz="2400">
              <a:latin typeface="宋体"/>
              <a:cs typeface="宋体"/>
            </a:endParaRPr>
          </a:p>
        </p:txBody>
      </p:sp>
      <p:graphicFrame>
        <p:nvGraphicFramePr>
          <p:cNvPr id="4" name="object 4" descr=""/>
          <p:cNvGraphicFramePr>
            <a:graphicFrameLocks noGrp="1"/>
          </p:cNvGraphicFramePr>
          <p:nvPr/>
        </p:nvGraphicFramePr>
        <p:xfrm>
          <a:off x="2265362" y="2622486"/>
          <a:ext cx="7953375" cy="3317875"/>
        </p:xfrm>
        <a:graphic>
          <a:graphicData uri="http://schemas.openxmlformats.org/drawingml/2006/table">
            <a:tbl>
              <a:tblPr firstRow="1" bandRow="1">
                <a:tableStyleId>{2D5ABB26-0587-4C30-8999-92F81FD0307C}</a:tableStyleId>
              </a:tblPr>
              <a:tblGrid>
                <a:gridCol w="1439545"/>
                <a:gridCol w="679450"/>
                <a:gridCol w="903605"/>
                <a:gridCol w="679450"/>
                <a:gridCol w="1622425"/>
                <a:gridCol w="680085"/>
                <a:gridCol w="1840230"/>
              </a:tblGrid>
              <a:tr h="836294">
                <a:tc>
                  <a:txBody>
                    <a:bodyPr/>
                    <a:lstStyle/>
                    <a:p>
                      <a:pPr marL="384810">
                        <a:lnSpc>
                          <a:spcPct val="100000"/>
                        </a:lnSpc>
                        <a:spcBef>
                          <a:spcPts val="2045"/>
                        </a:spcBef>
                      </a:pPr>
                      <a:r>
                        <a:rPr dirty="0" sz="2000" spc="60">
                          <a:solidFill>
                            <a:srgbClr val="E14B04"/>
                          </a:solidFill>
                          <a:latin typeface="黑体"/>
                          <a:cs typeface="黑体"/>
                        </a:rPr>
                        <a:t>堆 栈</a:t>
                      </a:r>
                      <a:endParaRPr sz="2000">
                        <a:latin typeface="黑体"/>
                        <a:cs typeface="黑体"/>
                      </a:endParaRPr>
                    </a:p>
                  </a:txBody>
                  <a:tcPr marL="0" marR="0" marB="0" marT="25971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gridSpan="2">
                  <a:txBody>
                    <a:bodyPr/>
                    <a:lstStyle/>
                    <a:p>
                      <a:pPr marL="410845">
                        <a:lnSpc>
                          <a:spcPct val="100000"/>
                        </a:lnSpc>
                        <a:spcBef>
                          <a:spcPts val="2045"/>
                        </a:spcBef>
                      </a:pPr>
                      <a:r>
                        <a:rPr dirty="0" sz="2000" spc="-20">
                          <a:solidFill>
                            <a:srgbClr val="E14B04"/>
                          </a:solidFill>
                          <a:latin typeface="黑体"/>
                          <a:cs typeface="黑体"/>
                        </a:rPr>
                        <a:t>累加器</a:t>
                      </a:r>
                      <a:endParaRPr sz="2000">
                        <a:latin typeface="黑体"/>
                        <a:cs typeface="黑体"/>
                      </a:endParaRPr>
                    </a:p>
                  </a:txBody>
                  <a:tcPr marL="0" marR="0" marB="0" marT="2597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hMerge="1">
                  <a:txBody>
                    <a:bodyPr/>
                    <a:lstStyle/>
                    <a:p>
                      <a:pPr/>
                    </a:p>
                  </a:txBody>
                  <a:tcPr marL="0" marR="0" marB="0" marT="0"/>
                </a:tc>
                <a:tc gridSpan="2">
                  <a:txBody>
                    <a:bodyPr/>
                    <a:lstStyle/>
                    <a:p>
                      <a:pPr marL="211454">
                        <a:lnSpc>
                          <a:spcPct val="100000"/>
                        </a:lnSpc>
                        <a:spcBef>
                          <a:spcPts val="2045"/>
                        </a:spcBef>
                      </a:pPr>
                      <a:r>
                        <a:rPr dirty="0" sz="2000">
                          <a:solidFill>
                            <a:srgbClr val="E14B04"/>
                          </a:solidFill>
                          <a:latin typeface="黑体"/>
                          <a:cs typeface="黑体"/>
                        </a:rPr>
                        <a:t>寄存器</a:t>
                      </a:r>
                      <a:r>
                        <a:rPr dirty="0" sz="2000" spc="-10">
                          <a:solidFill>
                            <a:srgbClr val="E14B04"/>
                          </a:solidFill>
                          <a:latin typeface="黑体"/>
                          <a:cs typeface="黑体"/>
                        </a:rPr>
                        <a:t>（</a:t>
                      </a:r>
                      <a:r>
                        <a:rPr dirty="0" sz="2000" spc="-10">
                          <a:solidFill>
                            <a:srgbClr val="E14B04"/>
                          </a:solidFill>
                          <a:latin typeface="Tahoma"/>
                          <a:cs typeface="Tahoma"/>
                        </a:rPr>
                        <a:t>RM</a:t>
                      </a:r>
                      <a:r>
                        <a:rPr dirty="0" sz="2000">
                          <a:solidFill>
                            <a:srgbClr val="E14B04"/>
                          </a:solidFill>
                          <a:latin typeface="黑体"/>
                          <a:cs typeface="黑体"/>
                        </a:rPr>
                        <a:t>型</a:t>
                      </a:r>
                      <a:r>
                        <a:rPr dirty="0" sz="2000" spc="-50">
                          <a:solidFill>
                            <a:srgbClr val="E14B04"/>
                          </a:solidFill>
                          <a:latin typeface="黑体"/>
                          <a:cs typeface="黑体"/>
                        </a:rPr>
                        <a:t>）</a:t>
                      </a:r>
                      <a:endParaRPr sz="2000">
                        <a:latin typeface="黑体"/>
                        <a:cs typeface="黑体"/>
                      </a:endParaRPr>
                    </a:p>
                  </a:txBody>
                  <a:tcPr marL="0" marR="0" marB="0" marT="2597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hMerge="1">
                  <a:txBody>
                    <a:bodyPr/>
                    <a:lstStyle/>
                    <a:p>
                      <a:pPr/>
                    </a:p>
                  </a:txBody>
                  <a:tcPr marL="0" marR="0" marB="0" marT="0"/>
                </a:tc>
                <a:tc gridSpan="2">
                  <a:txBody>
                    <a:bodyPr/>
                    <a:lstStyle/>
                    <a:p>
                      <a:pPr marL="339725">
                        <a:lnSpc>
                          <a:spcPct val="100000"/>
                        </a:lnSpc>
                        <a:spcBef>
                          <a:spcPts val="2045"/>
                        </a:spcBef>
                      </a:pPr>
                      <a:r>
                        <a:rPr dirty="0" sz="2000">
                          <a:solidFill>
                            <a:srgbClr val="E14B04"/>
                          </a:solidFill>
                          <a:latin typeface="黑体"/>
                          <a:cs typeface="黑体"/>
                        </a:rPr>
                        <a:t>寄存器</a:t>
                      </a:r>
                      <a:r>
                        <a:rPr dirty="0" sz="2000" spc="-10">
                          <a:solidFill>
                            <a:srgbClr val="E14B04"/>
                          </a:solidFill>
                          <a:latin typeface="黑体"/>
                          <a:cs typeface="黑体"/>
                        </a:rPr>
                        <a:t>（</a:t>
                      </a:r>
                      <a:r>
                        <a:rPr dirty="0" sz="2000" spc="-10">
                          <a:solidFill>
                            <a:srgbClr val="E14B04"/>
                          </a:solidFill>
                          <a:latin typeface="Tahoma"/>
                          <a:cs typeface="Tahoma"/>
                        </a:rPr>
                        <a:t>RR</a:t>
                      </a:r>
                      <a:r>
                        <a:rPr dirty="0" sz="2000">
                          <a:solidFill>
                            <a:srgbClr val="E14B04"/>
                          </a:solidFill>
                          <a:latin typeface="黑体"/>
                          <a:cs typeface="黑体"/>
                        </a:rPr>
                        <a:t>型</a:t>
                      </a:r>
                      <a:r>
                        <a:rPr dirty="0" sz="2000" spc="-50">
                          <a:solidFill>
                            <a:srgbClr val="E14B04"/>
                          </a:solidFill>
                          <a:latin typeface="黑体"/>
                          <a:cs typeface="黑体"/>
                        </a:rPr>
                        <a:t>）</a:t>
                      </a:r>
                      <a:endParaRPr sz="2000">
                        <a:latin typeface="黑体"/>
                        <a:cs typeface="黑体"/>
                      </a:endParaRPr>
                    </a:p>
                  </a:txBody>
                  <a:tcPr marL="0" marR="0" marB="0" marT="25971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c hMerge="1">
                  <a:txBody>
                    <a:bodyPr/>
                    <a:lstStyle/>
                    <a:p>
                      <a:pPr/>
                    </a:p>
                  </a:txBody>
                  <a:tcPr marL="0" marR="0" marB="0" marT="0"/>
                </a:tc>
              </a:tr>
              <a:tr h="620395">
                <a:tc>
                  <a:txBody>
                    <a:bodyPr/>
                    <a:lstStyle/>
                    <a:p>
                      <a:pPr marL="89535">
                        <a:lnSpc>
                          <a:spcPct val="100000"/>
                        </a:lnSpc>
                        <a:spcBef>
                          <a:spcPts val="1335"/>
                        </a:spcBef>
                      </a:pPr>
                      <a:r>
                        <a:rPr dirty="0" sz="2000">
                          <a:solidFill>
                            <a:srgbClr val="40458B"/>
                          </a:solidFill>
                          <a:latin typeface="Tahoma"/>
                          <a:cs typeface="Tahoma"/>
                        </a:rPr>
                        <a:t>push</a:t>
                      </a:r>
                      <a:r>
                        <a:rPr dirty="0" sz="2000" spc="-40">
                          <a:solidFill>
                            <a:srgbClr val="40458B"/>
                          </a:solidFill>
                          <a:latin typeface="Tahoma"/>
                          <a:cs typeface="Tahoma"/>
                        </a:rPr>
                        <a:t> </a:t>
                      </a:r>
                      <a:r>
                        <a:rPr dirty="0" sz="2000" spc="-50">
                          <a:solidFill>
                            <a:srgbClr val="40458B"/>
                          </a:solidFill>
                          <a:latin typeface="Tahoma"/>
                          <a:cs typeface="Tahoma"/>
                        </a:rPr>
                        <a:t>X</a:t>
                      </a:r>
                      <a:endParaRPr sz="2000">
                        <a:latin typeface="Tahoma"/>
                        <a:cs typeface="Tahoma"/>
                      </a:endParaRPr>
                    </a:p>
                  </a:txBody>
                  <a:tcPr marL="0" marR="0" marB="0" marT="16954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R="20320">
                        <a:lnSpc>
                          <a:spcPct val="100000"/>
                        </a:lnSpc>
                        <a:spcBef>
                          <a:spcPts val="1335"/>
                        </a:spcBef>
                      </a:pPr>
                      <a:r>
                        <a:rPr dirty="0" sz="2000" spc="-20">
                          <a:solidFill>
                            <a:srgbClr val="40458B"/>
                          </a:solidFill>
                          <a:latin typeface="Tahoma"/>
                          <a:cs typeface="Tahoma"/>
                        </a:rPr>
                        <a:t>load</a:t>
                      </a:r>
                      <a:endParaRPr sz="2000">
                        <a:latin typeface="Tahoma"/>
                        <a:cs typeface="Tahoma"/>
                      </a:endParaRPr>
                    </a:p>
                  </a:txBody>
                  <a:tcPr marL="0" marR="0" marB="0" marT="169545">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118110">
                        <a:lnSpc>
                          <a:spcPct val="100000"/>
                        </a:lnSpc>
                        <a:spcBef>
                          <a:spcPts val="1335"/>
                        </a:spcBef>
                      </a:pPr>
                      <a:r>
                        <a:rPr dirty="0" sz="2000" spc="-50">
                          <a:solidFill>
                            <a:srgbClr val="40458B"/>
                          </a:solidFill>
                          <a:latin typeface="Tahoma"/>
                          <a:cs typeface="Tahoma"/>
                        </a:rPr>
                        <a:t>X</a:t>
                      </a:r>
                      <a:endParaRPr sz="2000">
                        <a:latin typeface="Tahoma"/>
                        <a:cs typeface="Tahoma"/>
                      </a:endParaRPr>
                    </a:p>
                  </a:txBody>
                  <a:tcPr marL="0" marR="0" marB="0" marT="169545">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R="19685">
                        <a:lnSpc>
                          <a:spcPct val="100000"/>
                        </a:lnSpc>
                        <a:spcBef>
                          <a:spcPts val="1335"/>
                        </a:spcBef>
                      </a:pPr>
                      <a:r>
                        <a:rPr dirty="0" sz="2000" spc="-20">
                          <a:solidFill>
                            <a:srgbClr val="40458B"/>
                          </a:solidFill>
                          <a:latin typeface="Tahoma"/>
                          <a:cs typeface="Tahoma"/>
                        </a:rPr>
                        <a:t>load</a:t>
                      </a:r>
                      <a:endParaRPr sz="2000">
                        <a:latin typeface="Tahoma"/>
                        <a:cs typeface="Tahoma"/>
                      </a:endParaRPr>
                    </a:p>
                  </a:txBody>
                  <a:tcPr marL="0" marR="0" marB="0" marT="169545">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118110">
                        <a:lnSpc>
                          <a:spcPct val="100000"/>
                        </a:lnSpc>
                        <a:spcBef>
                          <a:spcPts val="1335"/>
                        </a:spcBef>
                      </a:pPr>
                      <a:r>
                        <a:rPr dirty="0" sz="2000" spc="-20">
                          <a:solidFill>
                            <a:srgbClr val="40458B"/>
                          </a:solidFill>
                          <a:latin typeface="Tahoma"/>
                          <a:cs typeface="Tahoma"/>
                        </a:rPr>
                        <a:t>R1</a:t>
                      </a:r>
                      <a:r>
                        <a:rPr dirty="0" sz="2000" spc="-20">
                          <a:solidFill>
                            <a:srgbClr val="40458B"/>
                          </a:solidFill>
                          <a:latin typeface="黑体"/>
                          <a:cs typeface="黑体"/>
                        </a:rPr>
                        <a:t>，</a:t>
                      </a:r>
                      <a:r>
                        <a:rPr dirty="0" sz="2000" spc="-20">
                          <a:solidFill>
                            <a:srgbClr val="40458B"/>
                          </a:solidFill>
                          <a:latin typeface="Tahoma"/>
                          <a:cs typeface="Tahoma"/>
                        </a:rPr>
                        <a:t>X</a:t>
                      </a:r>
                      <a:endParaRPr sz="2000">
                        <a:latin typeface="Tahoma"/>
                        <a:cs typeface="Tahoma"/>
                      </a:endParaRPr>
                    </a:p>
                  </a:txBody>
                  <a:tcPr marL="0" marR="0" marB="0" marT="169545">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R="19685">
                        <a:lnSpc>
                          <a:spcPct val="100000"/>
                        </a:lnSpc>
                        <a:spcBef>
                          <a:spcPts val="1335"/>
                        </a:spcBef>
                      </a:pPr>
                      <a:r>
                        <a:rPr dirty="0" sz="2000" spc="-20">
                          <a:solidFill>
                            <a:srgbClr val="40458B"/>
                          </a:solidFill>
                          <a:latin typeface="Tahoma"/>
                          <a:cs typeface="Tahoma"/>
                        </a:rPr>
                        <a:t>load</a:t>
                      </a:r>
                      <a:endParaRPr sz="2000">
                        <a:latin typeface="Tahoma"/>
                        <a:cs typeface="Tahoma"/>
                      </a:endParaRPr>
                    </a:p>
                  </a:txBody>
                  <a:tcPr marL="0" marR="0" marB="0" marT="169545">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118110">
                        <a:lnSpc>
                          <a:spcPct val="100000"/>
                        </a:lnSpc>
                        <a:spcBef>
                          <a:spcPts val="1335"/>
                        </a:spcBef>
                      </a:pPr>
                      <a:r>
                        <a:rPr dirty="0" sz="2000" spc="-20">
                          <a:solidFill>
                            <a:srgbClr val="40458B"/>
                          </a:solidFill>
                          <a:latin typeface="Tahoma"/>
                          <a:cs typeface="Tahoma"/>
                        </a:rPr>
                        <a:t>R1</a:t>
                      </a:r>
                      <a:r>
                        <a:rPr dirty="0" sz="2000" spc="-20">
                          <a:solidFill>
                            <a:srgbClr val="40458B"/>
                          </a:solidFill>
                          <a:latin typeface="黑体"/>
                          <a:cs typeface="黑体"/>
                        </a:rPr>
                        <a:t>，</a:t>
                      </a:r>
                      <a:r>
                        <a:rPr dirty="0" sz="2000" spc="-20">
                          <a:solidFill>
                            <a:srgbClr val="40458B"/>
                          </a:solidFill>
                          <a:latin typeface="Tahoma"/>
                          <a:cs typeface="Tahoma"/>
                        </a:rPr>
                        <a:t>X</a:t>
                      </a:r>
                      <a:endParaRPr sz="2000">
                        <a:latin typeface="Tahoma"/>
                        <a:cs typeface="Tahoma"/>
                      </a:endParaRPr>
                    </a:p>
                  </a:txBody>
                  <a:tcPr marL="0" marR="0" marB="0" marT="169545">
                    <a:lnR w="28575">
                      <a:solidFill>
                        <a:srgbClr val="40458B"/>
                      </a:solidFill>
                      <a:prstDash val="solid"/>
                    </a:lnR>
                    <a:lnT w="12700">
                      <a:solidFill>
                        <a:srgbClr val="40458B"/>
                      </a:solidFill>
                      <a:prstDash val="solid"/>
                    </a:lnT>
                    <a:lnB w="12700">
                      <a:solidFill>
                        <a:srgbClr val="40458B"/>
                      </a:solidFill>
                      <a:prstDash val="solid"/>
                    </a:lnB>
                  </a:tcPr>
                </a:tc>
              </a:tr>
              <a:tr h="620395">
                <a:tc>
                  <a:txBody>
                    <a:bodyPr/>
                    <a:lstStyle/>
                    <a:p>
                      <a:pPr marL="89535">
                        <a:lnSpc>
                          <a:spcPct val="100000"/>
                        </a:lnSpc>
                        <a:spcBef>
                          <a:spcPts val="1340"/>
                        </a:spcBef>
                      </a:pPr>
                      <a:r>
                        <a:rPr dirty="0" sz="2000">
                          <a:solidFill>
                            <a:srgbClr val="40458B"/>
                          </a:solidFill>
                          <a:latin typeface="Tahoma"/>
                          <a:cs typeface="Tahoma"/>
                        </a:rPr>
                        <a:t>push</a:t>
                      </a:r>
                      <a:r>
                        <a:rPr dirty="0" sz="2000" spc="-40">
                          <a:solidFill>
                            <a:srgbClr val="40458B"/>
                          </a:solidFill>
                          <a:latin typeface="Tahoma"/>
                          <a:cs typeface="Tahoma"/>
                        </a:rPr>
                        <a:t> </a:t>
                      </a:r>
                      <a:r>
                        <a:rPr dirty="0" sz="2000" spc="-50">
                          <a:solidFill>
                            <a:srgbClr val="40458B"/>
                          </a:solidFill>
                          <a:latin typeface="Tahoma"/>
                          <a:cs typeface="Tahoma"/>
                        </a:rPr>
                        <a:t>Y</a:t>
                      </a:r>
                      <a:endParaRPr sz="2000">
                        <a:latin typeface="Tahoma"/>
                        <a:cs typeface="Tahoma"/>
                      </a:endParaRPr>
                    </a:p>
                  </a:txBody>
                  <a:tcPr marL="0" marR="0" marB="0" marT="17018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R="75565">
                        <a:lnSpc>
                          <a:spcPct val="100000"/>
                        </a:lnSpc>
                        <a:spcBef>
                          <a:spcPts val="1340"/>
                        </a:spcBef>
                      </a:pPr>
                      <a:r>
                        <a:rPr dirty="0" sz="2000" spc="-25">
                          <a:solidFill>
                            <a:srgbClr val="40458B"/>
                          </a:solidFill>
                          <a:latin typeface="Tahoma"/>
                          <a:cs typeface="Tahoma"/>
                        </a:rPr>
                        <a:t>add</a:t>
                      </a:r>
                      <a:endParaRPr sz="2000">
                        <a:latin typeface="Tahoma"/>
                        <a:cs typeface="Tahoma"/>
                      </a:endParaRPr>
                    </a:p>
                  </a:txBody>
                  <a:tcPr marL="0" marR="0" marB="0" marT="170180">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140970">
                        <a:lnSpc>
                          <a:spcPct val="100000"/>
                        </a:lnSpc>
                        <a:spcBef>
                          <a:spcPts val="1340"/>
                        </a:spcBef>
                      </a:pPr>
                      <a:r>
                        <a:rPr dirty="0" sz="2000" spc="-50">
                          <a:solidFill>
                            <a:srgbClr val="40458B"/>
                          </a:solidFill>
                          <a:latin typeface="Tahoma"/>
                          <a:cs typeface="Tahoma"/>
                        </a:rPr>
                        <a:t>Y</a:t>
                      </a:r>
                      <a:endParaRPr sz="2000">
                        <a:latin typeface="Tahoma"/>
                        <a:cs typeface="Tahoma"/>
                      </a:endParaRPr>
                    </a:p>
                  </a:txBody>
                  <a:tcPr marL="0" marR="0" marB="0" marT="170180">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R="75565">
                        <a:lnSpc>
                          <a:spcPct val="100000"/>
                        </a:lnSpc>
                        <a:spcBef>
                          <a:spcPts val="1340"/>
                        </a:spcBef>
                      </a:pPr>
                      <a:r>
                        <a:rPr dirty="0" sz="2000" spc="-25">
                          <a:solidFill>
                            <a:srgbClr val="40458B"/>
                          </a:solidFill>
                          <a:latin typeface="Tahoma"/>
                          <a:cs typeface="Tahoma"/>
                        </a:rPr>
                        <a:t>add</a:t>
                      </a:r>
                      <a:endParaRPr sz="2000">
                        <a:latin typeface="Tahoma"/>
                        <a:cs typeface="Tahoma"/>
                      </a:endParaRPr>
                    </a:p>
                  </a:txBody>
                  <a:tcPr marL="0" marR="0" marB="0" marT="170180">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140970">
                        <a:lnSpc>
                          <a:spcPct val="100000"/>
                        </a:lnSpc>
                        <a:spcBef>
                          <a:spcPts val="1340"/>
                        </a:spcBef>
                      </a:pPr>
                      <a:r>
                        <a:rPr dirty="0" sz="2000" spc="-20">
                          <a:solidFill>
                            <a:srgbClr val="40458B"/>
                          </a:solidFill>
                          <a:latin typeface="Tahoma"/>
                          <a:cs typeface="Tahoma"/>
                        </a:rPr>
                        <a:t>R1</a:t>
                      </a:r>
                      <a:r>
                        <a:rPr dirty="0" sz="2000" spc="-20">
                          <a:solidFill>
                            <a:srgbClr val="40458B"/>
                          </a:solidFill>
                          <a:latin typeface="黑体"/>
                          <a:cs typeface="黑体"/>
                        </a:rPr>
                        <a:t>，</a:t>
                      </a:r>
                      <a:r>
                        <a:rPr dirty="0" sz="2000" spc="-20">
                          <a:solidFill>
                            <a:srgbClr val="40458B"/>
                          </a:solidFill>
                          <a:latin typeface="Tahoma"/>
                          <a:cs typeface="Tahoma"/>
                        </a:rPr>
                        <a:t>Y</a:t>
                      </a:r>
                      <a:endParaRPr sz="2000">
                        <a:latin typeface="Tahoma"/>
                        <a:cs typeface="Tahoma"/>
                      </a:endParaRPr>
                    </a:p>
                  </a:txBody>
                  <a:tcPr marL="0" marR="0" marB="0" marT="170180">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R="19685">
                        <a:lnSpc>
                          <a:spcPct val="100000"/>
                        </a:lnSpc>
                        <a:spcBef>
                          <a:spcPts val="1340"/>
                        </a:spcBef>
                      </a:pPr>
                      <a:r>
                        <a:rPr dirty="0" sz="2000" spc="-20">
                          <a:solidFill>
                            <a:srgbClr val="40458B"/>
                          </a:solidFill>
                          <a:latin typeface="Tahoma"/>
                          <a:cs typeface="Tahoma"/>
                        </a:rPr>
                        <a:t>load</a:t>
                      </a:r>
                      <a:endParaRPr sz="2000">
                        <a:latin typeface="Tahoma"/>
                        <a:cs typeface="Tahoma"/>
                      </a:endParaRPr>
                    </a:p>
                  </a:txBody>
                  <a:tcPr marL="0" marR="0" marB="0" marT="170180">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118110">
                        <a:lnSpc>
                          <a:spcPct val="100000"/>
                        </a:lnSpc>
                        <a:spcBef>
                          <a:spcPts val="1340"/>
                        </a:spcBef>
                      </a:pPr>
                      <a:r>
                        <a:rPr dirty="0" sz="2000" spc="-20">
                          <a:solidFill>
                            <a:srgbClr val="40458B"/>
                          </a:solidFill>
                          <a:latin typeface="Tahoma"/>
                          <a:cs typeface="Tahoma"/>
                        </a:rPr>
                        <a:t>R2</a:t>
                      </a:r>
                      <a:r>
                        <a:rPr dirty="0" sz="2000" spc="-20">
                          <a:solidFill>
                            <a:srgbClr val="40458B"/>
                          </a:solidFill>
                          <a:latin typeface="黑体"/>
                          <a:cs typeface="黑体"/>
                        </a:rPr>
                        <a:t>，</a:t>
                      </a:r>
                      <a:r>
                        <a:rPr dirty="0" sz="2000" spc="-20">
                          <a:solidFill>
                            <a:srgbClr val="40458B"/>
                          </a:solidFill>
                          <a:latin typeface="Tahoma"/>
                          <a:cs typeface="Tahoma"/>
                        </a:rPr>
                        <a:t>Y</a:t>
                      </a:r>
                      <a:endParaRPr sz="2000">
                        <a:latin typeface="Tahoma"/>
                        <a:cs typeface="Tahoma"/>
                      </a:endParaRPr>
                    </a:p>
                  </a:txBody>
                  <a:tcPr marL="0" marR="0" marB="0" marT="170180">
                    <a:lnR w="28575">
                      <a:solidFill>
                        <a:srgbClr val="40458B"/>
                      </a:solidFill>
                      <a:prstDash val="solid"/>
                    </a:lnR>
                    <a:lnT w="12700">
                      <a:solidFill>
                        <a:srgbClr val="40458B"/>
                      </a:solidFill>
                      <a:prstDash val="solid"/>
                    </a:lnT>
                    <a:lnB w="12700">
                      <a:solidFill>
                        <a:srgbClr val="40458B"/>
                      </a:solidFill>
                      <a:prstDash val="solid"/>
                    </a:lnB>
                  </a:tcPr>
                </a:tc>
              </a:tr>
              <a:tr h="620395">
                <a:tc>
                  <a:txBody>
                    <a:bodyPr/>
                    <a:lstStyle/>
                    <a:p>
                      <a:pPr marL="89535">
                        <a:lnSpc>
                          <a:spcPct val="100000"/>
                        </a:lnSpc>
                        <a:spcBef>
                          <a:spcPts val="1340"/>
                        </a:spcBef>
                      </a:pPr>
                      <a:r>
                        <a:rPr dirty="0" sz="2000" spc="-25">
                          <a:solidFill>
                            <a:srgbClr val="40458B"/>
                          </a:solidFill>
                          <a:latin typeface="Tahoma"/>
                          <a:cs typeface="Tahoma"/>
                        </a:rPr>
                        <a:t>add</a:t>
                      </a:r>
                      <a:endParaRPr sz="2000">
                        <a:latin typeface="Tahoma"/>
                        <a:cs typeface="Tahoma"/>
                      </a:endParaRPr>
                    </a:p>
                  </a:txBody>
                  <a:tcPr marL="0" marR="0" marB="0" marT="17018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gridSpan="2">
                  <a:txBody>
                    <a:bodyPr/>
                    <a:lstStyle/>
                    <a:p>
                      <a:pPr marL="90170">
                        <a:lnSpc>
                          <a:spcPct val="100000"/>
                        </a:lnSpc>
                        <a:spcBef>
                          <a:spcPts val="1340"/>
                        </a:spcBef>
                        <a:tabLst>
                          <a:tab pos="808990" algn="l"/>
                        </a:tabLst>
                      </a:pPr>
                      <a:r>
                        <a:rPr dirty="0" sz="2000" spc="-10">
                          <a:solidFill>
                            <a:srgbClr val="40458B"/>
                          </a:solidFill>
                          <a:latin typeface="Tahoma"/>
                          <a:cs typeface="Tahoma"/>
                        </a:rPr>
                        <a:t>store</a:t>
                      </a:r>
                      <a:r>
                        <a:rPr dirty="0" sz="2000">
                          <a:solidFill>
                            <a:srgbClr val="40458B"/>
                          </a:solidFill>
                          <a:latin typeface="Tahoma"/>
                          <a:cs typeface="Tahoma"/>
                        </a:rPr>
                        <a:t>	</a:t>
                      </a:r>
                      <a:r>
                        <a:rPr dirty="0" sz="2000" spc="-50">
                          <a:solidFill>
                            <a:srgbClr val="40458B"/>
                          </a:solidFill>
                          <a:latin typeface="Tahoma"/>
                          <a:cs typeface="Tahoma"/>
                        </a:rPr>
                        <a:t>Z</a:t>
                      </a:r>
                      <a:endParaRPr sz="2000">
                        <a:latin typeface="Tahoma"/>
                        <a:cs typeface="Tahoma"/>
                      </a:endParaRPr>
                    </a:p>
                  </a:txBody>
                  <a:tcPr marL="0" marR="0" marB="0" marT="17018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c gridSpan="2">
                  <a:txBody>
                    <a:bodyPr/>
                    <a:lstStyle/>
                    <a:p>
                      <a:pPr marL="90805">
                        <a:lnSpc>
                          <a:spcPct val="100000"/>
                        </a:lnSpc>
                        <a:spcBef>
                          <a:spcPts val="1340"/>
                        </a:spcBef>
                        <a:tabLst>
                          <a:tab pos="809625" algn="l"/>
                        </a:tabLst>
                      </a:pPr>
                      <a:r>
                        <a:rPr dirty="0" sz="2000" spc="-10">
                          <a:solidFill>
                            <a:srgbClr val="40458B"/>
                          </a:solidFill>
                          <a:latin typeface="Tahoma"/>
                          <a:cs typeface="Tahoma"/>
                        </a:rPr>
                        <a:t>store</a:t>
                      </a:r>
                      <a:r>
                        <a:rPr dirty="0" sz="2000">
                          <a:solidFill>
                            <a:srgbClr val="40458B"/>
                          </a:solidFill>
                          <a:latin typeface="Tahoma"/>
                          <a:cs typeface="Tahoma"/>
                        </a:rPr>
                        <a:t>	</a:t>
                      </a:r>
                      <a:r>
                        <a:rPr dirty="0" sz="2000" spc="-20">
                          <a:solidFill>
                            <a:srgbClr val="40458B"/>
                          </a:solidFill>
                          <a:latin typeface="Tahoma"/>
                          <a:cs typeface="Tahoma"/>
                        </a:rPr>
                        <a:t>R1</a:t>
                      </a:r>
                      <a:r>
                        <a:rPr dirty="0" sz="2000" spc="-20">
                          <a:solidFill>
                            <a:srgbClr val="40458B"/>
                          </a:solidFill>
                          <a:latin typeface="黑体"/>
                          <a:cs typeface="黑体"/>
                        </a:rPr>
                        <a:t>，</a:t>
                      </a:r>
                      <a:r>
                        <a:rPr dirty="0" sz="2000" spc="-20">
                          <a:solidFill>
                            <a:srgbClr val="40458B"/>
                          </a:solidFill>
                          <a:latin typeface="Tahoma"/>
                          <a:cs typeface="Tahoma"/>
                        </a:rPr>
                        <a:t>Z</a:t>
                      </a:r>
                      <a:endParaRPr sz="2000">
                        <a:latin typeface="Tahoma"/>
                        <a:cs typeface="Tahoma"/>
                      </a:endParaRPr>
                    </a:p>
                  </a:txBody>
                  <a:tcPr marL="0" marR="0" marB="0" marT="17018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c>
                  <a:txBody>
                    <a:bodyPr/>
                    <a:lstStyle/>
                    <a:p>
                      <a:pPr algn="ctr" marR="75565">
                        <a:lnSpc>
                          <a:spcPct val="100000"/>
                        </a:lnSpc>
                        <a:spcBef>
                          <a:spcPts val="1340"/>
                        </a:spcBef>
                      </a:pPr>
                      <a:r>
                        <a:rPr dirty="0" sz="2000" spc="-25">
                          <a:solidFill>
                            <a:srgbClr val="40458B"/>
                          </a:solidFill>
                          <a:latin typeface="Tahoma"/>
                          <a:cs typeface="Tahoma"/>
                        </a:rPr>
                        <a:t>add</a:t>
                      </a:r>
                      <a:endParaRPr sz="2000">
                        <a:latin typeface="Tahoma"/>
                        <a:cs typeface="Tahoma"/>
                      </a:endParaRPr>
                    </a:p>
                  </a:txBody>
                  <a:tcPr marL="0" marR="0" marB="0" marT="170180">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140970">
                        <a:lnSpc>
                          <a:spcPct val="100000"/>
                        </a:lnSpc>
                        <a:spcBef>
                          <a:spcPts val="1340"/>
                        </a:spcBef>
                      </a:pPr>
                      <a:r>
                        <a:rPr dirty="0" sz="2000" spc="-10">
                          <a:solidFill>
                            <a:srgbClr val="40458B"/>
                          </a:solidFill>
                          <a:latin typeface="Tahoma"/>
                          <a:cs typeface="Tahoma"/>
                        </a:rPr>
                        <a:t>R3</a:t>
                      </a:r>
                      <a:r>
                        <a:rPr dirty="0" sz="2000" spc="-10">
                          <a:solidFill>
                            <a:srgbClr val="40458B"/>
                          </a:solidFill>
                          <a:latin typeface="黑体"/>
                          <a:cs typeface="黑体"/>
                        </a:rPr>
                        <a:t>，</a:t>
                      </a:r>
                      <a:r>
                        <a:rPr dirty="0" sz="2000" spc="-10">
                          <a:solidFill>
                            <a:srgbClr val="40458B"/>
                          </a:solidFill>
                          <a:latin typeface="Tahoma"/>
                          <a:cs typeface="Tahoma"/>
                        </a:rPr>
                        <a:t>R1</a:t>
                      </a:r>
                      <a:r>
                        <a:rPr dirty="0" sz="2000" spc="-10">
                          <a:solidFill>
                            <a:srgbClr val="40458B"/>
                          </a:solidFill>
                          <a:latin typeface="黑体"/>
                          <a:cs typeface="黑体"/>
                        </a:rPr>
                        <a:t>，</a:t>
                      </a:r>
                      <a:r>
                        <a:rPr dirty="0" sz="2000" spc="-10">
                          <a:solidFill>
                            <a:srgbClr val="40458B"/>
                          </a:solidFill>
                          <a:latin typeface="Tahoma"/>
                          <a:cs typeface="Tahoma"/>
                        </a:rPr>
                        <a:t>R2</a:t>
                      </a:r>
                      <a:endParaRPr sz="2000">
                        <a:latin typeface="Tahoma"/>
                        <a:cs typeface="Tahoma"/>
                      </a:endParaRPr>
                    </a:p>
                  </a:txBody>
                  <a:tcPr marL="0" marR="0" marB="0" marT="170180">
                    <a:lnR w="28575">
                      <a:solidFill>
                        <a:srgbClr val="40458B"/>
                      </a:solidFill>
                      <a:prstDash val="solid"/>
                    </a:lnR>
                    <a:lnT w="12700">
                      <a:solidFill>
                        <a:srgbClr val="40458B"/>
                      </a:solidFill>
                      <a:prstDash val="solid"/>
                    </a:lnT>
                    <a:lnB w="12700">
                      <a:solidFill>
                        <a:srgbClr val="40458B"/>
                      </a:solidFill>
                      <a:prstDash val="solid"/>
                    </a:lnB>
                  </a:tcPr>
                </a:tc>
              </a:tr>
              <a:tr h="620395">
                <a:tc>
                  <a:txBody>
                    <a:bodyPr/>
                    <a:lstStyle/>
                    <a:p>
                      <a:pPr marL="89535">
                        <a:lnSpc>
                          <a:spcPct val="100000"/>
                        </a:lnSpc>
                        <a:spcBef>
                          <a:spcPts val="1340"/>
                        </a:spcBef>
                        <a:tabLst>
                          <a:tab pos="666115" algn="l"/>
                        </a:tabLst>
                      </a:pPr>
                      <a:r>
                        <a:rPr dirty="0" sz="2000" spc="-25">
                          <a:solidFill>
                            <a:srgbClr val="40458B"/>
                          </a:solidFill>
                          <a:latin typeface="Tahoma"/>
                          <a:cs typeface="Tahoma"/>
                        </a:rPr>
                        <a:t>pop</a:t>
                      </a:r>
                      <a:r>
                        <a:rPr dirty="0" sz="2000">
                          <a:solidFill>
                            <a:srgbClr val="40458B"/>
                          </a:solidFill>
                          <a:latin typeface="Tahoma"/>
                          <a:cs typeface="Tahoma"/>
                        </a:rPr>
                        <a:t>	</a:t>
                      </a:r>
                      <a:r>
                        <a:rPr dirty="0" sz="2000" spc="-50">
                          <a:solidFill>
                            <a:srgbClr val="40458B"/>
                          </a:solidFill>
                          <a:latin typeface="Tahoma"/>
                          <a:cs typeface="Tahoma"/>
                        </a:rPr>
                        <a:t>Z</a:t>
                      </a:r>
                      <a:endParaRPr sz="2000">
                        <a:latin typeface="Tahoma"/>
                        <a:cs typeface="Tahoma"/>
                      </a:endParaRPr>
                    </a:p>
                  </a:txBody>
                  <a:tcPr marL="0" marR="0" marB="0" marT="17018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gridSpan="2">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hMerge="1">
                  <a:txBody>
                    <a:bodyPr/>
                    <a:lstStyle/>
                    <a:p>
                      <a:pPr/>
                    </a:p>
                  </a:txBody>
                  <a:tcPr marL="0" marR="0" marB="0" marT="0"/>
                </a:tc>
                <a:tc gridSpan="2">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hMerge="1">
                  <a:txBody>
                    <a:bodyPr/>
                    <a:lstStyle/>
                    <a:p>
                      <a:pPr/>
                    </a:p>
                  </a:txBody>
                  <a:tcPr marL="0" marR="0" marB="0" marT="0"/>
                </a:tc>
                <a:tc gridSpan="2">
                  <a:txBody>
                    <a:bodyPr/>
                    <a:lstStyle/>
                    <a:p>
                      <a:pPr marL="90805">
                        <a:lnSpc>
                          <a:spcPct val="100000"/>
                        </a:lnSpc>
                        <a:spcBef>
                          <a:spcPts val="1340"/>
                        </a:spcBef>
                        <a:tabLst>
                          <a:tab pos="809625" algn="l"/>
                        </a:tabLst>
                      </a:pPr>
                      <a:r>
                        <a:rPr dirty="0" sz="2000" spc="-10">
                          <a:solidFill>
                            <a:srgbClr val="40458B"/>
                          </a:solidFill>
                          <a:latin typeface="Tahoma"/>
                          <a:cs typeface="Tahoma"/>
                        </a:rPr>
                        <a:t>store</a:t>
                      </a:r>
                      <a:r>
                        <a:rPr dirty="0" sz="2000">
                          <a:solidFill>
                            <a:srgbClr val="40458B"/>
                          </a:solidFill>
                          <a:latin typeface="Tahoma"/>
                          <a:cs typeface="Tahoma"/>
                        </a:rPr>
                        <a:t>	</a:t>
                      </a:r>
                      <a:r>
                        <a:rPr dirty="0" sz="2000" spc="-20">
                          <a:solidFill>
                            <a:srgbClr val="40458B"/>
                          </a:solidFill>
                          <a:latin typeface="Tahoma"/>
                          <a:cs typeface="Tahoma"/>
                        </a:rPr>
                        <a:t>R3</a:t>
                      </a:r>
                      <a:r>
                        <a:rPr dirty="0" sz="2000" spc="-20">
                          <a:solidFill>
                            <a:srgbClr val="40458B"/>
                          </a:solidFill>
                          <a:latin typeface="黑体"/>
                          <a:cs typeface="黑体"/>
                        </a:rPr>
                        <a:t>，</a:t>
                      </a:r>
                      <a:r>
                        <a:rPr dirty="0" sz="2000" spc="-20">
                          <a:solidFill>
                            <a:srgbClr val="40458B"/>
                          </a:solidFill>
                          <a:latin typeface="Tahoma"/>
                          <a:cs typeface="Tahoma"/>
                        </a:rPr>
                        <a:t>Z</a:t>
                      </a:r>
                      <a:endParaRPr sz="2000">
                        <a:latin typeface="Tahoma"/>
                        <a:cs typeface="Tahoma"/>
                      </a:endParaRPr>
                    </a:p>
                  </a:txBody>
                  <a:tcPr marL="0" marR="0" marB="0" marT="17018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c hMerge="1">
                  <a:txBody>
                    <a:bodyPr/>
                    <a:lstStyle/>
                    <a:p>
                      <a:pPr/>
                    </a:p>
                  </a:txBody>
                  <a:tcPr marL="0" marR="0" marB="0" marT="0"/>
                </a:tc>
              </a:tr>
            </a:tbl>
          </a:graphicData>
        </a:graphic>
      </p:graphicFrame>
      <p:sp>
        <p:nvSpPr>
          <p:cNvPr id="5" name="object 5" descr=""/>
          <p:cNvSpPr txBox="1"/>
          <p:nvPr/>
        </p:nvSpPr>
        <p:spPr>
          <a:xfrm>
            <a:off x="3965575" y="6271361"/>
            <a:ext cx="4143375" cy="422909"/>
          </a:xfrm>
          <a:prstGeom prst="rect">
            <a:avLst/>
          </a:prstGeom>
        </p:spPr>
        <p:txBody>
          <a:bodyPr wrap="square" lIns="0" tIns="13335" rIns="0" bIns="0" rtlCol="0" vert="horz">
            <a:spAutoFit/>
          </a:bodyPr>
          <a:lstStyle/>
          <a:p>
            <a:pPr marL="12700">
              <a:lnSpc>
                <a:spcPct val="100000"/>
              </a:lnSpc>
              <a:spcBef>
                <a:spcPts val="105"/>
              </a:spcBef>
              <a:tabLst>
                <a:tab pos="757555" algn="l"/>
                <a:tab pos="1153795" algn="l"/>
              </a:tabLst>
            </a:pPr>
            <a:r>
              <a:rPr dirty="0" sz="2600" spc="-25">
                <a:solidFill>
                  <a:srgbClr val="40458B"/>
                </a:solidFill>
                <a:latin typeface="Tahoma"/>
                <a:cs typeface="Tahoma"/>
              </a:rPr>
              <a:t>add</a:t>
            </a:r>
            <a:r>
              <a:rPr dirty="0" sz="2600">
                <a:solidFill>
                  <a:srgbClr val="40458B"/>
                </a:solidFill>
                <a:latin typeface="Tahoma"/>
                <a:cs typeface="Tahoma"/>
              </a:rPr>
              <a:t>	</a:t>
            </a:r>
            <a:r>
              <a:rPr dirty="0" sz="2600" spc="-50">
                <a:solidFill>
                  <a:srgbClr val="40458B"/>
                </a:solidFill>
                <a:latin typeface="Tahoma"/>
                <a:cs typeface="Tahoma"/>
              </a:rPr>
              <a:t>Y</a:t>
            </a:r>
            <a:r>
              <a:rPr dirty="0" sz="2600">
                <a:solidFill>
                  <a:srgbClr val="40458B"/>
                </a:solidFill>
                <a:latin typeface="Tahoma"/>
                <a:cs typeface="Tahoma"/>
              </a:rPr>
              <a:t>	</a:t>
            </a:r>
            <a:r>
              <a:rPr dirty="0" sz="2600" spc="-15">
                <a:solidFill>
                  <a:srgbClr val="40458B"/>
                </a:solidFill>
                <a:latin typeface="黑体"/>
                <a:cs typeface="黑体"/>
              </a:rPr>
              <a:t>结果保存在累加器中</a:t>
            </a:r>
            <a:endParaRPr sz="2600">
              <a:latin typeface="黑体"/>
              <a:cs typeface="黑体"/>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2.1</a:t>
            </a:r>
            <a:r>
              <a:rPr dirty="0" spc="-35">
                <a:solidFill>
                  <a:srgbClr val="4F55AC"/>
                </a:solidFill>
              </a:rPr>
              <a:t> </a:t>
            </a:r>
            <a:r>
              <a:rPr dirty="0">
                <a:solidFill>
                  <a:srgbClr val="4F55AC"/>
                </a:solidFill>
                <a:latin typeface="微软雅黑"/>
                <a:cs typeface="微软雅黑"/>
              </a:rPr>
              <a:t>指令系统结构的分</a:t>
            </a:r>
            <a:r>
              <a:rPr dirty="0" spc="-50">
                <a:solidFill>
                  <a:srgbClr val="4F55AC"/>
                </a:solidFill>
                <a:latin typeface="微软雅黑"/>
                <a:cs typeface="微软雅黑"/>
              </a:rPr>
              <a:t>类</a:t>
            </a:r>
            <a:r>
              <a:rPr dirty="0">
                <a:solidFill>
                  <a:srgbClr val="4F55AC"/>
                </a:solidFill>
                <a:latin typeface="微软雅黑"/>
                <a:cs typeface="微软雅黑"/>
              </a:rPr>
              <a:t>	</a:t>
            </a:r>
          </a:p>
        </p:txBody>
      </p:sp>
      <p:sp>
        <p:nvSpPr>
          <p:cNvPr id="4" name="object 4" descr=""/>
          <p:cNvSpPr txBox="1"/>
          <p:nvPr/>
        </p:nvSpPr>
        <p:spPr>
          <a:xfrm>
            <a:off x="1602994" y="1030315"/>
            <a:ext cx="8502650" cy="4757420"/>
          </a:xfrm>
          <a:prstGeom prst="rect">
            <a:avLst/>
          </a:prstGeom>
        </p:spPr>
        <p:txBody>
          <a:bodyPr wrap="square" lIns="0" tIns="91440" rIns="0" bIns="0" rtlCol="0" vert="horz">
            <a:spAutoFit/>
          </a:bodyPr>
          <a:lstStyle/>
          <a:p>
            <a:pPr marL="469265" indent="-456565">
              <a:lnSpc>
                <a:spcPct val="100000"/>
              </a:lnSpc>
              <a:spcBef>
                <a:spcPts val="720"/>
              </a:spcBef>
              <a:buClr>
                <a:srgbClr val="40458B"/>
              </a:buClr>
              <a:buSzPct val="117857"/>
              <a:buFont typeface="Tahoma"/>
              <a:buAutoNum type="arabicPeriod" startAt="5"/>
              <a:tabLst>
                <a:tab pos="469265" algn="l"/>
              </a:tabLst>
            </a:pPr>
            <a:r>
              <a:rPr dirty="0" sz="2800" spc="-40">
                <a:solidFill>
                  <a:srgbClr val="172152"/>
                </a:solidFill>
                <a:latin typeface="黑体"/>
                <a:cs typeface="黑体"/>
              </a:rPr>
              <a:t>通用寄存器型结构</a:t>
            </a:r>
            <a:endParaRPr sz="2800">
              <a:latin typeface="黑体"/>
              <a:cs typeface="黑体"/>
            </a:endParaRPr>
          </a:p>
          <a:p>
            <a:pPr lvl="1" marL="1099185" indent="-457200">
              <a:lnSpc>
                <a:spcPct val="100000"/>
              </a:lnSpc>
              <a:spcBef>
                <a:spcPts val="780"/>
              </a:spcBef>
              <a:buClr>
                <a:srgbClr val="006FC0"/>
              </a:buClr>
              <a:buSzPct val="88636"/>
              <a:buFont typeface="Wingdings"/>
              <a:buChar char=""/>
              <a:tabLst>
                <a:tab pos="1099185" algn="l"/>
              </a:tabLst>
            </a:pPr>
            <a:r>
              <a:rPr dirty="0" sz="2200" spc="-35">
                <a:solidFill>
                  <a:srgbClr val="D50092"/>
                </a:solidFill>
                <a:latin typeface="黑体"/>
                <a:cs typeface="黑体"/>
              </a:rPr>
              <a:t>现代指令系统结构的主流</a:t>
            </a:r>
            <a:endParaRPr sz="2200">
              <a:latin typeface="黑体"/>
              <a:cs typeface="黑体"/>
            </a:endParaRPr>
          </a:p>
          <a:p>
            <a:pPr lvl="1" marL="1099185" indent="-457200">
              <a:lnSpc>
                <a:spcPct val="100000"/>
              </a:lnSpc>
              <a:spcBef>
                <a:spcPts val="790"/>
              </a:spcBef>
              <a:buSzPct val="88636"/>
              <a:buFont typeface="Wingdings"/>
              <a:buChar char=""/>
              <a:tabLst>
                <a:tab pos="1099185" algn="l"/>
              </a:tabLst>
            </a:pPr>
            <a:r>
              <a:rPr dirty="0" sz="2200" spc="-35">
                <a:solidFill>
                  <a:srgbClr val="006FC0"/>
                </a:solidFill>
                <a:latin typeface="黑体"/>
                <a:cs typeface="黑体"/>
              </a:rPr>
              <a:t>在灵活性和提高性能方面有明显的优势</a:t>
            </a:r>
            <a:endParaRPr sz="2200">
              <a:latin typeface="黑体"/>
              <a:cs typeface="黑体"/>
            </a:endParaRPr>
          </a:p>
          <a:p>
            <a:pPr lvl="2" marL="1307465" indent="-359410">
              <a:lnSpc>
                <a:spcPct val="100000"/>
              </a:lnSpc>
              <a:spcBef>
                <a:spcPts val="740"/>
              </a:spcBef>
              <a:buClr>
                <a:srgbClr val="4668F5"/>
              </a:buClr>
              <a:buSzPct val="72500"/>
              <a:buFont typeface="Wingdings"/>
              <a:buChar char=""/>
              <a:tabLst>
                <a:tab pos="1307465" algn="l"/>
                <a:tab pos="3098800" algn="l"/>
              </a:tabLst>
            </a:pPr>
            <a:r>
              <a:rPr dirty="0" sz="2000" spc="-10" b="1">
                <a:solidFill>
                  <a:srgbClr val="6F2F9F"/>
                </a:solidFill>
                <a:latin typeface="黑体"/>
                <a:cs typeface="黑体"/>
              </a:rPr>
              <a:t>寄存器的</a:t>
            </a:r>
            <a:r>
              <a:rPr dirty="0" sz="2000" spc="-20" b="1">
                <a:solidFill>
                  <a:srgbClr val="6F2F9F"/>
                </a:solidFill>
                <a:latin typeface="黑体"/>
                <a:cs typeface="黑体"/>
              </a:rPr>
              <a:t>访</a:t>
            </a:r>
            <a:r>
              <a:rPr dirty="0" sz="2000" spc="-50" b="1">
                <a:solidFill>
                  <a:srgbClr val="6F2F9F"/>
                </a:solidFill>
                <a:latin typeface="黑体"/>
                <a:cs typeface="黑体"/>
              </a:rPr>
              <a:t>问</a:t>
            </a:r>
            <a:r>
              <a:rPr dirty="0" sz="2000" b="1">
                <a:solidFill>
                  <a:srgbClr val="6F2F9F"/>
                </a:solidFill>
                <a:latin typeface="黑体"/>
                <a:cs typeface="黑体"/>
              </a:rPr>
              <a:t>	</a:t>
            </a:r>
            <a:r>
              <a:rPr dirty="0" sz="2000" spc="-10" b="1">
                <a:solidFill>
                  <a:srgbClr val="6F2F9F"/>
                </a:solidFill>
                <a:latin typeface="黑体"/>
                <a:cs typeface="黑体"/>
              </a:rPr>
              <a:t>速度比</a:t>
            </a:r>
            <a:r>
              <a:rPr dirty="0" sz="2000" spc="-20" b="1">
                <a:solidFill>
                  <a:srgbClr val="6F2F9F"/>
                </a:solidFill>
                <a:latin typeface="黑体"/>
                <a:cs typeface="黑体"/>
              </a:rPr>
              <a:t>存储</a:t>
            </a:r>
            <a:r>
              <a:rPr dirty="0" sz="2000" spc="-10" b="1">
                <a:solidFill>
                  <a:srgbClr val="6F2F9F"/>
                </a:solidFill>
                <a:latin typeface="黑体"/>
                <a:cs typeface="黑体"/>
              </a:rPr>
              <a:t>器快</a:t>
            </a:r>
            <a:r>
              <a:rPr dirty="0" sz="2000" spc="-50" b="1">
                <a:solidFill>
                  <a:srgbClr val="6F2F9F"/>
                </a:solidFill>
                <a:latin typeface="黑体"/>
                <a:cs typeface="黑体"/>
              </a:rPr>
              <a:t>。</a:t>
            </a:r>
            <a:endParaRPr sz="2000">
              <a:latin typeface="黑体"/>
              <a:cs typeface="黑体"/>
            </a:endParaRPr>
          </a:p>
          <a:p>
            <a:pPr lvl="2" marL="1307465" indent="-359410">
              <a:lnSpc>
                <a:spcPct val="100000"/>
              </a:lnSpc>
              <a:spcBef>
                <a:spcPts val="720"/>
              </a:spcBef>
              <a:buClr>
                <a:srgbClr val="4668F5"/>
              </a:buClr>
              <a:buSzPct val="72500"/>
              <a:buFont typeface="Wingdings"/>
              <a:buChar char=""/>
              <a:tabLst>
                <a:tab pos="1307465" algn="l"/>
              </a:tabLst>
            </a:pPr>
            <a:r>
              <a:rPr dirty="0" sz="2000" spc="-25" b="1">
                <a:solidFill>
                  <a:srgbClr val="6F2F9F"/>
                </a:solidFill>
                <a:latin typeface="黑体"/>
                <a:cs typeface="黑体"/>
              </a:rPr>
              <a:t>对编译器而言，能更加容易、有效地分配和使用寄存器。</a:t>
            </a:r>
            <a:endParaRPr sz="2000">
              <a:latin typeface="黑体"/>
              <a:cs typeface="黑体"/>
            </a:endParaRPr>
          </a:p>
          <a:p>
            <a:pPr lvl="2" marL="1307465" indent="-359410">
              <a:lnSpc>
                <a:spcPct val="100000"/>
              </a:lnSpc>
              <a:spcBef>
                <a:spcPts val="725"/>
              </a:spcBef>
              <a:buClr>
                <a:srgbClr val="4668F5"/>
              </a:buClr>
              <a:buSzPct val="72500"/>
              <a:buFont typeface="Wingdings"/>
              <a:buChar char=""/>
              <a:tabLst>
                <a:tab pos="1307465" algn="l"/>
              </a:tabLst>
            </a:pPr>
            <a:r>
              <a:rPr dirty="0" sz="2000" spc="-25" b="1">
                <a:solidFill>
                  <a:srgbClr val="6F2F9F"/>
                </a:solidFill>
                <a:latin typeface="黑体"/>
                <a:cs typeface="黑体"/>
              </a:rPr>
              <a:t>寄存器可以用来存放变量。</a:t>
            </a:r>
            <a:endParaRPr sz="2000">
              <a:latin typeface="黑体"/>
              <a:cs typeface="黑体"/>
            </a:endParaRPr>
          </a:p>
          <a:p>
            <a:pPr lvl="3" marL="2358390" indent="-637540">
              <a:lnSpc>
                <a:spcPct val="100000"/>
              </a:lnSpc>
              <a:spcBef>
                <a:spcPts val="720"/>
              </a:spcBef>
              <a:buSzPct val="95000"/>
              <a:buAutoNum type="arabicPlain"/>
              <a:tabLst>
                <a:tab pos="2358390" algn="l"/>
              </a:tabLst>
            </a:pPr>
            <a:r>
              <a:rPr dirty="0" sz="2000" spc="-25" b="1">
                <a:solidFill>
                  <a:srgbClr val="6F2F9F"/>
                </a:solidFill>
                <a:latin typeface="黑体"/>
                <a:cs typeface="黑体"/>
              </a:rPr>
              <a:t>减少对存储器的访问，加快程序的执行速度；</a:t>
            </a:r>
            <a:endParaRPr sz="2000">
              <a:latin typeface="黑体"/>
              <a:cs typeface="黑体"/>
            </a:endParaRPr>
          </a:p>
          <a:p>
            <a:pPr marL="1308100">
              <a:lnSpc>
                <a:spcPct val="100000"/>
              </a:lnSpc>
              <a:spcBef>
                <a:spcPts val="240"/>
              </a:spcBef>
            </a:pPr>
            <a:r>
              <a:rPr dirty="0" sz="2000" spc="-10" b="1">
                <a:solidFill>
                  <a:srgbClr val="6F2F9F"/>
                </a:solidFill>
                <a:latin typeface="黑体"/>
                <a:cs typeface="黑体"/>
              </a:rPr>
              <a:t>（</a:t>
            </a:r>
            <a:r>
              <a:rPr dirty="0" sz="2000" spc="-20" b="1">
                <a:solidFill>
                  <a:srgbClr val="6F2F9F"/>
                </a:solidFill>
                <a:latin typeface="黑体"/>
                <a:cs typeface="黑体"/>
              </a:rPr>
              <a:t>因为寄存器比存储器快</a:t>
            </a:r>
            <a:r>
              <a:rPr dirty="0" sz="2000" spc="-15" b="1">
                <a:solidFill>
                  <a:srgbClr val="6F2F9F"/>
                </a:solidFill>
                <a:latin typeface="黑体"/>
                <a:cs typeface="黑体"/>
              </a:rPr>
              <a:t>）（</a:t>
            </a:r>
            <a:r>
              <a:rPr dirty="0" sz="2000" spc="-5" b="1">
                <a:solidFill>
                  <a:srgbClr val="6F2F9F"/>
                </a:solidFill>
                <a:latin typeface="黑体"/>
                <a:cs typeface="黑体"/>
              </a:rPr>
              <a:t>例如</a:t>
            </a:r>
            <a:r>
              <a:rPr dirty="0" sz="2000" spc="-15" b="1">
                <a:solidFill>
                  <a:srgbClr val="6F2F9F"/>
                </a:solidFill>
                <a:latin typeface="黑体"/>
                <a:cs typeface="黑体"/>
              </a:rPr>
              <a:t>for</a:t>
            </a:r>
            <a:r>
              <a:rPr dirty="0" sz="2000" spc="-20" b="1">
                <a:solidFill>
                  <a:srgbClr val="6F2F9F"/>
                </a:solidFill>
                <a:latin typeface="黑体"/>
                <a:cs typeface="黑体"/>
              </a:rPr>
              <a:t>循环中的自变量</a:t>
            </a:r>
            <a:r>
              <a:rPr dirty="0" sz="2000" spc="-50" b="1">
                <a:solidFill>
                  <a:srgbClr val="6F2F9F"/>
                </a:solidFill>
                <a:latin typeface="黑体"/>
                <a:cs typeface="黑体"/>
              </a:rPr>
              <a:t>）</a:t>
            </a:r>
            <a:endParaRPr sz="2000">
              <a:latin typeface="黑体"/>
              <a:cs typeface="黑体"/>
            </a:endParaRPr>
          </a:p>
          <a:p>
            <a:pPr lvl="3" marL="1971675" indent="-638175">
              <a:lnSpc>
                <a:spcPct val="100000"/>
              </a:lnSpc>
              <a:spcBef>
                <a:spcPts val="1080"/>
              </a:spcBef>
              <a:buSzPct val="95000"/>
              <a:buAutoNum type="arabicPlain" startAt="2"/>
              <a:tabLst>
                <a:tab pos="1971675" algn="l"/>
              </a:tabLst>
            </a:pPr>
            <a:r>
              <a:rPr dirty="0" sz="2000" spc="-20" b="1">
                <a:solidFill>
                  <a:srgbClr val="6F2F9F"/>
                </a:solidFill>
                <a:latin typeface="黑体"/>
                <a:cs typeface="黑体"/>
              </a:rPr>
              <a:t>用更少的地址位</a:t>
            </a:r>
            <a:r>
              <a:rPr dirty="0" sz="2000" spc="-10" b="1">
                <a:solidFill>
                  <a:srgbClr val="6F2F9F"/>
                </a:solidFill>
                <a:latin typeface="黑体"/>
                <a:cs typeface="黑体"/>
              </a:rPr>
              <a:t>（</a:t>
            </a:r>
            <a:r>
              <a:rPr dirty="0" sz="2000" spc="-20" b="1">
                <a:solidFill>
                  <a:srgbClr val="6F2F9F"/>
                </a:solidFill>
                <a:latin typeface="黑体"/>
                <a:cs typeface="黑体"/>
              </a:rPr>
              <a:t>相对于存储器地址来说）</a:t>
            </a:r>
            <a:r>
              <a:rPr dirty="0" sz="2000" spc="-25" b="1">
                <a:solidFill>
                  <a:srgbClr val="6F2F9F"/>
                </a:solidFill>
                <a:latin typeface="黑体"/>
                <a:cs typeface="黑体"/>
              </a:rPr>
              <a:t>来对寄</a:t>
            </a:r>
            <a:endParaRPr sz="2000">
              <a:latin typeface="黑体"/>
              <a:cs typeface="黑体"/>
            </a:endParaRPr>
          </a:p>
          <a:p>
            <a:pPr marL="948055" marR="5080" indent="1156970">
              <a:lnSpc>
                <a:spcPct val="150000"/>
              </a:lnSpc>
            </a:pPr>
            <a:r>
              <a:rPr dirty="0" sz="2000" spc="-25" b="1">
                <a:solidFill>
                  <a:srgbClr val="6F2F9F"/>
                </a:solidFill>
                <a:latin typeface="黑体"/>
                <a:cs typeface="黑体"/>
              </a:rPr>
              <a:t>存器进行寻址，从而有效地减少程序的目标代码的大小。</a:t>
            </a:r>
            <a:r>
              <a:rPr dirty="0" sz="2000" spc="-280">
                <a:solidFill>
                  <a:srgbClr val="FF0000"/>
                </a:solidFill>
                <a:latin typeface="黑体"/>
                <a:cs typeface="黑体"/>
              </a:rPr>
              <a:t>在 </a:t>
            </a:r>
            <a:r>
              <a:rPr dirty="0" sz="2000">
                <a:solidFill>
                  <a:srgbClr val="FF0000"/>
                </a:solidFill>
                <a:latin typeface="Calibri"/>
                <a:cs typeface="Calibri"/>
              </a:rPr>
              <a:t>RISC </a:t>
            </a:r>
            <a:r>
              <a:rPr dirty="0" sz="2000">
                <a:solidFill>
                  <a:srgbClr val="FF0000"/>
                </a:solidFill>
                <a:latin typeface="黑体"/>
                <a:cs typeface="黑体"/>
              </a:rPr>
              <a:t>中，</a:t>
            </a:r>
            <a:r>
              <a:rPr dirty="0" sz="2000" spc="-25" b="1">
                <a:solidFill>
                  <a:srgbClr val="FF0000"/>
                </a:solidFill>
                <a:latin typeface="黑体"/>
                <a:cs typeface="黑体"/>
              </a:rPr>
              <a:t>存储指令一般通过寄存器间接寻址的方式访问存储器</a:t>
            </a:r>
            <a:endParaRPr sz="2000">
              <a:latin typeface="黑体"/>
              <a:cs typeface="黑体"/>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2.1</a:t>
            </a:r>
            <a:r>
              <a:rPr dirty="0" spc="-35">
                <a:solidFill>
                  <a:srgbClr val="4F55AC"/>
                </a:solidFill>
              </a:rPr>
              <a:t> </a:t>
            </a:r>
            <a:r>
              <a:rPr dirty="0">
                <a:solidFill>
                  <a:srgbClr val="4F55AC"/>
                </a:solidFill>
                <a:latin typeface="微软雅黑"/>
                <a:cs typeface="微软雅黑"/>
              </a:rPr>
              <a:t>指令系统结构的分</a:t>
            </a:r>
            <a:r>
              <a:rPr dirty="0" spc="-50">
                <a:solidFill>
                  <a:srgbClr val="4F55AC"/>
                </a:solidFill>
                <a:latin typeface="微软雅黑"/>
                <a:cs typeface="微软雅黑"/>
              </a:rPr>
              <a:t>类</a:t>
            </a:r>
            <a:r>
              <a:rPr dirty="0">
                <a:solidFill>
                  <a:srgbClr val="4F55AC"/>
                </a:solidFill>
                <a:latin typeface="微软雅黑"/>
                <a:cs typeface="微软雅黑"/>
              </a:rPr>
              <a:t>	</a:t>
            </a:r>
          </a:p>
        </p:txBody>
      </p:sp>
      <p:sp>
        <p:nvSpPr>
          <p:cNvPr id="4" name="object 4" descr=""/>
          <p:cNvSpPr txBox="1"/>
          <p:nvPr/>
        </p:nvSpPr>
        <p:spPr>
          <a:xfrm>
            <a:off x="1926717" y="802284"/>
            <a:ext cx="8484235" cy="4447540"/>
          </a:xfrm>
          <a:prstGeom prst="rect">
            <a:avLst/>
          </a:prstGeom>
        </p:spPr>
        <p:txBody>
          <a:bodyPr wrap="square" lIns="0" tIns="52069" rIns="0" bIns="0" rtlCol="0" vert="horz">
            <a:spAutoFit/>
          </a:bodyPr>
          <a:lstStyle/>
          <a:p>
            <a:pPr marL="469900" marR="5080" indent="-457200">
              <a:lnSpc>
                <a:spcPts val="4370"/>
              </a:lnSpc>
              <a:spcBef>
                <a:spcPts val="409"/>
              </a:spcBef>
              <a:buClr>
                <a:srgbClr val="40458B"/>
              </a:buClr>
              <a:buSzPct val="117857"/>
              <a:buFont typeface="Tahoma"/>
              <a:buAutoNum type="arabicPeriod" startAt="6"/>
              <a:tabLst>
                <a:tab pos="469900" algn="l"/>
              </a:tabLst>
            </a:pPr>
            <a:r>
              <a:rPr dirty="0" sz="2800" spc="-30">
                <a:solidFill>
                  <a:srgbClr val="172152"/>
                </a:solidFill>
                <a:latin typeface="黑体"/>
                <a:cs typeface="黑体"/>
              </a:rPr>
              <a:t>根据</a:t>
            </a:r>
            <a:r>
              <a:rPr dirty="0" sz="2800" spc="-20">
                <a:solidFill>
                  <a:srgbClr val="172152"/>
                </a:solidFill>
                <a:latin typeface="黑体"/>
                <a:cs typeface="黑体"/>
              </a:rPr>
              <a:t>ALU</a:t>
            </a:r>
            <a:r>
              <a:rPr dirty="0" sz="2800" spc="-35">
                <a:solidFill>
                  <a:srgbClr val="172152"/>
                </a:solidFill>
                <a:latin typeface="黑体"/>
                <a:cs typeface="黑体"/>
              </a:rPr>
              <a:t>指令</a:t>
            </a:r>
            <a:r>
              <a:rPr dirty="0" sz="2800" spc="-20">
                <a:solidFill>
                  <a:srgbClr val="172152"/>
                </a:solidFill>
                <a:latin typeface="黑体"/>
                <a:cs typeface="黑体"/>
              </a:rPr>
              <a:t>（</a:t>
            </a:r>
            <a:r>
              <a:rPr dirty="0" sz="2400" spc="-10">
                <a:solidFill>
                  <a:srgbClr val="172152"/>
                </a:solidFill>
                <a:latin typeface="黑体"/>
                <a:cs typeface="黑体"/>
              </a:rPr>
              <a:t>算术和逻辑指令</a:t>
            </a:r>
            <a:r>
              <a:rPr dirty="0" sz="2800" spc="-30">
                <a:solidFill>
                  <a:srgbClr val="172152"/>
                </a:solidFill>
                <a:latin typeface="黑体"/>
                <a:cs typeface="黑体"/>
              </a:rPr>
              <a:t>）</a:t>
            </a:r>
            <a:r>
              <a:rPr dirty="0" sz="2800" spc="-35">
                <a:solidFill>
                  <a:srgbClr val="172152"/>
                </a:solidFill>
                <a:latin typeface="黑体"/>
                <a:cs typeface="黑体"/>
              </a:rPr>
              <a:t>的操作数的</a:t>
            </a:r>
            <a:r>
              <a:rPr dirty="0" u="sng" sz="2800" spc="-40">
                <a:solidFill>
                  <a:srgbClr val="00AFEF"/>
                </a:solidFill>
                <a:uFill>
                  <a:solidFill>
                    <a:srgbClr val="00AFEF"/>
                  </a:solidFill>
                </a:uFill>
                <a:latin typeface="黑体"/>
                <a:cs typeface="黑体"/>
              </a:rPr>
              <a:t>两个特征</a:t>
            </a:r>
            <a:r>
              <a:rPr dirty="0" u="none" sz="2800" spc="-40">
                <a:solidFill>
                  <a:srgbClr val="172152"/>
                </a:solidFill>
                <a:latin typeface="黑体"/>
                <a:cs typeface="黑体"/>
              </a:rPr>
              <a:t>对通用寄存器型结构进一步细分</a:t>
            </a:r>
            <a:endParaRPr sz="2800">
              <a:latin typeface="黑体"/>
              <a:cs typeface="黑体"/>
            </a:endParaRPr>
          </a:p>
          <a:p>
            <a:pPr lvl="1" marL="1099185" indent="-457200">
              <a:lnSpc>
                <a:spcPct val="100000"/>
              </a:lnSpc>
              <a:spcBef>
                <a:spcPts val="1130"/>
              </a:spcBef>
              <a:buSzPct val="88636"/>
              <a:buFont typeface="Wingdings"/>
              <a:buChar char=""/>
              <a:tabLst>
                <a:tab pos="1099185" algn="l"/>
              </a:tabLst>
            </a:pPr>
            <a:r>
              <a:rPr dirty="0" u="sng" sz="2200" spc="-20">
                <a:solidFill>
                  <a:srgbClr val="006FC0"/>
                </a:solidFill>
                <a:uFill>
                  <a:solidFill>
                    <a:srgbClr val="006FC0"/>
                  </a:solidFill>
                </a:uFill>
                <a:latin typeface="Tahoma"/>
                <a:cs typeface="Tahoma"/>
              </a:rPr>
              <a:t>ALU</a:t>
            </a:r>
            <a:r>
              <a:rPr dirty="0" u="sng" sz="2200" spc="-35">
                <a:solidFill>
                  <a:srgbClr val="006FC0"/>
                </a:solidFill>
                <a:uFill>
                  <a:solidFill>
                    <a:srgbClr val="006FC0"/>
                  </a:solidFill>
                </a:uFill>
                <a:latin typeface="黑体"/>
                <a:cs typeface="黑体"/>
              </a:rPr>
              <a:t>指令的操作数个数</a:t>
            </a:r>
            <a:endParaRPr sz="2200">
              <a:latin typeface="黑体"/>
              <a:cs typeface="黑体"/>
            </a:endParaRPr>
          </a:p>
          <a:p>
            <a:pPr lvl="2" marL="1308100" indent="-359410">
              <a:lnSpc>
                <a:spcPct val="100000"/>
              </a:lnSpc>
              <a:spcBef>
                <a:spcPts val="1230"/>
              </a:spcBef>
              <a:buClr>
                <a:srgbClr val="4668F5"/>
              </a:buClr>
              <a:buSzPct val="72500"/>
              <a:buFont typeface="Wingdings"/>
              <a:buChar char=""/>
              <a:tabLst>
                <a:tab pos="1308100" algn="l"/>
              </a:tabLst>
            </a:pPr>
            <a:r>
              <a:rPr dirty="0" sz="2000" spc="-10" b="1">
                <a:solidFill>
                  <a:srgbClr val="9933FF"/>
                </a:solidFill>
                <a:latin typeface="宋体"/>
                <a:cs typeface="宋体"/>
              </a:rPr>
              <a:t>3</a:t>
            </a:r>
            <a:r>
              <a:rPr dirty="0" sz="2000" spc="-20" b="1">
                <a:solidFill>
                  <a:srgbClr val="6F2F9F"/>
                </a:solidFill>
                <a:latin typeface="黑体"/>
                <a:cs typeface="黑体"/>
              </a:rPr>
              <a:t>个操作数的指令</a:t>
            </a:r>
            <a:endParaRPr sz="2000">
              <a:latin typeface="黑体"/>
              <a:cs typeface="黑体"/>
            </a:endParaRPr>
          </a:p>
          <a:p>
            <a:pPr marL="1849120">
              <a:lnSpc>
                <a:spcPct val="100000"/>
              </a:lnSpc>
              <a:spcBef>
                <a:spcPts val="1200"/>
              </a:spcBef>
            </a:pPr>
            <a:r>
              <a:rPr dirty="0" sz="2000" spc="-25" b="1">
                <a:solidFill>
                  <a:srgbClr val="6F2F9F"/>
                </a:solidFill>
                <a:latin typeface="黑体"/>
                <a:cs typeface="黑体"/>
              </a:rPr>
              <a:t>两个源操作数、一个目的操作数</a:t>
            </a:r>
            <a:endParaRPr sz="2000">
              <a:latin typeface="黑体"/>
              <a:cs typeface="黑体"/>
            </a:endParaRPr>
          </a:p>
          <a:p>
            <a:pPr lvl="2" marL="1308100" indent="-359410">
              <a:lnSpc>
                <a:spcPct val="100000"/>
              </a:lnSpc>
              <a:spcBef>
                <a:spcPts val="1200"/>
              </a:spcBef>
              <a:buClr>
                <a:srgbClr val="4668F5"/>
              </a:buClr>
              <a:buSzPct val="72500"/>
              <a:buFont typeface="Wingdings"/>
              <a:buChar char=""/>
              <a:tabLst>
                <a:tab pos="1308100" algn="l"/>
              </a:tabLst>
            </a:pPr>
            <a:r>
              <a:rPr dirty="0" sz="2000" spc="-10" b="1">
                <a:solidFill>
                  <a:srgbClr val="9933FF"/>
                </a:solidFill>
                <a:latin typeface="宋体"/>
                <a:cs typeface="宋体"/>
              </a:rPr>
              <a:t>2</a:t>
            </a:r>
            <a:r>
              <a:rPr dirty="0" sz="2000" spc="-20" b="1">
                <a:solidFill>
                  <a:srgbClr val="6F2F9F"/>
                </a:solidFill>
                <a:latin typeface="黑体"/>
                <a:cs typeface="黑体"/>
              </a:rPr>
              <a:t>个操作数的指令</a:t>
            </a:r>
            <a:endParaRPr sz="2000">
              <a:latin typeface="黑体"/>
              <a:cs typeface="黑体"/>
            </a:endParaRPr>
          </a:p>
          <a:p>
            <a:pPr marL="948690">
              <a:lnSpc>
                <a:spcPct val="100000"/>
              </a:lnSpc>
              <a:spcBef>
                <a:spcPts val="1200"/>
              </a:spcBef>
            </a:pPr>
            <a:r>
              <a:rPr dirty="0" sz="2000" spc="-25" b="1">
                <a:solidFill>
                  <a:srgbClr val="6F2F9F"/>
                </a:solidFill>
                <a:latin typeface="黑体"/>
                <a:cs typeface="黑体"/>
              </a:rPr>
              <a:t>其中一个操作数既作为源操作数，又作为目的操作数。</a:t>
            </a:r>
            <a:endParaRPr sz="2000">
              <a:latin typeface="黑体"/>
              <a:cs typeface="黑体"/>
            </a:endParaRPr>
          </a:p>
          <a:p>
            <a:pPr lvl="1" marL="1099185" indent="-457200">
              <a:lnSpc>
                <a:spcPct val="100000"/>
              </a:lnSpc>
              <a:spcBef>
                <a:spcPts val="1290"/>
              </a:spcBef>
              <a:buSzPct val="88636"/>
              <a:buFont typeface="Wingdings"/>
              <a:buChar char=""/>
              <a:tabLst>
                <a:tab pos="1099185" algn="l"/>
              </a:tabLst>
            </a:pPr>
            <a:r>
              <a:rPr dirty="0" u="sng" sz="2200" spc="-20">
                <a:solidFill>
                  <a:srgbClr val="006FC0"/>
                </a:solidFill>
                <a:uFill>
                  <a:solidFill>
                    <a:srgbClr val="006FC0"/>
                  </a:solidFill>
                </a:uFill>
                <a:latin typeface="黑体"/>
                <a:cs typeface="黑体"/>
              </a:rPr>
              <a:t>ALU</a:t>
            </a:r>
            <a:r>
              <a:rPr dirty="0" u="sng" sz="2200" spc="-40">
                <a:solidFill>
                  <a:srgbClr val="006FC0"/>
                </a:solidFill>
                <a:uFill>
                  <a:solidFill>
                    <a:srgbClr val="006FC0"/>
                  </a:solidFill>
                </a:uFill>
                <a:latin typeface="黑体"/>
                <a:cs typeface="黑体"/>
              </a:rPr>
              <a:t>指令中存储器操作数的个数</a:t>
            </a:r>
            <a:endParaRPr sz="2200">
              <a:latin typeface="黑体"/>
              <a:cs typeface="黑体"/>
            </a:endParaRPr>
          </a:p>
          <a:p>
            <a:pPr marL="948690">
              <a:lnSpc>
                <a:spcPct val="100000"/>
              </a:lnSpc>
              <a:spcBef>
                <a:spcPts val="1235"/>
              </a:spcBef>
            </a:pPr>
            <a:r>
              <a:rPr dirty="0" sz="2000" spc="-5" b="1">
                <a:solidFill>
                  <a:srgbClr val="6F2F9F"/>
                </a:solidFill>
                <a:latin typeface="黑体"/>
                <a:cs typeface="黑体"/>
              </a:rPr>
              <a:t>可以是</a:t>
            </a:r>
            <a:r>
              <a:rPr dirty="0" sz="2000" spc="-20" b="1">
                <a:solidFill>
                  <a:srgbClr val="9933FF"/>
                </a:solidFill>
                <a:latin typeface="宋体"/>
                <a:cs typeface="宋体"/>
              </a:rPr>
              <a:t>0</a:t>
            </a:r>
            <a:r>
              <a:rPr dirty="0" sz="2000" spc="-20" b="1">
                <a:solidFill>
                  <a:srgbClr val="9933FF"/>
                </a:solidFill>
                <a:latin typeface="黑体"/>
                <a:cs typeface="黑体"/>
              </a:rPr>
              <a:t>～３</a:t>
            </a:r>
            <a:r>
              <a:rPr dirty="0" sz="2000" spc="-20" b="1">
                <a:solidFill>
                  <a:srgbClr val="6F2F9F"/>
                </a:solidFill>
                <a:latin typeface="黑体"/>
                <a:cs typeface="黑体"/>
              </a:rPr>
              <a:t>中的某一个，为</a:t>
            </a:r>
            <a:r>
              <a:rPr dirty="0" sz="2000" spc="-15" b="1">
                <a:solidFill>
                  <a:srgbClr val="9933FF"/>
                </a:solidFill>
                <a:latin typeface="宋体"/>
                <a:cs typeface="宋体"/>
              </a:rPr>
              <a:t>0</a:t>
            </a:r>
            <a:r>
              <a:rPr dirty="0" sz="2000" spc="-25" b="1">
                <a:solidFill>
                  <a:srgbClr val="6F2F9F"/>
                </a:solidFill>
                <a:latin typeface="黑体"/>
                <a:cs typeface="黑体"/>
              </a:rPr>
              <a:t>表示没有存储器操作数。</a:t>
            </a:r>
            <a:endParaRPr sz="2000">
              <a:latin typeface="黑体"/>
              <a:cs typeface="黑体"/>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2049462" y="1352613"/>
          <a:ext cx="8312150" cy="4726305"/>
        </p:xfrm>
        <a:graphic>
          <a:graphicData uri="http://schemas.openxmlformats.org/drawingml/2006/table">
            <a:tbl>
              <a:tblPr firstRow="1" bandRow="1">
                <a:tableStyleId>{2D5ABB26-0587-4C30-8999-92F81FD0307C}</a:tableStyleId>
              </a:tblPr>
              <a:tblGrid>
                <a:gridCol w="2230755"/>
                <a:gridCol w="2016124"/>
                <a:gridCol w="863600"/>
                <a:gridCol w="3096895"/>
              </a:tblGrid>
              <a:tr h="859155">
                <a:tc>
                  <a:txBody>
                    <a:bodyPr/>
                    <a:lstStyle/>
                    <a:p>
                      <a:pPr algn="ctr" marL="635">
                        <a:lnSpc>
                          <a:spcPct val="100000"/>
                        </a:lnSpc>
                        <a:spcBef>
                          <a:spcPts val="675"/>
                        </a:spcBef>
                      </a:pPr>
                      <a:r>
                        <a:rPr dirty="0" sz="1800" spc="-10">
                          <a:solidFill>
                            <a:srgbClr val="E14B04"/>
                          </a:solidFill>
                          <a:latin typeface="Tahoma"/>
                          <a:cs typeface="Tahoma"/>
                        </a:rPr>
                        <a:t>ALU</a:t>
                      </a:r>
                      <a:r>
                        <a:rPr dirty="0" sz="1800" spc="-15">
                          <a:solidFill>
                            <a:srgbClr val="E14B04"/>
                          </a:solidFill>
                          <a:latin typeface="黑体"/>
                          <a:cs typeface="黑体"/>
                        </a:rPr>
                        <a:t>指令中存</a:t>
                      </a:r>
                      <a:endParaRPr sz="1800">
                        <a:latin typeface="黑体"/>
                        <a:cs typeface="黑体"/>
                      </a:endParaRPr>
                    </a:p>
                    <a:p>
                      <a:pPr algn="ctr">
                        <a:lnSpc>
                          <a:spcPct val="100000"/>
                        </a:lnSpc>
                        <a:spcBef>
                          <a:spcPts val="1080"/>
                        </a:spcBef>
                      </a:pPr>
                      <a:r>
                        <a:rPr dirty="0" sz="1800" spc="-10">
                          <a:solidFill>
                            <a:srgbClr val="E14B04"/>
                          </a:solidFill>
                          <a:latin typeface="黑体"/>
                          <a:cs typeface="黑体"/>
                        </a:rPr>
                        <a:t>储器操作数的个数</a:t>
                      </a:r>
                      <a:endParaRPr sz="1800">
                        <a:latin typeface="黑体"/>
                        <a:cs typeface="黑体"/>
                      </a:endParaRPr>
                    </a:p>
                  </a:txBody>
                  <a:tcPr marL="0" marR="0" marB="0" marT="8572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675"/>
                        </a:spcBef>
                      </a:pPr>
                      <a:r>
                        <a:rPr dirty="0" sz="1800" spc="-10">
                          <a:solidFill>
                            <a:srgbClr val="E14B04"/>
                          </a:solidFill>
                          <a:latin typeface="Tahoma"/>
                          <a:cs typeface="Tahoma"/>
                        </a:rPr>
                        <a:t>ALU</a:t>
                      </a:r>
                      <a:r>
                        <a:rPr dirty="0" sz="1800" spc="-20">
                          <a:solidFill>
                            <a:srgbClr val="E14B04"/>
                          </a:solidFill>
                          <a:latin typeface="黑体"/>
                          <a:cs typeface="黑体"/>
                        </a:rPr>
                        <a:t>指令中</a:t>
                      </a:r>
                      <a:endParaRPr sz="1800">
                        <a:latin typeface="黑体"/>
                        <a:cs typeface="黑体"/>
                      </a:endParaRPr>
                    </a:p>
                    <a:p>
                      <a:pPr algn="ctr" marL="635">
                        <a:lnSpc>
                          <a:spcPct val="100000"/>
                        </a:lnSpc>
                        <a:spcBef>
                          <a:spcPts val="1080"/>
                        </a:spcBef>
                      </a:pPr>
                      <a:r>
                        <a:rPr dirty="0" sz="1800" spc="-10">
                          <a:solidFill>
                            <a:srgbClr val="E14B04"/>
                          </a:solidFill>
                          <a:latin typeface="黑体"/>
                          <a:cs typeface="黑体"/>
                        </a:rPr>
                        <a:t>操作数的最多个数</a:t>
                      </a:r>
                      <a:endParaRPr sz="1800">
                        <a:latin typeface="黑体"/>
                        <a:cs typeface="黑体"/>
                      </a:endParaRPr>
                    </a:p>
                  </a:txBody>
                  <a:tcPr marL="0" marR="0" marB="0" marT="8572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203835">
                        <a:lnSpc>
                          <a:spcPct val="100000"/>
                        </a:lnSpc>
                        <a:spcBef>
                          <a:spcPts val="675"/>
                        </a:spcBef>
                      </a:pPr>
                      <a:r>
                        <a:rPr dirty="0" sz="1800" spc="-25">
                          <a:solidFill>
                            <a:srgbClr val="E14B04"/>
                          </a:solidFill>
                          <a:latin typeface="黑体"/>
                          <a:cs typeface="黑体"/>
                        </a:rPr>
                        <a:t>结构</a:t>
                      </a:r>
                      <a:endParaRPr sz="1800">
                        <a:latin typeface="黑体"/>
                        <a:cs typeface="黑体"/>
                      </a:endParaRPr>
                    </a:p>
                    <a:p>
                      <a:pPr marL="203835">
                        <a:lnSpc>
                          <a:spcPct val="100000"/>
                        </a:lnSpc>
                        <a:spcBef>
                          <a:spcPts val="1080"/>
                        </a:spcBef>
                      </a:pPr>
                      <a:r>
                        <a:rPr dirty="0" sz="1800" spc="-25">
                          <a:solidFill>
                            <a:srgbClr val="E14B04"/>
                          </a:solidFill>
                          <a:latin typeface="黑体"/>
                          <a:cs typeface="黑体"/>
                        </a:rPr>
                        <a:t>类型</a:t>
                      </a:r>
                      <a:endParaRPr sz="1800">
                        <a:latin typeface="黑体"/>
                        <a:cs typeface="黑体"/>
                      </a:endParaRPr>
                    </a:p>
                  </a:txBody>
                  <a:tcPr marL="0" marR="0" marB="0" marT="8572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2540">
                        <a:lnSpc>
                          <a:spcPct val="100000"/>
                        </a:lnSpc>
                        <a:spcBef>
                          <a:spcPts val="1445"/>
                        </a:spcBef>
                      </a:pPr>
                      <a:r>
                        <a:rPr dirty="0" sz="1800" spc="-15">
                          <a:solidFill>
                            <a:srgbClr val="E14B04"/>
                          </a:solidFill>
                          <a:latin typeface="黑体"/>
                          <a:cs typeface="黑体"/>
                        </a:rPr>
                        <a:t>机器实例</a:t>
                      </a:r>
                      <a:endParaRPr sz="1800">
                        <a:latin typeface="黑体"/>
                        <a:cs typeface="黑体"/>
                      </a:endParaRPr>
                    </a:p>
                  </a:txBody>
                  <a:tcPr marL="0" marR="0" marB="0" marT="18351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883285">
                <a:tc>
                  <a:txBody>
                    <a:bodyPr/>
                    <a:lstStyle/>
                    <a:p>
                      <a:pPr algn="ctr" marL="1270">
                        <a:lnSpc>
                          <a:spcPct val="100000"/>
                        </a:lnSpc>
                        <a:spcBef>
                          <a:spcPts val="1760"/>
                        </a:spcBef>
                      </a:pPr>
                      <a:r>
                        <a:rPr dirty="0" sz="2000" spc="-50">
                          <a:solidFill>
                            <a:srgbClr val="40458B"/>
                          </a:solidFill>
                          <a:latin typeface="Tahoma"/>
                          <a:cs typeface="Tahoma"/>
                        </a:rPr>
                        <a:t>0</a:t>
                      </a:r>
                      <a:endParaRPr sz="2000">
                        <a:latin typeface="Tahoma"/>
                        <a:cs typeface="Tahoma"/>
                      </a:endParaRPr>
                    </a:p>
                  </a:txBody>
                  <a:tcPr marL="0" marR="0" marB="0" marT="22352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760"/>
                        </a:spcBef>
                      </a:pPr>
                      <a:r>
                        <a:rPr dirty="0" sz="2000" spc="-50">
                          <a:solidFill>
                            <a:srgbClr val="40458B"/>
                          </a:solidFill>
                          <a:latin typeface="Tahoma"/>
                          <a:cs typeface="Tahoma"/>
                        </a:rPr>
                        <a:t>3</a:t>
                      </a:r>
                      <a:endParaRPr sz="2000">
                        <a:latin typeface="Tahoma"/>
                        <a:cs typeface="Tahoma"/>
                      </a:endParaRPr>
                    </a:p>
                  </a:txBody>
                  <a:tcPr marL="0" marR="0" marB="0" marT="2235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1760"/>
                        </a:spcBef>
                      </a:pPr>
                      <a:r>
                        <a:rPr dirty="0" sz="2000" spc="-25">
                          <a:solidFill>
                            <a:srgbClr val="40458B"/>
                          </a:solidFill>
                          <a:latin typeface="Tahoma"/>
                          <a:cs typeface="Tahoma"/>
                        </a:rPr>
                        <a:t>RR</a:t>
                      </a:r>
                      <a:endParaRPr sz="2000">
                        <a:latin typeface="Tahoma"/>
                        <a:cs typeface="Tahoma"/>
                      </a:endParaRPr>
                    </a:p>
                  </a:txBody>
                  <a:tcPr marL="0" marR="0" marB="0" marT="2235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297180">
                        <a:lnSpc>
                          <a:spcPts val="3120"/>
                        </a:lnSpc>
                        <a:spcBef>
                          <a:spcPts val="204"/>
                        </a:spcBef>
                      </a:pPr>
                      <a:r>
                        <a:rPr dirty="0" sz="2000" spc="-10">
                          <a:solidFill>
                            <a:srgbClr val="40458B"/>
                          </a:solidFill>
                          <a:latin typeface="Tahoma"/>
                          <a:cs typeface="Tahoma"/>
                        </a:rPr>
                        <a:t>MIPS</a:t>
                      </a:r>
                      <a:r>
                        <a:rPr dirty="0" sz="2000" spc="-10">
                          <a:solidFill>
                            <a:srgbClr val="40458B"/>
                          </a:solidFill>
                          <a:latin typeface="黑体"/>
                          <a:cs typeface="黑体"/>
                        </a:rPr>
                        <a:t>，</a:t>
                      </a:r>
                      <a:r>
                        <a:rPr dirty="0" sz="2000" spc="-10">
                          <a:solidFill>
                            <a:srgbClr val="40458B"/>
                          </a:solidFill>
                          <a:latin typeface="Tahoma"/>
                          <a:cs typeface="Tahoma"/>
                        </a:rPr>
                        <a:t>SPARC</a:t>
                      </a:r>
                      <a:r>
                        <a:rPr dirty="0" sz="2000" spc="-10">
                          <a:solidFill>
                            <a:srgbClr val="40458B"/>
                          </a:solidFill>
                          <a:latin typeface="黑体"/>
                          <a:cs typeface="黑体"/>
                        </a:rPr>
                        <a:t>，</a:t>
                      </a:r>
                      <a:r>
                        <a:rPr dirty="0" sz="2000" spc="-10">
                          <a:solidFill>
                            <a:srgbClr val="40458B"/>
                          </a:solidFill>
                          <a:latin typeface="Tahoma"/>
                          <a:cs typeface="Tahoma"/>
                        </a:rPr>
                        <a:t>Alpha</a:t>
                      </a:r>
                      <a:r>
                        <a:rPr dirty="0" sz="2000" spc="-10">
                          <a:solidFill>
                            <a:srgbClr val="40458B"/>
                          </a:solidFill>
                          <a:latin typeface="黑体"/>
                          <a:cs typeface="黑体"/>
                        </a:rPr>
                        <a:t>， </a:t>
                      </a:r>
                      <a:r>
                        <a:rPr dirty="0" sz="2000" spc="-10">
                          <a:solidFill>
                            <a:srgbClr val="40458B"/>
                          </a:solidFill>
                          <a:latin typeface="Tahoma"/>
                          <a:cs typeface="Tahoma"/>
                        </a:rPr>
                        <a:t>PowerPC</a:t>
                      </a:r>
                      <a:r>
                        <a:rPr dirty="0" sz="2000" spc="-10">
                          <a:solidFill>
                            <a:srgbClr val="40458B"/>
                          </a:solidFill>
                          <a:latin typeface="黑体"/>
                          <a:cs typeface="黑体"/>
                        </a:rPr>
                        <a:t>，</a:t>
                      </a:r>
                      <a:r>
                        <a:rPr dirty="0" sz="2000" spc="-10">
                          <a:solidFill>
                            <a:srgbClr val="40458B"/>
                          </a:solidFill>
                          <a:latin typeface="Tahoma"/>
                          <a:cs typeface="Tahoma"/>
                        </a:rPr>
                        <a:t>ARM</a:t>
                      </a:r>
                      <a:endParaRPr sz="2000">
                        <a:latin typeface="Tahoma"/>
                        <a:cs typeface="Tahoma"/>
                      </a:endParaRPr>
                    </a:p>
                  </a:txBody>
                  <a:tcPr marL="0" marR="0" marB="0" marT="26034">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83919">
                <a:tc rowSpan="2">
                  <a:txBody>
                    <a:bodyPr/>
                    <a:lstStyle/>
                    <a:p>
                      <a:pPr>
                        <a:lnSpc>
                          <a:spcPct val="100000"/>
                        </a:lnSpc>
                      </a:pPr>
                      <a:endParaRPr sz="2000">
                        <a:latin typeface="Times New Roman"/>
                        <a:cs typeface="Times New Roman"/>
                      </a:endParaRPr>
                    </a:p>
                    <a:p>
                      <a:pPr>
                        <a:lnSpc>
                          <a:spcPct val="100000"/>
                        </a:lnSpc>
                        <a:spcBef>
                          <a:spcPts val="420"/>
                        </a:spcBef>
                      </a:pPr>
                      <a:endParaRPr sz="2000">
                        <a:latin typeface="Times New Roman"/>
                        <a:cs typeface="Times New Roman"/>
                      </a:endParaRPr>
                    </a:p>
                    <a:p>
                      <a:pPr algn="ctr" marL="1270">
                        <a:lnSpc>
                          <a:spcPct val="100000"/>
                        </a:lnSpc>
                        <a:spcBef>
                          <a:spcPts val="5"/>
                        </a:spcBef>
                      </a:pPr>
                      <a:r>
                        <a:rPr dirty="0" sz="2000" spc="-50">
                          <a:solidFill>
                            <a:srgbClr val="40458B"/>
                          </a:solidFill>
                          <a:latin typeface="Tahoma"/>
                          <a:cs typeface="Tahoma"/>
                        </a:rPr>
                        <a:t>1</a:t>
                      </a:r>
                      <a:endParaRPr sz="2000">
                        <a:latin typeface="Tahoma"/>
                        <a:cs typeface="Tahoma"/>
                      </a:endParaRPr>
                    </a:p>
                  </a:txBody>
                  <a:tcPr marL="0" marR="0" marB="0" marT="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765"/>
                        </a:spcBef>
                      </a:pPr>
                      <a:r>
                        <a:rPr dirty="0" sz="2000" spc="-50">
                          <a:solidFill>
                            <a:srgbClr val="40458B"/>
                          </a:solidFill>
                          <a:latin typeface="Tahoma"/>
                          <a:cs typeface="Tahoma"/>
                        </a:rPr>
                        <a:t>2</a:t>
                      </a:r>
                      <a:endParaRPr sz="2000">
                        <a:latin typeface="Tahoma"/>
                        <a:cs typeface="Tahoma"/>
                      </a:endParaRPr>
                    </a:p>
                  </a:txBody>
                  <a:tcPr marL="0" marR="0" marB="0" marT="2241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765"/>
                        </a:spcBef>
                      </a:pPr>
                      <a:r>
                        <a:rPr dirty="0" sz="2000" spc="-25">
                          <a:solidFill>
                            <a:srgbClr val="40458B"/>
                          </a:solidFill>
                          <a:latin typeface="Tahoma"/>
                          <a:cs typeface="Tahoma"/>
                        </a:rPr>
                        <a:t>RM</a:t>
                      </a:r>
                      <a:endParaRPr sz="2000">
                        <a:latin typeface="Tahoma"/>
                        <a:cs typeface="Tahoma"/>
                      </a:endParaRPr>
                    </a:p>
                  </a:txBody>
                  <a:tcPr marL="0" marR="0" marB="0" marT="2241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314325">
                        <a:lnSpc>
                          <a:spcPts val="3120"/>
                        </a:lnSpc>
                        <a:spcBef>
                          <a:spcPts val="210"/>
                        </a:spcBef>
                      </a:pPr>
                      <a:r>
                        <a:rPr dirty="0" sz="2000">
                          <a:solidFill>
                            <a:srgbClr val="40458B"/>
                          </a:solidFill>
                          <a:latin typeface="Tahoma"/>
                          <a:cs typeface="Tahoma"/>
                        </a:rPr>
                        <a:t>IBM</a:t>
                      </a:r>
                      <a:r>
                        <a:rPr dirty="0" sz="2000" spc="-15">
                          <a:solidFill>
                            <a:srgbClr val="40458B"/>
                          </a:solidFill>
                          <a:latin typeface="Tahoma"/>
                          <a:cs typeface="Tahoma"/>
                        </a:rPr>
                        <a:t> </a:t>
                      </a:r>
                      <a:r>
                        <a:rPr dirty="0" sz="2000" spc="-10">
                          <a:solidFill>
                            <a:srgbClr val="40458B"/>
                          </a:solidFill>
                          <a:latin typeface="Tahoma"/>
                          <a:cs typeface="Tahoma"/>
                        </a:rPr>
                        <a:t>360/370</a:t>
                      </a:r>
                      <a:r>
                        <a:rPr dirty="0" sz="2000" spc="-10">
                          <a:solidFill>
                            <a:srgbClr val="40458B"/>
                          </a:solidFill>
                          <a:latin typeface="黑体"/>
                          <a:cs typeface="黑体"/>
                        </a:rPr>
                        <a:t>，</a:t>
                      </a:r>
                      <a:r>
                        <a:rPr dirty="0" sz="2000" spc="-10">
                          <a:solidFill>
                            <a:srgbClr val="40458B"/>
                          </a:solidFill>
                          <a:latin typeface="Tahoma"/>
                          <a:cs typeface="Tahoma"/>
                        </a:rPr>
                        <a:t>Intel </a:t>
                      </a:r>
                      <a:r>
                        <a:rPr dirty="0" sz="2000">
                          <a:solidFill>
                            <a:srgbClr val="40458B"/>
                          </a:solidFill>
                          <a:latin typeface="Tahoma"/>
                          <a:cs typeface="Tahoma"/>
                        </a:rPr>
                        <a:t>80x86</a:t>
                      </a:r>
                      <a:r>
                        <a:rPr dirty="0" sz="2000">
                          <a:solidFill>
                            <a:srgbClr val="40458B"/>
                          </a:solidFill>
                          <a:latin typeface="黑体"/>
                          <a:cs typeface="黑体"/>
                        </a:rPr>
                        <a:t>，</a:t>
                      </a:r>
                      <a:r>
                        <a:rPr dirty="0" sz="2000">
                          <a:solidFill>
                            <a:srgbClr val="40458B"/>
                          </a:solidFill>
                          <a:latin typeface="Tahoma"/>
                          <a:cs typeface="Tahoma"/>
                        </a:rPr>
                        <a:t>Motorola</a:t>
                      </a:r>
                      <a:r>
                        <a:rPr dirty="0" sz="2000" spc="-105">
                          <a:solidFill>
                            <a:srgbClr val="40458B"/>
                          </a:solidFill>
                          <a:latin typeface="Tahoma"/>
                          <a:cs typeface="Tahoma"/>
                        </a:rPr>
                        <a:t> </a:t>
                      </a:r>
                      <a:r>
                        <a:rPr dirty="0" sz="2000" spc="-20">
                          <a:solidFill>
                            <a:srgbClr val="40458B"/>
                          </a:solidFill>
                          <a:latin typeface="Tahoma"/>
                          <a:cs typeface="Tahoma"/>
                        </a:rPr>
                        <a:t>68000</a:t>
                      </a:r>
                      <a:endParaRPr sz="2000">
                        <a:latin typeface="Tahoma"/>
                        <a:cs typeface="Tahoma"/>
                      </a:endParaRPr>
                    </a:p>
                  </a:txBody>
                  <a:tcPr marL="0" marR="0" marB="0" marT="2667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692150">
                <a:tc vMerge="1">
                  <a:txBody>
                    <a:bodyPr/>
                    <a:lstStyle/>
                    <a:p>
                      <a:pPr/>
                    </a:p>
                  </a:txBody>
                  <a:tcPr marL="0" marR="0" marB="0" marT="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765"/>
                        </a:spcBef>
                      </a:pPr>
                      <a:r>
                        <a:rPr dirty="0" sz="2000" spc="-50">
                          <a:solidFill>
                            <a:srgbClr val="40458B"/>
                          </a:solidFill>
                          <a:latin typeface="Tahoma"/>
                          <a:cs typeface="Tahoma"/>
                        </a:rPr>
                        <a:t>3</a:t>
                      </a:r>
                      <a:endParaRPr sz="2000">
                        <a:latin typeface="Tahoma"/>
                        <a:cs typeface="Tahoma"/>
                      </a:endParaRPr>
                    </a:p>
                  </a:txBody>
                  <a:tcPr marL="0" marR="0" marB="0" marT="2241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765"/>
                        </a:spcBef>
                      </a:pPr>
                      <a:r>
                        <a:rPr dirty="0" sz="2000" spc="-25">
                          <a:solidFill>
                            <a:srgbClr val="40458B"/>
                          </a:solidFill>
                          <a:latin typeface="Tahoma"/>
                          <a:cs typeface="Tahoma"/>
                        </a:rPr>
                        <a:t>RM</a:t>
                      </a:r>
                      <a:endParaRPr sz="2000">
                        <a:latin typeface="Tahoma"/>
                        <a:cs typeface="Tahoma"/>
                      </a:endParaRPr>
                    </a:p>
                  </a:txBody>
                  <a:tcPr marL="0" marR="0" marB="0" marT="2241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1765"/>
                        </a:spcBef>
                      </a:pPr>
                      <a:r>
                        <a:rPr dirty="0" sz="2000">
                          <a:solidFill>
                            <a:srgbClr val="40458B"/>
                          </a:solidFill>
                          <a:latin typeface="Tahoma"/>
                          <a:cs typeface="Tahoma"/>
                        </a:rPr>
                        <a:t>IBM</a:t>
                      </a:r>
                      <a:r>
                        <a:rPr dirty="0" sz="2000" spc="-15">
                          <a:solidFill>
                            <a:srgbClr val="40458B"/>
                          </a:solidFill>
                          <a:latin typeface="Tahoma"/>
                          <a:cs typeface="Tahoma"/>
                        </a:rPr>
                        <a:t> </a:t>
                      </a:r>
                      <a:r>
                        <a:rPr dirty="0" sz="2000" spc="-10">
                          <a:solidFill>
                            <a:srgbClr val="40458B"/>
                          </a:solidFill>
                          <a:latin typeface="Tahoma"/>
                          <a:cs typeface="Tahoma"/>
                        </a:rPr>
                        <a:t>360/370</a:t>
                      </a:r>
                      <a:endParaRPr sz="2000">
                        <a:latin typeface="Tahoma"/>
                        <a:cs typeface="Tahoma"/>
                      </a:endParaRPr>
                    </a:p>
                  </a:txBody>
                  <a:tcPr marL="0" marR="0" marB="0" marT="22415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720725">
                <a:tc>
                  <a:txBody>
                    <a:bodyPr/>
                    <a:lstStyle/>
                    <a:p>
                      <a:pPr algn="ctr" marL="1270">
                        <a:lnSpc>
                          <a:spcPct val="100000"/>
                        </a:lnSpc>
                        <a:spcBef>
                          <a:spcPts val="1764"/>
                        </a:spcBef>
                      </a:pPr>
                      <a:r>
                        <a:rPr dirty="0" sz="2000" spc="-50">
                          <a:solidFill>
                            <a:srgbClr val="40458B"/>
                          </a:solidFill>
                          <a:latin typeface="Tahoma"/>
                          <a:cs typeface="Tahoma"/>
                        </a:rPr>
                        <a:t>2</a:t>
                      </a:r>
                      <a:endParaRPr sz="2000">
                        <a:latin typeface="Tahoma"/>
                        <a:cs typeface="Tahoma"/>
                      </a:endParaRPr>
                    </a:p>
                  </a:txBody>
                  <a:tcPr marL="0" marR="0" marB="0" marT="224154">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764"/>
                        </a:spcBef>
                      </a:pPr>
                      <a:r>
                        <a:rPr dirty="0" sz="2000" spc="-50">
                          <a:solidFill>
                            <a:srgbClr val="40458B"/>
                          </a:solidFill>
                          <a:latin typeface="Tahoma"/>
                          <a:cs typeface="Tahoma"/>
                        </a:rPr>
                        <a:t>2</a:t>
                      </a:r>
                      <a:endParaRPr sz="2000">
                        <a:latin typeface="Tahoma"/>
                        <a:cs typeface="Tahoma"/>
                      </a:endParaRPr>
                    </a:p>
                  </a:txBody>
                  <a:tcPr marL="0" marR="0" marB="0" marT="224154">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1764"/>
                        </a:spcBef>
                      </a:pPr>
                      <a:r>
                        <a:rPr dirty="0" sz="2000" spc="-25">
                          <a:solidFill>
                            <a:srgbClr val="40458B"/>
                          </a:solidFill>
                          <a:latin typeface="Tahoma"/>
                          <a:cs typeface="Tahoma"/>
                        </a:rPr>
                        <a:t>MM</a:t>
                      </a:r>
                      <a:endParaRPr sz="2000">
                        <a:latin typeface="Tahoma"/>
                        <a:cs typeface="Tahoma"/>
                      </a:endParaRPr>
                    </a:p>
                  </a:txBody>
                  <a:tcPr marL="0" marR="0" marB="0" marT="224154">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1625"/>
                        </a:spcBef>
                      </a:pPr>
                      <a:r>
                        <a:rPr dirty="0" sz="2000" spc="-25">
                          <a:solidFill>
                            <a:srgbClr val="40458B"/>
                          </a:solidFill>
                          <a:latin typeface="Tahoma"/>
                          <a:cs typeface="Tahoma"/>
                        </a:rPr>
                        <a:t>VAX</a:t>
                      </a:r>
                      <a:endParaRPr sz="2000">
                        <a:latin typeface="Tahoma"/>
                        <a:cs typeface="Tahoma"/>
                      </a:endParaRPr>
                    </a:p>
                  </a:txBody>
                  <a:tcPr marL="0" marR="0" marB="0" marT="20637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687070">
                <a:tc>
                  <a:txBody>
                    <a:bodyPr/>
                    <a:lstStyle/>
                    <a:p>
                      <a:pPr algn="ctr" marL="1270">
                        <a:lnSpc>
                          <a:spcPct val="100000"/>
                        </a:lnSpc>
                        <a:spcBef>
                          <a:spcPts val="1770"/>
                        </a:spcBef>
                      </a:pPr>
                      <a:r>
                        <a:rPr dirty="0" sz="2000" spc="-50">
                          <a:solidFill>
                            <a:srgbClr val="40458B"/>
                          </a:solidFill>
                          <a:latin typeface="Tahoma"/>
                          <a:cs typeface="Tahoma"/>
                        </a:rPr>
                        <a:t>3</a:t>
                      </a:r>
                      <a:endParaRPr sz="2000">
                        <a:latin typeface="Tahoma"/>
                        <a:cs typeface="Tahoma"/>
                      </a:endParaRPr>
                    </a:p>
                  </a:txBody>
                  <a:tcPr marL="0" marR="0" marB="0" marT="22479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1770"/>
                        </a:spcBef>
                      </a:pPr>
                      <a:r>
                        <a:rPr dirty="0" sz="2000" spc="-50">
                          <a:solidFill>
                            <a:srgbClr val="40458B"/>
                          </a:solidFill>
                          <a:latin typeface="Tahoma"/>
                          <a:cs typeface="Tahoma"/>
                        </a:rPr>
                        <a:t>3</a:t>
                      </a:r>
                      <a:endParaRPr sz="2000">
                        <a:latin typeface="Tahoma"/>
                        <a:cs typeface="Tahoma"/>
                      </a:endParaRPr>
                    </a:p>
                  </a:txBody>
                  <a:tcPr marL="0" marR="0" marB="0" marT="22479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270">
                        <a:lnSpc>
                          <a:spcPct val="100000"/>
                        </a:lnSpc>
                        <a:spcBef>
                          <a:spcPts val="1770"/>
                        </a:spcBef>
                      </a:pPr>
                      <a:r>
                        <a:rPr dirty="0" sz="2000" spc="-25">
                          <a:solidFill>
                            <a:srgbClr val="40458B"/>
                          </a:solidFill>
                          <a:latin typeface="Tahoma"/>
                          <a:cs typeface="Tahoma"/>
                        </a:rPr>
                        <a:t>MM</a:t>
                      </a:r>
                      <a:endParaRPr sz="2000">
                        <a:latin typeface="Tahoma"/>
                        <a:cs typeface="Tahoma"/>
                      </a:endParaRPr>
                    </a:p>
                  </a:txBody>
                  <a:tcPr marL="0" marR="0" marB="0" marT="22479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0805">
                        <a:lnSpc>
                          <a:spcPct val="100000"/>
                        </a:lnSpc>
                        <a:spcBef>
                          <a:spcPts val="1625"/>
                        </a:spcBef>
                      </a:pPr>
                      <a:r>
                        <a:rPr dirty="0" sz="2000" spc="-25">
                          <a:solidFill>
                            <a:srgbClr val="40458B"/>
                          </a:solidFill>
                          <a:latin typeface="Tahoma"/>
                          <a:cs typeface="Tahoma"/>
                        </a:rPr>
                        <a:t>VAX</a:t>
                      </a:r>
                      <a:endParaRPr sz="2000">
                        <a:latin typeface="Tahoma"/>
                        <a:cs typeface="Tahoma"/>
                      </a:endParaRPr>
                    </a:p>
                  </a:txBody>
                  <a:tcPr marL="0" marR="0" marB="0" marT="206375">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3" name="object 3"/>
          <p:cNvSpPr txBox="1">
            <a:spLocks noGrp="1"/>
          </p:cNvSpPr>
          <p:nvPr>
            <p:ph type="title"/>
          </p:nvPr>
        </p:nvSpPr>
        <p:spPr>
          <a:xfrm>
            <a:off x="2136394" y="630682"/>
            <a:ext cx="7646034" cy="391160"/>
          </a:xfrm>
          <a:prstGeom prst="rect"/>
        </p:spPr>
        <p:txBody>
          <a:bodyPr wrap="square" lIns="0" tIns="12700" rIns="0" bIns="0" rtlCol="0" vert="horz">
            <a:spAutoFit/>
          </a:bodyPr>
          <a:lstStyle/>
          <a:p>
            <a:pPr marL="12700">
              <a:lnSpc>
                <a:spcPct val="100000"/>
              </a:lnSpc>
              <a:spcBef>
                <a:spcPts val="100"/>
              </a:spcBef>
              <a:tabLst>
                <a:tab pos="469265" algn="l"/>
              </a:tabLst>
            </a:pPr>
            <a:r>
              <a:rPr dirty="0" u="none" sz="2400" spc="-25" b="0">
                <a:solidFill>
                  <a:srgbClr val="40458B"/>
                </a:solidFill>
                <a:latin typeface="黑体"/>
                <a:cs typeface="黑体"/>
              </a:rPr>
              <a:t>7.</a:t>
            </a:r>
            <a:r>
              <a:rPr dirty="0" u="none" sz="2400" b="0">
                <a:solidFill>
                  <a:srgbClr val="40458B"/>
                </a:solidFill>
                <a:latin typeface="黑体"/>
                <a:cs typeface="黑体"/>
              </a:rPr>
              <a:t>	</a:t>
            </a:r>
            <a:r>
              <a:rPr dirty="0" u="none" sz="2400" b="0">
                <a:solidFill>
                  <a:srgbClr val="001F5F"/>
                </a:solidFill>
                <a:latin typeface="黑体"/>
                <a:cs typeface="黑体"/>
              </a:rPr>
              <a:t>ALU</a:t>
            </a:r>
            <a:r>
              <a:rPr dirty="0" u="none" sz="2400" spc="-5" b="0">
                <a:solidFill>
                  <a:srgbClr val="001F5F"/>
                </a:solidFill>
                <a:latin typeface="黑体"/>
                <a:cs typeface="黑体"/>
              </a:rPr>
              <a:t>指令中操作数个数和存储器操作数个数的典型组合</a:t>
            </a:r>
            <a:endParaRPr sz="2400">
              <a:latin typeface="黑体"/>
              <a:cs typeface="黑体"/>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2.1</a:t>
            </a:r>
            <a:r>
              <a:rPr dirty="0" spc="-35">
                <a:solidFill>
                  <a:srgbClr val="4F55AC"/>
                </a:solidFill>
              </a:rPr>
              <a:t> </a:t>
            </a:r>
            <a:r>
              <a:rPr dirty="0">
                <a:solidFill>
                  <a:srgbClr val="4F55AC"/>
                </a:solidFill>
                <a:latin typeface="微软雅黑"/>
                <a:cs typeface="微软雅黑"/>
              </a:rPr>
              <a:t>指令系统结构的分</a:t>
            </a:r>
            <a:r>
              <a:rPr dirty="0" spc="-50">
                <a:solidFill>
                  <a:srgbClr val="4F55AC"/>
                </a:solidFill>
                <a:latin typeface="微软雅黑"/>
                <a:cs typeface="微软雅黑"/>
              </a:rPr>
              <a:t>类</a:t>
            </a:r>
            <a:r>
              <a:rPr dirty="0">
                <a:solidFill>
                  <a:srgbClr val="4F55AC"/>
                </a:solidFill>
                <a:latin typeface="微软雅黑"/>
                <a:cs typeface="微软雅黑"/>
              </a:rPr>
              <a:t>	</a:t>
            </a:r>
          </a:p>
        </p:txBody>
      </p:sp>
      <p:sp>
        <p:nvSpPr>
          <p:cNvPr id="4" name="object 4" descr=""/>
          <p:cNvSpPr txBox="1"/>
          <p:nvPr/>
        </p:nvSpPr>
        <p:spPr>
          <a:xfrm>
            <a:off x="1998345" y="1222489"/>
            <a:ext cx="7868920" cy="3312160"/>
          </a:xfrm>
          <a:prstGeom prst="rect">
            <a:avLst/>
          </a:prstGeom>
        </p:spPr>
        <p:txBody>
          <a:bodyPr wrap="square" lIns="0" tIns="182245" rIns="0" bIns="0" rtlCol="0" vert="horz">
            <a:spAutoFit/>
          </a:bodyPr>
          <a:lstStyle/>
          <a:p>
            <a:pPr marL="469265" indent="-456565">
              <a:lnSpc>
                <a:spcPct val="100000"/>
              </a:lnSpc>
              <a:spcBef>
                <a:spcPts val="1435"/>
              </a:spcBef>
              <a:buClr>
                <a:srgbClr val="40458B"/>
              </a:buClr>
              <a:buSzPct val="117857"/>
              <a:buFont typeface="Tahoma"/>
              <a:buAutoNum type="arabicPeriod" startAt="8"/>
              <a:tabLst>
                <a:tab pos="469265" algn="l"/>
              </a:tabLst>
            </a:pPr>
            <a:r>
              <a:rPr dirty="0" sz="2800" spc="-35">
                <a:solidFill>
                  <a:srgbClr val="172152"/>
                </a:solidFill>
                <a:latin typeface="黑体"/>
                <a:cs typeface="黑体"/>
              </a:rPr>
              <a:t>通用寄存器型结构进一步细分为</a:t>
            </a:r>
            <a:r>
              <a:rPr dirty="0" sz="2800" spc="-10">
                <a:solidFill>
                  <a:srgbClr val="172152"/>
                </a:solidFill>
                <a:latin typeface="黑体"/>
                <a:cs typeface="黑体"/>
              </a:rPr>
              <a:t>3</a:t>
            </a:r>
            <a:r>
              <a:rPr dirty="0" sz="2800" spc="-40">
                <a:solidFill>
                  <a:srgbClr val="172152"/>
                </a:solidFill>
                <a:latin typeface="黑体"/>
                <a:cs typeface="黑体"/>
              </a:rPr>
              <a:t>种类型</a:t>
            </a:r>
            <a:endParaRPr sz="2800">
              <a:latin typeface="黑体"/>
              <a:cs typeface="黑体"/>
            </a:endParaRPr>
          </a:p>
          <a:p>
            <a:pPr lvl="1" marL="1099185" indent="-457200">
              <a:lnSpc>
                <a:spcPct val="100000"/>
              </a:lnSpc>
              <a:spcBef>
                <a:spcPts val="1345"/>
              </a:spcBef>
              <a:buSzPct val="88636"/>
              <a:buFont typeface="Wingdings"/>
              <a:buChar char=""/>
              <a:tabLst>
                <a:tab pos="1099185" algn="l"/>
              </a:tabLst>
            </a:pPr>
            <a:r>
              <a:rPr dirty="0" sz="2200" spc="-30">
                <a:solidFill>
                  <a:srgbClr val="006FC0"/>
                </a:solidFill>
                <a:latin typeface="黑体"/>
                <a:cs typeface="黑体"/>
              </a:rPr>
              <a:t>寄存器－寄存器型</a:t>
            </a:r>
            <a:r>
              <a:rPr dirty="0" sz="2200" spc="-10">
                <a:solidFill>
                  <a:srgbClr val="006FC0"/>
                </a:solidFill>
                <a:latin typeface="黑体"/>
                <a:cs typeface="黑体"/>
              </a:rPr>
              <a:t>（</a:t>
            </a:r>
            <a:r>
              <a:rPr dirty="0" sz="2200" spc="-10">
                <a:solidFill>
                  <a:srgbClr val="9933FF"/>
                </a:solidFill>
                <a:latin typeface="黑体"/>
                <a:cs typeface="黑体"/>
              </a:rPr>
              <a:t>RR</a:t>
            </a:r>
            <a:r>
              <a:rPr dirty="0" sz="2200" spc="-20">
                <a:solidFill>
                  <a:srgbClr val="006FC0"/>
                </a:solidFill>
                <a:latin typeface="黑体"/>
                <a:cs typeface="黑体"/>
              </a:rPr>
              <a:t>型</a:t>
            </a:r>
            <a:r>
              <a:rPr dirty="0" sz="2200" spc="-50">
                <a:solidFill>
                  <a:srgbClr val="006FC0"/>
                </a:solidFill>
                <a:latin typeface="黑体"/>
                <a:cs typeface="黑体"/>
              </a:rPr>
              <a:t>）</a:t>
            </a:r>
            <a:endParaRPr sz="2200">
              <a:latin typeface="黑体"/>
              <a:cs typeface="黑体"/>
            </a:endParaRPr>
          </a:p>
          <a:p>
            <a:pPr lvl="1" marL="1099185" indent="-457200">
              <a:lnSpc>
                <a:spcPct val="100000"/>
              </a:lnSpc>
              <a:spcBef>
                <a:spcPts val="1320"/>
              </a:spcBef>
              <a:buSzPct val="88636"/>
              <a:buFont typeface="Wingdings"/>
              <a:buChar char=""/>
              <a:tabLst>
                <a:tab pos="1099185" algn="l"/>
              </a:tabLst>
            </a:pPr>
            <a:r>
              <a:rPr dirty="0" sz="2200" spc="-30">
                <a:solidFill>
                  <a:srgbClr val="006FC0"/>
                </a:solidFill>
                <a:latin typeface="黑体"/>
                <a:cs typeface="黑体"/>
              </a:rPr>
              <a:t>寄存器－存储器型</a:t>
            </a:r>
            <a:r>
              <a:rPr dirty="0" sz="2200" spc="-10">
                <a:solidFill>
                  <a:srgbClr val="006FC0"/>
                </a:solidFill>
                <a:latin typeface="黑体"/>
                <a:cs typeface="黑体"/>
              </a:rPr>
              <a:t>（</a:t>
            </a:r>
            <a:r>
              <a:rPr dirty="0" sz="2200" spc="-10">
                <a:solidFill>
                  <a:srgbClr val="9933FF"/>
                </a:solidFill>
                <a:latin typeface="黑体"/>
                <a:cs typeface="黑体"/>
              </a:rPr>
              <a:t>RM</a:t>
            </a:r>
            <a:r>
              <a:rPr dirty="0" sz="2200" spc="-20">
                <a:solidFill>
                  <a:srgbClr val="006FC0"/>
                </a:solidFill>
                <a:latin typeface="黑体"/>
                <a:cs typeface="黑体"/>
              </a:rPr>
              <a:t>型</a:t>
            </a:r>
            <a:r>
              <a:rPr dirty="0" sz="2200" spc="-50">
                <a:solidFill>
                  <a:srgbClr val="006FC0"/>
                </a:solidFill>
                <a:latin typeface="黑体"/>
                <a:cs typeface="黑体"/>
              </a:rPr>
              <a:t>）</a:t>
            </a:r>
            <a:endParaRPr sz="2200">
              <a:latin typeface="黑体"/>
              <a:cs typeface="黑体"/>
            </a:endParaRPr>
          </a:p>
          <a:p>
            <a:pPr lvl="1" marL="1099185" indent="-457200">
              <a:lnSpc>
                <a:spcPct val="100000"/>
              </a:lnSpc>
              <a:spcBef>
                <a:spcPts val="1320"/>
              </a:spcBef>
              <a:buSzPct val="88636"/>
              <a:buFont typeface="Wingdings"/>
              <a:buChar char=""/>
              <a:tabLst>
                <a:tab pos="1099185" algn="l"/>
              </a:tabLst>
            </a:pPr>
            <a:r>
              <a:rPr dirty="0" sz="2200" spc="-30">
                <a:solidFill>
                  <a:srgbClr val="006FC0"/>
                </a:solidFill>
                <a:latin typeface="黑体"/>
                <a:cs typeface="黑体"/>
              </a:rPr>
              <a:t>存储器－存储器型</a:t>
            </a:r>
            <a:r>
              <a:rPr dirty="0" sz="2200" spc="-10">
                <a:solidFill>
                  <a:srgbClr val="006FC0"/>
                </a:solidFill>
                <a:latin typeface="黑体"/>
                <a:cs typeface="黑体"/>
              </a:rPr>
              <a:t>（</a:t>
            </a:r>
            <a:r>
              <a:rPr dirty="0" sz="2200" spc="-10">
                <a:solidFill>
                  <a:srgbClr val="9933FF"/>
                </a:solidFill>
                <a:latin typeface="黑体"/>
                <a:cs typeface="黑体"/>
              </a:rPr>
              <a:t>MM</a:t>
            </a:r>
            <a:r>
              <a:rPr dirty="0" sz="2200" spc="-20">
                <a:solidFill>
                  <a:srgbClr val="006FC0"/>
                </a:solidFill>
                <a:latin typeface="黑体"/>
                <a:cs typeface="黑体"/>
              </a:rPr>
              <a:t>型</a:t>
            </a:r>
            <a:r>
              <a:rPr dirty="0" sz="2200" spc="-50">
                <a:solidFill>
                  <a:srgbClr val="006FC0"/>
                </a:solidFill>
                <a:latin typeface="黑体"/>
                <a:cs typeface="黑体"/>
              </a:rPr>
              <a:t>）</a:t>
            </a:r>
            <a:endParaRPr sz="2200">
              <a:latin typeface="黑体"/>
              <a:cs typeface="黑体"/>
            </a:endParaRPr>
          </a:p>
          <a:p>
            <a:pPr marL="581025" indent="-568325">
              <a:lnSpc>
                <a:spcPct val="100000"/>
              </a:lnSpc>
              <a:spcBef>
                <a:spcPts val="1060"/>
              </a:spcBef>
              <a:buClr>
                <a:srgbClr val="40458B"/>
              </a:buClr>
              <a:buSzPct val="117857"/>
              <a:buFont typeface="Tahoma"/>
              <a:buAutoNum type="arabicPeriod" startAt="8"/>
              <a:tabLst>
                <a:tab pos="581025" algn="l"/>
              </a:tabLst>
            </a:pPr>
            <a:r>
              <a:rPr dirty="0" sz="2800" spc="-10">
                <a:solidFill>
                  <a:srgbClr val="172152"/>
                </a:solidFill>
                <a:latin typeface="黑体"/>
                <a:cs typeface="黑体"/>
              </a:rPr>
              <a:t>3</a:t>
            </a:r>
            <a:r>
              <a:rPr dirty="0" sz="2800" spc="-40">
                <a:solidFill>
                  <a:srgbClr val="172152"/>
                </a:solidFill>
                <a:latin typeface="黑体"/>
                <a:cs typeface="黑体"/>
              </a:rPr>
              <a:t>种通用寄存器型结构的优缺点</a:t>
            </a:r>
            <a:endParaRPr sz="2800">
              <a:latin typeface="黑体"/>
              <a:cs typeface="黑体"/>
            </a:endParaRPr>
          </a:p>
          <a:p>
            <a:pPr marL="1461770">
              <a:lnSpc>
                <a:spcPct val="100000"/>
              </a:lnSpc>
              <a:spcBef>
                <a:spcPts val="1255"/>
              </a:spcBef>
            </a:pPr>
            <a:r>
              <a:rPr dirty="0" sz="2000" spc="-10" b="1">
                <a:solidFill>
                  <a:srgbClr val="6F2F9F"/>
                </a:solidFill>
                <a:latin typeface="黑体"/>
                <a:cs typeface="黑体"/>
              </a:rPr>
              <a:t>表中</a:t>
            </a:r>
            <a:r>
              <a:rPr dirty="0" sz="2000" spc="-20" b="1">
                <a:solidFill>
                  <a:srgbClr val="9933FF"/>
                </a:solidFill>
                <a:latin typeface="黑体"/>
                <a:cs typeface="黑体"/>
              </a:rPr>
              <a:t>(m，n)</a:t>
            </a:r>
            <a:r>
              <a:rPr dirty="0" sz="2000" spc="-15" b="1">
                <a:solidFill>
                  <a:srgbClr val="6F2F9F"/>
                </a:solidFill>
                <a:latin typeface="黑体"/>
                <a:cs typeface="黑体"/>
              </a:rPr>
              <a:t>表示指令的</a:t>
            </a:r>
            <a:r>
              <a:rPr dirty="0" sz="2000" spc="-15" b="1">
                <a:solidFill>
                  <a:srgbClr val="9933FF"/>
                </a:solidFill>
                <a:latin typeface="黑体"/>
                <a:cs typeface="黑体"/>
              </a:rPr>
              <a:t>n</a:t>
            </a:r>
            <a:r>
              <a:rPr dirty="0" sz="2000" spc="-15" b="1">
                <a:solidFill>
                  <a:srgbClr val="6F2F9F"/>
                </a:solidFill>
                <a:latin typeface="黑体"/>
                <a:cs typeface="黑体"/>
              </a:rPr>
              <a:t>个操作数中有</a:t>
            </a:r>
            <a:r>
              <a:rPr dirty="0" sz="2000" spc="-15" b="1">
                <a:solidFill>
                  <a:srgbClr val="9933FF"/>
                </a:solidFill>
                <a:latin typeface="黑体"/>
                <a:cs typeface="黑体"/>
              </a:rPr>
              <a:t>m</a:t>
            </a:r>
            <a:r>
              <a:rPr dirty="0" sz="2000" spc="-20" b="1">
                <a:solidFill>
                  <a:srgbClr val="6F2F9F"/>
                </a:solidFill>
                <a:latin typeface="黑体"/>
                <a:cs typeface="黑体"/>
              </a:rPr>
              <a:t>个存储器操作数。</a:t>
            </a:r>
            <a:endParaRPr sz="2000">
              <a:latin typeface="黑体"/>
              <a:cs typeface="黑体"/>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2023872" y="5255529"/>
            <a:ext cx="8034655" cy="1299210"/>
          </a:xfrm>
          <a:prstGeom prst="rect">
            <a:avLst/>
          </a:prstGeom>
        </p:spPr>
        <p:txBody>
          <a:bodyPr wrap="square" lIns="0" tIns="0" rIns="0" bIns="0" rtlCol="0" vert="horz">
            <a:spAutoFit/>
          </a:bodyPr>
          <a:lstStyle/>
          <a:p>
            <a:pPr>
              <a:lnSpc>
                <a:spcPts val="1945"/>
              </a:lnSpc>
              <a:tabLst>
                <a:tab pos="2001520" algn="l"/>
                <a:tab pos="4812030" algn="l"/>
              </a:tabLst>
            </a:pPr>
            <a:r>
              <a:rPr dirty="0" sz="1800" spc="-10" b="1">
                <a:solidFill>
                  <a:srgbClr val="008000"/>
                </a:solidFill>
                <a:latin typeface="宋体"/>
                <a:cs typeface="宋体"/>
              </a:rPr>
              <a:t>储器－存储器</a:t>
            </a:r>
            <a:r>
              <a:rPr dirty="0" sz="1800" spc="-50" b="1">
                <a:solidFill>
                  <a:srgbClr val="008000"/>
                </a:solidFill>
                <a:latin typeface="宋体"/>
                <a:cs typeface="宋体"/>
              </a:rPr>
              <a:t>型</a:t>
            </a:r>
            <a:r>
              <a:rPr dirty="0" sz="1800" b="1">
                <a:solidFill>
                  <a:srgbClr val="008000"/>
                </a:solidFill>
                <a:latin typeface="宋体"/>
                <a:cs typeface="宋体"/>
              </a:rPr>
              <a:t>	</a:t>
            </a:r>
            <a:r>
              <a:rPr dirty="0" sz="1800" spc="-10" b="1">
                <a:solidFill>
                  <a:srgbClr val="40458B"/>
                </a:solidFill>
                <a:latin typeface="宋体"/>
                <a:cs typeface="宋体"/>
              </a:rPr>
              <a:t>目标代码最紧凑，不需</a:t>
            </a:r>
            <a:r>
              <a:rPr dirty="0" sz="1800" spc="-50" b="1">
                <a:solidFill>
                  <a:srgbClr val="40458B"/>
                </a:solidFill>
                <a:latin typeface="宋体"/>
                <a:cs typeface="宋体"/>
              </a:rPr>
              <a:t>要</a:t>
            </a:r>
            <a:r>
              <a:rPr dirty="0" sz="1800" b="1">
                <a:solidFill>
                  <a:srgbClr val="40458B"/>
                </a:solidFill>
                <a:latin typeface="宋体"/>
                <a:cs typeface="宋体"/>
              </a:rPr>
              <a:t>	</a:t>
            </a:r>
            <a:r>
              <a:rPr dirty="0" baseline="1543" sz="2700" spc="-15" b="1">
                <a:solidFill>
                  <a:srgbClr val="40458B"/>
                </a:solidFill>
                <a:latin typeface="宋体"/>
                <a:cs typeface="宋体"/>
              </a:rPr>
              <a:t>数指令。而且每条指令完成的</a:t>
            </a:r>
            <a:r>
              <a:rPr dirty="0" baseline="1543" sz="2700" spc="-75" b="1">
                <a:solidFill>
                  <a:srgbClr val="40458B"/>
                </a:solidFill>
                <a:latin typeface="宋体"/>
                <a:cs typeface="宋体"/>
              </a:rPr>
              <a:t>工</a:t>
            </a:r>
            <a:endParaRPr baseline="1543" sz="2700">
              <a:latin typeface="宋体"/>
              <a:cs typeface="宋体"/>
            </a:endParaRPr>
          </a:p>
          <a:p>
            <a:pPr marL="116839">
              <a:lnSpc>
                <a:spcPct val="100000"/>
              </a:lnSpc>
              <a:spcBef>
                <a:spcPts val="645"/>
              </a:spcBef>
              <a:tabLst>
                <a:tab pos="2001520" algn="l"/>
                <a:tab pos="4812030" algn="l"/>
              </a:tabLst>
            </a:pPr>
            <a:r>
              <a:rPr dirty="0" baseline="-13888" sz="2700" spc="-15" b="1">
                <a:solidFill>
                  <a:srgbClr val="008000"/>
                </a:solidFill>
                <a:latin typeface="宋体"/>
                <a:cs typeface="宋体"/>
              </a:rPr>
              <a:t>（2，2）</a:t>
            </a:r>
            <a:r>
              <a:rPr dirty="0" baseline="-13888" sz="2700" b="1">
                <a:solidFill>
                  <a:srgbClr val="008000"/>
                </a:solidFill>
                <a:latin typeface="宋体"/>
                <a:cs typeface="宋体"/>
              </a:rPr>
              <a:t>	</a:t>
            </a:r>
            <a:r>
              <a:rPr dirty="0" sz="1800" spc="-10" b="1">
                <a:solidFill>
                  <a:srgbClr val="40458B"/>
                </a:solidFill>
                <a:latin typeface="宋体"/>
                <a:cs typeface="宋体"/>
              </a:rPr>
              <a:t>设置寄存器来保存变量</a:t>
            </a:r>
            <a:r>
              <a:rPr dirty="0" sz="1800" spc="-50" b="1">
                <a:solidFill>
                  <a:srgbClr val="40458B"/>
                </a:solidFill>
                <a:latin typeface="宋体"/>
                <a:cs typeface="宋体"/>
              </a:rPr>
              <a:t>。</a:t>
            </a:r>
            <a:r>
              <a:rPr dirty="0" sz="1800" b="1">
                <a:solidFill>
                  <a:srgbClr val="40458B"/>
                </a:solidFill>
                <a:latin typeface="宋体"/>
                <a:cs typeface="宋体"/>
              </a:rPr>
              <a:t>	</a:t>
            </a:r>
            <a:r>
              <a:rPr dirty="0" baseline="1543" sz="2700" spc="-30" b="1">
                <a:solidFill>
                  <a:srgbClr val="40458B"/>
                </a:solidFill>
                <a:latin typeface="宋体"/>
                <a:cs typeface="宋体"/>
              </a:rPr>
              <a:t>也差别很大。对存储器的频繁</a:t>
            </a:r>
            <a:r>
              <a:rPr dirty="0" baseline="1543" sz="2700" spc="-75" b="1">
                <a:solidFill>
                  <a:srgbClr val="40458B"/>
                </a:solidFill>
                <a:latin typeface="宋体"/>
                <a:cs typeface="宋体"/>
              </a:rPr>
              <a:t>访</a:t>
            </a:r>
            <a:endParaRPr baseline="1543" sz="2700">
              <a:latin typeface="宋体"/>
              <a:cs typeface="宋体"/>
            </a:endParaRPr>
          </a:p>
          <a:p>
            <a:pPr marL="4812030" indent="-4810760">
              <a:lnSpc>
                <a:spcPts val="2810"/>
              </a:lnSpc>
              <a:tabLst>
                <a:tab pos="4812030" algn="l"/>
              </a:tabLst>
            </a:pPr>
            <a:r>
              <a:rPr dirty="0" baseline="-27777" sz="2700" spc="-15" b="1">
                <a:solidFill>
                  <a:srgbClr val="008000"/>
                </a:solidFill>
                <a:latin typeface="宋体"/>
                <a:cs typeface="宋体"/>
              </a:rPr>
              <a:t>或</a:t>
            </a:r>
            <a:r>
              <a:rPr dirty="0" baseline="-27777" sz="2700" spc="-30" b="1">
                <a:solidFill>
                  <a:srgbClr val="008000"/>
                </a:solidFill>
                <a:latin typeface="宋体"/>
                <a:cs typeface="宋体"/>
              </a:rPr>
              <a:t>（3，3）</a:t>
            </a:r>
            <a:r>
              <a:rPr dirty="0" baseline="-27777" sz="2700" b="1">
                <a:solidFill>
                  <a:srgbClr val="008000"/>
                </a:solidFill>
                <a:latin typeface="宋体"/>
                <a:cs typeface="宋体"/>
              </a:rPr>
              <a:t>	</a:t>
            </a:r>
            <a:r>
              <a:rPr dirty="0" sz="1800" spc="-10" b="1">
                <a:solidFill>
                  <a:srgbClr val="40458B"/>
                </a:solidFill>
                <a:latin typeface="宋体"/>
                <a:cs typeface="宋体"/>
              </a:rPr>
              <a:t>会使存储器成为瓶颈。</a:t>
            </a:r>
            <a:r>
              <a:rPr dirty="0" sz="1800" spc="-10" b="1">
                <a:solidFill>
                  <a:srgbClr val="FF0000"/>
                </a:solidFill>
                <a:latin typeface="宋体"/>
                <a:cs typeface="宋体"/>
              </a:rPr>
              <a:t>这种类</a:t>
            </a:r>
            <a:r>
              <a:rPr dirty="0" sz="1800" spc="-50" b="1">
                <a:solidFill>
                  <a:srgbClr val="FF0000"/>
                </a:solidFill>
                <a:latin typeface="宋体"/>
                <a:cs typeface="宋体"/>
              </a:rPr>
              <a:t>型</a:t>
            </a:r>
            <a:r>
              <a:rPr dirty="0" sz="1800" spc="-10" b="1">
                <a:solidFill>
                  <a:srgbClr val="FF0000"/>
                </a:solidFill>
                <a:latin typeface="宋体"/>
                <a:cs typeface="宋体"/>
              </a:rPr>
              <a:t>指令系统结构现在已不用了</a:t>
            </a:r>
            <a:r>
              <a:rPr dirty="0" sz="1800" spc="-50" b="1">
                <a:solidFill>
                  <a:srgbClr val="FF0000"/>
                </a:solidFill>
                <a:latin typeface="宋体"/>
                <a:cs typeface="宋体"/>
              </a:rPr>
              <a:t>。</a:t>
            </a:r>
            <a:endParaRPr sz="1800">
              <a:latin typeface="宋体"/>
              <a:cs typeface="宋体"/>
            </a:endParaRPr>
          </a:p>
        </p:txBody>
      </p:sp>
      <p:graphicFrame>
        <p:nvGraphicFramePr>
          <p:cNvPr id="3" name="object 3" descr=""/>
          <p:cNvGraphicFramePr>
            <a:graphicFrameLocks noGrp="1"/>
          </p:cNvGraphicFramePr>
          <p:nvPr/>
        </p:nvGraphicFramePr>
        <p:xfrm>
          <a:off x="1689163" y="319087"/>
          <a:ext cx="9146540" cy="6319519"/>
        </p:xfrm>
        <a:graphic>
          <a:graphicData uri="http://schemas.openxmlformats.org/drawingml/2006/table">
            <a:tbl>
              <a:tblPr firstRow="1" bandRow="1">
                <a:tableStyleId>{2D5ABB26-0587-4C30-8999-92F81FD0307C}</a:tableStyleId>
              </a:tblPr>
              <a:tblGrid>
                <a:gridCol w="144145"/>
                <a:gridCol w="2087245"/>
                <a:gridCol w="2973069"/>
                <a:gridCol w="3547110"/>
                <a:gridCol w="288290"/>
              </a:tblGrid>
              <a:tr h="532765">
                <a:tc gridSpan="2">
                  <a:txBody>
                    <a:bodyPr/>
                    <a:lstStyle/>
                    <a:p>
                      <a:pPr marL="92075">
                        <a:lnSpc>
                          <a:spcPct val="100000"/>
                        </a:lnSpc>
                        <a:spcBef>
                          <a:spcPts val="1050"/>
                        </a:spcBef>
                      </a:pPr>
                      <a:r>
                        <a:rPr dirty="0" sz="2000" spc="-20" b="1">
                          <a:solidFill>
                            <a:srgbClr val="E14B04"/>
                          </a:solidFill>
                          <a:latin typeface="宋体"/>
                          <a:cs typeface="宋体"/>
                        </a:rPr>
                        <a:t>指令系统结构类型</a:t>
                      </a:r>
                      <a:endParaRPr sz="2000">
                        <a:latin typeface="宋体"/>
                        <a:cs typeface="宋体"/>
                      </a:endParaRPr>
                    </a:p>
                  </a:txBody>
                  <a:tcPr marL="0" marR="0" marB="0" marT="13335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hMerge="1">
                  <a:txBody>
                    <a:bodyPr/>
                    <a:lstStyle/>
                    <a:p>
                      <a:pPr/>
                    </a:p>
                  </a:txBody>
                  <a:tcPr marL="0" marR="0" marB="0" marT="0"/>
                </a:tc>
                <a:tc>
                  <a:txBody>
                    <a:bodyPr/>
                    <a:lstStyle/>
                    <a:p>
                      <a:pPr algn="ctr" marR="158750">
                        <a:lnSpc>
                          <a:spcPct val="100000"/>
                        </a:lnSpc>
                        <a:spcBef>
                          <a:spcPts val="1050"/>
                        </a:spcBef>
                        <a:tabLst>
                          <a:tab pos="513715" algn="l"/>
                        </a:tabLst>
                      </a:pPr>
                      <a:r>
                        <a:rPr dirty="0" sz="2000" spc="-50" b="1">
                          <a:solidFill>
                            <a:srgbClr val="E14B04"/>
                          </a:solidFill>
                          <a:latin typeface="宋体"/>
                          <a:cs typeface="宋体"/>
                        </a:rPr>
                        <a:t>优</a:t>
                      </a:r>
                      <a:r>
                        <a:rPr dirty="0" sz="2000" b="1">
                          <a:solidFill>
                            <a:srgbClr val="E14B04"/>
                          </a:solidFill>
                          <a:latin typeface="宋体"/>
                          <a:cs typeface="宋体"/>
                        </a:rPr>
                        <a:t>	</a:t>
                      </a:r>
                      <a:r>
                        <a:rPr dirty="0" sz="2000" spc="-50" b="1">
                          <a:solidFill>
                            <a:srgbClr val="E14B04"/>
                          </a:solidFill>
                          <a:latin typeface="宋体"/>
                          <a:cs typeface="宋体"/>
                        </a:rPr>
                        <a:t>点</a:t>
                      </a:r>
                      <a:endParaRPr sz="2000">
                        <a:latin typeface="宋体"/>
                        <a:cs typeface="宋体"/>
                      </a:endParaRPr>
                    </a:p>
                  </a:txBody>
                  <a:tcPr marL="0" marR="0" marB="0" marT="13335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gridSpan="2">
                  <a:txBody>
                    <a:bodyPr/>
                    <a:lstStyle/>
                    <a:p>
                      <a:pPr algn="ctr" marL="1270">
                        <a:lnSpc>
                          <a:spcPct val="100000"/>
                        </a:lnSpc>
                        <a:spcBef>
                          <a:spcPts val="1050"/>
                        </a:spcBef>
                        <a:tabLst>
                          <a:tab pos="514984" algn="l"/>
                        </a:tabLst>
                      </a:pPr>
                      <a:r>
                        <a:rPr dirty="0" sz="2000" spc="-50" b="1">
                          <a:solidFill>
                            <a:srgbClr val="E14B04"/>
                          </a:solidFill>
                          <a:latin typeface="宋体"/>
                          <a:cs typeface="宋体"/>
                        </a:rPr>
                        <a:t>缺</a:t>
                      </a:r>
                      <a:r>
                        <a:rPr dirty="0" sz="2000" b="1">
                          <a:solidFill>
                            <a:srgbClr val="E14B04"/>
                          </a:solidFill>
                          <a:latin typeface="宋体"/>
                          <a:cs typeface="宋体"/>
                        </a:rPr>
                        <a:t>	</a:t>
                      </a:r>
                      <a:r>
                        <a:rPr dirty="0" sz="2000" spc="-50" b="1">
                          <a:solidFill>
                            <a:srgbClr val="E14B04"/>
                          </a:solidFill>
                          <a:latin typeface="宋体"/>
                          <a:cs typeface="宋体"/>
                        </a:rPr>
                        <a:t>点</a:t>
                      </a:r>
                      <a:endParaRPr sz="2000">
                        <a:latin typeface="宋体"/>
                        <a:cs typeface="宋体"/>
                      </a:endParaRPr>
                    </a:p>
                  </a:txBody>
                  <a:tcPr marL="0" marR="0" marB="0" marT="13335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c hMerge="1">
                  <a:txBody>
                    <a:bodyPr/>
                    <a:lstStyle/>
                    <a:p>
                      <a:pPr/>
                    </a:p>
                  </a:txBody>
                  <a:tcPr marL="0" marR="0" marB="0" marT="0"/>
                </a:tc>
              </a:tr>
              <a:tr h="1517650">
                <a:tc gridSpan="2">
                  <a:txBody>
                    <a:bodyPr/>
                    <a:lstStyle/>
                    <a:p>
                      <a:pPr>
                        <a:lnSpc>
                          <a:spcPct val="100000"/>
                        </a:lnSpc>
                      </a:pPr>
                      <a:endParaRPr sz="1800">
                        <a:latin typeface="Times New Roman"/>
                        <a:cs typeface="Times New Roman"/>
                      </a:endParaRPr>
                    </a:p>
                    <a:p>
                      <a:pPr>
                        <a:lnSpc>
                          <a:spcPct val="100000"/>
                        </a:lnSpc>
                        <a:spcBef>
                          <a:spcPts val="140"/>
                        </a:spcBef>
                      </a:pPr>
                      <a:endParaRPr sz="1800">
                        <a:latin typeface="Times New Roman"/>
                        <a:cs typeface="Times New Roman"/>
                      </a:endParaRPr>
                    </a:p>
                    <a:p>
                      <a:pPr marL="90170">
                        <a:lnSpc>
                          <a:spcPct val="100000"/>
                        </a:lnSpc>
                      </a:pPr>
                      <a:r>
                        <a:rPr dirty="0" sz="1800" spc="-25" b="1">
                          <a:solidFill>
                            <a:srgbClr val="008000"/>
                          </a:solidFill>
                          <a:latin typeface="宋体"/>
                          <a:cs typeface="宋体"/>
                        </a:rPr>
                        <a:t>寄存器－寄存器型</a:t>
                      </a:r>
                      <a:endParaRPr sz="1800">
                        <a:latin typeface="宋体"/>
                        <a:cs typeface="宋体"/>
                      </a:endParaRPr>
                    </a:p>
                    <a:p>
                      <a:pPr marL="437515">
                        <a:lnSpc>
                          <a:spcPct val="100000"/>
                        </a:lnSpc>
                        <a:spcBef>
                          <a:spcPts val="1085"/>
                        </a:spcBef>
                      </a:pPr>
                      <a:r>
                        <a:rPr dirty="0" sz="1800" spc="-10" b="1">
                          <a:solidFill>
                            <a:srgbClr val="008000"/>
                          </a:solidFill>
                          <a:latin typeface="宋体"/>
                          <a:cs typeface="宋体"/>
                        </a:rPr>
                        <a:t>（0，3）</a:t>
                      </a:r>
                      <a:endParaRPr sz="1800">
                        <a:latin typeface="宋体"/>
                        <a:cs typeface="宋体"/>
                      </a:endParaRPr>
                    </a:p>
                  </a:txBody>
                  <a:tcPr marL="0" marR="0" marB="0" marT="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c>
                  <a:txBody>
                    <a:bodyPr/>
                    <a:lstStyle/>
                    <a:p>
                      <a:pPr algn="just" marL="91440" marR="342265">
                        <a:lnSpc>
                          <a:spcPct val="130000"/>
                        </a:lnSpc>
                        <a:spcBef>
                          <a:spcPts val="25"/>
                        </a:spcBef>
                      </a:pPr>
                      <a:r>
                        <a:rPr dirty="0" sz="1800" spc="-15" b="1">
                          <a:solidFill>
                            <a:srgbClr val="40458B"/>
                          </a:solidFill>
                          <a:latin typeface="宋体"/>
                          <a:cs typeface="宋体"/>
                        </a:rPr>
                        <a:t>指令字长固定，指令结构简洁，是一种简单的代码生成模型，各种指令的执</a:t>
                      </a:r>
                      <a:r>
                        <a:rPr dirty="0" sz="1800" spc="-25" b="1">
                          <a:solidFill>
                            <a:srgbClr val="40458B"/>
                          </a:solidFill>
                          <a:latin typeface="宋体"/>
                          <a:cs typeface="宋体"/>
                        </a:rPr>
                        <a:t>行时钟周期数相近。</a:t>
                      </a:r>
                      <a:endParaRPr sz="1800">
                        <a:latin typeface="宋体"/>
                        <a:cs typeface="宋体"/>
                      </a:endParaRPr>
                    </a:p>
                  </a:txBody>
                  <a:tcPr marL="0" marR="0" marB="0" marT="31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gridSpan="2">
                  <a:txBody>
                    <a:bodyPr/>
                    <a:lstStyle/>
                    <a:p>
                      <a:pPr algn="just" marL="92075" marR="193040">
                        <a:lnSpc>
                          <a:spcPct val="130000"/>
                        </a:lnSpc>
                        <a:spcBef>
                          <a:spcPts val="25"/>
                        </a:spcBef>
                      </a:pPr>
                      <a:r>
                        <a:rPr dirty="0" sz="1800" spc="-15" b="1">
                          <a:solidFill>
                            <a:srgbClr val="40458B"/>
                          </a:solidFill>
                          <a:latin typeface="宋体"/>
                          <a:cs typeface="宋体"/>
                        </a:rPr>
                        <a:t>与指令中含存储器操作数的指令系统结构相比，指令条数多，目标代码不够紧凑，因而程序占用的空间</a:t>
                      </a:r>
                      <a:r>
                        <a:rPr dirty="0" sz="1800" spc="-30" b="1">
                          <a:solidFill>
                            <a:srgbClr val="40458B"/>
                          </a:solidFill>
                          <a:latin typeface="宋体"/>
                          <a:cs typeface="宋体"/>
                        </a:rPr>
                        <a:t>比较大。</a:t>
                      </a:r>
                      <a:endParaRPr sz="1800">
                        <a:latin typeface="宋体"/>
                        <a:cs typeface="宋体"/>
                      </a:endParaRPr>
                    </a:p>
                  </a:txBody>
                  <a:tcPr marL="0" marR="0" marB="0" marT="317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r>
              <a:tr h="2395220">
                <a:tc gridSpan="2">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880"/>
                        </a:spcBef>
                      </a:pPr>
                      <a:endParaRPr sz="1800">
                        <a:latin typeface="Times New Roman"/>
                        <a:cs typeface="Times New Roman"/>
                      </a:endParaRPr>
                    </a:p>
                    <a:p>
                      <a:pPr marL="90170">
                        <a:lnSpc>
                          <a:spcPct val="100000"/>
                        </a:lnSpc>
                      </a:pPr>
                      <a:r>
                        <a:rPr dirty="0" sz="1800" spc="-25" b="1">
                          <a:solidFill>
                            <a:srgbClr val="008000"/>
                          </a:solidFill>
                          <a:latin typeface="宋体"/>
                          <a:cs typeface="宋体"/>
                        </a:rPr>
                        <a:t>寄存器－存储器型</a:t>
                      </a:r>
                      <a:endParaRPr sz="1800">
                        <a:latin typeface="宋体"/>
                        <a:cs typeface="宋体"/>
                      </a:endParaRPr>
                    </a:p>
                    <a:p>
                      <a:pPr marL="437515">
                        <a:lnSpc>
                          <a:spcPct val="100000"/>
                        </a:lnSpc>
                        <a:spcBef>
                          <a:spcPts val="1085"/>
                        </a:spcBef>
                      </a:pPr>
                      <a:r>
                        <a:rPr dirty="0" sz="1800" spc="-10" b="1">
                          <a:solidFill>
                            <a:srgbClr val="008000"/>
                          </a:solidFill>
                          <a:latin typeface="宋体"/>
                          <a:cs typeface="宋体"/>
                        </a:rPr>
                        <a:t>（1，2）</a:t>
                      </a:r>
                      <a:endParaRPr sz="1800">
                        <a:latin typeface="宋体"/>
                        <a:cs typeface="宋体"/>
                      </a:endParaRPr>
                    </a:p>
                  </a:txBody>
                  <a:tcPr marL="0" marR="0" marB="0" marT="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c>
                  <a:txBody>
                    <a:bodyPr/>
                    <a:lstStyle/>
                    <a:p>
                      <a:pPr marL="91440" marR="339725">
                        <a:lnSpc>
                          <a:spcPct val="130000"/>
                        </a:lnSpc>
                        <a:spcBef>
                          <a:spcPts val="25"/>
                        </a:spcBef>
                      </a:pPr>
                      <a:r>
                        <a:rPr dirty="0" sz="1800" spc="-10" b="1">
                          <a:solidFill>
                            <a:srgbClr val="40458B"/>
                          </a:solidFill>
                          <a:latin typeface="宋体"/>
                          <a:cs typeface="宋体"/>
                        </a:rPr>
                        <a:t>可以在ALU</a:t>
                      </a:r>
                      <a:r>
                        <a:rPr dirty="0" sz="1800" spc="-20" b="1">
                          <a:solidFill>
                            <a:srgbClr val="40458B"/>
                          </a:solidFill>
                          <a:latin typeface="宋体"/>
                          <a:cs typeface="宋体"/>
                        </a:rPr>
                        <a:t>指令中直接对</a:t>
                      </a:r>
                      <a:r>
                        <a:rPr dirty="0" sz="1800" spc="-15" b="1">
                          <a:solidFill>
                            <a:srgbClr val="40458B"/>
                          </a:solidFill>
                          <a:latin typeface="宋体"/>
                          <a:cs typeface="宋体"/>
                        </a:rPr>
                        <a:t>存储器操作数进行引用，</a:t>
                      </a:r>
                      <a:r>
                        <a:rPr dirty="0" sz="1800" spc="-20" b="1">
                          <a:solidFill>
                            <a:srgbClr val="40458B"/>
                          </a:solidFill>
                          <a:latin typeface="宋体"/>
                          <a:cs typeface="宋体"/>
                        </a:rPr>
                        <a:t>而不必先用</a:t>
                      </a:r>
                      <a:r>
                        <a:rPr dirty="0" sz="1800" spc="-10" b="1">
                          <a:solidFill>
                            <a:srgbClr val="40458B"/>
                          </a:solidFill>
                          <a:latin typeface="宋体"/>
                          <a:cs typeface="宋体"/>
                        </a:rPr>
                        <a:t>load</a:t>
                      </a:r>
                      <a:r>
                        <a:rPr dirty="0" sz="1800" spc="-30" b="1">
                          <a:solidFill>
                            <a:srgbClr val="40458B"/>
                          </a:solidFill>
                          <a:latin typeface="宋体"/>
                          <a:cs typeface="宋体"/>
                        </a:rPr>
                        <a:t>指令进行</a:t>
                      </a:r>
                      <a:r>
                        <a:rPr dirty="0" sz="1800" spc="-15" b="1">
                          <a:solidFill>
                            <a:srgbClr val="40458B"/>
                          </a:solidFill>
                          <a:latin typeface="宋体"/>
                          <a:cs typeface="宋体"/>
                        </a:rPr>
                        <a:t>加载。容易对指令进行编码，目标代码比较紧凑。</a:t>
                      </a:r>
                      <a:endParaRPr sz="1800">
                        <a:latin typeface="宋体"/>
                        <a:cs typeface="宋体"/>
                      </a:endParaRPr>
                    </a:p>
                  </a:txBody>
                  <a:tcPr marL="0" marR="0" marB="0" marT="31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gridSpan="2">
                  <a:txBody>
                    <a:bodyPr/>
                    <a:lstStyle/>
                    <a:p>
                      <a:pPr algn="just" marL="92075" marR="193040">
                        <a:lnSpc>
                          <a:spcPct val="120000"/>
                        </a:lnSpc>
                        <a:spcBef>
                          <a:spcPts val="75"/>
                        </a:spcBef>
                      </a:pPr>
                      <a:r>
                        <a:rPr dirty="0" sz="1800" spc="-15" b="1">
                          <a:solidFill>
                            <a:srgbClr val="40458B"/>
                          </a:solidFill>
                          <a:latin typeface="宋体"/>
                          <a:cs typeface="宋体"/>
                        </a:rPr>
                        <a:t>指令中的两个操作数不对称。在一条指令中同时对寄存器操作数和存</a:t>
                      </a:r>
                      <a:r>
                        <a:rPr dirty="0" sz="1800" spc="-25" b="1">
                          <a:solidFill>
                            <a:srgbClr val="40458B"/>
                          </a:solidFill>
                          <a:latin typeface="宋体"/>
                          <a:cs typeface="宋体"/>
                        </a:rPr>
                        <a:t>储器操作数进行编码，有可能限制</a:t>
                      </a:r>
                      <a:r>
                        <a:rPr dirty="0" sz="1800" spc="-15" b="1">
                          <a:solidFill>
                            <a:srgbClr val="40458B"/>
                          </a:solidFill>
                          <a:latin typeface="宋体"/>
                          <a:cs typeface="宋体"/>
                        </a:rPr>
                        <a:t>指令所能够表示的寄存器个数。指令的执行时钟周期数因操作数的来</a:t>
                      </a:r>
                      <a:r>
                        <a:rPr dirty="0" sz="1800" spc="-10" b="1">
                          <a:solidFill>
                            <a:srgbClr val="40458B"/>
                          </a:solidFill>
                          <a:latin typeface="宋体"/>
                          <a:cs typeface="宋体"/>
                        </a:rPr>
                        <a:t>源（寄存器或存储器）</a:t>
                      </a:r>
                      <a:r>
                        <a:rPr dirty="0" sz="1800" spc="-20" b="1">
                          <a:solidFill>
                            <a:srgbClr val="40458B"/>
                          </a:solidFill>
                          <a:latin typeface="宋体"/>
                          <a:cs typeface="宋体"/>
                        </a:rPr>
                        <a:t>不同而差别</a:t>
                      </a:r>
                      <a:r>
                        <a:rPr dirty="0" sz="1800" spc="-30" b="1">
                          <a:solidFill>
                            <a:srgbClr val="40458B"/>
                          </a:solidFill>
                          <a:latin typeface="宋体"/>
                          <a:cs typeface="宋体"/>
                        </a:rPr>
                        <a:t>比较大。</a:t>
                      </a:r>
                      <a:endParaRPr sz="1800">
                        <a:latin typeface="宋体"/>
                        <a:cs typeface="宋体"/>
                      </a:endParaRPr>
                    </a:p>
                  </a:txBody>
                  <a:tcPr marL="0" marR="0" marB="0" marT="952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r>
              <a:tr h="520065">
                <a:tc gridSpan="2">
                  <a:txBody>
                    <a:bodyPr/>
                    <a:lstStyle/>
                    <a:p>
                      <a:pPr>
                        <a:lnSpc>
                          <a:spcPct val="100000"/>
                        </a:lnSpc>
                      </a:pPr>
                      <a:endParaRPr sz="1900">
                        <a:latin typeface="Times New Roman"/>
                        <a:cs typeface="Times New Roman"/>
                      </a:endParaRPr>
                    </a:p>
                  </a:txBody>
                  <a:tcPr marL="0" marR="0" marB="0" marT="0">
                    <a:lnL w="28575">
                      <a:solidFill>
                        <a:srgbClr val="40458B"/>
                      </a:solidFill>
                      <a:prstDash val="solid"/>
                    </a:lnL>
                    <a:lnR w="12700">
                      <a:solidFill>
                        <a:srgbClr val="40458B"/>
                      </a:solidFill>
                      <a:prstDash val="solid"/>
                    </a:lnR>
                    <a:lnT w="12700">
                      <a:solidFill>
                        <a:srgbClr val="40458B"/>
                      </a:solidFill>
                      <a:prstDash val="solid"/>
                    </a:lnT>
                  </a:tcPr>
                </a:tc>
                <a:tc hMerge="1">
                  <a:txBody>
                    <a:bodyPr/>
                    <a:lstStyle/>
                    <a:p>
                      <a:pPr/>
                    </a:p>
                  </a:txBody>
                  <a:tcPr marL="0" marR="0" marB="0" marT="0"/>
                </a:tc>
                <a:tc>
                  <a:txBody>
                    <a:bodyPr/>
                    <a:lstStyle/>
                    <a:p>
                      <a:pPr marR="158750">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tcPr>
                </a:tc>
                <a:tc gridSpan="2">
                  <a:txBody>
                    <a:bodyPr/>
                    <a:lstStyle/>
                    <a:p>
                      <a:pPr marL="92075">
                        <a:lnSpc>
                          <a:spcPct val="100000"/>
                        </a:lnSpc>
                        <a:spcBef>
                          <a:spcPts val="680"/>
                        </a:spcBef>
                      </a:pPr>
                      <a:r>
                        <a:rPr dirty="0" sz="1800" spc="-10" b="1">
                          <a:solidFill>
                            <a:srgbClr val="40458B"/>
                          </a:solidFill>
                          <a:latin typeface="宋体"/>
                          <a:cs typeface="宋体"/>
                        </a:rPr>
                        <a:t>指令字长变化很大，特别是3</a:t>
                      </a:r>
                      <a:r>
                        <a:rPr dirty="0" sz="1800" spc="-30" b="1">
                          <a:solidFill>
                            <a:srgbClr val="40458B"/>
                          </a:solidFill>
                          <a:latin typeface="宋体"/>
                          <a:cs typeface="宋体"/>
                        </a:rPr>
                        <a:t>操作</a:t>
                      </a:r>
                      <a:endParaRPr sz="1800">
                        <a:latin typeface="宋体"/>
                        <a:cs typeface="宋体"/>
                      </a:endParaRPr>
                    </a:p>
                  </a:txBody>
                  <a:tcPr marL="0" marR="0" marB="0" marT="86360">
                    <a:lnL w="12700">
                      <a:solidFill>
                        <a:srgbClr val="40458B"/>
                      </a:solidFill>
                      <a:prstDash val="solid"/>
                    </a:lnL>
                    <a:lnR w="28575">
                      <a:solidFill>
                        <a:srgbClr val="40458B"/>
                      </a:solidFill>
                      <a:prstDash val="solid"/>
                    </a:lnR>
                    <a:lnT w="12700">
                      <a:solidFill>
                        <a:srgbClr val="40458B"/>
                      </a:solidFill>
                      <a:prstDash val="solid"/>
                    </a:lnT>
                  </a:tcPr>
                </a:tc>
                <a:tc hMerge="1">
                  <a:txBody>
                    <a:bodyPr/>
                    <a:lstStyle/>
                    <a:p>
                      <a:pPr/>
                    </a:p>
                  </a:txBody>
                  <a:tcPr marL="0" marR="0" marB="0" marT="0"/>
                </a:tc>
              </a:tr>
              <a:tr h="1293495">
                <a:tc rowSpan="2">
                  <a:txBody>
                    <a:bodyPr/>
                    <a:lstStyle/>
                    <a:p>
                      <a:pPr>
                        <a:lnSpc>
                          <a:spcPct val="100000"/>
                        </a:lnSpc>
                      </a:pPr>
                      <a:endParaRPr sz="1900">
                        <a:latin typeface="Times New Roman"/>
                        <a:cs typeface="Times New Roman"/>
                      </a:endParaRPr>
                    </a:p>
                  </a:txBody>
                  <a:tcPr marL="0" marR="0" marB="0" marT="0">
                    <a:lnL w="28575">
                      <a:solidFill>
                        <a:srgbClr val="40458B"/>
                      </a:solidFill>
                      <a:prstDash val="solid"/>
                    </a:lnL>
                    <a:lnB w="28575">
                      <a:solidFill>
                        <a:srgbClr val="40458B"/>
                      </a:solidFill>
                      <a:prstDash val="solid"/>
                    </a:lnB>
                  </a:tcPr>
                </a:tc>
                <a:tc>
                  <a:txBody>
                    <a:bodyPr/>
                    <a:lstStyle/>
                    <a:p>
                      <a:pPr>
                        <a:lnSpc>
                          <a:spcPts val="1015"/>
                        </a:lnSpc>
                      </a:pPr>
                      <a:r>
                        <a:rPr dirty="0" sz="1800" spc="-50" b="1">
                          <a:solidFill>
                            <a:srgbClr val="008000"/>
                          </a:solidFill>
                          <a:latin typeface="宋体"/>
                          <a:cs typeface="宋体"/>
                        </a:rPr>
                        <a:t>存</a:t>
                      </a:r>
                      <a:endParaRPr sz="1800">
                        <a:latin typeface="宋体"/>
                        <a:cs typeface="宋体"/>
                      </a:endParaRPr>
                    </a:p>
                    <a:p>
                      <a:pPr marL="91440">
                        <a:lnSpc>
                          <a:spcPts val="2550"/>
                        </a:lnSpc>
                      </a:pPr>
                      <a:r>
                        <a:rPr dirty="0" sz="2600" spc="-15">
                          <a:solidFill>
                            <a:srgbClr val="40458B"/>
                          </a:solidFill>
                          <a:latin typeface="黑体"/>
                          <a:cs typeface="黑体"/>
                        </a:rPr>
                        <a:t>存储器访问：</a:t>
                      </a:r>
                      <a:endParaRPr sz="2600">
                        <a:latin typeface="黑体"/>
                        <a:cs typeface="黑体"/>
                      </a:endParaRPr>
                    </a:p>
                    <a:p>
                      <a:pPr marL="91440">
                        <a:lnSpc>
                          <a:spcPts val="3050"/>
                        </a:lnSpc>
                        <a:spcBef>
                          <a:spcPts val="160"/>
                        </a:spcBef>
                      </a:pPr>
                      <a:r>
                        <a:rPr dirty="0" sz="2600" spc="-35" b="1">
                          <a:solidFill>
                            <a:srgbClr val="181B1F"/>
                          </a:solidFill>
                          <a:latin typeface="黑体"/>
                          <a:cs typeface="黑体"/>
                        </a:rPr>
                        <a:t>法预先掌握存</a:t>
                      </a:r>
                      <a:r>
                        <a:rPr dirty="0" sz="2600" spc="-40" b="1">
                          <a:solidFill>
                            <a:srgbClr val="181B1F"/>
                          </a:solidFill>
                          <a:latin typeface="黑体"/>
                          <a:cs typeface="黑体"/>
                        </a:rPr>
                        <a:t>读、写后写等</a:t>
                      </a:r>
                      <a:endParaRPr sz="2600">
                        <a:latin typeface="黑体"/>
                        <a:cs typeface="黑体"/>
                      </a:endParaRPr>
                    </a:p>
                  </a:txBody>
                  <a:tcPr marL="0" marR="0" marB="0" marT="0">
                    <a:solidFill>
                      <a:srgbClr val="FFC000"/>
                    </a:solidFill>
                  </a:tcPr>
                </a:tc>
                <a:tc>
                  <a:txBody>
                    <a:bodyPr/>
                    <a:lstStyle/>
                    <a:p>
                      <a:pPr indent="-7620">
                        <a:lnSpc>
                          <a:spcPct val="98800"/>
                        </a:lnSpc>
                        <a:spcBef>
                          <a:spcPts val="480"/>
                        </a:spcBef>
                      </a:pPr>
                      <a:r>
                        <a:rPr dirty="0" sz="2600" spc="-40" b="1">
                          <a:solidFill>
                            <a:srgbClr val="181B1F"/>
                          </a:solidFill>
                          <a:latin typeface="黑体"/>
                          <a:cs typeface="黑体"/>
                        </a:rPr>
                        <a:t>存储指令的相关性隐储指令之间的相关</a:t>
                      </a:r>
                      <a:r>
                        <a:rPr dirty="0" sz="2600" spc="-50" b="1">
                          <a:solidFill>
                            <a:srgbClr val="181B1F"/>
                          </a:solidFill>
                          <a:latin typeface="黑体"/>
                          <a:cs typeface="黑体"/>
                        </a:rPr>
                        <a:t> </a:t>
                      </a:r>
                      <a:r>
                        <a:rPr dirty="0" sz="2600" spc="-35" b="1">
                          <a:solidFill>
                            <a:srgbClr val="181B1F"/>
                          </a:solidFill>
                          <a:latin typeface="黑体"/>
                          <a:cs typeface="黑体"/>
                        </a:rPr>
                        <a:t>冲突</a:t>
                      </a:r>
                      <a:r>
                        <a:rPr dirty="0" sz="2600" spc="-50" b="1">
                          <a:solidFill>
                            <a:srgbClr val="181B1F"/>
                          </a:solidFill>
                          <a:latin typeface="黑体"/>
                          <a:cs typeface="黑体"/>
                        </a:rPr>
                        <a:t>）</a:t>
                      </a:r>
                      <a:endParaRPr sz="2600">
                        <a:latin typeface="黑体"/>
                        <a:cs typeface="黑体"/>
                      </a:endParaRPr>
                    </a:p>
                  </a:txBody>
                  <a:tcPr marL="0" marR="0" marB="0" marT="60960">
                    <a:solidFill>
                      <a:srgbClr val="FFC000"/>
                    </a:solidFill>
                  </a:tcPr>
                </a:tc>
                <a:tc>
                  <a:txBody>
                    <a:bodyPr/>
                    <a:lstStyle/>
                    <a:p>
                      <a:pPr algn="r">
                        <a:lnSpc>
                          <a:spcPts val="1000"/>
                        </a:lnSpc>
                      </a:pPr>
                      <a:r>
                        <a:rPr dirty="0" sz="1800" spc="-50" b="1">
                          <a:solidFill>
                            <a:srgbClr val="40458B"/>
                          </a:solidFill>
                          <a:latin typeface="宋体"/>
                          <a:cs typeface="宋体"/>
                        </a:rPr>
                        <a:t>作</a:t>
                      </a:r>
                      <a:endParaRPr sz="1800">
                        <a:latin typeface="宋体"/>
                        <a:cs typeface="宋体"/>
                      </a:endParaRPr>
                    </a:p>
                    <a:p>
                      <a:pPr algn="r">
                        <a:lnSpc>
                          <a:spcPts val="2565"/>
                        </a:lnSpc>
                      </a:pPr>
                      <a:r>
                        <a:rPr dirty="0" sz="2600" spc="-30" b="1">
                          <a:solidFill>
                            <a:srgbClr val="181B1F"/>
                          </a:solidFill>
                          <a:latin typeface="黑体"/>
                          <a:cs typeface="黑体"/>
                        </a:rPr>
                        <a:t>藏得很深，机器没办 </a:t>
                      </a:r>
                      <a:r>
                        <a:rPr dirty="0" baseline="-29320" sz="2700" spc="-75" b="1">
                          <a:solidFill>
                            <a:srgbClr val="40458B"/>
                          </a:solidFill>
                          <a:latin typeface="宋体"/>
                          <a:cs typeface="宋体"/>
                        </a:rPr>
                        <a:t>问</a:t>
                      </a:r>
                      <a:endParaRPr baseline="-29320" sz="2700">
                        <a:latin typeface="宋体"/>
                        <a:cs typeface="宋体"/>
                      </a:endParaRPr>
                    </a:p>
                    <a:p>
                      <a:pPr algn="r">
                        <a:lnSpc>
                          <a:spcPct val="100000"/>
                        </a:lnSpc>
                      </a:pPr>
                      <a:r>
                        <a:rPr dirty="0" sz="2600" spc="-25" b="1">
                          <a:solidFill>
                            <a:srgbClr val="181B1F"/>
                          </a:solidFill>
                          <a:latin typeface="黑体"/>
                          <a:cs typeface="黑体"/>
                        </a:rPr>
                        <a:t>性</a:t>
                      </a:r>
                      <a:r>
                        <a:rPr dirty="0" sz="2600" spc="-35" b="1">
                          <a:solidFill>
                            <a:srgbClr val="181B1F"/>
                          </a:solidFill>
                          <a:latin typeface="黑体"/>
                          <a:cs typeface="黑体"/>
                        </a:rPr>
                        <a:t>（</a:t>
                      </a:r>
                      <a:r>
                        <a:rPr dirty="0" sz="2600" spc="-30" b="1">
                          <a:solidFill>
                            <a:srgbClr val="181B1F"/>
                          </a:solidFill>
                          <a:latin typeface="黑体"/>
                          <a:cs typeface="黑体"/>
                        </a:rPr>
                        <a:t>例如读后写、写后 </a:t>
                      </a:r>
                      <a:r>
                        <a:rPr dirty="0" baseline="-20061" sz="2700" spc="-75" b="1">
                          <a:solidFill>
                            <a:srgbClr val="FF0000"/>
                          </a:solidFill>
                          <a:latin typeface="宋体"/>
                          <a:cs typeface="宋体"/>
                        </a:rPr>
                        <a:t>的</a:t>
                      </a:r>
                      <a:endParaRPr baseline="-20061" sz="2700">
                        <a:latin typeface="宋体"/>
                        <a:cs typeface="宋体"/>
                      </a:endParaRPr>
                    </a:p>
                  </a:txBody>
                  <a:tcPr marL="0" marR="0" marB="0" marT="0">
                    <a:solidFill>
                      <a:srgbClr val="FFC000"/>
                    </a:solidFill>
                  </a:tcPr>
                </a:tc>
                <a:tc rowSpan="2">
                  <a:txBody>
                    <a:bodyPr/>
                    <a:lstStyle/>
                    <a:p>
                      <a:pPr>
                        <a:lnSpc>
                          <a:spcPct val="100000"/>
                        </a:lnSpc>
                      </a:pPr>
                      <a:endParaRPr sz="1900">
                        <a:latin typeface="Times New Roman"/>
                        <a:cs typeface="Times New Roman"/>
                      </a:endParaRPr>
                    </a:p>
                  </a:txBody>
                  <a:tcPr marL="0" marR="0" marB="0" marT="0">
                    <a:lnR w="28575">
                      <a:solidFill>
                        <a:srgbClr val="40458B"/>
                      </a:solidFill>
                      <a:prstDash val="solid"/>
                    </a:lnR>
                    <a:lnB w="28575">
                      <a:solidFill>
                        <a:srgbClr val="40458B"/>
                      </a:solidFill>
                      <a:prstDash val="solid"/>
                    </a:lnB>
                  </a:tcPr>
                </a:tc>
              </a:tr>
              <a:tr h="60325">
                <a:tc vMerge="1">
                  <a:txBody>
                    <a:bodyPr/>
                    <a:lstStyle/>
                    <a:p>
                      <a:pPr/>
                    </a:p>
                  </a:txBody>
                  <a:tcPr marL="0" marR="0" marB="0" marT="0">
                    <a:lnL w="28575">
                      <a:solidFill>
                        <a:srgbClr val="40458B"/>
                      </a:solidFill>
                      <a:prstDash val="solid"/>
                    </a:lnL>
                    <a:lnB w="28575">
                      <a:solidFill>
                        <a:srgbClr val="40458B"/>
                      </a:solidFill>
                      <a:prstDash val="solid"/>
                    </a:lnB>
                  </a:tcPr>
                </a:tc>
                <a:tc>
                  <a:txBody>
                    <a:bodyPr/>
                    <a:lstStyle/>
                    <a:p>
                      <a:pPr>
                        <a:lnSpc>
                          <a:spcPct val="100000"/>
                        </a:lnSpc>
                      </a:pPr>
                      <a:endParaRPr sz="200">
                        <a:latin typeface="Times New Roman"/>
                        <a:cs typeface="Times New Roman"/>
                      </a:endParaRPr>
                    </a:p>
                  </a:txBody>
                  <a:tcPr marL="0" marR="0" marB="0" marT="0">
                    <a:lnR w="12700">
                      <a:solidFill>
                        <a:srgbClr val="40458B"/>
                      </a:solidFill>
                      <a:prstDash val="solid"/>
                    </a:lnR>
                    <a:lnB w="28575">
                      <a:solidFill>
                        <a:srgbClr val="40458B"/>
                      </a:solidFill>
                      <a:prstDash val="solid"/>
                    </a:lnB>
                    <a:solidFill>
                      <a:srgbClr val="FFC000"/>
                    </a:solidFill>
                  </a:tcPr>
                </a:tc>
                <a:tc>
                  <a:txBody>
                    <a:bodyPr/>
                    <a:lstStyle/>
                    <a:p>
                      <a:pPr marR="158750">
                        <a:lnSpc>
                          <a:spcPct val="100000"/>
                        </a:lnSpc>
                      </a:pPr>
                      <a:endParaRPr sz="200">
                        <a:latin typeface="Times New Roman"/>
                        <a:cs typeface="Times New Roman"/>
                      </a:endParaRPr>
                    </a:p>
                  </a:txBody>
                  <a:tcPr marL="0" marR="0" marB="0" marT="0">
                    <a:lnL w="12700">
                      <a:solidFill>
                        <a:srgbClr val="40458B"/>
                      </a:solidFill>
                      <a:prstDash val="solid"/>
                    </a:lnL>
                    <a:lnR w="12700">
                      <a:solidFill>
                        <a:srgbClr val="40458B"/>
                      </a:solidFill>
                      <a:prstDash val="solid"/>
                    </a:lnR>
                    <a:lnB w="28575">
                      <a:solidFill>
                        <a:srgbClr val="40458B"/>
                      </a:solidFill>
                      <a:prstDash val="solid"/>
                    </a:lnB>
                    <a:solidFill>
                      <a:srgbClr val="FFC000"/>
                    </a:solidFill>
                  </a:tcPr>
                </a:tc>
                <a:tc>
                  <a:txBody>
                    <a:bodyPr/>
                    <a:lstStyle/>
                    <a:p>
                      <a:pPr marR="85090">
                        <a:lnSpc>
                          <a:spcPct val="100000"/>
                        </a:lnSpc>
                      </a:pPr>
                      <a:endParaRPr sz="200">
                        <a:latin typeface="Times New Roman"/>
                        <a:cs typeface="Times New Roman"/>
                      </a:endParaRPr>
                    </a:p>
                  </a:txBody>
                  <a:tcPr marL="0" marR="0" marB="0" marT="0">
                    <a:lnL w="12700">
                      <a:solidFill>
                        <a:srgbClr val="40458B"/>
                      </a:solidFill>
                      <a:prstDash val="solid"/>
                    </a:lnL>
                    <a:lnB w="28575">
                      <a:solidFill>
                        <a:srgbClr val="40458B"/>
                      </a:solidFill>
                      <a:prstDash val="solid"/>
                    </a:lnB>
                    <a:solidFill>
                      <a:srgbClr val="FFC000"/>
                    </a:solidFill>
                  </a:tcPr>
                </a:tc>
                <a:tc vMerge="1">
                  <a:txBody>
                    <a:bodyPr/>
                    <a:lstStyle/>
                    <a:p>
                      <a:pPr/>
                    </a:p>
                  </a:txBody>
                  <a:tcPr marL="0" marR="0" marB="0" marT="0">
                    <a:lnR w="28575">
                      <a:solidFill>
                        <a:srgbClr val="40458B"/>
                      </a:solidFill>
                      <a:prstDash val="solid"/>
                    </a:lnR>
                    <a:lnB w="28575">
                      <a:solidFill>
                        <a:srgbClr val="40458B"/>
                      </a:solidFill>
                      <a:prstDash val="solid"/>
                    </a:lnB>
                  </a:tcPr>
                </a:tc>
              </a:tr>
            </a:tbl>
          </a:graphicData>
        </a:graphic>
      </p:graphicFrame>
      <p:sp>
        <p:nvSpPr>
          <p:cNvPr id="4" name="object 4" descr=""/>
          <p:cNvSpPr txBox="1"/>
          <p:nvPr/>
        </p:nvSpPr>
        <p:spPr>
          <a:xfrm>
            <a:off x="3646678" y="39369"/>
            <a:ext cx="5224145" cy="269240"/>
          </a:xfrm>
          <a:prstGeom prst="rect">
            <a:avLst/>
          </a:prstGeom>
        </p:spPr>
        <p:txBody>
          <a:bodyPr wrap="square" lIns="0" tIns="12065" rIns="0" bIns="0" rtlCol="0" vert="horz">
            <a:spAutoFit/>
          </a:bodyPr>
          <a:lstStyle/>
          <a:p>
            <a:pPr marL="12700">
              <a:lnSpc>
                <a:spcPct val="100000"/>
              </a:lnSpc>
              <a:spcBef>
                <a:spcPts val="95"/>
              </a:spcBef>
            </a:pPr>
            <a:r>
              <a:rPr dirty="0" sz="1600" spc="-10">
                <a:solidFill>
                  <a:srgbClr val="40458B"/>
                </a:solidFill>
                <a:latin typeface="黑体"/>
                <a:cs typeface="黑体"/>
              </a:rPr>
              <a:t>表中</a:t>
            </a:r>
            <a:r>
              <a:rPr dirty="0" sz="1600" spc="-10">
                <a:solidFill>
                  <a:srgbClr val="9933FF"/>
                </a:solidFill>
                <a:latin typeface="Tahoma"/>
                <a:cs typeface="Tahoma"/>
              </a:rPr>
              <a:t>(m</a:t>
            </a:r>
            <a:r>
              <a:rPr dirty="0" sz="1600" spc="-10">
                <a:solidFill>
                  <a:srgbClr val="9933FF"/>
                </a:solidFill>
                <a:latin typeface="黑体"/>
                <a:cs typeface="黑体"/>
              </a:rPr>
              <a:t>，</a:t>
            </a:r>
            <a:r>
              <a:rPr dirty="0" sz="1600" spc="-10">
                <a:solidFill>
                  <a:srgbClr val="9933FF"/>
                </a:solidFill>
                <a:latin typeface="Tahoma"/>
                <a:cs typeface="Tahoma"/>
              </a:rPr>
              <a:t>n)</a:t>
            </a:r>
            <a:r>
              <a:rPr dirty="0" sz="1600" spc="-25">
                <a:solidFill>
                  <a:srgbClr val="40458B"/>
                </a:solidFill>
                <a:latin typeface="黑体"/>
                <a:cs typeface="黑体"/>
              </a:rPr>
              <a:t>表示指令的</a:t>
            </a:r>
            <a:r>
              <a:rPr dirty="0" sz="1600" spc="-10">
                <a:solidFill>
                  <a:srgbClr val="9933FF"/>
                </a:solidFill>
                <a:latin typeface="Tahoma"/>
                <a:cs typeface="Tahoma"/>
              </a:rPr>
              <a:t>n</a:t>
            </a:r>
            <a:r>
              <a:rPr dirty="0" sz="1600" spc="-25">
                <a:solidFill>
                  <a:srgbClr val="40458B"/>
                </a:solidFill>
                <a:latin typeface="黑体"/>
                <a:cs typeface="黑体"/>
              </a:rPr>
              <a:t>个操作数中有</a:t>
            </a:r>
            <a:r>
              <a:rPr dirty="0" sz="1600" spc="-20">
                <a:solidFill>
                  <a:srgbClr val="9933FF"/>
                </a:solidFill>
                <a:latin typeface="Tahoma"/>
                <a:cs typeface="Tahoma"/>
              </a:rPr>
              <a:t>m</a:t>
            </a:r>
            <a:r>
              <a:rPr dirty="0" sz="1600" spc="-30">
                <a:solidFill>
                  <a:srgbClr val="40458B"/>
                </a:solidFill>
                <a:latin typeface="黑体"/>
                <a:cs typeface="黑体"/>
              </a:rPr>
              <a:t>个存储器操作数。</a:t>
            </a:r>
            <a:endParaRPr sz="1600">
              <a:latin typeface="黑体"/>
              <a:cs typeface="黑体"/>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2071242" y="1389405"/>
            <a:ext cx="8302625" cy="4017645"/>
          </a:xfrm>
          <a:prstGeom prst="rect">
            <a:avLst/>
          </a:prstGeom>
        </p:spPr>
        <p:txBody>
          <a:bodyPr wrap="square" lIns="0" tIns="12700" rIns="0" bIns="0" rtlCol="0" vert="horz">
            <a:spAutoFit/>
          </a:bodyPr>
          <a:lstStyle/>
          <a:p>
            <a:pPr marL="469900" marR="5080" indent="-457834">
              <a:lnSpc>
                <a:spcPct val="120000"/>
              </a:lnSpc>
              <a:spcBef>
                <a:spcPts val="100"/>
              </a:spcBef>
              <a:buClr>
                <a:srgbClr val="40458B"/>
              </a:buClr>
              <a:buSzPct val="117857"/>
              <a:buFont typeface="Wingdings"/>
              <a:buChar char=""/>
              <a:tabLst>
                <a:tab pos="469900" algn="l"/>
              </a:tabLst>
            </a:pPr>
            <a:r>
              <a:rPr dirty="0" sz="2800" spc="-35">
                <a:solidFill>
                  <a:srgbClr val="FF0000"/>
                </a:solidFill>
                <a:latin typeface="黑体"/>
                <a:cs typeface="黑体"/>
              </a:rPr>
              <a:t>寻址方式</a:t>
            </a:r>
            <a:r>
              <a:rPr dirty="0" sz="2800" spc="-40">
                <a:solidFill>
                  <a:srgbClr val="172152"/>
                </a:solidFill>
                <a:latin typeface="黑体"/>
                <a:cs typeface="黑体"/>
              </a:rPr>
              <a:t>：指令系统中如何形成所要访问的数据的</a:t>
            </a:r>
            <a:r>
              <a:rPr dirty="0" sz="2800" spc="-35">
                <a:solidFill>
                  <a:srgbClr val="172152"/>
                </a:solidFill>
                <a:latin typeface="黑体"/>
                <a:cs typeface="黑体"/>
              </a:rPr>
              <a:t>地址。</a:t>
            </a:r>
            <a:endParaRPr sz="2800">
              <a:latin typeface="黑体"/>
              <a:cs typeface="黑体"/>
            </a:endParaRPr>
          </a:p>
          <a:p>
            <a:pPr lvl="1" marL="1099185" indent="-457200">
              <a:lnSpc>
                <a:spcPct val="100000"/>
              </a:lnSpc>
              <a:spcBef>
                <a:spcPts val="1155"/>
              </a:spcBef>
              <a:buSzPct val="88636"/>
              <a:buFont typeface="Wingdings"/>
              <a:buChar char=""/>
              <a:tabLst>
                <a:tab pos="1099185" algn="l"/>
              </a:tabLst>
            </a:pPr>
            <a:r>
              <a:rPr dirty="0" sz="2200" spc="-35">
                <a:solidFill>
                  <a:srgbClr val="006FC0"/>
                </a:solidFill>
                <a:latin typeface="黑体"/>
                <a:cs typeface="黑体"/>
              </a:rPr>
              <a:t>寻找指令</a:t>
            </a:r>
            <a:endParaRPr sz="2200">
              <a:latin typeface="黑体"/>
              <a:cs typeface="黑体"/>
            </a:endParaRPr>
          </a:p>
          <a:p>
            <a:pPr lvl="2" marL="1710055" indent="-456565">
              <a:lnSpc>
                <a:spcPct val="100000"/>
              </a:lnSpc>
              <a:spcBef>
                <a:spcPts val="990"/>
              </a:spcBef>
              <a:buClr>
                <a:srgbClr val="4668F5"/>
              </a:buClr>
              <a:buSzPct val="72500"/>
              <a:buFont typeface="Wingdings"/>
              <a:buChar char=""/>
              <a:tabLst>
                <a:tab pos="1710055" algn="l"/>
              </a:tabLst>
            </a:pPr>
            <a:r>
              <a:rPr dirty="0" sz="2000" spc="-25" b="1">
                <a:solidFill>
                  <a:srgbClr val="6F2F9F"/>
                </a:solidFill>
                <a:latin typeface="黑体"/>
                <a:cs typeface="黑体"/>
              </a:rPr>
              <a:t>顺序与跳转指令</a:t>
            </a:r>
            <a:endParaRPr sz="2000">
              <a:latin typeface="黑体"/>
              <a:cs typeface="黑体"/>
            </a:endParaRPr>
          </a:p>
          <a:p>
            <a:pPr lvl="1" marL="1099185" indent="-457200">
              <a:lnSpc>
                <a:spcPct val="100000"/>
              </a:lnSpc>
              <a:spcBef>
                <a:spcPts val="1025"/>
              </a:spcBef>
              <a:buSzPct val="88636"/>
              <a:buFont typeface="Wingdings"/>
              <a:buChar char=""/>
              <a:tabLst>
                <a:tab pos="1099185" algn="l"/>
              </a:tabLst>
            </a:pPr>
            <a:r>
              <a:rPr dirty="0" sz="2200" spc="-35">
                <a:solidFill>
                  <a:srgbClr val="006FC0"/>
                </a:solidFill>
                <a:latin typeface="黑体"/>
                <a:cs typeface="黑体"/>
              </a:rPr>
              <a:t>寻找操作数</a:t>
            </a:r>
            <a:endParaRPr sz="2200">
              <a:latin typeface="黑体"/>
              <a:cs typeface="黑体"/>
            </a:endParaRPr>
          </a:p>
          <a:p>
            <a:pPr lvl="2" marL="1710689" marR="200660" indent="-457200">
              <a:lnSpc>
                <a:spcPct val="120000"/>
              </a:lnSpc>
              <a:spcBef>
                <a:spcPts val="515"/>
              </a:spcBef>
              <a:buClr>
                <a:srgbClr val="4668F5"/>
              </a:buClr>
              <a:buSzPct val="72500"/>
              <a:buFont typeface="Wingdings"/>
              <a:buChar char=""/>
              <a:tabLst>
                <a:tab pos="1710689" algn="l"/>
              </a:tabLst>
            </a:pPr>
            <a:r>
              <a:rPr dirty="0" sz="2000" spc="-25" b="1">
                <a:solidFill>
                  <a:srgbClr val="6F2F9F"/>
                </a:solidFill>
                <a:latin typeface="黑体"/>
                <a:cs typeface="黑体"/>
              </a:rPr>
              <a:t>寻址方式可以指明指令中的操作数是一个常数、一个寄存器操作数或者是一个存储器操作数。</a:t>
            </a:r>
            <a:endParaRPr sz="2000">
              <a:latin typeface="黑体"/>
              <a:cs typeface="黑体"/>
            </a:endParaRPr>
          </a:p>
          <a:p>
            <a:pPr lvl="2" marL="1710055" indent="-456565">
              <a:lnSpc>
                <a:spcPct val="100000"/>
              </a:lnSpc>
              <a:spcBef>
                <a:spcPts val="960"/>
              </a:spcBef>
              <a:buClr>
                <a:srgbClr val="4668F5"/>
              </a:buClr>
              <a:buSzPct val="72500"/>
              <a:buFont typeface="Wingdings"/>
              <a:buChar char=""/>
              <a:tabLst>
                <a:tab pos="1710055" algn="l"/>
              </a:tabLst>
            </a:pPr>
            <a:r>
              <a:rPr dirty="0" sz="2000" spc="-25" b="1">
                <a:solidFill>
                  <a:srgbClr val="6F2F9F"/>
                </a:solidFill>
                <a:latin typeface="黑体"/>
                <a:cs typeface="黑体"/>
              </a:rPr>
              <a:t>对于存储器操作数来说，由寻址方式确定的存储器地址称</a:t>
            </a:r>
            <a:endParaRPr sz="2000">
              <a:latin typeface="黑体"/>
              <a:cs typeface="黑体"/>
            </a:endParaRPr>
          </a:p>
          <a:p>
            <a:pPr marL="1710689">
              <a:lnSpc>
                <a:spcPct val="100000"/>
              </a:lnSpc>
              <a:spcBef>
                <a:spcPts val="480"/>
              </a:spcBef>
            </a:pPr>
            <a:r>
              <a:rPr dirty="0" sz="2000" spc="-15" b="1">
                <a:solidFill>
                  <a:srgbClr val="6F2F9F"/>
                </a:solidFill>
                <a:latin typeface="黑体"/>
                <a:cs typeface="黑体"/>
              </a:rPr>
              <a:t>为</a:t>
            </a:r>
            <a:r>
              <a:rPr dirty="0" sz="2000" spc="-20" b="1">
                <a:solidFill>
                  <a:srgbClr val="FF0000"/>
                </a:solidFill>
                <a:latin typeface="黑体"/>
                <a:cs typeface="黑体"/>
              </a:rPr>
              <a:t>有效地址</a:t>
            </a:r>
            <a:r>
              <a:rPr dirty="0" sz="2000" spc="-50" b="1">
                <a:solidFill>
                  <a:srgbClr val="6F2F9F"/>
                </a:solidFill>
                <a:latin typeface="黑体"/>
                <a:cs typeface="黑体"/>
              </a:rPr>
              <a:t>。</a:t>
            </a:r>
            <a:endParaRPr sz="2000">
              <a:latin typeface="黑体"/>
              <a:cs typeface="黑体"/>
            </a:endParaRPr>
          </a:p>
        </p:txBody>
      </p:sp>
      <p:sp>
        <p:nvSpPr>
          <p:cNvPr id="4" name="object 4"/>
          <p:cNvSpPr txBox="1">
            <a:spLocks noGrp="1"/>
          </p:cNvSpPr>
          <p:nvPr>
            <p:ph type="title"/>
          </p:nvPr>
        </p:nvSpPr>
        <p:spPr>
          <a:xfrm>
            <a:off x="1163637" y="133857"/>
            <a:ext cx="11041380" cy="513715"/>
          </a:xfrm>
          <a:prstGeom prst="rect"/>
        </p:spPr>
        <p:txBody>
          <a:bodyPr wrap="square" lIns="0" tIns="12700" rIns="0" bIns="0" rtlCol="0" vert="horz">
            <a:spAutoFit/>
          </a:bodyPr>
          <a:lstStyle/>
          <a:p>
            <a:pPr marL="12700">
              <a:lnSpc>
                <a:spcPct val="100000"/>
              </a:lnSpc>
              <a:spcBef>
                <a:spcPts val="100"/>
              </a:spcBef>
              <a:tabLst>
                <a:tab pos="1494790" algn="l"/>
                <a:tab pos="11028045" algn="l"/>
              </a:tabLst>
            </a:pPr>
            <a:r>
              <a:rPr dirty="0">
                <a:solidFill>
                  <a:srgbClr val="4F55AC"/>
                </a:solidFill>
                <a:latin typeface="微软雅黑"/>
                <a:cs typeface="微软雅黑"/>
              </a:rPr>
              <a:t>	2.2</a:t>
            </a:r>
            <a:r>
              <a:rPr dirty="0" spc="-25">
                <a:solidFill>
                  <a:srgbClr val="4F55AC"/>
                </a:solidFill>
                <a:latin typeface="微软雅黑"/>
                <a:cs typeface="微软雅黑"/>
              </a:rPr>
              <a:t> </a:t>
            </a:r>
            <a:r>
              <a:rPr dirty="0">
                <a:solidFill>
                  <a:srgbClr val="4F55AC"/>
                </a:solidFill>
                <a:latin typeface="微软雅黑"/>
                <a:cs typeface="微软雅黑"/>
              </a:rPr>
              <a:t>指令系统的寻址方</a:t>
            </a:r>
            <a:r>
              <a:rPr dirty="0" spc="-50">
                <a:solidFill>
                  <a:srgbClr val="4F55AC"/>
                </a:solidFill>
                <a:latin typeface="微软雅黑"/>
                <a:cs typeface="微软雅黑"/>
              </a:rPr>
              <a:t>式</a:t>
            </a:r>
            <a:r>
              <a:rPr dirty="0">
                <a:solidFill>
                  <a:srgbClr val="4F55AC"/>
                </a:solidFill>
                <a:latin typeface="微软雅黑"/>
                <a:cs typeface="微软雅黑"/>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991869" algn="l"/>
                <a:tab pos="11028045" algn="l"/>
              </a:tabLst>
            </a:pPr>
            <a:r>
              <a:rPr dirty="0">
                <a:solidFill>
                  <a:srgbClr val="4F55AC"/>
                </a:solidFill>
              </a:rPr>
              <a:t>	2.2</a:t>
            </a:r>
            <a:r>
              <a:rPr dirty="0" spc="-20">
                <a:solidFill>
                  <a:srgbClr val="4F55AC"/>
                </a:solidFill>
              </a:rPr>
              <a:t> </a:t>
            </a:r>
            <a:r>
              <a:rPr dirty="0" spc="-10">
                <a:solidFill>
                  <a:srgbClr val="4F55AC"/>
                </a:solidFill>
                <a:latin typeface="微软雅黑"/>
                <a:cs typeface="微软雅黑"/>
              </a:rPr>
              <a:t>寻址方</a:t>
            </a:r>
            <a:r>
              <a:rPr dirty="0" spc="-60">
                <a:solidFill>
                  <a:srgbClr val="4F55AC"/>
                </a:solidFill>
                <a:latin typeface="微软雅黑"/>
                <a:cs typeface="微软雅黑"/>
              </a:rPr>
              <a:t>式</a:t>
            </a:r>
            <a:r>
              <a:rPr dirty="0">
                <a:solidFill>
                  <a:srgbClr val="4F55AC"/>
                </a:solidFill>
                <a:latin typeface="微软雅黑"/>
                <a:cs typeface="微软雅黑"/>
              </a:rPr>
              <a:t>	</a:t>
            </a:r>
          </a:p>
        </p:txBody>
      </p:sp>
      <p:sp>
        <p:nvSpPr>
          <p:cNvPr id="4" name="object 4" descr=""/>
          <p:cNvSpPr txBox="1"/>
          <p:nvPr/>
        </p:nvSpPr>
        <p:spPr>
          <a:xfrm>
            <a:off x="1926717" y="1221128"/>
            <a:ext cx="6831330" cy="3614420"/>
          </a:xfrm>
          <a:prstGeom prst="rect">
            <a:avLst/>
          </a:prstGeom>
        </p:spPr>
        <p:txBody>
          <a:bodyPr wrap="square" lIns="0" tIns="93980" rIns="0" bIns="0" rtlCol="0" vert="horz">
            <a:spAutoFit/>
          </a:bodyPr>
          <a:lstStyle/>
          <a:p>
            <a:pPr marL="12700">
              <a:lnSpc>
                <a:spcPct val="100000"/>
              </a:lnSpc>
              <a:spcBef>
                <a:spcPts val="740"/>
              </a:spcBef>
            </a:pPr>
            <a:r>
              <a:rPr dirty="0" sz="2800" spc="-10">
                <a:solidFill>
                  <a:srgbClr val="172152"/>
                </a:solidFill>
                <a:latin typeface="Tahoma"/>
                <a:cs typeface="Tahoma"/>
              </a:rPr>
              <a:t>1</a:t>
            </a:r>
            <a:r>
              <a:rPr dirty="0" sz="2800" spc="-40">
                <a:solidFill>
                  <a:srgbClr val="172152"/>
                </a:solidFill>
                <a:latin typeface="黑体"/>
                <a:cs typeface="黑体"/>
              </a:rPr>
              <a:t>、一些操作数寻址方式的符号表达</a:t>
            </a:r>
            <a:endParaRPr sz="2800">
              <a:latin typeface="黑体"/>
              <a:cs typeface="黑体"/>
            </a:endParaRPr>
          </a:p>
          <a:p>
            <a:pPr marL="1099185" indent="-457200">
              <a:lnSpc>
                <a:spcPct val="100000"/>
              </a:lnSpc>
              <a:spcBef>
                <a:spcPts val="505"/>
              </a:spcBef>
              <a:buClr>
                <a:srgbClr val="006FC0"/>
              </a:buClr>
              <a:buSzPct val="88636"/>
              <a:buFont typeface="Wingdings"/>
              <a:buChar char=""/>
              <a:tabLst>
                <a:tab pos="1099185" algn="l"/>
              </a:tabLst>
            </a:pPr>
            <a:r>
              <a:rPr dirty="0" sz="2200" spc="-20">
                <a:solidFill>
                  <a:srgbClr val="D50092"/>
                </a:solidFill>
                <a:latin typeface="Symbol"/>
                <a:cs typeface="Symbol"/>
              </a:rPr>
              <a:t></a:t>
            </a:r>
            <a:r>
              <a:rPr dirty="0" sz="2200" spc="-20">
                <a:solidFill>
                  <a:srgbClr val="D50092"/>
                </a:solidFill>
                <a:latin typeface="黑体"/>
                <a:cs typeface="黑体"/>
              </a:rPr>
              <a:t>：</a:t>
            </a:r>
            <a:r>
              <a:rPr dirty="0" sz="2200" spc="-30">
                <a:solidFill>
                  <a:srgbClr val="006FC0"/>
                </a:solidFill>
                <a:latin typeface="黑体"/>
                <a:cs typeface="黑体"/>
              </a:rPr>
              <a:t>赋值操作</a:t>
            </a:r>
            <a:endParaRPr sz="2200">
              <a:latin typeface="黑体"/>
              <a:cs typeface="黑体"/>
            </a:endParaRPr>
          </a:p>
          <a:p>
            <a:pPr marL="1099185" indent="-457200">
              <a:lnSpc>
                <a:spcPct val="100000"/>
              </a:lnSpc>
              <a:spcBef>
                <a:spcPts val="615"/>
              </a:spcBef>
              <a:buClr>
                <a:srgbClr val="006FC0"/>
              </a:buClr>
              <a:buSzPct val="88636"/>
              <a:buFont typeface="Wingdings"/>
              <a:buChar char=""/>
              <a:tabLst>
                <a:tab pos="1099185" algn="l"/>
              </a:tabLst>
            </a:pPr>
            <a:r>
              <a:rPr dirty="0" sz="2200" spc="-15">
                <a:solidFill>
                  <a:srgbClr val="D50092"/>
                </a:solidFill>
                <a:latin typeface="黑体"/>
                <a:cs typeface="黑体"/>
              </a:rPr>
              <a:t>Mem：</a:t>
            </a:r>
            <a:r>
              <a:rPr dirty="0" sz="2200" spc="-40">
                <a:solidFill>
                  <a:srgbClr val="006FC0"/>
                </a:solidFill>
                <a:latin typeface="黑体"/>
                <a:cs typeface="黑体"/>
              </a:rPr>
              <a:t>存储器</a:t>
            </a:r>
            <a:endParaRPr sz="2200">
              <a:latin typeface="黑体"/>
              <a:cs typeface="黑体"/>
            </a:endParaRPr>
          </a:p>
          <a:p>
            <a:pPr marL="1099185" indent="-457200">
              <a:lnSpc>
                <a:spcPct val="100000"/>
              </a:lnSpc>
              <a:spcBef>
                <a:spcPts val="530"/>
              </a:spcBef>
              <a:buClr>
                <a:srgbClr val="006FC0"/>
              </a:buClr>
              <a:buSzPct val="88636"/>
              <a:buFont typeface="Wingdings"/>
              <a:buChar char=""/>
              <a:tabLst>
                <a:tab pos="1099185" algn="l"/>
              </a:tabLst>
            </a:pPr>
            <a:r>
              <a:rPr dirty="0" sz="2200" spc="-20">
                <a:solidFill>
                  <a:srgbClr val="D50092"/>
                </a:solidFill>
                <a:latin typeface="黑体"/>
                <a:cs typeface="黑体"/>
              </a:rPr>
              <a:t>Regs：</a:t>
            </a:r>
            <a:r>
              <a:rPr dirty="0" sz="2200" spc="-35">
                <a:solidFill>
                  <a:srgbClr val="006FC0"/>
                </a:solidFill>
                <a:latin typeface="黑体"/>
                <a:cs typeface="黑体"/>
              </a:rPr>
              <a:t>寄存器组</a:t>
            </a:r>
            <a:endParaRPr sz="2200">
              <a:latin typeface="黑体"/>
              <a:cs typeface="黑体"/>
            </a:endParaRPr>
          </a:p>
          <a:p>
            <a:pPr marL="1099185" indent="-457200">
              <a:lnSpc>
                <a:spcPct val="100000"/>
              </a:lnSpc>
              <a:spcBef>
                <a:spcPts val="455"/>
              </a:spcBef>
              <a:buClr>
                <a:srgbClr val="006FC0"/>
              </a:buClr>
              <a:buSzPct val="88636"/>
              <a:buFont typeface="Wingdings"/>
              <a:buChar char=""/>
              <a:tabLst>
                <a:tab pos="1099185" algn="l"/>
              </a:tabLst>
            </a:pPr>
            <a:r>
              <a:rPr dirty="0" sz="2200" spc="-25">
                <a:solidFill>
                  <a:srgbClr val="D50092"/>
                </a:solidFill>
                <a:latin typeface="黑体"/>
                <a:cs typeface="黑体"/>
              </a:rPr>
              <a:t>方括号：</a:t>
            </a:r>
            <a:r>
              <a:rPr dirty="0" sz="2200" spc="-35">
                <a:solidFill>
                  <a:srgbClr val="006FC0"/>
                </a:solidFill>
                <a:latin typeface="黑体"/>
                <a:cs typeface="黑体"/>
              </a:rPr>
              <a:t>表示内容</a:t>
            </a:r>
            <a:endParaRPr sz="2200">
              <a:latin typeface="黑体"/>
              <a:cs typeface="黑体"/>
            </a:endParaRPr>
          </a:p>
          <a:p>
            <a:pPr lvl="1" marL="1308100" indent="-358140">
              <a:lnSpc>
                <a:spcPct val="100000"/>
              </a:lnSpc>
              <a:spcBef>
                <a:spcPts val="550"/>
              </a:spcBef>
              <a:buClr>
                <a:srgbClr val="4668F5"/>
              </a:buClr>
              <a:buSzPct val="72500"/>
              <a:buFont typeface="Wingdings"/>
              <a:buChar char=""/>
              <a:tabLst>
                <a:tab pos="1308100" algn="l"/>
              </a:tabLst>
            </a:pPr>
            <a:r>
              <a:rPr dirty="0" sz="2000" b="1">
                <a:solidFill>
                  <a:srgbClr val="6F2F9F"/>
                </a:solidFill>
                <a:latin typeface="宋体"/>
                <a:cs typeface="宋体"/>
              </a:rPr>
              <a:t>Mem</a:t>
            </a:r>
            <a:r>
              <a:rPr dirty="0" sz="2000" spc="-15" b="1">
                <a:solidFill>
                  <a:srgbClr val="6F2F9F"/>
                </a:solidFill>
                <a:latin typeface="宋体"/>
                <a:cs typeface="宋体"/>
              </a:rPr>
              <a:t>[ ]</a:t>
            </a:r>
            <a:r>
              <a:rPr dirty="0" sz="2000" spc="-20" b="1">
                <a:solidFill>
                  <a:srgbClr val="6F2F9F"/>
                </a:solidFill>
                <a:latin typeface="黑体"/>
                <a:cs typeface="黑体"/>
              </a:rPr>
              <a:t>：存储器的内容</a:t>
            </a:r>
            <a:endParaRPr sz="2000">
              <a:latin typeface="黑体"/>
              <a:cs typeface="黑体"/>
            </a:endParaRPr>
          </a:p>
          <a:p>
            <a:pPr lvl="1" marL="1308100" indent="-358140">
              <a:lnSpc>
                <a:spcPct val="100000"/>
              </a:lnSpc>
              <a:spcBef>
                <a:spcPts val="480"/>
              </a:spcBef>
              <a:buClr>
                <a:srgbClr val="4668F5"/>
              </a:buClr>
              <a:buSzPct val="72500"/>
              <a:buFont typeface="Wingdings"/>
              <a:buChar char=""/>
              <a:tabLst>
                <a:tab pos="1308100" algn="l"/>
              </a:tabLst>
            </a:pPr>
            <a:r>
              <a:rPr dirty="0" sz="2000" b="1">
                <a:solidFill>
                  <a:srgbClr val="6F2F9F"/>
                </a:solidFill>
                <a:latin typeface="宋体"/>
                <a:cs typeface="宋体"/>
              </a:rPr>
              <a:t>Regs</a:t>
            </a:r>
            <a:r>
              <a:rPr dirty="0" sz="2000" spc="-10" b="1">
                <a:solidFill>
                  <a:srgbClr val="6F2F9F"/>
                </a:solidFill>
                <a:latin typeface="宋体"/>
                <a:cs typeface="宋体"/>
              </a:rPr>
              <a:t>[ ]</a:t>
            </a:r>
            <a:r>
              <a:rPr dirty="0" sz="2000" spc="-20" b="1">
                <a:solidFill>
                  <a:srgbClr val="6F2F9F"/>
                </a:solidFill>
                <a:latin typeface="黑体"/>
                <a:cs typeface="黑体"/>
              </a:rPr>
              <a:t>：寄存器的内容</a:t>
            </a:r>
            <a:endParaRPr sz="2000">
              <a:latin typeface="黑体"/>
              <a:cs typeface="黑体"/>
            </a:endParaRPr>
          </a:p>
          <a:p>
            <a:pPr lvl="1" marL="1308100" marR="5080" indent="-358775">
              <a:lnSpc>
                <a:spcPct val="120000"/>
              </a:lnSpc>
              <a:buClr>
                <a:srgbClr val="4668F5"/>
              </a:buClr>
              <a:buSzPct val="72500"/>
              <a:buFont typeface="Wingdings"/>
              <a:buChar char=""/>
              <a:tabLst>
                <a:tab pos="1335405" algn="l"/>
              </a:tabLst>
            </a:pPr>
            <a:r>
              <a:rPr dirty="0" sz="2000" spc="-10" b="1">
                <a:solidFill>
                  <a:srgbClr val="6F2F9F"/>
                </a:solidFill>
                <a:latin typeface="宋体"/>
                <a:cs typeface="宋体"/>
              </a:rPr>
              <a:t>Mem[Regs[R1]]</a:t>
            </a:r>
            <a:r>
              <a:rPr dirty="0" sz="2000" spc="-20" b="1">
                <a:solidFill>
                  <a:srgbClr val="6F2F9F"/>
                </a:solidFill>
                <a:latin typeface="黑体"/>
                <a:cs typeface="黑体"/>
              </a:rPr>
              <a:t>：以寄存器</a:t>
            </a:r>
            <a:r>
              <a:rPr dirty="0" sz="2000" spc="-10" b="1">
                <a:solidFill>
                  <a:srgbClr val="6F2F9F"/>
                </a:solidFill>
                <a:latin typeface="宋体"/>
                <a:cs typeface="宋体"/>
              </a:rPr>
              <a:t>R1</a:t>
            </a:r>
            <a:r>
              <a:rPr dirty="0" sz="2000" spc="-25" b="1">
                <a:solidFill>
                  <a:srgbClr val="6F2F9F"/>
                </a:solidFill>
                <a:latin typeface="黑体"/>
                <a:cs typeface="黑体"/>
              </a:rPr>
              <a:t>中的内容作为地址的</a:t>
            </a:r>
            <a:r>
              <a:rPr dirty="0" sz="2000" spc="-25" b="1">
                <a:solidFill>
                  <a:srgbClr val="6F2F9F"/>
                </a:solidFill>
                <a:latin typeface="黑体"/>
                <a:cs typeface="黑体"/>
              </a:rPr>
              <a:t>	</a:t>
            </a:r>
            <a:r>
              <a:rPr dirty="0" sz="2000" spc="-20" b="1">
                <a:solidFill>
                  <a:srgbClr val="6F2F9F"/>
                </a:solidFill>
                <a:latin typeface="黑体"/>
                <a:cs typeface="黑体"/>
              </a:rPr>
              <a:t>存储器单元中的内容</a:t>
            </a:r>
            <a:endParaRPr sz="2000">
              <a:latin typeface="黑体"/>
              <a:cs typeface="黑体"/>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0" y="260413"/>
            <a:ext cx="12192000" cy="6597650"/>
            <a:chOff x="0" y="260413"/>
            <a:chExt cx="12192000" cy="6597650"/>
          </a:xfrm>
        </p:grpSpPr>
        <p:pic>
          <p:nvPicPr>
            <p:cNvPr id="3" name="object 3" descr=""/>
            <p:cNvPicPr/>
            <p:nvPr/>
          </p:nvPicPr>
          <p:blipFill>
            <a:blip r:embed="rId2" cstate="print"/>
            <a:stretch>
              <a:fillRect/>
            </a:stretch>
          </p:blipFill>
          <p:spPr>
            <a:xfrm>
              <a:off x="2063750" y="260413"/>
              <a:ext cx="8353425" cy="6246749"/>
            </a:xfrm>
            <a:prstGeom prst="rect">
              <a:avLst/>
            </a:prstGeom>
          </p:spPr>
        </p:pic>
        <p:pic>
          <p:nvPicPr>
            <p:cNvPr id="4" name="object 4" descr=""/>
            <p:cNvPicPr/>
            <p:nvPr/>
          </p:nvPicPr>
          <p:blipFill>
            <a:blip r:embed="rId3" cstate="print"/>
            <a:stretch>
              <a:fillRect/>
            </a:stretch>
          </p:blipFill>
          <p:spPr>
            <a:xfrm>
              <a:off x="8939148" y="6165849"/>
              <a:ext cx="1200150" cy="239712"/>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rPr>
              <a:t>	2.2</a:t>
            </a:r>
            <a:r>
              <a:rPr dirty="0" spc="5">
                <a:solidFill>
                  <a:srgbClr val="4F55AC"/>
                </a:solidFill>
              </a:rPr>
              <a:t> </a:t>
            </a:r>
            <a:r>
              <a:rPr dirty="0" spc="-10">
                <a:solidFill>
                  <a:srgbClr val="4F55AC"/>
                </a:solidFill>
                <a:latin typeface="微软雅黑"/>
                <a:cs typeface="微软雅黑"/>
              </a:rPr>
              <a:t>指令系统的寻址方</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4" name="object 4" descr=""/>
          <p:cNvSpPr txBox="1"/>
          <p:nvPr/>
        </p:nvSpPr>
        <p:spPr>
          <a:xfrm>
            <a:off x="1926717" y="1379152"/>
            <a:ext cx="8835390" cy="4394200"/>
          </a:xfrm>
          <a:prstGeom prst="rect">
            <a:avLst/>
          </a:prstGeom>
        </p:spPr>
        <p:txBody>
          <a:bodyPr wrap="square" lIns="0" tIns="12065" rIns="0" bIns="0" rtlCol="0" vert="horz">
            <a:spAutoFit/>
          </a:bodyPr>
          <a:lstStyle/>
          <a:p>
            <a:pPr marL="355600" marR="5080" indent="-342900">
              <a:lnSpc>
                <a:spcPct val="130000"/>
              </a:lnSpc>
              <a:spcBef>
                <a:spcPts val="95"/>
              </a:spcBef>
              <a:buFont typeface="Wingdings"/>
              <a:buChar char=""/>
              <a:tabLst>
                <a:tab pos="355600" algn="l"/>
                <a:tab pos="689610" algn="l"/>
              </a:tabLst>
            </a:pPr>
            <a:r>
              <a:rPr dirty="0" sz="3300">
                <a:solidFill>
                  <a:srgbClr val="40458B"/>
                </a:solidFill>
                <a:latin typeface="Times New Roman"/>
                <a:cs typeface="Times New Roman"/>
              </a:rPr>
              <a:t>	</a:t>
            </a:r>
            <a:r>
              <a:rPr dirty="0" sz="2800" spc="-10">
                <a:solidFill>
                  <a:srgbClr val="172152"/>
                </a:solidFill>
                <a:latin typeface="Tahoma"/>
                <a:cs typeface="Tahoma"/>
              </a:rPr>
              <a:t>2</a:t>
            </a:r>
            <a:r>
              <a:rPr dirty="0" sz="2800" spc="-55">
                <a:solidFill>
                  <a:srgbClr val="172152"/>
                </a:solidFill>
                <a:latin typeface="黑体"/>
                <a:cs typeface="黑体"/>
              </a:rPr>
              <a:t>、操作数寻址为什么采用多种寻址方式 </a:t>
            </a:r>
            <a:r>
              <a:rPr dirty="0" sz="2800" spc="-25">
                <a:solidFill>
                  <a:srgbClr val="172152"/>
                </a:solidFill>
                <a:latin typeface="黑体"/>
                <a:cs typeface="黑体"/>
              </a:rPr>
              <a:t>（</a:t>
            </a:r>
            <a:r>
              <a:rPr dirty="0" sz="2800" spc="-35">
                <a:solidFill>
                  <a:srgbClr val="172152"/>
                </a:solidFill>
                <a:latin typeface="黑体"/>
                <a:cs typeface="黑体"/>
              </a:rPr>
              <a:t>由上页图分析</a:t>
            </a:r>
            <a:r>
              <a:rPr dirty="0" sz="2800" spc="-50">
                <a:solidFill>
                  <a:srgbClr val="172152"/>
                </a:solidFill>
                <a:latin typeface="黑体"/>
                <a:cs typeface="黑体"/>
              </a:rPr>
              <a:t>）</a:t>
            </a:r>
            <a:endParaRPr sz="2800">
              <a:latin typeface="黑体"/>
              <a:cs typeface="黑体"/>
            </a:endParaRPr>
          </a:p>
          <a:p>
            <a:pPr lvl="1" marL="696595" indent="-272415">
              <a:lnSpc>
                <a:spcPct val="100000"/>
              </a:lnSpc>
              <a:spcBef>
                <a:spcPts val="1445"/>
              </a:spcBef>
              <a:buSzPct val="88636"/>
              <a:buFont typeface="Wingdings"/>
              <a:buChar char=""/>
              <a:tabLst>
                <a:tab pos="696595" algn="l"/>
              </a:tabLst>
            </a:pPr>
            <a:r>
              <a:rPr dirty="0" sz="2200" spc="-35">
                <a:solidFill>
                  <a:srgbClr val="006FC0"/>
                </a:solidFill>
                <a:latin typeface="黑体"/>
                <a:cs typeface="黑体"/>
              </a:rPr>
              <a:t>可以显著地减少程序的指令条数</a:t>
            </a:r>
            <a:endParaRPr sz="2200">
              <a:latin typeface="黑体"/>
              <a:cs typeface="黑体"/>
            </a:endParaRPr>
          </a:p>
          <a:p>
            <a:pPr lvl="1" marL="696595" indent="-272415">
              <a:lnSpc>
                <a:spcPct val="100000"/>
              </a:lnSpc>
              <a:spcBef>
                <a:spcPts val="1320"/>
              </a:spcBef>
              <a:buSzPct val="88636"/>
              <a:buFont typeface="Wingdings"/>
              <a:buChar char=""/>
              <a:tabLst>
                <a:tab pos="696595" algn="l"/>
              </a:tabLst>
            </a:pPr>
            <a:r>
              <a:rPr dirty="0" sz="2200" spc="-35">
                <a:solidFill>
                  <a:srgbClr val="006FC0"/>
                </a:solidFill>
                <a:latin typeface="黑体"/>
                <a:cs typeface="黑体"/>
              </a:rPr>
              <a:t>缩短指令长度、扩大寻址空间，提高编程灵活性</a:t>
            </a:r>
            <a:endParaRPr sz="2200">
              <a:latin typeface="黑体"/>
              <a:cs typeface="黑体"/>
            </a:endParaRPr>
          </a:p>
          <a:p>
            <a:pPr lvl="1" marL="697230" indent="-273050">
              <a:lnSpc>
                <a:spcPct val="100000"/>
              </a:lnSpc>
              <a:spcBef>
                <a:spcPts val="1320"/>
              </a:spcBef>
              <a:buClr>
                <a:srgbClr val="006FC0"/>
              </a:buClr>
              <a:buSzPct val="88636"/>
              <a:buFont typeface="Wingdings"/>
              <a:buChar char=""/>
              <a:tabLst>
                <a:tab pos="697230" algn="l"/>
              </a:tabLst>
            </a:pPr>
            <a:r>
              <a:rPr dirty="0" sz="2200" spc="-30">
                <a:solidFill>
                  <a:srgbClr val="FF0000"/>
                </a:solidFill>
                <a:latin typeface="黑体"/>
                <a:cs typeface="黑体"/>
              </a:rPr>
              <a:t>但可能增加计算机的实现复杂度以及指令的</a:t>
            </a:r>
            <a:r>
              <a:rPr dirty="0" sz="2200" spc="-25">
                <a:solidFill>
                  <a:srgbClr val="FF0000"/>
                </a:solidFill>
                <a:latin typeface="黑体"/>
                <a:cs typeface="黑体"/>
              </a:rPr>
              <a:t>CPI</a:t>
            </a:r>
            <a:endParaRPr sz="2200">
              <a:latin typeface="黑体"/>
              <a:cs typeface="黑体"/>
            </a:endParaRPr>
          </a:p>
          <a:p>
            <a:pPr algn="just" marL="355600" marR="291465" indent="-346710">
              <a:lnSpc>
                <a:spcPct val="126499"/>
              </a:lnSpc>
              <a:spcBef>
                <a:spcPts val="10"/>
              </a:spcBef>
              <a:buClr>
                <a:srgbClr val="40458B"/>
              </a:buClr>
              <a:buSzPct val="117857"/>
              <a:buFont typeface="Wingdings"/>
              <a:buChar char=""/>
              <a:tabLst>
                <a:tab pos="355600" algn="l"/>
              </a:tabLst>
            </a:pPr>
            <a:r>
              <a:rPr dirty="0" sz="2800" spc="-40">
                <a:solidFill>
                  <a:srgbClr val="172152"/>
                </a:solidFill>
                <a:latin typeface="黑体"/>
                <a:cs typeface="黑体"/>
              </a:rPr>
              <a:t>需要有选择的使用寻址方式，如下图与表，分析寻址方式的使用情况，进而如何对操作数寻址方式进行优化设计</a:t>
            </a:r>
            <a:endParaRPr sz="2800">
              <a:latin typeface="黑体"/>
              <a:cs typeface="黑体"/>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2.2</a:t>
            </a:r>
            <a:r>
              <a:rPr dirty="0" spc="-35">
                <a:solidFill>
                  <a:srgbClr val="4F55AC"/>
                </a:solidFill>
              </a:rPr>
              <a:t> </a:t>
            </a:r>
            <a:r>
              <a:rPr dirty="0">
                <a:solidFill>
                  <a:srgbClr val="4F55AC"/>
                </a:solidFill>
                <a:latin typeface="微软雅黑"/>
                <a:cs typeface="微软雅黑"/>
              </a:rPr>
              <a:t>指令系统的寻址方</a:t>
            </a:r>
            <a:r>
              <a:rPr dirty="0" spc="-50">
                <a:solidFill>
                  <a:srgbClr val="4F55AC"/>
                </a:solidFill>
                <a:latin typeface="微软雅黑"/>
                <a:cs typeface="微软雅黑"/>
              </a:rPr>
              <a:t>式</a:t>
            </a:r>
            <a:r>
              <a:rPr dirty="0">
                <a:solidFill>
                  <a:srgbClr val="4F55AC"/>
                </a:solidFill>
                <a:latin typeface="微软雅黑"/>
                <a:cs typeface="微软雅黑"/>
              </a:rPr>
              <a:t>	</a:t>
            </a:r>
          </a:p>
        </p:txBody>
      </p:sp>
      <p:grpSp>
        <p:nvGrpSpPr>
          <p:cNvPr id="4" name="object 4" descr=""/>
          <p:cNvGrpSpPr/>
          <p:nvPr/>
        </p:nvGrpSpPr>
        <p:grpSpPr>
          <a:xfrm>
            <a:off x="2847863" y="2255776"/>
            <a:ext cx="7037705" cy="2507615"/>
            <a:chOff x="2847863" y="2255776"/>
            <a:chExt cx="7037705" cy="2507615"/>
          </a:xfrm>
        </p:grpSpPr>
        <p:sp>
          <p:nvSpPr>
            <p:cNvPr id="5" name="object 5" descr=""/>
            <p:cNvSpPr/>
            <p:nvPr/>
          </p:nvSpPr>
          <p:spPr>
            <a:xfrm>
              <a:off x="3012152" y="4666007"/>
              <a:ext cx="393065" cy="71120"/>
            </a:xfrm>
            <a:custGeom>
              <a:avLst/>
              <a:gdLst/>
              <a:ahLst/>
              <a:cxnLst/>
              <a:rect l="l" t="t" r="r" b="b"/>
              <a:pathLst>
                <a:path w="393064" h="71120">
                  <a:moveTo>
                    <a:pt x="0" y="70943"/>
                  </a:moveTo>
                  <a:lnTo>
                    <a:pt x="392626" y="70943"/>
                  </a:lnTo>
                  <a:lnTo>
                    <a:pt x="392626" y="0"/>
                  </a:lnTo>
                  <a:lnTo>
                    <a:pt x="0" y="0"/>
                  </a:lnTo>
                  <a:lnTo>
                    <a:pt x="0" y="70943"/>
                  </a:lnTo>
                  <a:close/>
                </a:path>
              </a:pathLst>
            </a:custGeom>
            <a:solidFill>
              <a:srgbClr val="FF99CC"/>
            </a:solidFill>
          </p:spPr>
          <p:txBody>
            <a:bodyPr wrap="square" lIns="0" tIns="0" rIns="0" bIns="0" rtlCol="0"/>
            <a:lstStyle/>
            <a:p/>
          </p:txBody>
        </p:sp>
        <p:sp>
          <p:nvSpPr>
            <p:cNvPr id="6" name="object 6" descr=""/>
            <p:cNvSpPr/>
            <p:nvPr/>
          </p:nvSpPr>
          <p:spPr>
            <a:xfrm>
              <a:off x="3012152" y="4666007"/>
              <a:ext cx="400685" cy="71120"/>
            </a:xfrm>
            <a:custGeom>
              <a:avLst/>
              <a:gdLst/>
              <a:ahLst/>
              <a:cxnLst/>
              <a:rect l="l" t="t" r="r" b="b"/>
              <a:pathLst>
                <a:path w="400685" h="71120">
                  <a:moveTo>
                    <a:pt x="0" y="70943"/>
                  </a:moveTo>
                  <a:lnTo>
                    <a:pt x="400171" y="70943"/>
                  </a:lnTo>
                  <a:lnTo>
                    <a:pt x="400171" y="0"/>
                  </a:lnTo>
                  <a:lnTo>
                    <a:pt x="0" y="0"/>
                  </a:lnTo>
                  <a:lnTo>
                    <a:pt x="0" y="70943"/>
                  </a:lnTo>
                  <a:close/>
                </a:path>
              </a:pathLst>
            </a:custGeom>
            <a:ln w="16244">
              <a:solidFill>
                <a:srgbClr val="000000"/>
              </a:solidFill>
            </a:ln>
          </p:spPr>
          <p:txBody>
            <a:bodyPr wrap="square" lIns="0" tIns="0" rIns="0" bIns="0" rtlCol="0"/>
            <a:lstStyle/>
            <a:p/>
          </p:txBody>
        </p:sp>
        <p:sp>
          <p:nvSpPr>
            <p:cNvPr id="7" name="object 7" descr=""/>
            <p:cNvSpPr/>
            <p:nvPr/>
          </p:nvSpPr>
          <p:spPr>
            <a:xfrm>
              <a:off x="3404779" y="4524114"/>
              <a:ext cx="413384" cy="221615"/>
            </a:xfrm>
            <a:custGeom>
              <a:avLst/>
              <a:gdLst/>
              <a:ahLst/>
              <a:cxnLst/>
              <a:rect l="l" t="t" r="r" b="b"/>
              <a:pathLst>
                <a:path w="413385" h="221614">
                  <a:moveTo>
                    <a:pt x="413109" y="0"/>
                  </a:moveTo>
                  <a:lnTo>
                    <a:pt x="0" y="0"/>
                  </a:lnTo>
                  <a:lnTo>
                    <a:pt x="0" y="221213"/>
                  </a:lnTo>
                  <a:lnTo>
                    <a:pt x="413109" y="221213"/>
                  </a:lnTo>
                  <a:lnTo>
                    <a:pt x="413109" y="0"/>
                  </a:lnTo>
                  <a:close/>
                </a:path>
              </a:pathLst>
            </a:custGeom>
            <a:solidFill>
              <a:srgbClr val="CCFFFF"/>
            </a:solidFill>
          </p:spPr>
          <p:txBody>
            <a:bodyPr wrap="square" lIns="0" tIns="0" rIns="0" bIns="0" rtlCol="0"/>
            <a:lstStyle/>
            <a:p/>
          </p:txBody>
        </p:sp>
        <p:sp>
          <p:nvSpPr>
            <p:cNvPr id="8" name="object 8" descr=""/>
            <p:cNvSpPr/>
            <p:nvPr/>
          </p:nvSpPr>
          <p:spPr>
            <a:xfrm>
              <a:off x="3404779" y="4524114"/>
              <a:ext cx="413384" cy="221615"/>
            </a:xfrm>
            <a:custGeom>
              <a:avLst/>
              <a:gdLst/>
              <a:ahLst/>
              <a:cxnLst/>
              <a:rect l="l" t="t" r="r" b="b"/>
              <a:pathLst>
                <a:path w="413385" h="221614">
                  <a:moveTo>
                    <a:pt x="0" y="221213"/>
                  </a:moveTo>
                  <a:lnTo>
                    <a:pt x="413109" y="221213"/>
                  </a:lnTo>
                  <a:lnTo>
                    <a:pt x="413109" y="0"/>
                  </a:lnTo>
                  <a:lnTo>
                    <a:pt x="0" y="0"/>
                  </a:lnTo>
                  <a:lnTo>
                    <a:pt x="0" y="221213"/>
                  </a:lnTo>
                  <a:close/>
                </a:path>
              </a:pathLst>
            </a:custGeom>
            <a:ln w="16120">
              <a:solidFill>
                <a:srgbClr val="000000"/>
              </a:solidFill>
            </a:ln>
          </p:spPr>
          <p:txBody>
            <a:bodyPr wrap="square" lIns="0" tIns="0" rIns="0" bIns="0" rtlCol="0"/>
            <a:lstStyle/>
            <a:p/>
          </p:txBody>
        </p:sp>
        <p:sp>
          <p:nvSpPr>
            <p:cNvPr id="9" name="object 9" descr=""/>
            <p:cNvSpPr/>
            <p:nvPr/>
          </p:nvSpPr>
          <p:spPr>
            <a:xfrm>
              <a:off x="4704946" y="4185597"/>
              <a:ext cx="414020" cy="557530"/>
            </a:xfrm>
            <a:custGeom>
              <a:avLst/>
              <a:gdLst/>
              <a:ahLst/>
              <a:cxnLst/>
              <a:rect l="l" t="t" r="r" b="b"/>
              <a:pathLst>
                <a:path w="414020" h="557529">
                  <a:moveTo>
                    <a:pt x="413652" y="0"/>
                  </a:moveTo>
                  <a:lnTo>
                    <a:pt x="0" y="0"/>
                  </a:lnTo>
                  <a:lnTo>
                    <a:pt x="0" y="556945"/>
                  </a:lnTo>
                  <a:lnTo>
                    <a:pt x="413652" y="556945"/>
                  </a:lnTo>
                  <a:lnTo>
                    <a:pt x="413652" y="0"/>
                  </a:lnTo>
                  <a:close/>
                </a:path>
              </a:pathLst>
            </a:custGeom>
            <a:solidFill>
              <a:srgbClr val="CCFFFF"/>
            </a:solidFill>
          </p:spPr>
          <p:txBody>
            <a:bodyPr wrap="square" lIns="0" tIns="0" rIns="0" bIns="0" rtlCol="0"/>
            <a:lstStyle/>
            <a:p/>
          </p:txBody>
        </p:sp>
        <p:sp>
          <p:nvSpPr>
            <p:cNvPr id="10" name="object 10" descr=""/>
            <p:cNvSpPr/>
            <p:nvPr/>
          </p:nvSpPr>
          <p:spPr>
            <a:xfrm>
              <a:off x="4704946" y="4185597"/>
              <a:ext cx="414020" cy="557530"/>
            </a:xfrm>
            <a:custGeom>
              <a:avLst/>
              <a:gdLst/>
              <a:ahLst/>
              <a:cxnLst/>
              <a:rect l="l" t="t" r="r" b="b"/>
              <a:pathLst>
                <a:path w="414020" h="557529">
                  <a:moveTo>
                    <a:pt x="0" y="556945"/>
                  </a:moveTo>
                  <a:lnTo>
                    <a:pt x="413652" y="556945"/>
                  </a:lnTo>
                  <a:lnTo>
                    <a:pt x="413652" y="0"/>
                  </a:lnTo>
                  <a:lnTo>
                    <a:pt x="0" y="0"/>
                  </a:lnTo>
                  <a:lnTo>
                    <a:pt x="0" y="556945"/>
                  </a:lnTo>
                  <a:close/>
                </a:path>
              </a:pathLst>
            </a:custGeom>
            <a:ln w="15848">
              <a:solidFill>
                <a:srgbClr val="000000"/>
              </a:solidFill>
            </a:ln>
          </p:spPr>
          <p:txBody>
            <a:bodyPr wrap="square" lIns="0" tIns="0" rIns="0" bIns="0" rtlCol="0"/>
            <a:lstStyle/>
            <a:p/>
          </p:txBody>
        </p:sp>
        <p:sp>
          <p:nvSpPr>
            <p:cNvPr id="11" name="object 11" descr=""/>
            <p:cNvSpPr/>
            <p:nvPr/>
          </p:nvSpPr>
          <p:spPr>
            <a:xfrm>
              <a:off x="5118511" y="4521329"/>
              <a:ext cx="421640" cy="221615"/>
            </a:xfrm>
            <a:custGeom>
              <a:avLst/>
              <a:gdLst/>
              <a:ahLst/>
              <a:cxnLst/>
              <a:rect l="l" t="t" r="r" b="b"/>
              <a:pathLst>
                <a:path w="421639" h="221614">
                  <a:moveTo>
                    <a:pt x="421176" y="0"/>
                  </a:moveTo>
                  <a:lnTo>
                    <a:pt x="0" y="0"/>
                  </a:lnTo>
                  <a:lnTo>
                    <a:pt x="0" y="221213"/>
                  </a:lnTo>
                  <a:lnTo>
                    <a:pt x="421176" y="221213"/>
                  </a:lnTo>
                  <a:lnTo>
                    <a:pt x="421176" y="0"/>
                  </a:lnTo>
                  <a:close/>
                </a:path>
              </a:pathLst>
            </a:custGeom>
            <a:solidFill>
              <a:srgbClr val="FFFF99"/>
            </a:solidFill>
          </p:spPr>
          <p:txBody>
            <a:bodyPr wrap="square" lIns="0" tIns="0" rIns="0" bIns="0" rtlCol="0"/>
            <a:lstStyle/>
            <a:p/>
          </p:txBody>
        </p:sp>
        <p:sp>
          <p:nvSpPr>
            <p:cNvPr id="12" name="object 12" descr=""/>
            <p:cNvSpPr/>
            <p:nvPr/>
          </p:nvSpPr>
          <p:spPr>
            <a:xfrm>
              <a:off x="5118511" y="4521329"/>
              <a:ext cx="421640" cy="221615"/>
            </a:xfrm>
            <a:custGeom>
              <a:avLst/>
              <a:gdLst/>
              <a:ahLst/>
              <a:cxnLst/>
              <a:rect l="l" t="t" r="r" b="b"/>
              <a:pathLst>
                <a:path w="421639" h="221614">
                  <a:moveTo>
                    <a:pt x="0" y="221213"/>
                  </a:moveTo>
                  <a:lnTo>
                    <a:pt x="421176" y="221213"/>
                  </a:lnTo>
                  <a:lnTo>
                    <a:pt x="421176" y="0"/>
                  </a:lnTo>
                  <a:lnTo>
                    <a:pt x="0" y="0"/>
                  </a:lnTo>
                  <a:lnTo>
                    <a:pt x="0" y="221213"/>
                  </a:lnTo>
                  <a:close/>
                </a:path>
              </a:pathLst>
            </a:custGeom>
            <a:ln w="16125">
              <a:solidFill>
                <a:srgbClr val="000000"/>
              </a:solidFill>
            </a:ln>
          </p:spPr>
          <p:txBody>
            <a:bodyPr wrap="square" lIns="0" tIns="0" rIns="0" bIns="0" rtlCol="0"/>
            <a:lstStyle/>
            <a:p/>
          </p:txBody>
        </p:sp>
        <p:sp>
          <p:nvSpPr>
            <p:cNvPr id="13" name="object 13" descr=""/>
            <p:cNvSpPr/>
            <p:nvPr/>
          </p:nvSpPr>
          <p:spPr>
            <a:xfrm>
              <a:off x="2865643" y="2272921"/>
              <a:ext cx="47625" cy="2470150"/>
            </a:xfrm>
            <a:custGeom>
              <a:avLst/>
              <a:gdLst/>
              <a:ahLst/>
              <a:cxnLst/>
              <a:rect l="l" t="t" r="r" b="b"/>
              <a:pathLst>
                <a:path w="47625" h="2470150">
                  <a:moveTo>
                    <a:pt x="0" y="0"/>
                  </a:moveTo>
                  <a:lnTo>
                    <a:pt x="0" y="2469621"/>
                  </a:lnTo>
                  <a:lnTo>
                    <a:pt x="47401" y="2469621"/>
                  </a:lnTo>
                </a:path>
              </a:pathLst>
            </a:custGeom>
            <a:ln w="33931">
              <a:solidFill>
                <a:srgbClr val="000000"/>
              </a:solidFill>
            </a:ln>
          </p:spPr>
          <p:txBody>
            <a:bodyPr wrap="square" lIns="0" tIns="0" rIns="0" bIns="0" rtlCol="0"/>
            <a:lstStyle/>
            <a:p/>
          </p:txBody>
        </p:sp>
        <p:sp>
          <p:nvSpPr>
            <p:cNvPr id="14" name="object 14" descr=""/>
            <p:cNvSpPr/>
            <p:nvPr/>
          </p:nvSpPr>
          <p:spPr>
            <a:xfrm>
              <a:off x="2865643" y="2272921"/>
              <a:ext cx="47625" cy="2115185"/>
            </a:xfrm>
            <a:custGeom>
              <a:avLst/>
              <a:gdLst/>
              <a:ahLst/>
              <a:cxnLst/>
              <a:rect l="l" t="t" r="r" b="b"/>
              <a:pathLst>
                <a:path w="47625" h="2115185">
                  <a:moveTo>
                    <a:pt x="0" y="2114891"/>
                  </a:moveTo>
                  <a:lnTo>
                    <a:pt x="47401" y="2114891"/>
                  </a:lnTo>
                </a:path>
                <a:path w="47625" h="2115185">
                  <a:moveTo>
                    <a:pt x="0" y="1760160"/>
                  </a:moveTo>
                  <a:lnTo>
                    <a:pt x="47401" y="1760160"/>
                  </a:lnTo>
                </a:path>
                <a:path w="47625" h="2115185">
                  <a:moveTo>
                    <a:pt x="0" y="1402644"/>
                  </a:moveTo>
                  <a:lnTo>
                    <a:pt x="47401" y="1405451"/>
                  </a:lnTo>
                </a:path>
                <a:path w="47625" h="2115185">
                  <a:moveTo>
                    <a:pt x="0" y="1064124"/>
                  </a:moveTo>
                  <a:lnTo>
                    <a:pt x="47401" y="1066932"/>
                  </a:lnTo>
                </a:path>
                <a:path w="47625" h="2115185">
                  <a:moveTo>
                    <a:pt x="0" y="709371"/>
                  </a:moveTo>
                  <a:lnTo>
                    <a:pt x="47401" y="712088"/>
                  </a:lnTo>
                </a:path>
                <a:path w="47625" h="2115185">
                  <a:moveTo>
                    <a:pt x="0" y="354572"/>
                  </a:moveTo>
                  <a:lnTo>
                    <a:pt x="47401" y="354572"/>
                  </a:lnTo>
                </a:path>
                <a:path w="47625" h="2115185">
                  <a:moveTo>
                    <a:pt x="0" y="0"/>
                  </a:moveTo>
                  <a:lnTo>
                    <a:pt x="47401" y="0"/>
                  </a:lnTo>
                </a:path>
              </a:pathLst>
            </a:custGeom>
            <a:ln w="15941">
              <a:solidFill>
                <a:srgbClr val="000000"/>
              </a:solidFill>
            </a:ln>
          </p:spPr>
          <p:txBody>
            <a:bodyPr wrap="square" lIns="0" tIns="0" rIns="0" bIns="0" rtlCol="0"/>
            <a:lstStyle/>
            <a:p/>
          </p:txBody>
        </p:sp>
        <p:sp>
          <p:nvSpPr>
            <p:cNvPr id="15" name="object 15" descr=""/>
            <p:cNvSpPr/>
            <p:nvPr/>
          </p:nvSpPr>
          <p:spPr>
            <a:xfrm>
              <a:off x="2865643" y="4742543"/>
              <a:ext cx="7002145" cy="3175"/>
            </a:xfrm>
            <a:custGeom>
              <a:avLst/>
              <a:gdLst/>
              <a:ahLst/>
              <a:cxnLst/>
              <a:rect l="l" t="t" r="r" b="b"/>
              <a:pathLst>
                <a:path w="7002145" h="3175">
                  <a:moveTo>
                    <a:pt x="0" y="0"/>
                  </a:moveTo>
                  <a:lnTo>
                    <a:pt x="7001700" y="2785"/>
                  </a:lnTo>
                </a:path>
              </a:pathLst>
            </a:custGeom>
            <a:ln w="35332">
              <a:solidFill>
                <a:srgbClr val="000000"/>
              </a:solidFill>
            </a:ln>
          </p:spPr>
          <p:txBody>
            <a:bodyPr wrap="square" lIns="0" tIns="0" rIns="0" bIns="0" rtlCol="0"/>
            <a:lstStyle/>
            <a:p/>
          </p:txBody>
        </p:sp>
        <p:sp>
          <p:nvSpPr>
            <p:cNvPr id="16" name="object 16" descr=""/>
            <p:cNvSpPr/>
            <p:nvPr/>
          </p:nvSpPr>
          <p:spPr>
            <a:xfrm>
              <a:off x="2865643" y="4690580"/>
              <a:ext cx="7002145" cy="52069"/>
            </a:xfrm>
            <a:custGeom>
              <a:avLst/>
              <a:gdLst/>
              <a:ahLst/>
              <a:cxnLst/>
              <a:rect l="l" t="t" r="r" b="b"/>
              <a:pathLst>
                <a:path w="7002145" h="52070">
                  <a:moveTo>
                    <a:pt x="0" y="51963"/>
                  </a:moveTo>
                  <a:lnTo>
                    <a:pt x="0" y="0"/>
                  </a:lnTo>
                </a:path>
                <a:path w="7002145" h="52070">
                  <a:moveTo>
                    <a:pt x="1399818" y="51963"/>
                  </a:moveTo>
                  <a:lnTo>
                    <a:pt x="1402514" y="0"/>
                  </a:lnTo>
                </a:path>
                <a:path w="7002145" h="52070">
                  <a:moveTo>
                    <a:pt x="2799723" y="51963"/>
                  </a:moveTo>
                  <a:lnTo>
                    <a:pt x="2802332" y="0"/>
                  </a:lnTo>
                </a:path>
                <a:path w="7002145" h="52070">
                  <a:moveTo>
                    <a:pt x="4202194" y="51963"/>
                  </a:moveTo>
                  <a:lnTo>
                    <a:pt x="4202194" y="0"/>
                  </a:lnTo>
                </a:path>
                <a:path w="7002145" h="52070">
                  <a:moveTo>
                    <a:pt x="5602056" y="51963"/>
                  </a:moveTo>
                  <a:lnTo>
                    <a:pt x="5602056" y="0"/>
                  </a:lnTo>
                </a:path>
                <a:path w="7002145" h="52070">
                  <a:moveTo>
                    <a:pt x="7001700" y="51963"/>
                  </a:moveTo>
                  <a:lnTo>
                    <a:pt x="7001700" y="0"/>
                  </a:lnTo>
                </a:path>
              </a:pathLst>
            </a:custGeom>
            <a:ln w="15941">
              <a:solidFill>
                <a:srgbClr val="000000"/>
              </a:solidFill>
            </a:ln>
          </p:spPr>
          <p:txBody>
            <a:bodyPr wrap="square" lIns="0" tIns="0" rIns="0" bIns="0" rtlCol="0"/>
            <a:lstStyle/>
            <a:p/>
          </p:txBody>
        </p:sp>
      </p:grpSp>
      <p:sp>
        <p:nvSpPr>
          <p:cNvPr id="17" name="object 17" descr=""/>
          <p:cNvSpPr txBox="1"/>
          <p:nvPr/>
        </p:nvSpPr>
        <p:spPr>
          <a:xfrm>
            <a:off x="3025828" y="4396081"/>
            <a:ext cx="290830" cy="271780"/>
          </a:xfrm>
          <a:prstGeom prst="rect">
            <a:avLst/>
          </a:prstGeom>
        </p:spPr>
        <p:txBody>
          <a:bodyPr wrap="square" lIns="0" tIns="14604" rIns="0" bIns="0" rtlCol="0" vert="horz">
            <a:spAutoFit/>
          </a:bodyPr>
          <a:lstStyle/>
          <a:p>
            <a:pPr marL="12700">
              <a:lnSpc>
                <a:spcPct val="100000"/>
              </a:lnSpc>
              <a:spcBef>
                <a:spcPts val="114"/>
              </a:spcBef>
            </a:pPr>
            <a:r>
              <a:rPr dirty="0" sz="1600" spc="-25">
                <a:latin typeface="Times New Roman"/>
                <a:cs typeface="Times New Roman"/>
              </a:rPr>
              <a:t>1%</a:t>
            </a:r>
            <a:endParaRPr sz="1600">
              <a:latin typeface="Times New Roman"/>
              <a:cs typeface="Times New Roman"/>
            </a:endParaRPr>
          </a:p>
        </p:txBody>
      </p:sp>
      <p:sp>
        <p:nvSpPr>
          <p:cNvPr id="18" name="object 18" descr=""/>
          <p:cNvSpPr txBox="1"/>
          <p:nvPr/>
        </p:nvSpPr>
        <p:spPr>
          <a:xfrm>
            <a:off x="4420275" y="4464799"/>
            <a:ext cx="290830" cy="271780"/>
          </a:xfrm>
          <a:prstGeom prst="rect">
            <a:avLst/>
          </a:prstGeom>
        </p:spPr>
        <p:txBody>
          <a:bodyPr wrap="square" lIns="0" tIns="14604" rIns="0" bIns="0" rtlCol="0" vert="horz">
            <a:spAutoFit/>
          </a:bodyPr>
          <a:lstStyle/>
          <a:p>
            <a:pPr marL="12700">
              <a:lnSpc>
                <a:spcPct val="100000"/>
              </a:lnSpc>
              <a:spcBef>
                <a:spcPts val="114"/>
              </a:spcBef>
            </a:pPr>
            <a:r>
              <a:rPr dirty="0" sz="1600" spc="-25">
                <a:latin typeface="Times New Roman"/>
                <a:cs typeface="Times New Roman"/>
              </a:rPr>
              <a:t>0%</a:t>
            </a:r>
            <a:endParaRPr sz="1600">
              <a:latin typeface="Times New Roman"/>
              <a:cs typeface="Times New Roman"/>
            </a:endParaRPr>
          </a:p>
        </p:txBody>
      </p:sp>
      <p:sp>
        <p:nvSpPr>
          <p:cNvPr id="19" name="object 19" descr=""/>
          <p:cNvSpPr txBox="1"/>
          <p:nvPr/>
        </p:nvSpPr>
        <p:spPr>
          <a:xfrm>
            <a:off x="5754427" y="3621275"/>
            <a:ext cx="390525" cy="271780"/>
          </a:xfrm>
          <a:prstGeom prst="rect">
            <a:avLst/>
          </a:prstGeom>
        </p:spPr>
        <p:txBody>
          <a:bodyPr wrap="square" lIns="0" tIns="14604" rIns="0" bIns="0" rtlCol="0" vert="horz">
            <a:spAutoFit/>
          </a:bodyPr>
          <a:lstStyle/>
          <a:p>
            <a:pPr marL="12700">
              <a:lnSpc>
                <a:spcPct val="100000"/>
              </a:lnSpc>
              <a:spcBef>
                <a:spcPts val="114"/>
              </a:spcBef>
            </a:pPr>
            <a:r>
              <a:rPr dirty="0" sz="1600" spc="-25">
                <a:latin typeface="Times New Roman"/>
                <a:cs typeface="Times New Roman"/>
              </a:rPr>
              <a:t>24%</a:t>
            </a:r>
            <a:endParaRPr sz="1600">
              <a:latin typeface="Times New Roman"/>
              <a:cs typeface="Times New Roman"/>
            </a:endParaRPr>
          </a:p>
        </p:txBody>
      </p:sp>
      <p:sp>
        <p:nvSpPr>
          <p:cNvPr id="20" name="object 20" descr=""/>
          <p:cNvSpPr txBox="1"/>
          <p:nvPr/>
        </p:nvSpPr>
        <p:spPr>
          <a:xfrm>
            <a:off x="7162334" y="2936402"/>
            <a:ext cx="390525" cy="271780"/>
          </a:xfrm>
          <a:prstGeom prst="rect">
            <a:avLst/>
          </a:prstGeom>
        </p:spPr>
        <p:txBody>
          <a:bodyPr wrap="square" lIns="0" tIns="14604" rIns="0" bIns="0" rtlCol="0" vert="horz">
            <a:spAutoFit/>
          </a:bodyPr>
          <a:lstStyle/>
          <a:p>
            <a:pPr marL="12700">
              <a:lnSpc>
                <a:spcPct val="100000"/>
              </a:lnSpc>
              <a:spcBef>
                <a:spcPts val="114"/>
              </a:spcBef>
            </a:pPr>
            <a:r>
              <a:rPr dirty="0" sz="1600" spc="-25">
                <a:latin typeface="Times New Roman"/>
                <a:cs typeface="Times New Roman"/>
              </a:rPr>
              <a:t>43%</a:t>
            </a:r>
            <a:endParaRPr sz="1600">
              <a:latin typeface="Times New Roman"/>
              <a:cs typeface="Times New Roman"/>
            </a:endParaRPr>
          </a:p>
        </p:txBody>
      </p:sp>
      <p:sp>
        <p:nvSpPr>
          <p:cNvPr id="21" name="object 21" descr=""/>
          <p:cNvSpPr txBox="1"/>
          <p:nvPr/>
        </p:nvSpPr>
        <p:spPr>
          <a:xfrm>
            <a:off x="8549150" y="3296725"/>
            <a:ext cx="390525" cy="271780"/>
          </a:xfrm>
          <a:prstGeom prst="rect">
            <a:avLst/>
          </a:prstGeom>
        </p:spPr>
        <p:txBody>
          <a:bodyPr wrap="square" lIns="0" tIns="14604" rIns="0" bIns="0" rtlCol="0" vert="horz">
            <a:spAutoFit/>
          </a:bodyPr>
          <a:lstStyle/>
          <a:p>
            <a:pPr marL="12700">
              <a:lnSpc>
                <a:spcPct val="100000"/>
              </a:lnSpc>
              <a:spcBef>
                <a:spcPts val="114"/>
              </a:spcBef>
            </a:pPr>
            <a:r>
              <a:rPr dirty="0" sz="1600" spc="-25">
                <a:latin typeface="Times New Roman"/>
                <a:cs typeface="Times New Roman"/>
              </a:rPr>
              <a:t>32%</a:t>
            </a:r>
            <a:endParaRPr sz="1600">
              <a:latin typeface="Times New Roman"/>
              <a:cs typeface="Times New Roman"/>
            </a:endParaRPr>
          </a:p>
        </p:txBody>
      </p:sp>
      <p:sp>
        <p:nvSpPr>
          <p:cNvPr id="22" name="object 22" descr=""/>
          <p:cNvSpPr txBox="1"/>
          <p:nvPr/>
        </p:nvSpPr>
        <p:spPr>
          <a:xfrm>
            <a:off x="4694855" y="3921257"/>
            <a:ext cx="390525" cy="271780"/>
          </a:xfrm>
          <a:prstGeom prst="rect">
            <a:avLst/>
          </a:prstGeom>
        </p:spPr>
        <p:txBody>
          <a:bodyPr wrap="square" lIns="0" tIns="14604" rIns="0" bIns="0" rtlCol="0" vert="horz">
            <a:spAutoFit/>
          </a:bodyPr>
          <a:lstStyle/>
          <a:p>
            <a:pPr marL="12700">
              <a:lnSpc>
                <a:spcPct val="100000"/>
              </a:lnSpc>
              <a:spcBef>
                <a:spcPts val="114"/>
              </a:spcBef>
            </a:pPr>
            <a:r>
              <a:rPr dirty="0" sz="1600" spc="-25">
                <a:latin typeface="Times New Roman"/>
                <a:cs typeface="Times New Roman"/>
              </a:rPr>
              <a:t>16%</a:t>
            </a:r>
            <a:endParaRPr sz="1600">
              <a:latin typeface="Times New Roman"/>
              <a:cs typeface="Times New Roman"/>
            </a:endParaRPr>
          </a:p>
        </p:txBody>
      </p:sp>
      <p:sp>
        <p:nvSpPr>
          <p:cNvPr id="23" name="object 23" descr=""/>
          <p:cNvSpPr txBox="1"/>
          <p:nvPr/>
        </p:nvSpPr>
        <p:spPr>
          <a:xfrm>
            <a:off x="6178213" y="4352518"/>
            <a:ext cx="290830" cy="271780"/>
          </a:xfrm>
          <a:prstGeom prst="rect">
            <a:avLst/>
          </a:prstGeom>
        </p:spPr>
        <p:txBody>
          <a:bodyPr wrap="square" lIns="0" tIns="14604" rIns="0" bIns="0" rtlCol="0" vert="horz">
            <a:spAutoFit/>
          </a:bodyPr>
          <a:lstStyle/>
          <a:p>
            <a:pPr marL="12700">
              <a:lnSpc>
                <a:spcPct val="100000"/>
              </a:lnSpc>
              <a:spcBef>
                <a:spcPts val="114"/>
              </a:spcBef>
            </a:pPr>
            <a:r>
              <a:rPr dirty="0" sz="1600" spc="-25">
                <a:latin typeface="Times New Roman"/>
                <a:cs typeface="Times New Roman"/>
              </a:rPr>
              <a:t>3%</a:t>
            </a:r>
            <a:endParaRPr sz="1600">
              <a:latin typeface="Times New Roman"/>
              <a:cs typeface="Times New Roman"/>
            </a:endParaRPr>
          </a:p>
        </p:txBody>
      </p:sp>
      <p:sp>
        <p:nvSpPr>
          <p:cNvPr id="24" name="object 24" descr=""/>
          <p:cNvSpPr txBox="1"/>
          <p:nvPr/>
        </p:nvSpPr>
        <p:spPr>
          <a:xfrm>
            <a:off x="7570464" y="3850320"/>
            <a:ext cx="390525" cy="271780"/>
          </a:xfrm>
          <a:prstGeom prst="rect">
            <a:avLst/>
          </a:prstGeom>
        </p:spPr>
        <p:txBody>
          <a:bodyPr wrap="square" lIns="0" tIns="14604" rIns="0" bIns="0" rtlCol="0" vert="horz">
            <a:spAutoFit/>
          </a:bodyPr>
          <a:lstStyle/>
          <a:p>
            <a:pPr marL="12700">
              <a:lnSpc>
                <a:spcPct val="100000"/>
              </a:lnSpc>
              <a:spcBef>
                <a:spcPts val="114"/>
              </a:spcBef>
            </a:pPr>
            <a:r>
              <a:rPr dirty="0" sz="1600" spc="-25">
                <a:latin typeface="Times New Roman"/>
                <a:cs typeface="Times New Roman"/>
              </a:rPr>
              <a:t>17%</a:t>
            </a:r>
            <a:endParaRPr sz="1600">
              <a:latin typeface="Times New Roman"/>
              <a:cs typeface="Times New Roman"/>
            </a:endParaRPr>
          </a:p>
        </p:txBody>
      </p:sp>
      <p:sp>
        <p:nvSpPr>
          <p:cNvPr id="25" name="object 25" descr=""/>
          <p:cNvSpPr txBox="1"/>
          <p:nvPr/>
        </p:nvSpPr>
        <p:spPr>
          <a:xfrm>
            <a:off x="8985981" y="2538130"/>
            <a:ext cx="390525" cy="271780"/>
          </a:xfrm>
          <a:prstGeom prst="rect">
            <a:avLst/>
          </a:prstGeom>
        </p:spPr>
        <p:txBody>
          <a:bodyPr wrap="square" lIns="0" tIns="14604" rIns="0" bIns="0" rtlCol="0" vert="horz">
            <a:spAutoFit/>
          </a:bodyPr>
          <a:lstStyle/>
          <a:p>
            <a:pPr marL="12700">
              <a:lnSpc>
                <a:spcPct val="100000"/>
              </a:lnSpc>
              <a:spcBef>
                <a:spcPts val="114"/>
              </a:spcBef>
            </a:pPr>
            <a:r>
              <a:rPr dirty="0" sz="1600" spc="-25">
                <a:latin typeface="Times New Roman"/>
                <a:cs typeface="Times New Roman"/>
              </a:rPr>
              <a:t>55%</a:t>
            </a:r>
            <a:endParaRPr sz="1600">
              <a:latin typeface="Times New Roman"/>
              <a:cs typeface="Times New Roman"/>
            </a:endParaRPr>
          </a:p>
        </p:txBody>
      </p:sp>
      <p:sp>
        <p:nvSpPr>
          <p:cNvPr id="26" name="object 26" descr=""/>
          <p:cNvSpPr txBox="1"/>
          <p:nvPr/>
        </p:nvSpPr>
        <p:spPr>
          <a:xfrm>
            <a:off x="3455546" y="4256992"/>
            <a:ext cx="731520" cy="271780"/>
          </a:xfrm>
          <a:prstGeom prst="rect">
            <a:avLst/>
          </a:prstGeom>
        </p:spPr>
        <p:txBody>
          <a:bodyPr wrap="square" lIns="0" tIns="14604" rIns="0" bIns="0" rtlCol="0" vert="horz">
            <a:spAutoFit/>
          </a:bodyPr>
          <a:lstStyle/>
          <a:p>
            <a:pPr marL="38100">
              <a:lnSpc>
                <a:spcPct val="100000"/>
              </a:lnSpc>
              <a:spcBef>
                <a:spcPts val="114"/>
              </a:spcBef>
            </a:pPr>
            <a:r>
              <a:rPr dirty="0" sz="1600">
                <a:latin typeface="Times New Roman"/>
                <a:cs typeface="Times New Roman"/>
              </a:rPr>
              <a:t>6%</a:t>
            </a:r>
            <a:r>
              <a:rPr dirty="0" sz="1600" spc="50">
                <a:latin typeface="Times New Roman"/>
                <a:cs typeface="Times New Roman"/>
              </a:rPr>
              <a:t>  </a:t>
            </a:r>
            <a:r>
              <a:rPr dirty="0" baseline="-38194" sz="2400" spc="-37">
                <a:latin typeface="Times New Roman"/>
                <a:cs typeface="Times New Roman"/>
              </a:rPr>
              <a:t>1%</a:t>
            </a:r>
            <a:endParaRPr baseline="-38194" sz="2400">
              <a:latin typeface="Times New Roman"/>
              <a:cs typeface="Times New Roman"/>
            </a:endParaRPr>
          </a:p>
        </p:txBody>
      </p:sp>
      <p:sp>
        <p:nvSpPr>
          <p:cNvPr id="27" name="object 27" descr=""/>
          <p:cNvSpPr txBox="1"/>
          <p:nvPr/>
        </p:nvSpPr>
        <p:spPr>
          <a:xfrm>
            <a:off x="5152778" y="4249180"/>
            <a:ext cx="290830" cy="271780"/>
          </a:xfrm>
          <a:prstGeom prst="rect">
            <a:avLst/>
          </a:prstGeom>
        </p:spPr>
        <p:txBody>
          <a:bodyPr wrap="square" lIns="0" tIns="14604" rIns="0" bIns="0" rtlCol="0" vert="horz">
            <a:spAutoFit/>
          </a:bodyPr>
          <a:lstStyle/>
          <a:p>
            <a:pPr marL="12700">
              <a:lnSpc>
                <a:spcPct val="100000"/>
              </a:lnSpc>
              <a:spcBef>
                <a:spcPts val="114"/>
              </a:spcBef>
            </a:pPr>
            <a:r>
              <a:rPr dirty="0" sz="1600" spc="-25">
                <a:latin typeface="Times New Roman"/>
                <a:cs typeface="Times New Roman"/>
              </a:rPr>
              <a:t>6%</a:t>
            </a:r>
            <a:endParaRPr sz="1600">
              <a:latin typeface="Times New Roman"/>
              <a:cs typeface="Times New Roman"/>
            </a:endParaRPr>
          </a:p>
        </p:txBody>
      </p:sp>
      <p:sp>
        <p:nvSpPr>
          <p:cNvPr id="28" name="object 28" descr=""/>
          <p:cNvSpPr txBox="1"/>
          <p:nvPr/>
        </p:nvSpPr>
        <p:spPr>
          <a:xfrm>
            <a:off x="6570905" y="4055320"/>
            <a:ext cx="381000" cy="271780"/>
          </a:xfrm>
          <a:prstGeom prst="rect">
            <a:avLst/>
          </a:prstGeom>
        </p:spPr>
        <p:txBody>
          <a:bodyPr wrap="square" lIns="0" tIns="14604" rIns="0" bIns="0" rtlCol="0" vert="horz">
            <a:spAutoFit/>
          </a:bodyPr>
          <a:lstStyle/>
          <a:p>
            <a:pPr marL="12700">
              <a:lnSpc>
                <a:spcPct val="100000"/>
              </a:lnSpc>
              <a:spcBef>
                <a:spcPts val="114"/>
              </a:spcBef>
            </a:pPr>
            <a:r>
              <a:rPr dirty="0" sz="1600" spc="-35">
                <a:latin typeface="Times New Roman"/>
                <a:cs typeface="Times New Roman"/>
              </a:rPr>
              <a:t>11%</a:t>
            </a:r>
            <a:endParaRPr sz="1600">
              <a:latin typeface="Times New Roman"/>
              <a:cs typeface="Times New Roman"/>
            </a:endParaRPr>
          </a:p>
        </p:txBody>
      </p:sp>
      <p:sp>
        <p:nvSpPr>
          <p:cNvPr id="29" name="object 29" descr=""/>
          <p:cNvSpPr txBox="1"/>
          <p:nvPr/>
        </p:nvSpPr>
        <p:spPr>
          <a:xfrm>
            <a:off x="7980986" y="3075514"/>
            <a:ext cx="390525" cy="271780"/>
          </a:xfrm>
          <a:prstGeom prst="rect">
            <a:avLst/>
          </a:prstGeom>
        </p:spPr>
        <p:txBody>
          <a:bodyPr wrap="square" lIns="0" tIns="14604" rIns="0" bIns="0" rtlCol="0" vert="horz">
            <a:spAutoFit/>
          </a:bodyPr>
          <a:lstStyle/>
          <a:p>
            <a:pPr marL="12700">
              <a:lnSpc>
                <a:spcPct val="100000"/>
              </a:lnSpc>
              <a:spcBef>
                <a:spcPts val="114"/>
              </a:spcBef>
            </a:pPr>
            <a:r>
              <a:rPr dirty="0" sz="1600" spc="-25">
                <a:latin typeface="Times New Roman"/>
                <a:cs typeface="Times New Roman"/>
              </a:rPr>
              <a:t>39%</a:t>
            </a:r>
            <a:endParaRPr sz="1600">
              <a:latin typeface="Times New Roman"/>
              <a:cs typeface="Times New Roman"/>
            </a:endParaRPr>
          </a:p>
        </p:txBody>
      </p:sp>
      <p:sp>
        <p:nvSpPr>
          <p:cNvPr id="30" name="object 30" descr=""/>
          <p:cNvSpPr txBox="1"/>
          <p:nvPr/>
        </p:nvSpPr>
        <p:spPr>
          <a:xfrm>
            <a:off x="9409766" y="3067136"/>
            <a:ext cx="390525" cy="271780"/>
          </a:xfrm>
          <a:prstGeom prst="rect">
            <a:avLst/>
          </a:prstGeom>
        </p:spPr>
        <p:txBody>
          <a:bodyPr wrap="square" lIns="0" tIns="14604" rIns="0" bIns="0" rtlCol="0" vert="horz">
            <a:spAutoFit/>
          </a:bodyPr>
          <a:lstStyle/>
          <a:p>
            <a:pPr marL="12700">
              <a:lnSpc>
                <a:spcPct val="100000"/>
              </a:lnSpc>
              <a:spcBef>
                <a:spcPts val="114"/>
              </a:spcBef>
            </a:pPr>
            <a:r>
              <a:rPr dirty="0" sz="1600" spc="-25">
                <a:latin typeface="Times New Roman"/>
                <a:cs typeface="Times New Roman"/>
              </a:rPr>
              <a:t>40%</a:t>
            </a:r>
            <a:endParaRPr sz="1600">
              <a:latin typeface="Times New Roman"/>
              <a:cs typeface="Times New Roman"/>
            </a:endParaRPr>
          </a:p>
        </p:txBody>
      </p:sp>
      <p:sp>
        <p:nvSpPr>
          <p:cNvPr id="31" name="object 31" descr=""/>
          <p:cNvSpPr txBox="1"/>
          <p:nvPr/>
        </p:nvSpPr>
        <p:spPr>
          <a:xfrm>
            <a:off x="2382211" y="2104221"/>
            <a:ext cx="358775" cy="2712720"/>
          </a:xfrm>
          <a:prstGeom prst="rect">
            <a:avLst/>
          </a:prstGeom>
        </p:spPr>
        <p:txBody>
          <a:bodyPr wrap="square" lIns="0" tIns="12065" rIns="0" bIns="0" rtlCol="0" vert="horz">
            <a:spAutoFit/>
          </a:bodyPr>
          <a:lstStyle/>
          <a:p>
            <a:pPr marL="12700">
              <a:lnSpc>
                <a:spcPct val="100000"/>
              </a:lnSpc>
              <a:spcBef>
                <a:spcPts val="95"/>
              </a:spcBef>
            </a:pPr>
            <a:r>
              <a:rPr dirty="0" sz="1450" spc="-25">
                <a:latin typeface="Times New Roman"/>
                <a:cs typeface="Times New Roman"/>
              </a:rPr>
              <a:t>70%</a:t>
            </a:r>
            <a:endParaRPr sz="1450">
              <a:latin typeface="Times New Roman"/>
              <a:cs typeface="Times New Roman"/>
            </a:endParaRPr>
          </a:p>
          <a:p>
            <a:pPr marL="12700">
              <a:lnSpc>
                <a:spcPct val="100000"/>
              </a:lnSpc>
              <a:spcBef>
                <a:spcPts val="1030"/>
              </a:spcBef>
            </a:pPr>
            <a:r>
              <a:rPr dirty="0" sz="1450" spc="-25">
                <a:latin typeface="Times New Roman"/>
                <a:cs typeface="Times New Roman"/>
              </a:rPr>
              <a:t>60%</a:t>
            </a:r>
            <a:endParaRPr sz="1450">
              <a:latin typeface="Times New Roman"/>
              <a:cs typeface="Times New Roman"/>
            </a:endParaRPr>
          </a:p>
          <a:p>
            <a:pPr marL="12700">
              <a:lnSpc>
                <a:spcPct val="100000"/>
              </a:lnSpc>
              <a:spcBef>
                <a:spcPts val="1030"/>
              </a:spcBef>
            </a:pPr>
            <a:r>
              <a:rPr dirty="0" sz="1450" spc="-25">
                <a:latin typeface="Times New Roman"/>
                <a:cs typeface="Times New Roman"/>
              </a:rPr>
              <a:t>50%</a:t>
            </a:r>
            <a:endParaRPr sz="1450">
              <a:latin typeface="Times New Roman"/>
              <a:cs typeface="Times New Roman"/>
            </a:endParaRPr>
          </a:p>
          <a:p>
            <a:pPr marL="12700">
              <a:lnSpc>
                <a:spcPct val="100000"/>
              </a:lnSpc>
              <a:spcBef>
                <a:spcPts val="1030"/>
              </a:spcBef>
            </a:pPr>
            <a:r>
              <a:rPr dirty="0" sz="1450" spc="-25">
                <a:latin typeface="Times New Roman"/>
                <a:cs typeface="Times New Roman"/>
              </a:rPr>
              <a:t>40%</a:t>
            </a:r>
            <a:endParaRPr sz="1450">
              <a:latin typeface="Times New Roman"/>
              <a:cs typeface="Times New Roman"/>
            </a:endParaRPr>
          </a:p>
          <a:p>
            <a:pPr marL="12700">
              <a:lnSpc>
                <a:spcPct val="100000"/>
              </a:lnSpc>
              <a:spcBef>
                <a:spcPts val="1035"/>
              </a:spcBef>
            </a:pPr>
            <a:r>
              <a:rPr dirty="0" sz="1450" spc="-25">
                <a:latin typeface="Times New Roman"/>
                <a:cs typeface="Times New Roman"/>
              </a:rPr>
              <a:t>30%</a:t>
            </a:r>
            <a:endParaRPr sz="1450">
              <a:latin typeface="Times New Roman"/>
              <a:cs typeface="Times New Roman"/>
            </a:endParaRPr>
          </a:p>
          <a:p>
            <a:pPr marL="12700">
              <a:lnSpc>
                <a:spcPct val="100000"/>
              </a:lnSpc>
              <a:spcBef>
                <a:spcPts val="1030"/>
              </a:spcBef>
            </a:pPr>
            <a:r>
              <a:rPr dirty="0" sz="1450" spc="-25">
                <a:latin typeface="Times New Roman"/>
                <a:cs typeface="Times New Roman"/>
              </a:rPr>
              <a:t>20%</a:t>
            </a:r>
            <a:endParaRPr sz="1450">
              <a:latin typeface="Times New Roman"/>
              <a:cs typeface="Times New Roman"/>
            </a:endParaRPr>
          </a:p>
          <a:p>
            <a:pPr marL="12700">
              <a:lnSpc>
                <a:spcPct val="100000"/>
              </a:lnSpc>
              <a:spcBef>
                <a:spcPts val="1055"/>
              </a:spcBef>
            </a:pPr>
            <a:r>
              <a:rPr dirty="0" sz="1450" spc="-25">
                <a:latin typeface="Times New Roman"/>
                <a:cs typeface="Times New Roman"/>
              </a:rPr>
              <a:t>10%</a:t>
            </a:r>
            <a:endParaRPr sz="1450">
              <a:latin typeface="Times New Roman"/>
              <a:cs typeface="Times New Roman"/>
            </a:endParaRPr>
          </a:p>
          <a:p>
            <a:pPr marL="109220">
              <a:lnSpc>
                <a:spcPct val="100000"/>
              </a:lnSpc>
              <a:spcBef>
                <a:spcPts val="1030"/>
              </a:spcBef>
            </a:pPr>
            <a:r>
              <a:rPr dirty="0" sz="1450" spc="-25">
                <a:latin typeface="Times New Roman"/>
                <a:cs typeface="Times New Roman"/>
              </a:rPr>
              <a:t>0%</a:t>
            </a:r>
            <a:endParaRPr sz="1450">
              <a:latin typeface="Times New Roman"/>
              <a:cs typeface="Times New Roman"/>
            </a:endParaRPr>
          </a:p>
        </p:txBody>
      </p:sp>
      <p:sp>
        <p:nvSpPr>
          <p:cNvPr id="32" name="object 32" descr=""/>
          <p:cNvSpPr txBox="1"/>
          <p:nvPr/>
        </p:nvSpPr>
        <p:spPr>
          <a:xfrm>
            <a:off x="2790570" y="4825934"/>
            <a:ext cx="7646034" cy="925830"/>
          </a:xfrm>
          <a:prstGeom prst="rect">
            <a:avLst/>
          </a:prstGeom>
        </p:spPr>
        <p:txBody>
          <a:bodyPr wrap="square" lIns="0" tIns="130810" rIns="0" bIns="0" rtlCol="0" vert="horz">
            <a:spAutoFit/>
          </a:bodyPr>
          <a:lstStyle/>
          <a:p>
            <a:pPr marL="129539">
              <a:lnSpc>
                <a:spcPct val="100000"/>
              </a:lnSpc>
              <a:spcBef>
                <a:spcPts val="1030"/>
              </a:spcBef>
              <a:tabLst>
                <a:tab pos="1733550" algn="l"/>
                <a:tab pos="2877185" algn="l"/>
                <a:tab pos="4535805" algn="l"/>
                <a:tab pos="5946140" algn="l"/>
              </a:tabLst>
            </a:pPr>
            <a:r>
              <a:rPr dirty="0" sz="1600" spc="-45">
                <a:solidFill>
                  <a:srgbClr val="993300"/>
                </a:solidFill>
                <a:latin typeface="宋体"/>
                <a:cs typeface="宋体"/>
              </a:rPr>
              <a:t>存</a:t>
            </a:r>
            <a:r>
              <a:rPr dirty="0" sz="1600" spc="-65">
                <a:solidFill>
                  <a:srgbClr val="993300"/>
                </a:solidFill>
                <a:latin typeface="宋体"/>
                <a:cs typeface="宋体"/>
              </a:rPr>
              <a:t>储器间</a:t>
            </a:r>
            <a:r>
              <a:rPr dirty="0" sz="1600" spc="-45">
                <a:solidFill>
                  <a:srgbClr val="993300"/>
                </a:solidFill>
                <a:latin typeface="宋体"/>
                <a:cs typeface="宋体"/>
              </a:rPr>
              <a:t>接</a:t>
            </a:r>
            <a:r>
              <a:rPr dirty="0" sz="1600" spc="-65">
                <a:solidFill>
                  <a:srgbClr val="993300"/>
                </a:solidFill>
                <a:latin typeface="宋体"/>
                <a:cs typeface="宋体"/>
              </a:rPr>
              <a:t>寻</a:t>
            </a:r>
            <a:r>
              <a:rPr dirty="0" sz="1600" spc="-50">
                <a:solidFill>
                  <a:srgbClr val="993300"/>
                </a:solidFill>
                <a:latin typeface="宋体"/>
                <a:cs typeface="宋体"/>
              </a:rPr>
              <a:t>址</a:t>
            </a:r>
            <a:r>
              <a:rPr dirty="0" sz="1600">
                <a:solidFill>
                  <a:srgbClr val="993300"/>
                </a:solidFill>
                <a:latin typeface="宋体"/>
                <a:cs typeface="宋体"/>
              </a:rPr>
              <a:t>	</a:t>
            </a:r>
            <a:r>
              <a:rPr dirty="0" sz="1600" spc="-45">
                <a:solidFill>
                  <a:srgbClr val="993300"/>
                </a:solidFill>
                <a:latin typeface="宋体"/>
                <a:cs typeface="宋体"/>
              </a:rPr>
              <a:t>缩</a:t>
            </a:r>
            <a:r>
              <a:rPr dirty="0" sz="1600" spc="-65">
                <a:solidFill>
                  <a:srgbClr val="993300"/>
                </a:solidFill>
                <a:latin typeface="宋体"/>
                <a:cs typeface="宋体"/>
              </a:rPr>
              <a:t>放寻</a:t>
            </a:r>
            <a:r>
              <a:rPr dirty="0" sz="1600" spc="-50">
                <a:solidFill>
                  <a:srgbClr val="993300"/>
                </a:solidFill>
                <a:latin typeface="宋体"/>
                <a:cs typeface="宋体"/>
              </a:rPr>
              <a:t>址</a:t>
            </a:r>
            <a:r>
              <a:rPr dirty="0" sz="1600">
                <a:solidFill>
                  <a:srgbClr val="993300"/>
                </a:solidFill>
                <a:latin typeface="宋体"/>
                <a:cs typeface="宋体"/>
              </a:rPr>
              <a:t>	</a:t>
            </a:r>
            <a:r>
              <a:rPr dirty="0" sz="1600" spc="-45">
                <a:solidFill>
                  <a:srgbClr val="993300"/>
                </a:solidFill>
                <a:latin typeface="宋体"/>
                <a:cs typeface="宋体"/>
              </a:rPr>
              <a:t>寄</a:t>
            </a:r>
            <a:r>
              <a:rPr dirty="0" sz="1600" spc="-65">
                <a:solidFill>
                  <a:srgbClr val="993300"/>
                </a:solidFill>
                <a:latin typeface="宋体"/>
                <a:cs typeface="宋体"/>
              </a:rPr>
              <a:t>存器间</a:t>
            </a:r>
            <a:r>
              <a:rPr dirty="0" sz="1600" spc="-45">
                <a:solidFill>
                  <a:srgbClr val="993300"/>
                </a:solidFill>
                <a:latin typeface="宋体"/>
                <a:cs typeface="宋体"/>
              </a:rPr>
              <a:t>接</a:t>
            </a:r>
            <a:r>
              <a:rPr dirty="0" sz="1600" spc="-65">
                <a:solidFill>
                  <a:srgbClr val="993300"/>
                </a:solidFill>
                <a:latin typeface="宋体"/>
                <a:cs typeface="宋体"/>
              </a:rPr>
              <a:t>寻</a:t>
            </a:r>
            <a:r>
              <a:rPr dirty="0" sz="1600" spc="-50">
                <a:solidFill>
                  <a:srgbClr val="993300"/>
                </a:solidFill>
                <a:latin typeface="宋体"/>
                <a:cs typeface="宋体"/>
              </a:rPr>
              <a:t>址</a:t>
            </a:r>
            <a:r>
              <a:rPr dirty="0" sz="1600">
                <a:solidFill>
                  <a:srgbClr val="993300"/>
                </a:solidFill>
                <a:latin typeface="宋体"/>
                <a:cs typeface="宋体"/>
              </a:rPr>
              <a:t>	</a:t>
            </a:r>
            <a:r>
              <a:rPr dirty="0" sz="1600" spc="-45">
                <a:solidFill>
                  <a:srgbClr val="993300"/>
                </a:solidFill>
                <a:latin typeface="宋体"/>
                <a:cs typeface="宋体"/>
              </a:rPr>
              <a:t>立</a:t>
            </a:r>
            <a:r>
              <a:rPr dirty="0" sz="1600" spc="-65">
                <a:solidFill>
                  <a:srgbClr val="993300"/>
                </a:solidFill>
                <a:latin typeface="宋体"/>
                <a:cs typeface="宋体"/>
              </a:rPr>
              <a:t>即数寻</a:t>
            </a:r>
            <a:r>
              <a:rPr dirty="0" sz="1600" spc="-50">
                <a:solidFill>
                  <a:srgbClr val="993300"/>
                </a:solidFill>
                <a:latin typeface="宋体"/>
                <a:cs typeface="宋体"/>
              </a:rPr>
              <a:t>址</a:t>
            </a:r>
            <a:r>
              <a:rPr dirty="0" sz="1600">
                <a:solidFill>
                  <a:srgbClr val="993300"/>
                </a:solidFill>
                <a:latin typeface="宋体"/>
                <a:cs typeface="宋体"/>
              </a:rPr>
              <a:t>	</a:t>
            </a:r>
            <a:r>
              <a:rPr dirty="0" sz="1600" spc="-45">
                <a:solidFill>
                  <a:srgbClr val="993300"/>
                </a:solidFill>
                <a:latin typeface="宋体"/>
                <a:cs typeface="宋体"/>
              </a:rPr>
              <a:t>偏</a:t>
            </a:r>
            <a:r>
              <a:rPr dirty="0" sz="1600" spc="-65">
                <a:solidFill>
                  <a:srgbClr val="993300"/>
                </a:solidFill>
                <a:latin typeface="宋体"/>
                <a:cs typeface="宋体"/>
              </a:rPr>
              <a:t>移寻</a:t>
            </a:r>
            <a:r>
              <a:rPr dirty="0" sz="1600" spc="-50">
                <a:solidFill>
                  <a:srgbClr val="993300"/>
                </a:solidFill>
                <a:latin typeface="宋体"/>
                <a:cs typeface="宋体"/>
              </a:rPr>
              <a:t>址</a:t>
            </a:r>
            <a:endParaRPr sz="1600">
              <a:latin typeface="宋体"/>
              <a:cs typeface="宋体"/>
            </a:endParaRPr>
          </a:p>
          <a:p>
            <a:pPr marL="12700">
              <a:lnSpc>
                <a:spcPct val="100000"/>
              </a:lnSpc>
              <a:spcBef>
                <a:spcPts val="1355"/>
              </a:spcBef>
            </a:pPr>
            <a:r>
              <a:rPr dirty="0" sz="2400">
                <a:solidFill>
                  <a:srgbClr val="D50092"/>
                </a:solidFill>
                <a:latin typeface="黑体"/>
                <a:cs typeface="黑体"/>
              </a:rPr>
              <a:t>结论：立即数寻址方式</a:t>
            </a:r>
            <a:r>
              <a:rPr dirty="0" sz="2400">
                <a:solidFill>
                  <a:srgbClr val="40458B"/>
                </a:solidFill>
                <a:latin typeface="黑体"/>
                <a:cs typeface="黑体"/>
              </a:rPr>
              <a:t>和</a:t>
            </a:r>
            <a:r>
              <a:rPr dirty="0" sz="2400">
                <a:solidFill>
                  <a:srgbClr val="D50092"/>
                </a:solidFill>
                <a:latin typeface="黑体"/>
                <a:cs typeface="黑体"/>
              </a:rPr>
              <a:t>偏移寻址方式</a:t>
            </a:r>
            <a:r>
              <a:rPr dirty="0" sz="2400" spc="-10">
                <a:solidFill>
                  <a:srgbClr val="40458B"/>
                </a:solidFill>
                <a:latin typeface="黑体"/>
                <a:cs typeface="黑体"/>
              </a:rPr>
              <a:t>的使用频度最高。</a:t>
            </a:r>
            <a:endParaRPr sz="2400">
              <a:latin typeface="黑体"/>
              <a:cs typeface="黑体"/>
            </a:endParaRPr>
          </a:p>
        </p:txBody>
      </p:sp>
      <p:grpSp>
        <p:nvGrpSpPr>
          <p:cNvPr id="33" name="object 33" descr=""/>
          <p:cNvGrpSpPr/>
          <p:nvPr/>
        </p:nvGrpSpPr>
        <p:grpSpPr>
          <a:xfrm>
            <a:off x="5102495" y="2286689"/>
            <a:ext cx="147320" cy="152400"/>
            <a:chOff x="5102495" y="2286689"/>
            <a:chExt cx="147320" cy="152400"/>
          </a:xfrm>
        </p:grpSpPr>
        <p:sp>
          <p:nvSpPr>
            <p:cNvPr id="34" name="object 34" descr=""/>
            <p:cNvSpPr/>
            <p:nvPr/>
          </p:nvSpPr>
          <p:spPr>
            <a:xfrm>
              <a:off x="5110466" y="2294660"/>
              <a:ext cx="131445" cy="136525"/>
            </a:xfrm>
            <a:custGeom>
              <a:avLst/>
              <a:gdLst/>
              <a:ahLst/>
              <a:cxnLst/>
              <a:rect l="l" t="t" r="r" b="b"/>
              <a:pathLst>
                <a:path w="131445" h="136525">
                  <a:moveTo>
                    <a:pt x="130879" y="0"/>
                  </a:moveTo>
                  <a:lnTo>
                    <a:pt x="0" y="0"/>
                  </a:lnTo>
                  <a:lnTo>
                    <a:pt x="0" y="136302"/>
                  </a:lnTo>
                  <a:lnTo>
                    <a:pt x="130879" y="136302"/>
                  </a:lnTo>
                  <a:lnTo>
                    <a:pt x="130879" y="0"/>
                  </a:lnTo>
                  <a:close/>
                </a:path>
              </a:pathLst>
            </a:custGeom>
            <a:solidFill>
              <a:srgbClr val="FF99CC"/>
            </a:solidFill>
          </p:spPr>
          <p:txBody>
            <a:bodyPr wrap="square" lIns="0" tIns="0" rIns="0" bIns="0" rtlCol="0"/>
            <a:lstStyle/>
            <a:p/>
          </p:txBody>
        </p:sp>
        <p:sp>
          <p:nvSpPr>
            <p:cNvPr id="35" name="object 35" descr=""/>
            <p:cNvSpPr/>
            <p:nvPr/>
          </p:nvSpPr>
          <p:spPr>
            <a:xfrm>
              <a:off x="5110466" y="2294660"/>
              <a:ext cx="131445" cy="136525"/>
            </a:xfrm>
            <a:custGeom>
              <a:avLst/>
              <a:gdLst/>
              <a:ahLst/>
              <a:cxnLst/>
              <a:rect l="l" t="t" r="r" b="b"/>
              <a:pathLst>
                <a:path w="131445" h="136525">
                  <a:moveTo>
                    <a:pt x="0" y="136302"/>
                  </a:moveTo>
                  <a:lnTo>
                    <a:pt x="130879" y="136302"/>
                  </a:lnTo>
                  <a:lnTo>
                    <a:pt x="130879" y="0"/>
                  </a:lnTo>
                  <a:lnTo>
                    <a:pt x="0" y="0"/>
                  </a:lnTo>
                  <a:lnTo>
                    <a:pt x="0" y="136302"/>
                  </a:lnTo>
                  <a:close/>
                </a:path>
              </a:pathLst>
            </a:custGeom>
            <a:ln w="15928">
              <a:solidFill>
                <a:srgbClr val="000000"/>
              </a:solidFill>
            </a:ln>
          </p:spPr>
          <p:txBody>
            <a:bodyPr wrap="square" lIns="0" tIns="0" rIns="0" bIns="0" rtlCol="0"/>
            <a:lstStyle/>
            <a:p/>
          </p:txBody>
        </p:sp>
      </p:grpSp>
      <p:sp>
        <p:nvSpPr>
          <p:cNvPr id="36" name="object 36" descr=""/>
          <p:cNvSpPr txBox="1"/>
          <p:nvPr/>
        </p:nvSpPr>
        <p:spPr>
          <a:xfrm>
            <a:off x="5280848" y="2212993"/>
            <a:ext cx="324485" cy="271780"/>
          </a:xfrm>
          <a:prstGeom prst="rect">
            <a:avLst/>
          </a:prstGeom>
        </p:spPr>
        <p:txBody>
          <a:bodyPr wrap="square" lIns="0" tIns="14604" rIns="0" bIns="0" rtlCol="0" vert="horz">
            <a:spAutoFit/>
          </a:bodyPr>
          <a:lstStyle/>
          <a:p>
            <a:pPr marL="12700">
              <a:lnSpc>
                <a:spcPct val="100000"/>
              </a:lnSpc>
              <a:spcBef>
                <a:spcPts val="114"/>
              </a:spcBef>
            </a:pPr>
            <a:r>
              <a:rPr dirty="0" sz="1600" spc="-25">
                <a:solidFill>
                  <a:srgbClr val="003366"/>
                </a:solidFill>
                <a:latin typeface="宋体"/>
                <a:cs typeface="宋体"/>
              </a:rPr>
              <a:t>Tex</a:t>
            </a:r>
            <a:endParaRPr sz="1600">
              <a:latin typeface="宋体"/>
              <a:cs typeface="宋体"/>
            </a:endParaRPr>
          </a:p>
        </p:txBody>
      </p:sp>
      <p:grpSp>
        <p:nvGrpSpPr>
          <p:cNvPr id="37" name="object 37" descr=""/>
          <p:cNvGrpSpPr/>
          <p:nvPr/>
        </p:nvGrpSpPr>
        <p:grpSpPr>
          <a:xfrm>
            <a:off x="5672833" y="2286689"/>
            <a:ext cx="147320" cy="152400"/>
            <a:chOff x="5672833" y="2286689"/>
            <a:chExt cx="147320" cy="152400"/>
          </a:xfrm>
        </p:grpSpPr>
        <p:sp>
          <p:nvSpPr>
            <p:cNvPr id="38" name="object 38" descr=""/>
            <p:cNvSpPr/>
            <p:nvPr/>
          </p:nvSpPr>
          <p:spPr>
            <a:xfrm>
              <a:off x="5680804" y="2294660"/>
              <a:ext cx="131445" cy="136525"/>
            </a:xfrm>
            <a:custGeom>
              <a:avLst/>
              <a:gdLst/>
              <a:ahLst/>
              <a:cxnLst/>
              <a:rect l="l" t="t" r="r" b="b"/>
              <a:pathLst>
                <a:path w="131445" h="136525">
                  <a:moveTo>
                    <a:pt x="130879" y="0"/>
                  </a:moveTo>
                  <a:lnTo>
                    <a:pt x="0" y="0"/>
                  </a:lnTo>
                  <a:lnTo>
                    <a:pt x="0" y="136302"/>
                  </a:lnTo>
                  <a:lnTo>
                    <a:pt x="130879" y="136302"/>
                  </a:lnTo>
                  <a:lnTo>
                    <a:pt x="130879" y="0"/>
                  </a:lnTo>
                  <a:close/>
                </a:path>
              </a:pathLst>
            </a:custGeom>
            <a:solidFill>
              <a:srgbClr val="CCFFFF"/>
            </a:solidFill>
          </p:spPr>
          <p:txBody>
            <a:bodyPr wrap="square" lIns="0" tIns="0" rIns="0" bIns="0" rtlCol="0"/>
            <a:lstStyle/>
            <a:p/>
          </p:txBody>
        </p:sp>
        <p:sp>
          <p:nvSpPr>
            <p:cNvPr id="39" name="object 39" descr=""/>
            <p:cNvSpPr/>
            <p:nvPr/>
          </p:nvSpPr>
          <p:spPr>
            <a:xfrm>
              <a:off x="5680804" y="2294660"/>
              <a:ext cx="131445" cy="136525"/>
            </a:xfrm>
            <a:custGeom>
              <a:avLst/>
              <a:gdLst/>
              <a:ahLst/>
              <a:cxnLst/>
              <a:rect l="l" t="t" r="r" b="b"/>
              <a:pathLst>
                <a:path w="131445" h="136525">
                  <a:moveTo>
                    <a:pt x="0" y="136302"/>
                  </a:moveTo>
                  <a:lnTo>
                    <a:pt x="130879" y="136302"/>
                  </a:lnTo>
                  <a:lnTo>
                    <a:pt x="130879" y="0"/>
                  </a:lnTo>
                  <a:lnTo>
                    <a:pt x="0" y="0"/>
                  </a:lnTo>
                  <a:lnTo>
                    <a:pt x="0" y="136302"/>
                  </a:lnTo>
                  <a:close/>
                </a:path>
              </a:pathLst>
            </a:custGeom>
            <a:ln w="15928">
              <a:solidFill>
                <a:srgbClr val="000000"/>
              </a:solidFill>
            </a:ln>
          </p:spPr>
          <p:txBody>
            <a:bodyPr wrap="square" lIns="0" tIns="0" rIns="0" bIns="0" rtlCol="0"/>
            <a:lstStyle/>
            <a:p/>
          </p:txBody>
        </p:sp>
      </p:grpSp>
      <p:sp>
        <p:nvSpPr>
          <p:cNvPr id="40" name="object 40" descr=""/>
          <p:cNvSpPr txBox="1"/>
          <p:nvPr/>
        </p:nvSpPr>
        <p:spPr>
          <a:xfrm>
            <a:off x="5851404" y="2199634"/>
            <a:ext cx="519430" cy="271780"/>
          </a:xfrm>
          <a:prstGeom prst="rect">
            <a:avLst/>
          </a:prstGeom>
        </p:spPr>
        <p:txBody>
          <a:bodyPr wrap="square" lIns="0" tIns="14604" rIns="0" bIns="0" rtlCol="0" vert="horz">
            <a:spAutoFit/>
          </a:bodyPr>
          <a:lstStyle/>
          <a:p>
            <a:pPr marL="12700">
              <a:lnSpc>
                <a:spcPct val="100000"/>
              </a:lnSpc>
              <a:spcBef>
                <a:spcPts val="114"/>
              </a:spcBef>
            </a:pPr>
            <a:r>
              <a:rPr dirty="0" sz="1600" spc="-20">
                <a:solidFill>
                  <a:srgbClr val="003366"/>
                </a:solidFill>
                <a:latin typeface="宋体"/>
                <a:cs typeface="宋体"/>
              </a:rPr>
              <a:t>Spice</a:t>
            </a:r>
            <a:endParaRPr sz="1600">
              <a:latin typeface="宋体"/>
              <a:cs typeface="宋体"/>
            </a:endParaRPr>
          </a:p>
        </p:txBody>
      </p:sp>
      <p:grpSp>
        <p:nvGrpSpPr>
          <p:cNvPr id="41" name="object 41" descr=""/>
          <p:cNvGrpSpPr/>
          <p:nvPr/>
        </p:nvGrpSpPr>
        <p:grpSpPr>
          <a:xfrm>
            <a:off x="6439953" y="2286689"/>
            <a:ext cx="146685" cy="152400"/>
            <a:chOff x="6439953" y="2286689"/>
            <a:chExt cx="146685" cy="152400"/>
          </a:xfrm>
        </p:grpSpPr>
        <p:sp>
          <p:nvSpPr>
            <p:cNvPr id="42" name="object 42" descr=""/>
            <p:cNvSpPr/>
            <p:nvPr/>
          </p:nvSpPr>
          <p:spPr>
            <a:xfrm>
              <a:off x="6447924" y="2294660"/>
              <a:ext cx="130810" cy="136525"/>
            </a:xfrm>
            <a:custGeom>
              <a:avLst/>
              <a:gdLst/>
              <a:ahLst/>
              <a:cxnLst/>
              <a:rect l="l" t="t" r="r" b="b"/>
              <a:pathLst>
                <a:path w="130809" h="136525">
                  <a:moveTo>
                    <a:pt x="130340" y="0"/>
                  </a:moveTo>
                  <a:lnTo>
                    <a:pt x="0" y="0"/>
                  </a:lnTo>
                  <a:lnTo>
                    <a:pt x="0" y="136302"/>
                  </a:lnTo>
                  <a:lnTo>
                    <a:pt x="130340" y="136302"/>
                  </a:lnTo>
                  <a:lnTo>
                    <a:pt x="130340" y="0"/>
                  </a:lnTo>
                  <a:close/>
                </a:path>
              </a:pathLst>
            </a:custGeom>
            <a:solidFill>
              <a:srgbClr val="FFFF99"/>
            </a:solidFill>
          </p:spPr>
          <p:txBody>
            <a:bodyPr wrap="square" lIns="0" tIns="0" rIns="0" bIns="0" rtlCol="0"/>
            <a:lstStyle/>
            <a:p/>
          </p:txBody>
        </p:sp>
        <p:sp>
          <p:nvSpPr>
            <p:cNvPr id="43" name="object 43" descr=""/>
            <p:cNvSpPr/>
            <p:nvPr/>
          </p:nvSpPr>
          <p:spPr>
            <a:xfrm>
              <a:off x="6447924" y="2294660"/>
              <a:ext cx="130810" cy="136525"/>
            </a:xfrm>
            <a:custGeom>
              <a:avLst/>
              <a:gdLst/>
              <a:ahLst/>
              <a:cxnLst/>
              <a:rect l="l" t="t" r="r" b="b"/>
              <a:pathLst>
                <a:path w="130809" h="136525">
                  <a:moveTo>
                    <a:pt x="0" y="136302"/>
                  </a:moveTo>
                  <a:lnTo>
                    <a:pt x="130340" y="136302"/>
                  </a:lnTo>
                  <a:lnTo>
                    <a:pt x="130340" y="0"/>
                  </a:lnTo>
                  <a:lnTo>
                    <a:pt x="0" y="0"/>
                  </a:lnTo>
                  <a:lnTo>
                    <a:pt x="0" y="136302"/>
                  </a:lnTo>
                  <a:close/>
                </a:path>
              </a:pathLst>
            </a:custGeom>
            <a:ln w="15927">
              <a:solidFill>
                <a:srgbClr val="000000"/>
              </a:solidFill>
            </a:ln>
          </p:spPr>
          <p:txBody>
            <a:bodyPr wrap="square" lIns="0" tIns="0" rIns="0" bIns="0" rtlCol="0"/>
            <a:lstStyle/>
            <a:p/>
          </p:txBody>
        </p:sp>
      </p:grpSp>
      <p:sp>
        <p:nvSpPr>
          <p:cNvPr id="44" name="object 44" descr=""/>
          <p:cNvSpPr txBox="1"/>
          <p:nvPr/>
        </p:nvSpPr>
        <p:spPr>
          <a:xfrm>
            <a:off x="6625916" y="2177897"/>
            <a:ext cx="324485" cy="271780"/>
          </a:xfrm>
          <a:prstGeom prst="rect">
            <a:avLst/>
          </a:prstGeom>
        </p:spPr>
        <p:txBody>
          <a:bodyPr wrap="square" lIns="0" tIns="14604" rIns="0" bIns="0" rtlCol="0" vert="horz">
            <a:spAutoFit/>
          </a:bodyPr>
          <a:lstStyle/>
          <a:p>
            <a:pPr marL="12700">
              <a:lnSpc>
                <a:spcPct val="100000"/>
              </a:lnSpc>
              <a:spcBef>
                <a:spcPts val="114"/>
              </a:spcBef>
            </a:pPr>
            <a:r>
              <a:rPr dirty="0" sz="1600" spc="-25">
                <a:solidFill>
                  <a:srgbClr val="003366"/>
                </a:solidFill>
                <a:latin typeface="宋体"/>
                <a:cs typeface="宋体"/>
              </a:rPr>
              <a:t>gcc</a:t>
            </a:r>
            <a:endParaRPr sz="1600">
              <a:latin typeface="宋体"/>
              <a:cs typeface="宋体"/>
            </a:endParaRPr>
          </a:p>
        </p:txBody>
      </p:sp>
      <p:grpSp>
        <p:nvGrpSpPr>
          <p:cNvPr id="45" name="object 45" descr=""/>
          <p:cNvGrpSpPr/>
          <p:nvPr/>
        </p:nvGrpSpPr>
        <p:grpSpPr>
          <a:xfrm>
            <a:off x="3809765" y="2808027"/>
            <a:ext cx="5974080" cy="1945639"/>
            <a:chOff x="3809765" y="2808027"/>
            <a:chExt cx="5974080" cy="1945639"/>
          </a:xfrm>
        </p:grpSpPr>
        <p:sp>
          <p:nvSpPr>
            <p:cNvPr id="46" name="object 46" descr=""/>
            <p:cNvSpPr/>
            <p:nvPr/>
          </p:nvSpPr>
          <p:spPr>
            <a:xfrm>
              <a:off x="3817888" y="4666007"/>
              <a:ext cx="401320" cy="71120"/>
            </a:xfrm>
            <a:custGeom>
              <a:avLst/>
              <a:gdLst/>
              <a:ahLst/>
              <a:cxnLst/>
              <a:rect l="l" t="t" r="r" b="b"/>
              <a:pathLst>
                <a:path w="401320" h="71120">
                  <a:moveTo>
                    <a:pt x="400715" y="0"/>
                  </a:moveTo>
                  <a:lnTo>
                    <a:pt x="0" y="0"/>
                  </a:lnTo>
                  <a:lnTo>
                    <a:pt x="0" y="70943"/>
                  </a:lnTo>
                  <a:lnTo>
                    <a:pt x="400715" y="70943"/>
                  </a:lnTo>
                  <a:lnTo>
                    <a:pt x="400715" y="0"/>
                  </a:lnTo>
                  <a:close/>
                </a:path>
              </a:pathLst>
            </a:custGeom>
            <a:solidFill>
              <a:srgbClr val="FFFF99"/>
            </a:solidFill>
          </p:spPr>
          <p:txBody>
            <a:bodyPr wrap="square" lIns="0" tIns="0" rIns="0" bIns="0" rtlCol="0"/>
            <a:lstStyle/>
            <a:p/>
          </p:txBody>
        </p:sp>
        <p:sp>
          <p:nvSpPr>
            <p:cNvPr id="47" name="object 47" descr=""/>
            <p:cNvSpPr/>
            <p:nvPr/>
          </p:nvSpPr>
          <p:spPr>
            <a:xfrm>
              <a:off x="3817888" y="4666007"/>
              <a:ext cx="401320" cy="71120"/>
            </a:xfrm>
            <a:custGeom>
              <a:avLst/>
              <a:gdLst/>
              <a:ahLst/>
              <a:cxnLst/>
              <a:rect l="l" t="t" r="r" b="b"/>
              <a:pathLst>
                <a:path w="401320" h="71120">
                  <a:moveTo>
                    <a:pt x="0" y="70943"/>
                  </a:moveTo>
                  <a:lnTo>
                    <a:pt x="400715" y="70943"/>
                  </a:lnTo>
                  <a:lnTo>
                    <a:pt x="400715" y="0"/>
                  </a:lnTo>
                  <a:lnTo>
                    <a:pt x="0" y="0"/>
                  </a:lnTo>
                  <a:lnTo>
                    <a:pt x="0" y="70943"/>
                  </a:lnTo>
                  <a:close/>
                </a:path>
              </a:pathLst>
            </a:custGeom>
            <a:ln w="16244">
              <a:solidFill>
                <a:srgbClr val="000000"/>
              </a:solidFill>
            </a:ln>
          </p:spPr>
          <p:txBody>
            <a:bodyPr wrap="square" lIns="0" tIns="0" rIns="0" bIns="0" rtlCol="0"/>
            <a:lstStyle/>
            <a:p/>
          </p:txBody>
        </p:sp>
        <p:sp>
          <p:nvSpPr>
            <p:cNvPr id="48" name="object 48" descr=""/>
            <p:cNvSpPr/>
            <p:nvPr/>
          </p:nvSpPr>
          <p:spPr>
            <a:xfrm>
              <a:off x="5741252" y="3899585"/>
              <a:ext cx="400685" cy="845819"/>
            </a:xfrm>
            <a:custGeom>
              <a:avLst/>
              <a:gdLst/>
              <a:ahLst/>
              <a:cxnLst/>
              <a:rect l="l" t="t" r="r" b="b"/>
              <a:pathLst>
                <a:path w="400685" h="845820">
                  <a:moveTo>
                    <a:pt x="400171" y="0"/>
                  </a:moveTo>
                  <a:lnTo>
                    <a:pt x="0" y="0"/>
                  </a:lnTo>
                  <a:lnTo>
                    <a:pt x="0" y="845743"/>
                  </a:lnTo>
                  <a:lnTo>
                    <a:pt x="400171" y="845743"/>
                  </a:lnTo>
                  <a:lnTo>
                    <a:pt x="400171" y="0"/>
                  </a:lnTo>
                  <a:close/>
                </a:path>
              </a:pathLst>
            </a:custGeom>
            <a:solidFill>
              <a:srgbClr val="FF99CC"/>
            </a:solidFill>
          </p:spPr>
          <p:txBody>
            <a:bodyPr wrap="square" lIns="0" tIns="0" rIns="0" bIns="0" rtlCol="0"/>
            <a:lstStyle/>
            <a:p/>
          </p:txBody>
        </p:sp>
        <p:sp>
          <p:nvSpPr>
            <p:cNvPr id="49" name="object 49" descr=""/>
            <p:cNvSpPr/>
            <p:nvPr/>
          </p:nvSpPr>
          <p:spPr>
            <a:xfrm>
              <a:off x="5741252" y="3899585"/>
              <a:ext cx="400685" cy="845819"/>
            </a:xfrm>
            <a:custGeom>
              <a:avLst/>
              <a:gdLst/>
              <a:ahLst/>
              <a:cxnLst/>
              <a:rect l="l" t="t" r="r" b="b"/>
              <a:pathLst>
                <a:path w="400685" h="845820">
                  <a:moveTo>
                    <a:pt x="0" y="845743"/>
                  </a:moveTo>
                  <a:lnTo>
                    <a:pt x="400171" y="845743"/>
                  </a:lnTo>
                  <a:lnTo>
                    <a:pt x="400171" y="0"/>
                  </a:lnTo>
                  <a:lnTo>
                    <a:pt x="0" y="0"/>
                  </a:lnTo>
                  <a:lnTo>
                    <a:pt x="0" y="845743"/>
                  </a:lnTo>
                  <a:close/>
                </a:path>
              </a:pathLst>
            </a:custGeom>
            <a:ln w="15737">
              <a:solidFill>
                <a:srgbClr val="000000"/>
              </a:solidFill>
            </a:ln>
          </p:spPr>
          <p:txBody>
            <a:bodyPr wrap="square" lIns="0" tIns="0" rIns="0" bIns="0" rtlCol="0"/>
            <a:lstStyle/>
            <a:p/>
          </p:txBody>
        </p:sp>
        <p:sp>
          <p:nvSpPr>
            <p:cNvPr id="50" name="object 50" descr=""/>
            <p:cNvSpPr/>
            <p:nvPr/>
          </p:nvSpPr>
          <p:spPr>
            <a:xfrm>
              <a:off x="7151333" y="3211904"/>
              <a:ext cx="401320" cy="1528445"/>
            </a:xfrm>
            <a:custGeom>
              <a:avLst/>
              <a:gdLst/>
              <a:ahLst/>
              <a:cxnLst/>
              <a:rect l="l" t="t" r="r" b="b"/>
              <a:pathLst>
                <a:path w="401320" h="1528445">
                  <a:moveTo>
                    <a:pt x="400715" y="0"/>
                  </a:moveTo>
                  <a:lnTo>
                    <a:pt x="0" y="0"/>
                  </a:lnTo>
                  <a:lnTo>
                    <a:pt x="0" y="1527831"/>
                  </a:lnTo>
                  <a:lnTo>
                    <a:pt x="400715" y="1527831"/>
                  </a:lnTo>
                  <a:lnTo>
                    <a:pt x="400715" y="0"/>
                  </a:lnTo>
                  <a:close/>
                </a:path>
              </a:pathLst>
            </a:custGeom>
            <a:solidFill>
              <a:srgbClr val="FF99CC"/>
            </a:solidFill>
          </p:spPr>
          <p:txBody>
            <a:bodyPr wrap="square" lIns="0" tIns="0" rIns="0" bIns="0" rtlCol="0"/>
            <a:lstStyle/>
            <a:p/>
          </p:txBody>
        </p:sp>
        <p:sp>
          <p:nvSpPr>
            <p:cNvPr id="51" name="object 51" descr=""/>
            <p:cNvSpPr/>
            <p:nvPr/>
          </p:nvSpPr>
          <p:spPr>
            <a:xfrm>
              <a:off x="7151333" y="3211904"/>
              <a:ext cx="401320" cy="1528445"/>
            </a:xfrm>
            <a:custGeom>
              <a:avLst/>
              <a:gdLst/>
              <a:ahLst/>
              <a:cxnLst/>
              <a:rect l="l" t="t" r="r" b="b"/>
              <a:pathLst>
                <a:path w="401320" h="1528445">
                  <a:moveTo>
                    <a:pt x="0" y="1527831"/>
                  </a:moveTo>
                  <a:lnTo>
                    <a:pt x="400715" y="1527831"/>
                  </a:lnTo>
                  <a:lnTo>
                    <a:pt x="400715" y="0"/>
                  </a:lnTo>
                  <a:lnTo>
                    <a:pt x="0" y="0"/>
                  </a:lnTo>
                  <a:lnTo>
                    <a:pt x="0" y="1527831"/>
                  </a:lnTo>
                  <a:close/>
                </a:path>
              </a:pathLst>
            </a:custGeom>
            <a:ln w="15660">
              <a:solidFill>
                <a:srgbClr val="000000"/>
              </a:solidFill>
            </a:ln>
          </p:spPr>
          <p:txBody>
            <a:bodyPr wrap="square" lIns="0" tIns="0" rIns="0" bIns="0" rtlCol="0"/>
            <a:lstStyle/>
            <a:p/>
          </p:txBody>
        </p:sp>
        <p:sp>
          <p:nvSpPr>
            <p:cNvPr id="52" name="object 52" descr=""/>
            <p:cNvSpPr/>
            <p:nvPr/>
          </p:nvSpPr>
          <p:spPr>
            <a:xfrm>
              <a:off x="8559240" y="3618032"/>
              <a:ext cx="403225" cy="1127760"/>
            </a:xfrm>
            <a:custGeom>
              <a:avLst/>
              <a:gdLst/>
              <a:ahLst/>
              <a:cxnLst/>
              <a:rect l="l" t="t" r="r" b="b"/>
              <a:pathLst>
                <a:path w="403225" h="1127760">
                  <a:moveTo>
                    <a:pt x="402867" y="0"/>
                  </a:moveTo>
                  <a:lnTo>
                    <a:pt x="0" y="0"/>
                  </a:lnTo>
                  <a:lnTo>
                    <a:pt x="0" y="1127295"/>
                  </a:lnTo>
                  <a:lnTo>
                    <a:pt x="402867" y="1127295"/>
                  </a:lnTo>
                  <a:lnTo>
                    <a:pt x="402867" y="0"/>
                  </a:lnTo>
                  <a:close/>
                </a:path>
              </a:pathLst>
            </a:custGeom>
            <a:solidFill>
              <a:srgbClr val="FF99CC"/>
            </a:solidFill>
          </p:spPr>
          <p:txBody>
            <a:bodyPr wrap="square" lIns="0" tIns="0" rIns="0" bIns="0" rtlCol="0"/>
            <a:lstStyle/>
            <a:p/>
          </p:txBody>
        </p:sp>
        <p:sp>
          <p:nvSpPr>
            <p:cNvPr id="53" name="object 53" descr=""/>
            <p:cNvSpPr/>
            <p:nvPr/>
          </p:nvSpPr>
          <p:spPr>
            <a:xfrm>
              <a:off x="8559240" y="3618032"/>
              <a:ext cx="403225" cy="1127760"/>
            </a:xfrm>
            <a:custGeom>
              <a:avLst/>
              <a:gdLst/>
              <a:ahLst/>
              <a:cxnLst/>
              <a:rect l="l" t="t" r="r" b="b"/>
              <a:pathLst>
                <a:path w="403225" h="1127760">
                  <a:moveTo>
                    <a:pt x="0" y="1127295"/>
                  </a:moveTo>
                  <a:lnTo>
                    <a:pt x="402867" y="1127295"/>
                  </a:lnTo>
                  <a:lnTo>
                    <a:pt x="402867" y="0"/>
                  </a:lnTo>
                  <a:lnTo>
                    <a:pt x="0" y="0"/>
                  </a:lnTo>
                  <a:lnTo>
                    <a:pt x="0" y="1127295"/>
                  </a:lnTo>
                  <a:close/>
                </a:path>
              </a:pathLst>
            </a:custGeom>
            <a:ln w="15692">
              <a:solidFill>
                <a:srgbClr val="000000"/>
              </a:solidFill>
            </a:ln>
          </p:spPr>
          <p:txBody>
            <a:bodyPr wrap="square" lIns="0" tIns="0" rIns="0" bIns="0" rtlCol="0"/>
            <a:lstStyle/>
            <a:p/>
          </p:txBody>
        </p:sp>
        <p:sp>
          <p:nvSpPr>
            <p:cNvPr id="54" name="object 54" descr=""/>
            <p:cNvSpPr/>
            <p:nvPr/>
          </p:nvSpPr>
          <p:spPr>
            <a:xfrm>
              <a:off x="6547075" y="4322445"/>
              <a:ext cx="403225" cy="422909"/>
            </a:xfrm>
            <a:custGeom>
              <a:avLst/>
              <a:gdLst/>
              <a:ahLst/>
              <a:cxnLst/>
              <a:rect l="l" t="t" r="r" b="b"/>
              <a:pathLst>
                <a:path w="403225" h="422910">
                  <a:moveTo>
                    <a:pt x="402867" y="0"/>
                  </a:moveTo>
                  <a:lnTo>
                    <a:pt x="0" y="0"/>
                  </a:lnTo>
                  <a:lnTo>
                    <a:pt x="0" y="422883"/>
                  </a:lnTo>
                  <a:lnTo>
                    <a:pt x="402867" y="422883"/>
                  </a:lnTo>
                  <a:lnTo>
                    <a:pt x="402867" y="0"/>
                  </a:lnTo>
                  <a:close/>
                </a:path>
              </a:pathLst>
            </a:custGeom>
            <a:solidFill>
              <a:srgbClr val="FFFF99"/>
            </a:solidFill>
          </p:spPr>
          <p:txBody>
            <a:bodyPr wrap="square" lIns="0" tIns="0" rIns="0" bIns="0" rtlCol="0"/>
            <a:lstStyle/>
            <a:p/>
          </p:txBody>
        </p:sp>
        <p:sp>
          <p:nvSpPr>
            <p:cNvPr id="55" name="object 55" descr=""/>
            <p:cNvSpPr/>
            <p:nvPr/>
          </p:nvSpPr>
          <p:spPr>
            <a:xfrm>
              <a:off x="6547075" y="4322445"/>
              <a:ext cx="403225" cy="422909"/>
            </a:xfrm>
            <a:custGeom>
              <a:avLst/>
              <a:gdLst/>
              <a:ahLst/>
              <a:cxnLst/>
              <a:rect l="l" t="t" r="r" b="b"/>
              <a:pathLst>
                <a:path w="403225" h="422910">
                  <a:moveTo>
                    <a:pt x="0" y="422883"/>
                  </a:moveTo>
                  <a:lnTo>
                    <a:pt x="402867" y="422883"/>
                  </a:lnTo>
                  <a:lnTo>
                    <a:pt x="402867" y="0"/>
                  </a:lnTo>
                  <a:lnTo>
                    <a:pt x="0" y="0"/>
                  </a:lnTo>
                  <a:lnTo>
                    <a:pt x="0" y="422883"/>
                  </a:lnTo>
                  <a:close/>
                </a:path>
              </a:pathLst>
            </a:custGeom>
            <a:ln w="15926">
              <a:solidFill>
                <a:srgbClr val="000000"/>
              </a:solidFill>
            </a:ln>
          </p:spPr>
          <p:txBody>
            <a:bodyPr wrap="square" lIns="0" tIns="0" rIns="0" bIns="0" rtlCol="0"/>
            <a:lstStyle/>
            <a:p/>
          </p:txBody>
        </p:sp>
        <p:sp>
          <p:nvSpPr>
            <p:cNvPr id="56" name="object 56" descr=""/>
            <p:cNvSpPr/>
            <p:nvPr/>
          </p:nvSpPr>
          <p:spPr>
            <a:xfrm>
              <a:off x="7967810" y="3370013"/>
              <a:ext cx="400685" cy="1375410"/>
            </a:xfrm>
            <a:custGeom>
              <a:avLst/>
              <a:gdLst/>
              <a:ahLst/>
              <a:cxnLst/>
              <a:rect l="l" t="t" r="r" b="b"/>
              <a:pathLst>
                <a:path w="400684" h="1375410">
                  <a:moveTo>
                    <a:pt x="400171" y="0"/>
                  </a:moveTo>
                  <a:lnTo>
                    <a:pt x="0" y="0"/>
                  </a:lnTo>
                  <a:lnTo>
                    <a:pt x="0" y="1375315"/>
                  </a:lnTo>
                  <a:lnTo>
                    <a:pt x="400171" y="1375315"/>
                  </a:lnTo>
                  <a:lnTo>
                    <a:pt x="400171" y="0"/>
                  </a:lnTo>
                  <a:close/>
                </a:path>
              </a:pathLst>
            </a:custGeom>
            <a:solidFill>
              <a:srgbClr val="FFFF99"/>
            </a:solidFill>
          </p:spPr>
          <p:txBody>
            <a:bodyPr wrap="square" lIns="0" tIns="0" rIns="0" bIns="0" rtlCol="0"/>
            <a:lstStyle/>
            <a:p/>
          </p:txBody>
        </p:sp>
        <p:sp>
          <p:nvSpPr>
            <p:cNvPr id="57" name="object 57" descr=""/>
            <p:cNvSpPr/>
            <p:nvPr/>
          </p:nvSpPr>
          <p:spPr>
            <a:xfrm>
              <a:off x="7967810" y="3370013"/>
              <a:ext cx="400685" cy="1375410"/>
            </a:xfrm>
            <a:custGeom>
              <a:avLst/>
              <a:gdLst/>
              <a:ahLst/>
              <a:cxnLst/>
              <a:rect l="l" t="t" r="r" b="b"/>
              <a:pathLst>
                <a:path w="400684" h="1375410">
                  <a:moveTo>
                    <a:pt x="0" y="1375315"/>
                  </a:moveTo>
                  <a:lnTo>
                    <a:pt x="400171" y="1375315"/>
                  </a:lnTo>
                  <a:lnTo>
                    <a:pt x="400171" y="0"/>
                  </a:lnTo>
                  <a:lnTo>
                    <a:pt x="0" y="0"/>
                  </a:lnTo>
                  <a:lnTo>
                    <a:pt x="0" y="1375315"/>
                  </a:lnTo>
                  <a:close/>
                </a:path>
              </a:pathLst>
            </a:custGeom>
            <a:ln w="15669">
              <a:solidFill>
                <a:srgbClr val="000000"/>
              </a:solidFill>
            </a:ln>
          </p:spPr>
          <p:txBody>
            <a:bodyPr wrap="square" lIns="0" tIns="0" rIns="0" bIns="0" rtlCol="0"/>
            <a:lstStyle/>
            <a:p/>
          </p:txBody>
        </p:sp>
        <p:sp>
          <p:nvSpPr>
            <p:cNvPr id="58" name="object 58" descr=""/>
            <p:cNvSpPr/>
            <p:nvPr/>
          </p:nvSpPr>
          <p:spPr>
            <a:xfrm>
              <a:off x="9375065" y="3334261"/>
              <a:ext cx="401320" cy="1411605"/>
            </a:xfrm>
            <a:custGeom>
              <a:avLst/>
              <a:gdLst/>
              <a:ahLst/>
              <a:cxnLst/>
              <a:rect l="l" t="t" r="r" b="b"/>
              <a:pathLst>
                <a:path w="401320" h="1411604">
                  <a:moveTo>
                    <a:pt x="400715" y="0"/>
                  </a:moveTo>
                  <a:lnTo>
                    <a:pt x="0" y="0"/>
                  </a:lnTo>
                  <a:lnTo>
                    <a:pt x="0" y="1411066"/>
                  </a:lnTo>
                  <a:lnTo>
                    <a:pt x="400715" y="1411066"/>
                  </a:lnTo>
                  <a:lnTo>
                    <a:pt x="400715" y="0"/>
                  </a:lnTo>
                  <a:close/>
                </a:path>
              </a:pathLst>
            </a:custGeom>
            <a:solidFill>
              <a:srgbClr val="FFFF99"/>
            </a:solidFill>
          </p:spPr>
          <p:txBody>
            <a:bodyPr wrap="square" lIns="0" tIns="0" rIns="0" bIns="0" rtlCol="0"/>
            <a:lstStyle/>
            <a:p/>
          </p:txBody>
        </p:sp>
        <p:sp>
          <p:nvSpPr>
            <p:cNvPr id="59" name="object 59" descr=""/>
            <p:cNvSpPr/>
            <p:nvPr/>
          </p:nvSpPr>
          <p:spPr>
            <a:xfrm>
              <a:off x="9375065" y="3334261"/>
              <a:ext cx="401320" cy="1411605"/>
            </a:xfrm>
            <a:custGeom>
              <a:avLst/>
              <a:gdLst/>
              <a:ahLst/>
              <a:cxnLst/>
              <a:rect l="l" t="t" r="r" b="b"/>
              <a:pathLst>
                <a:path w="401320" h="1411604">
                  <a:moveTo>
                    <a:pt x="0" y="1411066"/>
                  </a:moveTo>
                  <a:lnTo>
                    <a:pt x="400715" y="1411066"/>
                  </a:lnTo>
                  <a:lnTo>
                    <a:pt x="400715" y="0"/>
                  </a:lnTo>
                  <a:lnTo>
                    <a:pt x="0" y="0"/>
                  </a:lnTo>
                  <a:lnTo>
                    <a:pt x="0" y="1411066"/>
                  </a:lnTo>
                  <a:close/>
                </a:path>
              </a:pathLst>
            </a:custGeom>
            <a:ln w="15667">
              <a:solidFill>
                <a:srgbClr val="000000"/>
              </a:solidFill>
            </a:ln>
          </p:spPr>
          <p:txBody>
            <a:bodyPr wrap="square" lIns="0" tIns="0" rIns="0" bIns="0" rtlCol="0"/>
            <a:lstStyle/>
            <a:p/>
          </p:txBody>
        </p:sp>
        <p:sp>
          <p:nvSpPr>
            <p:cNvPr id="60" name="object 60" descr=""/>
            <p:cNvSpPr/>
            <p:nvPr/>
          </p:nvSpPr>
          <p:spPr>
            <a:xfrm>
              <a:off x="6136118" y="4655390"/>
              <a:ext cx="411480" cy="90170"/>
            </a:xfrm>
            <a:custGeom>
              <a:avLst/>
              <a:gdLst/>
              <a:ahLst/>
              <a:cxnLst/>
              <a:rect l="l" t="t" r="r" b="b"/>
              <a:pathLst>
                <a:path w="411479" h="90170">
                  <a:moveTo>
                    <a:pt x="410956" y="0"/>
                  </a:moveTo>
                  <a:lnTo>
                    <a:pt x="0" y="0"/>
                  </a:lnTo>
                  <a:lnTo>
                    <a:pt x="0" y="89938"/>
                  </a:lnTo>
                  <a:lnTo>
                    <a:pt x="410956" y="89938"/>
                  </a:lnTo>
                  <a:lnTo>
                    <a:pt x="410956" y="0"/>
                  </a:lnTo>
                  <a:close/>
                </a:path>
              </a:pathLst>
            </a:custGeom>
            <a:solidFill>
              <a:srgbClr val="CCFFFF"/>
            </a:solidFill>
          </p:spPr>
          <p:txBody>
            <a:bodyPr wrap="square" lIns="0" tIns="0" rIns="0" bIns="0" rtlCol="0"/>
            <a:lstStyle/>
            <a:p/>
          </p:txBody>
        </p:sp>
        <p:sp>
          <p:nvSpPr>
            <p:cNvPr id="61" name="object 61" descr=""/>
            <p:cNvSpPr/>
            <p:nvPr/>
          </p:nvSpPr>
          <p:spPr>
            <a:xfrm>
              <a:off x="6136118" y="4655390"/>
              <a:ext cx="411480" cy="90170"/>
            </a:xfrm>
            <a:custGeom>
              <a:avLst/>
              <a:gdLst/>
              <a:ahLst/>
              <a:cxnLst/>
              <a:rect l="l" t="t" r="r" b="b"/>
              <a:pathLst>
                <a:path w="411479" h="90170">
                  <a:moveTo>
                    <a:pt x="0" y="89938"/>
                  </a:moveTo>
                  <a:lnTo>
                    <a:pt x="410956" y="89938"/>
                  </a:lnTo>
                  <a:lnTo>
                    <a:pt x="410956" y="0"/>
                  </a:lnTo>
                  <a:lnTo>
                    <a:pt x="0" y="0"/>
                  </a:lnTo>
                  <a:lnTo>
                    <a:pt x="0" y="89938"/>
                  </a:lnTo>
                  <a:close/>
                </a:path>
              </a:pathLst>
            </a:custGeom>
            <a:ln w="16235">
              <a:solidFill>
                <a:srgbClr val="000000"/>
              </a:solidFill>
            </a:ln>
          </p:spPr>
          <p:txBody>
            <a:bodyPr wrap="square" lIns="0" tIns="0" rIns="0" bIns="0" rtlCol="0"/>
            <a:lstStyle/>
            <a:p/>
          </p:txBody>
        </p:sp>
        <p:sp>
          <p:nvSpPr>
            <p:cNvPr id="62" name="object 62" descr=""/>
            <p:cNvSpPr/>
            <p:nvPr/>
          </p:nvSpPr>
          <p:spPr>
            <a:xfrm>
              <a:off x="7552070" y="4153174"/>
              <a:ext cx="413384" cy="586740"/>
            </a:xfrm>
            <a:custGeom>
              <a:avLst/>
              <a:gdLst/>
              <a:ahLst/>
              <a:cxnLst/>
              <a:rect l="l" t="t" r="r" b="b"/>
              <a:pathLst>
                <a:path w="413384" h="586739">
                  <a:moveTo>
                    <a:pt x="413109" y="0"/>
                  </a:moveTo>
                  <a:lnTo>
                    <a:pt x="0" y="0"/>
                  </a:lnTo>
                  <a:lnTo>
                    <a:pt x="0" y="586561"/>
                  </a:lnTo>
                  <a:lnTo>
                    <a:pt x="413109" y="586561"/>
                  </a:lnTo>
                  <a:lnTo>
                    <a:pt x="413109" y="0"/>
                  </a:lnTo>
                  <a:close/>
                </a:path>
              </a:pathLst>
            </a:custGeom>
            <a:solidFill>
              <a:srgbClr val="CCFFFF"/>
            </a:solidFill>
          </p:spPr>
          <p:txBody>
            <a:bodyPr wrap="square" lIns="0" tIns="0" rIns="0" bIns="0" rtlCol="0"/>
            <a:lstStyle/>
            <a:p/>
          </p:txBody>
        </p:sp>
        <p:sp>
          <p:nvSpPr>
            <p:cNvPr id="63" name="object 63" descr=""/>
            <p:cNvSpPr/>
            <p:nvPr/>
          </p:nvSpPr>
          <p:spPr>
            <a:xfrm>
              <a:off x="7552070" y="4153174"/>
              <a:ext cx="413384" cy="586740"/>
            </a:xfrm>
            <a:custGeom>
              <a:avLst/>
              <a:gdLst/>
              <a:ahLst/>
              <a:cxnLst/>
              <a:rect l="l" t="t" r="r" b="b"/>
              <a:pathLst>
                <a:path w="413384" h="586739">
                  <a:moveTo>
                    <a:pt x="0" y="586561"/>
                  </a:moveTo>
                  <a:lnTo>
                    <a:pt x="413109" y="586561"/>
                  </a:lnTo>
                  <a:lnTo>
                    <a:pt x="413109" y="0"/>
                  </a:lnTo>
                  <a:lnTo>
                    <a:pt x="0" y="0"/>
                  </a:lnTo>
                  <a:lnTo>
                    <a:pt x="0" y="586561"/>
                  </a:lnTo>
                  <a:close/>
                </a:path>
              </a:pathLst>
            </a:custGeom>
            <a:ln w="15833">
              <a:solidFill>
                <a:srgbClr val="000000"/>
              </a:solidFill>
            </a:ln>
          </p:spPr>
          <p:txBody>
            <a:bodyPr wrap="square" lIns="0" tIns="0" rIns="0" bIns="0" rtlCol="0"/>
            <a:lstStyle/>
            <a:p/>
          </p:txBody>
        </p:sp>
        <p:sp>
          <p:nvSpPr>
            <p:cNvPr id="64" name="object 64" descr=""/>
            <p:cNvSpPr/>
            <p:nvPr/>
          </p:nvSpPr>
          <p:spPr>
            <a:xfrm>
              <a:off x="8964761" y="2815852"/>
              <a:ext cx="410845" cy="1929764"/>
            </a:xfrm>
            <a:custGeom>
              <a:avLst/>
              <a:gdLst/>
              <a:ahLst/>
              <a:cxnLst/>
              <a:rect l="l" t="t" r="r" b="b"/>
              <a:pathLst>
                <a:path w="410845" h="1929764">
                  <a:moveTo>
                    <a:pt x="410413" y="0"/>
                  </a:moveTo>
                  <a:lnTo>
                    <a:pt x="0" y="0"/>
                  </a:lnTo>
                  <a:lnTo>
                    <a:pt x="0" y="1929476"/>
                  </a:lnTo>
                  <a:lnTo>
                    <a:pt x="410413" y="1929476"/>
                  </a:lnTo>
                  <a:lnTo>
                    <a:pt x="410413" y="0"/>
                  </a:lnTo>
                  <a:close/>
                </a:path>
              </a:pathLst>
            </a:custGeom>
            <a:solidFill>
              <a:srgbClr val="CCFFFF"/>
            </a:solidFill>
          </p:spPr>
          <p:txBody>
            <a:bodyPr wrap="square" lIns="0" tIns="0" rIns="0" bIns="0" rtlCol="0"/>
            <a:lstStyle/>
            <a:p/>
          </p:txBody>
        </p:sp>
        <p:sp>
          <p:nvSpPr>
            <p:cNvPr id="65" name="object 65" descr=""/>
            <p:cNvSpPr/>
            <p:nvPr/>
          </p:nvSpPr>
          <p:spPr>
            <a:xfrm>
              <a:off x="8964761" y="2815852"/>
              <a:ext cx="410845" cy="1929764"/>
            </a:xfrm>
            <a:custGeom>
              <a:avLst/>
              <a:gdLst/>
              <a:ahLst/>
              <a:cxnLst/>
              <a:rect l="l" t="t" r="r" b="b"/>
              <a:pathLst>
                <a:path w="410845" h="1929764">
                  <a:moveTo>
                    <a:pt x="0" y="1929476"/>
                  </a:moveTo>
                  <a:lnTo>
                    <a:pt x="410413" y="1929476"/>
                  </a:lnTo>
                  <a:lnTo>
                    <a:pt x="410413" y="0"/>
                  </a:lnTo>
                  <a:lnTo>
                    <a:pt x="0" y="0"/>
                  </a:lnTo>
                  <a:lnTo>
                    <a:pt x="0" y="1929476"/>
                  </a:lnTo>
                  <a:close/>
                </a:path>
              </a:pathLst>
            </a:custGeom>
            <a:ln w="15647">
              <a:solidFill>
                <a:srgbClr val="000000"/>
              </a:solidFill>
            </a:ln>
          </p:spPr>
          <p:txBody>
            <a:bodyPr wrap="square" lIns="0" tIns="0" rIns="0" bIns="0" rtlCol="0"/>
            <a:lstStyle/>
            <a:p/>
          </p:txBody>
        </p:sp>
      </p:grpSp>
      <p:sp>
        <p:nvSpPr>
          <p:cNvPr id="66" name="object 66" descr=""/>
          <p:cNvSpPr txBox="1"/>
          <p:nvPr/>
        </p:nvSpPr>
        <p:spPr>
          <a:xfrm>
            <a:off x="2790570" y="5944311"/>
            <a:ext cx="6964680" cy="452120"/>
          </a:xfrm>
          <a:prstGeom prst="rect">
            <a:avLst/>
          </a:prstGeom>
        </p:spPr>
        <p:txBody>
          <a:bodyPr wrap="square" lIns="0" tIns="12065" rIns="0" bIns="0" rtlCol="0" vert="horz">
            <a:spAutoFit/>
          </a:bodyPr>
          <a:lstStyle/>
          <a:p>
            <a:pPr marL="12700">
              <a:lnSpc>
                <a:spcPct val="100000"/>
              </a:lnSpc>
              <a:spcBef>
                <a:spcPts val="95"/>
              </a:spcBef>
            </a:pPr>
            <a:r>
              <a:rPr dirty="0" sz="2800" spc="-25">
                <a:solidFill>
                  <a:srgbClr val="FF0000"/>
                </a:solidFill>
                <a:latin typeface="黑体"/>
                <a:cs typeface="黑体"/>
              </a:rPr>
              <a:t>联系：</a:t>
            </a:r>
            <a:r>
              <a:rPr dirty="0" sz="2800" spc="-45">
                <a:solidFill>
                  <a:srgbClr val="40458B"/>
                </a:solidFill>
                <a:latin typeface="黑体"/>
                <a:cs typeface="黑体"/>
              </a:rPr>
              <a:t>以经常性事件为重点-------定量原理</a:t>
            </a:r>
            <a:endParaRPr sz="2800">
              <a:latin typeface="黑体"/>
              <a:cs typeface="黑体"/>
            </a:endParaRPr>
          </a:p>
        </p:txBody>
      </p:sp>
      <p:sp>
        <p:nvSpPr>
          <p:cNvPr id="67" name="object 67" descr=""/>
          <p:cNvSpPr txBox="1"/>
          <p:nvPr/>
        </p:nvSpPr>
        <p:spPr>
          <a:xfrm>
            <a:off x="2142870" y="943895"/>
            <a:ext cx="6280785" cy="1052195"/>
          </a:xfrm>
          <a:prstGeom prst="rect">
            <a:avLst/>
          </a:prstGeom>
        </p:spPr>
        <p:txBody>
          <a:bodyPr wrap="square" lIns="0" tIns="206375" rIns="0" bIns="0" rtlCol="0" vert="horz">
            <a:spAutoFit/>
          </a:bodyPr>
          <a:lstStyle/>
          <a:p>
            <a:pPr marL="12700">
              <a:lnSpc>
                <a:spcPct val="100000"/>
              </a:lnSpc>
              <a:spcBef>
                <a:spcPts val="1625"/>
              </a:spcBef>
              <a:tabLst>
                <a:tab pos="469265" algn="l"/>
              </a:tabLst>
            </a:pPr>
            <a:r>
              <a:rPr dirty="0" sz="2400" spc="-25">
                <a:solidFill>
                  <a:srgbClr val="40458B"/>
                </a:solidFill>
                <a:latin typeface="Tahoma"/>
                <a:cs typeface="Tahoma"/>
              </a:rPr>
              <a:t>3.</a:t>
            </a:r>
            <a:r>
              <a:rPr dirty="0" sz="2400">
                <a:solidFill>
                  <a:srgbClr val="40458B"/>
                </a:solidFill>
                <a:latin typeface="Tahoma"/>
                <a:cs typeface="Tahoma"/>
              </a:rPr>
              <a:t>	</a:t>
            </a:r>
            <a:r>
              <a:rPr dirty="0" sz="2400" spc="-5">
                <a:solidFill>
                  <a:srgbClr val="E14B04"/>
                </a:solidFill>
                <a:latin typeface="黑体"/>
                <a:cs typeface="黑体"/>
              </a:rPr>
              <a:t>各种操作数寻址方式的使用情况统计结果</a:t>
            </a:r>
            <a:endParaRPr sz="2400">
              <a:latin typeface="黑体"/>
              <a:cs typeface="黑体"/>
            </a:endParaRPr>
          </a:p>
          <a:p>
            <a:pPr marL="1270000">
              <a:lnSpc>
                <a:spcPct val="100000"/>
              </a:lnSpc>
              <a:spcBef>
                <a:spcPts val="1275"/>
              </a:spcBef>
            </a:pPr>
            <a:r>
              <a:rPr dirty="0" sz="2000" spc="-10" b="1">
                <a:latin typeface="宋体"/>
                <a:cs typeface="宋体"/>
              </a:rPr>
              <a:t>在VAX</a:t>
            </a:r>
            <a:r>
              <a:rPr dirty="0" sz="2000" spc="-15" b="1">
                <a:latin typeface="宋体"/>
                <a:cs typeface="宋体"/>
              </a:rPr>
              <a:t>机器上运行</a:t>
            </a:r>
            <a:r>
              <a:rPr dirty="0" sz="2000" spc="-10" b="1">
                <a:latin typeface="宋体"/>
                <a:cs typeface="宋体"/>
              </a:rPr>
              <a:t>gcc</a:t>
            </a:r>
            <a:r>
              <a:rPr dirty="0" sz="2000" spc="-20" b="1">
                <a:latin typeface="宋体"/>
                <a:cs typeface="宋体"/>
              </a:rPr>
              <a:t>、</a:t>
            </a:r>
            <a:r>
              <a:rPr dirty="0" sz="2000" spc="-10" b="1">
                <a:latin typeface="宋体"/>
                <a:cs typeface="宋体"/>
              </a:rPr>
              <a:t>Spice和</a:t>
            </a:r>
            <a:r>
              <a:rPr dirty="0" sz="2000" b="1">
                <a:latin typeface="宋体"/>
                <a:cs typeface="宋体"/>
              </a:rPr>
              <a:t>Tex</a:t>
            </a:r>
            <a:r>
              <a:rPr dirty="0" sz="2000" spc="-30" b="1">
                <a:latin typeface="宋体"/>
                <a:cs typeface="宋体"/>
              </a:rPr>
              <a:t> 基准程序</a:t>
            </a:r>
            <a:endParaRPr sz="2000">
              <a:latin typeface="宋体"/>
              <a:cs typeface="宋体"/>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2252217" y="765446"/>
            <a:ext cx="4770120" cy="1179195"/>
          </a:xfrm>
          <a:prstGeom prst="rect">
            <a:avLst/>
          </a:prstGeom>
        </p:spPr>
        <p:txBody>
          <a:bodyPr wrap="square" lIns="0" tIns="216535" rIns="0" bIns="0" rtlCol="0" vert="horz">
            <a:spAutoFit/>
          </a:bodyPr>
          <a:lstStyle/>
          <a:p>
            <a:pPr marL="469265" indent="-456565">
              <a:lnSpc>
                <a:spcPct val="100000"/>
              </a:lnSpc>
              <a:spcBef>
                <a:spcPts val="1705"/>
              </a:spcBef>
              <a:buClr>
                <a:srgbClr val="40458B"/>
              </a:buClr>
              <a:buFont typeface="Tahoma"/>
              <a:buAutoNum type="arabicPeriod" startAt="4"/>
              <a:tabLst>
                <a:tab pos="469265" algn="l"/>
              </a:tabLst>
            </a:pPr>
            <a:r>
              <a:rPr dirty="0" sz="2600" spc="-20">
                <a:solidFill>
                  <a:srgbClr val="E14B04"/>
                </a:solidFill>
                <a:latin typeface="黑体"/>
                <a:cs typeface="黑体"/>
              </a:rPr>
              <a:t>立即数寻址方式</a:t>
            </a:r>
            <a:endParaRPr sz="2600">
              <a:latin typeface="黑体"/>
              <a:cs typeface="黑体"/>
            </a:endParaRPr>
          </a:p>
          <a:p>
            <a:pPr lvl="1" marL="1099185" indent="-457200">
              <a:lnSpc>
                <a:spcPct val="100000"/>
              </a:lnSpc>
              <a:spcBef>
                <a:spcPts val="1475"/>
              </a:spcBef>
              <a:buSzPct val="89583"/>
              <a:buFont typeface="Wingdings"/>
              <a:buChar char=""/>
              <a:tabLst>
                <a:tab pos="1099185" algn="l"/>
              </a:tabLst>
            </a:pPr>
            <a:r>
              <a:rPr dirty="0" sz="2400" spc="-5">
                <a:solidFill>
                  <a:srgbClr val="40458B"/>
                </a:solidFill>
                <a:latin typeface="黑体"/>
                <a:cs typeface="黑体"/>
              </a:rPr>
              <a:t>立即数寻址方式的使用频度</a:t>
            </a:r>
            <a:endParaRPr sz="2400">
              <a:latin typeface="黑体"/>
              <a:cs typeface="黑体"/>
            </a:endParaRPr>
          </a:p>
        </p:txBody>
      </p:sp>
      <p:graphicFrame>
        <p:nvGraphicFramePr>
          <p:cNvPr id="4" name="object 4" descr=""/>
          <p:cNvGraphicFramePr>
            <a:graphicFrameLocks noGrp="1"/>
          </p:cNvGraphicFramePr>
          <p:nvPr/>
        </p:nvGraphicFramePr>
        <p:xfrm>
          <a:off x="2770187" y="2255837"/>
          <a:ext cx="6945630" cy="3030220"/>
        </p:xfrm>
        <a:graphic>
          <a:graphicData uri="http://schemas.openxmlformats.org/drawingml/2006/table">
            <a:tbl>
              <a:tblPr firstRow="1" bandRow="1">
                <a:tableStyleId>{2D5ABB26-0587-4C30-8999-92F81FD0307C}</a:tableStyleId>
              </a:tblPr>
              <a:tblGrid>
                <a:gridCol w="2447925"/>
                <a:gridCol w="2232025"/>
                <a:gridCol w="2160904"/>
              </a:tblGrid>
              <a:tr h="606425">
                <a:tc rowSpan="2">
                  <a:txBody>
                    <a:bodyPr/>
                    <a:lstStyle/>
                    <a:p>
                      <a:pPr>
                        <a:lnSpc>
                          <a:spcPct val="100000"/>
                        </a:lnSpc>
                        <a:spcBef>
                          <a:spcPts val="2295"/>
                        </a:spcBef>
                      </a:pPr>
                      <a:endParaRPr sz="2000">
                        <a:latin typeface="Times New Roman"/>
                        <a:cs typeface="Times New Roman"/>
                      </a:endParaRPr>
                    </a:p>
                    <a:p>
                      <a:pPr marL="714375">
                        <a:lnSpc>
                          <a:spcPct val="100000"/>
                        </a:lnSpc>
                      </a:pPr>
                      <a:r>
                        <a:rPr dirty="0" sz="2000" spc="-15">
                          <a:solidFill>
                            <a:srgbClr val="E14B04"/>
                          </a:solidFill>
                          <a:latin typeface="黑体"/>
                          <a:cs typeface="黑体"/>
                        </a:rPr>
                        <a:t>指令类型</a:t>
                      </a:r>
                      <a:endParaRPr sz="2000">
                        <a:latin typeface="黑体"/>
                        <a:cs typeface="黑体"/>
                      </a:endParaRPr>
                    </a:p>
                  </a:txBody>
                  <a:tcPr marL="0" marR="0" marB="0" marT="29146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gridSpan="2">
                  <a:txBody>
                    <a:bodyPr/>
                    <a:lstStyle/>
                    <a:p>
                      <a:pPr algn="ctr" marL="2540">
                        <a:lnSpc>
                          <a:spcPct val="100000"/>
                        </a:lnSpc>
                        <a:spcBef>
                          <a:spcPts val="1335"/>
                        </a:spcBef>
                      </a:pPr>
                      <a:r>
                        <a:rPr dirty="0" sz="2000" spc="-15">
                          <a:solidFill>
                            <a:srgbClr val="E14B04"/>
                          </a:solidFill>
                          <a:latin typeface="黑体"/>
                          <a:cs typeface="黑体"/>
                        </a:rPr>
                        <a:t>使用频度</a:t>
                      </a:r>
                      <a:endParaRPr sz="2000">
                        <a:latin typeface="黑体"/>
                        <a:cs typeface="黑体"/>
                      </a:endParaRPr>
                    </a:p>
                  </a:txBody>
                  <a:tcPr marL="0" marR="0" marB="0" marT="16954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c hMerge="1">
                  <a:txBody>
                    <a:bodyPr/>
                    <a:lstStyle/>
                    <a:p>
                      <a:pPr/>
                    </a:p>
                  </a:txBody>
                  <a:tcPr marL="0" marR="0" marB="0" marT="0"/>
                </a:tc>
              </a:tr>
              <a:tr h="606425">
                <a:tc vMerge="1">
                  <a:txBody>
                    <a:bodyPr/>
                    <a:lstStyle/>
                    <a:p>
                      <a:pPr/>
                    </a:p>
                  </a:txBody>
                  <a:tcPr marL="0" marR="0" marB="0" marT="29146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270">
                        <a:lnSpc>
                          <a:spcPct val="100000"/>
                        </a:lnSpc>
                        <a:spcBef>
                          <a:spcPts val="1335"/>
                        </a:spcBef>
                      </a:pPr>
                      <a:r>
                        <a:rPr dirty="0" sz="2000" spc="-15">
                          <a:solidFill>
                            <a:srgbClr val="008000"/>
                          </a:solidFill>
                          <a:latin typeface="黑体"/>
                          <a:cs typeface="黑体"/>
                        </a:rPr>
                        <a:t>整型平均</a:t>
                      </a:r>
                      <a:endParaRPr sz="2000">
                        <a:latin typeface="黑体"/>
                        <a:cs typeface="黑体"/>
                      </a:endParaRPr>
                    </a:p>
                  </a:txBody>
                  <a:tcPr marL="0" marR="0" marB="0" marT="16954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1335"/>
                        </a:spcBef>
                      </a:pPr>
                      <a:r>
                        <a:rPr dirty="0" sz="2000" spc="-15">
                          <a:solidFill>
                            <a:srgbClr val="008000"/>
                          </a:solidFill>
                          <a:latin typeface="黑体"/>
                          <a:cs typeface="黑体"/>
                        </a:rPr>
                        <a:t>浮点平均</a:t>
                      </a:r>
                      <a:endParaRPr sz="2000">
                        <a:latin typeface="黑体"/>
                        <a:cs typeface="黑体"/>
                      </a:endParaRPr>
                    </a:p>
                  </a:txBody>
                  <a:tcPr marL="0" marR="0" marB="0" marT="16954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604520">
                <a:tc>
                  <a:txBody>
                    <a:bodyPr/>
                    <a:lstStyle/>
                    <a:p>
                      <a:pPr algn="ctr">
                        <a:lnSpc>
                          <a:spcPct val="100000"/>
                        </a:lnSpc>
                        <a:spcBef>
                          <a:spcPts val="1335"/>
                        </a:spcBef>
                      </a:pPr>
                      <a:r>
                        <a:rPr dirty="0" sz="2000" spc="-10">
                          <a:solidFill>
                            <a:srgbClr val="40458B"/>
                          </a:solidFill>
                          <a:latin typeface="Tahoma"/>
                          <a:cs typeface="Tahoma"/>
                        </a:rPr>
                        <a:t>load</a:t>
                      </a:r>
                      <a:r>
                        <a:rPr dirty="0" sz="2000" spc="-25">
                          <a:solidFill>
                            <a:srgbClr val="40458B"/>
                          </a:solidFill>
                          <a:latin typeface="黑体"/>
                          <a:cs typeface="黑体"/>
                        </a:rPr>
                        <a:t>指令</a:t>
                      </a:r>
                      <a:endParaRPr sz="2000">
                        <a:latin typeface="黑体"/>
                        <a:cs typeface="黑体"/>
                      </a:endParaRPr>
                    </a:p>
                  </a:txBody>
                  <a:tcPr marL="0" marR="0" marB="0" marT="16954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335"/>
                        </a:spcBef>
                      </a:pPr>
                      <a:r>
                        <a:rPr dirty="0" sz="2000" spc="-25">
                          <a:solidFill>
                            <a:srgbClr val="40458B"/>
                          </a:solidFill>
                          <a:latin typeface="Tahoma"/>
                          <a:cs typeface="Tahoma"/>
                        </a:rPr>
                        <a:t>23%</a:t>
                      </a:r>
                      <a:endParaRPr sz="2000">
                        <a:latin typeface="Tahoma"/>
                        <a:cs typeface="Tahoma"/>
                      </a:endParaRPr>
                    </a:p>
                  </a:txBody>
                  <a:tcPr marL="0" marR="0" marB="0" marT="16954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1335"/>
                        </a:spcBef>
                      </a:pPr>
                      <a:r>
                        <a:rPr dirty="0" sz="2000" spc="-25">
                          <a:solidFill>
                            <a:srgbClr val="40458B"/>
                          </a:solidFill>
                          <a:latin typeface="Tahoma"/>
                          <a:cs typeface="Tahoma"/>
                        </a:rPr>
                        <a:t>22%</a:t>
                      </a:r>
                      <a:endParaRPr sz="2000">
                        <a:latin typeface="Tahoma"/>
                        <a:cs typeface="Tahoma"/>
                      </a:endParaRPr>
                    </a:p>
                  </a:txBody>
                  <a:tcPr marL="0" marR="0" marB="0" marT="16954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606425">
                <a:tc>
                  <a:txBody>
                    <a:bodyPr/>
                    <a:lstStyle/>
                    <a:p>
                      <a:pPr algn="ctr">
                        <a:lnSpc>
                          <a:spcPct val="100000"/>
                        </a:lnSpc>
                        <a:spcBef>
                          <a:spcPts val="1340"/>
                        </a:spcBef>
                      </a:pPr>
                      <a:r>
                        <a:rPr dirty="0" sz="2000" spc="-10">
                          <a:solidFill>
                            <a:srgbClr val="40458B"/>
                          </a:solidFill>
                          <a:latin typeface="Tahoma"/>
                          <a:cs typeface="Tahoma"/>
                        </a:rPr>
                        <a:t>ALU</a:t>
                      </a:r>
                      <a:r>
                        <a:rPr dirty="0" sz="2000" spc="-25">
                          <a:solidFill>
                            <a:srgbClr val="40458B"/>
                          </a:solidFill>
                          <a:latin typeface="黑体"/>
                          <a:cs typeface="黑体"/>
                        </a:rPr>
                        <a:t>指令</a:t>
                      </a:r>
                      <a:endParaRPr sz="2000">
                        <a:latin typeface="黑体"/>
                        <a:cs typeface="黑体"/>
                      </a:endParaRPr>
                    </a:p>
                  </a:txBody>
                  <a:tcPr marL="0" marR="0" marB="0" marT="17018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340"/>
                        </a:spcBef>
                      </a:pPr>
                      <a:r>
                        <a:rPr dirty="0" sz="2000" spc="-25">
                          <a:solidFill>
                            <a:srgbClr val="40458B"/>
                          </a:solidFill>
                          <a:latin typeface="Tahoma"/>
                          <a:cs typeface="Tahoma"/>
                        </a:rPr>
                        <a:t>25%</a:t>
                      </a:r>
                      <a:endParaRPr sz="2000">
                        <a:latin typeface="Tahoma"/>
                        <a:cs typeface="Tahoma"/>
                      </a:endParaRPr>
                    </a:p>
                  </a:txBody>
                  <a:tcPr marL="0" marR="0" marB="0" marT="17018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1340"/>
                        </a:spcBef>
                      </a:pPr>
                      <a:r>
                        <a:rPr dirty="0" sz="2000" spc="-25">
                          <a:solidFill>
                            <a:srgbClr val="40458B"/>
                          </a:solidFill>
                          <a:latin typeface="Tahoma"/>
                          <a:cs typeface="Tahoma"/>
                        </a:rPr>
                        <a:t>19%</a:t>
                      </a:r>
                      <a:endParaRPr sz="2000">
                        <a:latin typeface="Tahoma"/>
                        <a:cs typeface="Tahoma"/>
                      </a:endParaRPr>
                    </a:p>
                  </a:txBody>
                  <a:tcPr marL="0" marR="0" marB="0" marT="17018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606425">
                <a:tc>
                  <a:txBody>
                    <a:bodyPr/>
                    <a:lstStyle/>
                    <a:p>
                      <a:pPr algn="ctr" marL="1270">
                        <a:lnSpc>
                          <a:spcPct val="100000"/>
                        </a:lnSpc>
                        <a:spcBef>
                          <a:spcPts val="1340"/>
                        </a:spcBef>
                      </a:pPr>
                      <a:r>
                        <a:rPr dirty="0" sz="2000" spc="-15">
                          <a:solidFill>
                            <a:srgbClr val="40458B"/>
                          </a:solidFill>
                          <a:latin typeface="黑体"/>
                          <a:cs typeface="黑体"/>
                        </a:rPr>
                        <a:t>所有指令</a:t>
                      </a:r>
                      <a:endParaRPr sz="2000">
                        <a:latin typeface="黑体"/>
                        <a:cs typeface="黑体"/>
                      </a:endParaRPr>
                    </a:p>
                  </a:txBody>
                  <a:tcPr marL="0" marR="0" marB="0" marT="17018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1340"/>
                        </a:spcBef>
                      </a:pPr>
                      <a:r>
                        <a:rPr dirty="0" sz="2000" spc="-25">
                          <a:solidFill>
                            <a:srgbClr val="40458B"/>
                          </a:solidFill>
                          <a:latin typeface="Tahoma"/>
                          <a:cs typeface="Tahoma"/>
                        </a:rPr>
                        <a:t>21%</a:t>
                      </a:r>
                      <a:endParaRPr sz="2000">
                        <a:latin typeface="Tahoma"/>
                        <a:cs typeface="Tahoma"/>
                      </a:endParaRPr>
                    </a:p>
                  </a:txBody>
                  <a:tcPr marL="0" marR="0" marB="0" marT="17018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905">
                        <a:lnSpc>
                          <a:spcPct val="100000"/>
                        </a:lnSpc>
                        <a:spcBef>
                          <a:spcPts val="1340"/>
                        </a:spcBef>
                      </a:pPr>
                      <a:r>
                        <a:rPr dirty="0" sz="2000" spc="-25">
                          <a:solidFill>
                            <a:srgbClr val="40458B"/>
                          </a:solidFill>
                          <a:latin typeface="Tahoma"/>
                          <a:cs typeface="Tahoma"/>
                        </a:rPr>
                        <a:t>16%</a:t>
                      </a:r>
                      <a:endParaRPr sz="2000">
                        <a:latin typeface="Tahoma"/>
                        <a:cs typeface="Tahoma"/>
                      </a:endParaRPr>
                    </a:p>
                  </a:txBody>
                  <a:tcPr marL="0" marR="0" marB="0" marT="17018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5" name="object 5" descr=""/>
          <p:cNvSpPr txBox="1"/>
          <p:nvPr/>
        </p:nvSpPr>
        <p:spPr>
          <a:xfrm>
            <a:off x="2934970" y="5123392"/>
            <a:ext cx="6731634" cy="1183640"/>
          </a:xfrm>
          <a:prstGeom prst="rect">
            <a:avLst/>
          </a:prstGeom>
        </p:spPr>
        <p:txBody>
          <a:bodyPr wrap="square" lIns="0" tIns="12065" rIns="0" bIns="0" rtlCol="0" vert="horz">
            <a:spAutoFit/>
          </a:bodyPr>
          <a:lstStyle/>
          <a:p>
            <a:pPr marL="12700" marR="5080">
              <a:lnSpc>
                <a:spcPct val="158300"/>
              </a:lnSpc>
              <a:spcBef>
                <a:spcPts val="95"/>
              </a:spcBef>
            </a:pPr>
            <a:r>
              <a:rPr dirty="0" sz="2400">
                <a:solidFill>
                  <a:srgbClr val="40458B"/>
                </a:solidFill>
                <a:latin typeface="黑体"/>
                <a:cs typeface="黑体"/>
              </a:rPr>
              <a:t>大约</a:t>
            </a:r>
            <a:r>
              <a:rPr dirty="0" sz="2400">
                <a:solidFill>
                  <a:srgbClr val="D50092"/>
                </a:solidFill>
                <a:latin typeface="黑体"/>
                <a:cs typeface="黑体"/>
              </a:rPr>
              <a:t>1/4</a:t>
            </a:r>
            <a:r>
              <a:rPr dirty="0" sz="2400">
                <a:solidFill>
                  <a:srgbClr val="40458B"/>
                </a:solidFill>
                <a:latin typeface="黑体"/>
                <a:cs typeface="黑体"/>
              </a:rPr>
              <a:t>的</a:t>
            </a:r>
            <a:r>
              <a:rPr dirty="0" sz="2400">
                <a:solidFill>
                  <a:srgbClr val="D50092"/>
                </a:solidFill>
                <a:latin typeface="黑体"/>
                <a:cs typeface="黑体"/>
              </a:rPr>
              <a:t>load指令</a:t>
            </a:r>
            <a:r>
              <a:rPr dirty="0" sz="2400">
                <a:solidFill>
                  <a:srgbClr val="40458B"/>
                </a:solidFill>
                <a:latin typeface="黑体"/>
                <a:cs typeface="黑体"/>
              </a:rPr>
              <a:t>和</a:t>
            </a:r>
            <a:r>
              <a:rPr dirty="0" sz="2400">
                <a:solidFill>
                  <a:srgbClr val="D50092"/>
                </a:solidFill>
                <a:latin typeface="黑体"/>
                <a:cs typeface="黑体"/>
              </a:rPr>
              <a:t>ALU指令</a:t>
            </a:r>
            <a:r>
              <a:rPr dirty="0" sz="2400" spc="-10">
                <a:solidFill>
                  <a:srgbClr val="40458B"/>
                </a:solidFill>
                <a:latin typeface="黑体"/>
                <a:cs typeface="黑体"/>
              </a:rPr>
              <a:t>采用了立即数寻址。</a:t>
            </a:r>
            <a:r>
              <a:rPr dirty="0" sz="2400" spc="-10">
                <a:solidFill>
                  <a:srgbClr val="FF0000"/>
                </a:solidFill>
                <a:latin typeface="黑体"/>
                <a:cs typeface="黑体"/>
              </a:rPr>
              <a:t>联系：</a:t>
            </a:r>
            <a:r>
              <a:rPr dirty="0" sz="2400" spc="-20">
                <a:solidFill>
                  <a:srgbClr val="40458B"/>
                </a:solidFill>
                <a:latin typeface="黑体"/>
                <a:cs typeface="黑体"/>
              </a:rPr>
              <a:t>以经常性事件为重点-------定量原理</a:t>
            </a:r>
            <a:endParaRPr sz="2400">
              <a:latin typeface="黑体"/>
              <a:cs typeface="黑体"/>
            </a:endParaRPr>
          </a:p>
        </p:txBody>
      </p:sp>
      <p:sp>
        <p:nvSpPr>
          <p:cNvPr id="6" name="object 6"/>
          <p:cNvSpPr txBox="1">
            <a:spLocks noGrp="1"/>
          </p:cNvSpPr>
          <p:nvPr>
            <p:ph type="title"/>
          </p:nvPr>
        </p:nvSpPr>
        <p:spPr>
          <a:xfrm>
            <a:off x="1163637" y="232663"/>
            <a:ext cx="11041380" cy="513715"/>
          </a:xfrm>
          <a:prstGeom prst="rect"/>
        </p:spPr>
        <p:txBody>
          <a:bodyPr wrap="square" lIns="0" tIns="12700" rIns="0" bIns="0" rtlCol="0" vert="horz">
            <a:spAutoFit/>
          </a:bodyPr>
          <a:lstStyle/>
          <a:p>
            <a:pPr marL="12700">
              <a:lnSpc>
                <a:spcPct val="100000"/>
              </a:lnSpc>
              <a:spcBef>
                <a:spcPts val="100"/>
              </a:spcBef>
              <a:tabLst>
                <a:tab pos="1567815" algn="l"/>
                <a:tab pos="11028045" algn="l"/>
              </a:tabLst>
            </a:pPr>
            <a:r>
              <a:rPr dirty="0">
                <a:solidFill>
                  <a:srgbClr val="4F55AC"/>
                </a:solidFill>
              </a:rPr>
              <a:t>	2.2</a:t>
            </a:r>
            <a:r>
              <a:rPr dirty="0" spc="35">
                <a:solidFill>
                  <a:srgbClr val="4F55AC"/>
                </a:solidFill>
              </a:rPr>
              <a:t> </a:t>
            </a:r>
            <a:r>
              <a:rPr dirty="0" spc="-35">
                <a:solidFill>
                  <a:srgbClr val="4F55AC"/>
                </a:solidFill>
              </a:rPr>
              <a:t>指令系</a:t>
            </a:r>
            <a:r>
              <a:rPr dirty="0" spc="-40">
                <a:solidFill>
                  <a:srgbClr val="4F55AC"/>
                </a:solidFill>
              </a:rPr>
              <a:t>统</a:t>
            </a:r>
            <a:r>
              <a:rPr dirty="0" spc="-35">
                <a:solidFill>
                  <a:srgbClr val="4F55AC"/>
                </a:solidFill>
              </a:rPr>
              <a:t>的寻</a:t>
            </a:r>
            <a:r>
              <a:rPr dirty="0" spc="-40">
                <a:solidFill>
                  <a:srgbClr val="4F55AC"/>
                </a:solidFill>
              </a:rPr>
              <a:t>址</a:t>
            </a:r>
            <a:r>
              <a:rPr dirty="0" spc="-35">
                <a:solidFill>
                  <a:srgbClr val="4F55AC"/>
                </a:solidFill>
              </a:rPr>
              <a:t>方</a:t>
            </a:r>
            <a:r>
              <a:rPr dirty="0" spc="-50">
                <a:solidFill>
                  <a:srgbClr val="4F55AC"/>
                </a:solidFill>
              </a:rPr>
              <a:t>式</a:t>
            </a:r>
            <a:r>
              <a:rPr dirty="0">
                <a:solidFill>
                  <a:srgbClr val="4F55AC"/>
                </a:solidFill>
              </a:rPr>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494790" algn="l"/>
                <a:tab pos="11028045" algn="l"/>
              </a:tabLst>
            </a:pPr>
            <a:r>
              <a:rPr dirty="0">
                <a:solidFill>
                  <a:srgbClr val="4F55AC"/>
                </a:solidFill>
              </a:rPr>
              <a:t>	2.2</a:t>
            </a:r>
            <a:r>
              <a:rPr dirty="0" spc="-35">
                <a:solidFill>
                  <a:srgbClr val="4F55AC"/>
                </a:solidFill>
              </a:rPr>
              <a:t> </a:t>
            </a:r>
            <a:r>
              <a:rPr dirty="0">
                <a:solidFill>
                  <a:srgbClr val="4F55AC"/>
                </a:solidFill>
                <a:latin typeface="微软雅黑"/>
                <a:cs typeface="微软雅黑"/>
              </a:rPr>
              <a:t>指令系统的寻址方</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4" name="object 4" descr=""/>
          <p:cNvSpPr txBox="1"/>
          <p:nvPr/>
        </p:nvSpPr>
        <p:spPr>
          <a:xfrm>
            <a:off x="1709420" y="1108227"/>
            <a:ext cx="8622030" cy="4829175"/>
          </a:xfrm>
          <a:prstGeom prst="rect">
            <a:avLst/>
          </a:prstGeom>
        </p:spPr>
        <p:txBody>
          <a:bodyPr wrap="square" lIns="0" tIns="12700" rIns="0" bIns="0" rtlCol="0" vert="horz">
            <a:spAutoFit/>
          </a:bodyPr>
          <a:lstStyle/>
          <a:p>
            <a:pPr marL="12700" marR="5080" indent="412115">
              <a:lnSpc>
                <a:spcPct val="130100"/>
              </a:lnSpc>
              <a:spcBef>
                <a:spcPts val="100"/>
              </a:spcBef>
              <a:buFont typeface="Tahoma"/>
              <a:buAutoNum type="arabicPeriod" startAt="5"/>
              <a:tabLst>
                <a:tab pos="424815" algn="l"/>
              </a:tabLst>
            </a:pPr>
            <a:r>
              <a:rPr dirty="0" sz="2800" spc="-35">
                <a:solidFill>
                  <a:srgbClr val="D50092"/>
                </a:solidFill>
                <a:latin typeface="黑体"/>
                <a:cs typeface="黑体"/>
              </a:rPr>
              <a:t>寻址方式中涉及到的物理地址空间需要注意的问题</a:t>
            </a:r>
            <a:r>
              <a:rPr dirty="0" sz="2800" spc="-50">
                <a:solidFill>
                  <a:srgbClr val="172152"/>
                </a:solidFill>
                <a:latin typeface="黑体"/>
                <a:cs typeface="黑体"/>
              </a:rPr>
              <a:t>：</a:t>
            </a:r>
            <a:r>
              <a:rPr dirty="0" sz="2800" spc="-40">
                <a:solidFill>
                  <a:srgbClr val="172152"/>
                </a:solidFill>
                <a:latin typeface="黑体"/>
                <a:cs typeface="黑体"/>
              </a:rPr>
              <a:t>物理地址空间的信息如何存放？</a:t>
            </a:r>
            <a:endParaRPr sz="2800">
              <a:latin typeface="黑体"/>
              <a:cs typeface="黑体"/>
            </a:endParaRPr>
          </a:p>
          <a:p>
            <a:pPr marL="641985">
              <a:lnSpc>
                <a:spcPct val="100000"/>
              </a:lnSpc>
              <a:spcBef>
                <a:spcPts val="1440"/>
              </a:spcBef>
            </a:pPr>
            <a:r>
              <a:rPr dirty="0" sz="2200" spc="-35">
                <a:solidFill>
                  <a:srgbClr val="006FC0"/>
                </a:solidFill>
                <a:latin typeface="黑体"/>
                <a:cs typeface="黑体"/>
              </a:rPr>
              <a:t>如何在存储器中存放不同宽度的信息？</a:t>
            </a:r>
            <a:endParaRPr sz="2200">
              <a:latin typeface="黑体"/>
              <a:cs typeface="黑体"/>
            </a:endParaRPr>
          </a:p>
          <a:p>
            <a:pPr marL="641985">
              <a:lnSpc>
                <a:spcPct val="100000"/>
              </a:lnSpc>
              <a:spcBef>
                <a:spcPts val="1320"/>
              </a:spcBef>
            </a:pPr>
            <a:r>
              <a:rPr dirty="0" sz="2200" spc="-25">
                <a:solidFill>
                  <a:srgbClr val="006FC0"/>
                </a:solidFill>
                <a:latin typeface="黑体"/>
                <a:cs typeface="黑体"/>
              </a:rPr>
              <a:t>以</a:t>
            </a:r>
            <a:r>
              <a:rPr dirty="0" sz="2200" spc="-10">
                <a:solidFill>
                  <a:srgbClr val="9933FF"/>
                </a:solidFill>
                <a:latin typeface="Times New Roman"/>
                <a:cs typeface="Times New Roman"/>
              </a:rPr>
              <a:t>IBM370</a:t>
            </a:r>
            <a:r>
              <a:rPr dirty="0" sz="2200" spc="-35">
                <a:solidFill>
                  <a:srgbClr val="006FC0"/>
                </a:solidFill>
                <a:latin typeface="黑体"/>
                <a:cs typeface="黑体"/>
              </a:rPr>
              <a:t>为例子进行讨论。</a:t>
            </a:r>
            <a:endParaRPr sz="2200">
              <a:latin typeface="黑体"/>
              <a:cs typeface="黑体"/>
            </a:endParaRPr>
          </a:p>
          <a:p>
            <a:pPr lvl="1" marL="1308100" marR="144780" indent="-358140">
              <a:lnSpc>
                <a:spcPct val="130000"/>
              </a:lnSpc>
              <a:spcBef>
                <a:spcPts val="515"/>
              </a:spcBef>
              <a:buClr>
                <a:srgbClr val="4668F5"/>
              </a:buClr>
              <a:buSzPct val="72500"/>
              <a:buFont typeface="Wingdings"/>
              <a:buChar char=""/>
              <a:tabLst>
                <a:tab pos="1308100" algn="l"/>
              </a:tabLst>
            </a:pPr>
            <a:r>
              <a:rPr dirty="0" sz="2000" spc="-5" b="1">
                <a:solidFill>
                  <a:srgbClr val="6F2F9F"/>
                </a:solidFill>
                <a:latin typeface="黑体"/>
                <a:cs typeface="黑体"/>
              </a:rPr>
              <a:t>信息有</a:t>
            </a:r>
            <a:r>
              <a:rPr dirty="0" sz="2000" spc="-15" b="1">
                <a:solidFill>
                  <a:srgbClr val="9933FF"/>
                </a:solidFill>
                <a:latin typeface="黑体"/>
                <a:cs typeface="黑体"/>
              </a:rPr>
              <a:t>字节、半字</a:t>
            </a:r>
            <a:r>
              <a:rPr dirty="0" sz="2000" spc="-20" b="1">
                <a:solidFill>
                  <a:srgbClr val="9933FF"/>
                </a:solidFill>
                <a:latin typeface="黑体"/>
                <a:cs typeface="黑体"/>
              </a:rPr>
              <a:t>（</a:t>
            </a:r>
            <a:r>
              <a:rPr dirty="0" sz="2000" spc="-10" b="1">
                <a:solidFill>
                  <a:srgbClr val="9933FF"/>
                </a:solidFill>
                <a:latin typeface="黑体"/>
                <a:cs typeface="黑体"/>
              </a:rPr>
              <a:t>双字节</a:t>
            </a:r>
            <a:r>
              <a:rPr dirty="0" sz="2000" spc="-20" b="1">
                <a:solidFill>
                  <a:srgbClr val="9933FF"/>
                </a:solidFill>
                <a:latin typeface="黑体"/>
                <a:cs typeface="黑体"/>
              </a:rPr>
              <a:t>）</a:t>
            </a:r>
            <a:r>
              <a:rPr dirty="0" sz="2000" spc="-15" b="1">
                <a:solidFill>
                  <a:srgbClr val="9933FF"/>
                </a:solidFill>
                <a:latin typeface="黑体"/>
                <a:cs typeface="黑体"/>
              </a:rPr>
              <a:t>、单字</a:t>
            </a:r>
            <a:r>
              <a:rPr dirty="0" sz="2000" b="1">
                <a:solidFill>
                  <a:srgbClr val="9933FF"/>
                </a:solidFill>
                <a:latin typeface="黑体"/>
                <a:cs typeface="黑体"/>
              </a:rPr>
              <a:t>（</a:t>
            </a:r>
            <a:r>
              <a:rPr dirty="0" sz="2000" b="1">
                <a:solidFill>
                  <a:srgbClr val="9933FF"/>
                </a:solidFill>
                <a:latin typeface="Times New Roman"/>
                <a:cs typeface="Times New Roman"/>
              </a:rPr>
              <a:t>4</a:t>
            </a:r>
            <a:r>
              <a:rPr dirty="0" sz="2000" spc="-10" b="1">
                <a:solidFill>
                  <a:srgbClr val="9933FF"/>
                </a:solidFill>
                <a:latin typeface="黑体"/>
                <a:cs typeface="黑体"/>
              </a:rPr>
              <a:t>字节）</a:t>
            </a:r>
            <a:r>
              <a:rPr dirty="0" sz="2000" spc="-15" b="1">
                <a:solidFill>
                  <a:srgbClr val="9933FF"/>
                </a:solidFill>
                <a:latin typeface="黑体"/>
                <a:cs typeface="黑体"/>
              </a:rPr>
              <a:t>和双字</a:t>
            </a:r>
            <a:r>
              <a:rPr dirty="0" sz="2000" spc="-10" b="1">
                <a:solidFill>
                  <a:srgbClr val="9933FF"/>
                </a:solidFill>
                <a:latin typeface="黑体"/>
                <a:cs typeface="黑体"/>
              </a:rPr>
              <a:t>（</a:t>
            </a:r>
            <a:r>
              <a:rPr dirty="0" sz="2000" spc="-10" b="1">
                <a:solidFill>
                  <a:srgbClr val="9933FF"/>
                </a:solidFill>
                <a:latin typeface="Times New Roman"/>
                <a:cs typeface="Times New Roman"/>
              </a:rPr>
              <a:t>8</a:t>
            </a:r>
            <a:r>
              <a:rPr dirty="0" sz="2000" spc="-10" b="1">
                <a:solidFill>
                  <a:srgbClr val="9933FF"/>
                </a:solidFill>
                <a:latin typeface="黑体"/>
                <a:cs typeface="黑体"/>
              </a:rPr>
              <a:t>字节</a:t>
            </a:r>
            <a:r>
              <a:rPr dirty="0" sz="2000" spc="-50" b="1">
                <a:solidFill>
                  <a:srgbClr val="9933FF"/>
                </a:solidFill>
                <a:latin typeface="黑体"/>
                <a:cs typeface="黑体"/>
              </a:rPr>
              <a:t>）</a:t>
            </a:r>
            <a:r>
              <a:rPr dirty="0" sz="2000" spc="-20" b="1">
                <a:solidFill>
                  <a:srgbClr val="6F2F9F"/>
                </a:solidFill>
                <a:latin typeface="黑体"/>
                <a:cs typeface="黑体"/>
              </a:rPr>
              <a:t>等宽度。</a:t>
            </a:r>
            <a:endParaRPr sz="2000">
              <a:latin typeface="黑体"/>
              <a:cs typeface="黑体"/>
            </a:endParaRPr>
          </a:p>
          <a:p>
            <a:pPr lvl="1" marL="1307465" indent="-357505">
              <a:lnSpc>
                <a:spcPct val="100000"/>
              </a:lnSpc>
              <a:spcBef>
                <a:spcPts val="1200"/>
              </a:spcBef>
              <a:buClr>
                <a:srgbClr val="4668F5"/>
              </a:buClr>
              <a:buSzPct val="72500"/>
              <a:buFont typeface="Wingdings"/>
              <a:buChar char=""/>
              <a:tabLst>
                <a:tab pos="1307465" algn="l"/>
              </a:tabLst>
            </a:pPr>
            <a:r>
              <a:rPr dirty="0" sz="2000" spc="-10" b="1">
                <a:solidFill>
                  <a:srgbClr val="6F2F9F"/>
                </a:solidFill>
                <a:latin typeface="黑体"/>
                <a:cs typeface="黑体"/>
              </a:rPr>
              <a:t>主存宽度为</a:t>
            </a:r>
            <a:r>
              <a:rPr dirty="0" sz="2000" spc="-10" b="1">
                <a:solidFill>
                  <a:srgbClr val="9933FF"/>
                </a:solidFill>
                <a:latin typeface="Times New Roman"/>
                <a:cs typeface="Times New Roman"/>
              </a:rPr>
              <a:t>8</a:t>
            </a:r>
            <a:r>
              <a:rPr dirty="0" sz="2000" spc="-25" b="1">
                <a:solidFill>
                  <a:srgbClr val="6F2F9F"/>
                </a:solidFill>
                <a:latin typeface="黑体"/>
                <a:cs typeface="黑体"/>
              </a:rPr>
              <a:t>个字节。采用按字节编址，各类信息都是用该信息的</a:t>
            </a:r>
            <a:endParaRPr sz="2000">
              <a:latin typeface="黑体"/>
              <a:cs typeface="黑体"/>
            </a:endParaRPr>
          </a:p>
          <a:p>
            <a:pPr marL="1308100">
              <a:lnSpc>
                <a:spcPct val="100000"/>
              </a:lnSpc>
              <a:spcBef>
                <a:spcPts val="720"/>
              </a:spcBef>
            </a:pPr>
            <a:r>
              <a:rPr dirty="0" sz="2000" spc="-20" b="1">
                <a:solidFill>
                  <a:srgbClr val="6F2F9F"/>
                </a:solidFill>
                <a:latin typeface="黑体"/>
                <a:cs typeface="黑体"/>
              </a:rPr>
              <a:t>首字节地址来寻址。</a:t>
            </a:r>
            <a:endParaRPr sz="2000">
              <a:latin typeface="黑体"/>
              <a:cs typeface="黑体"/>
            </a:endParaRPr>
          </a:p>
          <a:p>
            <a:pPr marL="1099185" indent="-457200">
              <a:lnSpc>
                <a:spcPct val="100000"/>
              </a:lnSpc>
              <a:spcBef>
                <a:spcPts val="1290"/>
              </a:spcBef>
              <a:buClr>
                <a:srgbClr val="006FC0"/>
              </a:buClr>
              <a:buSzPct val="88636"/>
              <a:buFont typeface="Wingdings"/>
              <a:buChar char=""/>
              <a:tabLst>
                <a:tab pos="1099185" algn="l"/>
              </a:tabLst>
            </a:pPr>
            <a:r>
              <a:rPr dirty="0" sz="2200" spc="-35">
                <a:solidFill>
                  <a:srgbClr val="E14B04"/>
                </a:solidFill>
                <a:latin typeface="黑体"/>
                <a:cs typeface="黑体"/>
              </a:rPr>
              <a:t>允许它们任意存储</a:t>
            </a:r>
            <a:endParaRPr sz="2200">
              <a:latin typeface="黑体"/>
              <a:cs typeface="黑体"/>
            </a:endParaRPr>
          </a:p>
          <a:p>
            <a:pPr lvl="1" marL="1307465" indent="-357505">
              <a:lnSpc>
                <a:spcPct val="100000"/>
              </a:lnSpc>
              <a:spcBef>
                <a:spcPts val="1230"/>
              </a:spcBef>
              <a:buClr>
                <a:srgbClr val="4668F5"/>
              </a:buClr>
              <a:buSzPct val="72500"/>
              <a:buFont typeface="Wingdings"/>
              <a:buChar char=""/>
              <a:tabLst>
                <a:tab pos="1307465" algn="l"/>
              </a:tabLst>
            </a:pPr>
            <a:r>
              <a:rPr dirty="0" sz="2000" spc="-25" b="1">
                <a:solidFill>
                  <a:srgbClr val="6F2F9F"/>
                </a:solidFill>
                <a:latin typeface="黑体"/>
                <a:cs typeface="黑体"/>
              </a:rPr>
              <a:t>很可能会出现一个信息跨存储字边界而存储于两个存储单元中</a:t>
            </a:r>
            <a:endParaRPr sz="2000">
              <a:latin typeface="黑体"/>
              <a:cs typeface="黑体"/>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2.2</a:t>
            </a:r>
            <a:r>
              <a:rPr dirty="0" spc="-35">
                <a:solidFill>
                  <a:srgbClr val="4F55AC"/>
                </a:solidFill>
              </a:rPr>
              <a:t> </a:t>
            </a:r>
            <a:r>
              <a:rPr dirty="0">
                <a:solidFill>
                  <a:srgbClr val="4F55AC"/>
                </a:solidFill>
                <a:latin typeface="微软雅黑"/>
                <a:cs typeface="微软雅黑"/>
              </a:rPr>
              <a:t>指令系统的寻址方</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4" name="object 4" descr=""/>
          <p:cNvSpPr txBox="1"/>
          <p:nvPr/>
        </p:nvSpPr>
        <p:spPr>
          <a:xfrm>
            <a:off x="1764029" y="1036760"/>
            <a:ext cx="8742680" cy="4514215"/>
          </a:xfrm>
          <a:prstGeom prst="rect">
            <a:avLst/>
          </a:prstGeom>
        </p:spPr>
        <p:txBody>
          <a:bodyPr wrap="square" lIns="0" tIns="182880" rIns="0" bIns="0" rtlCol="0" vert="horz">
            <a:spAutoFit/>
          </a:bodyPr>
          <a:lstStyle/>
          <a:p>
            <a:pPr marL="469265" indent="-456565">
              <a:lnSpc>
                <a:spcPct val="100000"/>
              </a:lnSpc>
              <a:spcBef>
                <a:spcPts val="1440"/>
              </a:spcBef>
              <a:buSzPct val="88636"/>
              <a:buFont typeface="Wingdings"/>
              <a:buChar char=""/>
              <a:tabLst>
                <a:tab pos="469265" algn="l"/>
              </a:tabLst>
            </a:pPr>
            <a:r>
              <a:rPr dirty="0" sz="2200" spc="-35">
                <a:solidFill>
                  <a:srgbClr val="006FC0"/>
                </a:solidFill>
                <a:latin typeface="黑体"/>
                <a:cs typeface="黑体"/>
              </a:rPr>
              <a:t>存储字长与数据字长的概念</a:t>
            </a:r>
            <a:endParaRPr sz="2200">
              <a:latin typeface="黑体"/>
              <a:cs typeface="黑体"/>
            </a:endParaRPr>
          </a:p>
          <a:p>
            <a:pPr lvl="1" marL="678815" indent="-360045">
              <a:lnSpc>
                <a:spcPct val="100000"/>
              </a:lnSpc>
              <a:spcBef>
                <a:spcPts val="1235"/>
              </a:spcBef>
              <a:buClr>
                <a:srgbClr val="4668F5"/>
              </a:buClr>
              <a:buSzPct val="72500"/>
              <a:buFont typeface="Wingdings"/>
              <a:buChar char=""/>
              <a:tabLst>
                <a:tab pos="678815" algn="l"/>
              </a:tabLst>
            </a:pPr>
            <a:r>
              <a:rPr dirty="0" sz="2000" spc="-10" b="1">
                <a:solidFill>
                  <a:srgbClr val="006FC0"/>
                </a:solidFill>
                <a:latin typeface="黑体"/>
                <a:cs typeface="黑体"/>
              </a:rPr>
              <a:t>存储字长</a:t>
            </a:r>
            <a:r>
              <a:rPr dirty="0" sz="2000" spc="-25" b="1">
                <a:solidFill>
                  <a:srgbClr val="D50092"/>
                </a:solidFill>
                <a:latin typeface="黑体"/>
                <a:cs typeface="黑体"/>
              </a:rPr>
              <a:t>：主存的一个存储单元所存储的二进制位数。</a:t>
            </a:r>
            <a:endParaRPr sz="2000">
              <a:latin typeface="黑体"/>
              <a:cs typeface="黑体"/>
            </a:endParaRPr>
          </a:p>
          <a:p>
            <a:pPr lvl="1" marL="678815" marR="129539" indent="-360045">
              <a:lnSpc>
                <a:spcPct val="130000"/>
              </a:lnSpc>
              <a:spcBef>
                <a:spcPts val="480"/>
              </a:spcBef>
              <a:buClr>
                <a:srgbClr val="4668F5"/>
              </a:buClr>
              <a:buSzPct val="72500"/>
              <a:buFont typeface="Wingdings"/>
              <a:buChar char=""/>
              <a:tabLst>
                <a:tab pos="678815" algn="l"/>
              </a:tabLst>
            </a:pPr>
            <a:r>
              <a:rPr dirty="0" sz="2000" spc="-10" b="1">
                <a:solidFill>
                  <a:srgbClr val="006FC0"/>
                </a:solidFill>
                <a:latin typeface="黑体"/>
                <a:cs typeface="黑体"/>
              </a:rPr>
              <a:t>数据字长</a:t>
            </a:r>
            <a:r>
              <a:rPr dirty="0" sz="2000" spc="-20" b="1">
                <a:solidFill>
                  <a:srgbClr val="006FC0"/>
                </a:solidFill>
                <a:latin typeface="黑体"/>
                <a:cs typeface="黑体"/>
              </a:rPr>
              <a:t>（简称字长</a:t>
            </a:r>
            <a:r>
              <a:rPr dirty="0" sz="2000" spc="-10" b="1">
                <a:solidFill>
                  <a:srgbClr val="006FC0"/>
                </a:solidFill>
                <a:latin typeface="黑体"/>
                <a:cs typeface="黑体"/>
              </a:rPr>
              <a:t>）</a:t>
            </a:r>
            <a:r>
              <a:rPr dirty="0" sz="2000" spc="-25" b="1">
                <a:solidFill>
                  <a:srgbClr val="D50092"/>
                </a:solidFill>
                <a:latin typeface="黑体"/>
                <a:cs typeface="黑体"/>
              </a:rPr>
              <a:t>：计算机一次能处理的二进制数的位数。存储字</a:t>
            </a:r>
            <a:r>
              <a:rPr dirty="0" sz="2000" spc="-20" b="1">
                <a:solidFill>
                  <a:srgbClr val="D50092"/>
                </a:solidFill>
                <a:latin typeface="黑体"/>
                <a:cs typeface="黑体"/>
              </a:rPr>
              <a:t>长与数据字长不一定相同，如</a:t>
            </a:r>
            <a:r>
              <a:rPr dirty="0" sz="2000" spc="-10" b="1">
                <a:solidFill>
                  <a:srgbClr val="6F2F9F"/>
                </a:solidFill>
                <a:latin typeface="黑体"/>
                <a:cs typeface="黑体"/>
              </a:rPr>
              <a:t>字长</a:t>
            </a:r>
            <a:r>
              <a:rPr dirty="0" sz="2000" spc="-15" b="1">
                <a:solidFill>
                  <a:srgbClr val="6F2F9F"/>
                </a:solidFill>
                <a:latin typeface="黑体"/>
                <a:cs typeface="黑体"/>
              </a:rPr>
              <a:t>32位，则半字长16位，双字长64</a:t>
            </a:r>
            <a:r>
              <a:rPr dirty="0" sz="2000" spc="-35" b="1">
                <a:solidFill>
                  <a:srgbClr val="6F2F9F"/>
                </a:solidFill>
                <a:latin typeface="黑体"/>
                <a:cs typeface="黑体"/>
              </a:rPr>
              <a:t>位。</a:t>
            </a:r>
            <a:endParaRPr sz="2000">
              <a:latin typeface="黑体"/>
              <a:cs typeface="黑体"/>
            </a:endParaRPr>
          </a:p>
          <a:p>
            <a:pPr marL="469265" indent="-456565">
              <a:lnSpc>
                <a:spcPct val="100000"/>
              </a:lnSpc>
              <a:spcBef>
                <a:spcPts val="1290"/>
              </a:spcBef>
              <a:buSzPct val="88636"/>
              <a:buFont typeface="Wingdings"/>
              <a:buChar char=""/>
              <a:tabLst>
                <a:tab pos="469265" algn="l"/>
              </a:tabLst>
            </a:pPr>
            <a:r>
              <a:rPr dirty="0" sz="2200" spc="-35">
                <a:solidFill>
                  <a:srgbClr val="006FC0"/>
                </a:solidFill>
                <a:latin typeface="黑体"/>
                <a:cs typeface="黑体"/>
              </a:rPr>
              <a:t>地址访问模式</a:t>
            </a:r>
            <a:endParaRPr sz="2200">
              <a:latin typeface="黑体"/>
              <a:cs typeface="黑体"/>
            </a:endParaRPr>
          </a:p>
          <a:p>
            <a:pPr lvl="1" marL="678815" indent="-360045">
              <a:lnSpc>
                <a:spcPct val="100000"/>
              </a:lnSpc>
              <a:spcBef>
                <a:spcPts val="1230"/>
              </a:spcBef>
              <a:buClr>
                <a:srgbClr val="4668F5"/>
              </a:buClr>
              <a:buSzPct val="72500"/>
              <a:buFont typeface="Wingdings"/>
              <a:buChar char=""/>
              <a:tabLst>
                <a:tab pos="678815" algn="l"/>
              </a:tabLst>
            </a:pPr>
            <a:r>
              <a:rPr dirty="0" sz="2000" spc="-25" b="1">
                <a:solidFill>
                  <a:srgbClr val="6F2F9F"/>
                </a:solidFill>
                <a:latin typeface="黑体"/>
                <a:cs typeface="黑体"/>
              </a:rPr>
              <a:t>存储字长都是字节的整倍数，主存通常按字节进行编址。</a:t>
            </a:r>
            <a:endParaRPr sz="2000">
              <a:latin typeface="黑体"/>
              <a:cs typeface="黑体"/>
            </a:endParaRPr>
          </a:p>
          <a:p>
            <a:pPr lvl="1" marL="678815" marR="5080" indent="-360045">
              <a:lnSpc>
                <a:spcPct val="130000"/>
              </a:lnSpc>
              <a:spcBef>
                <a:spcPts val="480"/>
              </a:spcBef>
              <a:buClr>
                <a:srgbClr val="4668F5"/>
              </a:buClr>
              <a:buSzPct val="72500"/>
              <a:buFont typeface="Wingdings"/>
              <a:buChar char=""/>
              <a:tabLst>
                <a:tab pos="678815" algn="l"/>
              </a:tabLst>
            </a:pPr>
            <a:r>
              <a:rPr dirty="0" sz="2000" b="1">
                <a:solidFill>
                  <a:srgbClr val="6F2F9F"/>
                </a:solidFill>
                <a:latin typeface="黑体"/>
                <a:cs typeface="黑体"/>
              </a:rPr>
              <a:t>以</a:t>
            </a:r>
            <a:r>
              <a:rPr dirty="0" sz="2000" b="1">
                <a:solidFill>
                  <a:srgbClr val="6F2F9F"/>
                </a:solidFill>
                <a:latin typeface="Times New Roman"/>
                <a:cs typeface="Times New Roman"/>
              </a:rPr>
              <a:t>32</a:t>
            </a:r>
            <a:r>
              <a:rPr dirty="0" sz="2000" spc="-25" b="1">
                <a:solidFill>
                  <a:srgbClr val="6F2F9F"/>
                </a:solidFill>
                <a:latin typeface="Times New Roman"/>
                <a:cs typeface="Times New Roman"/>
              </a:rPr>
              <a:t> </a:t>
            </a:r>
            <a:r>
              <a:rPr dirty="0" sz="2000" spc="-20" b="1">
                <a:solidFill>
                  <a:srgbClr val="6F2F9F"/>
                </a:solidFill>
                <a:latin typeface="黑体"/>
                <a:cs typeface="黑体"/>
              </a:rPr>
              <a:t>位计算机为例，主存既可以按字节访问，也可以按</a:t>
            </a:r>
            <a:r>
              <a:rPr dirty="0" sz="2000" b="1">
                <a:solidFill>
                  <a:srgbClr val="6F2F9F"/>
                </a:solidFill>
                <a:latin typeface="Times New Roman"/>
                <a:cs typeface="Times New Roman"/>
              </a:rPr>
              <a:t>16</a:t>
            </a:r>
            <a:r>
              <a:rPr dirty="0" sz="2000" spc="-35" b="1">
                <a:solidFill>
                  <a:srgbClr val="6F2F9F"/>
                </a:solidFill>
                <a:latin typeface="Times New Roman"/>
                <a:cs typeface="Times New Roman"/>
              </a:rPr>
              <a:t> </a:t>
            </a:r>
            <a:r>
              <a:rPr dirty="0" sz="2000" spc="-20" b="1">
                <a:solidFill>
                  <a:srgbClr val="6F2F9F"/>
                </a:solidFill>
                <a:latin typeface="黑体"/>
                <a:cs typeface="黑体"/>
              </a:rPr>
              <a:t>位半字访问，</a:t>
            </a:r>
            <a:r>
              <a:rPr dirty="0" sz="2000" spc="-10" b="1">
                <a:solidFill>
                  <a:srgbClr val="6F2F9F"/>
                </a:solidFill>
                <a:latin typeface="黑体"/>
                <a:cs typeface="黑体"/>
              </a:rPr>
              <a:t>还可以按照</a:t>
            </a:r>
            <a:r>
              <a:rPr dirty="0" sz="2000" b="1">
                <a:solidFill>
                  <a:srgbClr val="6F2F9F"/>
                </a:solidFill>
                <a:latin typeface="Times New Roman"/>
                <a:cs typeface="Times New Roman"/>
              </a:rPr>
              <a:t>32</a:t>
            </a:r>
            <a:r>
              <a:rPr dirty="0" sz="2000" spc="-45" b="1">
                <a:solidFill>
                  <a:srgbClr val="6F2F9F"/>
                </a:solidFill>
                <a:latin typeface="Times New Roman"/>
                <a:cs typeface="Times New Roman"/>
              </a:rPr>
              <a:t> </a:t>
            </a:r>
            <a:r>
              <a:rPr dirty="0" sz="2000" spc="-20" b="1">
                <a:solidFill>
                  <a:srgbClr val="6F2F9F"/>
                </a:solidFill>
                <a:latin typeface="黑体"/>
                <a:cs typeface="黑体"/>
              </a:rPr>
              <a:t>位的字进行访问。</a:t>
            </a:r>
            <a:endParaRPr sz="2000">
              <a:latin typeface="黑体"/>
              <a:cs typeface="黑体"/>
            </a:endParaRPr>
          </a:p>
          <a:p>
            <a:pPr lvl="1" marL="678815" marR="140335" indent="-360045">
              <a:lnSpc>
                <a:spcPct val="130000"/>
              </a:lnSpc>
              <a:spcBef>
                <a:spcPts val="484"/>
              </a:spcBef>
              <a:buClr>
                <a:srgbClr val="4668F5"/>
              </a:buClr>
              <a:buSzPct val="72500"/>
              <a:buFont typeface="Wingdings"/>
              <a:buChar char=""/>
              <a:tabLst>
                <a:tab pos="678815" algn="l"/>
              </a:tabLst>
            </a:pPr>
            <a:r>
              <a:rPr dirty="0" sz="2000" spc="-25" b="1">
                <a:solidFill>
                  <a:srgbClr val="6F2F9F"/>
                </a:solidFill>
                <a:latin typeface="黑体"/>
                <a:cs typeface="黑体"/>
              </a:rPr>
              <a:t>按照访问存储单元的大小，主存地址可以分为字节地址、半字地址、字地址。</a:t>
            </a:r>
            <a:endParaRPr sz="2000">
              <a:latin typeface="黑体"/>
              <a:cs typeface="黑体"/>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2.2</a:t>
            </a:r>
            <a:r>
              <a:rPr dirty="0" spc="-35">
                <a:solidFill>
                  <a:srgbClr val="4F55AC"/>
                </a:solidFill>
              </a:rPr>
              <a:t> </a:t>
            </a:r>
            <a:r>
              <a:rPr dirty="0">
                <a:solidFill>
                  <a:srgbClr val="4F55AC"/>
                </a:solidFill>
                <a:latin typeface="微软雅黑"/>
                <a:cs typeface="微软雅黑"/>
              </a:rPr>
              <a:t>指令系统的寻址方</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4" name="object 4" descr=""/>
          <p:cNvSpPr txBox="1"/>
          <p:nvPr/>
        </p:nvSpPr>
        <p:spPr>
          <a:xfrm>
            <a:off x="1690497" y="591728"/>
            <a:ext cx="8573770" cy="2242820"/>
          </a:xfrm>
          <a:prstGeom prst="rect">
            <a:avLst/>
          </a:prstGeom>
        </p:spPr>
        <p:txBody>
          <a:bodyPr wrap="square" lIns="0" tIns="183515" rIns="0" bIns="0" rtlCol="0" vert="horz">
            <a:spAutoFit/>
          </a:bodyPr>
          <a:lstStyle/>
          <a:p>
            <a:pPr marL="283210" indent="-270510">
              <a:lnSpc>
                <a:spcPct val="100000"/>
              </a:lnSpc>
              <a:spcBef>
                <a:spcPts val="1445"/>
              </a:spcBef>
              <a:buSzPct val="88636"/>
              <a:buFont typeface="Wingdings"/>
              <a:buChar char=""/>
              <a:tabLst>
                <a:tab pos="283210" algn="l"/>
              </a:tabLst>
            </a:pPr>
            <a:r>
              <a:rPr dirty="0" sz="2200" spc="-35">
                <a:solidFill>
                  <a:srgbClr val="006FC0"/>
                </a:solidFill>
                <a:latin typeface="黑体"/>
                <a:cs typeface="黑体"/>
              </a:rPr>
              <a:t>地址访问模式</a:t>
            </a:r>
            <a:endParaRPr sz="2200">
              <a:latin typeface="黑体"/>
              <a:cs typeface="黑体"/>
            </a:endParaRPr>
          </a:p>
          <a:p>
            <a:pPr lvl="1" marL="896619" marR="129539" indent="-358775">
              <a:lnSpc>
                <a:spcPct val="130000"/>
              </a:lnSpc>
              <a:spcBef>
                <a:spcPts val="509"/>
              </a:spcBef>
              <a:buClr>
                <a:srgbClr val="4668F5"/>
              </a:buClr>
              <a:buSzPct val="72500"/>
              <a:buFont typeface="Wingdings"/>
              <a:buChar char=""/>
              <a:tabLst>
                <a:tab pos="896619" algn="l"/>
              </a:tabLst>
            </a:pPr>
            <a:r>
              <a:rPr dirty="0" sz="2000" b="1">
                <a:solidFill>
                  <a:srgbClr val="6F2F9F"/>
                </a:solidFill>
                <a:latin typeface="黑体"/>
                <a:cs typeface="黑体"/>
              </a:rPr>
              <a:t>以</a:t>
            </a:r>
            <a:r>
              <a:rPr dirty="0" sz="2000" b="1">
                <a:solidFill>
                  <a:srgbClr val="FF0000"/>
                </a:solidFill>
                <a:latin typeface="Times New Roman"/>
                <a:cs typeface="Times New Roman"/>
              </a:rPr>
              <a:t>32</a:t>
            </a:r>
            <a:r>
              <a:rPr dirty="0" sz="2000" spc="-25" b="1">
                <a:solidFill>
                  <a:srgbClr val="FF0000"/>
                </a:solidFill>
                <a:latin typeface="Times New Roman"/>
                <a:cs typeface="Times New Roman"/>
              </a:rPr>
              <a:t> </a:t>
            </a:r>
            <a:r>
              <a:rPr dirty="0" sz="2000" b="1">
                <a:solidFill>
                  <a:srgbClr val="FF0000"/>
                </a:solidFill>
                <a:latin typeface="黑体"/>
                <a:cs typeface="黑体"/>
              </a:rPr>
              <a:t>位</a:t>
            </a:r>
            <a:r>
              <a:rPr dirty="0" sz="2000" spc="-20" b="1">
                <a:solidFill>
                  <a:srgbClr val="6F2F9F"/>
                </a:solidFill>
                <a:latin typeface="黑体"/>
                <a:cs typeface="黑体"/>
              </a:rPr>
              <a:t>计算机为例，主存既可以按字节访问，也可以按</a:t>
            </a:r>
            <a:r>
              <a:rPr dirty="0" sz="2000" b="1">
                <a:solidFill>
                  <a:srgbClr val="6F2F9F"/>
                </a:solidFill>
                <a:latin typeface="Times New Roman"/>
                <a:cs typeface="Times New Roman"/>
              </a:rPr>
              <a:t>16</a:t>
            </a:r>
            <a:r>
              <a:rPr dirty="0" sz="2000" spc="-35" b="1">
                <a:solidFill>
                  <a:srgbClr val="6F2F9F"/>
                </a:solidFill>
                <a:latin typeface="Times New Roman"/>
                <a:cs typeface="Times New Roman"/>
              </a:rPr>
              <a:t> </a:t>
            </a:r>
            <a:r>
              <a:rPr dirty="0" sz="2000" spc="-20" b="1">
                <a:solidFill>
                  <a:srgbClr val="6F2F9F"/>
                </a:solidFill>
                <a:latin typeface="黑体"/>
                <a:cs typeface="黑体"/>
              </a:rPr>
              <a:t>位半字访</a:t>
            </a:r>
            <a:r>
              <a:rPr dirty="0" sz="2000" spc="-15" b="1">
                <a:solidFill>
                  <a:srgbClr val="6F2F9F"/>
                </a:solidFill>
                <a:latin typeface="黑体"/>
                <a:cs typeface="黑体"/>
              </a:rPr>
              <a:t>问，还可以按照</a:t>
            </a:r>
            <a:r>
              <a:rPr dirty="0" sz="2000" b="1">
                <a:solidFill>
                  <a:srgbClr val="6F2F9F"/>
                </a:solidFill>
                <a:latin typeface="Times New Roman"/>
                <a:cs typeface="Times New Roman"/>
              </a:rPr>
              <a:t>32</a:t>
            </a:r>
            <a:r>
              <a:rPr dirty="0" sz="2000" spc="-45" b="1">
                <a:solidFill>
                  <a:srgbClr val="6F2F9F"/>
                </a:solidFill>
                <a:latin typeface="Times New Roman"/>
                <a:cs typeface="Times New Roman"/>
              </a:rPr>
              <a:t> </a:t>
            </a:r>
            <a:r>
              <a:rPr dirty="0" sz="2000" spc="-20" b="1">
                <a:solidFill>
                  <a:srgbClr val="6F2F9F"/>
                </a:solidFill>
                <a:latin typeface="黑体"/>
                <a:cs typeface="黑体"/>
              </a:rPr>
              <a:t>位的字进行访问。</a:t>
            </a:r>
            <a:endParaRPr sz="2000">
              <a:latin typeface="黑体"/>
              <a:cs typeface="黑体"/>
            </a:endParaRPr>
          </a:p>
          <a:p>
            <a:pPr lvl="1" marL="896619" indent="-358775">
              <a:lnSpc>
                <a:spcPct val="100000"/>
              </a:lnSpc>
              <a:spcBef>
                <a:spcPts val="1200"/>
              </a:spcBef>
              <a:buClr>
                <a:srgbClr val="4668F5"/>
              </a:buClr>
              <a:buSzPct val="72500"/>
              <a:buFont typeface="Wingdings"/>
              <a:buChar char=""/>
              <a:tabLst>
                <a:tab pos="896619" algn="l"/>
              </a:tabLst>
            </a:pPr>
            <a:r>
              <a:rPr dirty="0" sz="2000" spc="-20" b="1">
                <a:solidFill>
                  <a:srgbClr val="6F2F9F"/>
                </a:solidFill>
                <a:latin typeface="黑体"/>
                <a:cs typeface="黑体"/>
              </a:rPr>
              <a:t>按照访问存储单元的大小，</a:t>
            </a:r>
            <a:r>
              <a:rPr dirty="0" sz="2000" spc="-10" b="1">
                <a:solidFill>
                  <a:srgbClr val="FF0000"/>
                </a:solidFill>
                <a:latin typeface="黑体"/>
                <a:cs typeface="黑体"/>
              </a:rPr>
              <a:t>主存地址</a:t>
            </a:r>
            <a:r>
              <a:rPr dirty="0" sz="2000" spc="-25" b="1">
                <a:solidFill>
                  <a:srgbClr val="6F2F9F"/>
                </a:solidFill>
                <a:latin typeface="黑体"/>
                <a:cs typeface="黑体"/>
              </a:rPr>
              <a:t>可以分为字节地址、半字地址、</a:t>
            </a:r>
            <a:endParaRPr sz="2000">
              <a:latin typeface="黑体"/>
              <a:cs typeface="黑体"/>
            </a:endParaRPr>
          </a:p>
          <a:p>
            <a:pPr marL="896619">
              <a:lnSpc>
                <a:spcPct val="100000"/>
              </a:lnSpc>
              <a:spcBef>
                <a:spcPts val="720"/>
              </a:spcBef>
            </a:pPr>
            <a:r>
              <a:rPr dirty="0" sz="2000" spc="-25" b="1">
                <a:solidFill>
                  <a:srgbClr val="6F2F9F"/>
                </a:solidFill>
                <a:latin typeface="黑体"/>
                <a:cs typeface="黑体"/>
              </a:rPr>
              <a:t>字地址。</a:t>
            </a:r>
            <a:endParaRPr sz="2000">
              <a:latin typeface="黑体"/>
              <a:cs typeface="黑体"/>
            </a:endParaRPr>
          </a:p>
        </p:txBody>
      </p:sp>
      <p:sp>
        <p:nvSpPr>
          <p:cNvPr id="5" name="object 5" descr=""/>
          <p:cNvSpPr txBox="1"/>
          <p:nvPr/>
        </p:nvSpPr>
        <p:spPr>
          <a:xfrm>
            <a:off x="2216276" y="4620005"/>
            <a:ext cx="7987030" cy="1355090"/>
          </a:xfrm>
          <a:prstGeom prst="rect">
            <a:avLst/>
          </a:prstGeom>
        </p:spPr>
        <p:txBody>
          <a:bodyPr wrap="square" lIns="0" tIns="12065" rIns="0" bIns="0" rtlCol="0" vert="horz">
            <a:spAutoFit/>
          </a:bodyPr>
          <a:lstStyle/>
          <a:p>
            <a:pPr marL="3323590">
              <a:lnSpc>
                <a:spcPct val="100000"/>
              </a:lnSpc>
              <a:spcBef>
                <a:spcPts val="95"/>
              </a:spcBef>
            </a:pPr>
            <a:r>
              <a:rPr dirty="0" sz="1600" spc="-30">
                <a:solidFill>
                  <a:srgbClr val="40458B"/>
                </a:solidFill>
                <a:latin typeface="黑体"/>
                <a:cs typeface="黑体"/>
              </a:rPr>
              <a:t>不同主存地址访问模式</a:t>
            </a:r>
            <a:endParaRPr sz="1600">
              <a:latin typeface="黑体"/>
              <a:cs typeface="黑体"/>
            </a:endParaRPr>
          </a:p>
          <a:p>
            <a:pPr>
              <a:lnSpc>
                <a:spcPct val="100000"/>
              </a:lnSpc>
              <a:spcBef>
                <a:spcPts val="229"/>
              </a:spcBef>
            </a:pPr>
            <a:endParaRPr sz="1600">
              <a:latin typeface="黑体"/>
              <a:cs typeface="黑体"/>
            </a:endParaRPr>
          </a:p>
          <a:p>
            <a:pPr marL="370840" marR="5080" indent="-358775">
              <a:lnSpc>
                <a:spcPct val="130000"/>
              </a:lnSpc>
              <a:buClr>
                <a:srgbClr val="4668F5"/>
              </a:buClr>
              <a:buSzPct val="72500"/>
              <a:buFont typeface="Wingdings"/>
              <a:buChar char=""/>
              <a:tabLst>
                <a:tab pos="370840" algn="l"/>
              </a:tabLst>
            </a:pPr>
            <a:r>
              <a:rPr dirty="0" sz="2000" b="1">
                <a:solidFill>
                  <a:srgbClr val="6F2F9F"/>
                </a:solidFill>
                <a:latin typeface="Times New Roman"/>
                <a:cs typeface="Times New Roman"/>
              </a:rPr>
              <a:t>8</a:t>
            </a:r>
            <a:r>
              <a:rPr dirty="0" sz="2000" spc="-5" b="1">
                <a:solidFill>
                  <a:srgbClr val="6F2F9F"/>
                </a:solidFill>
                <a:latin typeface="Times New Roman"/>
                <a:cs typeface="Times New Roman"/>
              </a:rPr>
              <a:t> </a:t>
            </a:r>
            <a:r>
              <a:rPr dirty="0" sz="2000" spc="-20" b="1">
                <a:solidFill>
                  <a:srgbClr val="6F2F9F"/>
                </a:solidFill>
                <a:latin typeface="黑体"/>
                <a:cs typeface="黑体"/>
              </a:rPr>
              <a:t>号字节地址对应的半字地址为</a:t>
            </a:r>
            <a:r>
              <a:rPr dirty="0" sz="2000" spc="-10" b="1">
                <a:solidFill>
                  <a:srgbClr val="6F2F9F"/>
                </a:solidFill>
                <a:latin typeface="Times New Roman"/>
                <a:cs typeface="Times New Roman"/>
              </a:rPr>
              <a:t>4</a:t>
            </a:r>
            <a:r>
              <a:rPr dirty="0" sz="2000" spc="-15" b="1">
                <a:solidFill>
                  <a:srgbClr val="6F2F9F"/>
                </a:solidFill>
                <a:latin typeface="黑体"/>
                <a:cs typeface="黑体"/>
              </a:rPr>
              <a:t>，字地址为</a:t>
            </a:r>
            <a:r>
              <a:rPr dirty="0" sz="2000" spc="-10" b="1">
                <a:solidFill>
                  <a:srgbClr val="6F2F9F"/>
                </a:solidFill>
                <a:latin typeface="Times New Roman"/>
                <a:cs typeface="Times New Roman"/>
              </a:rPr>
              <a:t>2</a:t>
            </a:r>
            <a:r>
              <a:rPr dirty="0" sz="2000" spc="-15" b="1">
                <a:solidFill>
                  <a:srgbClr val="6F2F9F"/>
                </a:solidFill>
                <a:latin typeface="黑体"/>
                <a:cs typeface="黑体"/>
              </a:rPr>
              <a:t>，注意这</a:t>
            </a:r>
            <a:r>
              <a:rPr dirty="0" sz="2000" b="1">
                <a:solidFill>
                  <a:srgbClr val="6F2F9F"/>
                </a:solidFill>
                <a:latin typeface="Times New Roman"/>
                <a:cs typeface="Times New Roman"/>
              </a:rPr>
              <a:t>3</a:t>
            </a:r>
            <a:r>
              <a:rPr dirty="0" sz="2000" spc="-40" b="1">
                <a:solidFill>
                  <a:srgbClr val="6F2F9F"/>
                </a:solidFill>
                <a:latin typeface="Times New Roman"/>
                <a:cs typeface="Times New Roman"/>
              </a:rPr>
              <a:t> </a:t>
            </a:r>
            <a:r>
              <a:rPr dirty="0" sz="2000" spc="-20" b="1">
                <a:solidFill>
                  <a:srgbClr val="6F2F9F"/>
                </a:solidFill>
                <a:latin typeface="黑体"/>
                <a:cs typeface="黑体"/>
              </a:rPr>
              <a:t>个地址在逻辑空间的起始位置都是</a:t>
            </a:r>
            <a:r>
              <a:rPr dirty="0" sz="2000" b="1">
                <a:solidFill>
                  <a:srgbClr val="6F2F9F"/>
                </a:solidFill>
                <a:latin typeface="Times New Roman"/>
                <a:cs typeface="Times New Roman"/>
              </a:rPr>
              <a:t>8</a:t>
            </a:r>
            <a:r>
              <a:rPr dirty="0" sz="2000" spc="-35" b="1">
                <a:solidFill>
                  <a:srgbClr val="6F2F9F"/>
                </a:solidFill>
                <a:latin typeface="Times New Roman"/>
                <a:cs typeface="Times New Roman"/>
              </a:rPr>
              <a:t> </a:t>
            </a:r>
            <a:r>
              <a:rPr dirty="0" sz="2000" spc="-25" b="1">
                <a:solidFill>
                  <a:srgbClr val="6F2F9F"/>
                </a:solidFill>
                <a:latin typeface="黑体"/>
                <a:cs typeface="黑体"/>
              </a:rPr>
              <a:t>号字节单元，区别只是存储单元的大小不同</a:t>
            </a:r>
            <a:endParaRPr sz="2000">
              <a:latin typeface="黑体"/>
              <a:cs typeface="黑体"/>
            </a:endParaRPr>
          </a:p>
        </p:txBody>
      </p:sp>
      <p:pic>
        <p:nvPicPr>
          <p:cNvPr id="6" name="object 6" descr=""/>
          <p:cNvPicPr/>
          <p:nvPr/>
        </p:nvPicPr>
        <p:blipFill>
          <a:blip r:embed="rId2" cstate="print"/>
          <a:stretch>
            <a:fillRect/>
          </a:stretch>
        </p:blipFill>
        <p:spPr>
          <a:xfrm>
            <a:off x="2267126" y="3010836"/>
            <a:ext cx="7760161" cy="145909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449070" algn="l"/>
                <a:tab pos="11028045" algn="l"/>
              </a:tabLst>
            </a:pPr>
            <a:r>
              <a:rPr dirty="0">
                <a:solidFill>
                  <a:srgbClr val="4F55AC"/>
                </a:solidFill>
              </a:rPr>
              <a:t>	2.2</a:t>
            </a:r>
            <a:r>
              <a:rPr dirty="0" spc="-35">
                <a:solidFill>
                  <a:srgbClr val="4F55AC"/>
                </a:solidFill>
              </a:rPr>
              <a:t> </a:t>
            </a:r>
            <a:r>
              <a:rPr dirty="0">
                <a:solidFill>
                  <a:srgbClr val="4F55AC"/>
                </a:solidFill>
                <a:latin typeface="微软雅黑"/>
                <a:cs typeface="微软雅黑"/>
              </a:rPr>
              <a:t>指令系统的寻址方</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4" name="object 4" descr=""/>
          <p:cNvSpPr txBox="1"/>
          <p:nvPr/>
        </p:nvSpPr>
        <p:spPr>
          <a:xfrm>
            <a:off x="1997201" y="864071"/>
            <a:ext cx="8591550" cy="2639060"/>
          </a:xfrm>
          <a:prstGeom prst="rect">
            <a:avLst/>
          </a:prstGeom>
        </p:spPr>
        <p:txBody>
          <a:bodyPr wrap="square" lIns="0" tIns="182245" rIns="0" bIns="0" rtlCol="0" vert="horz">
            <a:spAutoFit/>
          </a:bodyPr>
          <a:lstStyle/>
          <a:p>
            <a:pPr marL="283210" indent="-270510">
              <a:lnSpc>
                <a:spcPct val="100000"/>
              </a:lnSpc>
              <a:spcBef>
                <a:spcPts val="1435"/>
              </a:spcBef>
              <a:buSzPct val="88636"/>
              <a:buFont typeface="Wingdings"/>
              <a:buChar char=""/>
              <a:tabLst>
                <a:tab pos="283210" algn="l"/>
              </a:tabLst>
            </a:pPr>
            <a:r>
              <a:rPr dirty="0" sz="2200" spc="-30">
                <a:solidFill>
                  <a:srgbClr val="006FC0"/>
                </a:solidFill>
                <a:latin typeface="黑体"/>
                <a:cs typeface="黑体"/>
              </a:rPr>
              <a:t>大端和小端方式</a:t>
            </a:r>
            <a:r>
              <a:rPr dirty="0" sz="2200" spc="-25">
                <a:solidFill>
                  <a:srgbClr val="006FC0"/>
                </a:solidFill>
                <a:latin typeface="黑体"/>
                <a:cs typeface="黑体"/>
              </a:rPr>
              <a:t>（小端模式</a:t>
            </a:r>
            <a:r>
              <a:rPr dirty="0" sz="2200" spc="-25">
                <a:solidFill>
                  <a:srgbClr val="006FC0"/>
                </a:solidFill>
                <a:latin typeface="Tahoma"/>
                <a:cs typeface="Tahoma"/>
              </a:rPr>
              <a:t>—</a:t>
            </a:r>
            <a:r>
              <a:rPr dirty="0" sz="2200" spc="-30">
                <a:solidFill>
                  <a:srgbClr val="006FC0"/>
                </a:solidFill>
                <a:latin typeface="黑体"/>
                <a:cs typeface="黑体"/>
              </a:rPr>
              <a:t>低低高高</a:t>
            </a:r>
            <a:r>
              <a:rPr dirty="0" sz="2200" spc="-50">
                <a:solidFill>
                  <a:srgbClr val="006FC0"/>
                </a:solidFill>
                <a:latin typeface="黑体"/>
                <a:cs typeface="黑体"/>
              </a:rPr>
              <a:t>）</a:t>
            </a:r>
            <a:endParaRPr sz="2200">
              <a:latin typeface="黑体"/>
              <a:cs typeface="黑体"/>
            </a:endParaRPr>
          </a:p>
          <a:p>
            <a:pPr lvl="1" marL="896619" marR="5080" indent="-358140">
              <a:lnSpc>
                <a:spcPct val="130100"/>
              </a:lnSpc>
              <a:spcBef>
                <a:spcPts val="509"/>
              </a:spcBef>
              <a:buClr>
                <a:srgbClr val="4668F5"/>
              </a:buClr>
              <a:buSzPct val="72500"/>
              <a:buFont typeface="Wingdings"/>
              <a:buChar char=""/>
              <a:tabLst>
                <a:tab pos="896619" algn="l"/>
              </a:tabLst>
            </a:pPr>
            <a:r>
              <a:rPr dirty="0" sz="2000" spc="-15" b="1">
                <a:solidFill>
                  <a:srgbClr val="6F2F9F"/>
                </a:solidFill>
                <a:latin typeface="黑体"/>
                <a:cs typeface="黑体"/>
              </a:rPr>
              <a:t>访问</a:t>
            </a:r>
            <a:r>
              <a:rPr dirty="0" sz="2000" b="1">
                <a:solidFill>
                  <a:srgbClr val="6F2F9F"/>
                </a:solidFill>
                <a:latin typeface="黑体"/>
                <a:cs typeface="黑体"/>
              </a:rPr>
              <a:t>2</a:t>
            </a:r>
            <a:r>
              <a:rPr dirty="0" sz="2000" spc="-10" b="1">
                <a:solidFill>
                  <a:srgbClr val="6F2F9F"/>
                </a:solidFill>
                <a:latin typeface="黑体"/>
                <a:cs typeface="黑体"/>
              </a:rPr>
              <a:t> 号</a:t>
            </a:r>
            <a:r>
              <a:rPr dirty="0" sz="2000" spc="-20" b="1">
                <a:solidFill>
                  <a:srgbClr val="FF0000"/>
                </a:solidFill>
                <a:latin typeface="黑体"/>
                <a:cs typeface="黑体"/>
              </a:rPr>
              <a:t>字存储单元</a:t>
            </a:r>
            <a:r>
              <a:rPr dirty="0" sz="2000" spc="-25" b="1">
                <a:solidFill>
                  <a:srgbClr val="6F2F9F"/>
                </a:solidFill>
                <a:latin typeface="黑体"/>
                <a:cs typeface="黑体"/>
              </a:rPr>
              <a:t>时，如果按小端方式访问得到的数据是</a:t>
            </a:r>
            <a:r>
              <a:rPr dirty="0" sz="2000" spc="-50" b="1">
                <a:solidFill>
                  <a:srgbClr val="6F2F9F"/>
                </a:solidFill>
                <a:latin typeface="黑体"/>
                <a:cs typeface="黑体"/>
              </a:rPr>
              <a:t> </a:t>
            </a:r>
            <a:r>
              <a:rPr dirty="0" sz="2000" spc="-20" b="1">
                <a:solidFill>
                  <a:srgbClr val="6F2F9F"/>
                </a:solidFill>
                <a:latin typeface="黑体"/>
                <a:cs typeface="黑体"/>
              </a:rPr>
              <a:t>0x78563412</a:t>
            </a:r>
            <a:r>
              <a:rPr dirty="0" sz="2000" spc="-25" b="1">
                <a:solidFill>
                  <a:srgbClr val="6F2F9F"/>
                </a:solidFill>
                <a:latin typeface="黑体"/>
                <a:cs typeface="黑体"/>
              </a:rPr>
              <a:t>，而如果按照大端方式访问得到的数据则是</a:t>
            </a:r>
            <a:r>
              <a:rPr dirty="0" sz="2000" spc="-10" b="1">
                <a:solidFill>
                  <a:srgbClr val="6F2F9F"/>
                </a:solidFill>
                <a:latin typeface="黑体"/>
                <a:cs typeface="黑体"/>
              </a:rPr>
              <a:t>0x12345678，</a:t>
            </a:r>
            <a:r>
              <a:rPr dirty="0" sz="2000" spc="-25" b="1">
                <a:solidFill>
                  <a:srgbClr val="6F2F9F"/>
                </a:solidFill>
                <a:latin typeface="黑体"/>
                <a:cs typeface="黑体"/>
              </a:rPr>
              <a:t>采用大、小端方式对数据进行存放的主要区别在于字节的存放顺序。</a:t>
            </a:r>
            <a:endParaRPr sz="2000">
              <a:latin typeface="黑体"/>
              <a:cs typeface="黑体"/>
            </a:endParaRPr>
          </a:p>
          <a:p>
            <a:pPr lvl="1" marL="896619" marR="280670" indent="-358140">
              <a:lnSpc>
                <a:spcPct val="130100"/>
              </a:lnSpc>
              <a:spcBef>
                <a:spcPts val="480"/>
              </a:spcBef>
              <a:buClr>
                <a:srgbClr val="4668F5"/>
              </a:buClr>
              <a:buSzPct val="72500"/>
              <a:buFont typeface="Wingdings"/>
              <a:buChar char=""/>
              <a:tabLst>
                <a:tab pos="896619" algn="l"/>
              </a:tabLst>
            </a:pPr>
            <a:r>
              <a:rPr dirty="0" sz="2000" spc="-25" b="1">
                <a:solidFill>
                  <a:srgbClr val="6F2F9F"/>
                </a:solidFill>
                <a:latin typeface="黑体"/>
                <a:cs typeface="黑体"/>
              </a:rPr>
              <a:t>采用大端方式进行数据存放符合人类的正常思维，而采用小端方式进行数据存放有利于计算机处理。</a:t>
            </a:r>
            <a:endParaRPr sz="2000">
              <a:latin typeface="黑体"/>
              <a:cs typeface="黑体"/>
            </a:endParaRPr>
          </a:p>
        </p:txBody>
      </p:sp>
      <p:pic>
        <p:nvPicPr>
          <p:cNvPr id="5" name="object 5" descr=""/>
          <p:cNvPicPr/>
          <p:nvPr/>
        </p:nvPicPr>
        <p:blipFill>
          <a:blip r:embed="rId2" cstate="print"/>
          <a:stretch>
            <a:fillRect/>
          </a:stretch>
        </p:blipFill>
        <p:spPr>
          <a:xfrm>
            <a:off x="1919351" y="4076700"/>
            <a:ext cx="8353425" cy="190745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2646045" y="138430"/>
            <a:ext cx="4505960" cy="513715"/>
          </a:xfrm>
          <a:prstGeom prst="rect"/>
        </p:spPr>
        <p:txBody>
          <a:bodyPr wrap="square" lIns="0" tIns="12700" rIns="0" bIns="0" rtlCol="0" vert="horz">
            <a:spAutoFit/>
          </a:bodyPr>
          <a:lstStyle/>
          <a:p>
            <a:pPr marL="12700">
              <a:lnSpc>
                <a:spcPct val="100000"/>
              </a:lnSpc>
              <a:spcBef>
                <a:spcPts val="100"/>
              </a:spcBef>
            </a:pPr>
            <a:r>
              <a:rPr dirty="0" u="none">
                <a:solidFill>
                  <a:srgbClr val="4F55AC"/>
                </a:solidFill>
              </a:rPr>
              <a:t>2.2</a:t>
            </a:r>
            <a:r>
              <a:rPr dirty="0" u="none" spc="-35">
                <a:solidFill>
                  <a:srgbClr val="4F55AC"/>
                </a:solidFill>
              </a:rPr>
              <a:t> </a:t>
            </a:r>
            <a:r>
              <a:rPr dirty="0" u="none" spc="-10">
                <a:solidFill>
                  <a:srgbClr val="4F55AC"/>
                </a:solidFill>
                <a:latin typeface="微软雅黑"/>
                <a:cs typeface="微软雅黑"/>
              </a:rPr>
              <a:t>指令系统的寻址方式</a:t>
            </a:r>
          </a:p>
        </p:txBody>
      </p:sp>
      <p:sp>
        <p:nvSpPr>
          <p:cNvPr id="9" name="object 9" descr=""/>
          <p:cNvSpPr txBox="1"/>
          <p:nvPr/>
        </p:nvSpPr>
        <p:spPr>
          <a:xfrm>
            <a:off x="1662429" y="531403"/>
            <a:ext cx="9142095" cy="2243455"/>
          </a:xfrm>
          <a:prstGeom prst="rect">
            <a:avLst/>
          </a:prstGeom>
        </p:spPr>
        <p:txBody>
          <a:bodyPr wrap="square" lIns="0" tIns="183515" rIns="0" bIns="0" rtlCol="0" vert="horz">
            <a:spAutoFit/>
          </a:bodyPr>
          <a:lstStyle/>
          <a:p>
            <a:pPr marL="469265" indent="-456565">
              <a:lnSpc>
                <a:spcPct val="100000"/>
              </a:lnSpc>
              <a:spcBef>
                <a:spcPts val="1445"/>
              </a:spcBef>
              <a:buSzPct val="88636"/>
              <a:buFont typeface="Wingdings"/>
              <a:buChar char=""/>
              <a:tabLst>
                <a:tab pos="469265" algn="l"/>
              </a:tabLst>
            </a:pPr>
            <a:r>
              <a:rPr dirty="0" sz="2200" spc="-35">
                <a:solidFill>
                  <a:srgbClr val="006FC0"/>
                </a:solidFill>
                <a:latin typeface="黑体"/>
                <a:cs typeface="黑体"/>
              </a:rPr>
              <a:t>信息宽度不超过主存宽度信息必须存放在一个存储字内，不能跨边界。</a:t>
            </a:r>
            <a:endParaRPr sz="2200">
              <a:latin typeface="黑体"/>
              <a:cs typeface="黑体"/>
            </a:endParaRPr>
          </a:p>
          <a:p>
            <a:pPr lvl="1" marL="678180" marR="282575" indent="-358140">
              <a:lnSpc>
                <a:spcPct val="130000"/>
              </a:lnSpc>
              <a:spcBef>
                <a:spcPts val="509"/>
              </a:spcBef>
              <a:buClr>
                <a:srgbClr val="4668F5"/>
              </a:buClr>
              <a:buSzPct val="72500"/>
              <a:buFont typeface="Wingdings"/>
              <a:buChar char=""/>
              <a:tabLst>
                <a:tab pos="678180" algn="l"/>
                <a:tab pos="2859405" algn="l"/>
              </a:tabLst>
            </a:pPr>
            <a:r>
              <a:rPr dirty="0" sz="2000" spc="-10" b="1">
                <a:solidFill>
                  <a:srgbClr val="D50092"/>
                </a:solidFill>
                <a:latin typeface="黑体"/>
                <a:cs typeface="黑体"/>
              </a:rPr>
              <a:t>必须做到</a:t>
            </a:r>
            <a:r>
              <a:rPr dirty="0" sz="2000" spc="-20" b="1">
                <a:solidFill>
                  <a:srgbClr val="D50092"/>
                </a:solidFill>
                <a:latin typeface="黑体"/>
                <a:cs typeface="黑体"/>
              </a:rPr>
              <a:t>：</a:t>
            </a:r>
            <a:r>
              <a:rPr dirty="0" sz="2000" spc="-20" b="1">
                <a:solidFill>
                  <a:srgbClr val="6F2F9F"/>
                </a:solidFill>
                <a:latin typeface="黑体"/>
                <a:cs typeface="黑体"/>
              </a:rPr>
              <a:t>信</a:t>
            </a:r>
            <a:r>
              <a:rPr dirty="0" sz="2000" spc="-10" b="1">
                <a:solidFill>
                  <a:srgbClr val="6F2F9F"/>
                </a:solidFill>
                <a:latin typeface="黑体"/>
                <a:cs typeface="黑体"/>
              </a:rPr>
              <a:t>息在主存</a:t>
            </a:r>
            <a:r>
              <a:rPr dirty="0" sz="2000" spc="-20" b="1">
                <a:solidFill>
                  <a:srgbClr val="6F2F9F"/>
                </a:solidFill>
                <a:latin typeface="黑体"/>
                <a:cs typeface="黑体"/>
              </a:rPr>
              <a:t>中存</a:t>
            </a:r>
            <a:r>
              <a:rPr dirty="0" sz="2000" spc="-10" b="1">
                <a:solidFill>
                  <a:srgbClr val="6F2F9F"/>
                </a:solidFill>
                <a:latin typeface="黑体"/>
                <a:cs typeface="黑体"/>
              </a:rPr>
              <a:t>放的起始</a:t>
            </a:r>
            <a:r>
              <a:rPr dirty="0" sz="2000" spc="-20" b="1">
                <a:solidFill>
                  <a:srgbClr val="6F2F9F"/>
                </a:solidFill>
                <a:latin typeface="黑体"/>
                <a:cs typeface="黑体"/>
              </a:rPr>
              <a:t>地址</a:t>
            </a:r>
            <a:r>
              <a:rPr dirty="0" sz="2000" spc="-10" b="1">
                <a:solidFill>
                  <a:srgbClr val="6F2F9F"/>
                </a:solidFill>
                <a:latin typeface="黑体"/>
                <a:cs typeface="黑体"/>
              </a:rPr>
              <a:t>必须是该</a:t>
            </a:r>
            <a:r>
              <a:rPr dirty="0" sz="2000" spc="-20" b="1">
                <a:solidFill>
                  <a:srgbClr val="6F2F9F"/>
                </a:solidFill>
                <a:latin typeface="黑体"/>
                <a:cs typeface="黑体"/>
              </a:rPr>
              <a:t>信息</a:t>
            </a:r>
            <a:r>
              <a:rPr dirty="0" sz="2000" spc="-10" b="1">
                <a:solidFill>
                  <a:srgbClr val="6F2F9F"/>
                </a:solidFill>
                <a:latin typeface="黑体"/>
                <a:cs typeface="黑体"/>
              </a:rPr>
              <a:t>宽度（字</a:t>
            </a:r>
            <a:r>
              <a:rPr dirty="0" sz="2000" spc="-20" b="1">
                <a:solidFill>
                  <a:srgbClr val="6F2F9F"/>
                </a:solidFill>
                <a:latin typeface="黑体"/>
                <a:cs typeface="黑体"/>
              </a:rPr>
              <a:t>节数</a:t>
            </a:r>
            <a:r>
              <a:rPr dirty="0" sz="2000" spc="-10" b="1">
                <a:solidFill>
                  <a:srgbClr val="6F2F9F"/>
                </a:solidFill>
                <a:latin typeface="黑体"/>
                <a:cs typeface="黑体"/>
              </a:rPr>
              <a:t>）</a:t>
            </a:r>
            <a:r>
              <a:rPr dirty="0" sz="2000" spc="-50" b="1">
                <a:solidFill>
                  <a:srgbClr val="6F2F9F"/>
                </a:solidFill>
                <a:latin typeface="黑体"/>
                <a:cs typeface="黑体"/>
              </a:rPr>
              <a:t>的</a:t>
            </a:r>
            <a:r>
              <a:rPr dirty="0" sz="2000" spc="-10" b="1">
                <a:solidFill>
                  <a:srgbClr val="6F2F9F"/>
                </a:solidFill>
                <a:latin typeface="黑体"/>
                <a:cs typeface="黑体"/>
              </a:rPr>
              <a:t>整数倍</a:t>
            </a:r>
            <a:r>
              <a:rPr dirty="0" sz="2000" spc="-15" b="1">
                <a:solidFill>
                  <a:srgbClr val="6F2F9F"/>
                </a:solidFill>
                <a:latin typeface="黑体"/>
                <a:cs typeface="黑体"/>
              </a:rPr>
              <a:t>-</a:t>
            </a:r>
            <a:r>
              <a:rPr dirty="0" sz="2000" spc="-50" b="1">
                <a:solidFill>
                  <a:srgbClr val="6F2F9F"/>
                </a:solidFill>
                <a:latin typeface="黑体"/>
                <a:cs typeface="黑体"/>
              </a:rPr>
              <a:t>-</a:t>
            </a:r>
            <a:r>
              <a:rPr dirty="0" sz="2000" b="1">
                <a:solidFill>
                  <a:srgbClr val="6F2F9F"/>
                </a:solidFill>
                <a:latin typeface="黑体"/>
                <a:cs typeface="黑体"/>
              </a:rPr>
              <a:t>	</a:t>
            </a:r>
            <a:r>
              <a:rPr dirty="0" sz="2000" spc="-10" b="1">
                <a:solidFill>
                  <a:srgbClr val="FF0000"/>
                </a:solidFill>
                <a:latin typeface="黑体"/>
                <a:cs typeface="黑体"/>
              </a:rPr>
              <a:t>信息</a:t>
            </a:r>
            <a:r>
              <a:rPr dirty="0" sz="2000" spc="-20" b="1">
                <a:solidFill>
                  <a:srgbClr val="FF0000"/>
                </a:solidFill>
                <a:latin typeface="黑体"/>
                <a:cs typeface="黑体"/>
              </a:rPr>
              <a:t>存</a:t>
            </a:r>
            <a:r>
              <a:rPr dirty="0" sz="2000" spc="-10" b="1">
                <a:solidFill>
                  <a:srgbClr val="FF0000"/>
                </a:solidFill>
                <a:latin typeface="黑体"/>
                <a:cs typeface="黑体"/>
              </a:rPr>
              <a:t>储的整数</a:t>
            </a:r>
            <a:r>
              <a:rPr dirty="0" sz="2000" spc="-20" b="1">
                <a:solidFill>
                  <a:srgbClr val="FF0000"/>
                </a:solidFill>
                <a:latin typeface="黑体"/>
                <a:cs typeface="黑体"/>
              </a:rPr>
              <a:t>边界</a:t>
            </a:r>
            <a:r>
              <a:rPr dirty="0" sz="2000" spc="-10" b="1">
                <a:solidFill>
                  <a:srgbClr val="FF0000"/>
                </a:solidFill>
                <a:latin typeface="黑体"/>
                <a:cs typeface="黑体"/>
              </a:rPr>
              <a:t>概</a:t>
            </a:r>
            <a:r>
              <a:rPr dirty="0" sz="2000" spc="-50" b="1">
                <a:solidFill>
                  <a:srgbClr val="FF0000"/>
                </a:solidFill>
                <a:latin typeface="黑体"/>
                <a:cs typeface="黑体"/>
              </a:rPr>
              <a:t>念</a:t>
            </a:r>
            <a:endParaRPr sz="2000">
              <a:latin typeface="黑体"/>
              <a:cs typeface="黑体"/>
            </a:endParaRPr>
          </a:p>
          <a:p>
            <a:pPr lvl="1" marL="678180" marR="283845" indent="-358140">
              <a:lnSpc>
                <a:spcPct val="130100"/>
              </a:lnSpc>
              <a:spcBef>
                <a:spcPts val="480"/>
              </a:spcBef>
              <a:buClr>
                <a:srgbClr val="4668F5"/>
              </a:buClr>
              <a:buSzPct val="72500"/>
              <a:buFont typeface="Wingdings"/>
              <a:buChar char=""/>
              <a:tabLst>
                <a:tab pos="678180" algn="l"/>
              </a:tabLst>
            </a:pPr>
            <a:r>
              <a:rPr dirty="0" sz="2000" spc="-25" b="1">
                <a:solidFill>
                  <a:srgbClr val="008000"/>
                </a:solidFill>
                <a:latin typeface="黑体"/>
                <a:cs typeface="黑体"/>
              </a:rPr>
              <a:t>目的：处理器为了提高处理性能而对存取数据的起始地址所提出的一种要求，编译器最大限度地满足处理器对边界对齐的要求。</a:t>
            </a:r>
            <a:endParaRPr sz="2000">
              <a:latin typeface="黑体"/>
              <a:cs typeface="黑体"/>
            </a:endParaRPr>
          </a:p>
        </p:txBody>
      </p:sp>
      <p:grpSp>
        <p:nvGrpSpPr>
          <p:cNvPr id="10" name="object 10" descr=""/>
          <p:cNvGrpSpPr/>
          <p:nvPr/>
        </p:nvGrpSpPr>
        <p:grpSpPr>
          <a:xfrm>
            <a:off x="1838388" y="3059176"/>
            <a:ext cx="8660130" cy="3049905"/>
            <a:chOff x="1838388" y="3059176"/>
            <a:chExt cx="8660130" cy="3049905"/>
          </a:xfrm>
        </p:grpSpPr>
        <p:pic>
          <p:nvPicPr>
            <p:cNvPr id="11" name="object 11" descr=""/>
            <p:cNvPicPr/>
            <p:nvPr/>
          </p:nvPicPr>
          <p:blipFill>
            <a:blip r:embed="rId2" cstate="print"/>
            <a:stretch>
              <a:fillRect/>
            </a:stretch>
          </p:blipFill>
          <p:spPr>
            <a:xfrm>
              <a:off x="2440355" y="3120950"/>
              <a:ext cx="8048193" cy="2978224"/>
            </a:xfrm>
            <a:prstGeom prst="rect">
              <a:avLst/>
            </a:prstGeom>
          </p:spPr>
        </p:pic>
        <p:sp>
          <p:nvSpPr>
            <p:cNvPr id="12" name="object 12" descr=""/>
            <p:cNvSpPr/>
            <p:nvPr/>
          </p:nvSpPr>
          <p:spPr>
            <a:xfrm>
              <a:off x="1843151" y="3063938"/>
              <a:ext cx="8650605" cy="3040380"/>
            </a:xfrm>
            <a:custGeom>
              <a:avLst/>
              <a:gdLst/>
              <a:ahLst/>
              <a:cxnLst/>
              <a:rect l="l" t="t" r="r" b="b"/>
              <a:pathLst>
                <a:path w="8650605" h="3040379">
                  <a:moveTo>
                    <a:pt x="0" y="3039999"/>
                  </a:moveTo>
                  <a:lnTo>
                    <a:pt x="8650351" y="3039999"/>
                  </a:lnTo>
                  <a:lnTo>
                    <a:pt x="8650351" y="0"/>
                  </a:lnTo>
                  <a:lnTo>
                    <a:pt x="0" y="0"/>
                  </a:lnTo>
                  <a:lnTo>
                    <a:pt x="0" y="3039999"/>
                  </a:lnTo>
                  <a:close/>
                </a:path>
              </a:pathLst>
            </a:custGeom>
            <a:ln w="9524">
              <a:solidFill>
                <a:srgbClr val="FF0000"/>
              </a:solidFill>
            </a:ln>
          </p:spPr>
          <p:txBody>
            <a:bodyPr wrap="square" lIns="0" tIns="0" rIns="0" bIns="0" rtlCol="0"/>
            <a:lstStyle/>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2646045" y="138430"/>
            <a:ext cx="2471420" cy="513715"/>
          </a:xfrm>
          <a:prstGeom prst="rect"/>
        </p:spPr>
        <p:txBody>
          <a:bodyPr wrap="square" lIns="0" tIns="12700" rIns="0" bIns="0" rtlCol="0" vert="horz">
            <a:spAutoFit/>
          </a:bodyPr>
          <a:lstStyle/>
          <a:p>
            <a:pPr marL="12700">
              <a:lnSpc>
                <a:spcPct val="100000"/>
              </a:lnSpc>
              <a:spcBef>
                <a:spcPts val="100"/>
              </a:spcBef>
            </a:pPr>
            <a:r>
              <a:rPr dirty="0" u="none">
                <a:solidFill>
                  <a:srgbClr val="4F55AC"/>
                </a:solidFill>
              </a:rPr>
              <a:t>2.2</a:t>
            </a:r>
            <a:r>
              <a:rPr dirty="0" u="none" spc="-35">
                <a:solidFill>
                  <a:srgbClr val="4F55AC"/>
                </a:solidFill>
              </a:rPr>
              <a:t> </a:t>
            </a:r>
            <a:r>
              <a:rPr dirty="0" u="none" spc="-15">
                <a:solidFill>
                  <a:srgbClr val="4F55AC"/>
                </a:solidFill>
                <a:latin typeface="微软雅黑"/>
                <a:cs typeface="微软雅黑"/>
              </a:rPr>
              <a:t>寻址方式</a:t>
            </a:r>
          </a:p>
        </p:txBody>
      </p:sp>
      <p:sp>
        <p:nvSpPr>
          <p:cNvPr id="9" name="object 9" descr=""/>
          <p:cNvSpPr txBox="1"/>
          <p:nvPr/>
        </p:nvSpPr>
        <p:spPr>
          <a:xfrm>
            <a:off x="1662429" y="702691"/>
            <a:ext cx="9142095" cy="4907280"/>
          </a:xfrm>
          <a:prstGeom prst="rect">
            <a:avLst/>
          </a:prstGeom>
        </p:spPr>
        <p:txBody>
          <a:bodyPr wrap="square" lIns="0" tIns="12065" rIns="0" bIns="0" rtlCol="0" vert="horz">
            <a:spAutoFit/>
          </a:bodyPr>
          <a:lstStyle/>
          <a:p>
            <a:pPr marL="469265" indent="-456565">
              <a:lnSpc>
                <a:spcPct val="100000"/>
              </a:lnSpc>
              <a:spcBef>
                <a:spcPts val="95"/>
              </a:spcBef>
              <a:buSzPct val="88636"/>
              <a:buFont typeface="Wingdings"/>
              <a:buChar char=""/>
              <a:tabLst>
                <a:tab pos="469265" algn="l"/>
              </a:tabLst>
            </a:pPr>
            <a:r>
              <a:rPr dirty="0" sz="2200" spc="-35">
                <a:solidFill>
                  <a:srgbClr val="006FC0"/>
                </a:solidFill>
                <a:latin typeface="黑体"/>
                <a:cs typeface="黑体"/>
              </a:rPr>
              <a:t>信息宽度不超过主存宽度信息必须存放在一个存储字内，不能跨边界。</a:t>
            </a:r>
            <a:endParaRPr sz="2200">
              <a:latin typeface="黑体"/>
              <a:cs typeface="黑体"/>
            </a:endParaRPr>
          </a:p>
          <a:p>
            <a:pPr>
              <a:lnSpc>
                <a:spcPct val="100000"/>
              </a:lnSpc>
              <a:spcBef>
                <a:spcPts val="1255"/>
              </a:spcBef>
              <a:buClr>
                <a:srgbClr val="006FC0"/>
              </a:buClr>
              <a:buFont typeface="Wingdings"/>
              <a:buChar char=""/>
            </a:pPr>
            <a:endParaRPr sz="2200">
              <a:latin typeface="黑体"/>
              <a:cs typeface="黑体"/>
            </a:endParaRPr>
          </a:p>
          <a:p>
            <a:pPr lvl="1" marL="678180" marR="276225" indent="-358140">
              <a:lnSpc>
                <a:spcPct val="130000"/>
              </a:lnSpc>
              <a:buClr>
                <a:srgbClr val="4668F5"/>
              </a:buClr>
              <a:buSzPct val="72500"/>
              <a:buFont typeface="Wingdings"/>
              <a:buChar char=""/>
              <a:tabLst>
                <a:tab pos="678180" algn="l"/>
              </a:tabLst>
            </a:pPr>
            <a:r>
              <a:rPr dirty="0" sz="2000" spc="-10" b="1">
                <a:solidFill>
                  <a:srgbClr val="6F2F9F"/>
                </a:solidFill>
                <a:latin typeface="黑体"/>
                <a:cs typeface="黑体"/>
              </a:rPr>
              <a:t>字长</a:t>
            </a:r>
            <a:r>
              <a:rPr dirty="0" sz="2000" spc="-15" b="1">
                <a:solidFill>
                  <a:srgbClr val="6F2F9F"/>
                </a:solidFill>
                <a:latin typeface="黑体"/>
                <a:cs typeface="黑体"/>
              </a:rPr>
              <a:t>32位，则半字长16位，双字长64</a:t>
            </a:r>
            <a:r>
              <a:rPr dirty="0" sz="2000" spc="-25" b="1">
                <a:solidFill>
                  <a:srgbClr val="6F2F9F"/>
                </a:solidFill>
                <a:latin typeface="黑体"/>
                <a:cs typeface="黑体"/>
              </a:rPr>
              <a:t>位。则按边界对齐方式的存储要求满</a:t>
            </a:r>
            <a:r>
              <a:rPr dirty="0" sz="2000" spc="-15" b="1">
                <a:solidFill>
                  <a:srgbClr val="6F2F9F"/>
                </a:solidFill>
                <a:latin typeface="黑体"/>
                <a:cs typeface="黑体"/>
              </a:rPr>
              <a:t>足以下条件</a:t>
            </a:r>
            <a:r>
              <a:rPr dirty="0" sz="2000" spc="-20" b="1">
                <a:solidFill>
                  <a:srgbClr val="6F2F9F"/>
                </a:solidFill>
                <a:latin typeface="黑体"/>
                <a:cs typeface="黑体"/>
              </a:rPr>
              <a:t>（地址：二进制</a:t>
            </a:r>
            <a:r>
              <a:rPr dirty="0" sz="2000" spc="-50" b="1">
                <a:solidFill>
                  <a:srgbClr val="6F2F9F"/>
                </a:solidFill>
                <a:latin typeface="黑体"/>
                <a:cs typeface="黑体"/>
              </a:rPr>
              <a:t>）</a:t>
            </a:r>
            <a:endParaRPr sz="2000">
              <a:latin typeface="黑体"/>
              <a:cs typeface="黑体"/>
            </a:endParaRPr>
          </a:p>
          <a:p>
            <a:pPr lvl="2" marL="1039494" indent="-381000">
              <a:lnSpc>
                <a:spcPct val="100000"/>
              </a:lnSpc>
              <a:spcBef>
                <a:spcPts val="840"/>
              </a:spcBef>
              <a:buClr>
                <a:srgbClr val="64CD80"/>
              </a:buClr>
              <a:buSzPct val="65000"/>
              <a:buFont typeface="Wingdings"/>
              <a:buChar char=""/>
              <a:tabLst>
                <a:tab pos="1039494" algn="l"/>
              </a:tabLst>
            </a:pPr>
            <a:r>
              <a:rPr dirty="0" sz="2000" spc="-15" b="1">
                <a:solidFill>
                  <a:srgbClr val="40458B"/>
                </a:solidFill>
                <a:latin typeface="宋体"/>
                <a:cs typeface="宋体"/>
              </a:rPr>
              <a:t>字节信息的起始地址为：</a:t>
            </a:r>
            <a:r>
              <a:rPr dirty="0" sz="2000" spc="-20" b="1">
                <a:solidFill>
                  <a:srgbClr val="9933FF"/>
                </a:solidFill>
                <a:latin typeface="宋体"/>
                <a:cs typeface="宋体"/>
              </a:rPr>
              <a:t>×</a:t>
            </a:r>
            <a:r>
              <a:rPr dirty="0" sz="2000" spc="-20" b="1">
                <a:solidFill>
                  <a:srgbClr val="9933FF"/>
                </a:solidFill>
                <a:latin typeface="Times New Roman"/>
                <a:cs typeface="Times New Roman"/>
              </a:rPr>
              <a:t>…</a:t>
            </a:r>
            <a:r>
              <a:rPr dirty="0" sz="2000" spc="-20" b="1">
                <a:solidFill>
                  <a:srgbClr val="9933FF"/>
                </a:solidFill>
                <a:latin typeface="宋体"/>
                <a:cs typeface="宋体"/>
              </a:rPr>
              <a:t>××××（</a:t>
            </a:r>
            <a:r>
              <a:rPr dirty="0" sz="2000" spc="-15">
                <a:latin typeface="宋体"/>
                <a:cs typeface="宋体"/>
              </a:rPr>
              <a:t>每个字节地址都用上了</a:t>
            </a:r>
            <a:r>
              <a:rPr dirty="0" sz="2000" spc="-50" b="1">
                <a:solidFill>
                  <a:srgbClr val="9933FF"/>
                </a:solidFill>
                <a:latin typeface="宋体"/>
                <a:cs typeface="宋体"/>
              </a:rPr>
              <a:t>）</a:t>
            </a:r>
            <a:endParaRPr sz="2000">
              <a:latin typeface="宋体"/>
              <a:cs typeface="宋体"/>
            </a:endParaRPr>
          </a:p>
          <a:p>
            <a:pPr lvl="2" marL="1039494" indent="-381000">
              <a:lnSpc>
                <a:spcPct val="100000"/>
              </a:lnSpc>
              <a:spcBef>
                <a:spcPts val="720"/>
              </a:spcBef>
              <a:buClr>
                <a:srgbClr val="64CD80"/>
              </a:buClr>
              <a:buSzPct val="65000"/>
              <a:buFont typeface="Wingdings"/>
              <a:buChar char=""/>
              <a:tabLst>
                <a:tab pos="1039494" algn="l"/>
              </a:tabLst>
            </a:pPr>
            <a:r>
              <a:rPr dirty="0" sz="2000" spc="-15" b="1">
                <a:solidFill>
                  <a:srgbClr val="40458B"/>
                </a:solidFill>
                <a:latin typeface="宋体"/>
                <a:cs typeface="宋体"/>
              </a:rPr>
              <a:t>半字信息的起始地址为：</a:t>
            </a:r>
            <a:r>
              <a:rPr dirty="0" sz="2000" spc="-20" b="1">
                <a:solidFill>
                  <a:srgbClr val="9933FF"/>
                </a:solidFill>
                <a:latin typeface="宋体"/>
                <a:cs typeface="宋体"/>
              </a:rPr>
              <a:t>×</a:t>
            </a:r>
            <a:r>
              <a:rPr dirty="0" sz="2000" spc="-20" b="1">
                <a:solidFill>
                  <a:srgbClr val="9933FF"/>
                </a:solidFill>
                <a:latin typeface="Times New Roman"/>
                <a:cs typeface="Times New Roman"/>
              </a:rPr>
              <a:t>…</a:t>
            </a:r>
            <a:r>
              <a:rPr dirty="0" sz="2000" spc="-125" b="1">
                <a:solidFill>
                  <a:srgbClr val="9933FF"/>
                </a:solidFill>
                <a:latin typeface="宋体"/>
                <a:cs typeface="宋体"/>
              </a:rPr>
              <a:t>×××０ </a:t>
            </a:r>
            <a:r>
              <a:rPr dirty="0" sz="2000">
                <a:solidFill>
                  <a:srgbClr val="4A4A4A"/>
                </a:solidFill>
                <a:latin typeface="宋体"/>
                <a:cs typeface="宋体"/>
              </a:rPr>
              <a:t>（</a:t>
            </a:r>
            <a:r>
              <a:rPr dirty="0" sz="2000">
                <a:solidFill>
                  <a:srgbClr val="4A4A4A"/>
                </a:solidFill>
                <a:latin typeface="Calibri"/>
                <a:cs typeface="Calibri"/>
              </a:rPr>
              <a:t>2</a:t>
            </a:r>
            <a:r>
              <a:rPr dirty="0" sz="2000">
                <a:solidFill>
                  <a:srgbClr val="4A4A4A"/>
                </a:solidFill>
                <a:latin typeface="宋体"/>
                <a:cs typeface="宋体"/>
              </a:rPr>
              <a:t>字节的整数倍</a:t>
            </a:r>
            <a:r>
              <a:rPr dirty="0" sz="2000" spc="-50">
                <a:solidFill>
                  <a:srgbClr val="4A4A4A"/>
                </a:solidFill>
                <a:latin typeface="宋体"/>
                <a:cs typeface="宋体"/>
              </a:rPr>
              <a:t>）</a:t>
            </a:r>
            <a:endParaRPr sz="2000">
              <a:latin typeface="宋体"/>
              <a:cs typeface="宋体"/>
            </a:endParaRPr>
          </a:p>
          <a:p>
            <a:pPr lvl="2" marL="1039494" indent="-381000">
              <a:lnSpc>
                <a:spcPct val="100000"/>
              </a:lnSpc>
              <a:spcBef>
                <a:spcPts val="720"/>
              </a:spcBef>
              <a:buClr>
                <a:srgbClr val="64CD80"/>
              </a:buClr>
              <a:buSzPct val="65000"/>
              <a:buFont typeface="Wingdings"/>
              <a:buChar char=""/>
              <a:tabLst>
                <a:tab pos="1039494" algn="l"/>
              </a:tabLst>
            </a:pPr>
            <a:r>
              <a:rPr dirty="0" sz="2000" spc="-15" b="1">
                <a:solidFill>
                  <a:srgbClr val="40458B"/>
                </a:solidFill>
                <a:latin typeface="宋体"/>
                <a:cs typeface="宋体"/>
              </a:rPr>
              <a:t>单字信息的起始地址为：</a:t>
            </a:r>
            <a:r>
              <a:rPr dirty="0" sz="2000" spc="-20" b="1">
                <a:solidFill>
                  <a:srgbClr val="9933FF"/>
                </a:solidFill>
                <a:latin typeface="宋体"/>
                <a:cs typeface="宋体"/>
              </a:rPr>
              <a:t>×</a:t>
            </a:r>
            <a:r>
              <a:rPr dirty="0" sz="2000" spc="-20" b="1">
                <a:solidFill>
                  <a:srgbClr val="9933FF"/>
                </a:solidFill>
                <a:latin typeface="Times New Roman"/>
                <a:cs typeface="Times New Roman"/>
              </a:rPr>
              <a:t>…</a:t>
            </a:r>
            <a:r>
              <a:rPr dirty="0" sz="2000" spc="-125" b="1">
                <a:solidFill>
                  <a:srgbClr val="9933FF"/>
                </a:solidFill>
                <a:latin typeface="宋体"/>
                <a:cs typeface="宋体"/>
              </a:rPr>
              <a:t>××００ </a:t>
            </a:r>
            <a:r>
              <a:rPr dirty="0" sz="2000">
                <a:solidFill>
                  <a:srgbClr val="4A4A4A"/>
                </a:solidFill>
                <a:latin typeface="宋体"/>
                <a:cs typeface="宋体"/>
              </a:rPr>
              <a:t>（</a:t>
            </a:r>
            <a:r>
              <a:rPr dirty="0" sz="2000">
                <a:solidFill>
                  <a:srgbClr val="4A4A4A"/>
                </a:solidFill>
                <a:latin typeface="Calibri"/>
                <a:cs typeface="Calibri"/>
              </a:rPr>
              <a:t>4</a:t>
            </a:r>
            <a:r>
              <a:rPr dirty="0" sz="2000" spc="-5">
                <a:solidFill>
                  <a:srgbClr val="4A4A4A"/>
                </a:solidFill>
                <a:latin typeface="宋体"/>
                <a:cs typeface="宋体"/>
              </a:rPr>
              <a:t>字节的整数倍。</a:t>
            </a:r>
            <a:r>
              <a:rPr dirty="0" sz="2000" spc="-25">
                <a:solidFill>
                  <a:srgbClr val="4A4A4A"/>
                </a:solidFill>
                <a:latin typeface="宋体"/>
                <a:cs typeface="宋体"/>
              </a:rPr>
              <a:t>；）</a:t>
            </a:r>
            <a:endParaRPr sz="2000">
              <a:latin typeface="宋体"/>
              <a:cs typeface="宋体"/>
            </a:endParaRPr>
          </a:p>
          <a:p>
            <a:pPr lvl="2" marL="1039494" indent="-381000">
              <a:lnSpc>
                <a:spcPct val="100000"/>
              </a:lnSpc>
              <a:spcBef>
                <a:spcPts val="720"/>
              </a:spcBef>
              <a:buClr>
                <a:srgbClr val="64CD80"/>
              </a:buClr>
              <a:buSzPct val="65000"/>
              <a:buFont typeface="Wingdings"/>
              <a:buChar char=""/>
              <a:tabLst>
                <a:tab pos="1039494" algn="l"/>
              </a:tabLst>
            </a:pPr>
            <a:r>
              <a:rPr dirty="0" sz="2000" spc="-15" b="1">
                <a:solidFill>
                  <a:srgbClr val="40458B"/>
                </a:solidFill>
                <a:latin typeface="宋体"/>
                <a:cs typeface="宋体"/>
              </a:rPr>
              <a:t>双字信息的起始地址为：</a:t>
            </a:r>
            <a:r>
              <a:rPr dirty="0" sz="2000" spc="-15" b="1">
                <a:solidFill>
                  <a:srgbClr val="9933FF"/>
                </a:solidFill>
                <a:latin typeface="宋体"/>
                <a:cs typeface="宋体"/>
              </a:rPr>
              <a:t>×</a:t>
            </a:r>
            <a:r>
              <a:rPr dirty="0" sz="2000" spc="-15" b="1">
                <a:solidFill>
                  <a:srgbClr val="9933FF"/>
                </a:solidFill>
                <a:latin typeface="Times New Roman"/>
                <a:cs typeface="Times New Roman"/>
              </a:rPr>
              <a:t>…</a:t>
            </a:r>
            <a:r>
              <a:rPr dirty="0" sz="2000" spc="-110" b="1">
                <a:solidFill>
                  <a:srgbClr val="9933FF"/>
                </a:solidFill>
                <a:latin typeface="宋体"/>
                <a:cs typeface="宋体"/>
              </a:rPr>
              <a:t>×０００ </a:t>
            </a:r>
            <a:r>
              <a:rPr dirty="0" sz="2000" spc="-10">
                <a:solidFill>
                  <a:srgbClr val="4A4A4A"/>
                </a:solidFill>
                <a:latin typeface="宋体"/>
                <a:cs typeface="宋体"/>
              </a:rPr>
              <a:t>（</a:t>
            </a:r>
            <a:r>
              <a:rPr dirty="0" sz="2000" spc="-10">
                <a:solidFill>
                  <a:srgbClr val="4A4A4A"/>
                </a:solidFill>
                <a:latin typeface="Calibri"/>
                <a:cs typeface="Calibri"/>
              </a:rPr>
              <a:t>8</a:t>
            </a:r>
            <a:r>
              <a:rPr dirty="0" sz="2000" spc="-10">
                <a:solidFill>
                  <a:srgbClr val="4A4A4A"/>
                </a:solidFill>
                <a:latin typeface="宋体"/>
                <a:cs typeface="宋体"/>
              </a:rPr>
              <a:t>字节的整数倍</a:t>
            </a:r>
            <a:r>
              <a:rPr dirty="0" sz="2000" spc="-50">
                <a:solidFill>
                  <a:srgbClr val="4A4A4A"/>
                </a:solidFill>
                <a:latin typeface="宋体"/>
                <a:cs typeface="宋体"/>
              </a:rPr>
              <a:t>）</a:t>
            </a:r>
            <a:endParaRPr sz="2000">
              <a:latin typeface="宋体"/>
              <a:cs typeface="宋体"/>
            </a:endParaRPr>
          </a:p>
          <a:p>
            <a:pPr lvl="1" marL="678180" indent="-358140">
              <a:lnSpc>
                <a:spcPct val="100000"/>
              </a:lnSpc>
              <a:spcBef>
                <a:spcPts val="1085"/>
              </a:spcBef>
              <a:buClr>
                <a:srgbClr val="4668F5"/>
              </a:buClr>
              <a:buSzPct val="72500"/>
              <a:buFont typeface="Wingdings"/>
              <a:buChar char=""/>
              <a:tabLst>
                <a:tab pos="678180" algn="l"/>
              </a:tabLst>
            </a:pPr>
            <a:r>
              <a:rPr dirty="0" sz="2000" spc="-10" b="1">
                <a:solidFill>
                  <a:srgbClr val="FF0000"/>
                </a:solidFill>
                <a:latin typeface="黑体"/>
                <a:cs typeface="黑体"/>
              </a:rPr>
              <a:t>代价：</a:t>
            </a:r>
            <a:r>
              <a:rPr dirty="0" sz="2000" spc="-25" b="1">
                <a:solidFill>
                  <a:srgbClr val="008000"/>
                </a:solidFill>
                <a:latin typeface="黑体"/>
                <a:cs typeface="黑体"/>
              </a:rPr>
              <a:t>存在存储空间的浪费 ，但保证访问速度。</a:t>
            </a:r>
            <a:endParaRPr sz="2000">
              <a:latin typeface="黑体"/>
              <a:cs typeface="黑体"/>
            </a:endParaRPr>
          </a:p>
          <a:p>
            <a:pPr lvl="2" marL="1039494" marR="28575" indent="-381000">
              <a:lnSpc>
                <a:spcPct val="110000"/>
              </a:lnSpc>
              <a:spcBef>
                <a:spcPts val="600"/>
              </a:spcBef>
              <a:buClr>
                <a:srgbClr val="64CD80"/>
              </a:buClr>
              <a:buSzPct val="65000"/>
              <a:buFont typeface="Wingdings"/>
              <a:buChar char=""/>
              <a:tabLst>
                <a:tab pos="1039494" algn="l"/>
              </a:tabLst>
            </a:pPr>
            <a:r>
              <a:rPr dirty="0" sz="2000" spc="-20" b="1">
                <a:solidFill>
                  <a:srgbClr val="008000"/>
                </a:solidFill>
                <a:latin typeface="宋体"/>
                <a:cs typeface="宋体"/>
              </a:rPr>
              <a:t>按照指定空间存储，确保一个字长数据的读</a:t>
            </a:r>
            <a:r>
              <a:rPr dirty="0" sz="2000" spc="-10" b="1">
                <a:solidFill>
                  <a:srgbClr val="008000"/>
                </a:solidFill>
                <a:latin typeface="Tahoma"/>
                <a:cs typeface="Tahoma"/>
              </a:rPr>
              <a:t>/</a:t>
            </a:r>
            <a:r>
              <a:rPr dirty="0" sz="2000" spc="-25" b="1">
                <a:solidFill>
                  <a:srgbClr val="008000"/>
                </a:solidFill>
                <a:latin typeface="宋体"/>
                <a:cs typeface="宋体"/>
              </a:rPr>
              <a:t>写只需要一次存储器访问，</a:t>
            </a:r>
            <a:r>
              <a:rPr dirty="0" sz="2000" spc="-20" b="1">
                <a:solidFill>
                  <a:srgbClr val="008000"/>
                </a:solidFill>
                <a:latin typeface="宋体"/>
                <a:cs typeface="宋体"/>
              </a:rPr>
              <a:t>效率提高，但有时存储空间浪费。</a:t>
            </a:r>
            <a:endParaRPr sz="2000">
              <a:latin typeface="宋体"/>
              <a:cs typeface="宋体"/>
            </a:endParaRPr>
          </a:p>
          <a:p>
            <a:pPr lvl="1" marL="678180" indent="-358140">
              <a:lnSpc>
                <a:spcPct val="100000"/>
              </a:lnSpc>
              <a:spcBef>
                <a:spcPts val="1080"/>
              </a:spcBef>
              <a:buClr>
                <a:srgbClr val="4668F5"/>
              </a:buClr>
              <a:buSzPct val="72500"/>
              <a:buFont typeface="Wingdings"/>
              <a:buChar char=""/>
              <a:tabLst>
                <a:tab pos="678180" algn="l"/>
              </a:tabLst>
            </a:pPr>
            <a:r>
              <a:rPr dirty="0" sz="2000" spc="-10" b="1">
                <a:solidFill>
                  <a:srgbClr val="FF0000"/>
                </a:solidFill>
                <a:latin typeface="黑体"/>
                <a:cs typeface="黑体"/>
              </a:rPr>
              <a:t>结果：</a:t>
            </a:r>
            <a:r>
              <a:rPr dirty="0" sz="2000" spc="-25" b="1">
                <a:solidFill>
                  <a:srgbClr val="008000"/>
                </a:solidFill>
                <a:latin typeface="黑体"/>
                <a:cs typeface="黑体"/>
              </a:rPr>
              <a:t>存储空间换取速度</a:t>
            </a:r>
            <a:endParaRPr sz="2000">
              <a:latin typeface="黑体"/>
              <a:cs typeface="黑体"/>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2646045" y="138430"/>
            <a:ext cx="2471420" cy="513715"/>
          </a:xfrm>
          <a:prstGeom prst="rect"/>
        </p:spPr>
        <p:txBody>
          <a:bodyPr wrap="square" lIns="0" tIns="12700" rIns="0" bIns="0" rtlCol="0" vert="horz">
            <a:spAutoFit/>
          </a:bodyPr>
          <a:lstStyle/>
          <a:p>
            <a:pPr marL="12700">
              <a:lnSpc>
                <a:spcPct val="100000"/>
              </a:lnSpc>
              <a:spcBef>
                <a:spcPts val="100"/>
              </a:spcBef>
            </a:pPr>
            <a:r>
              <a:rPr dirty="0" u="none">
                <a:solidFill>
                  <a:srgbClr val="4F55AC"/>
                </a:solidFill>
              </a:rPr>
              <a:t>2.2</a:t>
            </a:r>
            <a:r>
              <a:rPr dirty="0" u="none" spc="-35">
                <a:solidFill>
                  <a:srgbClr val="4F55AC"/>
                </a:solidFill>
              </a:rPr>
              <a:t> </a:t>
            </a:r>
            <a:r>
              <a:rPr dirty="0" u="none" spc="-15">
                <a:solidFill>
                  <a:srgbClr val="4F55AC"/>
                </a:solidFill>
                <a:latin typeface="微软雅黑"/>
                <a:cs typeface="微软雅黑"/>
              </a:rPr>
              <a:t>寻址方式</a:t>
            </a:r>
          </a:p>
        </p:txBody>
      </p:sp>
      <p:sp>
        <p:nvSpPr>
          <p:cNvPr id="9" name="object 9" descr=""/>
          <p:cNvSpPr txBox="1"/>
          <p:nvPr/>
        </p:nvSpPr>
        <p:spPr>
          <a:xfrm>
            <a:off x="1762125" y="601243"/>
            <a:ext cx="8848090" cy="3463290"/>
          </a:xfrm>
          <a:prstGeom prst="rect">
            <a:avLst/>
          </a:prstGeom>
        </p:spPr>
        <p:txBody>
          <a:bodyPr wrap="square" lIns="0" tIns="12700" rIns="0" bIns="0" rtlCol="0" vert="horz">
            <a:spAutoFit/>
          </a:bodyPr>
          <a:lstStyle/>
          <a:p>
            <a:pPr marL="285115" marR="92710" indent="-273050">
              <a:lnSpc>
                <a:spcPct val="130100"/>
              </a:lnSpc>
              <a:spcBef>
                <a:spcPts val="100"/>
              </a:spcBef>
              <a:buSzPct val="88636"/>
              <a:buFont typeface="Wingdings"/>
              <a:buChar char=""/>
              <a:tabLst>
                <a:tab pos="285115" algn="l"/>
              </a:tabLst>
            </a:pPr>
            <a:r>
              <a:rPr dirty="0" sz="2200" spc="-20">
                <a:solidFill>
                  <a:srgbClr val="006FC0"/>
                </a:solidFill>
                <a:latin typeface="黑体"/>
                <a:cs typeface="黑体"/>
              </a:rPr>
              <a:t>字长</a:t>
            </a:r>
            <a:r>
              <a:rPr dirty="0" sz="2200" spc="-20">
                <a:solidFill>
                  <a:srgbClr val="006FC0"/>
                </a:solidFill>
                <a:latin typeface="Tahoma"/>
                <a:cs typeface="Tahoma"/>
              </a:rPr>
              <a:t>32</a:t>
            </a:r>
            <a:r>
              <a:rPr dirty="0" sz="2200" spc="-30">
                <a:solidFill>
                  <a:srgbClr val="006FC0"/>
                </a:solidFill>
                <a:latin typeface="黑体"/>
                <a:cs typeface="黑体"/>
              </a:rPr>
              <a:t>位，则半字长</a:t>
            </a:r>
            <a:r>
              <a:rPr dirty="0" sz="2200" spc="-20">
                <a:solidFill>
                  <a:srgbClr val="006FC0"/>
                </a:solidFill>
                <a:latin typeface="Tahoma"/>
                <a:cs typeface="Tahoma"/>
              </a:rPr>
              <a:t>16</a:t>
            </a:r>
            <a:r>
              <a:rPr dirty="0" sz="2200" spc="-30">
                <a:solidFill>
                  <a:srgbClr val="006FC0"/>
                </a:solidFill>
                <a:latin typeface="黑体"/>
                <a:cs typeface="黑体"/>
              </a:rPr>
              <a:t>位，双字长</a:t>
            </a:r>
            <a:r>
              <a:rPr dirty="0" sz="2200" spc="-20">
                <a:solidFill>
                  <a:srgbClr val="006FC0"/>
                </a:solidFill>
                <a:latin typeface="Tahoma"/>
                <a:cs typeface="Tahoma"/>
              </a:rPr>
              <a:t>64</a:t>
            </a:r>
            <a:r>
              <a:rPr dirty="0" sz="2200" spc="-35">
                <a:solidFill>
                  <a:srgbClr val="006FC0"/>
                </a:solidFill>
                <a:latin typeface="黑体"/>
                <a:cs typeface="黑体"/>
              </a:rPr>
              <a:t>位。则按边界对齐方式的存储要求满足以下条件</a:t>
            </a:r>
            <a:endParaRPr sz="2200">
              <a:latin typeface="黑体"/>
              <a:cs typeface="黑体"/>
            </a:endParaRPr>
          </a:p>
          <a:p>
            <a:pPr lvl="1" marL="895985" indent="-359410">
              <a:lnSpc>
                <a:spcPct val="100000"/>
              </a:lnSpc>
              <a:spcBef>
                <a:spcPts val="1230"/>
              </a:spcBef>
              <a:buClr>
                <a:srgbClr val="4668F5"/>
              </a:buClr>
              <a:buSzPct val="72500"/>
              <a:buFont typeface="Wingdings"/>
              <a:buChar char=""/>
              <a:tabLst>
                <a:tab pos="895985" algn="l"/>
              </a:tabLst>
            </a:pPr>
            <a:r>
              <a:rPr dirty="0" sz="2000" spc="-20" b="1">
                <a:solidFill>
                  <a:srgbClr val="6F2F9F"/>
                </a:solidFill>
                <a:latin typeface="黑体"/>
                <a:cs typeface="黑体"/>
              </a:rPr>
              <a:t>半字信息的起始地址为：</a:t>
            </a:r>
            <a:r>
              <a:rPr dirty="0" sz="2000" spc="-20" b="1">
                <a:solidFill>
                  <a:srgbClr val="9933FF"/>
                </a:solidFill>
                <a:latin typeface="黑体"/>
                <a:cs typeface="黑体"/>
              </a:rPr>
              <a:t>×</a:t>
            </a:r>
            <a:r>
              <a:rPr dirty="0" sz="2000" spc="-20" b="1">
                <a:solidFill>
                  <a:srgbClr val="9933FF"/>
                </a:solidFill>
                <a:latin typeface="Times New Roman"/>
                <a:cs typeface="Times New Roman"/>
              </a:rPr>
              <a:t>…</a:t>
            </a:r>
            <a:r>
              <a:rPr dirty="0" sz="2000" spc="-120" b="1">
                <a:solidFill>
                  <a:srgbClr val="9933FF"/>
                </a:solidFill>
                <a:latin typeface="黑体"/>
                <a:cs typeface="黑体"/>
              </a:rPr>
              <a:t>×××０ </a:t>
            </a:r>
            <a:r>
              <a:rPr dirty="0" sz="2000">
                <a:solidFill>
                  <a:srgbClr val="4A4A4A"/>
                </a:solidFill>
                <a:latin typeface="黑体"/>
                <a:cs typeface="黑体"/>
              </a:rPr>
              <a:t>（</a:t>
            </a:r>
            <a:r>
              <a:rPr dirty="0" sz="2000">
                <a:solidFill>
                  <a:srgbClr val="4A4A4A"/>
                </a:solidFill>
                <a:latin typeface="Calibri"/>
                <a:cs typeface="Calibri"/>
              </a:rPr>
              <a:t>2</a:t>
            </a:r>
            <a:r>
              <a:rPr dirty="0" sz="2000" spc="-5">
                <a:solidFill>
                  <a:srgbClr val="4A4A4A"/>
                </a:solidFill>
                <a:latin typeface="黑体"/>
                <a:cs typeface="黑体"/>
              </a:rPr>
              <a:t>字节的整数倍</a:t>
            </a:r>
            <a:r>
              <a:rPr dirty="0" sz="2000" spc="-50">
                <a:solidFill>
                  <a:srgbClr val="4A4A4A"/>
                </a:solidFill>
                <a:latin typeface="黑体"/>
                <a:cs typeface="黑体"/>
              </a:rPr>
              <a:t>）</a:t>
            </a:r>
            <a:endParaRPr sz="2000">
              <a:latin typeface="黑体"/>
              <a:cs typeface="黑体"/>
            </a:endParaRPr>
          </a:p>
          <a:p>
            <a:pPr lvl="1">
              <a:lnSpc>
                <a:spcPct val="100000"/>
              </a:lnSpc>
              <a:spcBef>
                <a:spcPts val="1485"/>
              </a:spcBef>
              <a:buClr>
                <a:srgbClr val="4668F5"/>
              </a:buClr>
              <a:buFont typeface="Wingdings"/>
              <a:buChar char=""/>
            </a:pPr>
            <a:endParaRPr sz="2000">
              <a:latin typeface="黑体"/>
              <a:cs typeface="黑体"/>
            </a:endParaRPr>
          </a:p>
          <a:p>
            <a:pPr lvl="1" marL="896619" marR="5080" indent="-360045">
              <a:lnSpc>
                <a:spcPct val="130000"/>
              </a:lnSpc>
              <a:buClr>
                <a:srgbClr val="4668F5"/>
              </a:buClr>
              <a:buSzPct val="72500"/>
              <a:buFont typeface="Wingdings"/>
              <a:buChar char=""/>
              <a:tabLst>
                <a:tab pos="896619" algn="l"/>
              </a:tabLst>
            </a:pPr>
            <a:r>
              <a:rPr dirty="0" sz="2000" spc="-20" b="1">
                <a:solidFill>
                  <a:srgbClr val="FF0000"/>
                </a:solidFill>
                <a:latin typeface="黑体"/>
                <a:cs typeface="黑体"/>
              </a:rPr>
              <a:t>半字：两个字节</a:t>
            </a:r>
            <a:r>
              <a:rPr dirty="0" sz="2000" spc="-10" b="1">
                <a:solidFill>
                  <a:srgbClr val="008000"/>
                </a:solidFill>
                <a:latin typeface="黑体"/>
                <a:cs typeface="黑体"/>
              </a:rPr>
              <a:t>，</a:t>
            </a:r>
            <a:r>
              <a:rPr dirty="0" sz="2000" spc="-20" b="1">
                <a:solidFill>
                  <a:srgbClr val="6F2F9F"/>
                </a:solidFill>
                <a:latin typeface="黑体"/>
                <a:cs typeface="黑体"/>
              </a:rPr>
              <a:t>存储单元都是以字节为单位，那么要索引一个数据，</a:t>
            </a:r>
            <a:r>
              <a:rPr dirty="0" sz="2000" spc="-10" b="1">
                <a:solidFill>
                  <a:srgbClr val="6F2F9F"/>
                </a:solidFill>
                <a:latin typeface="黑体"/>
                <a:cs typeface="黑体"/>
              </a:rPr>
              <a:t>需要连续的</a:t>
            </a:r>
            <a:r>
              <a:rPr dirty="0" sz="2000" spc="-25" b="1">
                <a:solidFill>
                  <a:srgbClr val="6F2F9F"/>
                </a:solidFill>
                <a:latin typeface="黑体"/>
                <a:cs typeface="黑体"/>
              </a:rPr>
              <a:t>2</a:t>
            </a:r>
            <a:r>
              <a:rPr dirty="0" sz="2000" spc="-20" b="1">
                <a:solidFill>
                  <a:srgbClr val="6F2F9F"/>
                </a:solidFill>
                <a:latin typeface="黑体"/>
                <a:cs typeface="黑体"/>
              </a:rPr>
              <a:t>个字节才行，比如，</a:t>
            </a:r>
            <a:r>
              <a:rPr dirty="0" sz="2000" spc="-15" b="1">
                <a:solidFill>
                  <a:srgbClr val="6F2F9F"/>
                </a:solidFill>
                <a:latin typeface="黑体"/>
                <a:cs typeface="黑体"/>
              </a:rPr>
              <a:t>0x0000_0000~0x0000_0001</a:t>
            </a:r>
            <a:r>
              <a:rPr dirty="0" sz="2000" spc="-10" b="1">
                <a:solidFill>
                  <a:srgbClr val="6F2F9F"/>
                </a:solidFill>
                <a:latin typeface="黑体"/>
                <a:cs typeface="黑体"/>
              </a:rPr>
              <a:t>这</a:t>
            </a:r>
            <a:r>
              <a:rPr dirty="0" sz="2000" spc="-15" b="1">
                <a:solidFill>
                  <a:srgbClr val="6F2F9F"/>
                </a:solidFill>
                <a:latin typeface="黑体"/>
                <a:cs typeface="黑体"/>
              </a:rPr>
              <a:t>2</a:t>
            </a:r>
            <a:r>
              <a:rPr dirty="0" sz="2000" spc="-20" b="1">
                <a:solidFill>
                  <a:srgbClr val="6F2F9F"/>
                </a:solidFill>
                <a:latin typeface="黑体"/>
                <a:cs typeface="黑体"/>
              </a:rPr>
              <a:t>个单元存储一个数据，紧接着</a:t>
            </a:r>
            <a:r>
              <a:rPr dirty="0" sz="2000" spc="-15" b="1">
                <a:solidFill>
                  <a:srgbClr val="6F2F9F"/>
                </a:solidFill>
                <a:latin typeface="黑体"/>
                <a:cs typeface="黑体"/>
              </a:rPr>
              <a:t>0x0000_0002~0x0000_0003</a:t>
            </a:r>
            <a:r>
              <a:rPr dirty="0" sz="2000" spc="-10" b="1">
                <a:solidFill>
                  <a:srgbClr val="6F2F9F"/>
                </a:solidFill>
                <a:latin typeface="黑体"/>
                <a:cs typeface="黑体"/>
              </a:rPr>
              <a:t>这</a:t>
            </a:r>
            <a:r>
              <a:rPr dirty="0" sz="2000" spc="-15" b="1">
                <a:solidFill>
                  <a:srgbClr val="6F2F9F"/>
                </a:solidFill>
                <a:latin typeface="黑体"/>
                <a:cs typeface="黑体"/>
              </a:rPr>
              <a:t>2</a:t>
            </a:r>
            <a:r>
              <a:rPr dirty="0" sz="2000" spc="-20" b="1">
                <a:solidFill>
                  <a:srgbClr val="6F2F9F"/>
                </a:solidFill>
                <a:latin typeface="黑体"/>
                <a:cs typeface="黑体"/>
              </a:rPr>
              <a:t>个单元存储第二个数据，依此类推，每个数据的存储</a:t>
            </a:r>
            <a:r>
              <a:rPr dirty="0" sz="2000" spc="-20" b="1">
                <a:solidFill>
                  <a:srgbClr val="FF0000"/>
                </a:solidFill>
                <a:latin typeface="黑体"/>
                <a:cs typeface="黑体"/>
              </a:rPr>
              <a:t>起始地址</a:t>
            </a:r>
            <a:r>
              <a:rPr dirty="0" sz="2000" spc="-15" b="1">
                <a:solidFill>
                  <a:srgbClr val="6F2F9F"/>
                </a:solidFill>
                <a:latin typeface="黑体"/>
                <a:cs typeface="黑体"/>
              </a:rPr>
              <a:t>为：</a:t>
            </a:r>
            <a:r>
              <a:rPr dirty="0" sz="2000" spc="-10" b="1">
                <a:solidFill>
                  <a:srgbClr val="008000"/>
                </a:solidFill>
                <a:latin typeface="黑体"/>
                <a:cs typeface="黑体"/>
              </a:rPr>
              <a:t>0x0000_0000</a:t>
            </a:r>
            <a:endParaRPr sz="2000">
              <a:latin typeface="黑体"/>
              <a:cs typeface="黑体"/>
            </a:endParaRPr>
          </a:p>
        </p:txBody>
      </p:sp>
      <p:sp>
        <p:nvSpPr>
          <p:cNvPr id="10" name="object 10" descr=""/>
          <p:cNvSpPr txBox="1"/>
          <p:nvPr/>
        </p:nvSpPr>
        <p:spPr>
          <a:xfrm>
            <a:off x="3121532" y="4038701"/>
            <a:ext cx="1437005" cy="1397635"/>
          </a:xfrm>
          <a:prstGeom prst="rect">
            <a:avLst/>
          </a:prstGeom>
        </p:spPr>
        <p:txBody>
          <a:bodyPr wrap="square" lIns="0" tIns="165100" rIns="0" bIns="0" rtlCol="0" vert="horz">
            <a:spAutoFit/>
          </a:bodyPr>
          <a:lstStyle/>
          <a:p>
            <a:pPr marL="13970">
              <a:lnSpc>
                <a:spcPct val="100000"/>
              </a:lnSpc>
              <a:spcBef>
                <a:spcPts val="1300"/>
              </a:spcBef>
            </a:pPr>
            <a:r>
              <a:rPr dirty="0" sz="2000" spc="-10" b="1">
                <a:solidFill>
                  <a:srgbClr val="008000"/>
                </a:solidFill>
                <a:latin typeface="黑体"/>
                <a:cs typeface="黑体"/>
              </a:rPr>
              <a:t>0x0000_0002</a:t>
            </a:r>
            <a:endParaRPr sz="2000">
              <a:latin typeface="黑体"/>
              <a:cs typeface="黑体"/>
            </a:endParaRPr>
          </a:p>
          <a:p>
            <a:pPr marL="13970">
              <a:lnSpc>
                <a:spcPct val="100000"/>
              </a:lnSpc>
              <a:spcBef>
                <a:spcPts val="1200"/>
              </a:spcBef>
            </a:pPr>
            <a:r>
              <a:rPr dirty="0" sz="2000" spc="-10" b="1">
                <a:solidFill>
                  <a:srgbClr val="008000"/>
                </a:solidFill>
                <a:latin typeface="黑体"/>
                <a:cs typeface="黑体"/>
              </a:rPr>
              <a:t>0x0000_0004</a:t>
            </a:r>
            <a:endParaRPr sz="2000">
              <a:latin typeface="黑体"/>
              <a:cs typeface="黑体"/>
            </a:endParaRPr>
          </a:p>
          <a:p>
            <a:pPr marL="12700">
              <a:lnSpc>
                <a:spcPct val="100000"/>
              </a:lnSpc>
              <a:spcBef>
                <a:spcPts val="1200"/>
              </a:spcBef>
            </a:pPr>
            <a:r>
              <a:rPr dirty="0" sz="2000" spc="-25" b="1">
                <a:solidFill>
                  <a:srgbClr val="008000"/>
                </a:solidFill>
                <a:latin typeface="黑体"/>
                <a:cs typeface="黑体"/>
              </a:rPr>
              <a:t>……</a:t>
            </a:r>
            <a:endParaRPr sz="2000">
              <a:latin typeface="黑体"/>
              <a:cs typeface="黑体"/>
            </a:endParaRPr>
          </a:p>
        </p:txBody>
      </p:sp>
      <p:grpSp>
        <p:nvGrpSpPr>
          <p:cNvPr id="11" name="object 11" descr=""/>
          <p:cNvGrpSpPr/>
          <p:nvPr/>
        </p:nvGrpSpPr>
        <p:grpSpPr>
          <a:xfrm>
            <a:off x="6019863" y="2055812"/>
            <a:ext cx="368300" cy="514350"/>
            <a:chOff x="6019863" y="2055812"/>
            <a:chExt cx="368300" cy="514350"/>
          </a:xfrm>
        </p:grpSpPr>
        <p:sp>
          <p:nvSpPr>
            <p:cNvPr id="12" name="object 12" descr=""/>
            <p:cNvSpPr/>
            <p:nvPr/>
          </p:nvSpPr>
          <p:spPr>
            <a:xfrm>
              <a:off x="6024626" y="2060575"/>
              <a:ext cx="358775" cy="504825"/>
            </a:xfrm>
            <a:custGeom>
              <a:avLst/>
              <a:gdLst/>
              <a:ahLst/>
              <a:cxnLst/>
              <a:rect l="l" t="t" r="r" b="b"/>
              <a:pathLst>
                <a:path w="358775" h="504825">
                  <a:moveTo>
                    <a:pt x="268986" y="0"/>
                  </a:moveTo>
                  <a:lnTo>
                    <a:pt x="89662" y="0"/>
                  </a:lnTo>
                  <a:lnTo>
                    <a:pt x="89662" y="325374"/>
                  </a:lnTo>
                  <a:lnTo>
                    <a:pt x="0" y="325374"/>
                  </a:lnTo>
                  <a:lnTo>
                    <a:pt x="179324" y="504825"/>
                  </a:lnTo>
                  <a:lnTo>
                    <a:pt x="358775" y="325374"/>
                  </a:lnTo>
                  <a:lnTo>
                    <a:pt x="268986" y="325374"/>
                  </a:lnTo>
                  <a:lnTo>
                    <a:pt x="268986" y="0"/>
                  </a:lnTo>
                  <a:close/>
                </a:path>
              </a:pathLst>
            </a:custGeom>
            <a:solidFill>
              <a:srgbClr val="FFACFF"/>
            </a:solidFill>
          </p:spPr>
          <p:txBody>
            <a:bodyPr wrap="square" lIns="0" tIns="0" rIns="0" bIns="0" rtlCol="0"/>
            <a:lstStyle/>
            <a:p/>
          </p:txBody>
        </p:sp>
        <p:sp>
          <p:nvSpPr>
            <p:cNvPr id="13" name="object 13" descr=""/>
            <p:cNvSpPr/>
            <p:nvPr/>
          </p:nvSpPr>
          <p:spPr>
            <a:xfrm>
              <a:off x="6024626" y="2060575"/>
              <a:ext cx="358775" cy="504825"/>
            </a:xfrm>
            <a:custGeom>
              <a:avLst/>
              <a:gdLst/>
              <a:ahLst/>
              <a:cxnLst/>
              <a:rect l="l" t="t" r="r" b="b"/>
              <a:pathLst>
                <a:path w="358775" h="504825">
                  <a:moveTo>
                    <a:pt x="0" y="325374"/>
                  </a:moveTo>
                  <a:lnTo>
                    <a:pt x="89662" y="325374"/>
                  </a:lnTo>
                  <a:lnTo>
                    <a:pt x="89662" y="0"/>
                  </a:lnTo>
                  <a:lnTo>
                    <a:pt x="268986" y="0"/>
                  </a:lnTo>
                  <a:lnTo>
                    <a:pt x="268986" y="325374"/>
                  </a:lnTo>
                  <a:lnTo>
                    <a:pt x="358775" y="325374"/>
                  </a:lnTo>
                  <a:lnTo>
                    <a:pt x="179324" y="504825"/>
                  </a:lnTo>
                  <a:lnTo>
                    <a:pt x="0" y="325374"/>
                  </a:lnTo>
                  <a:close/>
                </a:path>
              </a:pathLst>
            </a:custGeom>
            <a:ln w="9525">
              <a:solidFill>
                <a:srgbClr val="40458B"/>
              </a:solidFill>
            </a:ln>
          </p:spPr>
          <p:txBody>
            <a:bodyPr wrap="square" lIns="0" tIns="0" rIns="0" bIns="0" rtlCol="0"/>
            <a:lstStyle/>
            <a:p/>
          </p:txBody>
        </p:sp>
      </p:grpSp>
      <p:sp>
        <p:nvSpPr>
          <p:cNvPr id="14" name="object 14" descr=""/>
          <p:cNvSpPr txBox="1"/>
          <p:nvPr/>
        </p:nvSpPr>
        <p:spPr>
          <a:xfrm>
            <a:off x="4483100" y="5666638"/>
            <a:ext cx="6033770" cy="635635"/>
          </a:xfrm>
          <a:prstGeom prst="rect">
            <a:avLst/>
          </a:prstGeom>
        </p:spPr>
        <p:txBody>
          <a:bodyPr wrap="square" lIns="0" tIns="12700" rIns="0" bIns="0" rtlCol="0" vert="horz">
            <a:spAutoFit/>
          </a:bodyPr>
          <a:lstStyle/>
          <a:p>
            <a:pPr marL="12700" marR="5080">
              <a:lnSpc>
                <a:spcPct val="100000"/>
              </a:lnSpc>
              <a:spcBef>
                <a:spcPts val="100"/>
              </a:spcBef>
            </a:pPr>
            <a:r>
              <a:rPr dirty="0" sz="2000" spc="-10" b="1">
                <a:solidFill>
                  <a:srgbClr val="C00000"/>
                </a:solidFill>
                <a:latin typeface="黑体"/>
                <a:cs typeface="黑体"/>
              </a:rPr>
              <a:t>结论：</a:t>
            </a:r>
            <a:r>
              <a:rPr dirty="0" sz="2000" spc="-20" b="1">
                <a:solidFill>
                  <a:srgbClr val="006FC0"/>
                </a:solidFill>
                <a:latin typeface="黑体"/>
                <a:cs typeface="黑体"/>
              </a:rPr>
              <a:t>起始地址最后一个二进制位都为“0</a:t>
            </a:r>
            <a:r>
              <a:rPr dirty="0" sz="2000" spc="-30" b="1">
                <a:solidFill>
                  <a:srgbClr val="006FC0"/>
                </a:solidFill>
                <a:latin typeface="黑体"/>
                <a:cs typeface="黑体"/>
              </a:rPr>
              <a:t>”，该地址</a:t>
            </a:r>
            <a:r>
              <a:rPr dirty="0" sz="2000" spc="-10" b="1">
                <a:solidFill>
                  <a:srgbClr val="006FC0"/>
                </a:solidFill>
                <a:latin typeface="黑体"/>
                <a:cs typeface="黑体"/>
              </a:rPr>
              <a:t>才是</a:t>
            </a:r>
            <a:r>
              <a:rPr dirty="0" sz="2000" spc="-15" b="1">
                <a:solidFill>
                  <a:srgbClr val="006FC0"/>
                </a:solidFill>
                <a:latin typeface="黑体"/>
                <a:cs typeface="黑体"/>
              </a:rPr>
              <a:t>2的幂次方，即2</a:t>
            </a:r>
            <a:r>
              <a:rPr dirty="0" sz="2000" spc="-25" b="1">
                <a:solidFill>
                  <a:srgbClr val="006FC0"/>
                </a:solidFill>
                <a:latin typeface="黑体"/>
                <a:cs typeface="黑体"/>
              </a:rPr>
              <a:t>的整数倍</a:t>
            </a:r>
            <a:endParaRPr sz="2000">
              <a:latin typeface="黑体"/>
              <a:cs typeface="黑体"/>
            </a:endParaRPr>
          </a:p>
        </p:txBody>
      </p:sp>
      <p:sp>
        <p:nvSpPr>
          <p:cNvPr id="15" name="object 15" descr=""/>
          <p:cNvSpPr txBox="1"/>
          <p:nvPr/>
        </p:nvSpPr>
        <p:spPr>
          <a:xfrm>
            <a:off x="5880353" y="4191380"/>
            <a:ext cx="3837304" cy="1054100"/>
          </a:xfrm>
          <a:prstGeom prst="rect">
            <a:avLst/>
          </a:prstGeom>
        </p:spPr>
        <p:txBody>
          <a:bodyPr wrap="square" lIns="0" tIns="12700" rIns="0" bIns="0" rtlCol="0" vert="horz">
            <a:spAutoFit/>
          </a:bodyPr>
          <a:lstStyle/>
          <a:p>
            <a:pPr marL="12700">
              <a:lnSpc>
                <a:spcPts val="2365"/>
              </a:lnSpc>
              <a:spcBef>
                <a:spcPts val="100"/>
              </a:spcBef>
            </a:pPr>
            <a:r>
              <a:rPr dirty="0" sz="2000" spc="-25" b="1">
                <a:solidFill>
                  <a:srgbClr val="C00000"/>
                </a:solidFill>
                <a:latin typeface="黑体"/>
                <a:cs typeface="黑体"/>
              </a:rPr>
              <a:t>对应二进制地址：</a:t>
            </a:r>
            <a:endParaRPr sz="2000">
              <a:latin typeface="黑体"/>
              <a:cs typeface="黑体"/>
            </a:endParaRPr>
          </a:p>
          <a:p>
            <a:pPr marL="12700">
              <a:lnSpc>
                <a:spcPts val="1885"/>
              </a:lnSpc>
            </a:pPr>
            <a:r>
              <a:rPr dirty="0" sz="1600">
                <a:solidFill>
                  <a:srgbClr val="008000"/>
                </a:solidFill>
                <a:latin typeface="Tahoma"/>
                <a:cs typeface="Tahoma"/>
              </a:rPr>
              <a:t>00000000</a:t>
            </a:r>
            <a:r>
              <a:rPr dirty="0" sz="1600" spc="-70">
                <a:solidFill>
                  <a:srgbClr val="008000"/>
                </a:solidFill>
                <a:latin typeface="Tahoma"/>
                <a:cs typeface="Tahoma"/>
              </a:rPr>
              <a:t> </a:t>
            </a:r>
            <a:r>
              <a:rPr dirty="0" sz="1600">
                <a:solidFill>
                  <a:srgbClr val="008000"/>
                </a:solidFill>
                <a:latin typeface="Tahoma"/>
                <a:cs typeface="Tahoma"/>
              </a:rPr>
              <a:t>00000000</a:t>
            </a:r>
            <a:r>
              <a:rPr dirty="0" sz="1600" spc="-55">
                <a:solidFill>
                  <a:srgbClr val="008000"/>
                </a:solidFill>
                <a:latin typeface="Tahoma"/>
                <a:cs typeface="Tahoma"/>
              </a:rPr>
              <a:t> </a:t>
            </a:r>
            <a:r>
              <a:rPr dirty="0" sz="1600">
                <a:solidFill>
                  <a:srgbClr val="008000"/>
                </a:solidFill>
                <a:latin typeface="Tahoma"/>
                <a:cs typeface="Tahoma"/>
              </a:rPr>
              <a:t>00000000</a:t>
            </a:r>
            <a:r>
              <a:rPr dirty="0" sz="1600" spc="395">
                <a:solidFill>
                  <a:srgbClr val="008000"/>
                </a:solidFill>
                <a:latin typeface="Tahoma"/>
                <a:cs typeface="Tahoma"/>
              </a:rPr>
              <a:t> </a:t>
            </a:r>
            <a:r>
              <a:rPr dirty="0" sz="1600" spc="-10">
                <a:solidFill>
                  <a:srgbClr val="008000"/>
                </a:solidFill>
                <a:latin typeface="Tahoma"/>
                <a:cs typeface="Tahoma"/>
              </a:rPr>
              <a:t>0000000</a:t>
            </a:r>
            <a:r>
              <a:rPr dirty="0" sz="1600" spc="-10">
                <a:solidFill>
                  <a:srgbClr val="FF09FF"/>
                </a:solidFill>
                <a:latin typeface="Tahoma"/>
                <a:cs typeface="Tahoma"/>
              </a:rPr>
              <a:t>0</a:t>
            </a:r>
            <a:endParaRPr sz="1600">
              <a:latin typeface="Tahoma"/>
              <a:cs typeface="Tahoma"/>
            </a:endParaRPr>
          </a:p>
          <a:p>
            <a:pPr marL="12700">
              <a:lnSpc>
                <a:spcPct val="100000"/>
              </a:lnSpc>
            </a:pPr>
            <a:r>
              <a:rPr dirty="0" sz="1600">
                <a:solidFill>
                  <a:srgbClr val="008000"/>
                </a:solidFill>
                <a:latin typeface="Tahoma"/>
                <a:cs typeface="Tahoma"/>
              </a:rPr>
              <a:t>00000000</a:t>
            </a:r>
            <a:r>
              <a:rPr dirty="0" sz="1600" spc="-70">
                <a:solidFill>
                  <a:srgbClr val="008000"/>
                </a:solidFill>
                <a:latin typeface="Tahoma"/>
                <a:cs typeface="Tahoma"/>
              </a:rPr>
              <a:t> </a:t>
            </a:r>
            <a:r>
              <a:rPr dirty="0" sz="1600">
                <a:solidFill>
                  <a:srgbClr val="008000"/>
                </a:solidFill>
                <a:latin typeface="Tahoma"/>
                <a:cs typeface="Tahoma"/>
              </a:rPr>
              <a:t>00000000</a:t>
            </a:r>
            <a:r>
              <a:rPr dirty="0" sz="1600" spc="-55">
                <a:solidFill>
                  <a:srgbClr val="008000"/>
                </a:solidFill>
                <a:latin typeface="Tahoma"/>
                <a:cs typeface="Tahoma"/>
              </a:rPr>
              <a:t> </a:t>
            </a:r>
            <a:r>
              <a:rPr dirty="0" sz="1600">
                <a:solidFill>
                  <a:srgbClr val="008000"/>
                </a:solidFill>
                <a:latin typeface="Tahoma"/>
                <a:cs typeface="Tahoma"/>
              </a:rPr>
              <a:t>00000000</a:t>
            </a:r>
            <a:r>
              <a:rPr dirty="0" sz="1600" spc="395">
                <a:solidFill>
                  <a:srgbClr val="008000"/>
                </a:solidFill>
                <a:latin typeface="Tahoma"/>
                <a:cs typeface="Tahoma"/>
              </a:rPr>
              <a:t> </a:t>
            </a:r>
            <a:r>
              <a:rPr dirty="0" sz="1600" spc="-10">
                <a:solidFill>
                  <a:srgbClr val="008000"/>
                </a:solidFill>
                <a:latin typeface="Tahoma"/>
                <a:cs typeface="Tahoma"/>
              </a:rPr>
              <a:t>0000001</a:t>
            </a:r>
            <a:r>
              <a:rPr dirty="0" sz="1600" spc="-10">
                <a:solidFill>
                  <a:srgbClr val="FF09FF"/>
                </a:solidFill>
                <a:latin typeface="Tahoma"/>
                <a:cs typeface="Tahoma"/>
              </a:rPr>
              <a:t>0</a:t>
            </a:r>
            <a:endParaRPr sz="1600">
              <a:latin typeface="Tahoma"/>
              <a:cs typeface="Tahoma"/>
            </a:endParaRPr>
          </a:p>
          <a:p>
            <a:pPr marL="12700">
              <a:lnSpc>
                <a:spcPct val="100000"/>
              </a:lnSpc>
            </a:pPr>
            <a:r>
              <a:rPr dirty="0" sz="1600">
                <a:solidFill>
                  <a:srgbClr val="008000"/>
                </a:solidFill>
                <a:latin typeface="Tahoma"/>
                <a:cs typeface="Tahoma"/>
              </a:rPr>
              <a:t>00000000</a:t>
            </a:r>
            <a:r>
              <a:rPr dirty="0" sz="1600" spc="-70">
                <a:solidFill>
                  <a:srgbClr val="008000"/>
                </a:solidFill>
                <a:latin typeface="Tahoma"/>
                <a:cs typeface="Tahoma"/>
              </a:rPr>
              <a:t> </a:t>
            </a:r>
            <a:r>
              <a:rPr dirty="0" sz="1600">
                <a:solidFill>
                  <a:srgbClr val="008000"/>
                </a:solidFill>
                <a:latin typeface="Tahoma"/>
                <a:cs typeface="Tahoma"/>
              </a:rPr>
              <a:t>00000000</a:t>
            </a:r>
            <a:r>
              <a:rPr dirty="0" sz="1600" spc="-55">
                <a:solidFill>
                  <a:srgbClr val="008000"/>
                </a:solidFill>
                <a:latin typeface="Tahoma"/>
                <a:cs typeface="Tahoma"/>
              </a:rPr>
              <a:t> </a:t>
            </a:r>
            <a:r>
              <a:rPr dirty="0" sz="1600">
                <a:solidFill>
                  <a:srgbClr val="008000"/>
                </a:solidFill>
                <a:latin typeface="Tahoma"/>
                <a:cs typeface="Tahoma"/>
              </a:rPr>
              <a:t>00000000</a:t>
            </a:r>
            <a:r>
              <a:rPr dirty="0" sz="1600" spc="390">
                <a:solidFill>
                  <a:srgbClr val="008000"/>
                </a:solidFill>
                <a:latin typeface="Tahoma"/>
                <a:cs typeface="Tahoma"/>
              </a:rPr>
              <a:t> </a:t>
            </a:r>
            <a:r>
              <a:rPr dirty="0" sz="1600" spc="-10">
                <a:solidFill>
                  <a:srgbClr val="008000"/>
                </a:solidFill>
                <a:latin typeface="Tahoma"/>
                <a:cs typeface="Tahoma"/>
              </a:rPr>
              <a:t>0000010</a:t>
            </a:r>
            <a:r>
              <a:rPr dirty="0" sz="1600" spc="-10">
                <a:solidFill>
                  <a:srgbClr val="FF09FF"/>
                </a:solidFill>
                <a:latin typeface="Tahoma"/>
                <a:cs typeface="Tahoma"/>
              </a:rPr>
              <a:t>0</a:t>
            </a:r>
            <a:endParaRPr sz="1600">
              <a:latin typeface="Tahoma"/>
              <a:cs typeface="Tahoma"/>
            </a:endParaRPr>
          </a:p>
        </p:txBody>
      </p:sp>
      <p:grpSp>
        <p:nvGrpSpPr>
          <p:cNvPr id="16" name="object 16" descr=""/>
          <p:cNvGrpSpPr/>
          <p:nvPr/>
        </p:nvGrpSpPr>
        <p:grpSpPr>
          <a:xfrm>
            <a:off x="5011737" y="4719637"/>
            <a:ext cx="513080" cy="370205"/>
            <a:chOff x="5011737" y="4719637"/>
            <a:chExt cx="513080" cy="370205"/>
          </a:xfrm>
        </p:grpSpPr>
        <p:sp>
          <p:nvSpPr>
            <p:cNvPr id="17" name="object 17" descr=""/>
            <p:cNvSpPr/>
            <p:nvPr/>
          </p:nvSpPr>
          <p:spPr>
            <a:xfrm>
              <a:off x="5016500" y="4724400"/>
              <a:ext cx="503555" cy="360680"/>
            </a:xfrm>
            <a:custGeom>
              <a:avLst/>
              <a:gdLst/>
              <a:ahLst/>
              <a:cxnLst/>
              <a:rect l="l" t="t" r="r" b="b"/>
              <a:pathLst>
                <a:path w="503554" h="360679">
                  <a:moveTo>
                    <a:pt x="323088" y="0"/>
                  </a:moveTo>
                  <a:lnTo>
                    <a:pt x="323088" y="90043"/>
                  </a:lnTo>
                  <a:lnTo>
                    <a:pt x="0" y="90043"/>
                  </a:lnTo>
                  <a:lnTo>
                    <a:pt x="0" y="270256"/>
                  </a:lnTo>
                  <a:lnTo>
                    <a:pt x="323088" y="270256"/>
                  </a:lnTo>
                  <a:lnTo>
                    <a:pt x="323088" y="360425"/>
                  </a:lnTo>
                  <a:lnTo>
                    <a:pt x="503300" y="180212"/>
                  </a:lnTo>
                  <a:lnTo>
                    <a:pt x="323088" y="0"/>
                  </a:lnTo>
                  <a:close/>
                </a:path>
              </a:pathLst>
            </a:custGeom>
            <a:solidFill>
              <a:srgbClr val="FFACFF"/>
            </a:solidFill>
          </p:spPr>
          <p:txBody>
            <a:bodyPr wrap="square" lIns="0" tIns="0" rIns="0" bIns="0" rtlCol="0"/>
            <a:lstStyle/>
            <a:p/>
          </p:txBody>
        </p:sp>
        <p:sp>
          <p:nvSpPr>
            <p:cNvPr id="18" name="object 18" descr=""/>
            <p:cNvSpPr/>
            <p:nvPr/>
          </p:nvSpPr>
          <p:spPr>
            <a:xfrm>
              <a:off x="5016500" y="4724400"/>
              <a:ext cx="503555" cy="360680"/>
            </a:xfrm>
            <a:custGeom>
              <a:avLst/>
              <a:gdLst/>
              <a:ahLst/>
              <a:cxnLst/>
              <a:rect l="l" t="t" r="r" b="b"/>
              <a:pathLst>
                <a:path w="503554" h="360679">
                  <a:moveTo>
                    <a:pt x="323088" y="360425"/>
                  </a:moveTo>
                  <a:lnTo>
                    <a:pt x="323088" y="270256"/>
                  </a:lnTo>
                  <a:lnTo>
                    <a:pt x="0" y="270256"/>
                  </a:lnTo>
                  <a:lnTo>
                    <a:pt x="0" y="90043"/>
                  </a:lnTo>
                  <a:lnTo>
                    <a:pt x="323088" y="90043"/>
                  </a:lnTo>
                  <a:lnTo>
                    <a:pt x="323088" y="0"/>
                  </a:lnTo>
                  <a:lnTo>
                    <a:pt x="503300" y="180212"/>
                  </a:lnTo>
                  <a:lnTo>
                    <a:pt x="323088" y="360425"/>
                  </a:lnTo>
                  <a:close/>
                </a:path>
              </a:pathLst>
            </a:custGeom>
            <a:ln w="9524">
              <a:solidFill>
                <a:srgbClr val="40458B"/>
              </a:solidFill>
            </a:ln>
          </p:spPr>
          <p:txBody>
            <a:bodyPr wrap="square" lIns="0" tIns="0" rIns="0" bIns="0" rtlCol="0"/>
            <a:lstStyle/>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534160" algn="l"/>
                <a:tab pos="11028045" algn="l"/>
              </a:tabLst>
            </a:pPr>
            <a:r>
              <a:rPr dirty="0">
                <a:solidFill>
                  <a:srgbClr val="4F55AC"/>
                </a:solidFill>
              </a:rPr>
              <a:t>	2.2</a:t>
            </a:r>
            <a:r>
              <a:rPr dirty="0" spc="-30">
                <a:solidFill>
                  <a:srgbClr val="4F55AC"/>
                </a:solidFill>
              </a:rPr>
              <a:t> </a:t>
            </a:r>
            <a:r>
              <a:rPr dirty="0">
                <a:solidFill>
                  <a:srgbClr val="4F55AC"/>
                </a:solidFill>
                <a:latin typeface="微软雅黑"/>
                <a:cs typeface="微软雅黑"/>
              </a:rPr>
              <a:t>寻址方</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4" name="object 4" descr=""/>
          <p:cNvSpPr txBox="1"/>
          <p:nvPr/>
        </p:nvSpPr>
        <p:spPr>
          <a:xfrm>
            <a:off x="4662296" y="6134811"/>
            <a:ext cx="2675890" cy="269240"/>
          </a:xfrm>
          <a:prstGeom prst="rect">
            <a:avLst/>
          </a:prstGeom>
        </p:spPr>
        <p:txBody>
          <a:bodyPr wrap="square" lIns="0" tIns="12065" rIns="0" bIns="0" rtlCol="0" vert="horz">
            <a:spAutoFit/>
          </a:bodyPr>
          <a:lstStyle/>
          <a:p>
            <a:pPr marL="12700">
              <a:lnSpc>
                <a:spcPct val="100000"/>
              </a:lnSpc>
              <a:spcBef>
                <a:spcPts val="95"/>
              </a:spcBef>
            </a:pPr>
            <a:r>
              <a:rPr dirty="0" sz="1600" spc="-145">
                <a:solidFill>
                  <a:srgbClr val="40458B"/>
                </a:solidFill>
                <a:latin typeface="黑体"/>
                <a:cs typeface="黑体"/>
              </a:rPr>
              <a:t>图 </a:t>
            </a:r>
            <a:r>
              <a:rPr dirty="0" sz="1600">
                <a:solidFill>
                  <a:srgbClr val="40458B"/>
                </a:solidFill>
                <a:latin typeface="Tahoma"/>
                <a:cs typeface="Tahoma"/>
              </a:rPr>
              <a:t>2.2</a:t>
            </a:r>
            <a:r>
              <a:rPr dirty="0" sz="1600" spc="35">
                <a:solidFill>
                  <a:srgbClr val="40458B"/>
                </a:solidFill>
                <a:latin typeface="Tahoma"/>
                <a:cs typeface="Tahoma"/>
              </a:rPr>
              <a:t> </a:t>
            </a:r>
            <a:r>
              <a:rPr dirty="0" sz="1600" spc="-35">
                <a:solidFill>
                  <a:srgbClr val="40458B"/>
                </a:solidFill>
                <a:latin typeface="黑体"/>
                <a:cs typeface="黑体"/>
              </a:rPr>
              <a:t>各种宽度的信息的存储</a:t>
            </a:r>
            <a:endParaRPr sz="1600">
              <a:latin typeface="黑体"/>
              <a:cs typeface="黑体"/>
            </a:endParaRPr>
          </a:p>
        </p:txBody>
      </p:sp>
      <p:sp>
        <p:nvSpPr>
          <p:cNvPr id="5" name="object 5" descr=""/>
          <p:cNvSpPr txBox="1"/>
          <p:nvPr/>
        </p:nvSpPr>
        <p:spPr>
          <a:xfrm>
            <a:off x="3838173" y="4457608"/>
            <a:ext cx="539750" cy="272415"/>
          </a:xfrm>
          <a:prstGeom prst="rect">
            <a:avLst/>
          </a:prstGeom>
        </p:spPr>
        <p:txBody>
          <a:bodyPr wrap="square" lIns="0" tIns="14604" rIns="0" bIns="0" rtlCol="0" vert="horz">
            <a:spAutoFit/>
          </a:bodyPr>
          <a:lstStyle/>
          <a:p>
            <a:pPr marL="12700">
              <a:lnSpc>
                <a:spcPct val="100000"/>
              </a:lnSpc>
              <a:spcBef>
                <a:spcPts val="114"/>
              </a:spcBef>
            </a:pPr>
            <a:r>
              <a:rPr dirty="0" sz="1600" spc="-25">
                <a:latin typeface="宋体"/>
                <a:cs typeface="宋体"/>
              </a:rPr>
              <a:t>（a）</a:t>
            </a:r>
            <a:endParaRPr sz="1600">
              <a:latin typeface="宋体"/>
              <a:cs typeface="宋体"/>
            </a:endParaRPr>
          </a:p>
        </p:txBody>
      </p:sp>
      <p:grpSp>
        <p:nvGrpSpPr>
          <p:cNvPr id="6" name="object 6" descr=""/>
          <p:cNvGrpSpPr/>
          <p:nvPr/>
        </p:nvGrpSpPr>
        <p:grpSpPr>
          <a:xfrm>
            <a:off x="2199123" y="2106055"/>
            <a:ext cx="1388110" cy="97155"/>
            <a:chOff x="2199123" y="2106055"/>
            <a:chExt cx="1388110" cy="97155"/>
          </a:xfrm>
        </p:grpSpPr>
        <p:sp>
          <p:nvSpPr>
            <p:cNvPr id="7" name="object 7" descr=""/>
            <p:cNvSpPr/>
            <p:nvPr/>
          </p:nvSpPr>
          <p:spPr>
            <a:xfrm>
              <a:off x="2201903" y="2108836"/>
              <a:ext cx="1382395" cy="92075"/>
            </a:xfrm>
            <a:custGeom>
              <a:avLst/>
              <a:gdLst/>
              <a:ahLst/>
              <a:cxnLst/>
              <a:rect l="l" t="t" r="r" b="b"/>
              <a:pathLst>
                <a:path w="1382395" h="92075">
                  <a:moveTo>
                    <a:pt x="134765" y="0"/>
                  </a:moveTo>
                  <a:lnTo>
                    <a:pt x="0" y="48230"/>
                  </a:lnTo>
                  <a:lnTo>
                    <a:pt x="134765" y="91526"/>
                  </a:lnTo>
                  <a:lnTo>
                    <a:pt x="102773" y="59223"/>
                  </a:lnTo>
                  <a:lnTo>
                    <a:pt x="86318" y="59223"/>
                  </a:lnTo>
                  <a:lnTo>
                    <a:pt x="80749" y="53839"/>
                  </a:lnTo>
                  <a:lnTo>
                    <a:pt x="80749" y="37687"/>
                  </a:lnTo>
                  <a:lnTo>
                    <a:pt x="101260" y="37687"/>
                  </a:lnTo>
                  <a:lnTo>
                    <a:pt x="134765" y="0"/>
                  </a:lnTo>
                  <a:close/>
                </a:path>
                <a:path w="1382395" h="92075">
                  <a:moveTo>
                    <a:pt x="101260" y="37687"/>
                  </a:moveTo>
                  <a:lnTo>
                    <a:pt x="80749" y="37687"/>
                  </a:lnTo>
                  <a:lnTo>
                    <a:pt x="80749" y="53839"/>
                  </a:lnTo>
                  <a:lnTo>
                    <a:pt x="86318" y="59223"/>
                  </a:lnTo>
                  <a:lnTo>
                    <a:pt x="102773" y="59223"/>
                  </a:lnTo>
                  <a:lnTo>
                    <a:pt x="91887" y="48230"/>
                  </a:lnTo>
                  <a:lnTo>
                    <a:pt x="101260" y="37687"/>
                  </a:lnTo>
                  <a:close/>
                </a:path>
                <a:path w="1382395" h="92075">
                  <a:moveTo>
                    <a:pt x="1376641" y="37687"/>
                  </a:moveTo>
                  <a:lnTo>
                    <a:pt x="101260" y="37687"/>
                  </a:lnTo>
                  <a:lnTo>
                    <a:pt x="91887" y="48230"/>
                  </a:lnTo>
                  <a:lnTo>
                    <a:pt x="102773" y="59223"/>
                  </a:lnTo>
                  <a:lnTo>
                    <a:pt x="1376641" y="59223"/>
                  </a:lnTo>
                  <a:lnTo>
                    <a:pt x="1376641" y="53839"/>
                  </a:lnTo>
                  <a:lnTo>
                    <a:pt x="1382217" y="53839"/>
                  </a:lnTo>
                  <a:lnTo>
                    <a:pt x="1382217" y="42622"/>
                  </a:lnTo>
                  <a:lnTo>
                    <a:pt x="1376641" y="37687"/>
                  </a:lnTo>
                  <a:close/>
                </a:path>
              </a:pathLst>
            </a:custGeom>
            <a:solidFill>
              <a:srgbClr val="000000"/>
            </a:solidFill>
          </p:spPr>
          <p:txBody>
            <a:bodyPr wrap="square" lIns="0" tIns="0" rIns="0" bIns="0" rtlCol="0"/>
            <a:lstStyle/>
            <a:p/>
          </p:txBody>
        </p:sp>
        <p:sp>
          <p:nvSpPr>
            <p:cNvPr id="8" name="object 8" descr=""/>
            <p:cNvSpPr/>
            <p:nvPr/>
          </p:nvSpPr>
          <p:spPr>
            <a:xfrm>
              <a:off x="2201903" y="2108836"/>
              <a:ext cx="1382395" cy="92075"/>
            </a:xfrm>
            <a:custGeom>
              <a:avLst/>
              <a:gdLst/>
              <a:ahLst/>
              <a:cxnLst/>
              <a:rect l="l" t="t" r="r" b="b"/>
              <a:pathLst>
                <a:path w="1382395" h="92075">
                  <a:moveTo>
                    <a:pt x="1371627" y="59223"/>
                  </a:moveTo>
                  <a:lnTo>
                    <a:pt x="91887" y="59223"/>
                  </a:lnTo>
                  <a:lnTo>
                    <a:pt x="86318" y="59223"/>
                  </a:lnTo>
                  <a:lnTo>
                    <a:pt x="80749" y="53839"/>
                  </a:lnTo>
                  <a:lnTo>
                    <a:pt x="80749" y="48230"/>
                  </a:lnTo>
                  <a:lnTo>
                    <a:pt x="80749" y="42622"/>
                  </a:lnTo>
                  <a:lnTo>
                    <a:pt x="80749" y="37687"/>
                  </a:lnTo>
                  <a:lnTo>
                    <a:pt x="86318" y="37687"/>
                  </a:lnTo>
                  <a:lnTo>
                    <a:pt x="91887" y="37687"/>
                  </a:lnTo>
                  <a:lnTo>
                    <a:pt x="1371627" y="37687"/>
                  </a:lnTo>
                  <a:lnTo>
                    <a:pt x="1376641" y="37687"/>
                  </a:lnTo>
                  <a:lnTo>
                    <a:pt x="1382216" y="42622"/>
                  </a:lnTo>
                  <a:lnTo>
                    <a:pt x="1382216" y="48230"/>
                  </a:lnTo>
                  <a:lnTo>
                    <a:pt x="1382216" y="53839"/>
                  </a:lnTo>
                  <a:lnTo>
                    <a:pt x="1376641" y="53839"/>
                  </a:lnTo>
                  <a:lnTo>
                    <a:pt x="1376641" y="59223"/>
                  </a:lnTo>
                  <a:lnTo>
                    <a:pt x="1371627" y="59223"/>
                  </a:lnTo>
                  <a:close/>
                </a:path>
                <a:path w="1382395" h="92075">
                  <a:moveTo>
                    <a:pt x="91887" y="48230"/>
                  </a:moveTo>
                  <a:lnTo>
                    <a:pt x="134765" y="91526"/>
                  </a:lnTo>
                  <a:lnTo>
                    <a:pt x="0" y="48230"/>
                  </a:lnTo>
                  <a:lnTo>
                    <a:pt x="134765" y="0"/>
                  </a:lnTo>
                  <a:lnTo>
                    <a:pt x="91887" y="48230"/>
                  </a:lnTo>
                  <a:close/>
                </a:path>
              </a:pathLst>
            </a:custGeom>
            <a:ln w="5562">
              <a:solidFill>
                <a:srgbClr val="000000"/>
              </a:solidFill>
            </a:ln>
          </p:spPr>
          <p:txBody>
            <a:bodyPr wrap="square" lIns="0" tIns="0" rIns="0" bIns="0" rtlCol="0"/>
            <a:lstStyle/>
            <a:p/>
          </p:txBody>
        </p:sp>
      </p:grpSp>
      <p:grpSp>
        <p:nvGrpSpPr>
          <p:cNvPr id="9" name="object 9" descr=""/>
          <p:cNvGrpSpPr/>
          <p:nvPr/>
        </p:nvGrpSpPr>
        <p:grpSpPr>
          <a:xfrm>
            <a:off x="4456217" y="2106055"/>
            <a:ext cx="1501775" cy="97155"/>
            <a:chOff x="4456217" y="2106055"/>
            <a:chExt cx="1501775" cy="97155"/>
          </a:xfrm>
        </p:grpSpPr>
        <p:sp>
          <p:nvSpPr>
            <p:cNvPr id="10" name="object 10" descr=""/>
            <p:cNvSpPr/>
            <p:nvPr/>
          </p:nvSpPr>
          <p:spPr>
            <a:xfrm>
              <a:off x="4458996" y="2108836"/>
              <a:ext cx="1496060" cy="92075"/>
            </a:xfrm>
            <a:custGeom>
              <a:avLst/>
              <a:gdLst/>
              <a:ahLst/>
              <a:cxnLst/>
              <a:rect l="l" t="t" r="r" b="b"/>
              <a:pathLst>
                <a:path w="1496060" h="92075">
                  <a:moveTo>
                    <a:pt x="1360402" y="0"/>
                  </a:moveTo>
                  <a:lnTo>
                    <a:pt x="1404018" y="48230"/>
                  </a:lnTo>
                  <a:lnTo>
                    <a:pt x="1360402" y="91526"/>
                  </a:lnTo>
                  <a:lnTo>
                    <a:pt x="1461384" y="59223"/>
                  </a:lnTo>
                  <a:lnTo>
                    <a:pt x="1409413" y="59223"/>
                  </a:lnTo>
                  <a:lnTo>
                    <a:pt x="1414584" y="53839"/>
                  </a:lnTo>
                  <a:lnTo>
                    <a:pt x="1414584" y="37687"/>
                  </a:lnTo>
                  <a:lnTo>
                    <a:pt x="1466159" y="37687"/>
                  </a:lnTo>
                  <a:lnTo>
                    <a:pt x="1360402" y="0"/>
                  </a:lnTo>
                  <a:close/>
                </a:path>
                <a:path w="1496060" h="92075">
                  <a:moveTo>
                    <a:pt x="1394483" y="37687"/>
                  </a:moveTo>
                  <a:lnTo>
                    <a:pt x="5620" y="37687"/>
                  </a:lnTo>
                  <a:lnTo>
                    <a:pt x="0" y="42622"/>
                  </a:lnTo>
                  <a:lnTo>
                    <a:pt x="0" y="53839"/>
                  </a:lnTo>
                  <a:lnTo>
                    <a:pt x="5620" y="53839"/>
                  </a:lnTo>
                  <a:lnTo>
                    <a:pt x="5620" y="59223"/>
                  </a:lnTo>
                  <a:lnTo>
                    <a:pt x="1392944" y="59223"/>
                  </a:lnTo>
                  <a:lnTo>
                    <a:pt x="1404018" y="48230"/>
                  </a:lnTo>
                  <a:lnTo>
                    <a:pt x="1394483" y="37687"/>
                  </a:lnTo>
                  <a:close/>
                </a:path>
                <a:path w="1496060" h="92075">
                  <a:moveTo>
                    <a:pt x="1466159" y="37687"/>
                  </a:moveTo>
                  <a:lnTo>
                    <a:pt x="1414584" y="37687"/>
                  </a:lnTo>
                  <a:lnTo>
                    <a:pt x="1414584" y="53839"/>
                  </a:lnTo>
                  <a:lnTo>
                    <a:pt x="1409413" y="59223"/>
                  </a:lnTo>
                  <a:lnTo>
                    <a:pt x="1461384" y="59223"/>
                  </a:lnTo>
                  <a:lnTo>
                    <a:pt x="1495745" y="48230"/>
                  </a:lnTo>
                  <a:lnTo>
                    <a:pt x="1466159" y="37687"/>
                  </a:lnTo>
                  <a:close/>
                </a:path>
              </a:pathLst>
            </a:custGeom>
            <a:solidFill>
              <a:srgbClr val="000000"/>
            </a:solidFill>
          </p:spPr>
          <p:txBody>
            <a:bodyPr wrap="square" lIns="0" tIns="0" rIns="0" bIns="0" rtlCol="0"/>
            <a:lstStyle/>
            <a:p/>
          </p:txBody>
        </p:sp>
        <p:sp>
          <p:nvSpPr>
            <p:cNvPr id="11" name="object 11" descr=""/>
            <p:cNvSpPr/>
            <p:nvPr/>
          </p:nvSpPr>
          <p:spPr>
            <a:xfrm>
              <a:off x="4458996" y="2108835"/>
              <a:ext cx="1496060" cy="92075"/>
            </a:xfrm>
            <a:custGeom>
              <a:avLst/>
              <a:gdLst/>
              <a:ahLst/>
              <a:cxnLst/>
              <a:rect l="l" t="t" r="r" b="b"/>
              <a:pathLst>
                <a:path w="1496060" h="92075">
                  <a:moveTo>
                    <a:pt x="10566" y="37687"/>
                  </a:moveTo>
                  <a:lnTo>
                    <a:pt x="1404018" y="37687"/>
                  </a:lnTo>
                  <a:lnTo>
                    <a:pt x="1409413" y="37687"/>
                  </a:lnTo>
                  <a:lnTo>
                    <a:pt x="1414584" y="37687"/>
                  </a:lnTo>
                  <a:lnTo>
                    <a:pt x="1414584" y="42622"/>
                  </a:lnTo>
                  <a:lnTo>
                    <a:pt x="1414584" y="48230"/>
                  </a:lnTo>
                  <a:lnTo>
                    <a:pt x="1414584" y="53839"/>
                  </a:lnTo>
                  <a:lnTo>
                    <a:pt x="1409413" y="59223"/>
                  </a:lnTo>
                  <a:lnTo>
                    <a:pt x="1404018" y="59223"/>
                  </a:lnTo>
                  <a:lnTo>
                    <a:pt x="10566" y="59223"/>
                  </a:lnTo>
                  <a:lnTo>
                    <a:pt x="5620" y="59223"/>
                  </a:lnTo>
                  <a:lnTo>
                    <a:pt x="5620" y="53839"/>
                  </a:lnTo>
                  <a:lnTo>
                    <a:pt x="0" y="53839"/>
                  </a:lnTo>
                  <a:lnTo>
                    <a:pt x="0" y="48230"/>
                  </a:lnTo>
                  <a:lnTo>
                    <a:pt x="0" y="42622"/>
                  </a:lnTo>
                  <a:lnTo>
                    <a:pt x="5620" y="37687"/>
                  </a:lnTo>
                  <a:lnTo>
                    <a:pt x="10566" y="37687"/>
                  </a:lnTo>
                  <a:close/>
                </a:path>
                <a:path w="1496060" h="92075">
                  <a:moveTo>
                    <a:pt x="1404018" y="48230"/>
                  </a:moveTo>
                  <a:lnTo>
                    <a:pt x="1360402" y="0"/>
                  </a:lnTo>
                  <a:lnTo>
                    <a:pt x="1495745" y="48230"/>
                  </a:lnTo>
                  <a:lnTo>
                    <a:pt x="1360402" y="91526"/>
                  </a:lnTo>
                  <a:lnTo>
                    <a:pt x="1404018" y="48230"/>
                  </a:lnTo>
                  <a:close/>
                </a:path>
              </a:pathLst>
            </a:custGeom>
            <a:ln w="5562">
              <a:solidFill>
                <a:srgbClr val="000000"/>
              </a:solidFill>
            </a:ln>
          </p:spPr>
          <p:txBody>
            <a:bodyPr wrap="square" lIns="0" tIns="0" rIns="0" bIns="0" rtlCol="0"/>
            <a:lstStyle/>
            <a:p/>
          </p:txBody>
        </p:sp>
      </p:grpSp>
      <p:graphicFrame>
        <p:nvGraphicFramePr>
          <p:cNvPr id="12" name="object 12" descr=""/>
          <p:cNvGraphicFramePr>
            <a:graphicFrameLocks noGrp="1"/>
          </p:cNvGraphicFramePr>
          <p:nvPr/>
        </p:nvGraphicFramePr>
        <p:xfrm>
          <a:off x="2190488" y="1935443"/>
          <a:ext cx="3872229" cy="2472690"/>
        </p:xfrm>
        <a:graphic>
          <a:graphicData uri="http://schemas.openxmlformats.org/drawingml/2006/table">
            <a:tbl>
              <a:tblPr firstRow="1" bandRow="1">
                <a:tableStyleId>{2D5ABB26-0587-4C30-8999-92F81FD0307C}</a:tableStyleId>
              </a:tblPr>
              <a:tblGrid>
                <a:gridCol w="474980"/>
                <a:gridCol w="469900"/>
                <a:gridCol w="474980"/>
                <a:gridCol w="1414780"/>
                <a:gridCol w="475615"/>
                <a:gridCol w="414654"/>
                <a:gridCol w="55879"/>
              </a:tblGrid>
              <a:tr h="382905">
                <a:tc gridSpan="7">
                  <a:txBody>
                    <a:bodyPr/>
                    <a:lstStyle/>
                    <a:p>
                      <a:pPr algn="ctr" marR="122555">
                        <a:lnSpc>
                          <a:spcPct val="100000"/>
                        </a:lnSpc>
                        <a:spcBef>
                          <a:spcPts val="480"/>
                        </a:spcBef>
                      </a:pPr>
                      <a:r>
                        <a:rPr dirty="0" sz="1600">
                          <a:latin typeface="宋体"/>
                          <a:cs typeface="宋体"/>
                        </a:rPr>
                        <a:t>8</a:t>
                      </a:r>
                      <a:r>
                        <a:rPr dirty="0" sz="1600" spc="-120">
                          <a:latin typeface="宋体"/>
                          <a:cs typeface="宋体"/>
                        </a:rPr>
                        <a:t> 个字节</a:t>
                      </a:r>
                      <a:endParaRPr sz="1600">
                        <a:latin typeface="宋体"/>
                        <a:cs typeface="宋体"/>
                      </a:endParaRPr>
                    </a:p>
                  </a:txBody>
                  <a:tcPr marL="0" marR="0" marB="0" marT="60960">
                    <a:lnL w="19050">
                      <a:solidFill>
                        <a:srgbClr val="000000"/>
                      </a:solidFill>
                      <a:prstDash val="solid"/>
                    </a:lnL>
                    <a:lnR w="19050">
                      <a:solidFill>
                        <a:srgbClr val="000000"/>
                      </a:solidFill>
                      <a:prstDash val="solid"/>
                    </a:lnR>
                    <a:lnB w="190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444500">
                <a:tc gridSpan="4">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57150">
                      <a:solidFill>
                        <a:srgbClr val="FF0000"/>
                      </a:solidFill>
                      <a:prstDash val="lgDash"/>
                    </a:lnB>
                    <a:solidFill>
                      <a:srgbClr val="CCFFCC"/>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gridSpan="3">
                  <a:txBody>
                    <a:bodyPr/>
                    <a:lstStyle/>
                    <a:p>
                      <a:pPr marL="280670">
                        <a:lnSpc>
                          <a:spcPct val="100000"/>
                        </a:lnSpc>
                        <a:spcBef>
                          <a:spcPts val="860"/>
                        </a:spcBef>
                      </a:pPr>
                      <a:r>
                        <a:rPr dirty="0" sz="1600" spc="-25">
                          <a:latin typeface="宋体"/>
                          <a:cs typeface="宋体"/>
                        </a:rPr>
                        <a:t>半字</a:t>
                      </a:r>
                      <a:endParaRPr sz="1600">
                        <a:latin typeface="宋体"/>
                        <a:cs typeface="宋体"/>
                      </a:endParaRPr>
                    </a:p>
                  </a:txBody>
                  <a:tcPr marL="0" marR="0" marB="0" marT="109220">
                    <a:lnL w="19050">
                      <a:solidFill>
                        <a:srgbClr val="000000"/>
                      </a:solidFill>
                      <a:prstDash val="solid"/>
                    </a:lnL>
                    <a:lnR w="19050">
                      <a:solidFill>
                        <a:srgbClr val="000000"/>
                      </a:solidFill>
                      <a:prstDash val="solid"/>
                    </a:lnR>
                    <a:lnT w="19050">
                      <a:solidFill>
                        <a:srgbClr val="000000"/>
                      </a:solidFill>
                      <a:prstDash val="solid"/>
                    </a:lnT>
                    <a:lnB w="57150">
                      <a:solidFill>
                        <a:srgbClr val="FF0000"/>
                      </a:solidFill>
                      <a:prstDash val="lgDash"/>
                    </a:lnB>
                    <a:solidFill>
                      <a:srgbClr val="FFCC00"/>
                    </a:solidFill>
                  </a:tcPr>
                </a:tc>
                <a:tc hMerge="1">
                  <a:txBody>
                    <a:bodyPr/>
                    <a:lstStyle/>
                    <a:p>
                      <a:pPr/>
                    </a:p>
                  </a:txBody>
                  <a:tcPr marL="0" marR="0" marB="0" marT="0"/>
                </a:tc>
                <a:tc hMerge="1">
                  <a:txBody>
                    <a:bodyPr/>
                    <a:lstStyle/>
                    <a:p>
                      <a:pPr/>
                    </a:p>
                  </a:txBody>
                  <a:tcPr marL="0" marR="0" marB="0" marT="0"/>
                </a:tc>
              </a:tr>
              <a:tr h="390525">
                <a:tc>
                  <a:txBody>
                    <a:bodyPr/>
                    <a:lstStyle/>
                    <a:p>
                      <a:pPr marL="48260">
                        <a:lnSpc>
                          <a:spcPct val="100000"/>
                        </a:lnSpc>
                        <a:spcBef>
                          <a:spcPts val="670"/>
                        </a:spcBef>
                      </a:pPr>
                      <a:r>
                        <a:rPr dirty="0" sz="1600" spc="-25">
                          <a:latin typeface="宋体"/>
                          <a:cs typeface="宋体"/>
                        </a:rPr>
                        <a:t>字节</a:t>
                      </a:r>
                      <a:endParaRPr sz="1600">
                        <a:latin typeface="宋体"/>
                        <a:cs typeface="宋体"/>
                      </a:endParaRPr>
                    </a:p>
                  </a:txBody>
                  <a:tcPr marL="0" marR="0" marB="0" marT="8509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00"/>
                    </a:solidFill>
                  </a:tcPr>
                </a:tc>
                <a:tc>
                  <a:txBody>
                    <a:bodyPr/>
                    <a:lstStyle/>
                    <a:p>
                      <a:pPr marL="37465">
                        <a:lnSpc>
                          <a:spcPct val="100000"/>
                        </a:lnSpc>
                        <a:spcBef>
                          <a:spcPts val="755"/>
                        </a:spcBef>
                      </a:pPr>
                      <a:r>
                        <a:rPr dirty="0" sz="1600" spc="-25">
                          <a:latin typeface="宋体"/>
                          <a:cs typeface="宋体"/>
                        </a:rPr>
                        <a:t>字节</a:t>
                      </a:r>
                      <a:endParaRPr sz="1600">
                        <a:latin typeface="宋体"/>
                        <a:cs typeface="宋体"/>
                      </a:endParaRPr>
                    </a:p>
                  </a:txBody>
                  <a:tcPr marL="0" marR="0" marB="0" marT="95885">
                    <a:lnL w="19050">
                      <a:solidFill>
                        <a:srgbClr val="000000"/>
                      </a:solidFill>
                      <a:prstDash val="solid"/>
                    </a:lnL>
                    <a:lnR w="19050">
                      <a:solidFill>
                        <a:srgbClr val="FF0000"/>
                      </a:solidFill>
                      <a:prstDash val="lgDash"/>
                    </a:lnR>
                    <a:lnT w="57150">
                      <a:solidFill>
                        <a:srgbClr val="000000"/>
                      </a:solidFill>
                      <a:prstDash val="solid"/>
                    </a:lnT>
                    <a:lnB w="19050">
                      <a:solidFill>
                        <a:srgbClr val="000000"/>
                      </a:solidFill>
                      <a:prstDash val="solid"/>
                    </a:lnB>
                    <a:solidFill>
                      <a:srgbClr val="FFCC00"/>
                    </a:solidFill>
                  </a:tcPr>
                </a:tc>
                <a:tc gridSpan="4">
                  <a:txBody>
                    <a:bodyPr/>
                    <a:lstStyle/>
                    <a:p>
                      <a:pPr marL="681355">
                        <a:lnSpc>
                          <a:spcPts val="2525"/>
                        </a:lnSpc>
                        <a:spcBef>
                          <a:spcPts val="450"/>
                        </a:spcBef>
                      </a:pPr>
                      <a:r>
                        <a:rPr dirty="0" sz="2600" spc="-30">
                          <a:solidFill>
                            <a:srgbClr val="40458B"/>
                          </a:solidFill>
                          <a:latin typeface="Tahoma"/>
                          <a:cs typeface="Tahoma"/>
                        </a:rPr>
                        <a:t>6</a:t>
                      </a:r>
                      <a:r>
                        <a:rPr dirty="0" sz="2600" spc="-1180">
                          <a:solidFill>
                            <a:srgbClr val="40458B"/>
                          </a:solidFill>
                          <a:latin typeface="黑体"/>
                          <a:cs typeface="黑体"/>
                        </a:rPr>
                        <a:t>个字</a:t>
                      </a:r>
                      <a:r>
                        <a:rPr dirty="0" baseline="27777" sz="2400" spc="-644">
                          <a:latin typeface="宋体"/>
                          <a:cs typeface="宋体"/>
                        </a:rPr>
                        <a:t>双字</a:t>
                      </a:r>
                      <a:r>
                        <a:rPr dirty="0" sz="2600" spc="-50">
                          <a:solidFill>
                            <a:srgbClr val="40458B"/>
                          </a:solidFill>
                          <a:latin typeface="黑体"/>
                          <a:cs typeface="黑体"/>
                        </a:rPr>
                        <a:t>节</a:t>
                      </a:r>
                      <a:endParaRPr sz="2600">
                        <a:latin typeface="黑体"/>
                        <a:cs typeface="黑体"/>
                      </a:endParaRPr>
                    </a:p>
                  </a:txBody>
                  <a:tcPr marL="0" marR="0" marB="0" marT="57150">
                    <a:lnL w="19050">
                      <a:solidFill>
                        <a:srgbClr val="FF0000"/>
                      </a:solidFill>
                      <a:prstDash val="lgDash"/>
                    </a:lnL>
                    <a:lnR w="57150">
                      <a:solidFill>
                        <a:srgbClr val="FF0000"/>
                      </a:solidFill>
                      <a:prstDash val="lgDash"/>
                    </a:lnR>
                    <a:lnT w="57150">
                      <a:solidFill>
                        <a:srgbClr val="FF0000"/>
                      </a:solidFill>
                      <a:prstDash val="lgDash"/>
                    </a:lnT>
                    <a:lnB w="19050">
                      <a:solidFill>
                        <a:srgbClr val="000000"/>
                      </a:solidFill>
                      <a:prstDash val="solid"/>
                    </a:lnB>
                    <a:solidFill>
                      <a:srgbClr val="FFCC00"/>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a:txBody>
                    <a:bodyPr/>
                    <a:lstStyle/>
                    <a:p>
                      <a:pPr>
                        <a:lnSpc>
                          <a:spcPct val="100000"/>
                        </a:lnSpc>
                      </a:pPr>
                      <a:endParaRPr sz="1900">
                        <a:latin typeface="Times New Roman"/>
                        <a:cs typeface="Times New Roman"/>
                      </a:endParaRPr>
                    </a:p>
                  </a:txBody>
                  <a:tcPr marL="0" marR="0" marB="0" marT="0">
                    <a:lnL w="57150">
                      <a:solidFill>
                        <a:srgbClr val="FF0000"/>
                      </a:solidFill>
                      <a:prstDash val="lgDash"/>
                    </a:lnL>
                    <a:lnR w="19050">
                      <a:solidFill>
                        <a:srgbClr val="000000"/>
                      </a:solidFill>
                      <a:prstDash val="solid"/>
                    </a:lnR>
                    <a:lnT w="57150">
                      <a:solidFill>
                        <a:srgbClr val="000000"/>
                      </a:solidFill>
                      <a:prstDash val="solid"/>
                    </a:lnT>
                    <a:lnB w="19050">
                      <a:solidFill>
                        <a:srgbClr val="000000"/>
                      </a:solidFill>
                      <a:prstDash val="solid"/>
                    </a:lnB>
                    <a:solidFill>
                      <a:srgbClr val="FFCC00"/>
                    </a:solidFill>
                  </a:tcPr>
                </a:tc>
              </a:tr>
              <a:tr h="92710">
                <a:tc gridSpan="2">
                  <a:txBody>
                    <a:bodyPr/>
                    <a:lstStyle/>
                    <a:p>
                      <a:pPr>
                        <a:lnSpc>
                          <a:spcPct val="100000"/>
                        </a:lnSpc>
                      </a:pPr>
                      <a:endParaRPr sz="400">
                        <a:latin typeface="Times New Roman"/>
                        <a:cs typeface="Times New Roman"/>
                      </a:endParaRPr>
                    </a:p>
                  </a:txBody>
                  <a:tcPr marL="0" marR="0" marB="0" marT="0">
                    <a:lnL w="19050">
                      <a:solidFill>
                        <a:srgbClr val="000000"/>
                      </a:solidFill>
                      <a:prstDash val="solid"/>
                    </a:lnL>
                    <a:lnR w="19050">
                      <a:solidFill>
                        <a:srgbClr val="FF0000"/>
                      </a:solidFill>
                      <a:prstDash val="lgDash"/>
                    </a:lnR>
                    <a:lnT w="19050">
                      <a:solidFill>
                        <a:srgbClr val="000000"/>
                      </a:solidFill>
                      <a:prstDash val="solid"/>
                    </a:lnT>
                    <a:lnB w="57150">
                      <a:solidFill>
                        <a:srgbClr val="FF0000"/>
                      </a:solidFill>
                      <a:prstDash val="lgDash"/>
                    </a:lnB>
                    <a:solidFill>
                      <a:srgbClr val="FFCC00"/>
                    </a:solidFill>
                  </a:tcPr>
                </a:tc>
                <a:tc hMerge="1">
                  <a:txBody>
                    <a:bodyPr/>
                    <a:lstStyle/>
                    <a:p>
                      <a:pPr/>
                    </a:p>
                  </a:txBody>
                  <a:tcPr marL="0" marR="0" marB="0" marT="0"/>
                </a:tc>
                <a:tc>
                  <a:txBody>
                    <a:bodyPr/>
                    <a:lstStyle/>
                    <a:p>
                      <a:pPr>
                        <a:lnSpc>
                          <a:spcPct val="100000"/>
                        </a:lnSpc>
                      </a:pPr>
                      <a:endParaRPr sz="400">
                        <a:latin typeface="Times New Roman"/>
                        <a:cs typeface="Times New Roman"/>
                      </a:endParaRPr>
                    </a:p>
                  </a:txBody>
                  <a:tcPr marL="0" marR="0" marB="0" marT="0">
                    <a:lnL w="19050">
                      <a:solidFill>
                        <a:srgbClr val="FF0000"/>
                      </a:solidFill>
                      <a:prstDash val="lgDash"/>
                    </a:lnL>
                    <a:lnR w="19050">
                      <a:solidFill>
                        <a:srgbClr val="000000"/>
                      </a:solidFill>
                      <a:prstDash val="solid"/>
                    </a:lnR>
                    <a:lnT w="19050">
                      <a:solidFill>
                        <a:srgbClr val="000000"/>
                      </a:solidFill>
                      <a:prstDash val="solid"/>
                    </a:lnT>
                    <a:lnB w="57150">
                      <a:solidFill>
                        <a:srgbClr val="FF0000"/>
                      </a:solidFill>
                      <a:prstDash val="lgDash"/>
                    </a:lnB>
                    <a:solidFill>
                      <a:srgbClr val="FFCC00"/>
                    </a:solidFill>
                  </a:tcPr>
                </a:tc>
                <a:tc gridSpan="2">
                  <a:txBody>
                    <a:bodyPr/>
                    <a:lstStyle/>
                    <a:p>
                      <a:pPr>
                        <a:lnSpc>
                          <a:spcPct val="100000"/>
                        </a:lnSpc>
                      </a:pPr>
                      <a:endParaRPr sz="4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57150">
                      <a:solidFill>
                        <a:srgbClr val="FF0000"/>
                      </a:solidFill>
                      <a:prstDash val="lgDash"/>
                    </a:lnB>
                    <a:solidFill>
                      <a:srgbClr val="FFCC00"/>
                    </a:solidFill>
                  </a:tcPr>
                </a:tc>
                <a:tc hMerge="1">
                  <a:txBody>
                    <a:bodyPr/>
                    <a:lstStyle/>
                    <a:p>
                      <a:pPr/>
                    </a:p>
                  </a:txBody>
                  <a:tcPr marL="0" marR="0" marB="0" marT="0"/>
                </a:tc>
                <a:tc>
                  <a:txBody>
                    <a:bodyPr/>
                    <a:lstStyle/>
                    <a:p>
                      <a:pPr>
                        <a:lnSpc>
                          <a:spcPct val="100000"/>
                        </a:lnSpc>
                      </a:pPr>
                      <a:endParaRPr sz="400">
                        <a:latin typeface="Times New Roman"/>
                        <a:cs typeface="Times New Roman"/>
                      </a:endParaRPr>
                    </a:p>
                  </a:txBody>
                  <a:tcPr marL="0" marR="0" marB="0" marT="0">
                    <a:lnL w="19050">
                      <a:solidFill>
                        <a:srgbClr val="000000"/>
                      </a:solidFill>
                      <a:prstDash val="solid"/>
                    </a:lnL>
                    <a:lnR w="57150">
                      <a:solidFill>
                        <a:srgbClr val="FF0000"/>
                      </a:solidFill>
                      <a:prstDash val="lgDash"/>
                    </a:lnR>
                    <a:lnT w="19050">
                      <a:solidFill>
                        <a:srgbClr val="000000"/>
                      </a:solidFill>
                      <a:prstDash val="solid"/>
                    </a:lnT>
                    <a:lnB w="57150">
                      <a:solidFill>
                        <a:srgbClr val="FF0000"/>
                      </a:solidFill>
                      <a:prstDash val="lgDash"/>
                    </a:lnB>
                    <a:solidFill>
                      <a:srgbClr val="FFCC00"/>
                    </a:solidFill>
                  </a:tcPr>
                </a:tc>
                <a:tc>
                  <a:txBody>
                    <a:bodyPr/>
                    <a:lstStyle/>
                    <a:p>
                      <a:pPr>
                        <a:lnSpc>
                          <a:spcPct val="100000"/>
                        </a:lnSpc>
                      </a:pPr>
                      <a:endParaRPr sz="400">
                        <a:latin typeface="Times New Roman"/>
                        <a:cs typeface="Times New Roman"/>
                      </a:endParaRPr>
                    </a:p>
                  </a:txBody>
                  <a:tcPr marL="0" marR="0" marB="0" marT="0">
                    <a:lnL w="57150">
                      <a:solidFill>
                        <a:srgbClr val="FF0000"/>
                      </a:solidFill>
                      <a:prstDash val="lgDash"/>
                    </a:lnL>
                    <a:lnR w="19050">
                      <a:solidFill>
                        <a:srgbClr val="000000"/>
                      </a:solidFill>
                      <a:prstDash val="solid"/>
                    </a:lnR>
                    <a:lnT w="19050">
                      <a:solidFill>
                        <a:srgbClr val="000000"/>
                      </a:solidFill>
                      <a:prstDash val="solid"/>
                    </a:lnT>
                    <a:solidFill>
                      <a:srgbClr val="FFCC00"/>
                    </a:solidFill>
                  </a:tcPr>
                </a:tc>
              </a:tr>
              <a:tr h="327660">
                <a:tc gridSpan="2">
                  <a:txBody>
                    <a:bodyPr/>
                    <a:lstStyle/>
                    <a:p>
                      <a:pPr marL="64769">
                        <a:lnSpc>
                          <a:spcPts val="2135"/>
                        </a:lnSpc>
                        <a:spcBef>
                          <a:spcPts val="345"/>
                        </a:spcBef>
                      </a:pPr>
                      <a:r>
                        <a:rPr dirty="0" sz="2600" spc="-30">
                          <a:solidFill>
                            <a:srgbClr val="40458B"/>
                          </a:solidFill>
                          <a:latin typeface="Tahoma"/>
                          <a:cs typeface="Tahoma"/>
                        </a:rPr>
                        <a:t>2</a:t>
                      </a:r>
                      <a:r>
                        <a:rPr dirty="0" sz="2600" spc="-2325">
                          <a:solidFill>
                            <a:srgbClr val="40458B"/>
                          </a:solidFill>
                          <a:latin typeface="黑体"/>
                          <a:cs typeface="黑体"/>
                        </a:rPr>
                        <a:t>个</a:t>
                      </a:r>
                      <a:r>
                        <a:rPr dirty="0" baseline="41666" sz="2400" spc="-667">
                          <a:latin typeface="宋体"/>
                          <a:cs typeface="宋体"/>
                        </a:rPr>
                        <a:t>双字</a:t>
                      </a:r>
                      <a:r>
                        <a:rPr dirty="0" sz="2600" spc="-50">
                          <a:solidFill>
                            <a:srgbClr val="40458B"/>
                          </a:solidFill>
                          <a:latin typeface="黑体"/>
                          <a:cs typeface="黑体"/>
                        </a:rPr>
                        <a:t>字</a:t>
                      </a:r>
                      <a:endParaRPr sz="2600">
                        <a:latin typeface="黑体"/>
                        <a:cs typeface="黑体"/>
                      </a:endParaRPr>
                    </a:p>
                  </a:txBody>
                  <a:tcPr marL="0" marR="0" marB="0" marT="43815">
                    <a:lnL w="19050">
                      <a:solidFill>
                        <a:srgbClr val="FF0000"/>
                      </a:solidFill>
                      <a:prstDash val="lgDash"/>
                    </a:lnL>
                    <a:lnR w="19050">
                      <a:solidFill>
                        <a:srgbClr val="FF0000"/>
                      </a:solidFill>
                      <a:prstDash val="lgDash"/>
                    </a:lnR>
                    <a:lnT w="57150">
                      <a:solidFill>
                        <a:srgbClr val="FF0000"/>
                      </a:solidFill>
                      <a:prstDash val="lgDash"/>
                    </a:lnT>
                    <a:lnB w="19050">
                      <a:solidFill>
                        <a:srgbClr val="FF0000"/>
                      </a:solidFill>
                      <a:prstDash val="lgDash"/>
                    </a:lnB>
                    <a:solidFill>
                      <a:srgbClr val="FFCC00"/>
                    </a:solidFill>
                  </a:tcPr>
                </a:tc>
                <a:tc hMerge="1">
                  <a:txBody>
                    <a:bodyPr/>
                    <a:lstStyle/>
                    <a:p>
                      <a:pPr/>
                    </a:p>
                  </a:txBody>
                  <a:tcPr marL="0" marR="0" marB="0" marT="0"/>
                </a:tc>
                <a:tc>
                  <a:txBody>
                    <a:bodyPr/>
                    <a:lstStyle/>
                    <a:p>
                      <a:pPr>
                        <a:lnSpc>
                          <a:spcPts val="2250"/>
                        </a:lnSpc>
                      </a:pPr>
                      <a:r>
                        <a:rPr dirty="0" baseline="-25641" sz="3900" spc="-2985">
                          <a:solidFill>
                            <a:srgbClr val="40458B"/>
                          </a:solidFill>
                          <a:latin typeface="黑体"/>
                          <a:cs typeface="黑体"/>
                        </a:rPr>
                        <a:t>节</a:t>
                      </a:r>
                      <a:r>
                        <a:rPr dirty="0" sz="1600" spc="-25">
                          <a:latin typeface="宋体"/>
                          <a:cs typeface="宋体"/>
                        </a:rPr>
                        <a:t>字节</a:t>
                      </a:r>
                      <a:endParaRPr sz="1600">
                        <a:latin typeface="宋体"/>
                        <a:cs typeface="宋体"/>
                      </a:endParaRPr>
                    </a:p>
                  </a:txBody>
                  <a:tcPr marL="0" marR="0" marB="0" marT="0">
                    <a:lnL w="19050">
                      <a:solidFill>
                        <a:srgbClr val="FF0000"/>
                      </a:solidFill>
                      <a:prstDash val="lgDash"/>
                    </a:lnL>
                    <a:lnR w="19050">
                      <a:solidFill>
                        <a:srgbClr val="000000"/>
                      </a:solidFill>
                      <a:prstDash val="solid"/>
                    </a:lnR>
                    <a:lnT w="57150">
                      <a:solidFill>
                        <a:srgbClr val="FF0000"/>
                      </a:solidFill>
                      <a:prstDash val="lgDash"/>
                    </a:lnT>
                    <a:lnB w="19050">
                      <a:solidFill>
                        <a:srgbClr val="000000"/>
                      </a:solidFill>
                      <a:prstDash val="solid"/>
                    </a:lnB>
                    <a:solidFill>
                      <a:srgbClr val="FFCC00"/>
                    </a:solidFill>
                  </a:tcPr>
                </a:tc>
                <a:tc gridSpan="2">
                  <a:txBody>
                    <a:bodyPr/>
                    <a:lstStyle/>
                    <a:p>
                      <a:pPr algn="ctr" marL="20955">
                        <a:lnSpc>
                          <a:spcPct val="100000"/>
                        </a:lnSpc>
                        <a:spcBef>
                          <a:spcPts val="130"/>
                        </a:spcBef>
                      </a:pPr>
                      <a:r>
                        <a:rPr dirty="0" sz="1600" spc="-25">
                          <a:latin typeface="宋体"/>
                          <a:cs typeface="宋体"/>
                        </a:rPr>
                        <a:t>单字</a:t>
                      </a:r>
                      <a:endParaRPr sz="1600">
                        <a:latin typeface="宋体"/>
                        <a:cs typeface="宋体"/>
                      </a:endParaRPr>
                    </a:p>
                  </a:txBody>
                  <a:tcPr marL="0" marR="0" marB="0" marT="16510">
                    <a:lnL w="19050">
                      <a:solidFill>
                        <a:srgbClr val="000000"/>
                      </a:solidFill>
                      <a:prstDash val="solid"/>
                    </a:lnL>
                    <a:lnR w="19050">
                      <a:solidFill>
                        <a:srgbClr val="000000"/>
                      </a:solidFill>
                      <a:prstDash val="solid"/>
                    </a:lnR>
                    <a:lnT w="57150">
                      <a:solidFill>
                        <a:srgbClr val="FF0000"/>
                      </a:solidFill>
                      <a:prstDash val="lgDash"/>
                    </a:lnT>
                    <a:lnB w="19050">
                      <a:solidFill>
                        <a:srgbClr val="000000"/>
                      </a:solidFill>
                      <a:prstDash val="solid"/>
                    </a:lnB>
                    <a:solidFill>
                      <a:srgbClr val="FFCC00"/>
                    </a:solidFill>
                  </a:tcPr>
                </a:tc>
                <a:tc hMerge="1">
                  <a:txBody>
                    <a:bodyPr/>
                    <a:lstStyle/>
                    <a:p>
                      <a:pPr/>
                    </a:p>
                  </a:txBody>
                  <a:tcPr marL="0" marR="0" marB="0" marT="0"/>
                </a:tc>
                <a:tc gridSpan="2">
                  <a:txBody>
                    <a:bodyPr/>
                    <a:lstStyle/>
                    <a:p>
                      <a:pPr marL="42545">
                        <a:lnSpc>
                          <a:spcPct val="100000"/>
                        </a:lnSpc>
                        <a:spcBef>
                          <a:spcPts val="130"/>
                        </a:spcBef>
                      </a:pPr>
                      <a:r>
                        <a:rPr dirty="0" sz="1600" spc="-25">
                          <a:latin typeface="宋体"/>
                          <a:cs typeface="宋体"/>
                        </a:rPr>
                        <a:t>单字</a:t>
                      </a:r>
                      <a:endParaRPr sz="1600">
                        <a:latin typeface="宋体"/>
                        <a:cs typeface="宋体"/>
                      </a:endParaRPr>
                    </a:p>
                  </a:txBody>
                  <a:tcPr marL="0" marR="0" marB="0" marT="16510">
                    <a:lnL w="19050">
                      <a:solidFill>
                        <a:srgbClr val="000000"/>
                      </a:solidFill>
                      <a:prstDash val="solid"/>
                    </a:lnL>
                    <a:lnR w="19050">
                      <a:solidFill>
                        <a:srgbClr val="000000"/>
                      </a:solidFill>
                      <a:prstDash val="solid"/>
                    </a:lnR>
                    <a:lnT w="57150">
                      <a:solidFill>
                        <a:srgbClr val="FF0000"/>
                      </a:solidFill>
                      <a:prstDash val="lgDash"/>
                    </a:lnT>
                    <a:lnB w="19050">
                      <a:solidFill>
                        <a:srgbClr val="000000"/>
                      </a:solidFill>
                      <a:prstDash val="solid"/>
                    </a:lnB>
                    <a:solidFill>
                      <a:srgbClr val="FFCC00"/>
                    </a:solidFill>
                  </a:tcPr>
                </a:tc>
                <a:tc hMerge="1">
                  <a:txBody>
                    <a:bodyPr/>
                    <a:lstStyle/>
                    <a:p>
                      <a:pPr/>
                    </a:p>
                  </a:txBody>
                  <a:tcPr marL="0" marR="0" marB="0" marT="0"/>
                </a:tc>
              </a:tr>
              <a:tr h="414020">
                <a:tc gridSpan="3">
                  <a:txBody>
                    <a:bodyPr/>
                    <a:lstStyle/>
                    <a:p>
                      <a:pPr marL="544830">
                        <a:lnSpc>
                          <a:spcPct val="100000"/>
                        </a:lnSpc>
                        <a:spcBef>
                          <a:spcPts val="855"/>
                        </a:spcBef>
                      </a:pPr>
                      <a:r>
                        <a:rPr dirty="0" sz="1600" spc="-25">
                          <a:latin typeface="宋体"/>
                          <a:cs typeface="宋体"/>
                        </a:rPr>
                        <a:t>单字</a:t>
                      </a:r>
                      <a:endParaRPr sz="1600">
                        <a:latin typeface="宋体"/>
                        <a:cs typeface="宋体"/>
                      </a:endParaRPr>
                    </a:p>
                  </a:txBody>
                  <a:tcPr marL="0" marR="0" marB="0" marT="108585">
                    <a:lnL w="19050">
                      <a:solidFill>
                        <a:srgbClr val="000000"/>
                      </a:solidFill>
                      <a:prstDash val="solid"/>
                    </a:lnL>
                    <a:lnR w="19050">
                      <a:solidFill>
                        <a:srgbClr val="000000"/>
                      </a:solidFill>
                      <a:prstDash val="solid"/>
                    </a:lnR>
                    <a:lnT w="19050">
                      <a:solidFill>
                        <a:srgbClr val="FF0000"/>
                      </a:solidFill>
                      <a:prstDash val="lgDash"/>
                    </a:lnT>
                    <a:lnB w="19050">
                      <a:solidFill>
                        <a:srgbClr val="000000"/>
                      </a:solidFill>
                      <a:prstDash val="solid"/>
                    </a:lnB>
                    <a:solidFill>
                      <a:srgbClr val="FFCC00"/>
                    </a:solidFill>
                  </a:tcPr>
                </a:tc>
                <a:tc hMerge="1">
                  <a:txBody>
                    <a:bodyPr/>
                    <a:lstStyle/>
                    <a:p>
                      <a:pPr/>
                    </a:p>
                  </a:txBody>
                  <a:tcPr marL="0" marR="0" marB="0" marT="0"/>
                </a:tc>
                <a:tc hMerge="1">
                  <a:txBody>
                    <a:bodyPr/>
                    <a:lstStyle/>
                    <a:p>
                      <a:pPr/>
                    </a:p>
                  </a:txBody>
                  <a:tcPr marL="0" marR="0" marB="0" marT="0"/>
                </a:tc>
                <a:tc gridSpan="4">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420370">
                <a:tc gridSpan="7">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bl>
          </a:graphicData>
        </a:graphic>
      </p:graphicFrame>
      <p:sp>
        <p:nvSpPr>
          <p:cNvPr id="13" name="object 13" descr=""/>
          <p:cNvSpPr txBox="1"/>
          <p:nvPr/>
        </p:nvSpPr>
        <p:spPr>
          <a:xfrm>
            <a:off x="8184649" y="4457608"/>
            <a:ext cx="539750" cy="272415"/>
          </a:xfrm>
          <a:prstGeom prst="rect">
            <a:avLst/>
          </a:prstGeom>
        </p:spPr>
        <p:txBody>
          <a:bodyPr wrap="square" lIns="0" tIns="14604" rIns="0" bIns="0" rtlCol="0" vert="horz">
            <a:spAutoFit/>
          </a:bodyPr>
          <a:lstStyle/>
          <a:p>
            <a:pPr marL="12700">
              <a:lnSpc>
                <a:spcPct val="100000"/>
              </a:lnSpc>
              <a:spcBef>
                <a:spcPts val="114"/>
              </a:spcBef>
            </a:pPr>
            <a:r>
              <a:rPr dirty="0" sz="1600" spc="-25">
                <a:latin typeface="宋体"/>
                <a:cs typeface="宋体"/>
              </a:rPr>
              <a:t>（b）</a:t>
            </a:r>
            <a:endParaRPr sz="1600">
              <a:latin typeface="宋体"/>
              <a:cs typeface="宋体"/>
            </a:endParaRPr>
          </a:p>
        </p:txBody>
      </p:sp>
      <p:grpSp>
        <p:nvGrpSpPr>
          <p:cNvPr id="14" name="object 14" descr=""/>
          <p:cNvGrpSpPr/>
          <p:nvPr/>
        </p:nvGrpSpPr>
        <p:grpSpPr>
          <a:xfrm>
            <a:off x="6545718" y="2106055"/>
            <a:ext cx="1458595" cy="97155"/>
            <a:chOff x="6545718" y="2106055"/>
            <a:chExt cx="1458595" cy="97155"/>
          </a:xfrm>
        </p:grpSpPr>
        <p:sp>
          <p:nvSpPr>
            <p:cNvPr id="15" name="object 15" descr=""/>
            <p:cNvSpPr/>
            <p:nvPr/>
          </p:nvSpPr>
          <p:spPr>
            <a:xfrm>
              <a:off x="6548498" y="2108836"/>
              <a:ext cx="1452880" cy="92075"/>
            </a:xfrm>
            <a:custGeom>
              <a:avLst/>
              <a:gdLst/>
              <a:ahLst/>
              <a:cxnLst/>
              <a:rect l="l" t="t" r="r" b="b"/>
              <a:pathLst>
                <a:path w="1452879" h="92075">
                  <a:moveTo>
                    <a:pt x="135343" y="0"/>
                  </a:moveTo>
                  <a:lnTo>
                    <a:pt x="0" y="48230"/>
                  </a:lnTo>
                  <a:lnTo>
                    <a:pt x="135343" y="91526"/>
                  </a:lnTo>
                  <a:lnTo>
                    <a:pt x="102968" y="59223"/>
                  </a:lnTo>
                  <a:lnTo>
                    <a:pt x="86781" y="59223"/>
                  </a:lnTo>
                  <a:lnTo>
                    <a:pt x="81161" y="53839"/>
                  </a:lnTo>
                  <a:lnTo>
                    <a:pt x="81161" y="37687"/>
                  </a:lnTo>
                  <a:lnTo>
                    <a:pt x="101437" y="37687"/>
                  </a:lnTo>
                  <a:lnTo>
                    <a:pt x="135343" y="0"/>
                  </a:lnTo>
                  <a:close/>
                </a:path>
                <a:path w="1452879" h="92075">
                  <a:moveTo>
                    <a:pt x="101437" y="37687"/>
                  </a:moveTo>
                  <a:lnTo>
                    <a:pt x="81161" y="37687"/>
                  </a:lnTo>
                  <a:lnTo>
                    <a:pt x="81161" y="53839"/>
                  </a:lnTo>
                  <a:lnTo>
                    <a:pt x="86781" y="59223"/>
                  </a:lnTo>
                  <a:lnTo>
                    <a:pt x="102968" y="59223"/>
                  </a:lnTo>
                  <a:lnTo>
                    <a:pt x="91952" y="48230"/>
                  </a:lnTo>
                  <a:lnTo>
                    <a:pt x="101437" y="37687"/>
                  </a:lnTo>
                  <a:close/>
                </a:path>
                <a:path w="1452879" h="92075">
                  <a:moveTo>
                    <a:pt x="1447408" y="37687"/>
                  </a:moveTo>
                  <a:lnTo>
                    <a:pt x="101437" y="37687"/>
                  </a:lnTo>
                  <a:lnTo>
                    <a:pt x="91952" y="48230"/>
                  </a:lnTo>
                  <a:lnTo>
                    <a:pt x="102968" y="59223"/>
                  </a:lnTo>
                  <a:lnTo>
                    <a:pt x="1447408" y="59223"/>
                  </a:lnTo>
                  <a:lnTo>
                    <a:pt x="1447408" y="53839"/>
                  </a:lnTo>
                  <a:lnTo>
                    <a:pt x="1452804" y="53839"/>
                  </a:lnTo>
                  <a:lnTo>
                    <a:pt x="1452804" y="42622"/>
                  </a:lnTo>
                  <a:lnTo>
                    <a:pt x="1447408" y="37687"/>
                  </a:lnTo>
                  <a:close/>
                </a:path>
              </a:pathLst>
            </a:custGeom>
            <a:solidFill>
              <a:srgbClr val="000000"/>
            </a:solidFill>
          </p:spPr>
          <p:txBody>
            <a:bodyPr wrap="square" lIns="0" tIns="0" rIns="0" bIns="0" rtlCol="0"/>
            <a:lstStyle/>
            <a:p/>
          </p:txBody>
        </p:sp>
        <p:sp>
          <p:nvSpPr>
            <p:cNvPr id="16" name="object 16" descr=""/>
            <p:cNvSpPr/>
            <p:nvPr/>
          </p:nvSpPr>
          <p:spPr>
            <a:xfrm>
              <a:off x="6548498" y="2108835"/>
              <a:ext cx="1452880" cy="92075"/>
            </a:xfrm>
            <a:custGeom>
              <a:avLst/>
              <a:gdLst/>
              <a:ahLst/>
              <a:cxnLst/>
              <a:rect l="l" t="t" r="r" b="b"/>
              <a:pathLst>
                <a:path w="1452879" h="92075">
                  <a:moveTo>
                    <a:pt x="1441788" y="59223"/>
                  </a:moveTo>
                  <a:lnTo>
                    <a:pt x="91952" y="59223"/>
                  </a:lnTo>
                  <a:lnTo>
                    <a:pt x="86781" y="59223"/>
                  </a:lnTo>
                  <a:lnTo>
                    <a:pt x="81161" y="53839"/>
                  </a:lnTo>
                  <a:lnTo>
                    <a:pt x="81161" y="48230"/>
                  </a:lnTo>
                  <a:lnTo>
                    <a:pt x="81161" y="42622"/>
                  </a:lnTo>
                  <a:lnTo>
                    <a:pt x="81161" y="37687"/>
                  </a:lnTo>
                  <a:lnTo>
                    <a:pt x="86781" y="37687"/>
                  </a:lnTo>
                  <a:lnTo>
                    <a:pt x="91952" y="37687"/>
                  </a:lnTo>
                  <a:lnTo>
                    <a:pt x="1441788" y="37687"/>
                  </a:lnTo>
                  <a:lnTo>
                    <a:pt x="1447408" y="37687"/>
                  </a:lnTo>
                  <a:lnTo>
                    <a:pt x="1452804" y="42622"/>
                  </a:lnTo>
                  <a:lnTo>
                    <a:pt x="1452804" y="48230"/>
                  </a:lnTo>
                  <a:lnTo>
                    <a:pt x="1452804" y="53839"/>
                  </a:lnTo>
                  <a:lnTo>
                    <a:pt x="1447408" y="53839"/>
                  </a:lnTo>
                  <a:lnTo>
                    <a:pt x="1447408" y="59223"/>
                  </a:lnTo>
                  <a:lnTo>
                    <a:pt x="1441788" y="59223"/>
                  </a:lnTo>
                  <a:close/>
                </a:path>
                <a:path w="1452879" h="92075">
                  <a:moveTo>
                    <a:pt x="91952" y="48230"/>
                  </a:moveTo>
                  <a:lnTo>
                    <a:pt x="135343" y="91526"/>
                  </a:lnTo>
                  <a:lnTo>
                    <a:pt x="0" y="48230"/>
                  </a:lnTo>
                  <a:lnTo>
                    <a:pt x="135343" y="0"/>
                  </a:lnTo>
                  <a:lnTo>
                    <a:pt x="91952" y="48230"/>
                  </a:lnTo>
                  <a:close/>
                </a:path>
              </a:pathLst>
            </a:custGeom>
            <a:ln w="5562">
              <a:solidFill>
                <a:srgbClr val="000000"/>
              </a:solidFill>
            </a:ln>
          </p:spPr>
          <p:txBody>
            <a:bodyPr wrap="square" lIns="0" tIns="0" rIns="0" bIns="0" rtlCol="0"/>
            <a:lstStyle/>
            <a:p/>
          </p:txBody>
        </p:sp>
      </p:grpSp>
      <p:grpSp>
        <p:nvGrpSpPr>
          <p:cNvPr id="17" name="object 17" descr=""/>
          <p:cNvGrpSpPr/>
          <p:nvPr/>
        </p:nvGrpSpPr>
        <p:grpSpPr>
          <a:xfrm>
            <a:off x="8867914" y="2106055"/>
            <a:ext cx="1436370" cy="97155"/>
            <a:chOff x="8867914" y="2106055"/>
            <a:chExt cx="1436370" cy="97155"/>
          </a:xfrm>
        </p:grpSpPr>
        <p:sp>
          <p:nvSpPr>
            <p:cNvPr id="18" name="object 18" descr=""/>
            <p:cNvSpPr/>
            <p:nvPr/>
          </p:nvSpPr>
          <p:spPr>
            <a:xfrm>
              <a:off x="8870693" y="2108836"/>
              <a:ext cx="1431290" cy="92075"/>
            </a:xfrm>
            <a:custGeom>
              <a:avLst/>
              <a:gdLst/>
              <a:ahLst/>
              <a:cxnLst/>
              <a:rect l="l" t="t" r="r" b="b"/>
              <a:pathLst>
                <a:path w="1431290" h="92075">
                  <a:moveTo>
                    <a:pt x="1295878" y="0"/>
                  </a:moveTo>
                  <a:lnTo>
                    <a:pt x="1338819" y="48230"/>
                  </a:lnTo>
                  <a:lnTo>
                    <a:pt x="1295878" y="91526"/>
                  </a:lnTo>
                  <a:lnTo>
                    <a:pt x="1396524" y="59223"/>
                  </a:lnTo>
                  <a:lnTo>
                    <a:pt x="1344440" y="59223"/>
                  </a:lnTo>
                  <a:lnTo>
                    <a:pt x="1349835" y="53839"/>
                  </a:lnTo>
                  <a:lnTo>
                    <a:pt x="1349835" y="37687"/>
                  </a:lnTo>
                  <a:lnTo>
                    <a:pt x="1401283" y="37687"/>
                  </a:lnTo>
                  <a:lnTo>
                    <a:pt x="1295878" y="0"/>
                  </a:lnTo>
                  <a:close/>
                </a:path>
                <a:path w="1431290" h="92075">
                  <a:moveTo>
                    <a:pt x="1329432" y="37687"/>
                  </a:moveTo>
                  <a:lnTo>
                    <a:pt x="4946" y="37687"/>
                  </a:lnTo>
                  <a:lnTo>
                    <a:pt x="4946" y="42622"/>
                  </a:lnTo>
                  <a:lnTo>
                    <a:pt x="0" y="48230"/>
                  </a:lnTo>
                  <a:lnTo>
                    <a:pt x="4946" y="53839"/>
                  </a:lnTo>
                  <a:lnTo>
                    <a:pt x="10566" y="59223"/>
                  </a:lnTo>
                  <a:lnTo>
                    <a:pt x="1327917" y="59223"/>
                  </a:lnTo>
                  <a:lnTo>
                    <a:pt x="1338819" y="48230"/>
                  </a:lnTo>
                  <a:lnTo>
                    <a:pt x="1329432" y="37687"/>
                  </a:lnTo>
                  <a:close/>
                </a:path>
                <a:path w="1431290" h="92075">
                  <a:moveTo>
                    <a:pt x="1401283" y="37687"/>
                  </a:moveTo>
                  <a:lnTo>
                    <a:pt x="1349835" y="37687"/>
                  </a:lnTo>
                  <a:lnTo>
                    <a:pt x="1349835" y="53839"/>
                  </a:lnTo>
                  <a:lnTo>
                    <a:pt x="1344440" y="59223"/>
                  </a:lnTo>
                  <a:lnTo>
                    <a:pt x="1396524" y="59223"/>
                  </a:lnTo>
                  <a:lnTo>
                    <a:pt x="1430772" y="48230"/>
                  </a:lnTo>
                  <a:lnTo>
                    <a:pt x="1401283" y="37687"/>
                  </a:lnTo>
                  <a:close/>
                </a:path>
              </a:pathLst>
            </a:custGeom>
            <a:solidFill>
              <a:srgbClr val="000000"/>
            </a:solidFill>
          </p:spPr>
          <p:txBody>
            <a:bodyPr wrap="square" lIns="0" tIns="0" rIns="0" bIns="0" rtlCol="0"/>
            <a:lstStyle/>
            <a:p/>
          </p:txBody>
        </p:sp>
        <p:sp>
          <p:nvSpPr>
            <p:cNvPr id="19" name="object 19" descr=""/>
            <p:cNvSpPr/>
            <p:nvPr/>
          </p:nvSpPr>
          <p:spPr>
            <a:xfrm>
              <a:off x="8870692" y="2108836"/>
              <a:ext cx="1431290" cy="92075"/>
            </a:xfrm>
            <a:custGeom>
              <a:avLst/>
              <a:gdLst/>
              <a:ahLst/>
              <a:cxnLst/>
              <a:rect l="l" t="t" r="r" b="b"/>
              <a:pathLst>
                <a:path w="1431290" h="92075">
                  <a:moveTo>
                    <a:pt x="16187" y="37687"/>
                  </a:moveTo>
                  <a:lnTo>
                    <a:pt x="1338819" y="37687"/>
                  </a:lnTo>
                  <a:lnTo>
                    <a:pt x="1344440" y="37687"/>
                  </a:lnTo>
                  <a:lnTo>
                    <a:pt x="1349835" y="37687"/>
                  </a:lnTo>
                  <a:lnTo>
                    <a:pt x="1349835" y="42622"/>
                  </a:lnTo>
                  <a:lnTo>
                    <a:pt x="1349835" y="48230"/>
                  </a:lnTo>
                  <a:lnTo>
                    <a:pt x="1349835" y="53839"/>
                  </a:lnTo>
                  <a:lnTo>
                    <a:pt x="1344440" y="59223"/>
                  </a:lnTo>
                  <a:lnTo>
                    <a:pt x="1338819" y="59223"/>
                  </a:lnTo>
                  <a:lnTo>
                    <a:pt x="16187" y="59223"/>
                  </a:lnTo>
                  <a:lnTo>
                    <a:pt x="10566" y="59223"/>
                  </a:lnTo>
                  <a:lnTo>
                    <a:pt x="4946" y="53839"/>
                  </a:lnTo>
                  <a:lnTo>
                    <a:pt x="0" y="48230"/>
                  </a:lnTo>
                  <a:lnTo>
                    <a:pt x="4946" y="42622"/>
                  </a:lnTo>
                  <a:lnTo>
                    <a:pt x="4946" y="37687"/>
                  </a:lnTo>
                  <a:lnTo>
                    <a:pt x="10566" y="37687"/>
                  </a:lnTo>
                  <a:lnTo>
                    <a:pt x="16187" y="37687"/>
                  </a:lnTo>
                  <a:close/>
                </a:path>
                <a:path w="1431290" h="92075">
                  <a:moveTo>
                    <a:pt x="1338819" y="48230"/>
                  </a:moveTo>
                  <a:lnTo>
                    <a:pt x="1295878" y="0"/>
                  </a:lnTo>
                  <a:lnTo>
                    <a:pt x="1430771" y="48230"/>
                  </a:lnTo>
                  <a:lnTo>
                    <a:pt x="1295878" y="91526"/>
                  </a:lnTo>
                  <a:lnTo>
                    <a:pt x="1338819" y="48230"/>
                  </a:lnTo>
                  <a:close/>
                </a:path>
              </a:pathLst>
            </a:custGeom>
            <a:ln w="5562">
              <a:solidFill>
                <a:srgbClr val="000000"/>
              </a:solidFill>
            </a:ln>
          </p:spPr>
          <p:txBody>
            <a:bodyPr wrap="square" lIns="0" tIns="0" rIns="0" bIns="0" rtlCol="0"/>
            <a:lstStyle/>
            <a:p/>
          </p:txBody>
        </p:sp>
      </p:grpSp>
      <p:graphicFrame>
        <p:nvGraphicFramePr>
          <p:cNvPr id="20" name="object 20" descr=""/>
          <p:cNvGraphicFramePr>
            <a:graphicFrameLocks noGrp="1"/>
          </p:cNvGraphicFramePr>
          <p:nvPr/>
        </p:nvGraphicFramePr>
        <p:xfrm>
          <a:off x="6537051" y="1935443"/>
          <a:ext cx="3872865" cy="2472054"/>
        </p:xfrm>
        <a:graphic>
          <a:graphicData uri="http://schemas.openxmlformats.org/drawingml/2006/table">
            <a:tbl>
              <a:tblPr firstRow="1" bandRow="1">
                <a:tableStyleId>{2D5ABB26-0587-4C30-8999-92F81FD0307C}</a:tableStyleId>
              </a:tblPr>
              <a:tblGrid>
                <a:gridCol w="475615"/>
                <a:gridCol w="469265"/>
                <a:gridCol w="944880"/>
                <a:gridCol w="948689"/>
                <a:gridCol w="940435"/>
              </a:tblGrid>
              <a:tr h="382905">
                <a:tc gridSpan="5">
                  <a:txBody>
                    <a:bodyPr/>
                    <a:lstStyle/>
                    <a:p>
                      <a:pPr algn="ctr" marL="53340">
                        <a:lnSpc>
                          <a:spcPct val="100000"/>
                        </a:lnSpc>
                        <a:spcBef>
                          <a:spcPts val="480"/>
                        </a:spcBef>
                      </a:pPr>
                      <a:r>
                        <a:rPr dirty="0" sz="1600">
                          <a:latin typeface="宋体"/>
                          <a:cs typeface="宋体"/>
                        </a:rPr>
                        <a:t>8</a:t>
                      </a:r>
                      <a:r>
                        <a:rPr dirty="0" sz="1600" spc="-114">
                          <a:latin typeface="宋体"/>
                          <a:cs typeface="宋体"/>
                        </a:rPr>
                        <a:t> 个字节</a:t>
                      </a:r>
                      <a:endParaRPr sz="1600">
                        <a:latin typeface="宋体"/>
                        <a:cs typeface="宋体"/>
                      </a:endParaRPr>
                    </a:p>
                  </a:txBody>
                  <a:tcPr marL="0" marR="0" marB="0" marT="60960">
                    <a:lnL w="19050">
                      <a:solidFill>
                        <a:srgbClr val="000000"/>
                      </a:solidFill>
                      <a:prstDash val="solid"/>
                    </a:lnL>
                    <a:lnR w="19050">
                      <a:solidFill>
                        <a:srgbClr val="000000"/>
                      </a:solidFill>
                      <a:prstDash val="solid"/>
                    </a:lnR>
                    <a:lnB w="190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419734">
                <a:tc gridSpan="4">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9525">
                      <a:solidFill>
                        <a:srgbClr val="000000"/>
                      </a:solidFill>
                      <a:prstDash val="solid"/>
                    </a:lnR>
                    <a:lnT w="19050">
                      <a:solidFill>
                        <a:srgbClr val="000000"/>
                      </a:solidFill>
                      <a:prstDash val="solid"/>
                    </a:lnT>
                    <a:lnB w="19050">
                      <a:solidFill>
                        <a:srgbClr val="000000"/>
                      </a:solidFill>
                      <a:prstDash val="solid"/>
                    </a:lnB>
                    <a:solidFill>
                      <a:srgbClr val="CCFFCC"/>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a:txBody>
                    <a:bodyPr/>
                    <a:lstStyle/>
                    <a:p>
                      <a:pPr marL="276225">
                        <a:lnSpc>
                          <a:spcPct val="100000"/>
                        </a:lnSpc>
                        <a:spcBef>
                          <a:spcPts val="860"/>
                        </a:spcBef>
                      </a:pPr>
                      <a:r>
                        <a:rPr dirty="0" sz="1600" spc="-25">
                          <a:latin typeface="宋体"/>
                          <a:cs typeface="宋体"/>
                        </a:rPr>
                        <a:t>半字</a:t>
                      </a:r>
                      <a:endParaRPr sz="1600">
                        <a:latin typeface="宋体"/>
                        <a:cs typeface="宋体"/>
                      </a:endParaRPr>
                    </a:p>
                  </a:txBody>
                  <a:tcPr marL="0" marR="0" marB="0" marT="109220">
                    <a:lnL w="952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00"/>
                    </a:solidFill>
                  </a:tcPr>
                </a:tc>
              </a:tr>
              <a:tr h="414655">
                <a:tc>
                  <a:txBody>
                    <a:bodyPr/>
                    <a:lstStyle/>
                    <a:p>
                      <a:pPr algn="ctr" marL="32384">
                        <a:lnSpc>
                          <a:spcPct val="100000"/>
                        </a:lnSpc>
                        <a:spcBef>
                          <a:spcPts val="860"/>
                        </a:spcBef>
                      </a:pPr>
                      <a:r>
                        <a:rPr dirty="0" sz="1600" spc="-25">
                          <a:latin typeface="宋体"/>
                          <a:cs typeface="宋体"/>
                        </a:rPr>
                        <a:t>字节</a:t>
                      </a:r>
                      <a:endParaRPr sz="1600">
                        <a:latin typeface="宋体"/>
                        <a:cs typeface="宋体"/>
                      </a:endParaRPr>
                    </a:p>
                  </a:txBody>
                  <a:tcPr marL="0" marR="0" marB="0" marT="10922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00"/>
                    </a:solidFill>
                  </a:tcPr>
                </a:tc>
                <a:tc>
                  <a:txBody>
                    <a:bodyPr/>
                    <a:lstStyle/>
                    <a:p>
                      <a:pPr marL="37465">
                        <a:lnSpc>
                          <a:spcPct val="100000"/>
                        </a:lnSpc>
                        <a:spcBef>
                          <a:spcPts val="950"/>
                        </a:spcBef>
                      </a:pPr>
                      <a:r>
                        <a:rPr dirty="0" sz="1600" spc="-25">
                          <a:latin typeface="宋体"/>
                          <a:cs typeface="宋体"/>
                        </a:rPr>
                        <a:t>字节</a:t>
                      </a:r>
                      <a:endParaRPr sz="1600">
                        <a:latin typeface="宋体"/>
                        <a:cs typeface="宋体"/>
                      </a:endParaRPr>
                    </a:p>
                  </a:txBody>
                  <a:tcPr marL="0" marR="0" marB="0" marT="12065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00"/>
                    </a:solidFill>
                  </a:tcPr>
                </a:tc>
                <a:tc gridSpan="3">
                  <a:txBody>
                    <a:bodyPr/>
                    <a:lstStyle/>
                    <a:p>
                      <a:pPr algn="ctr" marL="26034">
                        <a:lnSpc>
                          <a:spcPct val="100000"/>
                        </a:lnSpc>
                        <a:spcBef>
                          <a:spcPts val="780"/>
                        </a:spcBef>
                      </a:pPr>
                      <a:r>
                        <a:rPr dirty="0" sz="1600" spc="-25">
                          <a:solidFill>
                            <a:srgbClr val="D50092"/>
                          </a:solidFill>
                          <a:latin typeface="宋体"/>
                          <a:cs typeface="宋体"/>
                        </a:rPr>
                        <a:t>浪费</a:t>
                      </a:r>
                      <a:endParaRPr sz="1600">
                        <a:latin typeface="宋体"/>
                        <a:cs typeface="宋体"/>
                      </a:endParaRPr>
                    </a:p>
                  </a:txBody>
                  <a:tcPr marL="0" marR="0" marB="0" marT="990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hMerge="1">
                  <a:txBody>
                    <a:bodyPr/>
                    <a:lstStyle/>
                    <a:p>
                      <a:pPr/>
                    </a:p>
                  </a:txBody>
                  <a:tcPr marL="0" marR="0" marB="0" marT="0"/>
                </a:tc>
                <a:tc hMerge="1">
                  <a:txBody>
                    <a:bodyPr/>
                    <a:lstStyle/>
                    <a:p>
                      <a:pPr/>
                    </a:p>
                  </a:txBody>
                  <a:tcPr marL="0" marR="0" marB="0" marT="0"/>
                </a:tc>
              </a:tr>
              <a:tr h="420370">
                <a:tc gridSpan="5">
                  <a:txBody>
                    <a:bodyPr/>
                    <a:lstStyle/>
                    <a:p>
                      <a:pPr algn="ctr" marL="172085">
                        <a:lnSpc>
                          <a:spcPct val="100000"/>
                        </a:lnSpc>
                        <a:spcBef>
                          <a:spcPts val="860"/>
                        </a:spcBef>
                      </a:pPr>
                      <a:r>
                        <a:rPr dirty="0" sz="1600" spc="-25">
                          <a:latin typeface="宋体"/>
                          <a:cs typeface="宋体"/>
                        </a:rPr>
                        <a:t>双字</a:t>
                      </a:r>
                      <a:endParaRPr sz="1600">
                        <a:latin typeface="宋体"/>
                        <a:cs typeface="宋体"/>
                      </a:endParaRPr>
                    </a:p>
                  </a:txBody>
                  <a:tcPr marL="0" marR="0" marB="0" marT="10922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00"/>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414020">
                <a:tc>
                  <a:txBody>
                    <a:bodyPr/>
                    <a:lstStyle/>
                    <a:p>
                      <a:pPr algn="ctr" marL="20955">
                        <a:lnSpc>
                          <a:spcPct val="100000"/>
                        </a:lnSpc>
                        <a:spcBef>
                          <a:spcPts val="855"/>
                        </a:spcBef>
                      </a:pPr>
                      <a:r>
                        <a:rPr dirty="0" sz="1600" spc="-25">
                          <a:latin typeface="宋体"/>
                          <a:cs typeface="宋体"/>
                        </a:rPr>
                        <a:t>字节</a:t>
                      </a:r>
                      <a:endParaRPr sz="1600">
                        <a:latin typeface="宋体"/>
                        <a:cs typeface="宋体"/>
                      </a:endParaRPr>
                    </a:p>
                  </a:txBody>
                  <a:tcPr marL="0" marR="0" marB="0" marT="10858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00"/>
                    </a:solidFill>
                  </a:tcPr>
                </a:tc>
                <a:tc gridSpan="2">
                  <a:txBody>
                    <a:bodyPr/>
                    <a:lstStyle/>
                    <a:p>
                      <a:pPr algn="ctr" marR="14604">
                        <a:lnSpc>
                          <a:spcPct val="100000"/>
                        </a:lnSpc>
                        <a:spcBef>
                          <a:spcPts val="775"/>
                        </a:spcBef>
                      </a:pPr>
                      <a:r>
                        <a:rPr dirty="0" sz="1600" spc="-25">
                          <a:solidFill>
                            <a:srgbClr val="D50092"/>
                          </a:solidFill>
                          <a:latin typeface="宋体"/>
                          <a:cs typeface="宋体"/>
                        </a:rPr>
                        <a:t>浪费</a:t>
                      </a:r>
                      <a:endParaRPr sz="1600">
                        <a:latin typeface="宋体"/>
                        <a:cs typeface="宋体"/>
                      </a:endParaRPr>
                    </a:p>
                  </a:txBody>
                  <a:tcPr marL="0" marR="0" marB="0" marT="9842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hMerge="1">
                  <a:txBody>
                    <a:bodyPr/>
                    <a:lstStyle/>
                    <a:p>
                      <a:pPr/>
                    </a:p>
                  </a:txBody>
                  <a:tcPr marL="0" marR="0" marB="0" marT="0"/>
                </a:tc>
                <a:tc gridSpan="2">
                  <a:txBody>
                    <a:bodyPr/>
                    <a:lstStyle/>
                    <a:p>
                      <a:pPr algn="ctr" marL="32384">
                        <a:lnSpc>
                          <a:spcPct val="100000"/>
                        </a:lnSpc>
                        <a:spcBef>
                          <a:spcPts val="1115"/>
                        </a:spcBef>
                      </a:pPr>
                      <a:r>
                        <a:rPr dirty="0" sz="1600" spc="-25">
                          <a:latin typeface="宋体"/>
                          <a:cs typeface="宋体"/>
                        </a:rPr>
                        <a:t>单字</a:t>
                      </a:r>
                      <a:endParaRPr sz="1600">
                        <a:latin typeface="宋体"/>
                        <a:cs typeface="宋体"/>
                      </a:endParaRPr>
                    </a:p>
                  </a:txBody>
                  <a:tcPr marL="0" marR="0" marB="0" marT="1416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00"/>
                    </a:solidFill>
                  </a:tcPr>
                </a:tc>
                <a:tc hMerge="1">
                  <a:txBody>
                    <a:bodyPr/>
                    <a:lstStyle/>
                    <a:p>
                      <a:pPr/>
                    </a:p>
                  </a:txBody>
                  <a:tcPr marL="0" marR="0" marB="0" marT="0"/>
                </a:tc>
              </a:tr>
              <a:tr h="420370">
                <a:tc gridSpan="3">
                  <a:txBody>
                    <a:bodyPr/>
                    <a:lstStyle/>
                    <a:p>
                      <a:pPr algn="ctr" marL="32384">
                        <a:lnSpc>
                          <a:spcPct val="100000"/>
                        </a:lnSpc>
                        <a:spcBef>
                          <a:spcPts val="860"/>
                        </a:spcBef>
                      </a:pPr>
                      <a:r>
                        <a:rPr dirty="0" sz="1600" spc="-25">
                          <a:latin typeface="宋体"/>
                          <a:cs typeface="宋体"/>
                        </a:rPr>
                        <a:t>单字</a:t>
                      </a:r>
                      <a:endParaRPr sz="1600">
                        <a:latin typeface="宋体"/>
                        <a:cs typeface="宋体"/>
                      </a:endParaRPr>
                    </a:p>
                  </a:txBody>
                  <a:tcPr marL="0" marR="0" marB="0" marT="10922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00"/>
                    </a:solidFill>
                  </a:tcPr>
                </a:tc>
                <a:tc hMerge="1">
                  <a:txBody>
                    <a:bodyPr/>
                    <a:lstStyle/>
                    <a:p>
                      <a:pPr/>
                    </a:p>
                  </a:txBody>
                  <a:tcPr marL="0" marR="0" marB="0" marT="0"/>
                </a:tc>
                <a:tc hMerge="1">
                  <a:txBody>
                    <a:bodyPr/>
                    <a:lstStyle/>
                    <a:p>
                      <a:pPr/>
                    </a:p>
                  </a:txBody>
                  <a:tcPr marL="0" marR="0" marB="0" marT="0"/>
                </a:tc>
                <a:tc gridSpan="2">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hMerge="1">
                  <a:txBody>
                    <a:bodyPr/>
                    <a:lstStyle/>
                    <a:p>
                      <a:pPr/>
                    </a:p>
                  </a:txBody>
                  <a:tcPr marL="0" marR="0" marB="0" marT="0"/>
                </a:tc>
              </a:tr>
            </a:tbl>
          </a:graphicData>
        </a:graphic>
      </p:graphicFrame>
      <p:sp>
        <p:nvSpPr>
          <p:cNvPr id="21" name="object 21" descr=""/>
          <p:cNvSpPr txBox="1"/>
          <p:nvPr/>
        </p:nvSpPr>
        <p:spPr>
          <a:xfrm>
            <a:off x="4303903" y="4567809"/>
            <a:ext cx="838200" cy="269240"/>
          </a:xfrm>
          <a:prstGeom prst="rect">
            <a:avLst/>
          </a:prstGeom>
        </p:spPr>
        <p:txBody>
          <a:bodyPr wrap="square" lIns="0" tIns="12065" rIns="0" bIns="0" rtlCol="0" vert="horz">
            <a:spAutoFit/>
          </a:bodyPr>
          <a:lstStyle/>
          <a:p>
            <a:pPr marL="12700">
              <a:lnSpc>
                <a:spcPct val="100000"/>
              </a:lnSpc>
              <a:spcBef>
                <a:spcPts val="95"/>
              </a:spcBef>
            </a:pPr>
            <a:r>
              <a:rPr dirty="0" sz="1600" spc="-35">
                <a:solidFill>
                  <a:srgbClr val="40458B"/>
                </a:solidFill>
                <a:latin typeface="黑体"/>
                <a:cs typeface="黑体"/>
              </a:rPr>
              <a:t>任意存储</a:t>
            </a:r>
            <a:endParaRPr sz="1600">
              <a:latin typeface="黑体"/>
              <a:cs typeface="黑体"/>
            </a:endParaRPr>
          </a:p>
        </p:txBody>
      </p:sp>
      <p:sp>
        <p:nvSpPr>
          <p:cNvPr id="22" name="object 22" descr=""/>
          <p:cNvSpPr txBox="1"/>
          <p:nvPr/>
        </p:nvSpPr>
        <p:spPr>
          <a:xfrm>
            <a:off x="8624696" y="4567554"/>
            <a:ext cx="1447165" cy="269240"/>
          </a:xfrm>
          <a:prstGeom prst="rect">
            <a:avLst/>
          </a:prstGeom>
        </p:spPr>
        <p:txBody>
          <a:bodyPr wrap="square" lIns="0" tIns="12065" rIns="0" bIns="0" rtlCol="0" vert="horz">
            <a:spAutoFit/>
          </a:bodyPr>
          <a:lstStyle/>
          <a:p>
            <a:pPr marL="12700">
              <a:lnSpc>
                <a:spcPct val="100000"/>
              </a:lnSpc>
              <a:spcBef>
                <a:spcPts val="95"/>
              </a:spcBef>
            </a:pPr>
            <a:r>
              <a:rPr dirty="0" sz="1600" spc="-30">
                <a:solidFill>
                  <a:srgbClr val="40458B"/>
                </a:solidFill>
                <a:latin typeface="黑体"/>
                <a:cs typeface="黑体"/>
              </a:rPr>
              <a:t>按整数边界存储</a:t>
            </a:r>
            <a:endParaRPr sz="1600">
              <a:latin typeface="黑体"/>
              <a:cs typeface="黑体"/>
            </a:endParaRPr>
          </a:p>
        </p:txBody>
      </p:sp>
      <p:sp>
        <p:nvSpPr>
          <p:cNvPr id="23" name="object 23" descr=""/>
          <p:cNvSpPr txBox="1"/>
          <p:nvPr/>
        </p:nvSpPr>
        <p:spPr>
          <a:xfrm>
            <a:off x="1529841" y="949197"/>
            <a:ext cx="9071610" cy="422275"/>
          </a:xfrm>
          <a:prstGeom prst="rect">
            <a:avLst/>
          </a:prstGeom>
        </p:spPr>
        <p:txBody>
          <a:bodyPr wrap="square" lIns="0" tIns="13335" rIns="0" bIns="0" rtlCol="0" vert="horz">
            <a:spAutoFit/>
          </a:bodyPr>
          <a:lstStyle/>
          <a:p>
            <a:pPr marL="12700">
              <a:lnSpc>
                <a:spcPct val="100000"/>
              </a:lnSpc>
              <a:spcBef>
                <a:spcPts val="105"/>
              </a:spcBef>
            </a:pPr>
            <a:r>
              <a:rPr dirty="0" sz="2600" spc="-5">
                <a:solidFill>
                  <a:srgbClr val="40458B"/>
                </a:solidFill>
                <a:latin typeface="黑体"/>
                <a:cs typeface="黑体"/>
              </a:rPr>
              <a:t>主存数据宽度</a:t>
            </a:r>
            <a:r>
              <a:rPr dirty="0" sz="2600" spc="-30">
                <a:solidFill>
                  <a:srgbClr val="40458B"/>
                </a:solidFill>
                <a:latin typeface="Tahoma"/>
                <a:cs typeface="Tahoma"/>
              </a:rPr>
              <a:t>64</a:t>
            </a:r>
            <a:r>
              <a:rPr dirty="0" sz="2600" spc="-5">
                <a:solidFill>
                  <a:srgbClr val="40458B"/>
                </a:solidFill>
                <a:latin typeface="黑体"/>
                <a:cs typeface="黑体"/>
              </a:rPr>
              <a:t>位，若字长</a:t>
            </a:r>
            <a:r>
              <a:rPr dirty="0" sz="2600" spc="-30">
                <a:solidFill>
                  <a:srgbClr val="40458B"/>
                </a:solidFill>
                <a:latin typeface="Tahoma"/>
                <a:cs typeface="Tahoma"/>
              </a:rPr>
              <a:t>32</a:t>
            </a:r>
            <a:r>
              <a:rPr dirty="0" sz="2600" spc="-10">
                <a:solidFill>
                  <a:srgbClr val="40458B"/>
                </a:solidFill>
                <a:latin typeface="黑体"/>
                <a:cs typeface="黑体"/>
              </a:rPr>
              <a:t>位，则半字长</a:t>
            </a:r>
            <a:r>
              <a:rPr dirty="0" sz="2600" spc="-30">
                <a:solidFill>
                  <a:srgbClr val="40458B"/>
                </a:solidFill>
                <a:latin typeface="Tahoma"/>
                <a:cs typeface="Tahoma"/>
              </a:rPr>
              <a:t>16</a:t>
            </a:r>
            <a:r>
              <a:rPr dirty="0" sz="2600" spc="-5">
                <a:solidFill>
                  <a:srgbClr val="40458B"/>
                </a:solidFill>
                <a:latin typeface="黑体"/>
                <a:cs typeface="黑体"/>
              </a:rPr>
              <a:t>位，双字长</a:t>
            </a:r>
            <a:r>
              <a:rPr dirty="0" sz="2600" spc="-30">
                <a:solidFill>
                  <a:srgbClr val="40458B"/>
                </a:solidFill>
                <a:latin typeface="Tahoma"/>
                <a:cs typeface="Tahoma"/>
              </a:rPr>
              <a:t>64</a:t>
            </a:r>
            <a:r>
              <a:rPr dirty="0" sz="2600" spc="-50">
                <a:solidFill>
                  <a:srgbClr val="40458B"/>
                </a:solidFill>
                <a:latin typeface="黑体"/>
                <a:cs typeface="黑体"/>
              </a:rPr>
              <a:t>位</a:t>
            </a:r>
            <a:endParaRPr sz="2600">
              <a:latin typeface="黑体"/>
              <a:cs typeface="黑体"/>
            </a:endParaRPr>
          </a:p>
        </p:txBody>
      </p:sp>
      <p:sp>
        <p:nvSpPr>
          <p:cNvPr id="24" name="object 24" descr=""/>
          <p:cNvSpPr txBox="1"/>
          <p:nvPr/>
        </p:nvSpPr>
        <p:spPr>
          <a:xfrm>
            <a:off x="2142870" y="5004308"/>
            <a:ext cx="2463800" cy="269240"/>
          </a:xfrm>
          <a:prstGeom prst="rect">
            <a:avLst/>
          </a:prstGeom>
        </p:spPr>
        <p:txBody>
          <a:bodyPr wrap="square" lIns="0" tIns="12065" rIns="0" bIns="0" rtlCol="0" vert="horz">
            <a:spAutoFit/>
          </a:bodyPr>
          <a:lstStyle/>
          <a:p>
            <a:pPr marL="12700">
              <a:lnSpc>
                <a:spcPct val="100000"/>
              </a:lnSpc>
              <a:spcBef>
                <a:spcPts val="95"/>
              </a:spcBef>
            </a:pPr>
            <a:r>
              <a:rPr dirty="0" sz="1600" spc="-30">
                <a:solidFill>
                  <a:srgbClr val="40458B"/>
                </a:solidFill>
                <a:latin typeface="黑体"/>
                <a:cs typeface="黑体"/>
              </a:rPr>
              <a:t>这种方式对存储空间的利用</a:t>
            </a:r>
            <a:endParaRPr sz="1600">
              <a:latin typeface="黑体"/>
              <a:cs typeface="黑体"/>
            </a:endParaRPr>
          </a:p>
        </p:txBody>
      </p:sp>
      <p:sp>
        <p:nvSpPr>
          <p:cNvPr id="25" name="object 25" descr=""/>
          <p:cNvSpPr txBox="1"/>
          <p:nvPr/>
        </p:nvSpPr>
        <p:spPr>
          <a:xfrm>
            <a:off x="2142870" y="5240527"/>
            <a:ext cx="2463800" cy="269240"/>
          </a:xfrm>
          <a:prstGeom prst="rect">
            <a:avLst/>
          </a:prstGeom>
        </p:spPr>
        <p:txBody>
          <a:bodyPr wrap="square" lIns="0" tIns="12065" rIns="0" bIns="0" rtlCol="0" vert="horz">
            <a:spAutoFit/>
          </a:bodyPr>
          <a:lstStyle/>
          <a:p>
            <a:pPr marL="12700">
              <a:lnSpc>
                <a:spcPct val="100000"/>
              </a:lnSpc>
              <a:spcBef>
                <a:spcPts val="95"/>
              </a:spcBef>
            </a:pPr>
            <a:r>
              <a:rPr dirty="0" sz="1600" spc="-30">
                <a:solidFill>
                  <a:srgbClr val="40458B"/>
                </a:solidFill>
                <a:latin typeface="黑体"/>
                <a:cs typeface="黑体"/>
              </a:rPr>
              <a:t>但对跨单元的存储访问周期</a:t>
            </a:r>
            <a:endParaRPr sz="1600">
              <a:latin typeface="黑体"/>
              <a:cs typeface="黑体"/>
            </a:endParaRPr>
          </a:p>
        </p:txBody>
      </p:sp>
      <p:sp>
        <p:nvSpPr>
          <p:cNvPr id="26" name="object 26" descr=""/>
          <p:cNvSpPr txBox="1"/>
          <p:nvPr/>
        </p:nvSpPr>
        <p:spPr>
          <a:xfrm>
            <a:off x="4593550" y="5029636"/>
            <a:ext cx="3953510" cy="455295"/>
          </a:xfrm>
          <a:prstGeom prst="rect">
            <a:avLst/>
          </a:prstGeom>
        </p:spPr>
        <p:txBody>
          <a:bodyPr wrap="square" lIns="0" tIns="0" rIns="0" bIns="0" rtlCol="0" vert="horz">
            <a:spAutoFit/>
          </a:bodyPr>
          <a:lstStyle/>
          <a:p>
            <a:pPr>
              <a:lnSpc>
                <a:spcPts val="1660"/>
              </a:lnSpc>
              <a:tabLst>
                <a:tab pos="2531110" algn="l"/>
              </a:tabLst>
            </a:pPr>
            <a:r>
              <a:rPr dirty="0" baseline="-5208" sz="2400" spc="-37">
                <a:solidFill>
                  <a:srgbClr val="40458B"/>
                </a:solidFill>
                <a:latin typeface="黑体"/>
                <a:cs typeface="黑体"/>
              </a:rPr>
              <a:t>率最</a:t>
            </a:r>
            <a:r>
              <a:rPr dirty="0" baseline="-5208" sz="2400" spc="-15">
                <a:solidFill>
                  <a:srgbClr val="40458B"/>
                </a:solidFill>
                <a:latin typeface="黑体"/>
                <a:cs typeface="黑体"/>
              </a:rPr>
              <a:t>高</a:t>
            </a:r>
            <a:r>
              <a:rPr dirty="0" baseline="-5208" sz="2400" spc="-75">
                <a:solidFill>
                  <a:srgbClr val="40458B"/>
                </a:solidFill>
                <a:latin typeface="黑体"/>
                <a:cs typeface="黑体"/>
              </a:rPr>
              <a:t>，</a:t>
            </a:r>
            <a:r>
              <a:rPr dirty="0" baseline="-5208" sz="2400">
                <a:solidFill>
                  <a:srgbClr val="40458B"/>
                </a:solidFill>
                <a:latin typeface="黑体"/>
                <a:cs typeface="黑体"/>
              </a:rPr>
              <a:t>	</a:t>
            </a:r>
            <a:r>
              <a:rPr dirty="0" sz="1600" spc="-10">
                <a:solidFill>
                  <a:srgbClr val="40458B"/>
                </a:solidFill>
                <a:latin typeface="黑体"/>
                <a:cs typeface="黑体"/>
              </a:rPr>
              <a:t>有</a:t>
            </a:r>
            <a:r>
              <a:rPr dirty="0" sz="1600" spc="-25">
                <a:solidFill>
                  <a:srgbClr val="40458B"/>
                </a:solidFill>
                <a:latin typeface="黑体"/>
                <a:cs typeface="黑体"/>
              </a:rPr>
              <a:t>效提</a:t>
            </a:r>
            <a:r>
              <a:rPr dirty="0" sz="1600" spc="-10">
                <a:solidFill>
                  <a:srgbClr val="40458B"/>
                </a:solidFill>
                <a:latin typeface="黑体"/>
                <a:cs typeface="黑体"/>
              </a:rPr>
              <a:t>升</a:t>
            </a:r>
            <a:r>
              <a:rPr dirty="0" sz="1600" spc="-25">
                <a:solidFill>
                  <a:srgbClr val="40458B"/>
                </a:solidFill>
                <a:latin typeface="黑体"/>
                <a:cs typeface="黑体"/>
              </a:rPr>
              <a:t>了存</a:t>
            </a:r>
            <a:r>
              <a:rPr dirty="0" sz="1600" spc="-50">
                <a:solidFill>
                  <a:srgbClr val="40458B"/>
                </a:solidFill>
                <a:latin typeface="黑体"/>
                <a:cs typeface="黑体"/>
              </a:rPr>
              <a:t>储</a:t>
            </a:r>
            <a:endParaRPr sz="1600">
              <a:latin typeface="黑体"/>
              <a:cs typeface="黑体"/>
            </a:endParaRPr>
          </a:p>
          <a:p>
            <a:pPr>
              <a:lnSpc>
                <a:spcPts val="1889"/>
              </a:lnSpc>
              <a:tabLst>
                <a:tab pos="2531110" algn="l"/>
              </a:tabLst>
            </a:pPr>
            <a:r>
              <a:rPr dirty="0" baseline="-5208" sz="2400" spc="-37">
                <a:solidFill>
                  <a:srgbClr val="40458B"/>
                </a:solidFill>
                <a:latin typeface="黑体"/>
                <a:cs typeface="黑体"/>
              </a:rPr>
              <a:t>增</a:t>
            </a:r>
            <a:r>
              <a:rPr dirty="0" baseline="-5208" sz="2400" spc="-75">
                <a:solidFill>
                  <a:srgbClr val="40458B"/>
                </a:solidFill>
                <a:latin typeface="黑体"/>
                <a:cs typeface="黑体"/>
              </a:rPr>
              <a:t>加</a:t>
            </a:r>
            <a:r>
              <a:rPr dirty="0" baseline="-5208" sz="2400">
                <a:solidFill>
                  <a:srgbClr val="40458B"/>
                </a:solidFill>
                <a:latin typeface="黑体"/>
                <a:cs typeface="黑体"/>
              </a:rPr>
              <a:t>	</a:t>
            </a:r>
            <a:r>
              <a:rPr dirty="0" sz="1600" spc="-10">
                <a:solidFill>
                  <a:srgbClr val="40458B"/>
                </a:solidFill>
                <a:latin typeface="黑体"/>
                <a:cs typeface="黑体"/>
              </a:rPr>
              <a:t>式</a:t>
            </a:r>
            <a:r>
              <a:rPr dirty="0" sz="1600" spc="-25">
                <a:solidFill>
                  <a:srgbClr val="40458B"/>
                </a:solidFill>
                <a:latin typeface="黑体"/>
                <a:cs typeface="黑体"/>
              </a:rPr>
              <a:t>会造</a:t>
            </a:r>
            <a:r>
              <a:rPr dirty="0" sz="1600" spc="-10">
                <a:solidFill>
                  <a:srgbClr val="40458B"/>
                </a:solidFill>
                <a:latin typeface="黑体"/>
                <a:cs typeface="黑体"/>
              </a:rPr>
              <a:t>成</a:t>
            </a:r>
            <a:r>
              <a:rPr dirty="0" sz="1600" spc="-25">
                <a:solidFill>
                  <a:srgbClr val="40458B"/>
                </a:solidFill>
                <a:latin typeface="黑体"/>
                <a:cs typeface="黑体"/>
              </a:rPr>
              <a:t>空间</a:t>
            </a:r>
            <a:r>
              <a:rPr dirty="0" sz="1600" spc="-50">
                <a:solidFill>
                  <a:srgbClr val="40458B"/>
                </a:solidFill>
                <a:latin typeface="黑体"/>
                <a:cs typeface="黑体"/>
              </a:rPr>
              <a:t>的</a:t>
            </a:r>
            <a:endParaRPr sz="1600">
              <a:latin typeface="黑体"/>
              <a:cs typeface="黑体"/>
            </a:endParaRPr>
          </a:p>
        </p:txBody>
      </p:sp>
      <p:sp>
        <p:nvSpPr>
          <p:cNvPr id="27" name="object 27" descr=""/>
          <p:cNvSpPr txBox="1"/>
          <p:nvPr/>
        </p:nvSpPr>
        <p:spPr>
          <a:xfrm>
            <a:off x="8533935" y="4988433"/>
            <a:ext cx="1854200" cy="505459"/>
          </a:xfrm>
          <a:prstGeom prst="rect">
            <a:avLst/>
          </a:prstGeom>
        </p:spPr>
        <p:txBody>
          <a:bodyPr wrap="square" lIns="0" tIns="26034" rIns="0" bIns="0" rtlCol="0" vert="horz">
            <a:spAutoFit/>
          </a:bodyPr>
          <a:lstStyle/>
          <a:p>
            <a:pPr marL="12700" marR="5080">
              <a:lnSpc>
                <a:spcPts val="1860"/>
              </a:lnSpc>
              <a:spcBef>
                <a:spcPts val="204"/>
              </a:spcBef>
            </a:pPr>
            <a:r>
              <a:rPr dirty="0" sz="1600" spc="-30">
                <a:solidFill>
                  <a:srgbClr val="40458B"/>
                </a:solidFill>
                <a:latin typeface="黑体"/>
                <a:cs typeface="黑体"/>
              </a:rPr>
              <a:t>速度。但注意这种方浪费，需要折中考虑</a:t>
            </a:r>
            <a:endParaRPr sz="1600">
              <a:latin typeface="黑体"/>
              <a:cs typeface="黑体"/>
            </a:endParaRPr>
          </a:p>
        </p:txBody>
      </p:sp>
      <p:sp>
        <p:nvSpPr>
          <p:cNvPr id="28" name="object 28" descr=""/>
          <p:cNvSpPr/>
          <p:nvPr/>
        </p:nvSpPr>
        <p:spPr>
          <a:xfrm>
            <a:off x="4491101" y="4886388"/>
            <a:ext cx="4032250" cy="646430"/>
          </a:xfrm>
          <a:custGeom>
            <a:avLst/>
            <a:gdLst/>
            <a:ahLst/>
            <a:cxnLst/>
            <a:rect l="l" t="t" r="r" b="b"/>
            <a:pathLst>
              <a:path w="4032250" h="646429">
                <a:moveTo>
                  <a:pt x="4032250" y="0"/>
                </a:moveTo>
                <a:lnTo>
                  <a:pt x="0" y="0"/>
                </a:lnTo>
                <a:lnTo>
                  <a:pt x="0" y="646112"/>
                </a:lnTo>
                <a:lnTo>
                  <a:pt x="4032250" y="646112"/>
                </a:lnTo>
                <a:lnTo>
                  <a:pt x="4032250" y="0"/>
                </a:lnTo>
                <a:close/>
              </a:path>
            </a:pathLst>
          </a:custGeom>
          <a:solidFill>
            <a:srgbClr val="FFC000"/>
          </a:solidFill>
        </p:spPr>
        <p:txBody>
          <a:bodyPr wrap="square" lIns="0" tIns="0" rIns="0" bIns="0" rtlCol="0"/>
          <a:lstStyle/>
          <a:p/>
        </p:txBody>
      </p:sp>
      <p:sp>
        <p:nvSpPr>
          <p:cNvPr id="29" name="object 29" descr=""/>
          <p:cNvSpPr txBox="1"/>
          <p:nvPr/>
        </p:nvSpPr>
        <p:spPr>
          <a:xfrm>
            <a:off x="4998465" y="4920183"/>
            <a:ext cx="2770505" cy="574675"/>
          </a:xfrm>
          <a:prstGeom prst="rect">
            <a:avLst/>
          </a:prstGeom>
        </p:spPr>
        <p:txBody>
          <a:bodyPr wrap="square" lIns="0" tIns="12700" rIns="0" bIns="0" rtlCol="0" vert="horz">
            <a:spAutoFit/>
          </a:bodyPr>
          <a:lstStyle/>
          <a:p>
            <a:pPr marL="12700">
              <a:lnSpc>
                <a:spcPct val="100000"/>
              </a:lnSpc>
              <a:spcBef>
                <a:spcPts val="100"/>
              </a:spcBef>
            </a:pPr>
            <a:r>
              <a:rPr dirty="0" sz="3600" spc="-10">
                <a:solidFill>
                  <a:srgbClr val="40458B"/>
                </a:solidFill>
                <a:latin typeface="黑体"/>
                <a:cs typeface="黑体"/>
              </a:rPr>
              <a:t>需要折中考虑</a:t>
            </a:r>
            <a:endParaRPr sz="3600">
              <a:latin typeface="黑体"/>
              <a:cs typeface="黑体"/>
            </a:endParaRPr>
          </a:p>
        </p:txBody>
      </p:sp>
      <p:sp>
        <p:nvSpPr>
          <p:cNvPr id="30" name="object 30" descr=""/>
          <p:cNvSpPr txBox="1"/>
          <p:nvPr/>
        </p:nvSpPr>
        <p:spPr>
          <a:xfrm>
            <a:off x="1782317" y="2365629"/>
            <a:ext cx="248285" cy="26924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40458B"/>
                </a:solidFill>
                <a:latin typeface="Tahoma"/>
                <a:cs typeface="Tahoma"/>
              </a:rPr>
              <a:t>00</a:t>
            </a:r>
            <a:endParaRPr sz="1600">
              <a:latin typeface="Tahoma"/>
              <a:cs typeface="Tahoma"/>
            </a:endParaRPr>
          </a:p>
        </p:txBody>
      </p:sp>
      <p:sp>
        <p:nvSpPr>
          <p:cNvPr id="31" name="object 31" descr=""/>
          <p:cNvSpPr txBox="1"/>
          <p:nvPr/>
        </p:nvSpPr>
        <p:spPr>
          <a:xfrm>
            <a:off x="1782317" y="2853308"/>
            <a:ext cx="248285" cy="26924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40458B"/>
                </a:solidFill>
                <a:latin typeface="Tahoma"/>
                <a:cs typeface="Tahoma"/>
              </a:rPr>
              <a:t>08</a:t>
            </a:r>
            <a:endParaRPr sz="1600">
              <a:latin typeface="Tahoma"/>
              <a:cs typeface="Tahoma"/>
            </a:endParaRPr>
          </a:p>
        </p:txBody>
      </p:sp>
      <p:sp>
        <p:nvSpPr>
          <p:cNvPr id="32" name="object 32" descr=""/>
          <p:cNvSpPr txBox="1"/>
          <p:nvPr/>
        </p:nvSpPr>
        <p:spPr>
          <a:xfrm>
            <a:off x="1782317" y="3341370"/>
            <a:ext cx="248285" cy="26924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40458B"/>
                </a:solidFill>
                <a:latin typeface="Tahoma"/>
                <a:cs typeface="Tahoma"/>
              </a:rPr>
              <a:t>10</a:t>
            </a:r>
            <a:endParaRPr sz="1600">
              <a:latin typeface="Tahoma"/>
              <a:cs typeface="Tahoma"/>
            </a:endParaRPr>
          </a:p>
        </p:txBody>
      </p:sp>
      <p:sp>
        <p:nvSpPr>
          <p:cNvPr id="33" name="object 33" descr=""/>
          <p:cNvSpPr txBox="1"/>
          <p:nvPr/>
        </p:nvSpPr>
        <p:spPr>
          <a:xfrm>
            <a:off x="1782317" y="3829050"/>
            <a:ext cx="248285" cy="26924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40458B"/>
                </a:solidFill>
                <a:latin typeface="Tahoma"/>
                <a:cs typeface="Tahoma"/>
              </a:rPr>
              <a:t>18</a:t>
            </a:r>
            <a:endParaRPr sz="1600">
              <a:latin typeface="Tahoma"/>
              <a:cs typeface="Tahoma"/>
            </a:endParaRPr>
          </a:p>
        </p:txBody>
      </p:sp>
      <p:sp>
        <p:nvSpPr>
          <p:cNvPr id="34" name="object 34" descr=""/>
          <p:cNvSpPr txBox="1"/>
          <p:nvPr/>
        </p:nvSpPr>
        <p:spPr>
          <a:xfrm>
            <a:off x="1782317" y="4316425"/>
            <a:ext cx="248285" cy="26924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40458B"/>
                </a:solidFill>
                <a:latin typeface="Tahoma"/>
                <a:cs typeface="Tahoma"/>
              </a:rPr>
              <a:t>20</a:t>
            </a:r>
            <a:endParaRPr sz="1600">
              <a:latin typeface="Tahoma"/>
              <a:cs typeface="Tahoma"/>
            </a:endParaRPr>
          </a:p>
        </p:txBody>
      </p:sp>
      <p:sp>
        <p:nvSpPr>
          <p:cNvPr id="35" name="object 35" descr=""/>
          <p:cNvSpPr txBox="1"/>
          <p:nvPr/>
        </p:nvSpPr>
        <p:spPr>
          <a:xfrm>
            <a:off x="6110478" y="2402204"/>
            <a:ext cx="248285" cy="26924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40458B"/>
                </a:solidFill>
                <a:latin typeface="Tahoma"/>
                <a:cs typeface="Tahoma"/>
              </a:rPr>
              <a:t>00</a:t>
            </a:r>
            <a:endParaRPr sz="1600">
              <a:latin typeface="Tahoma"/>
              <a:cs typeface="Tahoma"/>
            </a:endParaRPr>
          </a:p>
        </p:txBody>
      </p:sp>
      <p:sp>
        <p:nvSpPr>
          <p:cNvPr id="36" name="object 36" descr=""/>
          <p:cNvSpPr txBox="1"/>
          <p:nvPr/>
        </p:nvSpPr>
        <p:spPr>
          <a:xfrm>
            <a:off x="6110478" y="2889885"/>
            <a:ext cx="248285" cy="26924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40458B"/>
                </a:solidFill>
                <a:latin typeface="Tahoma"/>
                <a:cs typeface="Tahoma"/>
              </a:rPr>
              <a:t>08</a:t>
            </a:r>
            <a:endParaRPr sz="1600">
              <a:latin typeface="Tahoma"/>
              <a:cs typeface="Tahoma"/>
            </a:endParaRPr>
          </a:p>
        </p:txBody>
      </p:sp>
      <p:sp>
        <p:nvSpPr>
          <p:cNvPr id="37" name="object 37" descr=""/>
          <p:cNvSpPr txBox="1"/>
          <p:nvPr/>
        </p:nvSpPr>
        <p:spPr>
          <a:xfrm>
            <a:off x="6110478" y="3377946"/>
            <a:ext cx="248285" cy="26924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40458B"/>
                </a:solidFill>
                <a:latin typeface="Tahoma"/>
                <a:cs typeface="Tahoma"/>
              </a:rPr>
              <a:t>10</a:t>
            </a:r>
            <a:endParaRPr sz="1600">
              <a:latin typeface="Tahoma"/>
              <a:cs typeface="Tahoma"/>
            </a:endParaRPr>
          </a:p>
        </p:txBody>
      </p:sp>
      <p:sp>
        <p:nvSpPr>
          <p:cNvPr id="38" name="object 38" descr=""/>
          <p:cNvSpPr txBox="1"/>
          <p:nvPr/>
        </p:nvSpPr>
        <p:spPr>
          <a:xfrm>
            <a:off x="6110478" y="3865626"/>
            <a:ext cx="248285" cy="26924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40458B"/>
                </a:solidFill>
                <a:latin typeface="Tahoma"/>
                <a:cs typeface="Tahoma"/>
              </a:rPr>
              <a:t>18</a:t>
            </a:r>
            <a:endParaRPr sz="1600">
              <a:latin typeface="Tahoma"/>
              <a:cs typeface="Tahoma"/>
            </a:endParaRPr>
          </a:p>
        </p:txBody>
      </p:sp>
      <p:sp>
        <p:nvSpPr>
          <p:cNvPr id="39" name="object 39" descr=""/>
          <p:cNvSpPr txBox="1"/>
          <p:nvPr/>
        </p:nvSpPr>
        <p:spPr>
          <a:xfrm>
            <a:off x="6110478" y="4353305"/>
            <a:ext cx="248285" cy="26924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40458B"/>
                </a:solidFill>
                <a:latin typeface="Tahoma"/>
                <a:cs typeface="Tahoma"/>
              </a:rPr>
              <a:t>20</a:t>
            </a:r>
            <a:endParaRPr sz="1600">
              <a:latin typeface="Tahoma"/>
              <a:cs typeface="Tahom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sp>
        <p:nvSpPr>
          <p:cNvPr id="3" name="object 3"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4" name="object 4"/>
          <p:cNvSpPr txBox="1">
            <a:spLocks noGrp="1"/>
          </p:cNvSpPr>
          <p:nvPr>
            <p:ph type="title"/>
          </p:nvPr>
        </p:nvSpPr>
        <p:spPr>
          <a:xfrm>
            <a:off x="2358644" y="1305306"/>
            <a:ext cx="7238365" cy="513715"/>
          </a:xfrm>
          <a:prstGeom prst="rect"/>
        </p:spPr>
        <p:txBody>
          <a:bodyPr wrap="square" lIns="0" tIns="13335" rIns="0" bIns="0" rtlCol="0" vert="horz">
            <a:spAutoFit/>
          </a:bodyPr>
          <a:lstStyle/>
          <a:p>
            <a:pPr marL="12700">
              <a:lnSpc>
                <a:spcPct val="100000"/>
              </a:lnSpc>
              <a:spcBef>
                <a:spcPts val="105"/>
              </a:spcBef>
            </a:pPr>
            <a:r>
              <a:rPr dirty="0" u="none" spc="-30" b="0">
                <a:solidFill>
                  <a:srgbClr val="303541"/>
                </a:solidFill>
                <a:latin typeface="Calibri"/>
                <a:cs typeface="Calibri"/>
              </a:rPr>
              <a:t>1</a:t>
            </a:r>
            <a:r>
              <a:rPr dirty="0" u="none" spc="-15" b="0">
                <a:solidFill>
                  <a:srgbClr val="303541"/>
                </a:solidFill>
                <a:latin typeface="黑体"/>
                <a:cs typeface="黑体"/>
              </a:rPr>
              <a:t>、不需要编址的数据存储空间是</a:t>
            </a:r>
            <a:r>
              <a:rPr dirty="0" u="none" b="0">
                <a:solidFill>
                  <a:srgbClr val="303541"/>
                </a:solidFill>
                <a:latin typeface="黑体"/>
                <a:cs typeface="黑体"/>
              </a:rPr>
              <a:t>（</a:t>
            </a:r>
            <a:r>
              <a:rPr dirty="0" u="none" spc="-865" b="0">
                <a:solidFill>
                  <a:srgbClr val="303541"/>
                </a:solidFill>
                <a:latin typeface="黑体"/>
                <a:cs typeface="黑体"/>
              </a:rPr>
              <a:t> </a:t>
            </a:r>
            <a:r>
              <a:rPr dirty="0" u="none" b="0">
                <a:solidFill>
                  <a:srgbClr val="303541"/>
                </a:solidFill>
                <a:latin typeface="黑体"/>
                <a:cs typeface="黑体"/>
              </a:rPr>
              <a:t>）</a:t>
            </a:r>
            <a:r>
              <a:rPr dirty="0" u="none" spc="-50" b="0">
                <a:solidFill>
                  <a:srgbClr val="303541"/>
                </a:solidFill>
                <a:latin typeface="黑体"/>
                <a:cs typeface="黑体"/>
              </a:rPr>
              <a:t>。</a:t>
            </a:r>
          </a:p>
        </p:txBody>
      </p:sp>
      <p:sp>
        <p:nvSpPr>
          <p:cNvPr id="5" name="object 5" descr=""/>
          <p:cNvSpPr txBox="1"/>
          <p:nvPr/>
        </p:nvSpPr>
        <p:spPr>
          <a:xfrm>
            <a:off x="3878071" y="2302510"/>
            <a:ext cx="3013075"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CPU中的通用寄存器</a:t>
            </a:r>
            <a:endParaRPr sz="2600">
              <a:latin typeface="微软雅黑"/>
              <a:cs typeface="微软雅黑"/>
            </a:endParaRPr>
          </a:p>
        </p:txBody>
      </p:sp>
      <p:sp>
        <p:nvSpPr>
          <p:cNvPr id="6" name="object 6" descr=""/>
          <p:cNvSpPr txBox="1"/>
          <p:nvPr/>
        </p:nvSpPr>
        <p:spPr>
          <a:xfrm>
            <a:off x="3843273" y="3183458"/>
            <a:ext cx="1348740" cy="422909"/>
          </a:xfrm>
          <a:prstGeom prst="rect">
            <a:avLst/>
          </a:prstGeom>
        </p:spPr>
        <p:txBody>
          <a:bodyPr wrap="square" lIns="0" tIns="13335" rIns="0" bIns="0" rtlCol="0" vert="horz">
            <a:spAutoFit/>
          </a:bodyPr>
          <a:lstStyle/>
          <a:p>
            <a:pPr marL="12700">
              <a:lnSpc>
                <a:spcPct val="100000"/>
              </a:lnSpc>
              <a:spcBef>
                <a:spcPts val="105"/>
              </a:spcBef>
            </a:pPr>
            <a:r>
              <a:rPr dirty="0" sz="2600" spc="-20">
                <a:latin typeface="微软雅黑"/>
                <a:cs typeface="微软雅黑"/>
              </a:rPr>
              <a:t>主存储器</a:t>
            </a:r>
            <a:endParaRPr sz="2600">
              <a:latin typeface="微软雅黑"/>
              <a:cs typeface="微软雅黑"/>
            </a:endParaRPr>
          </a:p>
        </p:txBody>
      </p:sp>
      <p:sp>
        <p:nvSpPr>
          <p:cNvPr id="7" name="object 7" descr=""/>
          <p:cNvSpPr txBox="1"/>
          <p:nvPr/>
        </p:nvSpPr>
        <p:spPr>
          <a:xfrm>
            <a:off x="3843273" y="4040835"/>
            <a:ext cx="2849880" cy="422909"/>
          </a:xfrm>
          <a:prstGeom prst="rect">
            <a:avLst/>
          </a:prstGeom>
        </p:spPr>
        <p:txBody>
          <a:bodyPr wrap="square" lIns="0" tIns="13335" rIns="0" bIns="0" rtlCol="0" vert="horz">
            <a:spAutoFit/>
          </a:bodyPr>
          <a:lstStyle/>
          <a:p>
            <a:pPr marL="12700">
              <a:lnSpc>
                <a:spcPct val="100000"/>
              </a:lnSpc>
              <a:spcBef>
                <a:spcPts val="105"/>
              </a:spcBef>
            </a:pPr>
            <a:r>
              <a:rPr dirty="0" sz="2600">
                <a:latin typeface="微软雅黑"/>
                <a:cs typeface="微软雅黑"/>
              </a:rPr>
              <a:t>I/O</a:t>
            </a:r>
            <a:r>
              <a:rPr dirty="0" sz="2600" spc="-20">
                <a:latin typeface="微软雅黑"/>
                <a:cs typeface="微软雅黑"/>
              </a:rPr>
              <a:t>接口中的寄存器</a:t>
            </a:r>
            <a:endParaRPr sz="2600">
              <a:latin typeface="微软雅黑"/>
              <a:cs typeface="微软雅黑"/>
            </a:endParaRPr>
          </a:p>
        </p:txBody>
      </p:sp>
      <p:sp>
        <p:nvSpPr>
          <p:cNvPr id="8" name="object 8" descr=""/>
          <p:cNvSpPr txBox="1"/>
          <p:nvPr/>
        </p:nvSpPr>
        <p:spPr>
          <a:xfrm>
            <a:off x="3843273" y="4898897"/>
            <a:ext cx="687070" cy="422275"/>
          </a:xfrm>
          <a:prstGeom prst="rect">
            <a:avLst/>
          </a:prstGeom>
        </p:spPr>
        <p:txBody>
          <a:bodyPr wrap="square" lIns="0" tIns="12700" rIns="0" bIns="0" rtlCol="0" vert="horz">
            <a:spAutoFit/>
          </a:bodyPr>
          <a:lstStyle/>
          <a:p>
            <a:pPr marL="12700">
              <a:lnSpc>
                <a:spcPct val="100000"/>
              </a:lnSpc>
              <a:spcBef>
                <a:spcPts val="100"/>
              </a:spcBef>
            </a:pPr>
            <a:r>
              <a:rPr dirty="0" sz="2600" spc="-25">
                <a:latin typeface="微软雅黑"/>
                <a:cs typeface="微软雅黑"/>
              </a:rPr>
              <a:t>堆栈</a:t>
            </a:r>
            <a:endParaRPr sz="2600">
              <a:latin typeface="微软雅黑"/>
              <a:cs typeface="微软雅黑"/>
            </a:endParaRPr>
          </a:p>
        </p:txBody>
      </p:sp>
      <p:grpSp>
        <p:nvGrpSpPr>
          <p:cNvPr id="9" name="object 9" descr=""/>
          <p:cNvGrpSpPr/>
          <p:nvPr/>
        </p:nvGrpSpPr>
        <p:grpSpPr>
          <a:xfrm>
            <a:off x="3043301" y="2286000"/>
            <a:ext cx="527050" cy="527050"/>
            <a:chOff x="3043301" y="2286000"/>
            <a:chExt cx="527050" cy="527050"/>
          </a:xfrm>
        </p:grpSpPr>
        <p:sp>
          <p:nvSpPr>
            <p:cNvPr id="10" name="object 10" descr=""/>
            <p:cNvSpPr/>
            <p:nvPr/>
          </p:nvSpPr>
          <p:spPr>
            <a:xfrm>
              <a:off x="3049651" y="2292350"/>
              <a:ext cx="514350" cy="514350"/>
            </a:xfrm>
            <a:custGeom>
              <a:avLst/>
              <a:gdLst/>
              <a:ahLst/>
              <a:cxnLst/>
              <a:rect l="l" t="t" r="r" b="b"/>
              <a:pathLst>
                <a:path w="514350" h="514350">
                  <a:moveTo>
                    <a:pt x="257175" y="0"/>
                  </a:moveTo>
                  <a:lnTo>
                    <a:pt x="210926" y="4145"/>
                  </a:lnTo>
                  <a:lnTo>
                    <a:pt x="167406" y="16095"/>
                  </a:lnTo>
                  <a:lnTo>
                    <a:pt x="127338" y="35122"/>
                  </a:lnTo>
                  <a:lnTo>
                    <a:pt x="91447" y="60500"/>
                  </a:lnTo>
                  <a:lnTo>
                    <a:pt x="60458" y="91500"/>
                  </a:lnTo>
                  <a:lnTo>
                    <a:pt x="35094" y="127395"/>
                  </a:lnTo>
                  <a:lnTo>
                    <a:pt x="16080" y="167457"/>
                  </a:lnTo>
                  <a:lnTo>
                    <a:pt x="4140" y="210960"/>
                  </a:lnTo>
                  <a:lnTo>
                    <a:pt x="0" y="257175"/>
                  </a:lnTo>
                  <a:lnTo>
                    <a:pt x="4140" y="303389"/>
                  </a:lnTo>
                  <a:lnTo>
                    <a:pt x="16080" y="346892"/>
                  </a:lnTo>
                  <a:lnTo>
                    <a:pt x="35094" y="386954"/>
                  </a:lnTo>
                  <a:lnTo>
                    <a:pt x="60458" y="422849"/>
                  </a:lnTo>
                  <a:lnTo>
                    <a:pt x="91447" y="453849"/>
                  </a:lnTo>
                  <a:lnTo>
                    <a:pt x="127338" y="479227"/>
                  </a:lnTo>
                  <a:lnTo>
                    <a:pt x="167406" y="498254"/>
                  </a:lnTo>
                  <a:lnTo>
                    <a:pt x="210926"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60"/>
                  </a:lnTo>
                  <a:lnTo>
                    <a:pt x="498254" y="167457"/>
                  </a:lnTo>
                  <a:lnTo>
                    <a:pt x="479227" y="127395"/>
                  </a:lnTo>
                  <a:lnTo>
                    <a:pt x="453849" y="91500"/>
                  </a:lnTo>
                  <a:lnTo>
                    <a:pt x="422849" y="60500"/>
                  </a:lnTo>
                  <a:lnTo>
                    <a:pt x="386954" y="35122"/>
                  </a:lnTo>
                  <a:lnTo>
                    <a:pt x="346892" y="16095"/>
                  </a:lnTo>
                  <a:lnTo>
                    <a:pt x="303389" y="4145"/>
                  </a:lnTo>
                  <a:lnTo>
                    <a:pt x="257175" y="0"/>
                  </a:lnTo>
                  <a:close/>
                </a:path>
              </a:pathLst>
            </a:custGeom>
            <a:solidFill>
              <a:srgbClr val="808080"/>
            </a:solidFill>
          </p:spPr>
          <p:txBody>
            <a:bodyPr wrap="square" lIns="0" tIns="0" rIns="0" bIns="0" rtlCol="0"/>
            <a:lstStyle/>
            <a:p/>
          </p:txBody>
        </p:sp>
        <p:sp>
          <p:nvSpPr>
            <p:cNvPr id="11" name="object 11" descr=""/>
            <p:cNvSpPr/>
            <p:nvPr/>
          </p:nvSpPr>
          <p:spPr>
            <a:xfrm>
              <a:off x="3049651" y="2292350"/>
              <a:ext cx="514350" cy="514350"/>
            </a:xfrm>
            <a:custGeom>
              <a:avLst/>
              <a:gdLst/>
              <a:ahLst/>
              <a:cxnLst/>
              <a:rect l="l" t="t" r="r" b="b"/>
              <a:pathLst>
                <a:path w="514350" h="514350">
                  <a:moveTo>
                    <a:pt x="0" y="257175"/>
                  </a:moveTo>
                  <a:lnTo>
                    <a:pt x="4140" y="210960"/>
                  </a:lnTo>
                  <a:lnTo>
                    <a:pt x="16080" y="167457"/>
                  </a:lnTo>
                  <a:lnTo>
                    <a:pt x="35094" y="127395"/>
                  </a:lnTo>
                  <a:lnTo>
                    <a:pt x="60458" y="91500"/>
                  </a:lnTo>
                  <a:lnTo>
                    <a:pt x="91447" y="60500"/>
                  </a:lnTo>
                  <a:lnTo>
                    <a:pt x="127338" y="35122"/>
                  </a:lnTo>
                  <a:lnTo>
                    <a:pt x="167406" y="16095"/>
                  </a:lnTo>
                  <a:lnTo>
                    <a:pt x="210926" y="4145"/>
                  </a:lnTo>
                  <a:lnTo>
                    <a:pt x="257175" y="0"/>
                  </a:lnTo>
                  <a:lnTo>
                    <a:pt x="303389" y="4145"/>
                  </a:lnTo>
                  <a:lnTo>
                    <a:pt x="346892" y="16095"/>
                  </a:lnTo>
                  <a:lnTo>
                    <a:pt x="386954" y="35122"/>
                  </a:lnTo>
                  <a:lnTo>
                    <a:pt x="422849" y="60500"/>
                  </a:lnTo>
                  <a:lnTo>
                    <a:pt x="453849" y="91500"/>
                  </a:lnTo>
                  <a:lnTo>
                    <a:pt x="479227" y="127395"/>
                  </a:lnTo>
                  <a:lnTo>
                    <a:pt x="498254" y="167457"/>
                  </a:lnTo>
                  <a:lnTo>
                    <a:pt x="510204" y="210960"/>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26" y="510204"/>
                  </a:lnTo>
                  <a:lnTo>
                    <a:pt x="167406" y="498254"/>
                  </a:lnTo>
                  <a:lnTo>
                    <a:pt x="127338" y="479227"/>
                  </a:lnTo>
                  <a:lnTo>
                    <a:pt x="91447" y="453849"/>
                  </a:lnTo>
                  <a:lnTo>
                    <a:pt x="60458" y="422849"/>
                  </a:lnTo>
                  <a:lnTo>
                    <a:pt x="35094" y="386954"/>
                  </a:lnTo>
                  <a:lnTo>
                    <a:pt x="16080" y="346892"/>
                  </a:lnTo>
                  <a:lnTo>
                    <a:pt x="4140" y="303389"/>
                  </a:lnTo>
                  <a:lnTo>
                    <a:pt x="0" y="257175"/>
                  </a:lnTo>
                  <a:close/>
                </a:path>
              </a:pathLst>
            </a:custGeom>
            <a:ln w="12700">
              <a:solidFill>
                <a:srgbClr val="000000"/>
              </a:solidFill>
            </a:ln>
          </p:spPr>
          <p:txBody>
            <a:bodyPr wrap="square" lIns="0" tIns="0" rIns="0" bIns="0" rtlCol="0"/>
            <a:lstStyle/>
            <a:p/>
          </p:txBody>
        </p:sp>
      </p:grpSp>
      <p:sp>
        <p:nvSpPr>
          <p:cNvPr id="12" name="object 12" descr=""/>
          <p:cNvSpPr txBox="1"/>
          <p:nvPr/>
        </p:nvSpPr>
        <p:spPr>
          <a:xfrm>
            <a:off x="3223005" y="2408047"/>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3" name="object 13" descr=""/>
          <p:cNvGrpSpPr/>
          <p:nvPr/>
        </p:nvGrpSpPr>
        <p:grpSpPr>
          <a:xfrm>
            <a:off x="3043301" y="3143250"/>
            <a:ext cx="527050" cy="527050"/>
            <a:chOff x="3043301" y="3143250"/>
            <a:chExt cx="527050" cy="527050"/>
          </a:xfrm>
        </p:grpSpPr>
        <p:sp>
          <p:nvSpPr>
            <p:cNvPr id="14" name="object 14" descr=""/>
            <p:cNvSpPr/>
            <p:nvPr/>
          </p:nvSpPr>
          <p:spPr>
            <a:xfrm>
              <a:off x="3049651" y="3149600"/>
              <a:ext cx="514350" cy="514350"/>
            </a:xfrm>
            <a:custGeom>
              <a:avLst/>
              <a:gdLst/>
              <a:ahLst/>
              <a:cxnLst/>
              <a:rect l="l" t="t" r="r" b="b"/>
              <a:pathLst>
                <a:path w="514350" h="514350">
                  <a:moveTo>
                    <a:pt x="257175" y="0"/>
                  </a:moveTo>
                  <a:lnTo>
                    <a:pt x="210926" y="4145"/>
                  </a:lnTo>
                  <a:lnTo>
                    <a:pt x="167406" y="16095"/>
                  </a:lnTo>
                  <a:lnTo>
                    <a:pt x="127338" y="35122"/>
                  </a:lnTo>
                  <a:lnTo>
                    <a:pt x="91447" y="60500"/>
                  </a:lnTo>
                  <a:lnTo>
                    <a:pt x="60458" y="91500"/>
                  </a:lnTo>
                  <a:lnTo>
                    <a:pt x="35094" y="127395"/>
                  </a:lnTo>
                  <a:lnTo>
                    <a:pt x="16080" y="167457"/>
                  </a:lnTo>
                  <a:lnTo>
                    <a:pt x="4140" y="210960"/>
                  </a:lnTo>
                  <a:lnTo>
                    <a:pt x="0" y="257175"/>
                  </a:lnTo>
                  <a:lnTo>
                    <a:pt x="4140" y="303389"/>
                  </a:lnTo>
                  <a:lnTo>
                    <a:pt x="16080" y="346892"/>
                  </a:lnTo>
                  <a:lnTo>
                    <a:pt x="35094" y="386954"/>
                  </a:lnTo>
                  <a:lnTo>
                    <a:pt x="60458" y="422849"/>
                  </a:lnTo>
                  <a:lnTo>
                    <a:pt x="91447" y="453849"/>
                  </a:lnTo>
                  <a:lnTo>
                    <a:pt x="127338" y="479227"/>
                  </a:lnTo>
                  <a:lnTo>
                    <a:pt x="167406" y="498254"/>
                  </a:lnTo>
                  <a:lnTo>
                    <a:pt x="210926"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60"/>
                  </a:lnTo>
                  <a:lnTo>
                    <a:pt x="498254" y="167457"/>
                  </a:lnTo>
                  <a:lnTo>
                    <a:pt x="479227" y="127395"/>
                  </a:lnTo>
                  <a:lnTo>
                    <a:pt x="453849" y="91500"/>
                  </a:lnTo>
                  <a:lnTo>
                    <a:pt x="422849" y="60500"/>
                  </a:lnTo>
                  <a:lnTo>
                    <a:pt x="386954" y="35122"/>
                  </a:lnTo>
                  <a:lnTo>
                    <a:pt x="346892" y="16095"/>
                  </a:lnTo>
                  <a:lnTo>
                    <a:pt x="303389" y="4145"/>
                  </a:lnTo>
                  <a:lnTo>
                    <a:pt x="257175" y="0"/>
                  </a:lnTo>
                  <a:close/>
                </a:path>
              </a:pathLst>
            </a:custGeom>
            <a:solidFill>
              <a:srgbClr val="808080"/>
            </a:solidFill>
          </p:spPr>
          <p:txBody>
            <a:bodyPr wrap="square" lIns="0" tIns="0" rIns="0" bIns="0" rtlCol="0"/>
            <a:lstStyle/>
            <a:p/>
          </p:txBody>
        </p:sp>
        <p:sp>
          <p:nvSpPr>
            <p:cNvPr id="15" name="object 15" descr=""/>
            <p:cNvSpPr/>
            <p:nvPr/>
          </p:nvSpPr>
          <p:spPr>
            <a:xfrm>
              <a:off x="3049651" y="3149600"/>
              <a:ext cx="514350" cy="514350"/>
            </a:xfrm>
            <a:custGeom>
              <a:avLst/>
              <a:gdLst/>
              <a:ahLst/>
              <a:cxnLst/>
              <a:rect l="l" t="t" r="r" b="b"/>
              <a:pathLst>
                <a:path w="514350" h="514350">
                  <a:moveTo>
                    <a:pt x="0" y="257175"/>
                  </a:moveTo>
                  <a:lnTo>
                    <a:pt x="4140" y="210960"/>
                  </a:lnTo>
                  <a:lnTo>
                    <a:pt x="16080" y="167457"/>
                  </a:lnTo>
                  <a:lnTo>
                    <a:pt x="35094" y="127395"/>
                  </a:lnTo>
                  <a:lnTo>
                    <a:pt x="60458" y="91500"/>
                  </a:lnTo>
                  <a:lnTo>
                    <a:pt x="91447" y="60500"/>
                  </a:lnTo>
                  <a:lnTo>
                    <a:pt x="127338" y="35122"/>
                  </a:lnTo>
                  <a:lnTo>
                    <a:pt x="167406" y="16095"/>
                  </a:lnTo>
                  <a:lnTo>
                    <a:pt x="210926" y="4145"/>
                  </a:lnTo>
                  <a:lnTo>
                    <a:pt x="257175" y="0"/>
                  </a:lnTo>
                  <a:lnTo>
                    <a:pt x="303389" y="4145"/>
                  </a:lnTo>
                  <a:lnTo>
                    <a:pt x="346892" y="16095"/>
                  </a:lnTo>
                  <a:lnTo>
                    <a:pt x="386954" y="35122"/>
                  </a:lnTo>
                  <a:lnTo>
                    <a:pt x="422849" y="60500"/>
                  </a:lnTo>
                  <a:lnTo>
                    <a:pt x="453849" y="91500"/>
                  </a:lnTo>
                  <a:lnTo>
                    <a:pt x="479227" y="127395"/>
                  </a:lnTo>
                  <a:lnTo>
                    <a:pt x="498254" y="167457"/>
                  </a:lnTo>
                  <a:lnTo>
                    <a:pt x="510204" y="210960"/>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26" y="510204"/>
                  </a:lnTo>
                  <a:lnTo>
                    <a:pt x="167406" y="498254"/>
                  </a:lnTo>
                  <a:lnTo>
                    <a:pt x="127338" y="479227"/>
                  </a:lnTo>
                  <a:lnTo>
                    <a:pt x="91447" y="453849"/>
                  </a:lnTo>
                  <a:lnTo>
                    <a:pt x="60458" y="422849"/>
                  </a:lnTo>
                  <a:lnTo>
                    <a:pt x="35094" y="386954"/>
                  </a:lnTo>
                  <a:lnTo>
                    <a:pt x="16080" y="346892"/>
                  </a:lnTo>
                  <a:lnTo>
                    <a:pt x="4140" y="303389"/>
                  </a:lnTo>
                  <a:lnTo>
                    <a:pt x="0" y="257175"/>
                  </a:lnTo>
                  <a:close/>
                </a:path>
              </a:pathLst>
            </a:custGeom>
            <a:ln w="12700">
              <a:solidFill>
                <a:srgbClr val="000000"/>
              </a:solidFill>
            </a:ln>
          </p:spPr>
          <p:txBody>
            <a:bodyPr wrap="square" lIns="0" tIns="0" rIns="0" bIns="0" rtlCol="0"/>
            <a:lstStyle/>
            <a:p/>
          </p:txBody>
        </p:sp>
      </p:grpSp>
      <p:sp>
        <p:nvSpPr>
          <p:cNvPr id="16" name="object 16" descr=""/>
          <p:cNvSpPr txBox="1"/>
          <p:nvPr/>
        </p:nvSpPr>
        <p:spPr>
          <a:xfrm>
            <a:off x="3231007" y="3265423"/>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grpSp>
        <p:nvGrpSpPr>
          <p:cNvPr id="17" name="object 17" descr=""/>
          <p:cNvGrpSpPr/>
          <p:nvPr/>
        </p:nvGrpSpPr>
        <p:grpSpPr>
          <a:xfrm>
            <a:off x="3043301" y="4000500"/>
            <a:ext cx="527050" cy="527050"/>
            <a:chOff x="3043301" y="4000500"/>
            <a:chExt cx="527050" cy="527050"/>
          </a:xfrm>
        </p:grpSpPr>
        <p:sp>
          <p:nvSpPr>
            <p:cNvPr id="18" name="object 18" descr=""/>
            <p:cNvSpPr/>
            <p:nvPr/>
          </p:nvSpPr>
          <p:spPr>
            <a:xfrm>
              <a:off x="3049651" y="4006850"/>
              <a:ext cx="514350" cy="514350"/>
            </a:xfrm>
            <a:custGeom>
              <a:avLst/>
              <a:gdLst/>
              <a:ahLst/>
              <a:cxnLst/>
              <a:rect l="l" t="t" r="r" b="b"/>
              <a:pathLst>
                <a:path w="514350" h="514350">
                  <a:moveTo>
                    <a:pt x="257175" y="0"/>
                  </a:moveTo>
                  <a:lnTo>
                    <a:pt x="210926" y="4145"/>
                  </a:lnTo>
                  <a:lnTo>
                    <a:pt x="167406" y="16095"/>
                  </a:lnTo>
                  <a:lnTo>
                    <a:pt x="127338" y="35122"/>
                  </a:lnTo>
                  <a:lnTo>
                    <a:pt x="91447" y="60500"/>
                  </a:lnTo>
                  <a:lnTo>
                    <a:pt x="60458" y="91500"/>
                  </a:lnTo>
                  <a:lnTo>
                    <a:pt x="35094" y="127395"/>
                  </a:lnTo>
                  <a:lnTo>
                    <a:pt x="16080" y="167457"/>
                  </a:lnTo>
                  <a:lnTo>
                    <a:pt x="4140" y="210960"/>
                  </a:lnTo>
                  <a:lnTo>
                    <a:pt x="0" y="257175"/>
                  </a:lnTo>
                  <a:lnTo>
                    <a:pt x="4140" y="303389"/>
                  </a:lnTo>
                  <a:lnTo>
                    <a:pt x="16080" y="346892"/>
                  </a:lnTo>
                  <a:lnTo>
                    <a:pt x="35094" y="386954"/>
                  </a:lnTo>
                  <a:lnTo>
                    <a:pt x="60458" y="422849"/>
                  </a:lnTo>
                  <a:lnTo>
                    <a:pt x="91447" y="453849"/>
                  </a:lnTo>
                  <a:lnTo>
                    <a:pt x="127338" y="479227"/>
                  </a:lnTo>
                  <a:lnTo>
                    <a:pt x="167406" y="498254"/>
                  </a:lnTo>
                  <a:lnTo>
                    <a:pt x="210926"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60"/>
                  </a:lnTo>
                  <a:lnTo>
                    <a:pt x="498254" y="167457"/>
                  </a:lnTo>
                  <a:lnTo>
                    <a:pt x="479227" y="127395"/>
                  </a:lnTo>
                  <a:lnTo>
                    <a:pt x="453849" y="91500"/>
                  </a:lnTo>
                  <a:lnTo>
                    <a:pt x="422849" y="60500"/>
                  </a:lnTo>
                  <a:lnTo>
                    <a:pt x="386954" y="35122"/>
                  </a:lnTo>
                  <a:lnTo>
                    <a:pt x="346892" y="16095"/>
                  </a:lnTo>
                  <a:lnTo>
                    <a:pt x="303389" y="4145"/>
                  </a:lnTo>
                  <a:lnTo>
                    <a:pt x="257175" y="0"/>
                  </a:lnTo>
                  <a:close/>
                </a:path>
              </a:pathLst>
            </a:custGeom>
            <a:solidFill>
              <a:srgbClr val="808080"/>
            </a:solidFill>
          </p:spPr>
          <p:txBody>
            <a:bodyPr wrap="square" lIns="0" tIns="0" rIns="0" bIns="0" rtlCol="0"/>
            <a:lstStyle/>
            <a:p/>
          </p:txBody>
        </p:sp>
        <p:sp>
          <p:nvSpPr>
            <p:cNvPr id="19" name="object 19" descr=""/>
            <p:cNvSpPr/>
            <p:nvPr/>
          </p:nvSpPr>
          <p:spPr>
            <a:xfrm>
              <a:off x="3049651" y="4006850"/>
              <a:ext cx="514350" cy="514350"/>
            </a:xfrm>
            <a:custGeom>
              <a:avLst/>
              <a:gdLst/>
              <a:ahLst/>
              <a:cxnLst/>
              <a:rect l="l" t="t" r="r" b="b"/>
              <a:pathLst>
                <a:path w="514350" h="514350">
                  <a:moveTo>
                    <a:pt x="0" y="257175"/>
                  </a:moveTo>
                  <a:lnTo>
                    <a:pt x="4140" y="210960"/>
                  </a:lnTo>
                  <a:lnTo>
                    <a:pt x="16080" y="167457"/>
                  </a:lnTo>
                  <a:lnTo>
                    <a:pt x="35094" y="127395"/>
                  </a:lnTo>
                  <a:lnTo>
                    <a:pt x="60458" y="91500"/>
                  </a:lnTo>
                  <a:lnTo>
                    <a:pt x="91447" y="60500"/>
                  </a:lnTo>
                  <a:lnTo>
                    <a:pt x="127338" y="35122"/>
                  </a:lnTo>
                  <a:lnTo>
                    <a:pt x="167406" y="16095"/>
                  </a:lnTo>
                  <a:lnTo>
                    <a:pt x="210926" y="4145"/>
                  </a:lnTo>
                  <a:lnTo>
                    <a:pt x="257175" y="0"/>
                  </a:lnTo>
                  <a:lnTo>
                    <a:pt x="303389" y="4145"/>
                  </a:lnTo>
                  <a:lnTo>
                    <a:pt x="346892" y="16095"/>
                  </a:lnTo>
                  <a:lnTo>
                    <a:pt x="386954" y="35122"/>
                  </a:lnTo>
                  <a:lnTo>
                    <a:pt x="422849" y="60500"/>
                  </a:lnTo>
                  <a:lnTo>
                    <a:pt x="453849" y="91500"/>
                  </a:lnTo>
                  <a:lnTo>
                    <a:pt x="479227" y="127395"/>
                  </a:lnTo>
                  <a:lnTo>
                    <a:pt x="498254" y="167457"/>
                  </a:lnTo>
                  <a:lnTo>
                    <a:pt x="510204" y="210960"/>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26" y="510204"/>
                  </a:lnTo>
                  <a:lnTo>
                    <a:pt x="167406" y="498254"/>
                  </a:lnTo>
                  <a:lnTo>
                    <a:pt x="127338" y="479227"/>
                  </a:lnTo>
                  <a:lnTo>
                    <a:pt x="91447" y="453849"/>
                  </a:lnTo>
                  <a:lnTo>
                    <a:pt x="60458" y="422849"/>
                  </a:lnTo>
                  <a:lnTo>
                    <a:pt x="35094" y="386954"/>
                  </a:lnTo>
                  <a:lnTo>
                    <a:pt x="16080" y="346892"/>
                  </a:lnTo>
                  <a:lnTo>
                    <a:pt x="4140" y="303389"/>
                  </a:lnTo>
                  <a:lnTo>
                    <a:pt x="0" y="257175"/>
                  </a:lnTo>
                  <a:close/>
                </a:path>
              </a:pathLst>
            </a:custGeom>
            <a:ln w="12700">
              <a:solidFill>
                <a:srgbClr val="000000"/>
              </a:solidFill>
            </a:ln>
          </p:spPr>
          <p:txBody>
            <a:bodyPr wrap="square" lIns="0" tIns="0" rIns="0" bIns="0" rtlCol="0"/>
            <a:lstStyle/>
            <a:p/>
          </p:txBody>
        </p:sp>
      </p:grpSp>
      <p:sp>
        <p:nvSpPr>
          <p:cNvPr id="20" name="object 20" descr=""/>
          <p:cNvSpPr txBox="1"/>
          <p:nvPr/>
        </p:nvSpPr>
        <p:spPr>
          <a:xfrm>
            <a:off x="3226054" y="4122801"/>
            <a:ext cx="16129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C</a:t>
            </a:r>
            <a:endParaRPr sz="1600">
              <a:latin typeface="微软雅黑"/>
              <a:cs typeface="微软雅黑"/>
            </a:endParaRPr>
          </a:p>
        </p:txBody>
      </p:sp>
      <p:grpSp>
        <p:nvGrpSpPr>
          <p:cNvPr id="21" name="object 21" descr=""/>
          <p:cNvGrpSpPr/>
          <p:nvPr/>
        </p:nvGrpSpPr>
        <p:grpSpPr>
          <a:xfrm>
            <a:off x="3036951" y="4851400"/>
            <a:ext cx="539750" cy="539750"/>
            <a:chOff x="3036951" y="4851400"/>
            <a:chExt cx="539750" cy="539750"/>
          </a:xfrm>
        </p:grpSpPr>
        <p:sp>
          <p:nvSpPr>
            <p:cNvPr id="22" name="object 22" descr=""/>
            <p:cNvSpPr/>
            <p:nvPr/>
          </p:nvSpPr>
          <p:spPr>
            <a:xfrm>
              <a:off x="3049651" y="4864100"/>
              <a:ext cx="514350" cy="514350"/>
            </a:xfrm>
            <a:custGeom>
              <a:avLst/>
              <a:gdLst/>
              <a:ahLst/>
              <a:cxnLst/>
              <a:rect l="l" t="t" r="r" b="b"/>
              <a:pathLst>
                <a:path w="514350" h="514350">
                  <a:moveTo>
                    <a:pt x="257175" y="0"/>
                  </a:moveTo>
                  <a:lnTo>
                    <a:pt x="210926" y="4145"/>
                  </a:lnTo>
                  <a:lnTo>
                    <a:pt x="167406" y="16095"/>
                  </a:lnTo>
                  <a:lnTo>
                    <a:pt x="127338" y="35122"/>
                  </a:lnTo>
                  <a:lnTo>
                    <a:pt x="91447" y="60500"/>
                  </a:lnTo>
                  <a:lnTo>
                    <a:pt x="60458" y="91500"/>
                  </a:lnTo>
                  <a:lnTo>
                    <a:pt x="35094" y="127395"/>
                  </a:lnTo>
                  <a:lnTo>
                    <a:pt x="16080" y="167457"/>
                  </a:lnTo>
                  <a:lnTo>
                    <a:pt x="4140" y="210960"/>
                  </a:lnTo>
                  <a:lnTo>
                    <a:pt x="0" y="257175"/>
                  </a:lnTo>
                  <a:lnTo>
                    <a:pt x="4140" y="303389"/>
                  </a:lnTo>
                  <a:lnTo>
                    <a:pt x="16080" y="346892"/>
                  </a:lnTo>
                  <a:lnTo>
                    <a:pt x="35094" y="386954"/>
                  </a:lnTo>
                  <a:lnTo>
                    <a:pt x="60458" y="422849"/>
                  </a:lnTo>
                  <a:lnTo>
                    <a:pt x="91447" y="453849"/>
                  </a:lnTo>
                  <a:lnTo>
                    <a:pt x="127338" y="479227"/>
                  </a:lnTo>
                  <a:lnTo>
                    <a:pt x="167406" y="498254"/>
                  </a:lnTo>
                  <a:lnTo>
                    <a:pt x="210926"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60"/>
                  </a:lnTo>
                  <a:lnTo>
                    <a:pt x="498254" y="167457"/>
                  </a:lnTo>
                  <a:lnTo>
                    <a:pt x="479227" y="127395"/>
                  </a:lnTo>
                  <a:lnTo>
                    <a:pt x="453849" y="91500"/>
                  </a:lnTo>
                  <a:lnTo>
                    <a:pt x="422849" y="60500"/>
                  </a:lnTo>
                  <a:lnTo>
                    <a:pt x="386954" y="35122"/>
                  </a:lnTo>
                  <a:lnTo>
                    <a:pt x="346892" y="16095"/>
                  </a:lnTo>
                  <a:lnTo>
                    <a:pt x="303389" y="4145"/>
                  </a:lnTo>
                  <a:lnTo>
                    <a:pt x="257175" y="0"/>
                  </a:lnTo>
                  <a:close/>
                </a:path>
              </a:pathLst>
            </a:custGeom>
            <a:solidFill>
              <a:srgbClr val="00FF00"/>
            </a:solidFill>
          </p:spPr>
          <p:txBody>
            <a:bodyPr wrap="square" lIns="0" tIns="0" rIns="0" bIns="0" rtlCol="0"/>
            <a:lstStyle/>
            <a:p/>
          </p:txBody>
        </p:sp>
        <p:sp>
          <p:nvSpPr>
            <p:cNvPr id="23" name="object 23" descr=""/>
            <p:cNvSpPr/>
            <p:nvPr/>
          </p:nvSpPr>
          <p:spPr>
            <a:xfrm>
              <a:off x="3049651" y="4864100"/>
              <a:ext cx="514350" cy="514350"/>
            </a:xfrm>
            <a:custGeom>
              <a:avLst/>
              <a:gdLst/>
              <a:ahLst/>
              <a:cxnLst/>
              <a:rect l="l" t="t" r="r" b="b"/>
              <a:pathLst>
                <a:path w="514350" h="514350">
                  <a:moveTo>
                    <a:pt x="0" y="257175"/>
                  </a:moveTo>
                  <a:lnTo>
                    <a:pt x="4140" y="210960"/>
                  </a:lnTo>
                  <a:lnTo>
                    <a:pt x="16080" y="167457"/>
                  </a:lnTo>
                  <a:lnTo>
                    <a:pt x="35094" y="127395"/>
                  </a:lnTo>
                  <a:lnTo>
                    <a:pt x="60458" y="91500"/>
                  </a:lnTo>
                  <a:lnTo>
                    <a:pt x="91447" y="60500"/>
                  </a:lnTo>
                  <a:lnTo>
                    <a:pt x="127338" y="35122"/>
                  </a:lnTo>
                  <a:lnTo>
                    <a:pt x="167406" y="16095"/>
                  </a:lnTo>
                  <a:lnTo>
                    <a:pt x="210926" y="4145"/>
                  </a:lnTo>
                  <a:lnTo>
                    <a:pt x="257175" y="0"/>
                  </a:lnTo>
                  <a:lnTo>
                    <a:pt x="303389" y="4145"/>
                  </a:lnTo>
                  <a:lnTo>
                    <a:pt x="346892" y="16095"/>
                  </a:lnTo>
                  <a:lnTo>
                    <a:pt x="386954" y="35122"/>
                  </a:lnTo>
                  <a:lnTo>
                    <a:pt x="422849" y="60500"/>
                  </a:lnTo>
                  <a:lnTo>
                    <a:pt x="453849" y="91500"/>
                  </a:lnTo>
                  <a:lnTo>
                    <a:pt x="479227" y="127395"/>
                  </a:lnTo>
                  <a:lnTo>
                    <a:pt x="498254" y="167457"/>
                  </a:lnTo>
                  <a:lnTo>
                    <a:pt x="510204" y="210960"/>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26" y="510204"/>
                  </a:lnTo>
                  <a:lnTo>
                    <a:pt x="167406" y="498254"/>
                  </a:lnTo>
                  <a:lnTo>
                    <a:pt x="127338" y="479227"/>
                  </a:lnTo>
                  <a:lnTo>
                    <a:pt x="91447" y="453849"/>
                  </a:lnTo>
                  <a:lnTo>
                    <a:pt x="60458" y="422849"/>
                  </a:lnTo>
                  <a:lnTo>
                    <a:pt x="35094" y="386954"/>
                  </a:lnTo>
                  <a:lnTo>
                    <a:pt x="16080" y="346892"/>
                  </a:lnTo>
                  <a:lnTo>
                    <a:pt x="4140" y="303389"/>
                  </a:lnTo>
                  <a:lnTo>
                    <a:pt x="0" y="257175"/>
                  </a:lnTo>
                  <a:close/>
                </a:path>
              </a:pathLst>
            </a:custGeom>
            <a:ln w="25400">
              <a:solidFill>
                <a:srgbClr val="000000"/>
              </a:solidFill>
            </a:ln>
          </p:spPr>
          <p:txBody>
            <a:bodyPr wrap="square" lIns="0" tIns="0" rIns="0" bIns="0" rtlCol="0"/>
            <a:lstStyle/>
            <a:p/>
          </p:txBody>
        </p:sp>
      </p:grpSp>
      <p:sp>
        <p:nvSpPr>
          <p:cNvPr id="24" name="object 24" descr=""/>
          <p:cNvSpPr txBox="1"/>
          <p:nvPr/>
        </p:nvSpPr>
        <p:spPr>
          <a:xfrm>
            <a:off x="3216655" y="4980178"/>
            <a:ext cx="18034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D</a:t>
            </a:r>
            <a:endParaRPr sz="1600">
              <a:latin typeface="微软雅黑"/>
              <a:cs typeface="微软雅黑"/>
            </a:endParaRPr>
          </a:p>
        </p:txBody>
      </p:sp>
      <p:grpSp>
        <p:nvGrpSpPr>
          <p:cNvPr id="25" name="object 25" descr=""/>
          <p:cNvGrpSpPr/>
          <p:nvPr/>
        </p:nvGrpSpPr>
        <p:grpSpPr>
          <a:xfrm>
            <a:off x="8093075" y="5857875"/>
            <a:ext cx="1581150" cy="449580"/>
            <a:chOff x="8093075" y="5857875"/>
            <a:chExt cx="1581150" cy="449580"/>
          </a:xfrm>
        </p:grpSpPr>
        <p:sp>
          <p:nvSpPr>
            <p:cNvPr id="26" name="object 26" descr=""/>
            <p:cNvSpPr/>
            <p:nvPr/>
          </p:nvSpPr>
          <p:spPr>
            <a:xfrm>
              <a:off x="8112125" y="5876925"/>
              <a:ext cx="1543050" cy="411480"/>
            </a:xfrm>
            <a:custGeom>
              <a:avLst/>
              <a:gdLst/>
              <a:ahLst/>
              <a:cxnLst/>
              <a:rect l="l" t="t" r="r" b="b"/>
              <a:pathLst>
                <a:path w="1543050" h="411479">
                  <a:moveTo>
                    <a:pt x="1474470" y="0"/>
                  </a:moveTo>
                  <a:lnTo>
                    <a:pt x="68579" y="0"/>
                  </a:lnTo>
                  <a:lnTo>
                    <a:pt x="41898" y="5385"/>
                  </a:lnTo>
                  <a:lnTo>
                    <a:pt x="20097" y="20072"/>
                  </a:lnTo>
                  <a:lnTo>
                    <a:pt x="5393" y="41855"/>
                  </a:lnTo>
                  <a:lnTo>
                    <a:pt x="0" y="68529"/>
                  </a:lnTo>
                  <a:lnTo>
                    <a:pt x="0" y="342633"/>
                  </a:lnTo>
                  <a:lnTo>
                    <a:pt x="5393" y="369307"/>
                  </a:lnTo>
                  <a:lnTo>
                    <a:pt x="20097" y="391090"/>
                  </a:lnTo>
                  <a:lnTo>
                    <a:pt x="41898" y="405776"/>
                  </a:lnTo>
                  <a:lnTo>
                    <a:pt x="68579" y="411162"/>
                  </a:lnTo>
                  <a:lnTo>
                    <a:pt x="1474470" y="411162"/>
                  </a:lnTo>
                  <a:lnTo>
                    <a:pt x="1501151" y="405776"/>
                  </a:lnTo>
                  <a:lnTo>
                    <a:pt x="1522952" y="391090"/>
                  </a:lnTo>
                  <a:lnTo>
                    <a:pt x="1537656" y="369307"/>
                  </a:lnTo>
                  <a:lnTo>
                    <a:pt x="1543050" y="342633"/>
                  </a:lnTo>
                  <a:lnTo>
                    <a:pt x="1543050" y="68529"/>
                  </a:lnTo>
                  <a:lnTo>
                    <a:pt x="1537656" y="41855"/>
                  </a:lnTo>
                  <a:lnTo>
                    <a:pt x="1522952" y="20072"/>
                  </a:lnTo>
                  <a:lnTo>
                    <a:pt x="1501151" y="5385"/>
                  </a:lnTo>
                  <a:lnTo>
                    <a:pt x="1474470" y="0"/>
                  </a:lnTo>
                  <a:close/>
                </a:path>
              </a:pathLst>
            </a:custGeom>
            <a:solidFill>
              <a:srgbClr val="808080"/>
            </a:solidFill>
          </p:spPr>
          <p:txBody>
            <a:bodyPr wrap="square" lIns="0" tIns="0" rIns="0" bIns="0" rtlCol="0"/>
            <a:lstStyle/>
            <a:p/>
          </p:txBody>
        </p:sp>
        <p:sp>
          <p:nvSpPr>
            <p:cNvPr id="27" name="object 27" descr=""/>
            <p:cNvSpPr/>
            <p:nvPr/>
          </p:nvSpPr>
          <p:spPr>
            <a:xfrm>
              <a:off x="8112125" y="5876925"/>
              <a:ext cx="1543050" cy="411480"/>
            </a:xfrm>
            <a:custGeom>
              <a:avLst/>
              <a:gdLst/>
              <a:ahLst/>
              <a:cxnLst/>
              <a:rect l="l" t="t" r="r" b="b"/>
              <a:pathLst>
                <a:path w="1543050" h="411479">
                  <a:moveTo>
                    <a:pt x="0" y="68529"/>
                  </a:moveTo>
                  <a:lnTo>
                    <a:pt x="5393" y="41855"/>
                  </a:lnTo>
                  <a:lnTo>
                    <a:pt x="20097" y="20072"/>
                  </a:lnTo>
                  <a:lnTo>
                    <a:pt x="41898" y="5385"/>
                  </a:lnTo>
                  <a:lnTo>
                    <a:pt x="68579" y="0"/>
                  </a:lnTo>
                  <a:lnTo>
                    <a:pt x="1474470" y="0"/>
                  </a:lnTo>
                  <a:lnTo>
                    <a:pt x="1501151" y="5385"/>
                  </a:lnTo>
                  <a:lnTo>
                    <a:pt x="1522952" y="20072"/>
                  </a:lnTo>
                  <a:lnTo>
                    <a:pt x="1537656" y="41855"/>
                  </a:lnTo>
                  <a:lnTo>
                    <a:pt x="1543050" y="68529"/>
                  </a:lnTo>
                  <a:lnTo>
                    <a:pt x="1543050" y="342633"/>
                  </a:lnTo>
                  <a:lnTo>
                    <a:pt x="1537656" y="369307"/>
                  </a:lnTo>
                  <a:lnTo>
                    <a:pt x="1522952" y="391090"/>
                  </a:lnTo>
                  <a:lnTo>
                    <a:pt x="1501151" y="405776"/>
                  </a:lnTo>
                  <a:lnTo>
                    <a:pt x="1474470" y="411162"/>
                  </a:lnTo>
                  <a:lnTo>
                    <a:pt x="68579" y="411162"/>
                  </a:lnTo>
                  <a:lnTo>
                    <a:pt x="41898" y="405776"/>
                  </a:lnTo>
                  <a:lnTo>
                    <a:pt x="20097" y="391090"/>
                  </a:lnTo>
                  <a:lnTo>
                    <a:pt x="5393" y="369307"/>
                  </a:lnTo>
                  <a:lnTo>
                    <a:pt x="0" y="342633"/>
                  </a:lnTo>
                  <a:lnTo>
                    <a:pt x="0" y="68529"/>
                  </a:lnTo>
                  <a:close/>
                </a:path>
              </a:pathLst>
            </a:custGeom>
            <a:ln w="38100">
              <a:solidFill>
                <a:srgbClr val="000000"/>
              </a:solidFill>
            </a:ln>
          </p:spPr>
          <p:txBody>
            <a:bodyPr wrap="square" lIns="0" tIns="0" rIns="0" bIns="0" rtlCol="0"/>
            <a:lstStyle/>
            <a:p/>
          </p:txBody>
        </p:sp>
      </p:grpSp>
      <p:sp>
        <p:nvSpPr>
          <p:cNvPr id="28" name="object 28" descr=""/>
          <p:cNvSpPr txBox="1"/>
          <p:nvPr/>
        </p:nvSpPr>
        <p:spPr>
          <a:xfrm>
            <a:off x="8668893" y="5941567"/>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sp>
        <p:nvSpPr>
          <p:cNvPr id="29" name="object 29"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sp>
        <p:nvSpPr>
          <p:cNvPr id="30" name="object 30" descr=""/>
          <p:cNvSpPr txBox="1"/>
          <p:nvPr/>
        </p:nvSpPr>
        <p:spPr>
          <a:xfrm>
            <a:off x="190500" y="0"/>
            <a:ext cx="8953500" cy="635000"/>
          </a:xfrm>
          <a:prstGeom prst="rect">
            <a:avLst/>
          </a:prstGeom>
          <a:solidFill>
            <a:srgbClr val="F6F7F8"/>
          </a:solidFill>
        </p:spPr>
        <p:txBody>
          <a:bodyPr wrap="square" lIns="0" tIns="106045" rIns="0" bIns="0" rtlCol="0" vert="horz">
            <a:spAutoFit/>
          </a:bodyPr>
          <a:lstStyle/>
          <a:p>
            <a:pPr marL="154940">
              <a:lnSpc>
                <a:spcPct val="100000"/>
              </a:lnSpc>
              <a:spcBef>
                <a:spcPts val="835"/>
              </a:spcBef>
              <a:tabLst>
                <a:tab pos="1426845" algn="l"/>
              </a:tabLst>
            </a:pPr>
            <a:r>
              <a:rPr dirty="0" sz="2600">
                <a:latin typeface="微软雅黑"/>
                <a:cs typeface="微软雅黑"/>
              </a:rPr>
              <a:t>单选</a:t>
            </a:r>
            <a:r>
              <a:rPr dirty="0" sz="2600" spc="-50">
                <a:latin typeface="微软雅黑"/>
                <a:cs typeface="微软雅黑"/>
              </a:rPr>
              <a:t>题</a:t>
            </a:r>
            <a:r>
              <a:rPr dirty="0" sz="2600">
                <a:latin typeface="微软雅黑"/>
                <a:cs typeface="微软雅黑"/>
              </a:rPr>
              <a:t>	</a:t>
            </a:r>
            <a:r>
              <a:rPr dirty="0" baseline="-4166" sz="3000">
                <a:solidFill>
                  <a:srgbClr val="808080"/>
                </a:solidFill>
                <a:latin typeface="微软雅黑"/>
                <a:cs typeface="微软雅黑"/>
              </a:rPr>
              <a:t>1</a:t>
            </a:r>
            <a:r>
              <a:rPr dirty="0" baseline="-4166" sz="3000" spc="-75">
                <a:solidFill>
                  <a:srgbClr val="808080"/>
                </a:solidFill>
                <a:latin typeface="微软雅黑"/>
                <a:cs typeface="微软雅黑"/>
              </a:rPr>
              <a:t>分</a:t>
            </a:r>
            <a:endParaRPr baseline="-4166" sz="3000">
              <a:latin typeface="微软雅黑"/>
              <a:cs typeface="微软雅黑"/>
            </a:endParaRPr>
          </a:p>
        </p:txBody>
      </p:sp>
      <p:pic>
        <p:nvPicPr>
          <p:cNvPr id="31" name="object 31"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sp>
        <p:nvSpPr>
          <p:cNvPr id="3" name="object 3"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4" name="object 4"/>
          <p:cNvSpPr txBox="1">
            <a:spLocks noGrp="1"/>
          </p:cNvSpPr>
          <p:nvPr>
            <p:ph type="title"/>
          </p:nvPr>
        </p:nvSpPr>
        <p:spPr>
          <a:xfrm>
            <a:off x="2430272" y="1411604"/>
            <a:ext cx="7408545" cy="452120"/>
          </a:xfrm>
          <a:prstGeom prst="rect"/>
        </p:spPr>
        <p:txBody>
          <a:bodyPr wrap="square" lIns="0" tIns="12065" rIns="0" bIns="0" rtlCol="0" vert="horz">
            <a:spAutoFit/>
          </a:bodyPr>
          <a:lstStyle/>
          <a:p>
            <a:pPr marL="12700">
              <a:lnSpc>
                <a:spcPct val="100000"/>
              </a:lnSpc>
              <a:spcBef>
                <a:spcPts val="95"/>
              </a:spcBef>
              <a:tabLst>
                <a:tab pos="6685280" algn="l"/>
              </a:tabLst>
            </a:pPr>
            <a:r>
              <a:rPr dirty="0" u="none" sz="2800" b="0">
                <a:solidFill>
                  <a:srgbClr val="000000"/>
                </a:solidFill>
                <a:latin typeface="微软雅黑"/>
                <a:cs typeface="微软雅黑"/>
              </a:rPr>
              <a:t>2</a:t>
            </a:r>
            <a:r>
              <a:rPr dirty="0" u="none" sz="2800" spc="-35" b="0">
                <a:solidFill>
                  <a:srgbClr val="000000"/>
                </a:solidFill>
                <a:latin typeface="微软雅黑"/>
                <a:cs typeface="微软雅黑"/>
              </a:rPr>
              <a:t>、信息按整数边界存储的主要优点是</a:t>
            </a:r>
            <a:r>
              <a:rPr dirty="0" u="none" sz="2800" spc="-50" b="0">
                <a:solidFill>
                  <a:srgbClr val="000000"/>
                </a:solidFill>
                <a:latin typeface="微软雅黑"/>
                <a:cs typeface="微软雅黑"/>
              </a:rPr>
              <a:t>（</a:t>
            </a:r>
            <a:r>
              <a:rPr dirty="0" u="none" sz="2800" b="0">
                <a:solidFill>
                  <a:srgbClr val="000000"/>
                </a:solidFill>
                <a:latin typeface="微软雅黑"/>
                <a:cs typeface="微软雅黑"/>
              </a:rPr>
              <a:t>	</a:t>
            </a:r>
            <a:r>
              <a:rPr dirty="0" u="none" sz="2800" spc="-35" b="0">
                <a:solidFill>
                  <a:srgbClr val="000000"/>
                </a:solidFill>
                <a:latin typeface="微软雅黑"/>
                <a:cs typeface="微软雅黑"/>
              </a:rPr>
              <a:t>）</a:t>
            </a:r>
            <a:r>
              <a:rPr dirty="0" u="none" sz="2800" spc="-50" b="0">
                <a:solidFill>
                  <a:srgbClr val="000000"/>
                </a:solidFill>
                <a:latin typeface="微软雅黑"/>
                <a:cs typeface="微软雅黑"/>
              </a:rPr>
              <a:t>。</a:t>
            </a:r>
            <a:endParaRPr sz="2800">
              <a:latin typeface="微软雅黑"/>
              <a:cs typeface="微软雅黑"/>
            </a:endParaRPr>
          </a:p>
        </p:txBody>
      </p:sp>
      <p:sp>
        <p:nvSpPr>
          <p:cNvPr id="5" name="object 5" descr=""/>
          <p:cNvSpPr txBox="1"/>
          <p:nvPr/>
        </p:nvSpPr>
        <p:spPr>
          <a:xfrm>
            <a:off x="3873500" y="2302510"/>
            <a:ext cx="1678939"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访存速度快</a:t>
            </a:r>
            <a:endParaRPr sz="2600">
              <a:latin typeface="微软雅黑"/>
              <a:cs typeface="微软雅黑"/>
            </a:endParaRPr>
          </a:p>
        </p:txBody>
      </p:sp>
      <p:sp>
        <p:nvSpPr>
          <p:cNvPr id="6" name="object 6" descr=""/>
          <p:cNvSpPr txBox="1"/>
          <p:nvPr/>
        </p:nvSpPr>
        <p:spPr>
          <a:xfrm>
            <a:off x="3873500" y="3160013"/>
            <a:ext cx="2009775"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节约主存单元</a:t>
            </a:r>
            <a:endParaRPr sz="2600">
              <a:latin typeface="微软雅黑"/>
              <a:cs typeface="微软雅黑"/>
            </a:endParaRPr>
          </a:p>
        </p:txBody>
      </p:sp>
      <p:sp>
        <p:nvSpPr>
          <p:cNvPr id="7" name="object 7" descr=""/>
          <p:cNvSpPr txBox="1"/>
          <p:nvPr/>
        </p:nvSpPr>
        <p:spPr>
          <a:xfrm>
            <a:off x="3873500" y="4017086"/>
            <a:ext cx="2340610" cy="422909"/>
          </a:xfrm>
          <a:prstGeom prst="rect">
            <a:avLst/>
          </a:prstGeom>
        </p:spPr>
        <p:txBody>
          <a:bodyPr wrap="square" lIns="0" tIns="13335" rIns="0" bIns="0" rtlCol="0" vert="horz">
            <a:spAutoFit/>
          </a:bodyPr>
          <a:lstStyle/>
          <a:p>
            <a:pPr marL="12700">
              <a:lnSpc>
                <a:spcPct val="100000"/>
              </a:lnSpc>
              <a:spcBef>
                <a:spcPts val="105"/>
              </a:spcBef>
            </a:pPr>
            <a:r>
              <a:rPr dirty="0" sz="2600" spc="-20">
                <a:latin typeface="微软雅黑"/>
                <a:cs typeface="微软雅黑"/>
              </a:rPr>
              <a:t>指令字的规整化</a:t>
            </a:r>
            <a:endParaRPr sz="2600">
              <a:latin typeface="微软雅黑"/>
              <a:cs typeface="微软雅黑"/>
            </a:endParaRPr>
          </a:p>
        </p:txBody>
      </p:sp>
      <p:sp>
        <p:nvSpPr>
          <p:cNvPr id="8" name="object 8" descr=""/>
          <p:cNvSpPr txBox="1"/>
          <p:nvPr/>
        </p:nvSpPr>
        <p:spPr>
          <a:xfrm>
            <a:off x="3873500" y="4874463"/>
            <a:ext cx="1678939" cy="422909"/>
          </a:xfrm>
          <a:prstGeom prst="rect">
            <a:avLst/>
          </a:prstGeom>
        </p:spPr>
        <p:txBody>
          <a:bodyPr wrap="square" lIns="0" tIns="13335" rIns="0" bIns="0" rtlCol="0" vert="horz">
            <a:spAutoFit/>
          </a:bodyPr>
          <a:lstStyle/>
          <a:p>
            <a:pPr marL="12700">
              <a:lnSpc>
                <a:spcPct val="100000"/>
              </a:lnSpc>
              <a:spcBef>
                <a:spcPts val="105"/>
              </a:spcBef>
            </a:pPr>
            <a:r>
              <a:rPr dirty="0" sz="2600" spc="-20">
                <a:latin typeface="微软雅黑"/>
                <a:cs typeface="微软雅黑"/>
              </a:rPr>
              <a:t>指令的优化</a:t>
            </a:r>
            <a:endParaRPr sz="2600">
              <a:latin typeface="微软雅黑"/>
              <a:cs typeface="微软雅黑"/>
            </a:endParaRPr>
          </a:p>
        </p:txBody>
      </p:sp>
      <p:grpSp>
        <p:nvGrpSpPr>
          <p:cNvPr id="9" name="object 9" descr=""/>
          <p:cNvGrpSpPr/>
          <p:nvPr/>
        </p:nvGrpSpPr>
        <p:grpSpPr>
          <a:xfrm>
            <a:off x="3130550" y="2255901"/>
            <a:ext cx="539750" cy="539750"/>
            <a:chOff x="3130550" y="2255901"/>
            <a:chExt cx="539750" cy="539750"/>
          </a:xfrm>
        </p:grpSpPr>
        <p:sp>
          <p:nvSpPr>
            <p:cNvPr id="10" name="object 10" descr=""/>
            <p:cNvSpPr/>
            <p:nvPr/>
          </p:nvSpPr>
          <p:spPr>
            <a:xfrm>
              <a:off x="3143250" y="2268601"/>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00FF00"/>
            </a:solidFill>
          </p:spPr>
          <p:txBody>
            <a:bodyPr wrap="square" lIns="0" tIns="0" rIns="0" bIns="0" rtlCol="0"/>
            <a:lstStyle/>
            <a:p/>
          </p:txBody>
        </p:sp>
        <p:sp>
          <p:nvSpPr>
            <p:cNvPr id="11" name="object 11" descr=""/>
            <p:cNvSpPr/>
            <p:nvPr/>
          </p:nvSpPr>
          <p:spPr>
            <a:xfrm>
              <a:off x="3143250" y="2268601"/>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25400">
              <a:solidFill>
                <a:srgbClr val="000000"/>
              </a:solidFill>
            </a:ln>
          </p:spPr>
          <p:txBody>
            <a:bodyPr wrap="square" lIns="0" tIns="0" rIns="0" bIns="0" rtlCol="0"/>
            <a:lstStyle/>
            <a:p/>
          </p:txBody>
        </p:sp>
      </p:grpSp>
      <p:sp>
        <p:nvSpPr>
          <p:cNvPr id="12" name="object 12" descr=""/>
          <p:cNvSpPr txBox="1"/>
          <p:nvPr/>
        </p:nvSpPr>
        <p:spPr>
          <a:xfrm>
            <a:off x="3316604" y="2383612"/>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3" name="object 13" descr=""/>
          <p:cNvGrpSpPr/>
          <p:nvPr/>
        </p:nvGrpSpPr>
        <p:grpSpPr>
          <a:xfrm>
            <a:off x="3136900" y="3119501"/>
            <a:ext cx="527050" cy="527050"/>
            <a:chOff x="3136900" y="3119501"/>
            <a:chExt cx="527050" cy="527050"/>
          </a:xfrm>
        </p:grpSpPr>
        <p:sp>
          <p:nvSpPr>
            <p:cNvPr id="14" name="object 14" descr=""/>
            <p:cNvSpPr/>
            <p:nvPr/>
          </p:nvSpPr>
          <p:spPr>
            <a:xfrm>
              <a:off x="3143250" y="3125851"/>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5" name="object 15" descr=""/>
            <p:cNvSpPr/>
            <p:nvPr/>
          </p:nvSpPr>
          <p:spPr>
            <a:xfrm>
              <a:off x="3143250" y="3125851"/>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6" name="object 16" descr=""/>
          <p:cNvSpPr txBox="1"/>
          <p:nvPr/>
        </p:nvSpPr>
        <p:spPr>
          <a:xfrm>
            <a:off x="3324605" y="3241674"/>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grpSp>
        <p:nvGrpSpPr>
          <p:cNvPr id="17" name="object 17" descr=""/>
          <p:cNvGrpSpPr/>
          <p:nvPr/>
        </p:nvGrpSpPr>
        <p:grpSpPr>
          <a:xfrm>
            <a:off x="3136900" y="3976751"/>
            <a:ext cx="527050" cy="527050"/>
            <a:chOff x="3136900" y="3976751"/>
            <a:chExt cx="527050" cy="527050"/>
          </a:xfrm>
        </p:grpSpPr>
        <p:sp>
          <p:nvSpPr>
            <p:cNvPr id="18" name="object 18" descr=""/>
            <p:cNvSpPr/>
            <p:nvPr/>
          </p:nvSpPr>
          <p:spPr>
            <a:xfrm>
              <a:off x="3143250" y="3983101"/>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9" name="object 19" descr=""/>
            <p:cNvSpPr/>
            <p:nvPr/>
          </p:nvSpPr>
          <p:spPr>
            <a:xfrm>
              <a:off x="3143250" y="3983101"/>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20" name="object 20" descr=""/>
          <p:cNvSpPr txBox="1"/>
          <p:nvPr/>
        </p:nvSpPr>
        <p:spPr>
          <a:xfrm>
            <a:off x="3320034" y="4099052"/>
            <a:ext cx="16129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C</a:t>
            </a:r>
            <a:endParaRPr sz="1600">
              <a:latin typeface="微软雅黑"/>
              <a:cs typeface="微软雅黑"/>
            </a:endParaRPr>
          </a:p>
        </p:txBody>
      </p:sp>
      <p:grpSp>
        <p:nvGrpSpPr>
          <p:cNvPr id="21" name="object 21" descr=""/>
          <p:cNvGrpSpPr/>
          <p:nvPr/>
        </p:nvGrpSpPr>
        <p:grpSpPr>
          <a:xfrm>
            <a:off x="3136900" y="4834001"/>
            <a:ext cx="527050" cy="527050"/>
            <a:chOff x="3136900" y="4834001"/>
            <a:chExt cx="527050" cy="527050"/>
          </a:xfrm>
        </p:grpSpPr>
        <p:sp>
          <p:nvSpPr>
            <p:cNvPr id="22" name="object 22" descr=""/>
            <p:cNvSpPr/>
            <p:nvPr/>
          </p:nvSpPr>
          <p:spPr>
            <a:xfrm>
              <a:off x="3143250" y="4840351"/>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23" name="object 23" descr=""/>
            <p:cNvSpPr/>
            <p:nvPr/>
          </p:nvSpPr>
          <p:spPr>
            <a:xfrm>
              <a:off x="3143250" y="4840351"/>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24" name="object 24" descr=""/>
          <p:cNvSpPr txBox="1"/>
          <p:nvPr/>
        </p:nvSpPr>
        <p:spPr>
          <a:xfrm>
            <a:off x="3310254" y="4956428"/>
            <a:ext cx="18034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D</a:t>
            </a:r>
            <a:endParaRPr sz="1600">
              <a:latin typeface="微软雅黑"/>
              <a:cs typeface="微软雅黑"/>
            </a:endParaRPr>
          </a:p>
        </p:txBody>
      </p:sp>
      <p:grpSp>
        <p:nvGrpSpPr>
          <p:cNvPr id="25" name="object 25" descr=""/>
          <p:cNvGrpSpPr/>
          <p:nvPr/>
        </p:nvGrpSpPr>
        <p:grpSpPr>
          <a:xfrm>
            <a:off x="7877175" y="5811837"/>
            <a:ext cx="1581150" cy="449580"/>
            <a:chOff x="7877175" y="5811837"/>
            <a:chExt cx="1581150" cy="449580"/>
          </a:xfrm>
        </p:grpSpPr>
        <p:sp>
          <p:nvSpPr>
            <p:cNvPr id="26" name="object 26" descr=""/>
            <p:cNvSpPr/>
            <p:nvPr/>
          </p:nvSpPr>
          <p:spPr>
            <a:xfrm>
              <a:off x="7896225" y="5830887"/>
              <a:ext cx="1543050" cy="411480"/>
            </a:xfrm>
            <a:custGeom>
              <a:avLst/>
              <a:gdLst/>
              <a:ahLst/>
              <a:cxnLst/>
              <a:rect l="l" t="t" r="r" b="b"/>
              <a:pathLst>
                <a:path w="1543050" h="411479">
                  <a:moveTo>
                    <a:pt x="1474470" y="0"/>
                  </a:moveTo>
                  <a:lnTo>
                    <a:pt x="68579" y="0"/>
                  </a:lnTo>
                  <a:lnTo>
                    <a:pt x="41898" y="5385"/>
                  </a:lnTo>
                  <a:lnTo>
                    <a:pt x="20097" y="20072"/>
                  </a:lnTo>
                  <a:lnTo>
                    <a:pt x="5393" y="41855"/>
                  </a:lnTo>
                  <a:lnTo>
                    <a:pt x="0" y="68529"/>
                  </a:lnTo>
                  <a:lnTo>
                    <a:pt x="0" y="342633"/>
                  </a:lnTo>
                  <a:lnTo>
                    <a:pt x="5393" y="369307"/>
                  </a:lnTo>
                  <a:lnTo>
                    <a:pt x="20097" y="391090"/>
                  </a:lnTo>
                  <a:lnTo>
                    <a:pt x="41898" y="405776"/>
                  </a:lnTo>
                  <a:lnTo>
                    <a:pt x="68579" y="411162"/>
                  </a:lnTo>
                  <a:lnTo>
                    <a:pt x="1474470" y="411162"/>
                  </a:lnTo>
                  <a:lnTo>
                    <a:pt x="1501151" y="405776"/>
                  </a:lnTo>
                  <a:lnTo>
                    <a:pt x="1522952" y="391090"/>
                  </a:lnTo>
                  <a:lnTo>
                    <a:pt x="1537656" y="369307"/>
                  </a:lnTo>
                  <a:lnTo>
                    <a:pt x="1543050" y="342633"/>
                  </a:lnTo>
                  <a:lnTo>
                    <a:pt x="1543050" y="68529"/>
                  </a:lnTo>
                  <a:lnTo>
                    <a:pt x="1537656" y="41855"/>
                  </a:lnTo>
                  <a:lnTo>
                    <a:pt x="1522952" y="20072"/>
                  </a:lnTo>
                  <a:lnTo>
                    <a:pt x="1501151" y="5385"/>
                  </a:lnTo>
                  <a:lnTo>
                    <a:pt x="1474470" y="0"/>
                  </a:lnTo>
                  <a:close/>
                </a:path>
              </a:pathLst>
            </a:custGeom>
            <a:solidFill>
              <a:srgbClr val="808080"/>
            </a:solidFill>
          </p:spPr>
          <p:txBody>
            <a:bodyPr wrap="square" lIns="0" tIns="0" rIns="0" bIns="0" rtlCol="0"/>
            <a:lstStyle/>
            <a:p/>
          </p:txBody>
        </p:sp>
        <p:sp>
          <p:nvSpPr>
            <p:cNvPr id="27" name="object 27" descr=""/>
            <p:cNvSpPr/>
            <p:nvPr/>
          </p:nvSpPr>
          <p:spPr>
            <a:xfrm>
              <a:off x="7896225" y="5830887"/>
              <a:ext cx="1543050" cy="411480"/>
            </a:xfrm>
            <a:custGeom>
              <a:avLst/>
              <a:gdLst/>
              <a:ahLst/>
              <a:cxnLst/>
              <a:rect l="l" t="t" r="r" b="b"/>
              <a:pathLst>
                <a:path w="1543050" h="411479">
                  <a:moveTo>
                    <a:pt x="0" y="68529"/>
                  </a:moveTo>
                  <a:lnTo>
                    <a:pt x="5393" y="41855"/>
                  </a:lnTo>
                  <a:lnTo>
                    <a:pt x="20097" y="20072"/>
                  </a:lnTo>
                  <a:lnTo>
                    <a:pt x="41898" y="5385"/>
                  </a:lnTo>
                  <a:lnTo>
                    <a:pt x="68579" y="0"/>
                  </a:lnTo>
                  <a:lnTo>
                    <a:pt x="1474470" y="0"/>
                  </a:lnTo>
                  <a:lnTo>
                    <a:pt x="1501151" y="5385"/>
                  </a:lnTo>
                  <a:lnTo>
                    <a:pt x="1522952" y="20072"/>
                  </a:lnTo>
                  <a:lnTo>
                    <a:pt x="1537656" y="41855"/>
                  </a:lnTo>
                  <a:lnTo>
                    <a:pt x="1543050" y="68529"/>
                  </a:lnTo>
                  <a:lnTo>
                    <a:pt x="1543050" y="342633"/>
                  </a:lnTo>
                  <a:lnTo>
                    <a:pt x="1537656" y="369307"/>
                  </a:lnTo>
                  <a:lnTo>
                    <a:pt x="1522952" y="391090"/>
                  </a:lnTo>
                  <a:lnTo>
                    <a:pt x="1501151" y="405776"/>
                  </a:lnTo>
                  <a:lnTo>
                    <a:pt x="1474470" y="411162"/>
                  </a:lnTo>
                  <a:lnTo>
                    <a:pt x="68579" y="411162"/>
                  </a:lnTo>
                  <a:lnTo>
                    <a:pt x="41898" y="405776"/>
                  </a:lnTo>
                  <a:lnTo>
                    <a:pt x="20097" y="391090"/>
                  </a:lnTo>
                  <a:lnTo>
                    <a:pt x="5393" y="369307"/>
                  </a:lnTo>
                  <a:lnTo>
                    <a:pt x="0" y="342633"/>
                  </a:lnTo>
                  <a:lnTo>
                    <a:pt x="0" y="68529"/>
                  </a:lnTo>
                  <a:close/>
                </a:path>
              </a:pathLst>
            </a:custGeom>
            <a:ln w="38100">
              <a:solidFill>
                <a:srgbClr val="000000"/>
              </a:solidFill>
            </a:ln>
          </p:spPr>
          <p:txBody>
            <a:bodyPr wrap="square" lIns="0" tIns="0" rIns="0" bIns="0" rtlCol="0"/>
            <a:lstStyle/>
            <a:p/>
          </p:txBody>
        </p:sp>
      </p:grpSp>
      <p:sp>
        <p:nvSpPr>
          <p:cNvPr id="28" name="object 28" descr=""/>
          <p:cNvSpPr txBox="1"/>
          <p:nvPr/>
        </p:nvSpPr>
        <p:spPr>
          <a:xfrm>
            <a:off x="8452866" y="5895543"/>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sp>
        <p:nvSpPr>
          <p:cNvPr id="29" name="object 29"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sp>
        <p:nvSpPr>
          <p:cNvPr id="30" name="object 30" descr=""/>
          <p:cNvSpPr txBox="1"/>
          <p:nvPr/>
        </p:nvSpPr>
        <p:spPr>
          <a:xfrm>
            <a:off x="190500" y="0"/>
            <a:ext cx="8953500" cy="635000"/>
          </a:xfrm>
          <a:prstGeom prst="rect">
            <a:avLst/>
          </a:prstGeom>
          <a:solidFill>
            <a:srgbClr val="F6F7F8"/>
          </a:solidFill>
        </p:spPr>
        <p:txBody>
          <a:bodyPr wrap="square" lIns="0" tIns="106045" rIns="0" bIns="0" rtlCol="0" vert="horz">
            <a:spAutoFit/>
          </a:bodyPr>
          <a:lstStyle/>
          <a:p>
            <a:pPr marL="154940">
              <a:lnSpc>
                <a:spcPct val="100000"/>
              </a:lnSpc>
              <a:spcBef>
                <a:spcPts val="835"/>
              </a:spcBef>
              <a:tabLst>
                <a:tab pos="1426845" algn="l"/>
              </a:tabLst>
            </a:pPr>
            <a:r>
              <a:rPr dirty="0" sz="2600">
                <a:latin typeface="微软雅黑"/>
                <a:cs typeface="微软雅黑"/>
              </a:rPr>
              <a:t>单选</a:t>
            </a:r>
            <a:r>
              <a:rPr dirty="0" sz="2600" spc="-50">
                <a:latin typeface="微软雅黑"/>
                <a:cs typeface="微软雅黑"/>
              </a:rPr>
              <a:t>题</a:t>
            </a:r>
            <a:r>
              <a:rPr dirty="0" sz="2600">
                <a:latin typeface="微软雅黑"/>
                <a:cs typeface="微软雅黑"/>
              </a:rPr>
              <a:t>	</a:t>
            </a:r>
            <a:r>
              <a:rPr dirty="0" baseline="-4166" sz="3000">
                <a:solidFill>
                  <a:srgbClr val="808080"/>
                </a:solidFill>
                <a:latin typeface="微软雅黑"/>
                <a:cs typeface="微软雅黑"/>
              </a:rPr>
              <a:t>1</a:t>
            </a:r>
            <a:r>
              <a:rPr dirty="0" baseline="-4166" sz="3000" spc="-75">
                <a:solidFill>
                  <a:srgbClr val="808080"/>
                </a:solidFill>
                <a:latin typeface="微软雅黑"/>
                <a:cs typeface="微软雅黑"/>
              </a:rPr>
              <a:t>分</a:t>
            </a:r>
            <a:endParaRPr baseline="-4166" sz="3000">
              <a:latin typeface="微软雅黑"/>
              <a:cs typeface="微软雅黑"/>
            </a:endParaRPr>
          </a:p>
        </p:txBody>
      </p:sp>
      <p:pic>
        <p:nvPicPr>
          <p:cNvPr id="31" name="object 31"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06451"/>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latin typeface="微软雅黑"/>
                <a:cs typeface="微软雅黑"/>
              </a:rPr>
              <a:t>	2.3</a:t>
            </a:r>
            <a:r>
              <a:rPr dirty="0" spc="15">
                <a:solidFill>
                  <a:srgbClr val="4F55AC"/>
                </a:solidFill>
                <a:latin typeface="微软雅黑"/>
                <a:cs typeface="微软雅黑"/>
              </a:rPr>
              <a:t> </a:t>
            </a:r>
            <a:r>
              <a:rPr dirty="0" spc="-1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782317" y="656390"/>
            <a:ext cx="8902065" cy="4304665"/>
          </a:xfrm>
          <a:prstGeom prst="rect">
            <a:avLst/>
          </a:prstGeom>
        </p:spPr>
        <p:txBody>
          <a:bodyPr wrap="square" lIns="0" tIns="163830" rIns="0" bIns="0" rtlCol="0" vert="horz">
            <a:spAutoFit/>
          </a:bodyPr>
          <a:lstStyle/>
          <a:p>
            <a:pPr marL="4621530">
              <a:lnSpc>
                <a:spcPct val="100000"/>
              </a:lnSpc>
              <a:spcBef>
                <a:spcPts val="1290"/>
              </a:spcBef>
            </a:pPr>
            <a:r>
              <a:rPr dirty="0" sz="2400">
                <a:solidFill>
                  <a:srgbClr val="0000CC"/>
                </a:solidFill>
                <a:latin typeface="黑体"/>
                <a:cs typeface="黑体"/>
              </a:rPr>
              <a:t>2.3.1</a:t>
            </a:r>
            <a:r>
              <a:rPr dirty="0" sz="2400" spc="-15">
                <a:solidFill>
                  <a:srgbClr val="0000CC"/>
                </a:solidFill>
                <a:latin typeface="黑体"/>
                <a:cs typeface="黑体"/>
              </a:rPr>
              <a:t> 指令系统设计的基本原则</a:t>
            </a:r>
            <a:endParaRPr sz="2400">
              <a:latin typeface="黑体"/>
              <a:cs typeface="黑体"/>
            </a:endParaRPr>
          </a:p>
          <a:p>
            <a:pPr marL="469265" indent="-456565">
              <a:lnSpc>
                <a:spcPct val="100000"/>
              </a:lnSpc>
              <a:spcBef>
                <a:spcPts val="2185"/>
              </a:spcBef>
              <a:buClr>
                <a:srgbClr val="40458B"/>
              </a:buClr>
              <a:buSzPct val="117857"/>
              <a:buFont typeface="Wingdings"/>
              <a:buChar char=""/>
              <a:tabLst>
                <a:tab pos="469265" algn="l"/>
              </a:tabLst>
            </a:pPr>
            <a:r>
              <a:rPr dirty="0" sz="2800" spc="-40">
                <a:solidFill>
                  <a:srgbClr val="172152"/>
                </a:solidFill>
                <a:latin typeface="黑体"/>
                <a:cs typeface="黑体"/>
              </a:rPr>
              <a:t>指令系统的设计</a:t>
            </a:r>
            <a:endParaRPr sz="2800">
              <a:latin typeface="黑体"/>
              <a:cs typeface="黑体"/>
            </a:endParaRPr>
          </a:p>
          <a:p>
            <a:pPr lvl="1" marL="1099185" indent="-457200">
              <a:lnSpc>
                <a:spcPct val="100000"/>
              </a:lnSpc>
              <a:spcBef>
                <a:spcPts val="875"/>
              </a:spcBef>
              <a:buSzPct val="88636"/>
              <a:buFont typeface="Wingdings"/>
              <a:buChar char=""/>
              <a:tabLst>
                <a:tab pos="1099185" algn="l"/>
              </a:tabLst>
            </a:pPr>
            <a:r>
              <a:rPr dirty="0" sz="2200" spc="-35">
                <a:solidFill>
                  <a:srgbClr val="006FC0"/>
                </a:solidFill>
                <a:latin typeface="黑体"/>
                <a:cs typeface="黑体"/>
              </a:rPr>
              <a:t>首先考虑所应实现的基本功能，确定哪些基本功能应该由硬</a:t>
            </a:r>
            <a:endParaRPr sz="2200">
              <a:latin typeface="黑体"/>
              <a:cs typeface="黑体"/>
            </a:endParaRPr>
          </a:p>
          <a:p>
            <a:pPr marL="1099185">
              <a:lnSpc>
                <a:spcPct val="100000"/>
              </a:lnSpc>
              <a:spcBef>
                <a:spcPts val="265"/>
              </a:spcBef>
            </a:pPr>
            <a:r>
              <a:rPr dirty="0" sz="2200" spc="-35">
                <a:solidFill>
                  <a:srgbClr val="006FC0"/>
                </a:solidFill>
                <a:latin typeface="黑体"/>
                <a:cs typeface="黑体"/>
              </a:rPr>
              <a:t>件实现，哪些功能由软件实现比较合适。</a:t>
            </a:r>
            <a:endParaRPr sz="2200">
              <a:latin typeface="黑体"/>
              <a:cs typeface="黑体"/>
            </a:endParaRPr>
          </a:p>
          <a:p>
            <a:pPr lvl="1" marL="1099185" indent="-457200">
              <a:lnSpc>
                <a:spcPct val="100000"/>
              </a:lnSpc>
              <a:spcBef>
                <a:spcPts val="795"/>
              </a:spcBef>
              <a:buClr>
                <a:srgbClr val="006FC0"/>
              </a:buClr>
              <a:buSzPct val="88636"/>
              <a:buFont typeface="Wingdings"/>
              <a:buChar char=""/>
              <a:tabLst>
                <a:tab pos="1099185" algn="l"/>
              </a:tabLst>
            </a:pPr>
            <a:r>
              <a:rPr dirty="0" sz="2200" spc="-35">
                <a:solidFill>
                  <a:srgbClr val="D50092"/>
                </a:solidFill>
                <a:latin typeface="黑体"/>
                <a:cs typeface="黑体"/>
              </a:rPr>
              <a:t>包括</a:t>
            </a:r>
            <a:endParaRPr sz="2200">
              <a:latin typeface="黑体"/>
              <a:cs typeface="黑体"/>
            </a:endParaRPr>
          </a:p>
          <a:p>
            <a:pPr lvl="2" marL="1308100" indent="-360045">
              <a:lnSpc>
                <a:spcPct val="100000"/>
              </a:lnSpc>
              <a:spcBef>
                <a:spcPts val="740"/>
              </a:spcBef>
              <a:buClr>
                <a:srgbClr val="4668F5"/>
              </a:buClr>
              <a:buSzPct val="72500"/>
              <a:buFont typeface="Wingdings"/>
              <a:buChar char=""/>
              <a:tabLst>
                <a:tab pos="1308100" algn="l"/>
              </a:tabLst>
            </a:pPr>
            <a:r>
              <a:rPr dirty="0" sz="2000" spc="-25" b="1">
                <a:solidFill>
                  <a:srgbClr val="6F2F9F"/>
                </a:solidFill>
                <a:latin typeface="黑体"/>
                <a:cs typeface="黑体"/>
              </a:rPr>
              <a:t>指令的功能设计</a:t>
            </a:r>
            <a:endParaRPr sz="2000">
              <a:latin typeface="黑体"/>
              <a:cs typeface="黑体"/>
            </a:endParaRPr>
          </a:p>
          <a:p>
            <a:pPr lvl="2" marL="1308100" indent="-360045">
              <a:lnSpc>
                <a:spcPct val="100000"/>
              </a:lnSpc>
              <a:spcBef>
                <a:spcPts val="720"/>
              </a:spcBef>
              <a:buClr>
                <a:srgbClr val="4668F5"/>
              </a:buClr>
              <a:buSzPct val="72500"/>
              <a:buFont typeface="Wingdings"/>
              <a:buChar char=""/>
              <a:tabLst>
                <a:tab pos="1308100" algn="l"/>
              </a:tabLst>
            </a:pPr>
            <a:r>
              <a:rPr dirty="0" sz="2000" spc="-25" b="1">
                <a:solidFill>
                  <a:srgbClr val="6F2F9F"/>
                </a:solidFill>
                <a:latin typeface="黑体"/>
                <a:cs typeface="黑体"/>
              </a:rPr>
              <a:t>指令格式的设计</a:t>
            </a:r>
            <a:endParaRPr sz="2000">
              <a:latin typeface="黑体"/>
              <a:cs typeface="黑体"/>
            </a:endParaRPr>
          </a:p>
          <a:p>
            <a:pPr marL="469900" marR="401955" indent="-457200">
              <a:lnSpc>
                <a:spcPct val="110000"/>
              </a:lnSpc>
              <a:spcBef>
                <a:spcPts val="570"/>
              </a:spcBef>
              <a:buClr>
                <a:srgbClr val="40458B"/>
              </a:buClr>
              <a:buSzPct val="117857"/>
              <a:buFont typeface="Wingdings"/>
              <a:buChar char=""/>
              <a:tabLst>
                <a:tab pos="469900" algn="l"/>
              </a:tabLst>
            </a:pPr>
            <a:r>
              <a:rPr dirty="0" sz="2800" spc="-40">
                <a:solidFill>
                  <a:srgbClr val="172152"/>
                </a:solidFill>
                <a:latin typeface="黑体"/>
                <a:cs typeface="黑体"/>
              </a:rPr>
              <a:t>在确定哪些基本功能用硬件来实现时，主要考虑</a:t>
            </a:r>
            <a:r>
              <a:rPr dirty="0" sz="2800" spc="-10">
                <a:solidFill>
                  <a:srgbClr val="008000"/>
                </a:solidFill>
                <a:latin typeface="Tahoma"/>
                <a:cs typeface="Tahoma"/>
              </a:rPr>
              <a:t>3</a:t>
            </a:r>
            <a:r>
              <a:rPr dirty="0" sz="2800" spc="-50">
                <a:solidFill>
                  <a:srgbClr val="008000"/>
                </a:solidFill>
                <a:latin typeface="黑体"/>
                <a:cs typeface="黑体"/>
              </a:rPr>
              <a:t>个</a:t>
            </a:r>
            <a:r>
              <a:rPr dirty="0" sz="2800" spc="-35">
                <a:solidFill>
                  <a:srgbClr val="008000"/>
                </a:solidFill>
                <a:latin typeface="黑体"/>
                <a:cs typeface="黑体"/>
              </a:rPr>
              <a:t>因素：</a:t>
            </a:r>
            <a:r>
              <a:rPr dirty="0" sz="2800" spc="-40">
                <a:solidFill>
                  <a:srgbClr val="172152"/>
                </a:solidFill>
                <a:latin typeface="黑体"/>
                <a:cs typeface="黑体"/>
              </a:rPr>
              <a:t>速度、成本、灵活性。</a:t>
            </a:r>
            <a:endParaRPr sz="2800">
              <a:latin typeface="黑体"/>
              <a:cs typeface="黑体"/>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710689" algn="l"/>
                <a:tab pos="11028045" algn="l"/>
              </a:tabLst>
            </a:pPr>
            <a:r>
              <a:rPr dirty="0">
                <a:solidFill>
                  <a:srgbClr val="4F55AC"/>
                </a:solidFill>
              </a:rPr>
              <a:t>	2.3</a:t>
            </a:r>
            <a:r>
              <a:rPr dirty="0" spc="15">
                <a:solidFill>
                  <a:srgbClr val="4F55AC"/>
                </a:solidFill>
              </a:rPr>
              <a:t> </a:t>
            </a:r>
            <a:r>
              <a:rPr dirty="0" spc="-1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602994" y="723391"/>
            <a:ext cx="9081135" cy="4118610"/>
          </a:xfrm>
          <a:prstGeom prst="rect">
            <a:avLst/>
          </a:prstGeom>
        </p:spPr>
        <p:txBody>
          <a:bodyPr wrap="square" lIns="0" tIns="12700" rIns="0" bIns="0" rtlCol="0" vert="horz">
            <a:spAutoFit/>
          </a:bodyPr>
          <a:lstStyle/>
          <a:p>
            <a:pPr marL="4800600">
              <a:lnSpc>
                <a:spcPct val="100000"/>
              </a:lnSpc>
              <a:spcBef>
                <a:spcPts val="100"/>
              </a:spcBef>
              <a:tabLst>
                <a:tab pos="5715000" algn="l"/>
              </a:tabLst>
            </a:pPr>
            <a:r>
              <a:rPr dirty="0" sz="2400" spc="-10">
                <a:solidFill>
                  <a:srgbClr val="0000CC"/>
                </a:solidFill>
                <a:latin typeface="黑体"/>
                <a:cs typeface="黑体"/>
              </a:rPr>
              <a:t>2.3.1</a:t>
            </a:r>
            <a:r>
              <a:rPr dirty="0" sz="2400">
                <a:solidFill>
                  <a:srgbClr val="0000CC"/>
                </a:solidFill>
                <a:latin typeface="黑体"/>
                <a:cs typeface="黑体"/>
              </a:rPr>
              <a:t>	</a:t>
            </a:r>
            <a:r>
              <a:rPr dirty="0" sz="2400" spc="-5">
                <a:solidFill>
                  <a:srgbClr val="0000CC"/>
                </a:solidFill>
                <a:latin typeface="黑体"/>
                <a:cs typeface="黑体"/>
              </a:rPr>
              <a:t>指令系统设计的基本原则</a:t>
            </a:r>
            <a:endParaRPr sz="2400">
              <a:latin typeface="黑体"/>
              <a:cs typeface="黑体"/>
            </a:endParaRPr>
          </a:p>
          <a:p>
            <a:pPr>
              <a:lnSpc>
                <a:spcPct val="100000"/>
              </a:lnSpc>
              <a:spcBef>
                <a:spcPts val="2460"/>
              </a:spcBef>
            </a:pPr>
            <a:endParaRPr sz="2400">
              <a:latin typeface="黑体"/>
              <a:cs typeface="黑体"/>
            </a:endParaRPr>
          </a:p>
          <a:p>
            <a:pPr marL="1099185" indent="-457200">
              <a:lnSpc>
                <a:spcPct val="100000"/>
              </a:lnSpc>
              <a:buSzPct val="88636"/>
              <a:buFont typeface="Wingdings"/>
              <a:buChar char=""/>
              <a:tabLst>
                <a:tab pos="1099185" algn="l"/>
              </a:tabLst>
            </a:pPr>
            <a:r>
              <a:rPr dirty="0" sz="2200" spc="-30">
                <a:solidFill>
                  <a:srgbClr val="006FC0"/>
                </a:solidFill>
                <a:latin typeface="黑体"/>
                <a:cs typeface="黑体"/>
              </a:rPr>
              <a:t>硬件实现的</a:t>
            </a:r>
            <a:r>
              <a:rPr dirty="0" sz="2200" spc="-35">
                <a:solidFill>
                  <a:srgbClr val="D50092"/>
                </a:solidFill>
                <a:latin typeface="黑体"/>
                <a:cs typeface="黑体"/>
              </a:rPr>
              <a:t>特点</a:t>
            </a:r>
            <a:endParaRPr sz="2200">
              <a:latin typeface="黑体"/>
              <a:cs typeface="黑体"/>
            </a:endParaRPr>
          </a:p>
          <a:p>
            <a:pPr marL="1592580">
              <a:lnSpc>
                <a:spcPct val="100000"/>
              </a:lnSpc>
              <a:spcBef>
                <a:spcPts val="1230"/>
              </a:spcBef>
            </a:pPr>
            <a:r>
              <a:rPr dirty="0" sz="2000" spc="-25" b="1">
                <a:solidFill>
                  <a:srgbClr val="6F2F9F"/>
                </a:solidFill>
                <a:latin typeface="黑体"/>
                <a:cs typeface="黑体"/>
              </a:rPr>
              <a:t>速度快、成本高、灵活性差</a:t>
            </a:r>
            <a:endParaRPr sz="2000">
              <a:latin typeface="黑体"/>
              <a:cs typeface="黑体"/>
            </a:endParaRPr>
          </a:p>
          <a:p>
            <a:pPr marL="1099185" indent="-457200">
              <a:lnSpc>
                <a:spcPct val="100000"/>
              </a:lnSpc>
              <a:spcBef>
                <a:spcPts val="1290"/>
              </a:spcBef>
              <a:buSzPct val="88636"/>
              <a:buFont typeface="Wingdings"/>
              <a:buChar char=""/>
              <a:tabLst>
                <a:tab pos="1099185" algn="l"/>
              </a:tabLst>
            </a:pPr>
            <a:r>
              <a:rPr dirty="0" sz="2200" spc="-30">
                <a:solidFill>
                  <a:srgbClr val="006FC0"/>
                </a:solidFill>
                <a:latin typeface="黑体"/>
                <a:cs typeface="黑体"/>
              </a:rPr>
              <a:t>软件实现的</a:t>
            </a:r>
            <a:r>
              <a:rPr dirty="0" sz="2200" spc="-35">
                <a:solidFill>
                  <a:srgbClr val="D50092"/>
                </a:solidFill>
                <a:latin typeface="黑体"/>
                <a:cs typeface="黑体"/>
              </a:rPr>
              <a:t>特点</a:t>
            </a:r>
            <a:endParaRPr sz="2200">
              <a:latin typeface="黑体"/>
              <a:cs typeface="黑体"/>
            </a:endParaRPr>
          </a:p>
          <a:p>
            <a:pPr marL="1592580">
              <a:lnSpc>
                <a:spcPct val="100000"/>
              </a:lnSpc>
              <a:spcBef>
                <a:spcPts val="1235"/>
              </a:spcBef>
            </a:pPr>
            <a:r>
              <a:rPr dirty="0" sz="2000" spc="-25" b="1">
                <a:solidFill>
                  <a:srgbClr val="6F2F9F"/>
                </a:solidFill>
                <a:latin typeface="黑体"/>
                <a:cs typeface="黑体"/>
              </a:rPr>
              <a:t>速度慢、价格便宜、灵活性好</a:t>
            </a:r>
            <a:endParaRPr sz="2000">
              <a:latin typeface="黑体"/>
              <a:cs typeface="黑体"/>
            </a:endParaRPr>
          </a:p>
          <a:p>
            <a:pPr marL="12700">
              <a:lnSpc>
                <a:spcPct val="100000"/>
              </a:lnSpc>
              <a:spcBef>
                <a:spcPts val="1025"/>
              </a:spcBef>
            </a:pPr>
            <a:r>
              <a:rPr dirty="0" sz="3300">
                <a:solidFill>
                  <a:srgbClr val="40458B"/>
                </a:solidFill>
                <a:latin typeface="Tahoma"/>
                <a:cs typeface="Tahoma"/>
              </a:rPr>
              <a:t>3.</a:t>
            </a:r>
            <a:r>
              <a:rPr dirty="0" sz="3300" spc="-180">
                <a:solidFill>
                  <a:srgbClr val="40458B"/>
                </a:solidFill>
                <a:latin typeface="Tahoma"/>
                <a:cs typeface="Tahoma"/>
              </a:rPr>
              <a:t> </a:t>
            </a:r>
            <a:r>
              <a:rPr dirty="0" sz="2800" spc="-40">
                <a:solidFill>
                  <a:srgbClr val="172152"/>
                </a:solidFill>
                <a:latin typeface="黑体"/>
                <a:cs typeface="黑体"/>
              </a:rPr>
              <a:t>对指令系统的基本要求</a:t>
            </a:r>
            <a:endParaRPr sz="2800">
              <a:latin typeface="黑体"/>
              <a:cs typeface="黑体"/>
            </a:endParaRPr>
          </a:p>
          <a:p>
            <a:pPr algn="ctr" marL="144780">
              <a:lnSpc>
                <a:spcPct val="100000"/>
              </a:lnSpc>
              <a:spcBef>
                <a:spcPts val="1585"/>
              </a:spcBef>
            </a:pPr>
            <a:r>
              <a:rPr dirty="0" sz="2800" spc="-40">
                <a:solidFill>
                  <a:srgbClr val="008000"/>
                </a:solidFill>
                <a:latin typeface="黑体"/>
                <a:cs typeface="黑体"/>
              </a:rPr>
              <a:t>完整性、规整性、正交性、高效率、兼容性</a:t>
            </a:r>
            <a:endParaRPr sz="2800">
              <a:latin typeface="黑体"/>
              <a:cs typeface="黑体"/>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184531"/>
            <a:ext cx="11041380" cy="513715"/>
          </a:xfrm>
          <a:prstGeom prst="rect"/>
        </p:spPr>
        <p:txBody>
          <a:bodyPr wrap="square" lIns="0" tIns="12700" rIns="0" bIns="0" rtlCol="0" vert="horz">
            <a:spAutoFit/>
          </a:bodyPr>
          <a:lstStyle/>
          <a:p>
            <a:pPr marL="12700">
              <a:lnSpc>
                <a:spcPct val="100000"/>
              </a:lnSpc>
              <a:spcBef>
                <a:spcPts val="100"/>
              </a:spcBef>
              <a:tabLst>
                <a:tab pos="1428115" algn="l"/>
                <a:tab pos="11028045" algn="l"/>
              </a:tabLst>
            </a:pPr>
            <a:r>
              <a:rPr dirty="0">
                <a:solidFill>
                  <a:srgbClr val="4F55AC"/>
                </a:solidFill>
              </a:rPr>
              <a:t>	2.3</a:t>
            </a:r>
            <a:r>
              <a:rPr dirty="0" spc="-30">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927351" y="595712"/>
            <a:ext cx="8535035" cy="3491865"/>
          </a:xfrm>
          <a:prstGeom prst="rect">
            <a:avLst/>
          </a:prstGeom>
        </p:spPr>
        <p:txBody>
          <a:bodyPr wrap="square" lIns="0" tIns="182880" rIns="0" bIns="0" rtlCol="0" vert="horz">
            <a:spAutoFit/>
          </a:bodyPr>
          <a:lstStyle/>
          <a:p>
            <a:pPr marL="4254500">
              <a:lnSpc>
                <a:spcPct val="100000"/>
              </a:lnSpc>
              <a:spcBef>
                <a:spcPts val="1440"/>
              </a:spcBef>
              <a:tabLst>
                <a:tab pos="5168900" algn="l"/>
              </a:tabLst>
            </a:pPr>
            <a:r>
              <a:rPr dirty="0" sz="2400" spc="-10">
                <a:solidFill>
                  <a:srgbClr val="0000CC"/>
                </a:solidFill>
                <a:latin typeface="黑体"/>
                <a:cs typeface="黑体"/>
              </a:rPr>
              <a:t>2.3.1</a:t>
            </a:r>
            <a:r>
              <a:rPr dirty="0" sz="2400">
                <a:solidFill>
                  <a:srgbClr val="0000CC"/>
                </a:solidFill>
                <a:latin typeface="黑体"/>
                <a:cs typeface="黑体"/>
              </a:rPr>
              <a:t>	</a:t>
            </a:r>
            <a:r>
              <a:rPr dirty="0" sz="2400" spc="-5">
                <a:solidFill>
                  <a:srgbClr val="0000CC"/>
                </a:solidFill>
                <a:latin typeface="黑体"/>
                <a:cs typeface="黑体"/>
              </a:rPr>
              <a:t>指令系统设计的基本原则</a:t>
            </a:r>
            <a:endParaRPr sz="2400">
              <a:latin typeface="黑体"/>
              <a:cs typeface="黑体"/>
            </a:endParaRPr>
          </a:p>
          <a:p>
            <a:pPr marL="370840" indent="-358140">
              <a:lnSpc>
                <a:spcPct val="100000"/>
              </a:lnSpc>
              <a:spcBef>
                <a:spcPts val="1565"/>
              </a:spcBef>
              <a:buClr>
                <a:srgbClr val="4668F5"/>
              </a:buClr>
              <a:buSzPct val="73214"/>
              <a:buFont typeface="Wingdings"/>
              <a:buChar char=""/>
              <a:tabLst>
                <a:tab pos="370840" algn="l"/>
              </a:tabLst>
            </a:pPr>
            <a:r>
              <a:rPr dirty="0" sz="2800" spc="-35" b="1">
                <a:solidFill>
                  <a:srgbClr val="6F2F9F"/>
                </a:solidFill>
                <a:latin typeface="黑体"/>
                <a:cs typeface="黑体"/>
              </a:rPr>
              <a:t>要求指令系统功能齐全、使用方便</a:t>
            </a:r>
            <a:endParaRPr sz="2800">
              <a:latin typeface="黑体"/>
              <a:cs typeface="黑体"/>
            </a:endParaRPr>
          </a:p>
          <a:p>
            <a:pPr marL="370840" indent="-358140">
              <a:lnSpc>
                <a:spcPct val="100000"/>
              </a:lnSpc>
              <a:spcBef>
                <a:spcPts val="1340"/>
              </a:spcBef>
              <a:buClr>
                <a:srgbClr val="4668F5"/>
              </a:buClr>
              <a:buSzPct val="73214"/>
              <a:buFont typeface="Wingdings"/>
              <a:buChar char=""/>
              <a:tabLst>
                <a:tab pos="370840" algn="l"/>
              </a:tabLst>
            </a:pPr>
            <a:r>
              <a:rPr dirty="0" sz="2800" spc="-35" b="1">
                <a:solidFill>
                  <a:srgbClr val="6F2F9F"/>
                </a:solidFill>
                <a:latin typeface="黑体"/>
                <a:cs typeface="黑体"/>
              </a:rPr>
              <a:t>下表为许多指令系统结构都包含的一些指令类型</a:t>
            </a:r>
            <a:endParaRPr sz="2800">
              <a:latin typeface="黑体"/>
              <a:cs typeface="黑体"/>
            </a:endParaRPr>
          </a:p>
          <a:p>
            <a:pPr lvl="1" marL="732155" indent="-381000">
              <a:lnSpc>
                <a:spcPct val="100000"/>
              </a:lnSpc>
              <a:spcBef>
                <a:spcPts val="1350"/>
              </a:spcBef>
              <a:buClr>
                <a:srgbClr val="64CD80"/>
              </a:buClr>
              <a:buSzPct val="64285"/>
              <a:buFont typeface="Wingdings"/>
              <a:buChar char=""/>
              <a:tabLst>
                <a:tab pos="732155" algn="l"/>
              </a:tabLst>
            </a:pPr>
            <a:r>
              <a:rPr dirty="0" sz="2800" spc="-10" b="1">
                <a:solidFill>
                  <a:srgbClr val="40458B"/>
                </a:solidFill>
                <a:latin typeface="黑体"/>
                <a:cs typeface="黑体"/>
              </a:rPr>
              <a:t>前</a:t>
            </a:r>
            <a:r>
              <a:rPr dirty="0" sz="2800" spc="-30" b="1">
                <a:solidFill>
                  <a:srgbClr val="40458B"/>
                </a:solidFill>
                <a:latin typeface="黑体"/>
                <a:cs typeface="黑体"/>
              </a:rPr>
              <a:t>4</a:t>
            </a:r>
            <a:r>
              <a:rPr dirty="0" sz="2800" spc="-35" b="1">
                <a:solidFill>
                  <a:srgbClr val="40458B"/>
                </a:solidFill>
                <a:latin typeface="黑体"/>
                <a:cs typeface="黑体"/>
              </a:rPr>
              <a:t>类属于通用计算机系统的基本指令</a:t>
            </a:r>
            <a:endParaRPr sz="2800">
              <a:latin typeface="黑体"/>
              <a:cs typeface="黑体"/>
            </a:endParaRPr>
          </a:p>
          <a:p>
            <a:pPr lvl="1" marL="732155" marR="123825" indent="-381000">
              <a:lnSpc>
                <a:spcPct val="120000"/>
              </a:lnSpc>
              <a:spcBef>
                <a:spcPts val="670"/>
              </a:spcBef>
              <a:buClr>
                <a:srgbClr val="64CD80"/>
              </a:buClr>
              <a:buSzPct val="64285"/>
              <a:buFont typeface="Wingdings"/>
              <a:buChar char=""/>
              <a:tabLst>
                <a:tab pos="732155" algn="l"/>
              </a:tabLst>
            </a:pPr>
            <a:r>
              <a:rPr dirty="0" sz="2800" spc="-25" b="1">
                <a:solidFill>
                  <a:srgbClr val="40458B"/>
                </a:solidFill>
                <a:latin typeface="黑体"/>
                <a:cs typeface="黑体"/>
              </a:rPr>
              <a:t>对于最后</a:t>
            </a:r>
            <a:r>
              <a:rPr dirty="0" sz="2800" spc="-20" b="1">
                <a:solidFill>
                  <a:srgbClr val="40458B"/>
                </a:solidFill>
                <a:latin typeface="黑体"/>
                <a:cs typeface="黑体"/>
              </a:rPr>
              <a:t>4</a:t>
            </a:r>
            <a:r>
              <a:rPr dirty="0" sz="2800" spc="-35" b="1">
                <a:solidFill>
                  <a:srgbClr val="40458B"/>
                </a:solidFill>
                <a:latin typeface="黑体"/>
                <a:cs typeface="黑体"/>
              </a:rPr>
              <a:t>种类型的操作，不同指令系统结构的支持大不相同。</a:t>
            </a:r>
            <a:endParaRPr sz="2800">
              <a:latin typeface="黑体"/>
              <a:cs typeface="黑体"/>
            </a:endParaRPr>
          </a:p>
        </p:txBody>
      </p:sp>
      <p:pic>
        <p:nvPicPr>
          <p:cNvPr id="5" name="object 5" descr=""/>
          <p:cNvPicPr/>
          <p:nvPr/>
        </p:nvPicPr>
        <p:blipFill>
          <a:blip r:embed="rId2" cstate="print"/>
          <a:stretch>
            <a:fillRect/>
          </a:stretch>
        </p:blipFill>
        <p:spPr>
          <a:xfrm>
            <a:off x="7535926" y="4227648"/>
            <a:ext cx="1368425" cy="2114414"/>
          </a:xfrm>
          <a:prstGeom prst="rect">
            <a:avLst/>
          </a:prstGeom>
        </p:spPr>
      </p:pic>
      <p:sp>
        <p:nvSpPr>
          <p:cNvPr id="6" name="object 6" descr=""/>
          <p:cNvSpPr txBox="1"/>
          <p:nvPr/>
        </p:nvSpPr>
        <p:spPr>
          <a:xfrm>
            <a:off x="9509252" y="4626990"/>
            <a:ext cx="356235" cy="1205865"/>
          </a:xfrm>
          <a:prstGeom prst="rect">
            <a:avLst/>
          </a:prstGeom>
        </p:spPr>
        <p:txBody>
          <a:bodyPr wrap="square" lIns="0" tIns="12700" rIns="0" bIns="0" rtlCol="0" vert="horz">
            <a:spAutoFit/>
          </a:bodyPr>
          <a:lstStyle/>
          <a:p>
            <a:pPr marL="12700">
              <a:lnSpc>
                <a:spcPts val="3080"/>
              </a:lnSpc>
              <a:spcBef>
                <a:spcPts val="100"/>
              </a:spcBef>
            </a:pPr>
            <a:r>
              <a:rPr dirty="0" sz="2600" spc="-50">
                <a:solidFill>
                  <a:srgbClr val="40458B"/>
                </a:solidFill>
                <a:latin typeface="黑体"/>
                <a:cs typeface="黑体"/>
              </a:rPr>
              <a:t>后</a:t>
            </a:r>
            <a:endParaRPr sz="2600">
              <a:latin typeface="黑体"/>
              <a:cs typeface="黑体"/>
            </a:endParaRPr>
          </a:p>
          <a:p>
            <a:pPr marL="12700">
              <a:lnSpc>
                <a:spcPts val="3080"/>
              </a:lnSpc>
            </a:pPr>
            <a:r>
              <a:rPr dirty="0" sz="2600" spc="-50">
                <a:solidFill>
                  <a:srgbClr val="40458B"/>
                </a:solidFill>
                <a:latin typeface="Tahoma"/>
                <a:cs typeface="Tahoma"/>
              </a:rPr>
              <a:t>4</a:t>
            </a:r>
            <a:endParaRPr sz="2600">
              <a:latin typeface="Tahoma"/>
              <a:cs typeface="Tahoma"/>
            </a:endParaRPr>
          </a:p>
          <a:p>
            <a:pPr marL="12700">
              <a:lnSpc>
                <a:spcPct val="100000"/>
              </a:lnSpc>
              <a:spcBef>
                <a:spcPts val="15"/>
              </a:spcBef>
            </a:pPr>
            <a:r>
              <a:rPr dirty="0" sz="2600" spc="-50">
                <a:solidFill>
                  <a:srgbClr val="40458B"/>
                </a:solidFill>
                <a:latin typeface="黑体"/>
                <a:cs typeface="黑体"/>
              </a:rPr>
              <a:t>种</a:t>
            </a:r>
            <a:endParaRPr sz="2600">
              <a:latin typeface="黑体"/>
              <a:cs typeface="黑体"/>
            </a:endParaRPr>
          </a:p>
        </p:txBody>
      </p:sp>
      <p:pic>
        <p:nvPicPr>
          <p:cNvPr id="7" name="object 7" descr=""/>
          <p:cNvPicPr/>
          <p:nvPr/>
        </p:nvPicPr>
        <p:blipFill>
          <a:blip r:embed="rId3" cstate="print"/>
          <a:stretch>
            <a:fillRect/>
          </a:stretch>
        </p:blipFill>
        <p:spPr>
          <a:xfrm>
            <a:off x="4080002" y="4289361"/>
            <a:ext cx="1944497" cy="2052701"/>
          </a:xfrm>
          <a:prstGeom prst="rect">
            <a:avLst/>
          </a:prstGeom>
        </p:spPr>
      </p:pic>
      <p:sp>
        <p:nvSpPr>
          <p:cNvPr id="8" name="object 8" descr=""/>
          <p:cNvSpPr txBox="1"/>
          <p:nvPr/>
        </p:nvSpPr>
        <p:spPr>
          <a:xfrm>
            <a:off x="3150870" y="4686680"/>
            <a:ext cx="356235" cy="1205865"/>
          </a:xfrm>
          <a:prstGeom prst="rect">
            <a:avLst/>
          </a:prstGeom>
        </p:spPr>
        <p:txBody>
          <a:bodyPr wrap="square" lIns="0" tIns="12700" rIns="0" bIns="0" rtlCol="0" vert="horz">
            <a:spAutoFit/>
          </a:bodyPr>
          <a:lstStyle/>
          <a:p>
            <a:pPr marL="12700">
              <a:lnSpc>
                <a:spcPts val="3080"/>
              </a:lnSpc>
              <a:spcBef>
                <a:spcPts val="100"/>
              </a:spcBef>
            </a:pPr>
            <a:r>
              <a:rPr dirty="0" sz="2600" spc="-50">
                <a:solidFill>
                  <a:srgbClr val="40458B"/>
                </a:solidFill>
                <a:latin typeface="黑体"/>
                <a:cs typeface="黑体"/>
              </a:rPr>
              <a:t>前</a:t>
            </a:r>
            <a:endParaRPr sz="2600">
              <a:latin typeface="黑体"/>
              <a:cs typeface="黑体"/>
            </a:endParaRPr>
          </a:p>
          <a:p>
            <a:pPr marL="12700">
              <a:lnSpc>
                <a:spcPts val="3080"/>
              </a:lnSpc>
            </a:pPr>
            <a:r>
              <a:rPr dirty="0" sz="2600" spc="-50">
                <a:solidFill>
                  <a:srgbClr val="40458B"/>
                </a:solidFill>
                <a:latin typeface="Tahoma"/>
                <a:cs typeface="Tahoma"/>
              </a:rPr>
              <a:t>4</a:t>
            </a:r>
            <a:endParaRPr sz="2600">
              <a:latin typeface="Tahoma"/>
              <a:cs typeface="Tahoma"/>
            </a:endParaRPr>
          </a:p>
          <a:p>
            <a:pPr marL="12700">
              <a:lnSpc>
                <a:spcPct val="100000"/>
              </a:lnSpc>
              <a:spcBef>
                <a:spcPts val="15"/>
              </a:spcBef>
            </a:pPr>
            <a:r>
              <a:rPr dirty="0" sz="2600" spc="-50">
                <a:solidFill>
                  <a:srgbClr val="40458B"/>
                </a:solidFill>
                <a:latin typeface="黑体"/>
                <a:cs typeface="黑体"/>
              </a:rPr>
              <a:t>种</a:t>
            </a:r>
            <a:endParaRPr sz="2600">
              <a:latin typeface="黑体"/>
              <a:cs typeface="黑体"/>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2730500" y="161289"/>
            <a:ext cx="4921885" cy="513715"/>
          </a:xfrm>
          <a:prstGeom prst="rect"/>
        </p:spPr>
        <p:txBody>
          <a:bodyPr wrap="square" lIns="0" tIns="12700" rIns="0" bIns="0" rtlCol="0" vert="horz">
            <a:spAutoFit/>
          </a:bodyPr>
          <a:lstStyle/>
          <a:p>
            <a:pPr marL="12700">
              <a:lnSpc>
                <a:spcPct val="100000"/>
              </a:lnSpc>
              <a:spcBef>
                <a:spcPts val="100"/>
              </a:spcBef>
            </a:pPr>
            <a:r>
              <a:rPr dirty="0" u="none">
                <a:solidFill>
                  <a:srgbClr val="4F55AC"/>
                </a:solidFill>
              </a:rPr>
              <a:t>2.3</a:t>
            </a:r>
            <a:r>
              <a:rPr dirty="0" u="none" spc="-45">
                <a:solidFill>
                  <a:srgbClr val="4F55AC"/>
                </a:solidFill>
              </a:rPr>
              <a:t> 指令系统的设计与优化</a:t>
            </a:r>
          </a:p>
        </p:txBody>
      </p:sp>
      <p:pic>
        <p:nvPicPr>
          <p:cNvPr id="9" name="object 9" descr=""/>
          <p:cNvPicPr/>
          <p:nvPr/>
        </p:nvPicPr>
        <p:blipFill>
          <a:blip r:embed="rId2" cstate="print"/>
          <a:stretch>
            <a:fillRect/>
          </a:stretch>
        </p:blipFill>
        <p:spPr>
          <a:xfrm>
            <a:off x="8127741" y="3084702"/>
            <a:ext cx="200025" cy="209550"/>
          </a:xfrm>
          <a:prstGeom prst="rect">
            <a:avLst/>
          </a:prstGeom>
        </p:spPr>
      </p:pic>
      <p:graphicFrame>
        <p:nvGraphicFramePr>
          <p:cNvPr id="10" name="object 10" descr=""/>
          <p:cNvGraphicFramePr>
            <a:graphicFrameLocks noGrp="1"/>
          </p:cNvGraphicFramePr>
          <p:nvPr/>
        </p:nvGraphicFramePr>
        <p:xfrm>
          <a:off x="1979612" y="1204912"/>
          <a:ext cx="8453755" cy="4968875"/>
        </p:xfrm>
        <a:graphic>
          <a:graphicData uri="http://schemas.openxmlformats.org/drawingml/2006/table">
            <a:tbl>
              <a:tblPr firstRow="1" bandRow="1">
                <a:tableStyleId>{2D5ABB26-0587-4C30-8999-92F81FD0307C}</a:tableStyleId>
              </a:tblPr>
              <a:tblGrid>
                <a:gridCol w="69850"/>
                <a:gridCol w="2014855"/>
                <a:gridCol w="6194425"/>
                <a:gridCol w="69850"/>
              </a:tblGrid>
              <a:tr h="550545">
                <a:tc>
                  <a:txBody>
                    <a:bodyPr/>
                    <a:lstStyle/>
                    <a:p>
                      <a:pPr>
                        <a:lnSpc>
                          <a:spcPct val="100000"/>
                        </a:lnSpc>
                      </a:pPr>
                      <a:endParaRPr sz="2100">
                        <a:latin typeface="Times New Roman"/>
                        <a:cs typeface="Times New Roman"/>
                      </a:endParaRPr>
                    </a:p>
                  </a:txBody>
                  <a:tcPr marL="0" marR="0" marB="0" marT="0">
                    <a:lnR w="28575">
                      <a:solidFill>
                        <a:srgbClr val="40458B"/>
                      </a:solidFill>
                      <a:prstDash val="solid"/>
                    </a:lnR>
                  </a:tcPr>
                </a:tc>
                <a:tc>
                  <a:txBody>
                    <a:bodyPr/>
                    <a:lstStyle/>
                    <a:p>
                      <a:pPr algn="ctr">
                        <a:lnSpc>
                          <a:spcPct val="100000"/>
                        </a:lnSpc>
                        <a:spcBef>
                          <a:spcPts val="1195"/>
                        </a:spcBef>
                      </a:pPr>
                      <a:r>
                        <a:rPr dirty="0" sz="2000" spc="-15">
                          <a:solidFill>
                            <a:srgbClr val="E14B04"/>
                          </a:solidFill>
                          <a:latin typeface="黑体"/>
                          <a:cs typeface="黑体"/>
                        </a:rPr>
                        <a:t>操作类型</a:t>
                      </a:r>
                      <a:endParaRPr sz="2000">
                        <a:latin typeface="黑体"/>
                        <a:cs typeface="黑体"/>
                      </a:endParaRPr>
                    </a:p>
                  </a:txBody>
                  <a:tcPr marL="0" marR="0" marB="0" marT="15176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gridSpan="2">
                  <a:txBody>
                    <a:bodyPr/>
                    <a:lstStyle/>
                    <a:p>
                      <a:pPr algn="ctr">
                        <a:lnSpc>
                          <a:spcPct val="100000"/>
                        </a:lnSpc>
                        <a:spcBef>
                          <a:spcPts val="1195"/>
                        </a:spcBef>
                        <a:tabLst>
                          <a:tab pos="570865" algn="l"/>
                        </a:tabLst>
                      </a:pPr>
                      <a:r>
                        <a:rPr dirty="0" sz="2000" spc="-50">
                          <a:solidFill>
                            <a:srgbClr val="E14B04"/>
                          </a:solidFill>
                          <a:latin typeface="黑体"/>
                          <a:cs typeface="黑体"/>
                        </a:rPr>
                        <a:t>实</a:t>
                      </a:r>
                      <a:r>
                        <a:rPr dirty="0" sz="2000">
                          <a:solidFill>
                            <a:srgbClr val="E14B04"/>
                          </a:solidFill>
                          <a:latin typeface="黑体"/>
                          <a:cs typeface="黑体"/>
                        </a:rPr>
                        <a:t>	</a:t>
                      </a:r>
                      <a:r>
                        <a:rPr dirty="0" sz="2000" spc="-50">
                          <a:solidFill>
                            <a:srgbClr val="E14B04"/>
                          </a:solidFill>
                          <a:latin typeface="黑体"/>
                          <a:cs typeface="黑体"/>
                        </a:rPr>
                        <a:t>例</a:t>
                      </a:r>
                      <a:endParaRPr sz="2000">
                        <a:latin typeface="黑体"/>
                        <a:cs typeface="黑体"/>
                      </a:endParaRPr>
                    </a:p>
                  </a:txBody>
                  <a:tcPr marL="0" marR="0" marB="0" marT="15176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c hMerge="1">
                  <a:txBody>
                    <a:bodyPr/>
                    <a:lstStyle/>
                    <a:p>
                      <a:pPr/>
                    </a:p>
                  </a:txBody>
                  <a:tcPr marL="0" marR="0" marB="0" marT="0"/>
                </a:tc>
              </a:tr>
              <a:tr h="74295">
                <a:tc>
                  <a:txBody>
                    <a:bodyPr/>
                    <a:lstStyle/>
                    <a:p>
                      <a:pPr>
                        <a:lnSpc>
                          <a:spcPct val="100000"/>
                        </a:lnSpc>
                      </a:pPr>
                      <a:endParaRPr sz="300">
                        <a:latin typeface="Times New Roman"/>
                        <a:cs typeface="Times New Roman"/>
                      </a:endParaRPr>
                    </a:p>
                  </a:txBody>
                  <a:tcPr marL="0" marR="0" marB="0" marT="0">
                    <a:lnR w="28575">
                      <a:solidFill>
                        <a:srgbClr val="40458B"/>
                      </a:solidFill>
                      <a:prstDash val="solid"/>
                    </a:lnR>
                    <a:lnB w="28575">
                      <a:solidFill>
                        <a:srgbClr val="FF0000"/>
                      </a:solidFill>
                      <a:prstDash val="sysDash"/>
                    </a:lnB>
                  </a:tcPr>
                </a:tc>
                <a:tc>
                  <a:txBody>
                    <a:bodyPr/>
                    <a:lstStyle/>
                    <a:p>
                      <a:pPr>
                        <a:lnSpc>
                          <a:spcPct val="100000"/>
                        </a:lnSpc>
                      </a:pPr>
                      <a:endParaRPr sz="300">
                        <a:latin typeface="Times New Roman"/>
                        <a:cs typeface="Times New Roman"/>
                      </a:endParaRPr>
                    </a:p>
                  </a:txBody>
                  <a:tcPr marL="0" marR="0" marB="0" marT="0">
                    <a:lnL w="28575">
                      <a:solidFill>
                        <a:srgbClr val="40458B"/>
                      </a:solidFill>
                      <a:prstDash val="solid"/>
                    </a:lnL>
                    <a:lnR w="12700">
                      <a:solidFill>
                        <a:srgbClr val="40458B"/>
                      </a:solidFill>
                      <a:prstDash val="solid"/>
                    </a:lnR>
                    <a:lnT w="12700">
                      <a:solidFill>
                        <a:srgbClr val="40458B"/>
                      </a:solidFill>
                      <a:prstDash val="solid"/>
                    </a:lnT>
                    <a:lnB w="28575">
                      <a:solidFill>
                        <a:srgbClr val="FF0000"/>
                      </a:solidFill>
                      <a:prstDash val="sysDash"/>
                    </a:lnB>
                  </a:tcPr>
                </a:tc>
                <a:tc gridSpan="2">
                  <a:txBody>
                    <a:bodyPr/>
                    <a:lstStyle/>
                    <a:p>
                      <a:pPr>
                        <a:lnSpc>
                          <a:spcPct val="100000"/>
                        </a:lnSpc>
                      </a:pPr>
                      <a:endParaRPr sz="3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28575">
                      <a:solidFill>
                        <a:srgbClr val="FF0000"/>
                      </a:solidFill>
                      <a:prstDash val="sysDash"/>
                    </a:lnB>
                  </a:tcPr>
                </a:tc>
                <a:tc hMerge="1">
                  <a:txBody>
                    <a:bodyPr/>
                    <a:lstStyle/>
                    <a:p>
                      <a:pPr/>
                    </a:p>
                  </a:txBody>
                  <a:tcPr marL="0" marR="0" marB="0" marT="0"/>
                </a:tc>
              </a:tr>
              <a:tr h="476250">
                <a:tc>
                  <a:txBody>
                    <a:bodyPr/>
                    <a:lstStyle/>
                    <a:p>
                      <a:pPr>
                        <a:lnSpc>
                          <a:spcPct val="100000"/>
                        </a:lnSpc>
                      </a:pPr>
                      <a:endParaRPr sz="2100">
                        <a:latin typeface="Times New Roman"/>
                        <a:cs typeface="Times New Roman"/>
                      </a:endParaRPr>
                    </a:p>
                  </a:txBody>
                  <a:tcPr marL="0" marR="0" marB="0" marT="0">
                    <a:lnL w="28575">
                      <a:solidFill>
                        <a:srgbClr val="FF0000"/>
                      </a:solidFill>
                      <a:prstDash val="sysDash"/>
                    </a:lnL>
                    <a:lnR w="28575">
                      <a:solidFill>
                        <a:srgbClr val="40458B"/>
                      </a:solidFill>
                      <a:prstDash val="solid"/>
                    </a:lnR>
                    <a:lnT w="28575">
                      <a:solidFill>
                        <a:srgbClr val="FF0000"/>
                      </a:solidFill>
                      <a:prstDash val="sysDash"/>
                    </a:lnT>
                  </a:tcPr>
                </a:tc>
                <a:tc>
                  <a:txBody>
                    <a:bodyPr/>
                    <a:lstStyle/>
                    <a:p>
                      <a:pPr algn="ctr">
                        <a:lnSpc>
                          <a:spcPct val="100000"/>
                        </a:lnSpc>
                        <a:spcBef>
                          <a:spcPts val="605"/>
                        </a:spcBef>
                      </a:pPr>
                      <a:r>
                        <a:rPr dirty="0" sz="2000" spc="-15">
                          <a:solidFill>
                            <a:srgbClr val="FF0000"/>
                          </a:solidFill>
                          <a:latin typeface="黑体"/>
                          <a:cs typeface="黑体"/>
                        </a:rPr>
                        <a:t>算术和逻辑运算</a:t>
                      </a:r>
                      <a:endParaRPr sz="2000">
                        <a:latin typeface="黑体"/>
                        <a:cs typeface="黑体"/>
                      </a:endParaRPr>
                    </a:p>
                  </a:txBody>
                  <a:tcPr marL="0" marR="0" marB="0" marT="76835">
                    <a:lnL w="28575">
                      <a:solidFill>
                        <a:srgbClr val="40458B"/>
                      </a:solidFill>
                      <a:prstDash val="solid"/>
                    </a:lnL>
                    <a:lnR w="12700">
                      <a:solidFill>
                        <a:srgbClr val="40458B"/>
                      </a:solidFill>
                      <a:prstDash val="solid"/>
                    </a:lnR>
                    <a:lnT w="28575">
                      <a:solidFill>
                        <a:srgbClr val="FF0000"/>
                      </a:solidFill>
                      <a:prstDash val="sysDash"/>
                    </a:lnT>
                    <a:lnB w="12700">
                      <a:solidFill>
                        <a:srgbClr val="40458B"/>
                      </a:solidFill>
                      <a:prstDash val="solid"/>
                    </a:lnB>
                  </a:tcPr>
                </a:tc>
                <a:tc>
                  <a:txBody>
                    <a:bodyPr/>
                    <a:lstStyle/>
                    <a:p>
                      <a:pPr algn="ctr" marL="70485">
                        <a:lnSpc>
                          <a:spcPct val="100000"/>
                        </a:lnSpc>
                        <a:spcBef>
                          <a:spcPts val="605"/>
                        </a:spcBef>
                      </a:pPr>
                      <a:r>
                        <a:rPr dirty="0" sz="2000" spc="-20">
                          <a:solidFill>
                            <a:srgbClr val="40458B"/>
                          </a:solidFill>
                          <a:latin typeface="黑体"/>
                          <a:cs typeface="黑体"/>
                        </a:rPr>
                        <a:t>算术运算和逻辑操作：加，减，乘，除，与，或等</a:t>
                      </a:r>
                      <a:endParaRPr sz="2000">
                        <a:latin typeface="黑体"/>
                        <a:cs typeface="黑体"/>
                      </a:endParaRPr>
                    </a:p>
                  </a:txBody>
                  <a:tcPr marL="0" marR="0" marB="0" marT="76835">
                    <a:lnL w="12700">
                      <a:solidFill>
                        <a:srgbClr val="40458B"/>
                      </a:solidFill>
                      <a:prstDash val="solid"/>
                    </a:lnL>
                    <a:lnR w="28575">
                      <a:solidFill>
                        <a:srgbClr val="FF0000"/>
                      </a:solidFill>
                      <a:prstDash val="sysDash"/>
                    </a:lnR>
                    <a:lnT w="28575">
                      <a:solidFill>
                        <a:srgbClr val="FF0000"/>
                      </a:solidFill>
                      <a:prstDash val="sysDash"/>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28575">
                      <a:solidFill>
                        <a:srgbClr val="FF0000"/>
                      </a:solidFill>
                      <a:prstDash val="sysDash"/>
                    </a:lnL>
                    <a:lnR w="28575">
                      <a:solidFill>
                        <a:srgbClr val="40458B"/>
                      </a:solidFill>
                      <a:prstDash val="solid"/>
                    </a:lnR>
                    <a:lnB w="12700">
                      <a:solidFill>
                        <a:srgbClr val="40458B"/>
                      </a:solidFill>
                      <a:prstDash val="solid"/>
                    </a:lnB>
                  </a:tcPr>
                </a:tc>
              </a:tr>
              <a:tr h="550545">
                <a:tc>
                  <a:txBody>
                    <a:bodyPr/>
                    <a:lstStyle/>
                    <a:p>
                      <a:pPr>
                        <a:lnSpc>
                          <a:spcPct val="100000"/>
                        </a:lnSpc>
                      </a:pPr>
                      <a:endParaRPr sz="2100">
                        <a:latin typeface="Times New Roman"/>
                        <a:cs typeface="Times New Roman"/>
                      </a:endParaRPr>
                    </a:p>
                  </a:txBody>
                  <a:tcPr marL="0" marR="0" marB="0" marT="0">
                    <a:lnL w="28575">
                      <a:solidFill>
                        <a:srgbClr val="FF0000"/>
                      </a:solidFill>
                      <a:prstDash val="sysDash"/>
                    </a:lnL>
                    <a:lnR w="28575">
                      <a:solidFill>
                        <a:srgbClr val="40458B"/>
                      </a:solidFill>
                      <a:prstDash val="solid"/>
                    </a:lnR>
                  </a:tcPr>
                </a:tc>
                <a:tc>
                  <a:txBody>
                    <a:bodyPr/>
                    <a:lstStyle/>
                    <a:p>
                      <a:pPr algn="ctr">
                        <a:lnSpc>
                          <a:spcPct val="100000"/>
                        </a:lnSpc>
                        <a:spcBef>
                          <a:spcPts val="1195"/>
                        </a:spcBef>
                      </a:pPr>
                      <a:r>
                        <a:rPr dirty="0" sz="2000" spc="-15">
                          <a:solidFill>
                            <a:srgbClr val="FF0000"/>
                          </a:solidFill>
                          <a:latin typeface="黑体"/>
                          <a:cs typeface="黑体"/>
                        </a:rPr>
                        <a:t>数据传输</a:t>
                      </a:r>
                      <a:endParaRPr sz="2000">
                        <a:latin typeface="黑体"/>
                        <a:cs typeface="黑体"/>
                      </a:endParaRPr>
                    </a:p>
                  </a:txBody>
                  <a:tcPr marL="0" marR="0" marB="0" marT="1517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71120">
                        <a:lnSpc>
                          <a:spcPct val="100000"/>
                        </a:lnSpc>
                        <a:spcBef>
                          <a:spcPts val="1195"/>
                        </a:spcBef>
                      </a:pPr>
                      <a:r>
                        <a:rPr dirty="0" sz="2000" spc="-10">
                          <a:solidFill>
                            <a:srgbClr val="40458B"/>
                          </a:solidFill>
                          <a:latin typeface="Tahoma"/>
                          <a:cs typeface="Tahoma"/>
                        </a:rPr>
                        <a:t>load</a:t>
                      </a:r>
                      <a:r>
                        <a:rPr dirty="0" sz="2000" spc="-10">
                          <a:solidFill>
                            <a:srgbClr val="40458B"/>
                          </a:solidFill>
                          <a:latin typeface="黑体"/>
                          <a:cs typeface="黑体"/>
                        </a:rPr>
                        <a:t>，</a:t>
                      </a:r>
                      <a:r>
                        <a:rPr dirty="0" sz="2000" spc="-10">
                          <a:solidFill>
                            <a:srgbClr val="40458B"/>
                          </a:solidFill>
                          <a:latin typeface="Tahoma"/>
                          <a:cs typeface="Tahoma"/>
                        </a:rPr>
                        <a:t>store</a:t>
                      </a:r>
                      <a:endParaRPr sz="2000">
                        <a:latin typeface="Tahoma"/>
                        <a:cs typeface="Tahoma"/>
                      </a:endParaRPr>
                    </a:p>
                  </a:txBody>
                  <a:tcPr marL="0" marR="0" marB="0" marT="151765">
                    <a:lnL w="12700">
                      <a:solidFill>
                        <a:srgbClr val="40458B"/>
                      </a:solidFill>
                      <a:prstDash val="solid"/>
                    </a:lnL>
                    <a:lnR w="28575">
                      <a:solidFill>
                        <a:srgbClr val="FF0000"/>
                      </a:solidFill>
                      <a:prstDash val="sysDash"/>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28575">
                      <a:solidFill>
                        <a:srgbClr val="FF0000"/>
                      </a:solidFill>
                      <a:prstDash val="sysDash"/>
                    </a:lnL>
                    <a:lnR w="28575">
                      <a:solidFill>
                        <a:srgbClr val="40458B"/>
                      </a:solidFill>
                      <a:prstDash val="solid"/>
                    </a:lnR>
                    <a:lnT w="12700">
                      <a:solidFill>
                        <a:srgbClr val="40458B"/>
                      </a:solidFill>
                      <a:prstDash val="solid"/>
                    </a:lnT>
                    <a:lnB w="12700">
                      <a:solidFill>
                        <a:srgbClr val="40458B"/>
                      </a:solidFill>
                      <a:prstDash val="solid"/>
                    </a:lnB>
                  </a:tcPr>
                </a:tc>
              </a:tr>
              <a:tr h="565150">
                <a:tc>
                  <a:txBody>
                    <a:bodyPr/>
                    <a:lstStyle/>
                    <a:p>
                      <a:pPr>
                        <a:lnSpc>
                          <a:spcPct val="100000"/>
                        </a:lnSpc>
                      </a:pPr>
                      <a:endParaRPr sz="2100">
                        <a:latin typeface="Times New Roman"/>
                        <a:cs typeface="Times New Roman"/>
                      </a:endParaRPr>
                    </a:p>
                  </a:txBody>
                  <a:tcPr marL="0" marR="0" marB="0" marT="0">
                    <a:lnL w="28575">
                      <a:solidFill>
                        <a:srgbClr val="FF0000"/>
                      </a:solidFill>
                      <a:prstDash val="sysDash"/>
                    </a:lnL>
                    <a:lnR w="28575">
                      <a:solidFill>
                        <a:srgbClr val="40458B"/>
                      </a:solidFill>
                      <a:prstDash val="solid"/>
                    </a:lnR>
                  </a:tcPr>
                </a:tc>
                <a:tc>
                  <a:txBody>
                    <a:bodyPr/>
                    <a:lstStyle/>
                    <a:p>
                      <a:pPr algn="ctr">
                        <a:lnSpc>
                          <a:spcPct val="100000"/>
                        </a:lnSpc>
                        <a:spcBef>
                          <a:spcPts val="1195"/>
                        </a:spcBef>
                      </a:pPr>
                      <a:r>
                        <a:rPr dirty="0" sz="2000" spc="-25">
                          <a:solidFill>
                            <a:srgbClr val="FF0000"/>
                          </a:solidFill>
                          <a:latin typeface="黑体"/>
                          <a:cs typeface="黑体"/>
                        </a:rPr>
                        <a:t>控制</a:t>
                      </a:r>
                      <a:endParaRPr sz="2000">
                        <a:latin typeface="黑体"/>
                        <a:cs typeface="黑体"/>
                      </a:endParaRPr>
                    </a:p>
                  </a:txBody>
                  <a:tcPr marL="0" marR="0" marB="0" marT="1517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72390">
                        <a:lnSpc>
                          <a:spcPct val="100000"/>
                        </a:lnSpc>
                        <a:spcBef>
                          <a:spcPts val="1195"/>
                        </a:spcBef>
                        <a:tabLst>
                          <a:tab pos="3378835" algn="l"/>
                        </a:tabLst>
                      </a:pPr>
                      <a:r>
                        <a:rPr dirty="0" sz="2000">
                          <a:solidFill>
                            <a:srgbClr val="40458B"/>
                          </a:solidFill>
                          <a:latin typeface="黑体"/>
                          <a:cs typeface="黑体"/>
                        </a:rPr>
                        <a:t>分支，跳</a:t>
                      </a:r>
                      <a:r>
                        <a:rPr dirty="0" sz="2000" spc="-15">
                          <a:solidFill>
                            <a:srgbClr val="40458B"/>
                          </a:solidFill>
                          <a:latin typeface="黑体"/>
                          <a:cs typeface="黑体"/>
                        </a:rPr>
                        <a:t>转</a:t>
                      </a:r>
                      <a:r>
                        <a:rPr dirty="0" sz="2000">
                          <a:solidFill>
                            <a:srgbClr val="40458B"/>
                          </a:solidFill>
                          <a:latin typeface="黑体"/>
                          <a:cs typeface="黑体"/>
                        </a:rPr>
                        <a:t>，过</a:t>
                      </a:r>
                      <a:r>
                        <a:rPr dirty="0" sz="2000" spc="-15">
                          <a:solidFill>
                            <a:srgbClr val="40458B"/>
                          </a:solidFill>
                          <a:latin typeface="黑体"/>
                          <a:cs typeface="黑体"/>
                        </a:rPr>
                        <a:t>程</a:t>
                      </a:r>
                      <a:r>
                        <a:rPr dirty="0" sz="2000">
                          <a:solidFill>
                            <a:srgbClr val="40458B"/>
                          </a:solidFill>
                          <a:latin typeface="黑体"/>
                          <a:cs typeface="黑体"/>
                        </a:rPr>
                        <a:t>调用</a:t>
                      </a:r>
                      <a:r>
                        <a:rPr dirty="0" sz="2000" spc="-15">
                          <a:solidFill>
                            <a:srgbClr val="40458B"/>
                          </a:solidFill>
                          <a:latin typeface="黑体"/>
                          <a:cs typeface="黑体"/>
                        </a:rPr>
                        <a:t>和</a:t>
                      </a:r>
                      <a:r>
                        <a:rPr dirty="0" sz="2000" spc="-50">
                          <a:solidFill>
                            <a:srgbClr val="40458B"/>
                          </a:solidFill>
                          <a:latin typeface="黑体"/>
                          <a:cs typeface="黑体"/>
                        </a:rPr>
                        <a:t>返</a:t>
                      </a:r>
                      <a:r>
                        <a:rPr dirty="0" sz="2000">
                          <a:solidFill>
                            <a:srgbClr val="40458B"/>
                          </a:solidFill>
                          <a:latin typeface="黑体"/>
                          <a:cs typeface="黑体"/>
                        </a:rPr>
                        <a:t>	</a:t>
                      </a:r>
                      <a:r>
                        <a:rPr dirty="0" sz="2000" spc="-15">
                          <a:solidFill>
                            <a:srgbClr val="40458B"/>
                          </a:solidFill>
                          <a:latin typeface="黑体"/>
                          <a:cs typeface="黑体"/>
                        </a:rPr>
                        <a:t>，</a:t>
                      </a:r>
                      <a:r>
                        <a:rPr dirty="0" sz="2000">
                          <a:solidFill>
                            <a:srgbClr val="40458B"/>
                          </a:solidFill>
                          <a:latin typeface="黑体"/>
                          <a:cs typeface="黑体"/>
                        </a:rPr>
                        <a:t>自陷</a:t>
                      </a:r>
                      <a:r>
                        <a:rPr dirty="0" sz="2000" spc="-50">
                          <a:solidFill>
                            <a:srgbClr val="40458B"/>
                          </a:solidFill>
                          <a:latin typeface="黑体"/>
                          <a:cs typeface="黑体"/>
                        </a:rPr>
                        <a:t>等</a:t>
                      </a:r>
                      <a:endParaRPr sz="2000">
                        <a:latin typeface="黑体"/>
                        <a:cs typeface="黑体"/>
                      </a:endParaRPr>
                    </a:p>
                  </a:txBody>
                  <a:tcPr marL="0" marR="0" marB="0" marT="151765">
                    <a:lnL w="12700">
                      <a:solidFill>
                        <a:srgbClr val="40458B"/>
                      </a:solidFill>
                      <a:prstDash val="solid"/>
                    </a:lnL>
                    <a:lnR w="28575">
                      <a:solidFill>
                        <a:srgbClr val="FF0000"/>
                      </a:solidFill>
                      <a:prstDash val="sysDash"/>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28575">
                      <a:solidFill>
                        <a:srgbClr val="FF0000"/>
                      </a:solidFill>
                      <a:prstDash val="sysDash"/>
                    </a:lnL>
                    <a:lnR w="28575">
                      <a:solidFill>
                        <a:srgbClr val="40458B"/>
                      </a:solidFill>
                      <a:prstDash val="solid"/>
                    </a:lnR>
                    <a:lnT w="12700">
                      <a:solidFill>
                        <a:srgbClr val="40458B"/>
                      </a:solidFill>
                      <a:prstDash val="solid"/>
                    </a:lnT>
                    <a:lnB w="12700">
                      <a:solidFill>
                        <a:srgbClr val="40458B"/>
                      </a:solidFill>
                      <a:prstDash val="solid"/>
                    </a:lnB>
                  </a:tcPr>
                </a:tc>
              </a:tr>
              <a:tr h="550545">
                <a:tc>
                  <a:txBody>
                    <a:bodyPr/>
                    <a:lstStyle/>
                    <a:p>
                      <a:pPr>
                        <a:lnSpc>
                          <a:spcPct val="100000"/>
                        </a:lnSpc>
                      </a:pPr>
                      <a:endParaRPr sz="2100">
                        <a:latin typeface="Times New Roman"/>
                        <a:cs typeface="Times New Roman"/>
                      </a:endParaRPr>
                    </a:p>
                  </a:txBody>
                  <a:tcPr marL="0" marR="0" marB="0" marT="0">
                    <a:lnL w="28575">
                      <a:solidFill>
                        <a:srgbClr val="FF0000"/>
                      </a:solidFill>
                      <a:prstDash val="sysDash"/>
                    </a:lnL>
                    <a:lnR w="28575">
                      <a:solidFill>
                        <a:srgbClr val="40458B"/>
                      </a:solidFill>
                      <a:prstDash val="solid"/>
                    </a:lnR>
                  </a:tcPr>
                </a:tc>
                <a:tc>
                  <a:txBody>
                    <a:bodyPr/>
                    <a:lstStyle/>
                    <a:p>
                      <a:pPr algn="ctr">
                        <a:lnSpc>
                          <a:spcPct val="100000"/>
                        </a:lnSpc>
                        <a:spcBef>
                          <a:spcPts val="1195"/>
                        </a:spcBef>
                      </a:pPr>
                      <a:r>
                        <a:rPr dirty="0" sz="2000" spc="-25">
                          <a:solidFill>
                            <a:srgbClr val="FF0000"/>
                          </a:solidFill>
                          <a:latin typeface="黑体"/>
                          <a:cs typeface="黑体"/>
                        </a:rPr>
                        <a:t>系统</a:t>
                      </a:r>
                      <a:endParaRPr sz="2000">
                        <a:latin typeface="黑体"/>
                        <a:cs typeface="黑体"/>
                      </a:endParaRPr>
                    </a:p>
                  </a:txBody>
                  <a:tcPr marL="0" marR="0" marB="0" marT="1517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9215">
                        <a:lnSpc>
                          <a:spcPct val="100000"/>
                        </a:lnSpc>
                        <a:spcBef>
                          <a:spcPts val="1195"/>
                        </a:spcBef>
                      </a:pPr>
                      <a:r>
                        <a:rPr dirty="0" sz="2000" spc="-20">
                          <a:solidFill>
                            <a:srgbClr val="40458B"/>
                          </a:solidFill>
                          <a:latin typeface="黑体"/>
                          <a:cs typeface="黑体"/>
                        </a:rPr>
                        <a:t>操作系统调用，虚拟存储器管理等</a:t>
                      </a:r>
                      <a:endParaRPr sz="2000">
                        <a:latin typeface="黑体"/>
                        <a:cs typeface="黑体"/>
                      </a:endParaRPr>
                    </a:p>
                  </a:txBody>
                  <a:tcPr marL="0" marR="0" marB="0" marT="151765">
                    <a:lnL w="12700">
                      <a:solidFill>
                        <a:srgbClr val="40458B"/>
                      </a:solidFill>
                      <a:prstDash val="solid"/>
                    </a:lnL>
                    <a:lnR w="28575">
                      <a:solidFill>
                        <a:srgbClr val="FF0000"/>
                      </a:solidFill>
                      <a:prstDash val="sysDash"/>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28575">
                      <a:solidFill>
                        <a:srgbClr val="FF0000"/>
                      </a:solidFill>
                      <a:prstDash val="sysDash"/>
                    </a:lnL>
                    <a:lnR w="28575">
                      <a:solidFill>
                        <a:srgbClr val="40458B"/>
                      </a:solidFill>
                      <a:prstDash val="solid"/>
                    </a:lnR>
                    <a:lnT w="12700">
                      <a:solidFill>
                        <a:srgbClr val="40458B"/>
                      </a:solidFill>
                      <a:prstDash val="solid"/>
                    </a:lnT>
                    <a:lnB w="12700">
                      <a:solidFill>
                        <a:srgbClr val="40458B"/>
                      </a:solidFill>
                      <a:prstDash val="solid"/>
                    </a:lnB>
                  </a:tcPr>
                </a:tc>
              </a:tr>
              <a:tr h="87630">
                <a:tc>
                  <a:txBody>
                    <a:bodyPr/>
                    <a:lstStyle/>
                    <a:p>
                      <a:pPr>
                        <a:lnSpc>
                          <a:spcPct val="100000"/>
                        </a:lnSpc>
                      </a:pPr>
                      <a:endParaRPr sz="400">
                        <a:latin typeface="Times New Roman"/>
                        <a:cs typeface="Times New Roman"/>
                      </a:endParaRPr>
                    </a:p>
                  </a:txBody>
                  <a:tcPr marL="0" marR="0" marB="0" marT="0">
                    <a:lnL w="28575">
                      <a:solidFill>
                        <a:srgbClr val="FF0000"/>
                      </a:solidFill>
                      <a:prstDash val="sysDash"/>
                    </a:lnL>
                    <a:lnR w="28575">
                      <a:solidFill>
                        <a:srgbClr val="40458B"/>
                      </a:solidFill>
                      <a:prstDash val="solid"/>
                    </a:lnR>
                    <a:lnB w="28575">
                      <a:solidFill>
                        <a:srgbClr val="FF0000"/>
                      </a:solidFill>
                      <a:prstDash val="sysDash"/>
                    </a:lnB>
                  </a:tcPr>
                </a:tc>
                <a:tc>
                  <a:txBody>
                    <a:bodyPr/>
                    <a:lstStyle/>
                    <a:p>
                      <a:pPr>
                        <a:lnSpc>
                          <a:spcPct val="100000"/>
                        </a:lnSpc>
                      </a:pPr>
                      <a:endParaRPr sz="400">
                        <a:latin typeface="Times New Roman"/>
                        <a:cs typeface="Times New Roman"/>
                      </a:endParaRPr>
                    </a:p>
                  </a:txBody>
                  <a:tcPr marL="0" marR="0" marB="0" marT="0">
                    <a:lnL w="28575">
                      <a:solidFill>
                        <a:srgbClr val="40458B"/>
                      </a:solidFill>
                      <a:prstDash val="solid"/>
                    </a:lnL>
                    <a:lnR w="12700">
                      <a:solidFill>
                        <a:srgbClr val="40458B"/>
                      </a:solidFill>
                      <a:prstDash val="solid"/>
                    </a:lnR>
                    <a:lnT w="12700">
                      <a:solidFill>
                        <a:srgbClr val="40458B"/>
                      </a:solidFill>
                      <a:prstDash val="solid"/>
                    </a:lnT>
                    <a:lnB w="28575">
                      <a:solidFill>
                        <a:srgbClr val="FF0000"/>
                      </a:solidFill>
                      <a:prstDash val="sysDash"/>
                    </a:lnB>
                  </a:tcPr>
                </a:tc>
                <a:tc>
                  <a:txBody>
                    <a:bodyPr/>
                    <a:lstStyle/>
                    <a:p>
                      <a:pPr>
                        <a:lnSpc>
                          <a:spcPct val="100000"/>
                        </a:lnSpc>
                      </a:pPr>
                      <a:endParaRPr sz="400">
                        <a:latin typeface="Times New Roman"/>
                        <a:cs typeface="Times New Roman"/>
                      </a:endParaRPr>
                    </a:p>
                  </a:txBody>
                  <a:tcPr marL="0" marR="0" marB="0" marT="0">
                    <a:lnL w="12700">
                      <a:solidFill>
                        <a:srgbClr val="40458B"/>
                      </a:solidFill>
                      <a:prstDash val="solid"/>
                    </a:lnL>
                    <a:lnR w="28575">
                      <a:solidFill>
                        <a:srgbClr val="FF0000"/>
                      </a:solidFill>
                      <a:prstDash val="sysDash"/>
                    </a:lnR>
                    <a:lnT w="12700">
                      <a:solidFill>
                        <a:srgbClr val="40458B"/>
                      </a:solidFill>
                      <a:prstDash val="solid"/>
                    </a:lnT>
                    <a:lnB w="28575">
                      <a:solidFill>
                        <a:srgbClr val="FF0000"/>
                      </a:solidFill>
                      <a:prstDash val="sysDash"/>
                    </a:lnB>
                  </a:tcPr>
                </a:tc>
                <a:tc>
                  <a:txBody>
                    <a:bodyPr/>
                    <a:lstStyle/>
                    <a:p>
                      <a:pPr>
                        <a:lnSpc>
                          <a:spcPct val="100000"/>
                        </a:lnSpc>
                      </a:pPr>
                      <a:endParaRPr sz="400">
                        <a:latin typeface="Times New Roman"/>
                        <a:cs typeface="Times New Roman"/>
                      </a:endParaRPr>
                    </a:p>
                  </a:txBody>
                  <a:tcPr marL="0" marR="0" marB="0" marT="0">
                    <a:lnL w="28575">
                      <a:solidFill>
                        <a:srgbClr val="FF0000"/>
                      </a:solidFill>
                      <a:prstDash val="sysDash"/>
                    </a:lnL>
                    <a:lnR w="28575">
                      <a:solidFill>
                        <a:srgbClr val="40458B"/>
                      </a:solidFill>
                      <a:prstDash val="solid"/>
                    </a:lnR>
                    <a:lnT w="12700">
                      <a:solidFill>
                        <a:srgbClr val="40458B"/>
                      </a:solidFill>
                      <a:prstDash val="solid"/>
                    </a:lnT>
                  </a:tcPr>
                </a:tc>
              </a:tr>
              <a:tr h="462280">
                <a:tc>
                  <a:txBody>
                    <a:bodyPr/>
                    <a:lstStyle/>
                    <a:p>
                      <a:pPr>
                        <a:lnSpc>
                          <a:spcPct val="100000"/>
                        </a:lnSpc>
                      </a:pPr>
                      <a:endParaRPr sz="2100">
                        <a:latin typeface="Times New Roman"/>
                        <a:cs typeface="Times New Roman"/>
                      </a:endParaRPr>
                    </a:p>
                  </a:txBody>
                  <a:tcPr marL="0" marR="0" marB="0" marT="0">
                    <a:lnR w="28575">
                      <a:solidFill>
                        <a:srgbClr val="40458B"/>
                      </a:solidFill>
                      <a:prstDash val="solid"/>
                    </a:lnR>
                    <a:lnT w="28575">
                      <a:solidFill>
                        <a:srgbClr val="FF0000"/>
                      </a:solidFill>
                      <a:prstDash val="sysDash"/>
                    </a:lnT>
                  </a:tcPr>
                </a:tc>
                <a:tc>
                  <a:txBody>
                    <a:bodyPr/>
                    <a:lstStyle/>
                    <a:p>
                      <a:pPr algn="ctr">
                        <a:lnSpc>
                          <a:spcPct val="100000"/>
                        </a:lnSpc>
                        <a:spcBef>
                          <a:spcPts val="505"/>
                        </a:spcBef>
                      </a:pPr>
                      <a:r>
                        <a:rPr dirty="0" sz="2000" spc="-25">
                          <a:solidFill>
                            <a:srgbClr val="001F5F"/>
                          </a:solidFill>
                          <a:latin typeface="黑体"/>
                          <a:cs typeface="黑体"/>
                        </a:rPr>
                        <a:t>浮点</a:t>
                      </a:r>
                      <a:endParaRPr sz="2000">
                        <a:latin typeface="黑体"/>
                        <a:cs typeface="黑体"/>
                      </a:endParaRPr>
                    </a:p>
                  </a:txBody>
                  <a:tcPr marL="0" marR="0" marB="0" marT="64135">
                    <a:lnL w="28575">
                      <a:solidFill>
                        <a:srgbClr val="40458B"/>
                      </a:solidFill>
                      <a:prstDash val="solid"/>
                    </a:lnL>
                    <a:lnR w="12700">
                      <a:solidFill>
                        <a:srgbClr val="40458B"/>
                      </a:solidFill>
                      <a:prstDash val="solid"/>
                    </a:lnR>
                    <a:lnT w="28575">
                      <a:solidFill>
                        <a:srgbClr val="FF0000"/>
                      </a:solidFill>
                      <a:prstDash val="sysDash"/>
                    </a:lnT>
                    <a:lnB w="12700">
                      <a:solidFill>
                        <a:srgbClr val="40458B"/>
                      </a:solidFill>
                      <a:prstDash val="solid"/>
                    </a:lnB>
                  </a:tcPr>
                </a:tc>
                <a:tc gridSpan="2">
                  <a:txBody>
                    <a:bodyPr/>
                    <a:lstStyle/>
                    <a:p>
                      <a:pPr algn="ctr" marL="635">
                        <a:lnSpc>
                          <a:spcPct val="100000"/>
                        </a:lnSpc>
                        <a:spcBef>
                          <a:spcPts val="505"/>
                        </a:spcBef>
                      </a:pPr>
                      <a:r>
                        <a:rPr dirty="0" sz="2000" spc="-20">
                          <a:solidFill>
                            <a:srgbClr val="40458B"/>
                          </a:solidFill>
                          <a:latin typeface="黑体"/>
                          <a:cs typeface="黑体"/>
                        </a:rPr>
                        <a:t>浮点操作：加，减，乘，除，比较等</a:t>
                      </a:r>
                      <a:endParaRPr sz="2000">
                        <a:latin typeface="黑体"/>
                        <a:cs typeface="黑体"/>
                      </a:endParaRPr>
                    </a:p>
                  </a:txBody>
                  <a:tcPr marL="0" marR="0" marB="0" marT="64135">
                    <a:lnL w="12700">
                      <a:solidFill>
                        <a:srgbClr val="40458B"/>
                      </a:solidFill>
                      <a:prstDash val="solid"/>
                    </a:lnL>
                    <a:lnR w="28575">
                      <a:solidFill>
                        <a:srgbClr val="40458B"/>
                      </a:solidFill>
                      <a:prstDash val="solid"/>
                    </a:lnR>
                    <a:lnT w="28575">
                      <a:solidFill>
                        <a:srgbClr val="FF0000"/>
                      </a:solidFill>
                      <a:prstDash val="sysDash"/>
                    </a:lnT>
                    <a:lnB w="12700">
                      <a:solidFill>
                        <a:srgbClr val="40458B"/>
                      </a:solidFill>
                      <a:prstDash val="solid"/>
                    </a:lnB>
                  </a:tcPr>
                </a:tc>
                <a:tc hMerge="1">
                  <a:txBody>
                    <a:bodyPr/>
                    <a:lstStyle/>
                    <a:p>
                      <a:pPr/>
                    </a:p>
                  </a:txBody>
                  <a:tcPr marL="0" marR="0" marB="0" marT="0"/>
                </a:tc>
              </a:tr>
              <a:tr h="550545">
                <a:tc>
                  <a:txBody>
                    <a:bodyPr/>
                    <a:lstStyle/>
                    <a:p>
                      <a:pPr>
                        <a:lnSpc>
                          <a:spcPct val="100000"/>
                        </a:lnSpc>
                      </a:pPr>
                      <a:endParaRPr sz="2100">
                        <a:latin typeface="Times New Roman"/>
                        <a:cs typeface="Times New Roman"/>
                      </a:endParaRPr>
                    </a:p>
                  </a:txBody>
                  <a:tcPr marL="0" marR="0" marB="0" marT="0">
                    <a:lnR w="28575">
                      <a:solidFill>
                        <a:srgbClr val="40458B"/>
                      </a:solidFill>
                      <a:prstDash val="solid"/>
                    </a:lnR>
                  </a:tcPr>
                </a:tc>
                <a:tc>
                  <a:txBody>
                    <a:bodyPr/>
                    <a:lstStyle/>
                    <a:p>
                      <a:pPr algn="ctr" marL="1905">
                        <a:lnSpc>
                          <a:spcPct val="100000"/>
                        </a:lnSpc>
                        <a:spcBef>
                          <a:spcPts val="1200"/>
                        </a:spcBef>
                      </a:pPr>
                      <a:r>
                        <a:rPr dirty="0" sz="2000" spc="-20">
                          <a:solidFill>
                            <a:srgbClr val="40458B"/>
                          </a:solidFill>
                          <a:latin typeface="黑体"/>
                          <a:cs typeface="黑体"/>
                        </a:rPr>
                        <a:t>十进制</a:t>
                      </a:r>
                      <a:endParaRPr sz="2000">
                        <a:latin typeface="黑体"/>
                        <a:cs typeface="黑体"/>
                      </a:endParaRPr>
                    </a:p>
                  </a:txBody>
                  <a:tcPr marL="0" marR="0" marB="0" marT="15240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gridSpan="2">
                  <a:txBody>
                    <a:bodyPr/>
                    <a:lstStyle/>
                    <a:p>
                      <a:pPr marL="590550">
                        <a:lnSpc>
                          <a:spcPct val="100000"/>
                        </a:lnSpc>
                        <a:spcBef>
                          <a:spcPts val="1200"/>
                        </a:spcBef>
                      </a:pPr>
                      <a:r>
                        <a:rPr dirty="0" sz="2000" spc="-20">
                          <a:solidFill>
                            <a:srgbClr val="40458B"/>
                          </a:solidFill>
                          <a:latin typeface="黑体"/>
                          <a:cs typeface="黑体"/>
                        </a:rPr>
                        <a:t>十进制加，十进制乘，十进制到字符的转换等</a:t>
                      </a:r>
                      <a:endParaRPr sz="2000">
                        <a:latin typeface="黑体"/>
                        <a:cs typeface="黑体"/>
                      </a:endParaRPr>
                    </a:p>
                  </a:txBody>
                  <a:tcPr marL="0" marR="0" marB="0" marT="1524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r>
              <a:tr h="550545">
                <a:tc>
                  <a:txBody>
                    <a:bodyPr/>
                    <a:lstStyle/>
                    <a:p>
                      <a:pPr>
                        <a:lnSpc>
                          <a:spcPct val="100000"/>
                        </a:lnSpc>
                      </a:pPr>
                      <a:endParaRPr sz="2100">
                        <a:latin typeface="Times New Roman"/>
                        <a:cs typeface="Times New Roman"/>
                      </a:endParaRPr>
                    </a:p>
                  </a:txBody>
                  <a:tcPr marL="0" marR="0" marB="0" marT="0">
                    <a:lnR w="28575">
                      <a:solidFill>
                        <a:srgbClr val="40458B"/>
                      </a:solidFill>
                      <a:prstDash val="solid"/>
                    </a:lnR>
                  </a:tcPr>
                </a:tc>
                <a:tc>
                  <a:txBody>
                    <a:bodyPr/>
                    <a:lstStyle/>
                    <a:p>
                      <a:pPr algn="ctr" marL="1905">
                        <a:lnSpc>
                          <a:spcPct val="100000"/>
                        </a:lnSpc>
                        <a:spcBef>
                          <a:spcPts val="1200"/>
                        </a:spcBef>
                      </a:pPr>
                      <a:r>
                        <a:rPr dirty="0" sz="2000" spc="-20">
                          <a:solidFill>
                            <a:srgbClr val="40458B"/>
                          </a:solidFill>
                          <a:latin typeface="黑体"/>
                          <a:cs typeface="黑体"/>
                        </a:rPr>
                        <a:t>字符串</a:t>
                      </a:r>
                      <a:endParaRPr sz="2000">
                        <a:latin typeface="黑体"/>
                        <a:cs typeface="黑体"/>
                      </a:endParaRPr>
                    </a:p>
                  </a:txBody>
                  <a:tcPr marL="0" marR="0" marB="0" marT="15240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gridSpan="2">
                  <a:txBody>
                    <a:bodyPr/>
                    <a:lstStyle/>
                    <a:p>
                      <a:pPr algn="ctr">
                        <a:lnSpc>
                          <a:spcPct val="100000"/>
                        </a:lnSpc>
                        <a:spcBef>
                          <a:spcPts val="1200"/>
                        </a:spcBef>
                      </a:pPr>
                      <a:r>
                        <a:rPr dirty="0" sz="2000" spc="-20">
                          <a:solidFill>
                            <a:srgbClr val="40458B"/>
                          </a:solidFill>
                          <a:latin typeface="黑体"/>
                          <a:cs typeface="黑体"/>
                        </a:rPr>
                        <a:t>字符串移动，字符串比较，字符串搜索等</a:t>
                      </a:r>
                      <a:endParaRPr sz="2000">
                        <a:latin typeface="黑体"/>
                        <a:cs typeface="黑体"/>
                      </a:endParaRPr>
                    </a:p>
                  </a:txBody>
                  <a:tcPr marL="0" marR="0" marB="0" marT="1524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r>
              <a:tr h="550545">
                <a:tc>
                  <a:txBody>
                    <a:bodyPr/>
                    <a:lstStyle/>
                    <a:p>
                      <a:pPr>
                        <a:lnSpc>
                          <a:spcPct val="100000"/>
                        </a:lnSpc>
                      </a:pPr>
                      <a:endParaRPr sz="2100">
                        <a:latin typeface="Times New Roman"/>
                        <a:cs typeface="Times New Roman"/>
                      </a:endParaRPr>
                    </a:p>
                  </a:txBody>
                  <a:tcPr marL="0" marR="0" marB="0" marT="0">
                    <a:lnR w="28575">
                      <a:solidFill>
                        <a:srgbClr val="40458B"/>
                      </a:solidFill>
                      <a:prstDash val="solid"/>
                    </a:lnR>
                  </a:tcPr>
                </a:tc>
                <a:tc>
                  <a:txBody>
                    <a:bodyPr/>
                    <a:lstStyle/>
                    <a:p>
                      <a:pPr algn="ctr">
                        <a:lnSpc>
                          <a:spcPct val="100000"/>
                        </a:lnSpc>
                        <a:spcBef>
                          <a:spcPts val="1200"/>
                        </a:spcBef>
                      </a:pPr>
                      <a:r>
                        <a:rPr dirty="0" sz="2000" spc="-25">
                          <a:solidFill>
                            <a:srgbClr val="40458B"/>
                          </a:solidFill>
                          <a:latin typeface="黑体"/>
                          <a:cs typeface="黑体"/>
                        </a:rPr>
                        <a:t>图形</a:t>
                      </a:r>
                      <a:endParaRPr sz="2000">
                        <a:latin typeface="黑体"/>
                        <a:cs typeface="黑体"/>
                      </a:endParaRPr>
                    </a:p>
                  </a:txBody>
                  <a:tcPr marL="0" marR="0" marB="0" marT="15240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gridSpan="2">
                  <a:txBody>
                    <a:bodyPr/>
                    <a:lstStyle/>
                    <a:p>
                      <a:pPr algn="ctr">
                        <a:lnSpc>
                          <a:spcPct val="100000"/>
                        </a:lnSpc>
                        <a:spcBef>
                          <a:spcPts val="1200"/>
                        </a:spcBef>
                      </a:pPr>
                      <a:r>
                        <a:rPr dirty="0" sz="2000" spc="-5">
                          <a:solidFill>
                            <a:srgbClr val="40458B"/>
                          </a:solidFill>
                          <a:latin typeface="黑体"/>
                          <a:cs typeface="黑体"/>
                        </a:rPr>
                        <a:t>像素操作，压缩</a:t>
                      </a:r>
                      <a:r>
                        <a:rPr dirty="0" sz="2000" spc="-15">
                          <a:solidFill>
                            <a:srgbClr val="40458B"/>
                          </a:solidFill>
                          <a:latin typeface="Tahoma"/>
                          <a:cs typeface="Tahoma"/>
                        </a:rPr>
                        <a:t>/</a:t>
                      </a:r>
                      <a:r>
                        <a:rPr dirty="0" sz="2000" spc="-15">
                          <a:solidFill>
                            <a:srgbClr val="40458B"/>
                          </a:solidFill>
                          <a:latin typeface="黑体"/>
                          <a:cs typeface="黑体"/>
                        </a:rPr>
                        <a:t>解压操作等</a:t>
                      </a:r>
                      <a:endParaRPr sz="2000">
                        <a:latin typeface="黑体"/>
                        <a:cs typeface="黑体"/>
                      </a:endParaRPr>
                    </a:p>
                  </a:txBody>
                  <a:tcPr marL="0" marR="0" marB="0" marT="15240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c hMerge="1">
                  <a:txBody>
                    <a:bodyPr/>
                    <a:lstStyle/>
                    <a:p>
                      <a:pPr/>
                    </a:p>
                  </a:txBody>
                  <a:tcPr marL="0" marR="0" marB="0" marT="0"/>
                </a:tc>
              </a:tr>
            </a:tbl>
          </a:graphicData>
        </a:graphic>
      </p:graphicFrame>
      <p:sp>
        <p:nvSpPr>
          <p:cNvPr id="11" name="object 11" descr=""/>
          <p:cNvSpPr txBox="1"/>
          <p:nvPr/>
        </p:nvSpPr>
        <p:spPr>
          <a:xfrm>
            <a:off x="6282054" y="744092"/>
            <a:ext cx="4292600" cy="391160"/>
          </a:xfrm>
          <a:prstGeom prst="rect">
            <a:avLst/>
          </a:prstGeom>
        </p:spPr>
        <p:txBody>
          <a:bodyPr wrap="square" lIns="0" tIns="12700" rIns="0" bIns="0" rtlCol="0" vert="horz">
            <a:spAutoFit/>
          </a:bodyPr>
          <a:lstStyle/>
          <a:p>
            <a:pPr marL="12700">
              <a:lnSpc>
                <a:spcPct val="100000"/>
              </a:lnSpc>
              <a:spcBef>
                <a:spcPts val="100"/>
              </a:spcBef>
              <a:tabLst>
                <a:tab pos="926465" algn="l"/>
              </a:tabLst>
            </a:pPr>
            <a:r>
              <a:rPr dirty="0" sz="2400" spc="-10">
                <a:solidFill>
                  <a:srgbClr val="0000CC"/>
                </a:solidFill>
                <a:latin typeface="黑体"/>
                <a:cs typeface="黑体"/>
              </a:rPr>
              <a:t>2.3.1</a:t>
            </a:r>
            <a:r>
              <a:rPr dirty="0" sz="2400">
                <a:solidFill>
                  <a:srgbClr val="0000CC"/>
                </a:solidFill>
                <a:latin typeface="黑体"/>
                <a:cs typeface="黑体"/>
              </a:rPr>
              <a:t>	</a:t>
            </a:r>
            <a:r>
              <a:rPr dirty="0" sz="2400" spc="-5">
                <a:solidFill>
                  <a:srgbClr val="0000CC"/>
                </a:solidFill>
                <a:latin typeface="黑体"/>
                <a:cs typeface="黑体"/>
              </a:rPr>
              <a:t>指令系统设计的基本原则</a:t>
            </a:r>
            <a:endParaRPr sz="2400">
              <a:latin typeface="黑体"/>
              <a:cs typeface="黑体"/>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601469" y="552887"/>
            <a:ext cx="9065895" cy="4640580"/>
          </a:xfrm>
          <a:prstGeom prst="rect">
            <a:avLst/>
          </a:prstGeom>
        </p:spPr>
        <p:txBody>
          <a:bodyPr wrap="square" lIns="0" tIns="245745" rIns="0" bIns="0" rtlCol="0" vert="horz">
            <a:spAutoFit/>
          </a:bodyPr>
          <a:lstStyle/>
          <a:p>
            <a:pPr marL="469265" indent="-456565">
              <a:lnSpc>
                <a:spcPct val="100000"/>
              </a:lnSpc>
              <a:spcBef>
                <a:spcPts val="1935"/>
              </a:spcBef>
              <a:buClr>
                <a:srgbClr val="40458B"/>
              </a:buClr>
              <a:buSzPct val="117857"/>
              <a:buFont typeface="Wingdings"/>
              <a:buChar char=""/>
              <a:tabLst>
                <a:tab pos="469265" algn="l"/>
              </a:tabLst>
            </a:pPr>
            <a:r>
              <a:rPr dirty="0" sz="2800" spc="-40">
                <a:solidFill>
                  <a:srgbClr val="FF0000"/>
                </a:solidFill>
                <a:latin typeface="黑体"/>
                <a:cs typeface="黑体"/>
              </a:rPr>
              <a:t>设计原则：规整性、正交性、高效率、兼容性等</a:t>
            </a:r>
            <a:endParaRPr sz="2800">
              <a:latin typeface="黑体"/>
              <a:cs typeface="黑体"/>
            </a:endParaRPr>
          </a:p>
          <a:p>
            <a:pPr algn="just" lvl="1" marL="1029335" marR="201295" indent="-457200">
              <a:lnSpc>
                <a:spcPct val="130000"/>
              </a:lnSpc>
              <a:spcBef>
                <a:spcPts val="645"/>
              </a:spcBef>
              <a:buClr>
                <a:srgbClr val="006FC0"/>
              </a:buClr>
              <a:buSzPct val="88636"/>
              <a:buFont typeface="Wingdings"/>
              <a:buChar char=""/>
              <a:tabLst>
                <a:tab pos="1029335" algn="l"/>
              </a:tabLst>
            </a:pPr>
            <a:r>
              <a:rPr dirty="0" sz="2200" spc="-25">
                <a:solidFill>
                  <a:srgbClr val="FF0000"/>
                </a:solidFill>
                <a:latin typeface="黑体"/>
                <a:cs typeface="黑体"/>
              </a:rPr>
              <a:t>规整性：</a:t>
            </a:r>
            <a:r>
              <a:rPr dirty="0" sz="2200" spc="-35">
                <a:solidFill>
                  <a:srgbClr val="40458B"/>
                </a:solidFill>
                <a:latin typeface="黑体"/>
                <a:cs typeface="黑体"/>
              </a:rPr>
              <a:t>完整性：在一个有限可用的存储空间内，对于任何可解</a:t>
            </a:r>
            <a:r>
              <a:rPr dirty="0" sz="2200" spc="-30">
                <a:solidFill>
                  <a:srgbClr val="40458B"/>
                </a:solidFill>
                <a:latin typeface="黑体"/>
                <a:cs typeface="黑体"/>
              </a:rPr>
              <a:t>的问题，编制计算程序时，指令系统所提供的指令足够使用。</a:t>
            </a:r>
            <a:r>
              <a:rPr dirty="0" sz="2200" spc="-50">
                <a:solidFill>
                  <a:srgbClr val="006FC0"/>
                </a:solidFill>
                <a:latin typeface="黑体"/>
                <a:cs typeface="黑体"/>
              </a:rPr>
              <a:t>主</a:t>
            </a:r>
            <a:r>
              <a:rPr dirty="0" sz="2200" spc="-35">
                <a:solidFill>
                  <a:srgbClr val="006FC0"/>
                </a:solidFill>
                <a:latin typeface="黑体"/>
                <a:cs typeface="黑体"/>
              </a:rPr>
              <a:t>要包括对称性和均匀性。</a:t>
            </a:r>
            <a:endParaRPr sz="2200">
              <a:latin typeface="黑体"/>
              <a:cs typeface="黑体"/>
            </a:endParaRPr>
          </a:p>
          <a:p>
            <a:pPr algn="just" lvl="2" marL="1237615" indent="-357505">
              <a:lnSpc>
                <a:spcPct val="100000"/>
              </a:lnSpc>
              <a:spcBef>
                <a:spcPts val="1235"/>
              </a:spcBef>
              <a:buClr>
                <a:srgbClr val="4668F5"/>
              </a:buClr>
              <a:buSzPct val="72500"/>
              <a:buFont typeface="Wingdings"/>
              <a:buChar char=""/>
              <a:tabLst>
                <a:tab pos="1237615" algn="l"/>
              </a:tabLst>
            </a:pPr>
            <a:r>
              <a:rPr dirty="0" sz="2000" spc="-10" b="1">
                <a:solidFill>
                  <a:srgbClr val="FF0000"/>
                </a:solidFill>
                <a:latin typeface="黑体"/>
                <a:cs typeface="黑体"/>
              </a:rPr>
              <a:t>对称性：</a:t>
            </a:r>
            <a:r>
              <a:rPr dirty="0" sz="2000" spc="-25" b="1">
                <a:solidFill>
                  <a:srgbClr val="6F2F9F"/>
                </a:solidFill>
                <a:latin typeface="黑体"/>
                <a:cs typeface="黑体"/>
              </a:rPr>
              <a:t>所有与指令系统有关的存储单元的使用、 操作码的设置等</a:t>
            </a:r>
            <a:endParaRPr sz="2000">
              <a:latin typeface="黑体"/>
              <a:cs typeface="黑体"/>
            </a:endParaRPr>
          </a:p>
          <a:p>
            <a:pPr marL="1238250">
              <a:lnSpc>
                <a:spcPct val="100000"/>
              </a:lnSpc>
              <a:spcBef>
                <a:spcPts val="720"/>
              </a:spcBef>
            </a:pPr>
            <a:r>
              <a:rPr dirty="0" sz="2000" spc="-25" b="1">
                <a:solidFill>
                  <a:srgbClr val="6F2F9F"/>
                </a:solidFill>
                <a:latin typeface="黑体"/>
                <a:cs typeface="黑体"/>
              </a:rPr>
              <a:t>都是对称的。</a:t>
            </a:r>
            <a:endParaRPr sz="2000">
              <a:latin typeface="黑体"/>
              <a:cs typeface="黑体"/>
            </a:endParaRPr>
          </a:p>
          <a:p>
            <a:pPr marL="1238250" marR="250190" indent="-358140">
              <a:lnSpc>
                <a:spcPct val="130000"/>
              </a:lnSpc>
              <a:spcBef>
                <a:spcPts val="480"/>
              </a:spcBef>
            </a:pPr>
            <a:r>
              <a:rPr dirty="0" sz="2000" spc="-5" b="1">
                <a:solidFill>
                  <a:srgbClr val="E14B04"/>
                </a:solidFill>
                <a:latin typeface="黑体"/>
                <a:cs typeface="黑体"/>
              </a:rPr>
              <a:t>例如：</a:t>
            </a:r>
            <a:r>
              <a:rPr dirty="0" sz="2000" spc="-20" b="1">
                <a:solidFill>
                  <a:srgbClr val="6F2F9F"/>
                </a:solidFill>
                <a:latin typeface="黑体"/>
                <a:cs typeface="黑体"/>
              </a:rPr>
              <a:t>在操作码的设置上，如果设置了</a:t>
            </a:r>
            <a:r>
              <a:rPr dirty="0" sz="2000" spc="-20" b="1">
                <a:solidFill>
                  <a:srgbClr val="9933FF"/>
                </a:solidFill>
                <a:latin typeface="宋体"/>
                <a:cs typeface="宋体"/>
              </a:rPr>
              <a:t>A</a:t>
            </a:r>
            <a:r>
              <a:rPr dirty="0" sz="2000" spc="-20" b="1">
                <a:solidFill>
                  <a:srgbClr val="9933FF"/>
                </a:solidFill>
                <a:latin typeface="黑体"/>
                <a:cs typeface="黑体"/>
              </a:rPr>
              <a:t>－</a:t>
            </a:r>
            <a:r>
              <a:rPr dirty="0" sz="2000" spc="-20" b="1">
                <a:solidFill>
                  <a:srgbClr val="9933FF"/>
                </a:solidFill>
                <a:latin typeface="宋体"/>
                <a:cs typeface="宋体"/>
              </a:rPr>
              <a:t>B</a:t>
            </a:r>
            <a:r>
              <a:rPr dirty="0" sz="2000" spc="-20" b="1">
                <a:solidFill>
                  <a:srgbClr val="9933FF"/>
                </a:solidFill>
                <a:latin typeface="黑体"/>
                <a:cs typeface="黑体"/>
              </a:rPr>
              <a:t>（</a:t>
            </a:r>
            <a:r>
              <a:rPr dirty="0" sz="2000" spc="-10" b="1">
                <a:solidFill>
                  <a:srgbClr val="9933FF"/>
                </a:solidFill>
                <a:latin typeface="黑体"/>
                <a:cs typeface="黑体"/>
              </a:rPr>
              <a:t>减法</a:t>
            </a:r>
            <a:r>
              <a:rPr dirty="0" sz="2000" spc="-20" b="1">
                <a:solidFill>
                  <a:srgbClr val="9933FF"/>
                </a:solidFill>
                <a:latin typeface="黑体"/>
                <a:cs typeface="黑体"/>
              </a:rPr>
              <a:t>）</a:t>
            </a:r>
            <a:r>
              <a:rPr dirty="0" sz="2000" spc="-25" b="1">
                <a:solidFill>
                  <a:srgbClr val="6F2F9F"/>
                </a:solidFill>
                <a:latin typeface="黑体"/>
                <a:cs typeface="黑体"/>
              </a:rPr>
              <a:t>的指令，就应该也</a:t>
            </a:r>
            <a:r>
              <a:rPr dirty="0" sz="2000" b="1">
                <a:solidFill>
                  <a:srgbClr val="6F2F9F"/>
                </a:solidFill>
                <a:latin typeface="黑体"/>
                <a:cs typeface="黑体"/>
              </a:rPr>
              <a:t>设置</a:t>
            </a:r>
            <a:r>
              <a:rPr dirty="0" sz="2000" spc="-10" b="1">
                <a:solidFill>
                  <a:srgbClr val="9933FF"/>
                </a:solidFill>
                <a:latin typeface="宋体"/>
                <a:cs typeface="宋体"/>
              </a:rPr>
              <a:t>B</a:t>
            </a:r>
            <a:r>
              <a:rPr dirty="0" sz="2000" spc="-10" b="1">
                <a:solidFill>
                  <a:srgbClr val="9933FF"/>
                </a:solidFill>
                <a:latin typeface="黑体"/>
                <a:cs typeface="黑体"/>
              </a:rPr>
              <a:t>－</a:t>
            </a:r>
            <a:r>
              <a:rPr dirty="0" sz="2000" spc="-10" b="1">
                <a:solidFill>
                  <a:srgbClr val="9933FF"/>
                </a:solidFill>
                <a:latin typeface="宋体"/>
                <a:cs typeface="宋体"/>
              </a:rPr>
              <a:t>A</a:t>
            </a:r>
            <a:r>
              <a:rPr dirty="0" sz="2000" spc="-30" b="1">
                <a:solidFill>
                  <a:srgbClr val="6F2F9F"/>
                </a:solidFill>
                <a:latin typeface="黑体"/>
                <a:cs typeface="黑体"/>
              </a:rPr>
              <a:t>的指令。</a:t>
            </a:r>
            <a:endParaRPr sz="2000">
              <a:latin typeface="黑体"/>
              <a:cs typeface="黑体"/>
            </a:endParaRPr>
          </a:p>
          <a:p>
            <a:pPr marL="880110">
              <a:lnSpc>
                <a:spcPct val="100000"/>
              </a:lnSpc>
              <a:spcBef>
                <a:spcPts val="1200"/>
              </a:spcBef>
            </a:pPr>
            <a:r>
              <a:rPr dirty="0" sz="2000" spc="-15" b="1">
                <a:solidFill>
                  <a:srgbClr val="E14B04"/>
                </a:solidFill>
                <a:latin typeface="黑体"/>
                <a:cs typeface="黑体"/>
              </a:rPr>
              <a:t>例如：</a:t>
            </a:r>
            <a:r>
              <a:rPr dirty="0" sz="2000" spc="-25" b="1">
                <a:solidFill>
                  <a:srgbClr val="6F2F9F"/>
                </a:solidFill>
                <a:latin typeface="黑体"/>
                <a:cs typeface="黑体"/>
              </a:rPr>
              <a:t>对相似的操作做出相同的规定，对字的操作与对字节的操作一样；</a:t>
            </a:r>
            <a:endParaRPr sz="2000">
              <a:latin typeface="黑体"/>
              <a:cs typeface="黑体"/>
            </a:endParaRPr>
          </a:p>
          <a:p>
            <a:pPr marL="1238250">
              <a:lnSpc>
                <a:spcPct val="100000"/>
              </a:lnSpc>
              <a:spcBef>
                <a:spcPts val="725"/>
              </a:spcBef>
            </a:pPr>
            <a:r>
              <a:rPr dirty="0" sz="2000" spc="-25" b="1">
                <a:solidFill>
                  <a:srgbClr val="6F2F9F"/>
                </a:solidFill>
                <a:latin typeface="黑体"/>
                <a:cs typeface="黑体"/>
              </a:rPr>
              <a:t>在存储单元的使用上，所有通用寄存器都要同等对待。</a:t>
            </a:r>
            <a:endParaRPr sz="2000">
              <a:latin typeface="黑体"/>
              <a:cs typeface="黑体"/>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601469" y="552887"/>
            <a:ext cx="8925560" cy="2808605"/>
          </a:xfrm>
          <a:prstGeom prst="rect">
            <a:avLst/>
          </a:prstGeom>
        </p:spPr>
        <p:txBody>
          <a:bodyPr wrap="square" lIns="0" tIns="245745" rIns="0" bIns="0" rtlCol="0" vert="horz">
            <a:spAutoFit/>
          </a:bodyPr>
          <a:lstStyle/>
          <a:p>
            <a:pPr marL="469265" indent="-456565">
              <a:lnSpc>
                <a:spcPct val="100000"/>
              </a:lnSpc>
              <a:spcBef>
                <a:spcPts val="1935"/>
              </a:spcBef>
              <a:buClr>
                <a:srgbClr val="40458B"/>
              </a:buClr>
              <a:buSzPct val="117857"/>
              <a:buFont typeface="Wingdings"/>
              <a:buChar char=""/>
              <a:tabLst>
                <a:tab pos="469265" algn="l"/>
              </a:tabLst>
            </a:pPr>
            <a:r>
              <a:rPr dirty="0" sz="2800" spc="-40">
                <a:solidFill>
                  <a:srgbClr val="FF0000"/>
                </a:solidFill>
                <a:latin typeface="黑体"/>
                <a:cs typeface="黑体"/>
              </a:rPr>
              <a:t>设计原则：规整性、正交性、高效率、兼容性等</a:t>
            </a:r>
            <a:endParaRPr sz="2800">
              <a:latin typeface="黑体"/>
              <a:cs typeface="黑体"/>
            </a:endParaRPr>
          </a:p>
          <a:p>
            <a:pPr lvl="1" marL="1029335" indent="-457200">
              <a:lnSpc>
                <a:spcPct val="100000"/>
              </a:lnSpc>
              <a:spcBef>
                <a:spcPts val="1440"/>
              </a:spcBef>
              <a:buClr>
                <a:srgbClr val="006FC0"/>
              </a:buClr>
              <a:buSzPct val="88636"/>
              <a:buFont typeface="Wingdings"/>
              <a:buChar char=""/>
              <a:tabLst>
                <a:tab pos="1029335" algn="l"/>
              </a:tabLst>
            </a:pPr>
            <a:r>
              <a:rPr dirty="0" sz="2200" spc="-40">
                <a:solidFill>
                  <a:srgbClr val="FF0000"/>
                </a:solidFill>
                <a:latin typeface="黑体"/>
                <a:cs typeface="黑体"/>
              </a:rPr>
              <a:t>规整性</a:t>
            </a:r>
            <a:endParaRPr sz="2200">
              <a:latin typeface="黑体"/>
              <a:cs typeface="黑体"/>
            </a:endParaRPr>
          </a:p>
          <a:p>
            <a:pPr lvl="2" marL="1640205" indent="-457200">
              <a:lnSpc>
                <a:spcPct val="100000"/>
              </a:lnSpc>
              <a:spcBef>
                <a:spcPts val="1230"/>
              </a:spcBef>
              <a:buClr>
                <a:srgbClr val="4668F5"/>
              </a:buClr>
              <a:buSzPct val="72500"/>
              <a:buFont typeface="Wingdings"/>
              <a:buChar char=""/>
              <a:tabLst>
                <a:tab pos="1640205" algn="l"/>
              </a:tabLst>
            </a:pPr>
            <a:r>
              <a:rPr dirty="0" sz="2000" spc="-15" b="1">
                <a:solidFill>
                  <a:srgbClr val="FF0000"/>
                </a:solidFill>
                <a:latin typeface="黑体"/>
                <a:cs typeface="黑体"/>
              </a:rPr>
              <a:t>均匀性：</a:t>
            </a:r>
            <a:r>
              <a:rPr dirty="0" sz="2000" spc="-25" b="1">
                <a:solidFill>
                  <a:srgbClr val="6F2F9F"/>
                </a:solidFill>
                <a:latin typeface="黑体"/>
                <a:cs typeface="黑体"/>
              </a:rPr>
              <a:t>指对于各种不同的操作数类型、字长、操作种类和数据</a:t>
            </a:r>
            <a:endParaRPr sz="2000">
              <a:latin typeface="黑体"/>
              <a:cs typeface="黑体"/>
            </a:endParaRPr>
          </a:p>
          <a:p>
            <a:pPr marL="1640205">
              <a:lnSpc>
                <a:spcPct val="100000"/>
              </a:lnSpc>
              <a:spcBef>
                <a:spcPts val="725"/>
              </a:spcBef>
            </a:pPr>
            <a:r>
              <a:rPr dirty="0" sz="2000" spc="-25" b="1">
                <a:solidFill>
                  <a:srgbClr val="6F2F9F"/>
                </a:solidFill>
                <a:latin typeface="黑体"/>
                <a:cs typeface="黑体"/>
              </a:rPr>
              <a:t>存储单元，指令的设置都要同等对待。</a:t>
            </a:r>
            <a:endParaRPr sz="2000">
              <a:latin typeface="黑体"/>
              <a:cs typeface="黑体"/>
            </a:endParaRPr>
          </a:p>
          <a:p>
            <a:pPr marL="1238250">
              <a:lnSpc>
                <a:spcPct val="100000"/>
              </a:lnSpc>
              <a:spcBef>
                <a:spcPts val="840"/>
              </a:spcBef>
            </a:pPr>
            <a:r>
              <a:rPr dirty="0" sz="2000" spc="-10" b="1">
                <a:solidFill>
                  <a:srgbClr val="E14B04"/>
                </a:solidFill>
                <a:latin typeface="宋体"/>
                <a:cs typeface="宋体"/>
              </a:rPr>
              <a:t>例如：</a:t>
            </a:r>
            <a:r>
              <a:rPr dirty="0" sz="2000" spc="-10" b="1">
                <a:solidFill>
                  <a:srgbClr val="40458B"/>
                </a:solidFill>
                <a:latin typeface="宋体"/>
                <a:cs typeface="宋体"/>
              </a:rPr>
              <a:t>如果某机器有</a:t>
            </a:r>
            <a:r>
              <a:rPr dirty="0" sz="2000" spc="-10" b="1">
                <a:solidFill>
                  <a:srgbClr val="9933FF"/>
                </a:solidFill>
                <a:latin typeface="宋体"/>
                <a:cs typeface="宋体"/>
              </a:rPr>
              <a:t>5</a:t>
            </a:r>
            <a:r>
              <a:rPr dirty="0" sz="2000" spc="-20" b="1">
                <a:solidFill>
                  <a:srgbClr val="40458B"/>
                </a:solidFill>
                <a:latin typeface="宋体"/>
                <a:cs typeface="宋体"/>
              </a:rPr>
              <a:t>种数据表示，</a:t>
            </a:r>
            <a:r>
              <a:rPr dirty="0" sz="2000" spc="-10" b="1">
                <a:solidFill>
                  <a:srgbClr val="9933FF"/>
                </a:solidFill>
                <a:latin typeface="宋体"/>
                <a:cs typeface="宋体"/>
              </a:rPr>
              <a:t>4</a:t>
            </a:r>
            <a:r>
              <a:rPr dirty="0" sz="2000" spc="-25" b="1">
                <a:solidFill>
                  <a:srgbClr val="40458B"/>
                </a:solidFill>
                <a:latin typeface="宋体"/>
                <a:cs typeface="宋体"/>
              </a:rPr>
              <a:t>种字长，两种存储单元，则要设</a:t>
            </a:r>
            <a:endParaRPr sz="2000">
              <a:latin typeface="宋体"/>
              <a:cs typeface="宋体"/>
            </a:endParaRPr>
          </a:p>
          <a:p>
            <a:pPr marL="1596390">
              <a:lnSpc>
                <a:spcPct val="100000"/>
              </a:lnSpc>
              <a:spcBef>
                <a:spcPts val="240"/>
              </a:spcBef>
            </a:pPr>
            <a:r>
              <a:rPr dirty="0" sz="2000" spc="-15" b="1">
                <a:solidFill>
                  <a:srgbClr val="40458B"/>
                </a:solidFill>
                <a:latin typeface="宋体"/>
                <a:cs typeface="宋体"/>
              </a:rPr>
              <a:t>置</a:t>
            </a:r>
            <a:r>
              <a:rPr dirty="0" sz="2000" spc="-10" b="1">
                <a:solidFill>
                  <a:srgbClr val="9933FF"/>
                </a:solidFill>
                <a:latin typeface="宋体"/>
                <a:cs typeface="宋体"/>
              </a:rPr>
              <a:t>5×4×2=40</a:t>
            </a:r>
            <a:r>
              <a:rPr dirty="0" sz="2000" spc="-25" b="1">
                <a:solidFill>
                  <a:srgbClr val="40458B"/>
                </a:solidFill>
                <a:latin typeface="宋体"/>
                <a:cs typeface="宋体"/>
              </a:rPr>
              <a:t>种同一操作的指令。</a:t>
            </a:r>
            <a:endParaRPr sz="2000">
              <a:latin typeface="宋体"/>
              <a:cs typeface="宋体"/>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727073" y="567572"/>
            <a:ext cx="8886190" cy="5831205"/>
          </a:xfrm>
          <a:prstGeom prst="rect">
            <a:avLst/>
          </a:prstGeom>
        </p:spPr>
        <p:txBody>
          <a:bodyPr wrap="square" lIns="0" tIns="151130" rIns="0" bIns="0" rtlCol="0" vert="horz">
            <a:spAutoFit/>
          </a:bodyPr>
          <a:lstStyle/>
          <a:p>
            <a:pPr marL="4605655">
              <a:lnSpc>
                <a:spcPct val="100000"/>
              </a:lnSpc>
              <a:spcBef>
                <a:spcPts val="1190"/>
              </a:spcBef>
              <a:tabLst>
                <a:tab pos="5520055" algn="l"/>
              </a:tabLst>
            </a:pPr>
            <a:r>
              <a:rPr dirty="0" sz="2400" spc="-10">
                <a:solidFill>
                  <a:srgbClr val="0000CC"/>
                </a:solidFill>
                <a:latin typeface="黑体"/>
                <a:cs typeface="黑体"/>
              </a:rPr>
              <a:t>2.3.1</a:t>
            </a:r>
            <a:r>
              <a:rPr dirty="0" sz="2400">
                <a:solidFill>
                  <a:srgbClr val="0000CC"/>
                </a:solidFill>
                <a:latin typeface="黑体"/>
                <a:cs typeface="黑体"/>
              </a:rPr>
              <a:t>	</a:t>
            </a:r>
            <a:r>
              <a:rPr dirty="0" sz="2400" spc="-5">
                <a:solidFill>
                  <a:srgbClr val="0000CC"/>
                </a:solidFill>
                <a:latin typeface="黑体"/>
                <a:cs typeface="黑体"/>
              </a:rPr>
              <a:t>指令系统设计的基本原则</a:t>
            </a:r>
            <a:endParaRPr sz="2400">
              <a:latin typeface="黑体"/>
              <a:cs typeface="黑体"/>
            </a:endParaRPr>
          </a:p>
          <a:p>
            <a:pPr marL="469265" indent="-456565">
              <a:lnSpc>
                <a:spcPct val="100000"/>
              </a:lnSpc>
              <a:spcBef>
                <a:spcPts val="2050"/>
              </a:spcBef>
              <a:buClr>
                <a:srgbClr val="40458B"/>
              </a:buClr>
              <a:buSzPct val="117857"/>
              <a:buFont typeface="Wingdings"/>
              <a:buChar char=""/>
              <a:tabLst>
                <a:tab pos="469265" algn="l"/>
              </a:tabLst>
            </a:pPr>
            <a:r>
              <a:rPr dirty="0" sz="2800" spc="-40">
                <a:solidFill>
                  <a:srgbClr val="FF0000"/>
                </a:solidFill>
                <a:latin typeface="黑体"/>
                <a:cs typeface="黑体"/>
              </a:rPr>
              <a:t>设计原则：规整性、正交性、高效率、兼容性</a:t>
            </a:r>
            <a:endParaRPr sz="2800">
              <a:latin typeface="黑体"/>
              <a:cs typeface="黑体"/>
            </a:endParaRPr>
          </a:p>
          <a:p>
            <a:pPr lvl="1" marL="1028700" marR="210820" indent="-457200">
              <a:lnSpc>
                <a:spcPct val="130000"/>
              </a:lnSpc>
              <a:spcBef>
                <a:spcPts val="645"/>
              </a:spcBef>
              <a:buClr>
                <a:srgbClr val="006FC0"/>
              </a:buClr>
              <a:buSzPct val="88636"/>
              <a:buFont typeface="Wingdings"/>
              <a:buChar char=""/>
              <a:tabLst>
                <a:tab pos="1028700" algn="l"/>
              </a:tabLst>
            </a:pPr>
            <a:r>
              <a:rPr dirty="0" sz="2200" spc="-30">
                <a:solidFill>
                  <a:srgbClr val="FF0000"/>
                </a:solidFill>
                <a:latin typeface="黑体"/>
                <a:cs typeface="黑体"/>
              </a:rPr>
              <a:t>正交性</a:t>
            </a:r>
            <a:r>
              <a:rPr dirty="0" sz="2200" spc="-35">
                <a:solidFill>
                  <a:srgbClr val="006FC0"/>
                </a:solidFill>
                <a:latin typeface="黑体"/>
                <a:cs typeface="黑体"/>
              </a:rPr>
              <a:t>：在指令中各个不同含义的字段，如操作类型、数据类</a:t>
            </a:r>
            <a:r>
              <a:rPr dirty="0" sz="2200" spc="-40">
                <a:solidFill>
                  <a:srgbClr val="006FC0"/>
                </a:solidFill>
                <a:latin typeface="黑体"/>
                <a:cs typeface="黑体"/>
              </a:rPr>
              <a:t>型、寻址方式字段等，在编码时应互不相关、相互独立。 </a:t>
            </a:r>
            <a:r>
              <a:rPr dirty="0" sz="2200" spc="-20">
                <a:solidFill>
                  <a:srgbClr val="006FC0"/>
                </a:solidFill>
                <a:latin typeface="黑体"/>
                <a:cs typeface="黑体"/>
              </a:rPr>
              <a:t>（</a:t>
            </a:r>
            <a:r>
              <a:rPr dirty="0" sz="2200" spc="-50">
                <a:solidFill>
                  <a:srgbClr val="006FC0"/>
                </a:solidFill>
                <a:latin typeface="黑体"/>
                <a:cs typeface="黑体"/>
              </a:rPr>
              <a:t>例</a:t>
            </a:r>
            <a:r>
              <a:rPr dirty="0" sz="2200" spc="-30">
                <a:solidFill>
                  <a:srgbClr val="006FC0"/>
                </a:solidFill>
                <a:latin typeface="黑体"/>
                <a:cs typeface="黑体"/>
              </a:rPr>
              <a:t>如：浮点运算、定点运算，寄存器的选择不设限，任意访问</a:t>
            </a:r>
            <a:r>
              <a:rPr dirty="0" sz="2200" spc="-50">
                <a:solidFill>
                  <a:srgbClr val="006FC0"/>
                </a:solidFill>
                <a:latin typeface="黑体"/>
                <a:cs typeface="黑体"/>
              </a:rPr>
              <a:t>）</a:t>
            </a:r>
            <a:endParaRPr sz="2200">
              <a:latin typeface="黑体"/>
              <a:cs typeface="黑体"/>
            </a:endParaRPr>
          </a:p>
          <a:p>
            <a:pPr lvl="1" marL="1028700" indent="-457200">
              <a:lnSpc>
                <a:spcPct val="100000"/>
              </a:lnSpc>
              <a:spcBef>
                <a:spcPts val="1320"/>
              </a:spcBef>
              <a:buClr>
                <a:srgbClr val="006FC0"/>
              </a:buClr>
              <a:buSzPct val="88636"/>
              <a:buFont typeface="Wingdings"/>
              <a:buChar char=""/>
              <a:tabLst>
                <a:tab pos="1028700" algn="l"/>
              </a:tabLst>
            </a:pPr>
            <a:r>
              <a:rPr dirty="0" sz="2200" spc="-25">
                <a:solidFill>
                  <a:srgbClr val="FF0000"/>
                </a:solidFill>
                <a:latin typeface="黑体"/>
                <a:cs typeface="黑体"/>
              </a:rPr>
              <a:t>高效率：</a:t>
            </a:r>
            <a:r>
              <a:rPr dirty="0" sz="2200" spc="-35">
                <a:solidFill>
                  <a:srgbClr val="006FC0"/>
                </a:solidFill>
                <a:latin typeface="黑体"/>
                <a:cs typeface="黑体"/>
              </a:rPr>
              <a:t>指指令的执行速度快、使用频度高。</a:t>
            </a:r>
            <a:endParaRPr sz="2200">
              <a:latin typeface="黑体"/>
              <a:cs typeface="黑体"/>
            </a:endParaRPr>
          </a:p>
          <a:p>
            <a:pPr lvl="1" marL="1028700" marR="304800" indent="-457200">
              <a:lnSpc>
                <a:spcPct val="130000"/>
              </a:lnSpc>
              <a:spcBef>
                <a:spcPts val="530"/>
              </a:spcBef>
              <a:buClr>
                <a:srgbClr val="006FC0"/>
              </a:buClr>
              <a:buSzPct val="88636"/>
              <a:buFont typeface="Wingdings"/>
              <a:buChar char=""/>
              <a:tabLst>
                <a:tab pos="1028700" algn="l"/>
              </a:tabLst>
            </a:pPr>
            <a:r>
              <a:rPr dirty="0" sz="2200" spc="-25">
                <a:solidFill>
                  <a:srgbClr val="FF0000"/>
                </a:solidFill>
                <a:latin typeface="黑体"/>
                <a:cs typeface="黑体"/>
              </a:rPr>
              <a:t>兼容性：</a:t>
            </a:r>
            <a:r>
              <a:rPr dirty="0" sz="2200" spc="-35">
                <a:solidFill>
                  <a:srgbClr val="006FC0"/>
                </a:solidFill>
                <a:latin typeface="黑体"/>
                <a:cs typeface="黑体"/>
              </a:rPr>
              <a:t>主要是要实现向后兼容，指令系统可以增加新指令，但不能删除指令或更改指令的功能。</a:t>
            </a:r>
            <a:endParaRPr sz="2200">
              <a:latin typeface="黑体"/>
              <a:cs typeface="黑体"/>
            </a:endParaRPr>
          </a:p>
          <a:p>
            <a:pPr lvl="1" marL="1028700" indent="-457200">
              <a:lnSpc>
                <a:spcPct val="100000"/>
              </a:lnSpc>
              <a:spcBef>
                <a:spcPts val="1320"/>
              </a:spcBef>
              <a:buClr>
                <a:srgbClr val="006FC0"/>
              </a:buClr>
              <a:buSzPct val="88636"/>
              <a:buFont typeface="Wingdings"/>
              <a:buChar char=""/>
              <a:tabLst>
                <a:tab pos="1028700" algn="l"/>
              </a:tabLst>
            </a:pPr>
            <a:r>
              <a:rPr dirty="0" sz="2200" spc="-30">
                <a:solidFill>
                  <a:srgbClr val="FF0000"/>
                </a:solidFill>
                <a:latin typeface="黑体"/>
                <a:cs typeface="黑体"/>
              </a:rPr>
              <a:t>可扩充性：</a:t>
            </a:r>
            <a:r>
              <a:rPr dirty="0" sz="2200" spc="-35">
                <a:solidFill>
                  <a:srgbClr val="006FC0"/>
                </a:solidFill>
                <a:latin typeface="黑体"/>
                <a:cs typeface="黑体"/>
              </a:rPr>
              <a:t>有一定数量的冗余操作码，便于后续扩充新指令。</a:t>
            </a:r>
            <a:endParaRPr sz="2200">
              <a:latin typeface="黑体"/>
              <a:cs typeface="黑体"/>
            </a:endParaRPr>
          </a:p>
          <a:p>
            <a:pPr marL="470534" indent="-456565">
              <a:lnSpc>
                <a:spcPct val="100000"/>
              </a:lnSpc>
              <a:spcBef>
                <a:spcPts val="1565"/>
              </a:spcBef>
              <a:buClr>
                <a:srgbClr val="40458B"/>
              </a:buClr>
              <a:buSzPct val="117857"/>
              <a:buFont typeface="Wingdings"/>
              <a:buChar char=""/>
              <a:tabLst>
                <a:tab pos="470534" algn="l"/>
              </a:tabLst>
            </a:pPr>
            <a:r>
              <a:rPr dirty="0" sz="2800" spc="-40">
                <a:solidFill>
                  <a:srgbClr val="172152"/>
                </a:solidFill>
                <a:latin typeface="黑体"/>
                <a:cs typeface="黑体"/>
              </a:rPr>
              <a:t>规整性、正交性：编译系统要求</a:t>
            </a:r>
            <a:endParaRPr sz="2800">
              <a:latin typeface="黑体"/>
              <a:cs typeface="黑体"/>
            </a:endParaRPr>
          </a:p>
          <a:p>
            <a:pPr marL="470534" indent="-456565">
              <a:lnSpc>
                <a:spcPct val="100000"/>
              </a:lnSpc>
              <a:spcBef>
                <a:spcPts val="1680"/>
              </a:spcBef>
              <a:buClr>
                <a:srgbClr val="40458B"/>
              </a:buClr>
              <a:buSzPct val="117857"/>
              <a:buFont typeface="Wingdings"/>
              <a:buChar char=""/>
              <a:tabLst>
                <a:tab pos="470534" algn="l"/>
              </a:tabLst>
            </a:pPr>
            <a:r>
              <a:rPr dirty="0" sz="2800" spc="-40">
                <a:solidFill>
                  <a:srgbClr val="172152"/>
                </a:solidFill>
                <a:latin typeface="黑体"/>
                <a:cs typeface="黑体"/>
              </a:rPr>
              <a:t>高效率、兼容性：系统设计者要求</a:t>
            </a:r>
            <a:endParaRPr sz="2800">
              <a:latin typeface="黑体"/>
              <a:cs typeface="黑体"/>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602994" y="552887"/>
            <a:ext cx="8301355" cy="5989955"/>
          </a:xfrm>
          <a:prstGeom prst="rect">
            <a:avLst/>
          </a:prstGeom>
        </p:spPr>
        <p:txBody>
          <a:bodyPr wrap="square" lIns="0" tIns="182245" rIns="0" bIns="0" rtlCol="0" vert="horz">
            <a:spAutoFit/>
          </a:bodyPr>
          <a:lstStyle/>
          <a:p>
            <a:pPr marL="469265" indent="-456565">
              <a:lnSpc>
                <a:spcPct val="100000"/>
              </a:lnSpc>
              <a:spcBef>
                <a:spcPts val="1435"/>
              </a:spcBef>
              <a:buClr>
                <a:srgbClr val="40458B"/>
              </a:buClr>
              <a:buSzPct val="117857"/>
              <a:buFont typeface="Tahoma"/>
              <a:buAutoNum type="arabicPeriod" startAt="4"/>
              <a:tabLst>
                <a:tab pos="469265" algn="l"/>
              </a:tabLst>
            </a:pPr>
            <a:r>
              <a:rPr dirty="0" sz="2800" spc="-40">
                <a:solidFill>
                  <a:srgbClr val="172152"/>
                </a:solidFill>
                <a:latin typeface="黑体"/>
                <a:cs typeface="黑体"/>
              </a:rPr>
              <a:t>在设计指令系统时，有两种截然不同的设计策略。</a:t>
            </a:r>
            <a:endParaRPr sz="2800">
              <a:latin typeface="黑体"/>
              <a:cs typeface="黑体"/>
            </a:endParaRPr>
          </a:p>
          <a:p>
            <a:pPr algn="ctr" marL="4445">
              <a:lnSpc>
                <a:spcPct val="100000"/>
              </a:lnSpc>
              <a:spcBef>
                <a:spcPts val="1340"/>
              </a:spcBef>
            </a:pPr>
            <a:r>
              <a:rPr dirty="0" sz="2200" spc="-25">
                <a:solidFill>
                  <a:srgbClr val="006FC0"/>
                </a:solidFill>
                <a:latin typeface="黑体"/>
                <a:cs typeface="黑体"/>
              </a:rPr>
              <a:t>（</a:t>
            </a:r>
            <a:r>
              <a:rPr dirty="0" sz="2200" spc="-65">
                <a:solidFill>
                  <a:srgbClr val="006FC0"/>
                </a:solidFill>
                <a:latin typeface="黑体"/>
                <a:cs typeface="黑体"/>
              </a:rPr>
              <a:t>产生了两类不同的计算机系统： </a:t>
            </a:r>
            <a:r>
              <a:rPr dirty="0" sz="2200" spc="-20">
                <a:solidFill>
                  <a:srgbClr val="FF0000"/>
                </a:solidFill>
                <a:latin typeface="Times New Roman"/>
                <a:cs typeface="Times New Roman"/>
              </a:rPr>
              <a:t>CISC</a:t>
            </a:r>
            <a:r>
              <a:rPr dirty="0" sz="2200" spc="-20">
                <a:solidFill>
                  <a:srgbClr val="FF0000"/>
                </a:solidFill>
                <a:latin typeface="黑体"/>
                <a:cs typeface="黑体"/>
              </a:rPr>
              <a:t>和</a:t>
            </a:r>
            <a:r>
              <a:rPr dirty="0" sz="2200">
                <a:solidFill>
                  <a:srgbClr val="FF0000"/>
                </a:solidFill>
                <a:latin typeface="Times New Roman"/>
                <a:cs typeface="Times New Roman"/>
              </a:rPr>
              <a:t>RISC</a:t>
            </a:r>
            <a:r>
              <a:rPr dirty="0" sz="2200" spc="210">
                <a:solidFill>
                  <a:srgbClr val="FF0000"/>
                </a:solidFill>
                <a:latin typeface="Times New Roman"/>
                <a:cs typeface="Times New Roman"/>
              </a:rPr>
              <a:t> </a:t>
            </a:r>
            <a:r>
              <a:rPr dirty="0" sz="2200" spc="-50">
                <a:solidFill>
                  <a:srgbClr val="006FC0"/>
                </a:solidFill>
                <a:latin typeface="黑体"/>
                <a:cs typeface="黑体"/>
              </a:rPr>
              <a:t>）</a:t>
            </a:r>
            <a:endParaRPr sz="2200">
              <a:latin typeface="黑体"/>
              <a:cs typeface="黑体"/>
            </a:endParaRPr>
          </a:p>
          <a:p>
            <a:pPr lvl="1" marL="1099185" indent="-457200">
              <a:lnSpc>
                <a:spcPct val="100000"/>
              </a:lnSpc>
              <a:spcBef>
                <a:spcPts val="1320"/>
              </a:spcBef>
              <a:buClr>
                <a:srgbClr val="006FC0"/>
              </a:buClr>
              <a:buSzPct val="88636"/>
              <a:buFont typeface="Wingdings"/>
              <a:buChar char=""/>
              <a:tabLst>
                <a:tab pos="1099185" algn="l"/>
              </a:tabLst>
            </a:pPr>
            <a:r>
              <a:rPr dirty="0" sz="2200" spc="-10">
                <a:solidFill>
                  <a:srgbClr val="FF0000"/>
                </a:solidFill>
                <a:latin typeface="Times New Roman"/>
                <a:cs typeface="Times New Roman"/>
              </a:rPr>
              <a:t>CISC</a:t>
            </a:r>
            <a:r>
              <a:rPr dirty="0" sz="2200" spc="-10">
                <a:solidFill>
                  <a:srgbClr val="FF0000"/>
                </a:solidFill>
                <a:latin typeface="黑体"/>
                <a:cs typeface="黑体"/>
              </a:rPr>
              <a:t>（</a:t>
            </a:r>
            <a:r>
              <a:rPr dirty="0" sz="2200" spc="-30">
                <a:solidFill>
                  <a:srgbClr val="FF0000"/>
                </a:solidFill>
                <a:latin typeface="黑体"/>
                <a:cs typeface="黑体"/>
              </a:rPr>
              <a:t>复杂指令系统计算机</a:t>
            </a:r>
            <a:r>
              <a:rPr dirty="0" sz="2200" spc="-50">
                <a:solidFill>
                  <a:srgbClr val="FF0000"/>
                </a:solidFill>
                <a:latin typeface="黑体"/>
                <a:cs typeface="黑体"/>
              </a:rPr>
              <a:t>）</a:t>
            </a:r>
            <a:endParaRPr sz="2200">
              <a:latin typeface="黑体"/>
              <a:cs typeface="黑体"/>
            </a:endParaRPr>
          </a:p>
          <a:p>
            <a:pPr lvl="2" marL="1307465" indent="-359410">
              <a:lnSpc>
                <a:spcPct val="100000"/>
              </a:lnSpc>
              <a:spcBef>
                <a:spcPts val="1235"/>
              </a:spcBef>
              <a:buClr>
                <a:srgbClr val="4668F5"/>
              </a:buClr>
              <a:buSzPct val="72500"/>
              <a:buFont typeface="Wingdings"/>
              <a:buChar char=""/>
              <a:tabLst>
                <a:tab pos="1307465" algn="l"/>
              </a:tabLst>
            </a:pPr>
            <a:r>
              <a:rPr dirty="0" sz="2000" spc="-25" b="1">
                <a:solidFill>
                  <a:srgbClr val="6F2F9F"/>
                </a:solidFill>
                <a:latin typeface="黑体"/>
                <a:cs typeface="黑体"/>
              </a:rPr>
              <a:t>增强指令功能，单条指令功能增加。</a:t>
            </a:r>
            <a:endParaRPr sz="2000">
              <a:latin typeface="黑体"/>
              <a:cs typeface="黑体"/>
            </a:endParaRPr>
          </a:p>
          <a:p>
            <a:pPr lvl="2" marL="1307465" indent="-359410">
              <a:lnSpc>
                <a:spcPct val="100000"/>
              </a:lnSpc>
              <a:spcBef>
                <a:spcPts val="1200"/>
              </a:spcBef>
              <a:buClr>
                <a:srgbClr val="4668F5"/>
              </a:buClr>
              <a:buSzPct val="72500"/>
              <a:buFont typeface="Wingdings"/>
              <a:buChar char=""/>
              <a:tabLst>
                <a:tab pos="1307465" algn="l"/>
              </a:tabLst>
            </a:pPr>
            <a:r>
              <a:rPr dirty="0" sz="2000" spc="-10" b="1">
                <a:solidFill>
                  <a:srgbClr val="6F2F9F"/>
                </a:solidFill>
                <a:latin typeface="黑体"/>
                <a:cs typeface="黑体"/>
              </a:rPr>
              <a:t>容易编程</a:t>
            </a:r>
            <a:r>
              <a:rPr dirty="0" sz="2000" spc="-20" b="1">
                <a:solidFill>
                  <a:srgbClr val="6F2F9F"/>
                </a:solidFill>
                <a:latin typeface="黑体"/>
                <a:cs typeface="黑体"/>
              </a:rPr>
              <a:t>（汇编语言</a:t>
            </a:r>
            <a:r>
              <a:rPr dirty="0" sz="2000" spc="-15" b="1">
                <a:solidFill>
                  <a:srgbClr val="6F2F9F"/>
                </a:solidFill>
                <a:latin typeface="黑体"/>
                <a:cs typeface="黑体"/>
              </a:rPr>
              <a:t>）</a:t>
            </a:r>
            <a:r>
              <a:rPr dirty="0" sz="2000" spc="-25" b="1">
                <a:solidFill>
                  <a:srgbClr val="6F2F9F"/>
                </a:solidFill>
                <a:latin typeface="黑体"/>
                <a:cs typeface="黑体"/>
              </a:rPr>
              <a:t>，指令代码少</a:t>
            </a:r>
            <a:endParaRPr sz="2000">
              <a:latin typeface="黑体"/>
              <a:cs typeface="黑体"/>
            </a:endParaRPr>
          </a:p>
          <a:p>
            <a:pPr lvl="2" marL="1307465" indent="-359410">
              <a:lnSpc>
                <a:spcPct val="100000"/>
              </a:lnSpc>
              <a:spcBef>
                <a:spcPts val="1200"/>
              </a:spcBef>
              <a:buClr>
                <a:srgbClr val="4668F5"/>
              </a:buClr>
              <a:buSzPct val="72500"/>
              <a:buFont typeface="Wingdings"/>
              <a:buChar char=""/>
              <a:tabLst>
                <a:tab pos="1307465" algn="l"/>
              </a:tabLst>
            </a:pPr>
            <a:r>
              <a:rPr dirty="0" sz="2000" spc="-20" b="1">
                <a:solidFill>
                  <a:srgbClr val="6F2F9F"/>
                </a:solidFill>
                <a:latin typeface="黑体"/>
                <a:cs typeface="黑体"/>
              </a:rPr>
              <a:t>适用于商业</a:t>
            </a:r>
            <a:endParaRPr sz="2000">
              <a:latin typeface="黑体"/>
              <a:cs typeface="黑体"/>
            </a:endParaRPr>
          </a:p>
          <a:p>
            <a:pPr lvl="2" marL="1307465" indent="-359410">
              <a:lnSpc>
                <a:spcPct val="100000"/>
              </a:lnSpc>
              <a:spcBef>
                <a:spcPts val="1200"/>
              </a:spcBef>
              <a:buClr>
                <a:srgbClr val="4668F5"/>
              </a:buClr>
              <a:buSzPct val="72500"/>
              <a:buFont typeface="Wingdings"/>
              <a:buChar char=""/>
              <a:tabLst>
                <a:tab pos="1307465" algn="l"/>
              </a:tabLst>
            </a:pPr>
            <a:r>
              <a:rPr dirty="0" sz="2000" spc="-25" b="1">
                <a:solidFill>
                  <a:srgbClr val="FF0000"/>
                </a:solidFill>
                <a:latin typeface="黑体"/>
                <a:cs typeface="黑体"/>
              </a:rPr>
              <a:t>设计周期长，准确性难以保障</a:t>
            </a:r>
            <a:endParaRPr sz="2000">
              <a:latin typeface="黑体"/>
              <a:cs typeface="黑体"/>
            </a:endParaRPr>
          </a:p>
          <a:p>
            <a:pPr lvl="2" marL="1307465" indent="-359410">
              <a:lnSpc>
                <a:spcPct val="100000"/>
              </a:lnSpc>
              <a:spcBef>
                <a:spcPts val="1200"/>
              </a:spcBef>
              <a:buClr>
                <a:srgbClr val="4668F5"/>
              </a:buClr>
              <a:buSzPct val="72500"/>
              <a:buFont typeface="Wingdings"/>
              <a:buChar char=""/>
              <a:tabLst>
                <a:tab pos="1307465" algn="l"/>
              </a:tabLst>
            </a:pPr>
            <a:r>
              <a:rPr dirty="0" sz="2000" spc="-25" b="1">
                <a:solidFill>
                  <a:srgbClr val="FF0000"/>
                </a:solidFill>
                <a:latin typeface="黑体"/>
                <a:cs typeface="黑体"/>
              </a:rPr>
              <a:t>需要大量硬件支持</a:t>
            </a:r>
            <a:endParaRPr sz="2000">
              <a:latin typeface="黑体"/>
              <a:cs typeface="黑体"/>
            </a:endParaRPr>
          </a:p>
          <a:p>
            <a:pPr lvl="2" marL="1307465" indent="-359410">
              <a:lnSpc>
                <a:spcPct val="100000"/>
              </a:lnSpc>
              <a:spcBef>
                <a:spcPts val="1205"/>
              </a:spcBef>
              <a:buClr>
                <a:srgbClr val="4668F5"/>
              </a:buClr>
              <a:buSzPct val="72500"/>
              <a:buFont typeface="Wingdings"/>
              <a:buChar char=""/>
              <a:tabLst>
                <a:tab pos="1307465" algn="l"/>
              </a:tabLst>
            </a:pPr>
            <a:r>
              <a:rPr dirty="0" sz="2000" spc="-25" b="1">
                <a:solidFill>
                  <a:srgbClr val="FF0000"/>
                </a:solidFill>
                <a:latin typeface="黑体"/>
                <a:cs typeface="黑体"/>
              </a:rPr>
              <a:t>大多复杂指令使用频率低，资源浪费</a:t>
            </a:r>
            <a:endParaRPr sz="2000">
              <a:latin typeface="黑体"/>
              <a:cs typeface="黑体"/>
            </a:endParaRPr>
          </a:p>
          <a:p>
            <a:pPr lvl="2" marL="1307465" indent="-359410">
              <a:lnSpc>
                <a:spcPct val="100000"/>
              </a:lnSpc>
              <a:spcBef>
                <a:spcPts val="1200"/>
              </a:spcBef>
              <a:buClr>
                <a:srgbClr val="4668F5"/>
              </a:buClr>
              <a:buSzPct val="72500"/>
              <a:buFont typeface="Wingdings"/>
              <a:buChar char=""/>
              <a:tabLst>
                <a:tab pos="1307465" algn="l"/>
              </a:tabLst>
            </a:pPr>
            <a:r>
              <a:rPr dirty="0" sz="2000" spc="-10" b="1">
                <a:solidFill>
                  <a:srgbClr val="FF0000"/>
                </a:solidFill>
                <a:latin typeface="Times New Roman"/>
                <a:cs typeface="Times New Roman"/>
              </a:rPr>
              <a:t>CPI</a:t>
            </a:r>
            <a:r>
              <a:rPr dirty="0" sz="2000" spc="-20" b="1">
                <a:solidFill>
                  <a:srgbClr val="FF0000"/>
                </a:solidFill>
                <a:latin typeface="黑体"/>
                <a:cs typeface="黑体"/>
              </a:rPr>
              <a:t>值较大，不易于流水</a:t>
            </a:r>
            <a:endParaRPr sz="2000">
              <a:latin typeface="黑体"/>
              <a:cs typeface="黑体"/>
            </a:endParaRPr>
          </a:p>
          <a:p>
            <a:pPr lvl="2" marL="1307465" indent="-359410">
              <a:lnSpc>
                <a:spcPct val="100000"/>
              </a:lnSpc>
              <a:spcBef>
                <a:spcPts val="1200"/>
              </a:spcBef>
              <a:buClr>
                <a:srgbClr val="4668F5"/>
              </a:buClr>
              <a:buSzPct val="72500"/>
              <a:buFont typeface="Wingdings"/>
              <a:buChar char=""/>
              <a:tabLst>
                <a:tab pos="1307465" algn="l"/>
              </a:tabLst>
            </a:pPr>
            <a:r>
              <a:rPr dirty="0" sz="2000" b="1">
                <a:solidFill>
                  <a:srgbClr val="FF0000"/>
                </a:solidFill>
                <a:latin typeface="Times New Roman"/>
                <a:cs typeface="Times New Roman"/>
              </a:rPr>
              <a:t>2/8</a:t>
            </a:r>
            <a:r>
              <a:rPr dirty="0" sz="2000" spc="-25" b="1">
                <a:solidFill>
                  <a:srgbClr val="FF0000"/>
                </a:solidFill>
                <a:latin typeface="黑体"/>
                <a:cs typeface="黑体"/>
              </a:rPr>
              <a:t>规律</a:t>
            </a:r>
            <a:endParaRPr sz="2000">
              <a:latin typeface="黑体"/>
              <a:cs typeface="黑体"/>
            </a:endParaRPr>
          </a:p>
          <a:p>
            <a:pPr marL="696595" indent="-272415">
              <a:lnSpc>
                <a:spcPct val="100000"/>
              </a:lnSpc>
              <a:spcBef>
                <a:spcPts val="1530"/>
              </a:spcBef>
              <a:buClr>
                <a:srgbClr val="006FC0"/>
              </a:buClr>
              <a:buSzPct val="88636"/>
              <a:buFont typeface="Wingdings"/>
              <a:buChar char=""/>
              <a:tabLst>
                <a:tab pos="696595" algn="l"/>
              </a:tabLst>
            </a:pPr>
            <a:r>
              <a:rPr dirty="0" sz="2200" spc="-30">
                <a:solidFill>
                  <a:srgbClr val="FF0000"/>
                </a:solidFill>
                <a:latin typeface="黑体"/>
                <a:cs typeface="黑体"/>
              </a:rPr>
              <a:t>实现方式：</a:t>
            </a:r>
            <a:r>
              <a:rPr dirty="0" sz="2800" spc="-35" b="1">
                <a:solidFill>
                  <a:srgbClr val="6F2F9F"/>
                </a:solidFill>
                <a:latin typeface="黑体"/>
                <a:cs typeface="黑体"/>
              </a:rPr>
              <a:t>微程序控制技术</a:t>
            </a:r>
            <a:endParaRPr sz="2800">
              <a:latin typeface="黑体"/>
              <a:cs typeface="黑体"/>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602994" y="647805"/>
            <a:ext cx="9091295" cy="5370830"/>
          </a:xfrm>
          <a:prstGeom prst="rect">
            <a:avLst/>
          </a:prstGeom>
        </p:spPr>
        <p:txBody>
          <a:bodyPr wrap="square" lIns="0" tIns="137795" rIns="0" bIns="0" rtlCol="0" vert="horz">
            <a:spAutoFit/>
          </a:bodyPr>
          <a:lstStyle/>
          <a:p>
            <a:pPr marL="4729480">
              <a:lnSpc>
                <a:spcPct val="100000"/>
              </a:lnSpc>
              <a:spcBef>
                <a:spcPts val="1085"/>
              </a:spcBef>
              <a:tabLst>
                <a:tab pos="5643880" algn="l"/>
              </a:tabLst>
            </a:pPr>
            <a:r>
              <a:rPr dirty="0" sz="2400" spc="-10">
                <a:solidFill>
                  <a:srgbClr val="0000CC"/>
                </a:solidFill>
                <a:latin typeface="黑体"/>
                <a:cs typeface="黑体"/>
              </a:rPr>
              <a:t>2.3.1</a:t>
            </a:r>
            <a:r>
              <a:rPr dirty="0" sz="2400">
                <a:solidFill>
                  <a:srgbClr val="0000CC"/>
                </a:solidFill>
                <a:latin typeface="黑体"/>
                <a:cs typeface="黑体"/>
              </a:rPr>
              <a:t>	</a:t>
            </a:r>
            <a:r>
              <a:rPr dirty="0" sz="2400" spc="-5">
                <a:solidFill>
                  <a:srgbClr val="0000CC"/>
                </a:solidFill>
                <a:latin typeface="黑体"/>
                <a:cs typeface="黑体"/>
              </a:rPr>
              <a:t>指令系统设计的基本原则</a:t>
            </a:r>
            <a:endParaRPr sz="2400">
              <a:latin typeface="黑体"/>
              <a:cs typeface="黑体"/>
            </a:endParaRPr>
          </a:p>
          <a:p>
            <a:pPr marL="469265" indent="-456565">
              <a:lnSpc>
                <a:spcPct val="100000"/>
              </a:lnSpc>
              <a:spcBef>
                <a:spcPts val="1400"/>
              </a:spcBef>
              <a:buClr>
                <a:srgbClr val="40458B"/>
              </a:buClr>
              <a:buSzPct val="117857"/>
              <a:buFont typeface="Tahoma"/>
              <a:buAutoNum type="arabicPeriod" startAt="4"/>
              <a:tabLst>
                <a:tab pos="469265" algn="l"/>
              </a:tabLst>
            </a:pPr>
            <a:r>
              <a:rPr dirty="0" sz="2800" spc="-40">
                <a:solidFill>
                  <a:srgbClr val="172152"/>
                </a:solidFill>
                <a:latin typeface="黑体"/>
                <a:cs typeface="黑体"/>
              </a:rPr>
              <a:t>在设计指令系统时，有两种截然不同的设计策略。</a:t>
            </a:r>
            <a:endParaRPr sz="2800">
              <a:latin typeface="黑体"/>
              <a:cs typeface="黑体"/>
            </a:endParaRPr>
          </a:p>
          <a:p>
            <a:pPr marL="1077595">
              <a:lnSpc>
                <a:spcPct val="100000"/>
              </a:lnSpc>
              <a:spcBef>
                <a:spcPts val="1340"/>
              </a:spcBef>
            </a:pPr>
            <a:r>
              <a:rPr dirty="0" sz="2200" spc="-25">
                <a:solidFill>
                  <a:srgbClr val="006FC0"/>
                </a:solidFill>
                <a:latin typeface="黑体"/>
                <a:cs typeface="黑体"/>
              </a:rPr>
              <a:t>（</a:t>
            </a:r>
            <a:r>
              <a:rPr dirty="0" sz="2200" spc="-90">
                <a:solidFill>
                  <a:srgbClr val="006FC0"/>
                </a:solidFill>
                <a:latin typeface="黑体"/>
                <a:cs typeface="黑体"/>
              </a:rPr>
              <a:t>产生了两类不同的计算机系统 ： </a:t>
            </a:r>
            <a:r>
              <a:rPr dirty="0" sz="2200" spc="-20">
                <a:solidFill>
                  <a:srgbClr val="FF0000"/>
                </a:solidFill>
                <a:latin typeface="Times New Roman"/>
                <a:cs typeface="Times New Roman"/>
              </a:rPr>
              <a:t>CISC</a:t>
            </a:r>
            <a:r>
              <a:rPr dirty="0" sz="2200" spc="-20">
                <a:solidFill>
                  <a:srgbClr val="FF0000"/>
                </a:solidFill>
                <a:latin typeface="黑体"/>
                <a:cs typeface="黑体"/>
              </a:rPr>
              <a:t>和</a:t>
            </a:r>
            <a:r>
              <a:rPr dirty="0" sz="2200">
                <a:solidFill>
                  <a:srgbClr val="FF0000"/>
                </a:solidFill>
                <a:latin typeface="Times New Roman"/>
                <a:cs typeface="Times New Roman"/>
              </a:rPr>
              <a:t>RISC</a:t>
            </a:r>
            <a:r>
              <a:rPr dirty="0" sz="2200" spc="175">
                <a:solidFill>
                  <a:srgbClr val="FF0000"/>
                </a:solidFill>
                <a:latin typeface="Times New Roman"/>
                <a:cs typeface="Times New Roman"/>
              </a:rPr>
              <a:t> </a:t>
            </a:r>
            <a:r>
              <a:rPr dirty="0" sz="2200" spc="-50">
                <a:solidFill>
                  <a:srgbClr val="006FC0"/>
                </a:solidFill>
                <a:latin typeface="黑体"/>
                <a:cs typeface="黑体"/>
              </a:rPr>
              <a:t>）</a:t>
            </a:r>
            <a:endParaRPr sz="2200">
              <a:latin typeface="黑体"/>
              <a:cs typeface="黑体"/>
            </a:endParaRPr>
          </a:p>
          <a:p>
            <a:pPr algn="r" lvl="1" marL="456565" marR="4288155" indent="-456565">
              <a:lnSpc>
                <a:spcPct val="100000"/>
              </a:lnSpc>
              <a:spcBef>
                <a:spcPts val="1325"/>
              </a:spcBef>
              <a:buClr>
                <a:srgbClr val="006FC0"/>
              </a:buClr>
              <a:buSzPct val="88636"/>
              <a:buFont typeface="Wingdings"/>
              <a:buChar char=""/>
              <a:tabLst>
                <a:tab pos="456565" algn="l"/>
              </a:tabLst>
            </a:pPr>
            <a:r>
              <a:rPr dirty="0" sz="2200" spc="-20">
                <a:solidFill>
                  <a:srgbClr val="FF0000"/>
                </a:solidFill>
                <a:latin typeface="Times New Roman"/>
                <a:cs typeface="Times New Roman"/>
              </a:rPr>
              <a:t>RISC</a:t>
            </a:r>
            <a:r>
              <a:rPr dirty="0" sz="2200" spc="-20">
                <a:solidFill>
                  <a:srgbClr val="FF0000"/>
                </a:solidFill>
                <a:latin typeface="黑体"/>
                <a:cs typeface="黑体"/>
              </a:rPr>
              <a:t>（</a:t>
            </a:r>
            <a:r>
              <a:rPr dirty="0" sz="2200" spc="-30">
                <a:solidFill>
                  <a:srgbClr val="FF0000"/>
                </a:solidFill>
                <a:latin typeface="黑体"/>
                <a:cs typeface="黑体"/>
              </a:rPr>
              <a:t>精简指令系统计算机</a:t>
            </a:r>
            <a:r>
              <a:rPr dirty="0" sz="2200" spc="-50">
                <a:solidFill>
                  <a:srgbClr val="FF0000"/>
                </a:solidFill>
                <a:latin typeface="黑体"/>
                <a:cs typeface="黑体"/>
              </a:rPr>
              <a:t>）</a:t>
            </a:r>
            <a:endParaRPr sz="2200">
              <a:latin typeface="黑体"/>
              <a:cs typeface="黑体"/>
            </a:endParaRPr>
          </a:p>
          <a:p>
            <a:pPr algn="r" lvl="2" marL="359410" marR="4267835" indent="-359410">
              <a:lnSpc>
                <a:spcPct val="100000"/>
              </a:lnSpc>
              <a:spcBef>
                <a:spcPts val="1230"/>
              </a:spcBef>
              <a:buClr>
                <a:srgbClr val="4668F5"/>
              </a:buClr>
              <a:buSzPct val="72500"/>
              <a:buFont typeface="Wingdings"/>
              <a:buChar char=""/>
              <a:tabLst>
                <a:tab pos="359410" algn="l"/>
              </a:tabLst>
            </a:pPr>
            <a:r>
              <a:rPr dirty="0" sz="2000" b="1">
                <a:solidFill>
                  <a:srgbClr val="6F2F9F"/>
                </a:solidFill>
                <a:latin typeface="黑体"/>
                <a:cs typeface="黑体"/>
              </a:rPr>
              <a:t>减少</a:t>
            </a:r>
            <a:r>
              <a:rPr dirty="0" sz="2000" spc="-10" b="1">
                <a:solidFill>
                  <a:srgbClr val="6F2F9F"/>
                </a:solidFill>
                <a:latin typeface="Times New Roman"/>
                <a:cs typeface="Times New Roman"/>
              </a:rPr>
              <a:t>CPI</a:t>
            </a:r>
            <a:r>
              <a:rPr dirty="0" sz="2000" spc="-25" b="1">
                <a:solidFill>
                  <a:srgbClr val="6F2F9F"/>
                </a:solidFill>
                <a:latin typeface="黑体"/>
                <a:cs typeface="黑体"/>
              </a:rPr>
              <a:t>，尽量使用单周期指令</a:t>
            </a:r>
            <a:endParaRPr sz="2000">
              <a:latin typeface="黑体"/>
              <a:cs typeface="黑体"/>
            </a:endParaRPr>
          </a:p>
          <a:p>
            <a:pPr lvl="2" marL="1307465" indent="-359410">
              <a:lnSpc>
                <a:spcPct val="100000"/>
              </a:lnSpc>
              <a:spcBef>
                <a:spcPts val="1200"/>
              </a:spcBef>
              <a:buClr>
                <a:srgbClr val="4668F5"/>
              </a:buClr>
              <a:buSzPct val="72500"/>
              <a:buFont typeface="Wingdings"/>
              <a:buChar char=""/>
              <a:tabLst>
                <a:tab pos="1307465" algn="l"/>
              </a:tabLst>
            </a:pPr>
            <a:r>
              <a:rPr dirty="0" sz="2000" spc="-25" b="1">
                <a:solidFill>
                  <a:srgbClr val="6F2F9F"/>
                </a:solidFill>
                <a:latin typeface="黑体"/>
                <a:cs typeface="黑体"/>
              </a:rPr>
              <a:t>尽可能减少时钟周期时间</a:t>
            </a:r>
            <a:endParaRPr sz="2000">
              <a:latin typeface="黑体"/>
              <a:cs typeface="黑体"/>
            </a:endParaRPr>
          </a:p>
          <a:p>
            <a:pPr lvl="2" marL="1308100" marR="114300" indent="-360045">
              <a:lnSpc>
                <a:spcPct val="130000"/>
              </a:lnSpc>
              <a:spcBef>
                <a:spcPts val="484"/>
              </a:spcBef>
              <a:buClr>
                <a:srgbClr val="4668F5"/>
              </a:buClr>
              <a:buSzPct val="72500"/>
              <a:buFont typeface="Wingdings"/>
              <a:buChar char=""/>
              <a:tabLst>
                <a:tab pos="1308100" algn="l"/>
              </a:tabLst>
            </a:pPr>
            <a:r>
              <a:rPr dirty="0" sz="2000" spc="-25" b="1">
                <a:solidFill>
                  <a:srgbClr val="6F2F9F"/>
                </a:solidFill>
                <a:latin typeface="黑体"/>
                <a:cs typeface="黑体"/>
              </a:rPr>
              <a:t>尽可能地把指令系统简化，不仅指令的条数少，而且指令的功能也比</a:t>
            </a:r>
            <a:r>
              <a:rPr dirty="0" sz="2000" spc="-20" b="1">
                <a:solidFill>
                  <a:srgbClr val="6F2F9F"/>
                </a:solidFill>
                <a:latin typeface="黑体"/>
                <a:cs typeface="黑体"/>
              </a:rPr>
              <a:t>较简单。</a:t>
            </a:r>
            <a:endParaRPr sz="2000">
              <a:latin typeface="黑体"/>
              <a:cs typeface="黑体"/>
            </a:endParaRPr>
          </a:p>
          <a:p>
            <a:pPr lvl="2" marL="1307465" indent="-359410">
              <a:lnSpc>
                <a:spcPct val="100000"/>
              </a:lnSpc>
              <a:spcBef>
                <a:spcPts val="1200"/>
              </a:spcBef>
              <a:buClr>
                <a:srgbClr val="4668F5"/>
              </a:buClr>
              <a:buSzPct val="72500"/>
              <a:buFont typeface="Wingdings"/>
              <a:buChar char=""/>
              <a:tabLst>
                <a:tab pos="1307465" algn="l"/>
              </a:tabLst>
            </a:pPr>
            <a:r>
              <a:rPr dirty="0" sz="2000" spc="-25" b="1">
                <a:solidFill>
                  <a:srgbClr val="6F2F9F"/>
                </a:solidFill>
                <a:latin typeface="黑体"/>
                <a:cs typeface="黑体"/>
              </a:rPr>
              <a:t>优化编译，有效支持高级语言</a:t>
            </a:r>
            <a:endParaRPr sz="2000">
              <a:latin typeface="黑体"/>
              <a:cs typeface="黑体"/>
            </a:endParaRPr>
          </a:p>
          <a:p>
            <a:pPr marL="696595" marR="5080" indent="-273050">
              <a:lnSpc>
                <a:spcPct val="130000"/>
              </a:lnSpc>
              <a:spcBef>
                <a:spcPts val="495"/>
              </a:spcBef>
              <a:buClr>
                <a:srgbClr val="006FC0"/>
              </a:buClr>
              <a:buSzPct val="88636"/>
              <a:buFont typeface="Wingdings"/>
              <a:buChar char=""/>
              <a:tabLst>
                <a:tab pos="696595" algn="l"/>
              </a:tabLst>
            </a:pPr>
            <a:r>
              <a:rPr dirty="0" sz="2200" spc="-30">
                <a:solidFill>
                  <a:srgbClr val="FF0000"/>
                </a:solidFill>
                <a:latin typeface="黑体"/>
                <a:cs typeface="黑体"/>
              </a:rPr>
              <a:t>实现方式：</a:t>
            </a:r>
            <a:r>
              <a:rPr dirty="0" sz="2200" spc="-35">
                <a:solidFill>
                  <a:srgbClr val="006FC0"/>
                </a:solidFill>
                <a:latin typeface="黑体"/>
                <a:cs typeface="黑体"/>
              </a:rPr>
              <a:t>主要依靠硬件实现，增加了通用寄存器，以硬布线逻辑控制为主；适合流水线</a:t>
            </a:r>
            <a:endParaRPr sz="2200">
              <a:latin typeface="黑体"/>
              <a:cs typeface="黑体"/>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710944" y="668827"/>
            <a:ext cx="9084310" cy="3042920"/>
          </a:xfrm>
          <a:prstGeom prst="rect">
            <a:avLst/>
          </a:prstGeom>
        </p:spPr>
        <p:txBody>
          <a:bodyPr wrap="square" lIns="0" tIns="128905" rIns="0" bIns="0" rtlCol="0" vert="horz">
            <a:spAutoFit/>
          </a:bodyPr>
          <a:lstStyle/>
          <a:p>
            <a:pPr marL="4621530">
              <a:lnSpc>
                <a:spcPct val="100000"/>
              </a:lnSpc>
              <a:spcBef>
                <a:spcPts val="1015"/>
              </a:spcBef>
            </a:pPr>
            <a:r>
              <a:rPr dirty="0" sz="2400">
                <a:solidFill>
                  <a:srgbClr val="0000CC"/>
                </a:solidFill>
                <a:latin typeface="黑体"/>
                <a:cs typeface="黑体"/>
              </a:rPr>
              <a:t>2.3.1</a:t>
            </a:r>
            <a:r>
              <a:rPr dirty="0" sz="2400" spc="-15">
                <a:solidFill>
                  <a:srgbClr val="0000CC"/>
                </a:solidFill>
                <a:latin typeface="黑体"/>
                <a:cs typeface="黑体"/>
              </a:rPr>
              <a:t> 指令系统设计的基本原则</a:t>
            </a:r>
            <a:endParaRPr sz="2400">
              <a:latin typeface="黑体"/>
              <a:cs typeface="黑体"/>
            </a:endParaRPr>
          </a:p>
          <a:p>
            <a:pPr marL="469265" indent="-456565">
              <a:lnSpc>
                <a:spcPct val="100000"/>
              </a:lnSpc>
              <a:spcBef>
                <a:spcPts val="1305"/>
              </a:spcBef>
              <a:buClr>
                <a:srgbClr val="40458B"/>
              </a:buClr>
              <a:buSzPct val="117857"/>
              <a:buFont typeface="Tahoma"/>
              <a:buAutoNum type="arabicPeriod" startAt="4"/>
              <a:tabLst>
                <a:tab pos="469265" algn="l"/>
              </a:tabLst>
            </a:pPr>
            <a:r>
              <a:rPr dirty="0" sz="2800" spc="-40">
                <a:solidFill>
                  <a:srgbClr val="172152"/>
                </a:solidFill>
                <a:latin typeface="黑体"/>
                <a:cs typeface="黑体"/>
              </a:rPr>
              <a:t>在设计指令系统时，有两种截然不同的设计策略。</a:t>
            </a:r>
            <a:endParaRPr sz="2800">
              <a:latin typeface="黑体"/>
              <a:cs typeface="黑体"/>
            </a:endParaRPr>
          </a:p>
          <a:p>
            <a:pPr marL="1077595">
              <a:lnSpc>
                <a:spcPct val="100000"/>
              </a:lnSpc>
              <a:spcBef>
                <a:spcPts val="1340"/>
              </a:spcBef>
            </a:pPr>
            <a:r>
              <a:rPr dirty="0" sz="2200" spc="-25">
                <a:solidFill>
                  <a:srgbClr val="006FC0"/>
                </a:solidFill>
                <a:latin typeface="黑体"/>
                <a:cs typeface="黑体"/>
              </a:rPr>
              <a:t>（</a:t>
            </a:r>
            <a:r>
              <a:rPr dirty="0" sz="2200" spc="-90">
                <a:solidFill>
                  <a:srgbClr val="006FC0"/>
                </a:solidFill>
                <a:latin typeface="黑体"/>
                <a:cs typeface="黑体"/>
              </a:rPr>
              <a:t>产生了两类不同的计算机系统 ： </a:t>
            </a:r>
            <a:r>
              <a:rPr dirty="0" sz="2200" spc="-20">
                <a:solidFill>
                  <a:srgbClr val="FF0000"/>
                </a:solidFill>
                <a:latin typeface="Times New Roman"/>
                <a:cs typeface="Times New Roman"/>
              </a:rPr>
              <a:t>CISC</a:t>
            </a:r>
            <a:r>
              <a:rPr dirty="0" sz="2200" spc="-20">
                <a:solidFill>
                  <a:srgbClr val="FF0000"/>
                </a:solidFill>
                <a:latin typeface="黑体"/>
                <a:cs typeface="黑体"/>
              </a:rPr>
              <a:t>和</a:t>
            </a:r>
            <a:r>
              <a:rPr dirty="0" sz="2200">
                <a:solidFill>
                  <a:srgbClr val="FF0000"/>
                </a:solidFill>
                <a:latin typeface="Times New Roman"/>
                <a:cs typeface="Times New Roman"/>
              </a:rPr>
              <a:t>RISC</a:t>
            </a:r>
            <a:r>
              <a:rPr dirty="0" sz="2200" spc="175">
                <a:solidFill>
                  <a:srgbClr val="FF0000"/>
                </a:solidFill>
                <a:latin typeface="Times New Roman"/>
                <a:cs typeface="Times New Roman"/>
              </a:rPr>
              <a:t> </a:t>
            </a:r>
            <a:r>
              <a:rPr dirty="0" sz="2200" spc="-50">
                <a:solidFill>
                  <a:srgbClr val="006FC0"/>
                </a:solidFill>
                <a:latin typeface="黑体"/>
                <a:cs typeface="黑体"/>
              </a:rPr>
              <a:t>）</a:t>
            </a:r>
            <a:endParaRPr sz="2200">
              <a:latin typeface="黑体"/>
              <a:cs typeface="黑体"/>
            </a:endParaRPr>
          </a:p>
          <a:p>
            <a:pPr lvl="1" marL="1099185" indent="-457200">
              <a:lnSpc>
                <a:spcPct val="100000"/>
              </a:lnSpc>
              <a:spcBef>
                <a:spcPts val="1325"/>
              </a:spcBef>
              <a:buClr>
                <a:srgbClr val="006FC0"/>
              </a:buClr>
              <a:buSzPct val="88636"/>
              <a:buFont typeface="Wingdings"/>
              <a:buChar char=""/>
              <a:tabLst>
                <a:tab pos="1099185" algn="l"/>
              </a:tabLst>
            </a:pPr>
            <a:r>
              <a:rPr dirty="0" sz="2200" spc="-20">
                <a:solidFill>
                  <a:srgbClr val="FF0000"/>
                </a:solidFill>
                <a:latin typeface="Times New Roman"/>
                <a:cs typeface="Times New Roman"/>
              </a:rPr>
              <a:t>RISC</a:t>
            </a:r>
            <a:r>
              <a:rPr dirty="0" sz="2200" spc="-20">
                <a:solidFill>
                  <a:srgbClr val="FF0000"/>
                </a:solidFill>
                <a:latin typeface="黑体"/>
                <a:cs typeface="黑体"/>
              </a:rPr>
              <a:t>（目的</a:t>
            </a:r>
            <a:r>
              <a:rPr dirty="0" sz="2200" spc="-50">
                <a:solidFill>
                  <a:srgbClr val="FF0000"/>
                </a:solidFill>
                <a:latin typeface="黑体"/>
                <a:cs typeface="黑体"/>
              </a:rPr>
              <a:t>）</a:t>
            </a:r>
            <a:endParaRPr sz="2200">
              <a:latin typeface="黑体"/>
              <a:cs typeface="黑体"/>
            </a:endParaRPr>
          </a:p>
          <a:p>
            <a:pPr lvl="2" marL="1308100" marR="5080" indent="-360045">
              <a:lnSpc>
                <a:spcPct val="130000"/>
              </a:lnSpc>
              <a:spcBef>
                <a:spcPts val="509"/>
              </a:spcBef>
              <a:buClr>
                <a:srgbClr val="4668F5"/>
              </a:buClr>
              <a:buSzPct val="72500"/>
              <a:buFont typeface="Wingdings"/>
              <a:buChar char=""/>
              <a:tabLst>
                <a:tab pos="1308100" algn="l"/>
              </a:tabLst>
            </a:pPr>
            <a:r>
              <a:rPr dirty="0" sz="2000" spc="-10" b="1">
                <a:solidFill>
                  <a:srgbClr val="6F2F9F"/>
                </a:solidFill>
                <a:latin typeface="Times New Roman"/>
                <a:cs typeface="Times New Roman"/>
              </a:rPr>
              <a:t>RISC</a:t>
            </a:r>
            <a:r>
              <a:rPr dirty="0" sz="2000" spc="-25" b="1">
                <a:solidFill>
                  <a:srgbClr val="6F2F9F"/>
                </a:solidFill>
                <a:latin typeface="黑体"/>
                <a:cs typeface="黑体"/>
              </a:rPr>
              <a:t>的目标不是简单的缩减指令系统，而是使处理器的结构更简单、更合理，具有更高的性能和执行效率，并降低处理器的开发成本</a:t>
            </a:r>
            <a:endParaRPr sz="2000">
              <a:latin typeface="黑体"/>
              <a:cs typeface="黑体"/>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796542" y="1213485"/>
            <a:ext cx="1196340" cy="452120"/>
          </a:xfrm>
          <a:prstGeom prst="rect">
            <a:avLst/>
          </a:prstGeom>
        </p:spPr>
        <p:txBody>
          <a:bodyPr wrap="square" lIns="0" tIns="0" rIns="0" bIns="0" rtlCol="0" vert="horz">
            <a:spAutoFit/>
          </a:bodyPr>
          <a:lstStyle/>
          <a:p>
            <a:pPr marL="12700">
              <a:lnSpc>
                <a:spcPts val="3554"/>
              </a:lnSpc>
            </a:pPr>
            <a:r>
              <a:rPr dirty="0" sz="3300">
                <a:solidFill>
                  <a:srgbClr val="40458B"/>
                </a:solidFill>
                <a:latin typeface="Tahoma"/>
                <a:cs typeface="Tahoma"/>
              </a:rPr>
              <a:t>4.</a:t>
            </a:r>
            <a:r>
              <a:rPr dirty="0" sz="3300" spc="-245">
                <a:solidFill>
                  <a:srgbClr val="40458B"/>
                </a:solidFill>
                <a:latin typeface="Tahoma"/>
                <a:cs typeface="Tahoma"/>
              </a:rPr>
              <a:t> </a:t>
            </a:r>
            <a:r>
              <a:rPr dirty="0" sz="2800" spc="-45">
                <a:solidFill>
                  <a:srgbClr val="172152"/>
                </a:solidFill>
                <a:latin typeface="黑体"/>
                <a:cs typeface="黑体"/>
              </a:rPr>
              <a:t>比较</a:t>
            </a:r>
            <a:endParaRPr sz="2800">
              <a:latin typeface="黑体"/>
              <a:cs typeface="黑体"/>
            </a:endParaRPr>
          </a:p>
        </p:txBody>
      </p:sp>
      <p:grpSp>
        <p:nvGrpSpPr>
          <p:cNvPr id="5" name="object 5" descr=""/>
          <p:cNvGrpSpPr/>
          <p:nvPr/>
        </p:nvGrpSpPr>
        <p:grpSpPr>
          <a:xfrm>
            <a:off x="1612900" y="1609725"/>
            <a:ext cx="4502150" cy="4413250"/>
            <a:chOff x="1612900" y="1609725"/>
            <a:chExt cx="4502150" cy="4413250"/>
          </a:xfrm>
        </p:grpSpPr>
        <p:pic>
          <p:nvPicPr>
            <p:cNvPr id="6" name="object 6" descr=""/>
            <p:cNvPicPr/>
            <p:nvPr/>
          </p:nvPicPr>
          <p:blipFill>
            <a:blip r:embed="rId2" cstate="print"/>
            <a:stretch>
              <a:fillRect/>
            </a:stretch>
          </p:blipFill>
          <p:spPr>
            <a:xfrm>
              <a:off x="1631950" y="1628775"/>
              <a:ext cx="4464050" cy="4375150"/>
            </a:xfrm>
            <a:prstGeom prst="rect">
              <a:avLst/>
            </a:prstGeom>
          </p:spPr>
        </p:pic>
        <p:sp>
          <p:nvSpPr>
            <p:cNvPr id="7" name="object 7" descr=""/>
            <p:cNvSpPr/>
            <p:nvPr/>
          </p:nvSpPr>
          <p:spPr>
            <a:xfrm>
              <a:off x="1622425" y="1619250"/>
              <a:ext cx="4483100" cy="4394200"/>
            </a:xfrm>
            <a:custGeom>
              <a:avLst/>
              <a:gdLst/>
              <a:ahLst/>
              <a:cxnLst/>
              <a:rect l="l" t="t" r="r" b="b"/>
              <a:pathLst>
                <a:path w="4483100" h="4394200">
                  <a:moveTo>
                    <a:pt x="0" y="4394200"/>
                  </a:moveTo>
                  <a:lnTo>
                    <a:pt x="4483100" y="4394200"/>
                  </a:lnTo>
                  <a:lnTo>
                    <a:pt x="4483100" y="0"/>
                  </a:lnTo>
                  <a:lnTo>
                    <a:pt x="0" y="0"/>
                  </a:lnTo>
                  <a:lnTo>
                    <a:pt x="0" y="4394200"/>
                  </a:lnTo>
                  <a:close/>
                </a:path>
              </a:pathLst>
            </a:custGeom>
            <a:ln w="19050">
              <a:solidFill>
                <a:srgbClr val="2C44A3"/>
              </a:solidFill>
            </a:ln>
          </p:spPr>
          <p:txBody>
            <a:bodyPr wrap="square" lIns="0" tIns="0" rIns="0" bIns="0" rtlCol="0"/>
            <a:lstStyle/>
            <a:p/>
          </p:txBody>
        </p:sp>
      </p:grpSp>
      <p:grpSp>
        <p:nvGrpSpPr>
          <p:cNvPr id="8" name="object 8" descr=""/>
          <p:cNvGrpSpPr/>
          <p:nvPr/>
        </p:nvGrpSpPr>
        <p:grpSpPr>
          <a:xfrm>
            <a:off x="6202362" y="1612900"/>
            <a:ext cx="4403725" cy="4406900"/>
            <a:chOff x="6202362" y="1612900"/>
            <a:chExt cx="4403725" cy="4406900"/>
          </a:xfrm>
        </p:grpSpPr>
        <p:pic>
          <p:nvPicPr>
            <p:cNvPr id="9" name="object 9" descr=""/>
            <p:cNvPicPr/>
            <p:nvPr/>
          </p:nvPicPr>
          <p:blipFill>
            <a:blip r:embed="rId3" cstate="print"/>
            <a:stretch>
              <a:fillRect/>
            </a:stretch>
          </p:blipFill>
          <p:spPr>
            <a:xfrm>
              <a:off x="6249866" y="1717080"/>
              <a:ext cx="4261368" cy="4158399"/>
            </a:xfrm>
            <a:prstGeom prst="rect">
              <a:avLst/>
            </a:prstGeom>
          </p:spPr>
        </p:pic>
        <p:sp>
          <p:nvSpPr>
            <p:cNvPr id="10" name="object 10" descr=""/>
            <p:cNvSpPr/>
            <p:nvPr/>
          </p:nvSpPr>
          <p:spPr>
            <a:xfrm>
              <a:off x="6210300" y="1620837"/>
              <a:ext cx="4387850" cy="4391025"/>
            </a:xfrm>
            <a:custGeom>
              <a:avLst/>
              <a:gdLst/>
              <a:ahLst/>
              <a:cxnLst/>
              <a:rect l="l" t="t" r="r" b="b"/>
              <a:pathLst>
                <a:path w="4387850" h="4391025">
                  <a:moveTo>
                    <a:pt x="0" y="4391025"/>
                  </a:moveTo>
                  <a:lnTo>
                    <a:pt x="4387850" y="4391025"/>
                  </a:lnTo>
                  <a:lnTo>
                    <a:pt x="4387850" y="0"/>
                  </a:lnTo>
                  <a:lnTo>
                    <a:pt x="0" y="0"/>
                  </a:lnTo>
                  <a:lnTo>
                    <a:pt x="0" y="4391025"/>
                  </a:lnTo>
                  <a:close/>
                </a:path>
              </a:pathLst>
            </a:custGeom>
            <a:ln w="15875">
              <a:solidFill>
                <a:srgbClr val="2C44A3"/>
              </a:solidFill>
            </a:ln>
          </p:spPr>
          <p:txBody>
            <a:bodyPr wrap="square" lIns="0" tIns="0" rIns="0" bIns="0" rtlCol="0"/>
            <a:lstStyle/>
            <a:p/>
          </p:txBody>
        </p:sp>
      </p:grpSp>
      <p:sp>
        <p:nvSpPr>
          <p:cNvPr id="11" name="object 11" descr=""/>
          <p:cNvSpPr txBox="1"/>
          <p:nvPr/>
        </p:nvSpPr>
        <p:spPr>
          <a:xfrm>
            <a:off x="3582670" y="661586"/>
            <a:ext cx="7007859" cy="944244"/>
          </a:xfrm>
          <a:prstGeom prst="rect">
            <a:avLst/>
          </a:prstGeom>
        </p:spPr>
        <p:txBody>
          <a:bodyPr wrap="square" lIns="0" tIns="106045" rIns="0" bIns="0" rtlCol="0" vert="horz">
            <a:spAutoFit/>
          </a:bodyPr>
          <a:lstStyle/>
          <a:p>
            <a:pPr marL="2727325">
              <a:lnSpc>
                <a:spcPct val="100000"/>
              </a:lnSpc>
              <a:spcBef>
                <a:spcPts val="835"/>
              </a:spcBef>
            </a:pPr>
            <a:r>
              <a:rPr dirty="0" sz="2400">
                <a:solidFill>
                  <a:srgbClr val="0000CC"/>
                </a:solidFill>
                <a:latin typeface="黑体"/>
                <a:cs typeface="黑体"/>
              </a:rPr>
              <a:t>2.3.1</a:t>
            </a:r>
            <a:r>
              <a:rPr dirty="0" sz="2400" spc="-15">
                <a:solidFill>
                  <a:srgbClr val="0000CC"/>
                </a:solidFill>
                <a:latin typeface="黑体"/>
                <a:cs typeface="黑体"/>
              </a:rPr>
              <a:t> 指令系统设计的基本原则</a:t>
            </a:r>
            <a:endParaRPr sz="2400">
              <a:latin typeface="黑体"/>
              <a:cs typeface="黑体"/>
            </a:endParaRPr>
          </a:p>
          <a:p>
            <a:pPr marL="12700">
              <a:lnSpc>
                <a:spcPct val="100000"/>
              </a:lnSpc>
              <a:spcBef>
                <a:spcPts val="735"/>
              </a:spcBef>
            </a:pPr>
            <a:r>
              <a:rPr dirty="0" sz="2400" spc="-5">
                <a:solidFill>
                  <a:srgbClr val="0000CC"/>
                </a:solidFill>
                <a:latin typeface="黑体"/>
                <a:cs typeface="黑体"/>
              </a:rPr>
              <a:t>以下内容作为扩充理解</a:t>
            </a:r>
            <a:endParaRPr sz="2400">
              <a:latin typeface="黑体"/>
              <a:cs typeface="黑体"/>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868170" y="786511"/>
            <a:ext cx="1196340" cy="452120"/>
          </a:xfrm>
          <a:prstGeom prst="rect">
            <a:avLst/>
          </a:prstGeom>
        </p:spPr>
        <p:txBody>
          <a:bodyPr wrap="square" lIns="0" tIns="0" rIns="0" bIns="0" rtlCol="0" vert="horz">
            <a:spAutoFit/>
          </a:bodyPr>
          <a:lstStyle/>
          <a:p>
            <a:pPr marL="12700">
              <a:lnSpc>
                <a:spcPts val="3554"/>
              </a:lnSpc>
            </a:pPr>
            <a:r>
              <a:rPr dirty="0" sz="3300">
                <a:solidFill>
                  <a:srgbClr val="40458B"/>
                </a:solidFill>
                <a:latin typeface="Tahoma"/>
                <a:cs typeface="Tahoma"/>
              </a:rPr>
              <a:t>4.</a:t>
            </a:r>
            <a:r>
              <a:rPr dirty="0" sz="3300" spc="-245">
                <a:solidFill>
                  <a:srgbClr val="40458B"/>
                </a:solidFill>
                <a:latin typeface="Tahoma"/>
                <a:cs typeface="Tahoma"/>
              </a:rPr>
              <a:t> </a:t>
            </a:r>
            <a:r>
              <a:rPr dirty="0" sz="2800" spc="-45">
                <a:solidFill>
                  <a:srgbClr val="172152"/>
                </a:solidFill>
                <a:latin typeface="黑体"/>
                <a:cs typeface="黑体"/>
              </a:rPr>
              <a:t>比较</a:t>
            </a:r>
            <a:endParaRPr sz="2800">
              <a:latin typeface="黑体"/>
              <a:cs typeface="黑体"/>
            </a:endParaRPr>
          </a:p>
        </p:txBody>
      </p:sp>
      <p:grpSp>
        <p:nvGrpSpPr>
          <p:cNvPr id="5" name="object 5" descr=""/>
          <p:cNvGrpSpPr/>
          <p:nvPr/>
        </p:nvGrpSpPr>
        <p:grpSpPr>
          <a:xfrm>
            <a:off x="2119312" y="1541462"/>
            <a:ext cx="7755255" cy="4514850"/>
            <a:chOff x="2119312" y="1541462"/>
            <a:chExt cx="7755255" cy="4514850"/>
          </a:xfrm>
        </p:grpSpPr>
        <p:pic>
          <p:nvPicPr>
            <p:cNvPr id="6" name="object 6" descr=""/>
            <p:cNvPicPr/>
            <p:nvPr/>
          </p:nvPicPr>
          <p:blipFill>
            <a:blip r:embed="rId2" cstate="print"/>
            <a:stretch>
              <a:fillRect/>
            </a:stretch>
          </p:blipFill>
          <p:spPr>
            <a:xfrm>
              <a:off x="2254312" y="1644619"/>
              <a:ext cx="7437376" cy="4110169"/>
            </a:xfrm>
            <a:prstGeom prst="rect">
              <a:avLst/>
            </a:prstGeom>
          </p:spPr>
        </p:pic>
        <p:sp>
          <p:nvSpPr>
            <p:cNvPr id="7" name="object 7" descr=""/>
            <p:cNvSpPr/>
            <p:nvPr/>
          </p:nvSpPr>
          <p:spPr>
            <a:xfrm>
              <a:off x="2127250" y="1549400"/>
              <a:ext cx="7739380" cy="4498975"/>
            </a:xfrm>
            <a:custGeom>
              <a:avLst/>
              <a:gdLst/>
              <a:ahLst/>
              <a:cxnLst/>
              <a:rect l="l" t="t" r="r" b="b"/>
              <a:pathLst>
                <a:path w="7739380" h="4498975">
                  <a:moveTo>
                    <a:pt x="0" y="4498975"/>
                  </a:moveTo>
                  <a:lnTo>
                    <a:pt x="7738999" y="4498975"/>
                  </a:lnTo>
                  <a:lnTo>
                    <a:pt x="7738999" y="0"/>
                  </a:lnTo>
                  <a:lnTo>
                    <a:pt x="0" y="0"/>
                  </a:lnTo>
                  <a:lnTo>
                    <a:pt x="0" y="4498975"/>
                  </a:lnTo>
                  <a:close/>
                </a:path>
              </a:pathLst>
            </a:custGeom>
            <a:ln w="15875">
              <a:solidFill>
                <a:srgbClr val="2C44A3"/>
              </a:solidFill>
            </a:ln>
          </p:spPr>
          <p:txBody>
            <a:bodyPr wrap="square" lIns="0" tIns="0" rIns="0" bIns="0" rtlCol="0"/>
            <a:lstStyle/>
            <a:p/>
          </p:txBody>
        </p:sp>
      </p:grpSp>
      <p:sp>
        <p:nvSpPr>
          <p:cNvPr id="8" name="object 8" descr=""/>
          <p:cNvSpPr txBox="1"/>
          <p:nvPr/>
        </p:nvSpPr>
        <p:spPr>
          <a:xfrm>
            <a:off x="6247003" y="742569"/>
            <a:ext cx="4292600" cy="391160"/>
          </a:xfrm>
          <a:prstGeom prst="rect">
            <a:avLst/>
          </a:prstGeom>
        </p:spPr>
        <p:txBody>
          <a:bodyPr wrap="square" lIns="0" tIns="12700" rIns="0" bIns="0" rtlCol="0" vert="horz">
            <a:spAutoFit/>
          </a:bodyPr>
          <a:lstStyle/>
          <a:p>
            <a:pPr marL="12700">
              <a:lnSpc>
                <a:spcPct val="100000"/>
              </a:lnSpc>
              <a:spcBef>
                <a:spcPts val="100"/>
              </a:spcBef>
              <a:tabLst>
                <a:tab pos="926465" algn="l"/>
              </a:tabLst>
            </a:pPr>
            <a:r>
              <a:rPr dirty="0" sz="2400" spc="-10">
                <a:solidFill>
                  <a:srgbClr val="0000CC"/>
                </a:solidFill>
                <a:latin typeface="黑体"/>
                <a:cs typeface="黑体"/>
              </a:rPr>
              <a:t>2.3.1</a:t>
            </a:r>
            <a:r>
              <a:rPr dirty="0" sz="2400">
                <a:solidFill>
                  <a:srgbClr val="0000CC"/>
                </a:solidFill>
                <a:latin typeface="黑体"/>
                <a:cs typeface="黑体"/>
              </a:rPr>
              <a:t>	</a:t>
            </a:r>
            <a:r>
              <a:rPr dirty="0" sz="2400" spc="-5">
                <a:solidFill>
                  <a:srgbClr val="0000CC"/>
                </a:solidFill>
                <a:latin typeface="黑体"/>
                <a:cs typeface="黑体"/>
              </a:rPr>
              <a:t>指令系统设计的基本原则</a:t>
            </a:r>
            <a:endParaRPr sz="2400">
              <a:latin typeface="黑体"/>
              <a:cs typeface="黑体"/>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868170" y="786511"/>
            <a:ext cx="1196340" cy="452120"/>
          </a:xfrm>
          <a:prstGeom prst="rect">
            <a:avLst/>
          </a:prstGeom>
        </p:spPr>
        <p:txBody>
          <a:bodyPr wrap="square" lIns="0" tIns="0" rIns="0" bIns="0" rtlCol="0" vert="horz">
            <a:spAutoFit/>
          </a:bodyPr>
          <a:lstStyle/>
          <a:p>
            <a:pPr marL="12700">
              <a:lnSpc>
                <a:spcPts val="3554"/>
              </a:lnSpc>
            </a:pPr>
            <a:r>
              <a:rPr dirty="0" sz="3300">
                <a:solidFill>
                  <a:srgbClr val="40458B"/>
                </a:solidFill>
                <a:latin typeface="Tahoma"/>
                <a:cs typeface="Tahoma"/>
              </a:rPr>
              <a:t>4.</a:t>
            </a:r>
            <a:r>
              <a:rPr dirty="0" sz="3300" spc="-245">
                <a:solidFill>
                  <a:srgbClr val="40458B"/>
                </a:solidFill>
                <a:latin typeface="Tahoma"/>
                <a:cs typeface="Tahoma"/>
              </a:rPr>
              <a:t> </a:t>
            </a:r>
            <a:r>
              <a:rPr dirty="0" sz="2800" spc="-45">
                <a:solidFill>
                  <a:srgbClr val="172152"/>
                </a:solidFill>
                <a:latin typeface="黑体"/>
                <a:cs typeface="黑体"/>
              </a:rPr>
              <a:t>比较</a:t>
            </a:r>
            <a:endParaRPr sz="2800">
              <a:latin typeface="黑体"/>
              <a:cs typeface="黑体"/>
            </a:endParaRPr>
          </a:p>
        </p:txBody>
      </p:sp>
      <p:grpSp>
        <p:nvGrpSpPr>
          <p:cNvPr id="5" name="object 5" descr=""/>
          <p:cNvGrpSpPr/>
          <p:nvPr/>
        </p:nvGrpSpPr>
        <p:grpSpPr>
          <a:xfrm>
            <a:off x="2125662" y="1468374"/>
            <a:ext cx="8293100" cy="4294505"/>
            <a:chOff x="2125662" y="1468374"/>
            <a:chExt cx="8293100" cy="4294505"/>
          </a:xfrm>
        </p:grpSpPr>
        <p:pic>
          <p:nvPicPr>
            <p:cNvPr id="6" name="object 6" descr=""/>
            <p:cNvPicPr/>
            <p:nvPr/>
          </p:nvPicPr>
          <p:blipFill>
            <a:blip r:embed="rId2" cstate="print"/>
            <a:stretch>
              <a:fillRect/>
            </a:stretch>
          </p:blipFill>
          <p:spPr>
            <a:xfrm>
              <a:off x="2192913" y="1577883"/>
              <a:ext cx="8056099" cy="4036398"/>
            </a:xfrm>
            <a:prstGeom prst="rect">
              <a:avLst/>
            </a:prstGeom>
          </p:spPr>
        </p:pic>
        <p:sp>
          <p:nvSpPr>
            <p:cNvPr id="7" name="object 7" descr=""/>
            <p:cNvSpPr/>
            <p:nvPr/>
          </p:nvSpPr>
          <p:spPr>
            <a:xfrm>
              <a:off x="2133600" y="1476311"/>
              <a:ext cx="8277225" cy="4278630"/>
            </a:xfrm>
            <a:custGeom>
              <a:avLst/>
              <a:gdLst/>
              <a:ahLst/>
              <a:cxnLst/>
              <a:rect l="l" t="t" r="r" b="b"/>
              <a:pathLst>
                <a:path w="8277225" h="4278630">
                  <a:moveTo>
                    <a:pt x="0" y="4278376"/>
                  </a:moveTo>
                  <a:lnTo>
                    <a:pt x="8277225" y="4278376"/>
                  </a:lnTo>
                  <a:lnTo>
                    <a:pt x="8277225" y="0"/>
                  </a:lnTo>
                  <a:lnTo>
                    <a:pt x="0" y="0"/>
                  </a:lnTo>
                  <a:lnTo>
                    <a:pt x="0" y="4278376"/>
                  </a:lnTo>
                  <a:close/>
                </a:path>
              </a:pathLst>
            </a:custGeom>
            <a:ln w="15875">
              <a:solidFill>
                <a:srgbClr val="2C44A3"/>
              </a:solidFill>
            </a:ln>
          </p:spPr>
          <p:txBody>
            <a:bodyPr wrap="square" lIns="0" tIns="0" rIns="0" bIns="0" rtlCol="0"/>
            <a:lstStyle/>
            <a:p/>
          </p:txBody>
        </p:sp>
      </p:grpSp>
      <p:sp>
        <p:nvSpPr>
          <p:cNvPr id="8" name="object 8" descr=""/>
          <p:cNvSpPr txBox="1"/>
          <p:nvPr/>
        </p:nvSpPr>
        <p:spPr>
          <a:xfrm>
            <a:off x="6104001" y="754837"/>
            <a:ext cx="4296410"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00CC"/>
                </a:solidFill>
                <a:latin typeface="黑体"/>
                <a:cs typeface="黑体"/>
              </a:rPr>
              <a:t>2.3.1</a:t>
            </a:r>
            <a:r>
              <a:rPr dirty="0" sz="2400" spc="-15">
                <a:solidFill>
                  <a:srgbClr val="0000CC"/>
                </a:solidFill>
                <a:latin typeface="黑体"/>
                <a:cs typeface="黑体"/>
              </a:rPr>
              <a:t> 指令系统设计的基本原则</a:t>
            </a:r>
            <a:endParaRPr sz="2400">
              <a:latin typeface="黑体"/>
              <a:cs typeface="黑体"/>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63637" y="211023"/>
            <a:ext cx="11041380" cy="514350"/>
          </a:xfrm>
          <a:prstGeom prst="rect">
            <a:avLst/>
          </a:prstGeom>
        </p:spPr>
        <p:txBody>
          <a:bodyPr wrap="square" lIns="0" tIns="13335" rIns="0" bIns="0" rtlCol="0" vert="horz">
            <a:spAutoFit/>
          </a:bodyPr>
          <a:lstStyle/>
          <a:p>
            <a:pPr marL="12700">
              <a:lnSpc>
                <a:spcPct val="100000"/>
              </a:lnSpc>
              <a:spcBef>
                <a:spcPts val="105"/>
              </a:spcBef>
              <a:tabLst>
                <a:tab pos="1639570" algn="l"/>
                <a:tab pos="11028045" algn="l"/>
              </a:tabLst>
            </a:pPr>
            <a:r>
              <a:rPr dirty="0" u="heavy" sz="3200" b="1">
                <a:solidFill>
                  <a:srgbClr val="4F55AC"/>
                </a:solidFill>
                <a:uFill>
                  <a:solidFill>
                    <a:srgbClr val="2C44A3"/>
                  </a:solidFill>
                </a:uFill>
                <a:latin typeface="黑体"/>
                <a:cs typeface="黑体"/>
              </a:rPr>
              <a:t>	2.3</a:t>
            </a:r>
            <a:r>
              <a:rPr dirty="0" u="heavy" sz="3200" spc="-35" b="1">
                <a:solidFill>
                  <a:srgbClr val="4F55AC"/>
                </a:solidFill>
                <a:uFill>
                  <a:solidFill>
                    <a:srgbClr val="2C44A3"/>
                  </a:solidFill>
                </a:uFill>
                <a:latin typeface="黑体"/>
                <a:cs typeface="黑体"/>
              </a:rPr>
              <a:t> </a:t>
            </a:r>
            <a:r>
              <a:rPr dirty="0" u="heavy" sz="3200" b="1">
                <a:solidFill>
                  <a:srgbClr val="4F55AC"/>
                </a:solidFill>
                <a:uFill>
                  <a:solidFill>
                    <a:srgbClr val="2C44A3"/>
                  </a:solidFill>
                </a:uFill>
                <a:latin typeface="微软雅黑"/>
                <a:cs typeface="微软雅黑"/>
              </a:rPr>
              <a:t>指令系统的设计与优</a:t>
            </a:r>
            <a:r>
              <a:rPr dirty="0" u="heavy" sz="3200" spc="-50" b="1">
                <a:solidFill>
                  <a:srgbClr val="4F55AC"/>
                </a:solidFill>
                <a:uFill>
                  <a:solidFill>
                    <a:srgbClr val="2C44A3"/>
                  </a:solidFill>
                </a:uFill>
                <a:latin typeface="微软雅黑"/>
                <a:cs typeface="微软雅黑"/>
              </a:rPr>
              <a:t>化</a:t>
            </a:r>
            <a:r>
              <a:rPr dirty="0" u="heavy" sz="3200" b="1">
                <a:solidFill>
                  <a:srgbClr val="4F55AC"/>
                </a:solidFill>
                <a:uFill>
                  <a:solidFill>
                    <a:srgbClr val="2C44A3"/>
                  </a:solidFill>
                </a:uFill>
                <a:latin typeface="微软雅黑"/>
                <a:cs typeface="微软雅黑"/>
              </a:rPr>
              <a:t>	</a:t>
            </a:r>
            <a:endParaRPr sz="3200">
              <a:latin typeface="微软雅黑"/>
              <a:cs typeface="微软雅黑"/>
            </a:endParaRPr>
          </a:p>
        </p:txBody>
      </p:sp>
      <p:sp>
        <p:nvSpPr>
          <p:cNvPr id="3" name="object 3" descr=""/>
          <p:cNvSpPr txBox="1"/>
          <p:nvPr/>
        </p:nvSpPr>
        <p:spPr>
          <a:xfrm>
            <a:off x="1868170" y="786511"/>
            <a:ext cx="1196340" cy="452120"/>
          </a:xfrm>
          <a:prstGeom prst="rect">
            <a:avLst/>
          </a:prstGeom>
        </p:spPr>
        <p:txBody>
          <a:bodyPr wrap="square" lIns="0" tIns="0" rIns="0" bIns="0" rtlCol="0" vert="horz">
            <a:spAutoFit/>
          </a:bodyPr>
          <a:lstStyle/>
          <a:p>
            <a:pPr marL="12700">
              <a:lnSpc>
                <a:spcPts val="3554"/>
              </a:lnSpc>
            </a:pPr>
            <a:r>
              <a:rPr dirty="0" sz="3300">
                <a:solidFill>
                  <a:srgbClr val="40458B"/>
                </a:solidFill>
                <a:latin typeface="Tahoma"/>
                <a:cs typeface="Tahoma"/>
              </a:rPr>
              <a:t>4.</a:t>
            </a:r>
            <a:r>
              <a:rPr dirty="0" sz="3300" spc="-245">
                <a:solidFill>
                  <a:srgbClr val="40458B"/>
                </a:solidFill>
                <a:latin typeface="Tahoma"/>
                <a:cs typeface="Tahoma"/>
              </a:rPr>
              <a:t> </a:t>
            </a:r>
            <a:r>
              <a:rPr dirty="0" sz="2800" spc="-45">
                <a:solidFill>
                  <a:srgbClr val="172152"/>
                </a:solidFill>
                <a:latin typeface="黑体"/>
                <a:cs typeface="黑体"/>
              </a:rPr>
              <a:t>比较</a:t>
            </a:r>
            <a:endParaRPr sz="2800">
              <a:latin typeface="黑体"/>
              <a:cs typeface="黑体"/>
            </a:endParaRPr>
          </a:p>
        </p:txBody>
      </p:sp>
      <p:grpSp>
        <p:nvGrpSpPr>
          <p:cNvPr id="4" name="object 4" descr=""/>
          <p:cNvGrpSpPr/>
          <p:nvPr/>
        </p:nvGrpSpPr>
        <p:grpSpPr>
          <a:xfrm>
            <a:off x="2119312" y="1397000"/>
            <a:ext cx="7621905" cy="4359275"/>
            <a:chOff x="2119312" y="1397000"/>
            <a:chExt cx="7621905" cy="4359275"/>
          </a:xfrm>
        </p:grpSpPr>
        <p:pic>
          <p:nvPicPr>
            <p:cNvPr id="5" name="object 5" descr=""/>
            <p:cNvPicPr/>
            <p:nvPr/>
          </p:nvPicPr>
          <p:blipFill>
            <a:blip r:embed="rId2" cstate="print"/>
            <a:stretch>
              <a:fillRect/>
            </a:stretch>
          </p:blipFill>
          <p:spPr>
            <a:xfrm>
              <a:off x="2143846" y="1520870"/>
              <a:ext cx="7503819" cy="3995825"/>
            </a:xfrm>
            <a:prstGeom prst="rect">
              <a:avLst/>
            </a:prstGeom>
          </p:spPr>
        </p:pic>
        <p:sp>
          <p:nvSpPr>
            <p:cNvPr id="6" name="object 6" descr=""/>
            <p:cNvSpPr/>
            <p:nvPr/>
          </p:nvSpPr>
          <p:spPr>
            <a:xfrm>
              <a:off x="2127250" y="1404937"/>
              <a:ext cx="7606030" cy="4343400"/>
            </a:xfrm>
            <a:custGeom>
              <a:avLst/>
              <a:gdLst/>
              <a:ahLst/>
              <a:cxnLst/>
              <a:rect l="l" t="t" r="r" b="b"/>
              <a:pathLst>
                <a:path w="7606030" h="4343400">
                  <a:moveTo>
                    <a:pt x="0" y="4343400"/>
                  </a:moveTo>
                  <a:lnTo>
                    <a:pt x="7605649" y="4343400"/>
                  </a:lnTo>
                  <a:lnTo>
                    <a:pt x="7605649" y="0"/>
                  </a:lnTo>
                  <a:lnTo>
                    <a:pt x="0" y="0"/>
                  </a:lnTo>
                  <a:lnTo>
                    <a:pt x="0" y="4343400"/>
                  </a:lnTo>
                  <a:close/>
                </a:path>
              </a:pathLst>
            </a:custGeom>
            <a:ln w="15875">
              <a:solidFill>
                <a:srgbClr val="2C44A3"/>
              </a:solidFill>
            </a:ln>
          </p:spPr>
          <p:txBody>
            <a:bodyPr wrap="square" lIns="0" tIns="0" rIns="0" bIns="0" rtlCol="0"/>
            <a:lstStyle/>
            <a:p/>
          </p:txBody>
        </p:sp>
      </p:grpSp>
      <p:sp>
        <p:nvSpPr>
          <p:cNvPr id="7" name="object 7" descr=""/>
          <p:cNvSpPr txBox="1"/>
          <p:nvPr/>
        </p:nvSpPr>
        <p:spPr>
          <a:xfrm>
            <a:off x="6392926" y="698119"/>
            <a:ext cx="429323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00CC"/>
                </a:solidFill>
                <a:latin typeface="黑体"/>
                <a:cs typeface="黑体"/>
              </a:rPr>
              <a:t>2.3.1</a:t>
            </a:r>
            <a:r>
              <a:rPr dirty="0" sz="2400" spc="-5">
                <a:solidFill>
                  <a:srgbClr val="0000CC"/>
                </a:solidFill>
                <a:latin typeface="黑体"/>
                <a:cs typeface="黑体"/>
              </a:rPr>
              <a:t> 指令系统设计的基本原则</a:t>
            </a:r>
            <a:endParaRPr sz="2400">
              <a:latin typeface="黑体"/>
              <a:cs typeface="黑体"/>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868170" y="786511"/>
            <a:ext cx="1196340" cy="452120"/>
          </a:xfrm>
          <a:prstGeom prst="rect">
            <a:avLst/>
          </a:prstGeom>
        </p:spPr>
        <p:txBody>
          <a:bodyPr wrap="square" lIns="0" tIns="0" rIns="0" bIns="0" rtlCol="0" vert="horz">
            <a:spAutoFit/>
          </a:bodyPr>
          <a:lstStyle/>
          <a:p>
            <a:pPr marL="12700">
              <a:lnSpc>
                <a:spcPts val="3554"/>
              </a:lnSpc>
            </a:pPr>
            <a:r>
              <a:rPr dirty="0" sz="3300">
                <a:solidFill>
                  <a:srgbClr val="40458B"/>
                </a:solidFill>
                <a:latin typeface="Tahoma"/>
                <a:cs typeface="Tahoma"/>
              </a:rPr>
              <a:t>4.</a:t>
            </a:r>
            <a:r>
              <a:rPr dirty="0" sz="3300" spc="-245">
                <a:solidFill>
                  <a:srgbClr val="40458B"/>
                </a:solidFill>
                <a:latin typeface="Tahoma"/>
                <a:cs typeface="Tahoma"/>
              </a:rPr>
              <a:t> </a:t>
            </a:r>
            <a:r>
              <a:rPr dirty="0" sz="2800" spc="-45">
                <a:solidFill>
                  <a:srgbClr val="172152"/>
                </a:solidFill>
                <a:latin typeface="黑体"/>
                <a:cs typeface="黑体"/>
              </a:rPr>
              <a:t>比较</a:t>
            </a:r>
            <a:endParaRPr sz="2800">
              <a:latin typeface="黑体"/>
              <a:cs typeface="黑体"/>
            </a:endParaRPr>
          </a:p>
        </p:txBody>
      </p:sp>
      <p:grpSp>
        <p:nvGrpSpPr>
          <p:cNvPr id="5" name="object 5" descr=""/>
          <p:cNvGrpSpPr/>
          <p:nvPr/>
        </p:nvGrpSpPr>
        <p:grpSpPr>
          <a:xfrm>
            <a:off x="1916112" y="1733486"/>
            <a:ext cx="4196080" cy="3838575"/>
            <a:chOff x="1916112" y="1733486"/>
            <a:chExt cx="4196080" cy="3838575"/>
          </a:xfrm>
        </p:grpSpPr>
        <p:pic>
          <p:nvPicPr>
            <p:cNvPr id="6" name="object 6" descr=""/>
            <p:cNvPicPr/>
            <p:nvPr/>
          </p:nvPicPr>
          <p:blipFill>
            <a:blip r:embed="rId2" cstate="print"/>
            <a:stretch>
              <a:fillRect/>
            </a:stretch>
          </p:blipFill>
          <p:spPr>
            <a:xfrm>
              <a:off x="1942447" y="1961386"/>
              <a:ext cx="4044384" cy="3238768"/>
            </a:xfrm>
            <a:prstGeom prst="rect">
              <a:avLst/>
            </a:prstGeom>
          </p:spPr>
        </p:pic>
        <p:sp>
          <p:nvSpPr>
            <p:cNvPr id="7" name="object 7" descr=""/>
            <p:cNvSpPr/>
            <p:nvPr/>
          </p:nvSpPr>
          <p:spPr>
            <a:xfrm>
              <a:off x="1924050" y="1741423"/>
              <a:ext cx="4180204" cy="3822700"/>
            </a:xfrm>
            <a:custGeom>
              <a:avLst/>
              <a:gdLst/>
              <a:ahLst/>
              <a:cxnLst/>
              <a:rect l="l" t="t" r="r" b="b"/>
              <a:pathLst>
                <a:path w="4180204" h="3822700">
                  <a:moveTo>
                    <a:pt x="0" y="3822700"/>
                  </a:moveTo>
                  <a:lnTo>
                    <a:pt x="4179951" y="3822700"/>
                  </a:lnTo>
                  <a:lnTo>
                    <a:pt x="4179951" y="0"/>
                  </a:lnTo>
                  <a:lnTo>
                    <a:pt x="0" y="0"/>
                  </a:lnTo>
                  <a:lnTo>
                    <a:pt x="0" y="3822700"/>
                  </a:lnTo>
                  <a:close/>
                </a:path>
              </a:pathLst>
            </a:custGeom>
            <a:ln w="15875">
              <a:solidFill>
                <a:srgbClr val="2C44A3"/>
              </a:solidFill>
            </a:ln>
          </p:spPr>
          <p:txBody>
            <a:bodyPr wrap="square" lIns="0" tIns="0" rIns="0" bIns="0" rtlCol="0"/>
            <a:lstStyle/>
            <a:p/>
          </p:txBody>
        </p:sp>
      </p:grpSp>
      <p:grpSp>
        <p:nvGrpSpPr>
          <p:cNvPr id="8" name="object 8" descr=""/>
          <p:cNvGrpSpPr/>
          <p:nvPr/>
        </p:nvGrpSpPr>
        <p:grpSpPr>
          <a:xfrm>
            <a:off x="6273863" y="1752536"/>
            <a:ext cx="4057650" cy="3819525"/>
            <a:chOff x="6273863" y="1752536"/>
            <a:chExt cx="4057650" cy="3819525"/>
          </a:xfrm>
        </p:grpSpPr>
        <p:pic>
          <p:nvPicPr>
            <p:cNvPr id="9" name="object 9" descr=""/>
            <p:cNvPicPr/>
            <p:nvPr/>
          </p:nvPicPr>
          <p:blipFill>
            <a:blip r:embed="rId3" cstate="print"/>
            <a:stretch>
              <a:fillRect/>
            </a:stretch>
          </p:blipFill>
          <p:spPr>
            <a:xfrm>
              <a:off x="6315565" y="1984179"/>
              <a:ext cx="3930969" cy="3295968"/>
            </a:xfrm>
            <a:prstGeom prst="rect">
              <a:avLst/>
            </a:prstGeom>
          </p:spPr>
        </p:pic>
        <p:sp>
          <p:nvSpPr>
            <p:cNvPr id="10" name="object 10" descr=""/>
            <p:cNvSpPr/>
            <p:nvPr/>
          </p:nvSpPr>
          <p:spPr>
            <a:xfrm>
              <a:off x="6281801" y="1760473"/>
              <a:ext cx="4041775" cy="3803650"/>
            </a:xfrm>
            <a:custGeom>
              <a:avLst/>
              <a:gdLst/>
              <a:ahLst/>
              <a:cxnLst/>
              <a:rect l="l" t="t" r="r" b="b"/>
              <a:pathLst>
                <a:path w="4041775" h="3803650">
                  <a:moveTo>
                    <a:pt x="0" y="3803650"/>
                  </a:moveTo>
                  <a:lnTo>
                    <a:pt x="4041775" y="3803650"/>
                  </a:lnTo>
                  <a:lnTo>
                    <a:pt x="4041775" y="0"/>
                  </a:lnTo>
                  <a:lnTo>
                    <a:pt x="0" y="0"/>
                  </a:lnTo>
                  <a:lnTo>
                    <a:pt x="0" y="3803650"/>
                  </a:lnTo>
                  <a:close/>
                </a:path>
              </a:pathLst>
            </a:custGeom>
            <a:ln w="15875">
              <a:solidFill>
                <a:srgbClr val="2C44A3"/>
              </a:solidFill>
            </a:ln>
          </p:spPr>
          <p:txBody>
            <a:bodyPr wrap="square" lIns="0" tIns="0" rIns="0" bIns="0" rtlCol="0"/>
            <a:lstStyle/>
            <a:p/>
          </p:txBody>
        </p:sp>
      </p:grpSp>
      <p:sp>
        <p:nvSpPr>
          <p:cNvPr id="11" name="object 11" descr=""/>
          <p:cNvSpPr txBox="1"/>
          <p:nvPr/>
        </p:nvSpPr>
        <p:spPr>
          <a:xfrm>
            <a:off x="6369177" y="734695"/>
            <a:ext cx="4292600" cy="391160"/>
          </a:xfrm>
          <a:prstGeom prst="rect">
            <a:avLst/>
          </a:prstGeom>
        </p:spPr>
        <p:txBody>
          <a:bodyPr wrap="square" lIns="0" tIns="12700" rIns="0" bIns="0" rtlCol="0" vert="horz">
            <a:spAutoFit/>
          </a:bodyPr>
          <a:lstStyle/>
          <a:p>
            <a:pPr marL="12700">
              <a:lnSpc>
                <a:spcPct val="100000"/>
              </a:lnSpc>
              <a:spcBef>
                <a:spcPts val="100"/>
              </a:spcBef>
              <a:tabLst>
                <a:tab pos="926465" algn="l"/>
              </a:tabLst>
            </a:pPr>
            <a:r>
              <a:rPr dirty="0" sz="2400" spc="-10">
                <a:solidFill>
                  <a:srgbClr val="0000CC"/>
                </a:solidFill>
                <a:latin typeface="黑体"/>
                <a:cs typeface="黑体"/>
              </a:rPr>
              <a:t>2.3.1</a:t>
            </a:r>
            <a:r>
              <a:rPr dirty="0" sz="2400">
                <a:solidFill>
                  <a:srgbClr val="0000CC"/>
                </a:solidFill>
                <a:latin typeface="黑体"/>
                <a:cs typeface="黑体"/>
              </a:rPr>
              <a:t>	</a:t>
            </a:r>
            <a:r>
              <a:rPr dirty="0" sz="2400" spc="-5">
                <a:solidFill>
                  <a:srgbClr val="0000CC"/>
                </a:solidFill>
                <a:latin typeface="黑体"/>
                <a:cs typeface="黑体"/>
              </a:rPr>
              <a:t>指令系统设计的基本原则</a:t>
            </a:r>
            <a:endParaRPr sz="2400">
              <a:latin typeface="黑体"/>
              <a:cs typeface="黑体"/>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0" y="6073775"/>
            <a:ext cx="12192000" cy="784225"/>
            <a:chOff x="0" y="6073775"/>
            <a:chExt cx="12192000" cy="784225"/>
          </a:xfrm>
        </p:grpSpPr>
        <p:sp>
          <p:nvSpPr>
            <p:cNvPr id="4" name="object 4"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5" name="object 5" descr=""/>
            <p:cNvSpPr/>
            <p:nvPr/>
          </p:nvSpPr>
          <p:spPr>
            <a:xfrm>
              <a:off x="7967726" y="6092825"/>
              <a:ext cx="1543050" cy="411480"/>
            </a:xfrm>
            <a:custGeom>
              <a:avLst/>
              <a:gdLst/>
              <a:ahLst/>
              <a:cxnLst/>
              <a:rect l="l" t="t" r="r" b="b"/>
              <a:pathLst>
                <a:path w="1543050" h="411479">
                  <a:moveTo>
                    <a:pt x="1474470" y="0"/>
                  </a:moveTo>
                  <a:lnTo>
                    <a:pt x="68452" y="0"/>
                  </a:lnTo>
                  <a:lnTo>
                    <a:pt x="41790" y="5385"/>
                  </a:lnTo>
                  <a:lnTo>
                    <a:pt x="20034" y="20072"/>
                  </a:lnTo>
                  <a:lnTo>
                    <a:pt x="5373" y="41855"/>
                  </a:lnTo>
                  <a:lnTo>
                    <a:pt x="0" y="68529"/>
                  </a:lnTo>
                  <a:lnTo>
                    <a:pt x="0" y="342633"/>
                  </a:lnTo>
                  <a:lnTo>
                    <a:pt x="5373" y="369307"/>
                  </a:lnTo>
                  <a:lnTo>
                    <a:pt x="20034" y="391090"/>
                  </a:lnTo>
                  <a:lnTo>
                    <a:pt x="41790" y="405776"/>
                  </a:lnTo>
                  <a:lnTo>
                    <a:pt x="68452" y="411162"/>
                  </a:lnTo>
                  <a:lnTo>
                    <a:pt x="1474470" y="411162"/>
                  </a:lnTo>
                  <a:lnTo>
                    <a:pt x="1501151" y="405776"/>
                  </a:lnTo>
                  <a:lnTo>
                    <a:pt x="1522952" y="391090"/>
                  </a:lnTo>
                  <a:lnTo>
                    <a:pt x="1537656" y="369307"/>
                  </a:lnTo>
                  <a:lnTo>
                    <a:pt x="1543050" y="342633"/>
                  </a:lnTo>
                  <a:lnTo>
                    <a:pt x="1543050" y="68529"/>
                  </a:lnTo>
                  <a:lnTo>
                    <a:pt x="1537656" y="41855"/>
                  </a:lnTo>
                  <a:lnTo>
                    <a:pt x="1522952" y="20072"/>
                  </a:lnTo>
                  <a:lnTo>
                    <a:pt x="1501151" y="5385"/>
                  </a:lnTo>
                  <a:lnTo>
                    <a:pt x="1474470" y="0"/>
                  </a:lnTo>
                  <a:close/>
                </a:path>
              </a:pathLst>
            </a:custGeom>
            <a:solidFill>
              <a:srgbClr val="808080"/>
            </a:solidFill>
          </p:spPr>
          <p:txBody>
            <a:bodyPr wrap="square" lIns="0" tIns="0" rIns="0" bIns="0" rtlCol="0"/>
            <a:lstStyle/>
            <a:p/>
          </p:txBody>
        </p:sp>
        <p:sp>
          <p:nvSpPr>
            <p:cNvPr id="6" name="object 6" descr=""/>
            <p:cNvSpPr/>
            <p:nvPr/>
          </p:nvSpPr>
          <p:spPr>
            <a:xfrm>
              <a:off x="7967726" y="6092825"/>
              <a:ext cx="1543050" cy="411480"/>
            </a:xfrm>
            <a:custGeom>
              <a:avLst/>
              <a:gdLst/>
              <a:ahLst/>
              <a:cxnLst/>
              <a:rect l="l" t="t" r="r" b="b"/>
              <a:pathLst>
                <a:path w="1543050" h="411479">
                  <a:moveTo>
                    <a:pt x="0" y="68529"/>
                  </a:moveTo>
                  <a:lnTo>
                    <a:pt x="5373" y="41855"/>
                  </a:lnTo>
                  <a:lnTo>
                    <a:pt x="20034" y="20072"/>
                  </a:lnTo>
                  <a:lnTo>
                    <a:pt x="41790" y="5385"/>
                  </a:lnTo>
                  <a:lnTo>
                    <a:pt x="68452" y="0"/>
                  </a:lnTo>
                  <a:lnTo>
                    <a:pt x="1474470" y="0"/>
                  </a:lnTo>
                  <a:lnTo>
                    <a:pt x="1501151" y="5385"/>
                  </a:lnTo>
                  <a:lnTo>
                    <a:pt x="1522952" y="20072"/>
                  </a:lnTo>
                  <a:lnTo>
                    <a:pt x="1537656" y="41855"/>
                  </a:lnTo>
                  <a:lnTo>
                    <a:pt x="1543050" y="68529"/>
                  </a:lnTo>
                  <a:lnTo>
                    <a:pt x="1543050" y="342633"/>
                  </a:lnTo>
                  <a:lnTo>
                    <a:pt x="1537656" y="369307"/>
                  </a:lnTo>
                  <a:lnTo>
                    <a:pt x="1522952" y="391090"/>
                  </a:lnTo>
                  <a:lnTo>
                    <a:pt x="1501151" y="405776"/>
                  </a:lnTo>
                  <a:lnTo>
                    <a:pt x="1474470" y="411162"/>
                  </a:lnTo>
                  <a:lnTo>
                    <a:pt x="68452" y="411162"/>
                  </a:lnTo>
                  <a:lnTo>
                    <a:pt x="41790" y="405776"/>
                  </a:lnTo>
                  <a:lnTo>
                    <a:pt x="20034" y="391090"/>
                  </a:lnTo>
                  <a:lnTo>
                    <a:pt x="5373" y="369307"/>
                  </a:lnTo>
                  <a:lnTo>
                    <a:pt x="0" y="342633"/>
                  </a:lnTo>
                  <a:lnTo>
                    <a:pt x="0" y="68529"/>
                  </a:lnTo>
                  <a:close/>
                </a:path>
              </a:pathLst>
            </a:custGeom>
            <a:ln w="38100">
              <a:solidFill>
                <a:srgbClr val="000000"/>
              </a:solidFill>
            </a:ln>
          </p:spPr>
          <p:txBody>
            <a:bodyPr wrap="square" lIns="0" tIns="0" rIns="0" bIns="0" rtlCol="0"/>
            <a:lstStyle/>
            <a:p/>
          </p:txBody>
        </p:sp>
      </p:grpSp>
      <p:sp>
        <p:nvSpPr>
          <p:cNvPr id="7" name="object 7" descr=""/>
          <p:cNvSpPr txBox="1"/>
          <p:nvPr/>
        </p:nvSpPr>
        <p:spPr>
          <a:xfrm>
            <a:off x="1842642" y="1299794"/>
            <a:ext cx="8103870" cy="819150"/>
          </a:xfrm>
          <a:prstGeom prst="rect">
            <a:avLst/>
          </a:prstGeom>
        </p:spPr>
        <p:txBody>
          <a:bodyPr wrap="square" lIns="0" tIns="13335" rIns="0" bIns="0" rtlCol="0" vert="horz">
            <a:spAutoFit/>
          </a:bodyPr>
          <a:lstStyle/>
          <a:p>
            <a:pPr marL="12700" marR="5080">
              <a:lnSpc>
                <a:spcPct val="100000"/>
              </a:lnSpc>
              <a:spcBef>
                <a:spcPts val="105"/>
              </a:spcBef>
            </a:pPr>
            <a:r>
              <a:rPr dirty="0" sz="2600" spc="-15">
                <a:latin typeface="微软雅黑"/>
                <a:cs typeface="微软雅黑"/>
              </a:rPr>
              <a:t>以下关于复杂指令集计算机</a:t>
            </a:r>
            <a:r>
              <a:rPr dirty="0" sz="2600">
                <a:latin typeface="微软雅黑"/>
                <a:cs typeface="微软雅黑"/>
              </a:rPr>
              <a:t>（Complex</a:t>
            </a:r>
            <a:r>
              <a:rPr dirty="0" sz="2600" spc="-60">
                <a:latin typeface="微软雅黑"/>
                <a:cs typeface="微软雅黑"/>
              </a:rPr>
              <a:t> </a:t>
            </a:r>
            <a:r>
              <a:rPr dirty="0" sz="2600">
                <a:latin typeface="微软雅黑"/>
                <a:cs typeface="微软雅黑"/>
              </a:rPr>
              <a:t>Instruction</a:t>
            </a:r>
            <a:r>
              <a:rPr dirty="0" sz="2600" spc="-40">
                <a:latin typeface="微软雅黑"/>
                <a:cs typeface="微软雅黑"/>
              </a:rPr>
              <a:t> </a:t>
            </a:r>
            <a:r>
              <a:rPr dirty="0" sz="2600" spc="-25">
                <a:latin typeface="微软雅黑"/>
                <a:cs typeface="微软雅黑"/>
              </a:rPr>
              <a:t>Set Computer,CISC）</a:t>
            </a:r>
            <a:r>
              <a:rPr dirty="0" sz="2600" spc="-20">
                <a:latin typeface="微软雅黑"/>
                <a:cs typeface="微软雅黑"/>
              </a:rPr>
              <a:t>的叙述中正确的是 ( )</a:t>
            </a:r>
            <a:endParaRPr sz="2600">
              <a:latin typeface="微软雅黑"/>
              <a:cs typeface="微软雅黑"/>
            </a:endParaRPr>
          </a:p>
        </p:txBody>
      </p:sp>
      <p:sp>
        <p:nvSpPr>
          <p:cNvPr id="8" name="object 8" descr=""/>
          <p:cNvSpPr txBox="1"/>
          <p:nvPr/>
        </p:nvSpPr>
        <p:spPr>
          <a:xfrm>
            <a:off x="3431794" y="2685669"/>
            <a:ext cx="5978525" cy="1478280"/>
          </a:xfrm>
          <a:prstGeom prst="rect">
            <a:avLst/>
          </a:prstGeom>
        </p:spPr>
        <p:txBody>
          <a:bodyPr wrap="square" lIns="0" tIns="13335" rIns="0" bIns="0" rtlCol="0" vert="horz">
            <a:spAutoFit/>
          </a:bodyPr>
          <a:lstStyle/>
          <a:p>
            <a:pPr marL="12700" marR="5080">
              <a:lnSpc>
                <a:spcPct val="100000"/>
              </a:lnSpc>
              <a:spcBef>
                <a:spcPts val="105"/>
              </a:spcBef>
            </a:pPr>
            <a:r>
              <a:rPr dirty="0" sz="2600" spc="-20">
                <a:latin typeface="微软雅黑"/>
                <a:cs typeface="微软雅黑"/>
              </a:rPr>
              <a:t>只设置使用频度高的一些简单指令，不同</a:t>
            </a:r>
            <a:r>
              <a:rPr dirty="0" sz="2600" spc="-5">
                <a:latin typeface="微软雅黑"/>
                <a:cs typeface="微软雅黑"/>
              </a:rPr>
              <a:t>指令执行时间差别很小</a:t>
            </a:r>
            <a:endParaRPr sz="2600">
              <a:latin typeface="微软雅黑"/>
              <a:cs typeface="微软雅黑"/>
            </a:endParaRPr>
          </a:p>
          <a:p>
            <a:pPr marL="111125">
              <a:lnSpc>
                <a:spcPct val="100000"/>
              </a:lnSpc>
              <a:spcBef>
                <a:spcPts val="2070"/>
              </a:spcBef>
            </a:pPr>
            <a:r>
              <a:rPr dirty="0" sz="2600">
                <a:latin typeface="微软雅黑"/>
                <a:cs typeface="微软雅黑"/>
              </a:rPr>
              <a:t>CPU</a:t>
            </a:r>
            <a:r>
              <a:rPr dirty="0" sz="2600" spc="-20">
                <a:latin typeface="微软雅黑"/>
                <a:cs typeface="微软雅黑"/>
              </a:rPr>
              <a:t> 中设置大量寄存器，利用率低</a:t>
            </a:r>
            <a:endParaRPr sz="2600">
              <a:latin typeface="微软雅黑"/>
              <a:cs typeface="微软雅黑"/>
            </a:endParaRPr>
          </a:p>
        </p:txBody>
      </p:sp>
      <p:sp>
        <p:nvSpPr>
          <p:cNvPr id="9" name="object 9" descr=""/>
          <p:cNvSpPr txBox="1"/>
          <p:nvPr/>
        </p:nvSpPr>
        <p:spPr>
          <a:xfrm>
            <a:off x="3431794" y="4598670"/>
            <a:ext cx="6309995" cy="422275"/>
          </a:xfrm>
          <a:prstGeom prst="rect">
            <a:avLst/>
          </a:prstGeom>
        </p:spPr>
        <p:txBody>
          <a:bodyPr wrap="square" lIns="0" tIns="12700" rIns="0" bIns="0" rtlCol="0" vert="horz">
            <a:spAutoFit/>
          </a:bodyPr>
          <a:lstStyle/>
          <a:p>
            <a:pPr marL="12700">
              <a:lnSpc>
                <a:spcPct val="100000"/>
              </a:lnSpc>
              <a:spcBef>
                <a:spcPts val="100"/>
              </a:spcBef>
            </a:pPr>
            <a:r>
              <a:rPr dirty="0" sz="2600" spc="-20">
                <a:latin typeface="微软雅黑"/>
                <a:cs typeface="微软雅黑"/>
              </a:rPr>
              <a:t>常采用执行速度更快的组合逻辑实现控制器</a:t>
            </a:r>
            <a:endParaRPr sz="2600">
              <a:latin typeface="微软雅黑"/>
              <a:cs typeface="微软雅黑"/>
            </a:endParaRPr>
          </a:p>
        </p:txBody>
      </p:sp>
      <p:sp>
        <p:nvSpPr>
          <p:cNvPr id="10" name="object 10" descr=""/>
          <p:cNvSpPr txBox="1"/>
          <p:nvPr/>
        </p:nvSpPr>
        <p:spPr>
          <a:xfrm>
            <a:off x="3431794" y="5456021"/>
            <a:ext cx="5978525" cy="422275"/>
          </a:xfrm>
          <a:prstGeom prst="rect">
            <a:avLst/>
          </a:prstGeom>
        </p:spPr>
        <p:txBody>
          <a:bodyPr wrap="square" lIns="0" tIns="12700" rIns="0" bIns="0" rtlCol="0" vert="horz">
            <a:spAutoFit/>
          </a:bodyPr>
          <a:lstStyle/>
          <a:p>
            <a:pPr marL="12700">
              <a:lnSpc>
                <a:spcPct val="100000"/>
              </a:lnSpc>
              <a:spcBef>
                <a:spcPts val="100"/>
              </a:spcBef>
            </a:pPr>
            <a:r>
              <a:rPr dirty="0" sz="2600" spc="-20">
                <a:latin typeface="微软雅黑"/>
                <a:cs typeface="微软雅黑"/>
              </a:rPr>
              <a:t>指令长度不固定，指令格式和寻址方式多</a:t>
            </a:r>
            <a:endParaRPr sz="2600">
              <a:latin typeface="微软雅黑"/>
              <a:cs typeface="微软雅黑"/>
            </a:endParaRPr>
          </a:p>
        </p:txBody>
      </p:sp>
      <p:grpSp>
        <p:nvGrpSpPr>
          <p:cNvPr id="11" name="object 11" descr=""/>
          <p:cNvGrpSpPr/>
          <p:nvPr/>
        </p:nvGrpSpPr>
        <p:grpSpPr>
          <a:xfrm>
            <a:off x="2632075" y="2843276"/>
            <a:ext cx="527050" cy="527050"/>
            <a:chOff x="2632075" y="2843276"/>
            <a:chExt cx="527050" cy="527050"/>
          </a:xfrm>
        </p:grpSpPr>
        <p:sp>
          <p:nvSpPr>
            <p:cNvPr id="12" name="object 12" descr=""/>
            <p:cNvSpPr/>
            <p:nvPr/>
          </p:nvSpPr>
          <p:spPr>
            <a:xfrm>
              <a:off x="2638425" y="28496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3" name="object 13" descr=""/>
            <p:cNvSpPr/>
            <p:nvPr/>
          </p:nvSpPr>
          <p:spPr>
            <a:xfrm>
              <a:off x="2638425" y="28496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4" name="object 14" descr=""/>
          <p:cNvSpPr txBox="1"/>
          <p:nvPr/>
        </p:nvSpPr>
        <p:spPr>
          <a:xfrm>
            <a:off x="2811907" y="2965195"/>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5" name="object 15" descr=""/>
          <p:cNvGrpSpPr/>
          <p:nvPr/>
        </p:nvGrpSpPr>
        <p:grpSpPr>
          <a:xfrm>
            <a:off x="2632075" y="3700526"/>
            <a:ext cx="527050" cy="527050"/>
            <a:chOff x="2632075" y="3700526"/>
            <a:chExt cx="527050" cy="527050"/>
          </a:xfrm>
        </p:grpSpPr>
        <p:sp>
          <p:nvSpPr>
            <p:cNvPr id="16" name="object 16" descr=""/>
            <p:cNvSpPr/>
            <p:nvPr/>
          </p:nvSpPr>
          <p:spPr>
            <a:xfrm>
              <a:off x="2638425" y="370687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7" name="object 17" descr=""/>
            <p:cNvSpPr/>
            <p:nvPr/>
          </p:nvSpPr>
          <p:spPr>
            <a:xfrm>
              <a:off x="2638425" y="370687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8" name="object 18" descr=""/>
          <p:cNvSpPr txBox="1"/>
          <p:nvPr/>
        </p:nvSpPr>
        <p:spPr>
          <a:xfrm>
            <a:off x="2819780" y="3822572"/>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grpSp>
        <p:nvGrpSpPr>
          <p:cNvPr id="19" name="object 19" descr=""/>
          <p:cNvGrpSpPr/>
          <p:nvPr/>
        </p:nvGrpSpPr>
        <p:grpSpPr>
          <a:xfrm>
            <a:off x="2632075" y="4557776"/>
            <a:ext cx="527050" cy="527050"/>
            <a:chOff x="2632075" y="4557776"/>
            <a:chExt cx="527050" cy="527050"/>
          </a:xfrm>
        </p:grpSpPr>
        <p:sp>
          <p:nvSpPr>
            <p:cNvPr id="20" name="object 20" descr=""/>
            <p:cNvSpPr/>
            <p:nvPr/>
          </p:nvSpPr>
          <p:spPr>
            <a:xfrm>
              <a:off x="2638425" y="45641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21" name="object 21" descr=""/>
            <p:cNvSpPr/>
            <p:nvPr/>
          </p:nvSpPr>
          <p:spPr>
            <a:xfrm>
              <a:off x="2638425" y="45641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22" name="object 22" descr=""/>
          <p:cNvSpPr txBox="1"/>
          <p:nvPr/>
        </p:nvSpPr>
        <p:spPr>
          <a:xfrm>
            <a:off x="2814954" y="4679645"/>
            <a:ext cx="16129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C</a:t>
            </a:r>
            <a:endParaRPr sz="1600">
              <a:latin typeface="微软雅黑"/>
              <a:cs typeface="微软雅黑"/>
            </a:endParaRPr>
          </a:p>
        </p:txBody>
      </p:sp>
      <p:grpSp>
        <p:nvGrpSpPr>
          <p:cNvPr id="23" name="object 23" descr=""/>
          <p:cNvGrpSpPr/>
          <p:nvPr/>
        </p:nvGrpSpPr>
        <p:grpSpPr>
          <a:xfrm>
            <a:off x="2625725" y="5408676"/>
            <a:ext cx="539750" cy="539750"/>
            <a:chOff x="2625725" y="5408676"/>
            <a:chExt cx="539750" cy="539750"/>
          </a:xfrm>
        </p:grpSpPr>
        <p:sp>
          <p:nvSpPr>
            <p:cNvPr id="24" name="object 24" descr=""/>
            <p:cNvSpPr/>
            <p:nvPr/>
          </p:nvSpPr>
          <p:spPr>
            <a:xfrm>
              <a:off x="2638425" y="5421376"/>
              <a:ext cx="514350" cy="514350"/>
            </a:xfrm>
            <a:custGeom>
              <a:avLst/>
              <a:gdLst/>
              <a:ahLst/>
              <a:cxnLst/>
              <a:rect l="l" t="t" r="r" b="b"/>
              <a:pathLst>
                <a:path w="514350" h="514350">
                  <a:moveTo>
                    <a:pt x="257175" y="0"/>
                  </a:moveTo>
                  <a:lnTo>
                    <a:pt x="210960" y="4140"/>
                  </a:lnTo>
                  <a:lnTo>
                    <a:pt x="167457" y="16079"/>
                  </a:lnTo>
                  <a:lnTo>
                    <a:pt x="127395" y="35091"/>
                  </a:lnTo>
                  <a:lnTo>
                    <a:pt x="91500" y="60452"/>
                  </a:lnTo>
                  <a:lnTo>
                    <a:pt x="60500" y="91436"/>
                  </a:lnTo>
                  <a:lnTo>
                    <a:pt x="35122" y="127319"/>
                  </a:lnTo>
                  <a:lnTo>
                    <a:pt x="16095" y="167376"/>
                  </a:lnTo>
                  <a:lnTo>
                    <a:pt x="4145" y="210882"/>
                  </a:lnTo>
                  <a:lnTo>
                    <a:pt x="0" y="257111"/>
                  </a:lnTo>
                  <a:lnTo>
                    <a:pt x="4145" y="303339"/>
                  </a:lnTo>
                  <a:lnTo>
                    <a:pt x="16095" y="346849"/>
                  </a:lnTo>
                  <a:lnTo>
                    <a:pt x="35122" y="386913"/>
                  </a:lnTo>
                  <a:lnTo>
                    <a:pt x="60500" y="422807"/>
                  </a:lnTo>
                  <a:lnTo>
                    <a:pt x="91500" y="453803"/>
                  </a:lnTo>
                  <a:lnTo>
                    <a:pt x="127395" y="479175"/>
                  </a:lnTo>
                  <a:lnTo>
                    <a:pt x="167457" y="498197"/>
                  </a:lnTo>
                  <a:lnTo>
                    <a:pt x="210960" y="510143"/>
                  </a:lnTo>
                  <a:lnTo>
                    <a:pt x="257175" y="514286"/>
                  </a:lnTo>
                  <a:lnTo>
                    <a:pt x="303389" y="510143"/>
                  </a:lnTo>
                  <a:lnTo>
                    <a:pt x="346892" y="498197"/>
                  </a:lnTo>
                  <a:lnTo>
                    <a:pt x="386954" y="479175"/>
                  </a:lnTo>
                  <a:lnTo>
                    <a:pt x="422849" y="453803"/>
                  </a:lnTo>
                  <a:lnTo>
                    <a:pt x="453849" y="422807"/>
                  </a:lnTo>
                  <a:lnTo>
                    <a:pt x="479227" y="386913"/>
                  </a:lnTo>
                  <a:lnTo>
                    <a:pt x="498254" y="346849"/>
                  </a:lnTo>
                  <a:lnTo>
                    <a:pt x="510204" y="303339"/>
                  </a:lnTo>
                  <a:lnTo>
                    <a:pt x="514350" y="257111"/>
                  </a:lnTo>
                  <a:lnTo>
                    <a:pt x="510204" y="210882"/>
                  </a:lnTo>
                  <a:lnTo>
                    <a:pt x="498254" y="167376"/>
                  </a:lnTo>
                  <a:lnTo>
                    <a:pt x="479227" y="127319"/>
                  </a:lnTo>
                  <a:lnTo>
                    <a:pt x="453849" y="91436"/>
                  </a:lnTo>
                  <a:lnTo>
                    <a:pt x="422849" y="60452"/>
                  </a:lnTo>
                  <a:lnTo>
                    <a:pt x="386954" y="35091"/>
                  </a:lnTo>
                  <a:lnTo>
                    <a:pt x="346892" y="16079"/>
                  </a:lnTo>
                  <a:lnTo>
                    <a:pt x="303389" y="4140"/>
                  </a:lnTo>
                  <a:lnTo>
                    <a:pt x="257175" y="0"/>
                  </a:lnTo>
                  <a:close/>
                </a:path>
              </a:pathLst>
            </a:custGeom>
            <a:solidFill>
              <a:srgbClr val="00FF00"/>
            </a:solidFill>
          </p:spPr>
          <p:txBody>
            <a:bodyPr wrap="square" lIns="0" tIns="0" rIns="0" bIns="0" rtlCol="0"/>
            <a:lstStyle/>
            <a:p/>
          </p:txBody>
        </p:sp>
        <p:sp>
          <p:nvSpPr>
            <p:cNvPr id="25" name="object 25" descr=""/>
            <p:cNvSpPr/>
            <p:nvPr/>
          </p:nvSpPr>
          <p:spPr>
            <a:xfrm>
              <a:off x="2638425" y="5421376"/>
              <a:ext cx="514350" cy="514350"/>
            </a:xfrm>
            <a:custGeom>
              <a:avLst/>
              <a:gdLst/>
              <a:ahLst/>
              <a:cxnLst/>
              <a:rect l="l" t="t" r="r" b="b"/>
              <a:pathLst>
                <a:path w="514350" h="514350">
                  <a:moveTo>
                    <a:pt x="0" y="257111"/>
                  </a:moveTo>
                  <a:lnTo>
                    <a:pt x="4145" y="210882"/>
                  </a:lnTo>
                  <a:lnTo>
                    <a:pt x="16095" y="167376"/>
                  </a:lnTo>
                  <a:lnTo>
                    <a:pt x="35122" y="127319"/>
                  </a:lnTo>
                  <a:lnTo>
                    <a:pt x="60500" y="91436"/>
                  </a:lnTo>
                  <a:lnTo>
                    <a:pt x="91500" y="60452"/>
                  </a:lnTo>
                  <a:lnTo>
                    <a:pt x="127395" y="35091"/>
                  </a:lnTo>
                  <a:lnTo>
                    <a:pt x="167457" y="16079"/>
                  </a:lnTo>
                  <a:lnTo>
                    <a:pt x="210960" y="4140"/>
                  </a:lnTo>
                  <a:lnTo>
                    <a:pt x="257175" y="0"/>
                  </a:lnTo>
                  <a:lnTo>
                    <a:pt x="303389" y="4140"/>
                  </a:lnTo>
                  <a:lnTo>
                    <a:pt x="346892" y="16079"/>
                  </a:lnTo>
                  <a:lnTo>
                    <a:pt x="386954" y="35091"/>
                  </a:lnTo>
                  <a:lnTo>
                    <a:pt x="422849" y="60452"/>
                  </a:lnTo>
                  <a:lnTo>
                    <a:pt x="453849" y="91436"/>
                  </a:lnTo>
                  <a:lnTo>
                    <a:pt x="479227" y="127319"/>
                  </a:lnTo>
                  <a:lnTo>
                    <a:pt x="498254" y="167376"/>
                  </a:lnTo>
                  <a:lnTo>
                    <a:pt x="510204" y="210882"/>
                  </a:lnTo>
                  <a:lnTo>
                    <a:pt x="514350" y="257111"/>
                  </a:lnTo>
                  <a:lnTo>
                    <a:pt x="510204" y="303339"/>
                  </a:lnTo>
                  <a:lnTo>
                    <a:pt x="498254" y="346849"/>
                  </a:lnTo>
                  <a:lnTo>
                    <a:pt x="479227" y="386913"/>
                  </a:lnTo>
                  <a:lnTo>
                    <a:pt x="453849" y="422807"/>
                  </a:lnTo>
                  <a:lnTo>
                    <a:pt x="422849" y="453803"/>
                  </a:lnTo>
                  <a:lnTo>
                    <a:pt x="386954" y="479175"/>
                  </a:lnTo>
                  <a:lnTo>
                    <a:pt x="346892" y="498197"/>
                  </a:lnTo>
                  <a:lnTo>
                    <a:pt x="303389" y="510143"/>
                  </a:lnTo>
                  <a:lnTo>
                    <a:pt x="257175" y="514286"/>
                  </a:lnTo>
                  <a:lnTo>
                    <a:pt x="210960" y="510143"/>
                  </a:lnTo>
                  <a:lnTo>
                    <a:pt x="167457" y="498197"/>
                  </a:lnTo>
                  <a:lnTo>
                    <a:pt x="127395" y="479175"/>
                  </a:lnTo>
                  <a:lnTo>
                    <a:pt x="91500" y="453803"/>
                  </a:lnTo>
                  <a:lnTo>
                    <a:pt x="60500" y="422807"/>
                  </a:lnTo>
                  <a:lnTo>
                    <a:pt x="35122" y="386913"/>
                  </a:lnTo>
                  <a:lnTo>
                    <a:pt x="16095" y="346849"/>
                  </a:lnTo>
                  <a:lnTo>
                    <a:pt x="4145" y="303339"/>
                  </a:lnTo>
                  <a:lnTo>
                    <a:pt x="0" y="257111"/>
                  </a:lnTo>
                  <a:close/>
                </a:path>
              </a:pathLst>
            </a:custGeom>
            <a:ln w="25399">
              <a:solidFill>
                <a:srgbClr val="000000"/>
              </a:solidFill>
            </a:ln>
          </p:spPr>
          <p:txBody>
            <a:bodyPr wrap="square" lIns="0" tIns="0" rIns="0" bIns="0" rtlCol="0"/>
            <a:lstStyle/>
            <a:p/>
          </p:txBody>
        </p:sp>
      </p:grpSp>
      <p:sp>
        <p:nvSpPr>
          <p:cNvPr id="26" name="object 26" descr=""/>
          <p:cNvSpPr txBox="1"/>
          <p:nvPr/>
        </p:nvSpPr>
        <p:spPr>
          <a:xfrm>
            <a:off x="2805429" y="5537708"/>
            <a:ext cx="18034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D</a:t>
            </a:r>
            <a:endParaRPr sz="1600">
              <a:latin typeface="微软雅黑"/>
              <a:cs typeface="微软雅黑"/>
            </a:endParaRPr>
          </a:p>
        </p:txBody>
      </p:sp>
      <p:sp>
        <p:nvSpPr>
          <p:cNvPr id="27" name="object 27" descr=""/>
          <p:cNvSpPr txBox="1"/>
          <p:nvPr/>
        </p:nvSpPr>
        <p:spPr>
          <a:xfrm>
            <a:off x="8524493" y="6157671"/>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sp>
        <p:nvSpPr>
          <p:cNvPr id="28" name="object 28"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sp>
        <p:nvSpPr>
          <p:cNvPr id="29" name="object 29"/>
          <p:cNvSpPr txBox="1">
            <a:spLocks noGrp="1"/>
          </p:cNvSpPr>
          <p:nvPr>
            <p:ph type="title"/>
          </p:nvPr>
        </p:nvSpPr>
        <p:spPr>
          <a:xfrm>
            <a:off x="190500" y="0"/>
            <a:ext cx="8953500" cy="635000"/>
          </a:xfrm>
          <a:prstGeom prst="rect"/>
          <a:solidFill>
            <a:srgbClr val="F6F7F8"/>
          </a:solidFill>
        </p:spPr>
        <p:txBody>
          <a:bodyPr wrap="square" lIns="0" tIns="106045" rIns="0" bIns="0" rtlCol="0" vert="horz">
            <a:spAutoFit/>
          </a:bodyPr>
          <a:lstStyle/>
          <a:p>
            <a:pPr marL="154940">
              <a:lnSpc>
                <a:spcPct val="100000"/>
              </a:lnSpc>
              <a:spcBef>
                <a:spcPts val="835"/>
              </a:spcBef>
              <a:tabLst>
                <a:tab pos="1426845" algn="l"/>
              </a:tabLst>
            </a:pPr>
            <a:r>
              <a:rPr dirty="0" u="none" sz="2600" b="0">
                <a:solidFill>
                  <a:srgbClr val="000000"/>
                </a:solidFill>
                <a:latin typeface="微软雅黑"/>
                <a:cs typeface="微软雅黑"/>
              </a:rPr>
              <a:t>单选</a:t>
            </a:r>
            <a:r>
              <a:rPr dirty="0" u="none" sz="2600" spc="-50" b="0">
                <a:solidFill>
                  <a:srgbClr val="000000"/>
                </a:solidFill>
                <a:latin typeface="微软雅黑"/>
                <a:cs typeface="微软雅黑"/>
              </a:rPr>
              <a:t>题</a:t>
            </a:r>
            <a:r>
              <a:rPr dirty="0" u="none" sz="2600" b="0">
                <a:solidFill>
                  <a:srgbClr val="000000"/>
                </a:solidFill>
                <a:latin typeface="微软雅黑"/>
                <a:cs typeface="微软雅黑"/>
              </a:rPr>
              <a:t>	</a:t>
            </a:r>
            <a:r>
              <a:rPr dirty="0" u="none" baseline="-4166" sz="3000" b="0">
                <a:solidFill>
                  <a:srgbClr val="808080"/>
                </a:solidFill>
                <a:latin typeface="微软雅黑"/>
                <a:cs typeface="微软雅黑"/>
              </a:rPr>
              <a:t>1</a:t>
            </a:r>
            <a:r>
              <a:rPr dirty="0" u="none" baseline="-4166" sz="3000" spc="-75" b="0">
                <a:solidFill>
                  <a:srgbClr val="808080"/>
                </a:solidFill>
                <a:latin typeface="微软雅黑"/>
                <a:cs typeface="微软雅黑"/>
              </a:rPr>
              <a:t>分</a:t>
            </a:r>
            <a:endParaRPr baseline="-4166" sz="3000">
              <a:latin typeface="微软雅黑"/>
              <a:cs typeface="微软雅黑"/>
            </a:endParaRPr>
          </a:p>
        </p:txBody>
      </p:sp>
      <p:pic>
        <p:nvPicPr>
          <p:cNvPr id="30" name="object 30"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2574798" y="126949"/>
            <a:ext cx="4912995" cy="514350"/>
          </a:xfrm>
          <a:prstGeom prst="rect"/>
        </p:spPr>
        <p:txBody>
          <a:bodyPr wrap="square" lIns="0" tIns="13335" rIns="0" bIns="0" rtlCol="0" vert="horz">
            <a:spAutoFit/>
          </a:bodyPr>
          <a:lstStyle/>
          <a:p>
            <a:pPr marL="12700">
              <a:lnSpc>
                <a:spcPct val="100000"/>
              </a:lnSpc>
              <a:spcBef>
                <a:spcPts val="105"/>
              </a:spcBef>
            </a:pPr>
            <a:r>
              <a:rPr dirty="0" u="none">
                <a:solidFill>
                  <a:srgbClr val="4F55AC"/>
                </a:solidFill>
              </a:rPr>
              <a:t>2.3</a:t>
            </a:r>
            <a:r>
              <a:rPr dirty="0" u="none" spc="10">
                <a:solidFill>
                  <a:srgbClr val="4F55AC"/>
                </a:solidFill>
              </a:rPr>
              <a:t> </a:t>
            </a:r>
            <a:r>
              <a:rPr dirty="0" u="none" spc="-15">
                <a:solidFill>
                  <a:srgbClr val="4F55AC"/>
                </a:solidFill>
                <a:latin typeface="微软雅黑"/>
                <a:cs typeface="微软雅黑"/>
              </a:rPr>
              <a:t>指令系统的设计与优化</a:t>
            </a:r>
          </a:p>
        </p:txBody>
      </p:sp>
      <p:sp>
        <p:nvSpPr>
          <p:cNvPr id="9" name="object 9" descr=""/>
          <p:cNvSpPr txBox="1"/>
          <p:nvPr/>
        </p:nvSpPr>
        <p:spPr>
          <a:xfrm>
            <a:off x="1602994" y="1045840"/>
            <a:ext cx="8936355" cy="3620770"/>
          </a:xfrm>
          <a:prstGeom prst="rect">
            <a:avLst/>
          </a:prstGeom>
        </p:spPr>
        <p:txBody>
          <a:bodyPr wrap="square" lIns="0" tIns="155575" rIns="0" bIns="0" rtlCol="0" vert="horz">
            <a:spAutoFit/>
          </a:bodyPr>
          <a:lstStyle/>
          <a:p>
            <a:pPr marL="469265" indent="-456565">
              <a:lnSpc>
                <a:spcPct val="100000"/>
              </a:lnSpc>
              <a:spcBef>
                <a:spcPts val="1225"/>
              </a:spcBef>
              <a:buClr>
                <a:srgbClr val="40458B"/>
              </a:buClr>
              <a:buSzPct val="117857"/>
              <a:buFont typeface="Wingdings"/>
              <a:buChar char=""/>
              <a:tabLst>
                <a:tab pos="469265" algn="l"/>
              </a:tabLst>
            </a:pPr>
            <a:r>
              <a:rPr dirty="0" sz="2800" spc="-30">
                <a:solidFill>
                  <a:srgbClr val="FF0000"/>
                </a:solidFill>
                <a:latin typeface="黑体"/>
                <a:cs typeface="黑体"/>
              </a:rPr>
              <a:t>控制指令</a:t>
            </a:r>
            <a:r>
              <a:rPr dirty="0" sz="2800" spc="-40">
                <a:solidFill>
                  <a:srgbClr val="172152"/>
                </a:solidFill>
                <a:latin typeface="黑体"/>
                <a:cs typeface="黑体"/>
              </a:rPr>
              <a:t>是用来改变</a:t>
            </a:r>
            <a:r>
              <a:rPr dirty="0" sz="2800" spc="-35">
                <a:solidFill>
                  <a:srgbClr val="FF0000"/>
                </a:solidFill>
                <a:latin typeface="黑体"/>
                <a:cs typeface="黑体"/>
              </a:rPr>
              <a:t>控制流</a:t>
            </a:r>
            <a:r>
              <a:rPr dirty="0" sz="2800" spc="-45">
                <a:solidFill>
                  <a:srgbClr val="172152"/>
                </a:solidFill>
                <a:latin typeface="黑体"/>
                <a:cs typeface="黑体"/>
              </a:rPr>
              <a:t>的。</a:t>
            </a:r>
            <a:endParaRPr sz="2800">
              <a:latin typeface="黑体"/>
              <a:cs typeface="黑体"/>
            </a:endParaRPr>
          </a:p>
          <a:p>
            <a:pPr lvl="1" marL="1099185" indent="-457200">
              <a:lnSpc>
                <a:spcPct val="100000"/>
              </a:lnSpc>
              <a:spcBef>
                <a:spcPts val="875"/>
              </a:spcBef>
              <a:buClr>
                <a:srgbClr val="006FC0"/>
              </a:buClr>
              <a:buSzPct val="88636"/>
              <a:buFont typeface="Wingdings"/>
              <a:buChar char=""/>
              <a:tabLst>
                <a:tab pos="1099185" algn="l"/>
              </a:tabLst>
            </a:pPr>
            <a:r>
              <a:rPr dirty="0" sz="2200" spc="-30">
                <a:solidFill>
                  <a:srgbClr val="FF0000"/>
                </a:solidFill>
                <a:latin typeface="黑体"/>
                <a:cs typeface="黑体"/>
              </a:rPr>
              <a:t>跳转：</a:t>
            </a:r>
            <a:r>
              <a:rPr dirty="0" sz="2200" spc="-25">
                <a:solidFill>
                  <a:srgbClr val="006FC0"/>
                </a:solidFill>
                <a:latin typeface="黑体"/>
                <a:cs typeface="黑体"/>
              </a:rPr>
              <a:t>当指令是</a:t>
            </a:r>
            <a:r>
              <a:rPr dirty="0" sz="2200" spc="-30">
                <a:solidFill>
                  <a:srgbClr val="FF0000"/>
                </a:solidFill>
                <a:latin typeface="黑体"/>
                <a:cs typeface="黑体"/>
              </a:rPr>
              <a:t>无条件改变</a:t>
            </a:r>
            <a:r>
              <a:rPr dirty="0" sz="2200" spc="-35">
                <a:solidFill>
                  <a:srgbClr val="006FC0"/>
                </a:solidFill>
                <a:latin typeface="黑体"/>
                <a:cs typeface="黑体"/>
              </a:rPr>
              <a:t>控制流时，称之为跳转指令。</a:t>
            </a:r>
            <a:endParaRPr sz="2200">
              <a:latin typeface="黑体"/>
              <a:cs typeface="黑体"/>
            </a:endParaRPr>
          </a:p>
          <a:p>
            <a:pPr lvl="1" marL="1099185" indent="-457200">
              <a:lnSpc>
                <a:spcPct val="100000"/>
              </a:lnSpc>
              <a:spcBef>
                <a:spcPts val="795"/>
              </a:spcBef>
              <a:buClr>
                <a:srgbClr val="006FC0"/>
              </a:buClr>
              <a:buSzPct val="88636"/>
              <a:buFont typeface="Wingdings"/>
              <a:buChar char=""/>
              <a:tabLst>
                <a:tab pos="1099185" algn="l"/>
              </a:tabLst>
            </a:pPr>
            <a:r>
              <a:rPr dirty="0" sz="2200" spc="-30">
                <a:solidFill>
                  <a:srgbClr val="FF0000"/>
                </a:solidFill>
                <a:latin typeface="黑体"/>
                <a:cs typeface="黑体"/>
              </a:rPr>
              <a:t>分支：</a:t>
            </a:r>
            <a:r>
              <a:rPr dirty="0" sz="2200" spc="-30">
                <a:solidFill>
                  <a:srgbClr val="006FC0"/>
                </a:solidFill>
                <a:latin typeface="黑体"/>
                <a:cs typeface="黑体"/>
              </a:rPr>
              <a:t>当控制指令是</a:t>
            </a:r>
            <a:r>
              <a:rPr dirty="0" sz="2200" spc="-30">
                <a:solidFill>
                  <a:srgbClr val="FF0000"/>
                </a:solidFill>
                <a:latin typeface="黑体"/>
                <a:cs typeface="黑体"/>
              </a:rPr>
              <a:t>有条件改变</a:t>
            </a:r>
            <a:r>
              <a:rPr dirty="0" sz="2200" spc="-35">
                <a:solidFill>
                  <a:srgbClr val="006FC0"/>
                </a:solidFill>
                <a:latin typeface="黑体"/>
                <a:cs typeface="黑体"/>
              </a:rPr>
              <a:t>控制流时，则称之为分支指令。</a:t>
            </a:r>
            <a:endParaRPr sz="2200">
              <a:latin typeface="黑体"/>
              <a:cs typeface="黑体"/>
            </a:endParaRPr>
          </a:p>
          <a:p>
            <a:pPr marL="469265" indent="-456565">
              <a:lnSpc>
                <a:spcPct val="100000"/>
              </a:lnSpc>
              <a:spcBef>
                <a:spcPts val="925"/>
              </a:spcBef>
              <a:buClr>
                <a:srgbClr val="40458B"/>
              </a:buClr>
              <a:buSzPct val="117857"/>
              <a:buFont typeface="Wingdings"/>
              <a:buChar char=""/>
              <a:tabLst>
                <a:tab pos="469265" algn="l"/>
              </a:tabLst>
            </a:pPr>
            <a:r>
              <a:rPr dirty="0" sz="2800" spc="-40">
                <a:solidFill>
                  <a:srgbClr val="172152"/>
                </a:solidFill>
                <a:latin typeface="黑体"/>
                <a:cs typeface="黑体"/>
              </a:rPr>
              <a:t>能够改变控制流的指令</a:t>
            </a:r>
            <a:endParaRPr sz="2800">
              <a:latin typeface="黑体"/>
              <a:cs typeface="黑体"/>
            </a:endParaRPr>
          </a:p>
          <a:p>
            <a:pPr marL="1307465" indent="-359410">
              <a:lnSpc>
                <a:spcPct val="100000"/>
              </a:lnSpc>
              <a:spcBef>
                <a:spcPts val="825"/>
              </a:spcBef>
              <a:buClr>
                <a:srgbClr val="4668F5"/>
              </a:buClr>
              <a:buSzPct val="72500"/>
              <a:buFont typeface="Wingdings"/>
              <a:buChar char=""/>
              <a:tabLst>
                <a:tab pos="1307465" algn="l"/>
              </a:tabLst>
            </a:pPr>
            <a:r>
              <a:rPr dirty="0" sz="2000" spc="-30" b="1">
                <a:solidFill>
                  <a:srgbClr val="6F2F9F"/>
                </a:solidFill>
                <a:latin typeface="黑体"/>
                <a:cs typeface="黑体"/>
              </a:rPr>
              <a:t>分支</a:t>
            </a:r>
            <a:endParaRPr sz="2000">
              <a:latin typeface="黑体"/>
              <a:cs typeface="黑体"/>
            </a:endParaRPr>
          </a:p>
          <a:p>
            <a:pPr marL="1307465" indent="-359410">
              <a:lnSpc>
                <a:spcPct val="100000"/>
              </a:lnSpc>
              <a:spcBef>
                <a:spcPts val="720"/>
              </a:spcBef>
              <a:buClr>
                <a:srgbClr val="4668F5"/>
              </a:buClr>
              <a:buSzPct val="72500"/>
              <a:buFont typeface="Wingdings"/>
              <a:buChar char=""/>
              <a:tabLst>
                <a:tab pos="1307465" algn="l"/>
              </a:tabLst>
            </a:pPr>
            <a:r>
              <a:rPr dirty="0" sz="2000" spc="-30" b="1">
                <a:solidFill>
                  <a:srgbClr val="6F2F9F"/>
                </a:solidFill>
                <a:latin typeface="黑体"/>
                <a:cs typeface="黑体"/>
              </a:rPr>
              <a:t>跳转</a:t>
            </a:r>
            <a:endParaRPr sz="2000">
              <a:latin typeface="黑体"/>
              <a:cs typeface="黑体"/>
            </a:endParaRPr>
          </a:p>
          <a:p>
            <a:pPr marL="1307465" indent="-359410">
              <a:lnSpc>
                <a:spcPct val="100000"/>
              </a:lnSpc>
              <a:spcBef>
                <a:spcPts val="720"/>
              </a:spcBef>
              <a:buClr>
                <a:srgbClr val="4668F5"/>
              </a:buClr>
              <a:buSzPct val="72500"/>
              <a:buFont typeface="Wingdings"/>
              <a:buChar char=""/>
              <a:tabLst>
                <a:tab pos="1307465" algn="l"/>
              </a:tabLst>
            </a:pPr>
            <a:r>
              <a:rPr dirty="0" sz="2000" spc="-20" b="1">
                <a:solidFill>
                  <a:srgbClr val="6F2F9F"/>
                </a:solidFill>
                <a:latin typeface="黑体"/>
                <a:cs typeface="黑体"/>
              </a:rPr>
              <a:t>过程调用</a:t>
            </a:r>
            <a:endParaRPr sz="2000">
              <a:latin typeface="黑体"/>
              <a:cs typeface="黑体"/>
            </a:endParaRPr>
          </a:p>
          <a:p>
            <a:pPr marL="1307465" indent="-359410">
              <a:lnSpc>
                <a:spcPct val="100000"/>
              </a:lnSpc>
              <a:spcBef>
                <a:spcPts val="720"/>
              </a:spcBef>
              <a:buClr>
                <a:srgbClr val="4668F5"/>
              </a:buClr>
              <a:buSzPct val="72500"/>
              <a:buFont typeface="Wingdings"/>
              <a:buChar char=""/>
              <a:tabLst>
                <a:tab pos="1307465" algn="l"/>
              </a:tabLst>
            </a:pPr>
            <a:r>
              <a:rPr dirty="0" sz="2000" spc="-10" b="1">
                <a:solidFill>
                  <a:srgbClr val="6F2F9F"/>
                </a:solidFill>
                <a:latin typeface="黑体"/>
                <a:cs typeface="黑体"/>
              </a:rPr>
              <a:t>过程返</a:t>
            </a:r>
            <a:r>
              <a:rPr dirty="0" sz="2000" spc="-50" b="1">
                <a:solidFill>
                  <a:srgbClr val="6F2F9F"/>
                </a:solidFill>
                <a:latin typeface="黑体"/>
                <a:cs typeface="黑体"/>
              </a:rPr>
              <a:t></a:t>
            </a:r>
            <a:endParaRPr sz="2000">
              <a:latin typeface="黑体"/>
              <a:cs typeface="黑体"/>
            </a:endParaRPr>
          </a:p>
        </p:txBody>
      </p:sp>
      <p:sp>
        <p:nvSpPr>
          <p:cNvPr id="10" name="object 10" descr=""/>
          <p:cNvSpPr txBox="1"/>
          <p:nvPr/>
        </p:nvSpPr>
        <p:spPr>
          <a:xfrm>
            <a:off x="8047481" y="283590"/>
            <a:ext cx="2339340"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2.3.2</a:t>
            </a:r>
            <a:r>
              <a:rPr dirty="0" sz="2600" spc="-15">
                <a:solidFill>
                  <a:srgbClr val="0000CC"/>
                </a:solidFill>
                <a:latin typeface="黑体"/>
                <a:cs typeface="黑体"/>
              </a:rPr>
              <a:t> 控制指令</a:t>
            </a:r>
            <a:endParaRPr sz="2600">
              <a:latin typeface="黑体"/>
              <a:cs typeface="黑体"/>
            </a:endParaRPr>
          </a:p>
        </p:txBody>
      </p:sp>
      <p:pic>
        <p:nvPicPr>
          <p:cNvPr id="11" name="object 11" descr=""/>
          <p:cNvPicPr/>
          <p:nvPr/>
        </p:nvPicPr>
        <p:blipFill>
          <a:blip r:embed="rId2" cstate="print"/>
          <a:stretch>
            <a:fillRect/>
          </a:stretch>
        </p:blipFill>
        <p:spPr>
          <a:xfrm>
            <a:off x="3704590" y="4409059"/>
            <a:ext cx="200025" cy="20955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2790570" y="211023"/>
            <a:ext cx="4916170" cy="514350"/>
          </a:xfrm>
          <a:prstGeom prst="rect"/>
        </p:spPr>
        <p:txBody>
          <a:bodyPr wrap="square" lIns="0" tIns="13335" rIns="0" bIns="0" rtlCol="0" vert="horz">
            <a:spAutoFit/>
          </a:bodyPr>
          <a:lstStyle/>
          <a:p>
            <a:pPr marL="12700">
              <a:lnSpc>
                <a:spcPct val="100000"/>
              </a:lnSpc>
              <a:spcBef>
                <a:spcPts val="105"/>
              </a:spcBef>
            </a:pPr>
            <a:r>
              <a:rPr dirty="0" u="none">
                <a:solidFill>
                  <a:srgbClr val="4F55AC"/>
                </a:solidFill>
              </a:rPr>
              <a:t>2.3</a:t>
            </a:r>
            <a:r>
              <a:rPr dirty="0" u="none" spc="-35">
                <a:solidFill>
                  <a:srgbClr val="4F55AC"/>
                </a:solidFill>
              </a:rPr>
              <a:t> </a:t>
            </a:r>
            <a:r>
              <a:rPr dirty="0" u="none" spc="-5">
                <a:solidFill>
                  <a:srgbClr val="4F55AC"/>
                </a:solidFill>
                <a:latin typeface="微软雅黑"/>
                <a:cs typeface="微软雅黑"/>
              </a:rPr>
              <a:t>指令系统的设计与优化</a:t>
            </a:r>
          </a:p>
        </p:txBody>
      </p:sp>
      <p:sp>
        <p:nvSpPr>
          <p:cNvPr id="9" name="object 9" descr=""/>
          <p:cNvSpPr txBox="1"/>
          <p:nvPr/>
        </p:nvSpPr>
        <p:spPr>
          <a:xfrm>
            <a:off x="1853945" y="1084982"/>
            <a:ext cx="7459345" cy="740410"/>
          </a:xfrm>
          <a:prstGeom prst="rect">
            <a:avLst/>
          </a:prstGeom>
        </p:spPr>
        <p:txBody>
          <a:bodyPr wrap="square" lIns="0" tIns="36195" rIns="0" bIns="0" rtlCol="0" vert="horz">
            <a:spAutoFit/>
          </a:bodyPr>
          <a:lstStyle/>
          <a:p>
            <a:pPr marL="12700">
              <a:lnSpc>
                <a:spcPct val="100000"/>
              </a:lnSpc>
              <a:spcBef>
                <a:spcPts val="285"/>
              </a:spcBef>
              <a:tabLst>
                <a:tab pos="469265" algn="l"/>
              </a:tabLst>
            </a:pPr>
            <a:r>
              <a:rPr dirty="0" sz="2400" spc="-25" b="1">
                <a:solidFill>
                  <a:srgbClr val="40458B"/>
                </a:solidFill>
                <a:latin typeface="微软雅黑"/>
                <a:cs typeface="微软雅黑"/>
              </a:rPr>
              <a:t>3.</a:t>
            </a:r>
            <a:r>
              <a:rPr dirty="0" sz="2400" b="1">
                <a:solidFill>
                  <a:srgbClr val="40458B"/>
                </a:solidFill>
                <a:latin typeface="微软雅黑"/>
                <a:cs typeface="微软雅黑"/>
              </a:rPr>
              <a:t>	</a:t>
            </a:r>
            <a:r>
              <a:rPr dirty="0" sz="2400" spc="-10" b="1">
                <a:solidFill>
                  <a:srgbClr val="4F55AC"/>
                </a:solidFill>
                <a:latin typeface="微软雅黑"/>
                <a:cs typeface="微软雅黑"/>
              </a:rPr>
              <a:t>控制指令的使用频度</a:t>
            </a:r>
            <a:endParaRPr sz="2400">
              <a:latin typeface="微软雅黑"/>
              <a:cs typeface="微软雅黑"/>
            </a:endParaRPr>
          </a:p>
          <a:p>
            <a:pPr marL="12700">
              <a:lnSpc>
                <a:spcPct val="100000"/>
              </a:lnSpc>
              <a:spcBef>
                <a:spcPts val="160"/>
              </a:spcBef>
            </a:pPr>
            <a:r>
              <a:rPr dirty="0" sz="2000" spc="-10" b="1">
                <a:latin typeface="宋体"/>
                <a:cs typeface="宋体"/>
              </a:rPr>
              <a:t>（load-</a:t>
            </a:r>
            <a:r>
              <a:rPr dirty="0" sz="2000" spc="-20" b="1">
                <a:latin typeface="宋体"/>
                <a:cs typeface="宋体"/>
              </a:rPr>
              <a:t>store型指令系统结构的机器，基准程序为</a:t>
            </a:r>
            <a:r>
              <a:rPr dirty="0" sz="2000" b="1">
                <a:latin typeface="宋体"/>
                <a:cs typeface="宋体"/>
              </a:rPr>
              <a:t>SPEC</a:t>
            </a:r>
            <a:r>
              <a:rPr dirty="0" sz="2000" spc="5" b="1">
                <a:latin typeface="宋体"/>
                <a:cs typeface="宋体"/>
              </a:rPr>
              <a:t> </a:t>
            </a:r>
            <a:r>
              <a:rPr dirty="0" sz="2000" spc="-10" b="1">
                <a:latin typeface="宋体"/>
                <a:cs typeface="宋体"/>
              </a:rPr>
              <a:t>CPU2000）</a:t>
            </a:r>
            <a:endParaRPr sz="2000">
              <a:latin typeface="宋体"/>
              <a:cs typeface="宋体"/>
            </a:endParaRPr>
          </a:p>
        </p:txBody>
      </p:sp>
      <p:graphicFrame>
        <p:nvGraphicFramePr>
          <p:cNvPr id="10" name="object 10" descr=""/>
          <p:cNvGraphicFramePr>
            <a:graphicFrameLocks noGrp="1"/>
          </p:cNvGraphicFramePr>
          <p:nvPr/>
        </p:nvGraphicFramePr>
        <p:xfrm>
          <a:off x="3057588" y="2335212"/>
          <a:ext cx="5073650" cy="2664460"/>
        </p:xfrm>
        <a:graphic>
          <a:graphicData uri="http://schemas.openxmlformats.org/drawingml/2006/table">
            <a:tbl>
              <a:tblPr firstRow="1" bandRow="1">
                <a:tableStyleId>{2D5ABB26-0587-4C30-8999-92F81FD0307C}</a:tableStyleId>
              </a:tblPr>
              <a:tblGrid>
                <a:gridCol w="1607820"/>
                <a:gridCol w="1752600"/>
                <a:gridCol w="1608454"/>
              </a:tblGrid>
              <a:tr h="533400">
                <a:tc rowSpan="2">
                  <a:txBody>
                    <a:bodyPr/>
                    <a:lstStyle/>
                    <a:p>
                      <a:pPr>
                        <a:lnSpc>
                          <a:spcPct val="100000"/>
                        </a:lnSpc>
                        <a:spcBef>
                          <a:spcPts val="950"/>
                        </a:spcBef>
                      </a:pPr>
                      <a:endParaRPr sz="2000">
                        <a:latin typeface="Times New Roman"/>
                        <a:cs typeface="Times New Roman"/>
                      </a:endParaRPr>
                    </a:p>
                    <a:p>
                      <a:pPr marL="293370">
                        <a:lnSpc>
                          <a:spcPct val="100000"/>
                        </a:lnSpc>
                      </a:pPr>
                      <a:r>
                        <a:rPr dirty="0" sz="2000" spc="-15">
                          <a:solidFill>
                            <a:srgbClr val="E14B04"/>
                          </a:solidFill>
                          <a:latin typeface="黑体"/>
                          <a:cs typeface="黑体"/>
                        </a:rPr>
                        <a:t>指令类型</a:t>
                      </a:r>
                      <a:endParaRPr sz="2000">
                        <a:latin typeface="黑体"/>
                        <a:cs typeface="黑体"/>
                      </a:endParaRPr>
                    </a:p>
                  </a:txBody>
                  <a:tcPr marL="0" marR="0" marB="0" marT="12065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gridSpan="2">
                  <a:txBody>
                    <a:bodyPr/>
                    <a:lstStyle/>
                    <a:p>
                      <a:pPr algn="ctr" marL="1270">
                        <a:lnSpc>
                          <a:spcPct val="100000"/>
                        </a:lnSpc>
                        <a:spcBef>
                          <a:spcPts val="880"/>
                        </a:spcBef>
                      </a:pPr>
                      <a:r>
                        <a:rPr dirty="0" sz="2000" spc="-15">
                          <a:solidFill>
                            <a:srgbClr val="E14B04"/>
                          </a:solidFill>
                          <a:latin typeface="黑体"/>
                          <a:cs typeface="黑体"/>
                        </a:rPr>
                        <a:t>使用频度</a:t>
                      </a:r>
                      <a:endParaRPr sz="2000">
                        <a:latin typeface="黑体"/>
                        <a:cs typeface="黑体"/>
                      </a:endParaRPr>
                    </a:p>
                  </a:txBody>
                  <a:tcPr marL="0" marR="0" marB="0" marT="11176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c hMerge="1">
                  <a:txBody>
                    <a:bodyPr/>
                    <a:lstStyle/>
                    <a:p>
                      <a:pPr/>
                    </a:p>
                  </a:txBody>
                  <a:tcPr marL="0" marR="0" marB="0" marT="0"/>
                </a:tc>
              </a:tr>
              <a:tr h="531495">
                <a:tc vMerge="1">
                  <a:txBody>
                    <a:bodyPr/>
                    <a:lstStyle/>
                    <a:p>
                      <a:pPr/>
                    </a:p>
                  </a:txBody>
                  <a:tcPr marL="0" marR="0" marB="0" marT="12065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885"/>
                        </a:spcBef>
                      </a:pPr>
                      <a:r>
                        <a:rPr dirty="0" sz="2000" spc="-15">
                          <a:solidFill>
                            <a:srgbClr val="4668F5"/>
                          </a:solidFill>
                          <a:latin typeface="黑体"/>
                          <a:cs typeface="黑体"/>
                        </a:rPr>
                        <a:t>整型平均</a:t>
                      </a:r>
                      <a:endParaRPr sz="2000">
                        <a:latin typeface="黑体"/>
                        <a:cs typeface="黑体"/>
                      </a:endParaRPr>
                    </a:p>
                  </a:txBody>
                  <a:tcPr marL="0" marR="0" marB="0" marT="1123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885"/>
                        </a:spcBef>
                      </a:pPr>
                      <a:r>
                        <a:rPr dirty="0" sz="2000" spc="-15">
                          <a:solidFill>
                            <a:srgbClr val="4668F5"/>
                          </a:solidFill>
                          <a:latin typeface="黑体"/>
                          <a:cs typeface="黑体"/>
                        </a:rPr>
                        <a:t>浮点平均</a:t>
                      </a:r>
                      <a:endParaRPr sz="2000">
                        <a:latin typeface="黑体"/>
                        <a:cs typeface="黑体"/>
                      </a:endParaRPr>
                    </a:p>
                  </a:txBody>
                  <a:tcPr marL="0" marR="0" marB="0" marT="11239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34670">
                <a:tc>
                  <a:txBody>
                    <a:bodyPr/>
                    <a:lstStyle/>
                    <a:p>
                      <a:pPr algn="ctr">
                        <a:lnSpc>
                          <a:spcPct val="100000"/>
                        </a:lnSpc>
                        <a:spcBef>
                          <a:spcPts val="885"/>
                        </a:spcBef>
                      </a:pPr>
                      <a:r>
                        <a:rPr dirty="0" sz="2000">
                          <a:solidFill>
                            <a:srgbClr val="40458B"/>
                          </a:solidFill>
                          <a:latin typeface="黑体"/>
                          <a:cs typeface="黑体"/>
                        </a:rPr>
                        <a:t>调用</a:t>
                      </a:r>
                      <a:r>
                        <a:rPr dirty="0" sz="2000">
                          <a:solidFill>
                            <a:srgbClr val="40458B"/>
                          </a:solidFill>
                          <a:latin typeface="Tahoma"/>
                          <a:cs typeface="Tahoma"/>
                        </a:rPr>
                        <a:t>/</a:t>
                      </a:r>
                      <a:r>
                        <a:rPr dirty="0" sz="2000" spc="-1000">
                          <a:solidFill>
                            <a:srgbClr val="40458B"/>
                          </a:solidFill>
                          <a:latin typeface="黑体"/>
                          <a:cs typeface="黑体"/>
                        </a:rPr>
                        <a:t>返</a:t>
                      </a:r>
                      <a:r>
                        <a:rPr dirty="0" sz="2000" spc="-1050">
                          <a:solidFill>
                            <a:srgbClr val="40458B"/>
                          </a:solidFill>
                          <a:latin typeface="黑体"/>
                          <a:cs typeface="黑体"/>
                        </a:rPr>
                        <a:t></a:t>
                      </a:r>
                      <a:endParaRPr sz="2000">
                        <a:latin typeface="黑体"/>
                        <a:cs typeface="黑体"/>
                      </a:endParaRPr>
                    </a:p>
                  </a:txBody>
                  <a:tcPr marL="0" marR="0" marB="0" marT="11239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885"/>
                        </a:spcBef>
                      </a:pPr>
                      <a:r>
                        <a:rPr dirty="0" sz="2000" spc="-25">
                          <a:solidFill>
                            <a:srgbClr val="40458B"/>
                          </a:solidFill>
                          <a:latin typeface="Tahoma"/>
                          <a:cs typeface="Tahoma"/>
                        </a:rPr>
                        <a:t>19%</a:t>
                      </a:r>
                      <a:endParaRPr sz="2000">
                        <a:latin typeface="Tahoma"/>
                        <a:cs typeface="Tahoma"/>
                      </a:endParaRPr>
                    </a:p>
                  </a:txBody>
                  <a:tcPr marL="0" marR="0" marB="0" marT="1123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885"/>
                        </a:spcBef>
                      </a:pPr>
                      <a:r>
                        <a:rPr dirty="0" sz="2000" spc="-25">
                          <a:solidFill>
                            <a:srgbClr val="40458B"/>
                          </a:solidFill>
                          <a:latin typeface="Tahoma"/>
                          <a:cs typeface="Tahoma"/>
                        </a:rPr>
                        <a:t>8%</a:t>
                      </a:r>
                      <a:endParaRPr sz="2000">
                        <a:latin typeface="Tahoma"/>
                        <a:cs typeface="Tahoma"/>
                      </a:endParaRPr>
                    </a:p>
                  </a:txBody>
                  <a:tcPr marL="0" marR="0" marB="0" marT="11239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31495">
                <a:tc>
                  <a:txBody>
                    <a:bodyPr/>
                    <a:lstStyle/>
                    <a:p>
                      <a:pPr algn="ctr">
                        <a:lnSpc>
                          <a:spcPct val="100000"/>
                        </a:lnSpc>
                        <a:spcBef>
                          <a:spcPts val="885"/>
                        </a:spcBef>
                      </a:pPr>
                      <a:r>
                        <a:rPr dirty="0" sz="2000" spc="-25">
                          <a:solidFill>
                            <a:srgbClr val="40458B"/>
                          </a:solidFill>
                          <a:latin typeface="黑体"/>
                          <a:cs typeface="黑体"/>
                        </a:rPr>
                        <a:t>跳转</a:t>
                      </a:r>
                      <a:endParaRPr sz="2000">
                        <a:latin typeface="黑体"/>
                        <a:cs typeface="黑体"/>
                      </a:endParaRPr>
                    </a:p>
                  </a:txBody>
                  <a:tcPr marL="0" marR="0" marB="0" marT="11239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885"/>
                        </a:spcBef>
                      </a:pPr>
                      <a:r>
                        <a:rPr dirty="0" sz="2000" spc="-25">
                          <a:solidFill>
                            <a:srgbClr val="40458B"/>
                          </a:solidFill>
                          <a:latin typeface="Tahoma"/>
                          <a:cs typeface="Tahoma"/>
                        </a:rPr>
                        <a:t>6%</a:t>
                      </a:r>
                      <a:endParaRPr sz="2000">
                        <a:latin typeface="Tahoma"/>
                        <a:cs typeface="Tahoma"/>
                      </a:endParaRPr>
                    </a:p>
                  </a:txBody>
                  <a:tcPr marL="0" marR="0" marB="0" marT="1123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885"/>
                        </a:spcBef>
                      </a:pPr>
                      <a:r>
                        <a:rPr dirty="0" sz="2000" spc="-25">
                          <a:solidFill>
                            <a:srgbClr val="40458B"/>
                          </a:solidFill>
                          <a:latin typeface="Tahoma"/>
                          <a:cs typeface="Tahoma"/>
                        </a:rPr>
                        <a:t>10%</a:t>
                      </a:r>
                      <a:endParaRPr sz="2000">
                        <a:latin typeface="Tahoma"/>
                        <a:cs typeface="Tahoma"/>
                      </a:endParaRPr>
                    </a:p>
                  </a:txBody>
                  <a:tcPr marL="0" marR="0" marB="0" marT="11239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33400">
                <a:tc>
                  <a:txBody>
                    <a:bodyPr/>
                    <a:lstStyle/>
                    <a:p>
                      <a:pPr algn="ctr">
                        <a:lnSpc>
                          <a:spcPct val="100000"/>
                        </a:lnSpc>
                        <a:spcBef>
                          <a:spcPts val="890"/>
                        </a:spcBef>
                      </a:pPr>
                      <a:r>
                        <a:rPr dirty="0" sz="2000" spc="-25">
                          <a:solidFill>
                            <a:srgbClr val="40458B"/>
                          </a:solidFill>
                          <a:latin typeface="黑体"/>
                          <a:cs typeface="黑体"/>
                        </a:rPr>
                        <a:t>分支</a:t>
                      </a:r>
                      <a:endParaRPr sz="2000">
                        <a:latin typeface="黑体"/>
                        <a:cs typeface="黑体"/>
                      </a:endParaRPr>
                    </a:p>
                  </a:txBody>
                  <a:tcPr marL="0" marR="0" marB="0" marT="11303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270">
                        <a:lnSpc>
                          <a:spcPct val="100000"/>
                        </a:lnSpc>
                        <a:spcBef>
                          <a:spcPts val="890"/>
                        </a:spcBef>
                      </a:pPr>
                      <a:r>
                        <a:rPr dirty="0" sz="2000" spc="-25">
                          <a:solidFill>
                            <a:srgbClr val="40458B"/>
                          </a:solidFill>
                          <a:latin typeface="Tahoma"/>
                          <a:cs typeface="Tahoma"/>
                        </a:rPr>
                        <a:t>75%</a:t>
                      </a:r>
                      <a:endParaRPr sz="2000">
                        <a:latin typeface="Tahoma"/>
                        <a:cs typeface="Tahoma"/>
                      </a:endParaRPr>
                    </a:p>
                  </a:txBody>
                  <a:tcPr marL="0" marR="0" marB="0" marT="11303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890"/>
                        </a:spcBef>
                      </a:pPr>
                      <a:r>
                        <a:rPr dirty="0" sz="2000" spc="-25">
                          <a:solidFill>
                            <a:srgbClr val="40458B"/>
                          </a:solidFill>
                          <a:latin typeface="Tahoma"/>
                          <a:cs typeface="Tahoma"/>
                        </a:rPr>
                        <a:t>82%</a:t>
                      </a:r>
                      <a:endParaRPr sz="2000">
                        <a:latin typeface="Tahoma"/>
                        <a:cs typeface="Tahoma"/>
                      </a:endParaRPr>
                    </a:p>
                  </a:txBody>
                  <a:tcPr marL="0" marR="0" marB="0" marT="11303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pic>
        <p:nvPicPr>
          <p:cNvPr id="11" name="object 11" descr=""/>
          <p:cNvPicPr/>
          <p:nvPr/>
        </p:nvPicPr>
        <p:blipFill>
          <a:blip r:embed="rId2" cstate="print"/>
          <a:stretch>
            <a:fillRect/>
          </a:stretch>
        </p:blipFill>
        <p:spPr>
          <a:xfrm>
            <a:off x="4206366" y="3587622"/>
            <a:ext cx="200025" cy="209550"/>
          </a:xfrm>
          <a:prstGeom prst="rect">
            <a:avLst/>
          </a:prstGeom>
        </p:spPr>
      </p:pic>
      <p:sp>
        <p:nvSpPr>
          <p:cNvPr id="12" name="object 12" descr=""/>
          <p:cNvSpPr txBox="1"/>
          <p:nvPr/>
        </p:nvSpPr>
        <p:spPr>
          <a:xfrm>
            <a:off x="2106295" y="5013233"/>
            <a:ext cx="7039609" cy="1133475"/>
          </a:xfrm>
          <a:prstGeom prst="rect">
            <a:avLst/>
          </a:prstGeom>
        </p:spPr>
        <p:txBody>
          <a:bodyPr wrap="square" lIns="0" tIns="12065" rIns="0" bIns="0" rtlCol="0" vert="horz">
            <a:spAutoFit/>
          </a:bodyPr>
          <a:lstStyle/>
          <a:p>
            <a:pPr marL="12700" marR="5080">
              <a:lnSpc>
                <a:spcPct val="151500"/>
              </a:lnSpc>
              <a:spcBef>
                <a:spcPts val="95"/>
              </a:spcBef>
            </a:pPr>
            <a:r>
              <a:rPr dirty="0" sz="2400">
                <a:solidFill>
                  <a:srgbClr val="40458B"/>
                </a:solidFill>
                <a:latin typeface="黑体"/>
                <a:cs typeface="黑体"/>
              </a:rPr>
              <a:t>改变控制流的大部分指令是</a:t>
            </a:r>
            <a:r>
              <a:rPr dirty="0" sz="2400">
                <a:solidFill>
                  <a:srgbClr val="FF0000"/>
                </a:solidFill>
                <a:latin typeface="黑体"/>
                <a:cs typeface="黑体"/>
              </a:rPr>
              <a:t>分支指令（条件转移）</a:t>
            </a:r>
            <a:r>
              <a:rPr dirty="0" sz="2400" spc="-50">
                <a:solidFill>
                  <a:srgbClr val="FF0000"/>
                </a:solidFill>
                <a:latin typeface="黑体"/>
                <a:cs typeface="黑体"/>
              </a:rPr>
              <a:t>。</a:t>
            </a:r>
            <a:r>
              <a:rPr dirty="0" baseline="1157" sz="3600" spc="-104">
                <a:solidFill>
                  <a:srgbClr val="FF0000"/>
                </a:solidFill>
                <a:latin typeface="黑体"/>
                <a:cs typeface="黑体"/>
              </a:rPr>
              <a:t>联系：？ </a:t>
            </a:r>
            <a:r>
              <a:rPr dirty="0" sz="2400" spc="-5">
                <a:solidFill>
                  <a:srgbClr val="6600FF"/>
                </a:solidFill>
                <a:latin typeface="黑体"/>
                <a:cs typeface="黑体"/>
              </a:rPr>
              <a:t>指令系统设计：最经常使用事件为重点</a:t>
            </a:r>
            <a:endParaRPr sz="2400">
              <a:latin typeface="黑体"/>
              <a:cs typeface="黑体"/>
            </a:endParaRPr>
          </a:p>
        </p:txBody>
      </p:sp>
      <p:sp>
        <p:nvSpPr>
          <p:cNvPr id="13" name="object 13" descr=""/>
          <p:cNvSpPr txBox="1"/>
          <p:nvPr/>
        </p:nvSpPr>
        <p:spPr>
          <a:xfrm>
            <a:off x="8336406" y="307035"/>
            <a:ext cx="2159000"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00CC"/>
                </a:solidFill>
                <a:latin typeface="黑体"/>
                <a:cs typeface="黑体"/>
              </a:rPr>
              <a:t>2.3.2</a:t>
            </a:r>
            <a:r>
              <a:rPr dirty="0" sz="2400" spc="-30">
                <a:solidFill>
                  <a:srgbClr val="0000CC"/>
                </a:solidFill>
                <a:latin typeface="黑体"/>
                <a:cs typeface="黑体"/>
              </a:rPr>
              <a:t> 控制指令</a:t>
            </a:r>
            <a:endParaRPr sz="2400">
              <a:latin typeface="黑体"/>
              <a:cs typeface="黑体"/>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descr=""/>
          <p:cNvSpPr txBox="1"/>
          <p:nvPr/>
        </p:nvSpPr>
        <p:spPr>
          <a:xfrm>
            <a:off x="1926717" y="849833"/>
            <a:ext cx="4144010" cy="391795"/>
          </a:xfrm>
          <a:prstGeom prst="rect">
            <a:avLst/>
          </a:prstGeom>
        </p:spPr>
        <p:txBody>
          <a:bodyPr wrap="square" lIns="0" tIns="12700" rIns="0" bIns="0" rtlCol="0" vert="horz">
            <a:spAutoFit/>
          </a:bodyPr>
          <a:lstStyle/>
          <a:p>
            <a:pPr marL="12700">
              <a:lnSpc>
                <a:spcPct val="100000"/>
              </a:lnSpc>
              <a:spcBef>
                <a:spcPts val="100"/>
              </a:spcBef>
              <a:tabLst>
                <a:tab pos="469265" algn="l"/>
              </a:tabLst>
            </a:pPr>
            <a:r>
              <a:rPr dirty="0" sz="2400" spc="-25">
                <a:solidFill>
                  <a:srgbClr val="40458B"/>
                </a:solidFill>
                <a:latin typeface="Tahoma"/>
                <a:cs typeface="Tahoma"/>
              </a:rPr>
              <a:t>4.</a:t>
            </a:r>
            <a:r>
              <a:rPr dirty="0" sz="2400">
                <a:solidFill>
                  <a:srgbClr val="40458B"/>
                </a:solidFill>
                <a:latin typeface="Tahoma"/>
                <a:cs typeface="Tahoma"/>
              </a:rPr>
              <a:t>	</a:t>
            </a:r>
            <a:r>
              <a:rPr dirty="0" sz="2400" spc="-5">
                <a:solidFill>
                  <a:srgbClr val="001F5F"/>
                </a:solidFill>
                <a:latin typeface="黑体"/>
                <a:cs typeface="黑体"/>
              </a:rPr>
              <a:t>分支条件的方法及其优缺点</a:t>
            </a:r>
            <a:endParaRPr sz="2400">
              <a:latin typeface="黑体"/>
              <a:cs typeface="黑体"/>
            </a:endParaRPr>
          </a:p>
        </p:txBody>
      </p:sp>
      <p:sp>
        <p:nvSpPr>
          <p:cNvPr id="9" name="object 9"/>
          <p:cNvSpPr txBox="1">
            <a:spLocks noGrp="1"/>
          </p:cNvSpPr>
          <p:nvPr>
            <p:ph type="title"/>
          </p:nvPr>
        </p:nvSpPr>
        <p:spPr>
          <a:xfrm>
            <a:off x="2807970" y="211023"/>
            <a:ext cx="4916170" cy="514350"/>
          </a:xfrm>
          <a:prstGeom prst="rect"/>
        </p:spPr>
        <p:txBody>
          <a:bodyPr wrap="square" lIns="0" tIns="13335" rIns="0" bIns="0" rtlCol="0" vert="horz">
            <a:spAutoFit/>
          </a:bodyPr>
          <a:lstStyle/>
          <a:p>
            <a:pPr marL="12700">
              <a:lnSpc>
                <a:spcPct val="100000"/>
              </a:lnSpc>
              <a:spcBef>
                <a:spcPts val="105"/>
              </a:spcBef>
            </a:pPr>
            <a:r>
              <a:rPr dirty="0" u="none">
                <a:solidFill>
                  <a:srgbClr val="4F55AC"/>
                </a:solidFill>
              </a:rPr>
              <a:t>2.3</a:t>
            </a:r>
            <a:r>
              <a:rPr dirty="0" u="none" spc="-35">
                <a:solidFill>
                  <a:srgbClr val="4F55AC"/>
                </a:solidFill>
              </a:rPr>
              <a:t> </a:t>
            </a:r>
            <a:r>
              <a:rPr dirty="0" u="none" spc="-5">
                <a:solidFill>
                  <a:srgbClr val="4F55AC"/>
                </a:solidFill>
                <a:latin typeface="微软雅黑"/>
                <a:cs typeface="微软雅黑"/>
              </a:rPr>
              <a:t>指令系统的设计与优化</a:t>
            </a:r>
          </a:p>
        </p:txBody>
      </p:sp>
      <p:graphicFrame>
        <p:nvGraphicFramePr>
          <p:cNvPr id="10" name="object 10" descr=""/>
          <p:cNvGraphicFramePr>
            <a:graphicFrameLocks noGrp="1"/>
          </p:cNvGraphicFramePr>
          <p:nvPr/>
        </p:nvGraphicFramePr>
        <p:xfrm>
          <a:off x="1905063" y="1208087"/>
          <a:ext cx="8648065" cy="5483860"/>
        </p:xfrm>
        <a:graphic>
          <a:graphicData uri="http://schemas.openxmlformats.org/drawingml/2006/table">
            <a:tbl>
              <a:tblPr firstRow="1" bandRow="1">
                <a:tableStyleId>{2D5ABB26-0587-4C30-8999-92F81FD0307C}</a:tableStyleId>
              </a:tblPr>
              <a:tblGrid>
                <a:gridCol w="1574165"/>
                <a:gridCol w="2890520"/>
                <a:gridCol w="1440180"/>
                <a:gridCol w="2638424"/>
              </a:tblGrid>
              <a:tr h="456565">
                <a:tc>
                  <a:txBody>
                    <a:bodyPr/>
                    <a:lstStyle/>
                    <a:p>
                      <a:pPr algn="ctr">
                        <a:lnSpc>
                          <a:spcPct val="100000"/>
                        </a:lnSpc>
                        <a:spcBef>
                          <a:spcPts val="520"/>
                        </a:spcBef>
                      </a:pPr>
                      <a:r>
                        <a:rPr dirty="0" sz="2000" spc="-145">
                          <a:solidFill>
                            <a:srgbClr val="E14B04"/>
                          </a:solidFill>
                          <a:latin typeface="黑体"/>
                          <a:cs typeface="黑体"/>
                        </a:rPr>
                        <a:t>名 称</a:t>
                      </a:r>
                      <a:endParaRPr sz="2000">
                        <a:latin typeface="黑体"/>
                        <a:cs typeface="黑体"/>
                      </a:endParaRPr>
                    </a:p>
                  </a:txBody>
                  <a:tcPr marL="0" marR="0" marB="0" marT="6604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299085">
                        <a:lnSpc>
                          <a:spcPct val="100000"/>
                        </a:lnSpc>
                        <a:spcBef>
                          <a:spcPts val="520"/>
                        </a:spcBef>
                      </a:pPr>
                      <a:r>
                        <a:rPr dirty="0" sz="2000" spc="-15">
                          <a:solidFill>
                            <a:srgbClr val="E14B04"/>
                          </a:solidFill>
                          <a:latin typeface="黑体"/>
                          <a:cs typeface="黑体"/>
                        </a:rPr>
                        <a:t>检测分支条件的方法</a:t>
                      </a:r>
                      <a:endParaRPr sz="2000">
                        <a:latin typeface="黑体"/>
                        <a:cs typeface="黑体"/>
                      </a:endParaRPr>
                    </a:p>
                  </a:txBody>
                  <a:tcPr marL="0" marR="0" marB="0" marT="6604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520"/>
                        </a:spcBef>
                      </a:pPr>
                      <a:r>
                        <a:rPr dirty="0" sz="2000" spc="60">
                          <a:solidFill>
                            <a:srgbClr val="E14B04"/>
                          </a:solidFill>
                          <a:latin typeface="黑体"/>
                          <a:cs typeface="黑体"/>
                        </a:rPr>
                        <a:t>优 点</a:t>
                      </a:r>
                      <a:endParaRPr sz="2000">
                        <a:latin typeface="黑体"/>
                        <a:cs typeface="黑体"/>
                      </a:endParaRPr>
                    </a:p>
                  </a:txBody>
                  <a:tcPr marL="0" marR="0" marB="0" marT="6604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270" marR="21590">
                        <a:lnSpc>
                          <a:spcPct val="100000"/>
                        </a:lnSpc>
                        <a:spcBef>
                          <a:spcPts val="520"/>
                        </a:spcBef>
                      </a:pPr>
                      <a:r>
                        <a:rPr dirty="0" sz="2000" spc="65">
                          <a:solidFill>
                            <a:srgbClr val="E14B04"/>
                          </a:solidFill>
                          <a:latin typeface="黑体"/>
                          <a:cs typeface="黑体"/>
                        </a:rPr>
                        <a:t>缺 点</a:t>
                      </a:r>
                      <a:endParaRPr sz="2000">
                        <a:latin typeface="黑体"/>
                        <a:cs typeface="黑体"/>
                      </a:endParaRPr>
                    </a:p>
                  </a:txBody>
                  <a:tcPr marL="0" marR="0" marB="0" marT="6604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1919605">
                <a:tc>
                  <a:txBody>
                    <a:bodyPr/>
                    <a:lstStyle/>
                    <a:p>
                      <a:pPr>
                        <a:lnSpc>
                          <a:spcPct val="100000"/>
                        </a:lnSpc>
                        <a:spcBef>
                          <a:spcPts val="1580"/>
                        </a:spcBef>
                      </a:pPr>
                      <a:endParaRPr sz="2000">
                        <a:latin typeface="Times New Roman"/>
                        <a:cs typeface="Times New Roman"/>
                      </a:endParaRPr>
                    </a:p>
                    <a:p>
                      <a:pPr marL="405765">
                        <a:lnSpc>
                          <a:spcPct val="100000"/>
                        </a:lnSpc>
                        <a:spcBef>
                          <a:spcPts val="5"/>
                        </a:spcBef>
                      </a:pPr>
                      <a:r>
                        <a:rPr dirty="0" sz="2000" spc="-20">
                          <a:solidFill>
                            <a:srgbClr val="FF0000"/>
                          </a:solidFill>
                          <a:latin typeface="黑体"/>
                          <a:cs typeface="黑体"/>
                        </a:rPr>
                        <a:t>条件码</a:t>
                      </a:r>
                      <a:endParaRPr sz="2000">
                        <a:latin typeface="黑体"/>
                        <a:cs typeface="黑体"/>
                      </a:endParaRPr>
                    </a:p>
                    <a:p>
                      <a:pPr marL="378460">
                        <a:lnSpc>
                          <a:spcPct val="100000"/>
                        </a:lnSpc>
                        <a:spcBef>
                          <a:spcPts val="960"/>
                        </a:spcBef>
                      </a:pPr>
                      <a:r>
                        <a:rPr dirty="0" sz="2000" spc="-20">
                          <a:solidFill>
                            <a:srgbClr val="40458B"/>
                          </a:solidFill>
                          <a:latin typeface="黑体"/>
                          <a:cs typeface="黑体"/>
                        </a:rPr>
                        <a:t>（</a:t>
                      </a:r>
                      <a:r>
                        <a:rPr dirty="0" sz="2000" spc="-20">
                          <a:solidFill>
                            <a:srgbClr val="40458B"/>
                          </a:solidFill>
                          <a:latin typeface="Tahoma"/>
                          <a:cs typeface="Tahoma"/>
                        </a:rPr>
                        <a:t>CC</a:t>
                      </a:r>
                      <a:r>
                        <a:rPr dirty="0" sz="2000" spc="-20">
                          <a:solidFill>
                            <a:srgbClr val="40458B"/>
                          </a:solidFill>
                          <a:latin typeface="黑体"/>
                          <a:cs typeface="黑体"/>
                        </a:rPr>
                        <a:t>）</a:t>
                      </a:r>
                      <a:endParaRPr sz="2000">
                        <a:latin typeface="黑体"/>
                        <a:cs typeface="黑体"/>
                      </a:endParaRPr>
                    </a:p>
                  </a:txBody>
                  <a:tcPr marL="0" marR="0" marB="0" marT="20066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1100"/>
                        </a:spcBef>
                      </a:pPr>
                      <a:endParaRPr sz="2000">
                        <a:latin typeface="Times New Roman"/>
                        <a:cs typeface="Times New Roman"/>
                      </a:endParaRPr>
                    </a:p>
                    <a:p>
                      <a:pPr marL="92075" marR="194945">
                        <a:lnSpc>
                          <a:spcPct val="120000"/>
                        </a:lnSpc>
                        <a:spcBef>
                          <a:spcPts val="5"/>
                        </a:spcBef>
                      </a:pPr>
                      <a:r>
                        <a:rPr dirty="0" sz="2000">
                          <a:solidFill>
                            <a:srgbClr val="40458B"/>
                          </a:solidFill>
                          <a:latin typeface="黑体"/>
                          <a:cs typeface="黑体"/>
                        </a:rPr>
                        <a:t>检测由</a:t>
                      </a:r>
                      <a:r>
                        <a:rPr dirty="0" sz="2000" spc="-10">
                          <a:solidFill>
                            <a:srgbClr val="40458B"/>
                          </a:solidFill>
                          <a:latin typeface="Tahoma"/>
                          <a:cs typeface="Tahoma"/>
                        </a:rPr>
                        <a:t>ALU</a:t>
                      </a:r>
                      <a:r>
                        <a:rPr dirty="0" sz="2000" spc="-15">
                          <a:solidFill>
                            <a:srgbClr val="40458B"/>
                          </a:solidFill>
                          <a:latin typeface="黑体"/>
                          <a:cs typeface="黑体"/>
                        </a:rPr>
                        <a:t>操作设置的</a:t>
                      </a:r>
                      <a:r>
                        <a:rPr dirty="0" sz="2000" spc="-5">
                          <a:solidFill>
                            <a:srgbClr val="40458B"/>
                          </a:solidFill>
                          <a:latin typeface="黑体"/>
                          <a:cs typeface="黑体"/>
                        </a:rPr>
                        <a:t>一些特殊的位</a:t>
                      </a:r>
                      <a:r>
                        <a:rPr dirty="0" sz="2000">
                          <a:solidFill>
                            <a:srgbClr val="40458B"/>
                          </a:solidFill>
                          <a:latin typeface="黑体"/>
                          <a:cs typeface="黑体"/>
                        </a:rPr>
                        <a:t>（</a:t>
                      </a:r>
                      <a:r>
                        <a:rPr dirty="0" sz="2000" spc="-10">
                          <a:solidFill>
                            <a:srgbClr val="40458B"/>
                          </a:solidFill>
                          <a:latin typeface="黑体"/>
                          <a:cs typeface="黑体"/>
                        </a:rPr>
                        <a:t>即</a:t>
                      </a:r>
                      <a:r>
                        <a:rPr dirty="0" sz="2000" spc="-25">
                          <a:solidFill>
                            <a:srgbClr val="40458B"/>
                          </a:solidFill>
                          <a:latin typeface="Tahoma"/>
                          <a:cs typeface="Tahoma"/>
                        </a:rPr>
                        <a:t>CC</a:t>
                      </a:r>
                      <a:r>
                        <a:rPr dirty="0" sz="2000" spc="-25">
                          <a:solidFill>
                            <a:srgbClr val="40458B"/>
                          </a:solidFill>
                          <a:latin typeface="黑体"/>
                          <a:cs typeface="黑体"/>
                        </a:rPr>
                        <a:t>）</a:t>
                      </a:r>
                      <a:endParaRPr sz="2000">
                        <a:latin typeface="黑体"/>
                        <a:cs typeface="黑体"/>
                      </a:endParaRPr>
                    </a:p>
                  </a:txBody>
                  <a:tcPr marL="0" marR="0" marB="0" marT="1397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1100"/>
                        </a:spcBef>
                      </a:pPr>
                      <a:endParaRPr sz="2000">
                        <a:latin typeface="Times New Roman"/>
                        <a:cs typeface="Times New Roman"/>
                      </a:endParaRPr>
                    </a:p>
                    <a:p>
                      <a:pPr algn="just" marL="92075" marR="321945">
                        <a:lnSpc>
                          <a:spcPct val="120000"/>
                        </a:lnSpc>
                        <a:spcBef>
                          <a:spcPts val="5"/>
                        </a:spcBef>
                      </a:pPr>
                      <a:r>
                        <a:rPr dirty="0" sz="2000" spc="-15">
                          <a:solidFill>
                            <a:srgbClr val="40458B"/>
                          </a:solidFill>
                          <a:latin typeface="黑体"/>
                          <a:cs typeface="黑体"/>
                        </a:rPr>
                        <a:t>可以自由设置分支</a:t>
                      </a:r>
                      <a:r>
                        <a:rPr dirty="0" sz="2000" spc="-25">
                          <a:solidFill>
                            <a:srgbClr val="40458B"/>
                          </a:solidFill>
                          <a:latin typeface="黑体"/>
                          <a:cs typeface="黑体"/>
                        </a:rPr>
                        <a:t>条件</a:t>
                      </a:r>
                      <a:endParaRPr sz="2000">
                        <a:latin typeface="黑体"/>
                        <a:cs typeface="黑体"/>
                      </a:endParaRPr>
                    </a:p>
                  </a:txBody>
                  <a:tcPr marL="0" marR="0" marB="0" marT="1397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20000"/>
                        </a:lnSpc>
                        <a:spcBef>
                          <a:spcPts val="40"/>
                        </a:spcBef>
                      </a:pPr>
                      <a:r>
                        <a:rPr dirty="0" sz="2000" spc="-20">
                          <a:solidFill>
                            <a:srgbClr val="40458B"/>
                          </a:solidFill>
                          <a:latin typeface="黑体"/>
                          <a:cs typeface="黑体"/>
                        </a:rPr>
                        <a:t>条件码是增设的状态。</a:t>
                      </a:r>
                      <a:r>
                        <a:rPr dirty="0" sz="2000" spc="-15">
                          <a:solidFill>
                            <a:srgbClr val="40458B"/>
                          </a:solidFill>
                          <a:latin typeface="黑体"/>
                          <a:cs typeface="黑体"/>
                        </a:rPr>
                        <a:t>而且它限制了指令的</a:t>
                      </a:r>
                      <a:r>
                        <a:rPr dirty="0" sz="2000" spc="-50">
                          <a:solidFill>
                            <a:srgbClr val="40458B"/>
                          </a:solidFill>
                          <a:latin typeface="黑体"/>
                          <a:cs typeface="黑体"/>
                        </a:rPr>
                        <a:t> </a:t>
                      </a:r>
                      <a:r>
                        <a:rPr dirty="0" sz="2000" spc="-15">
                          <a:solidFill>
                            <a:srgbClr val="40458B"/>
                          </a:solidFill>
                          <a:latin typeface="黑体"/>
                          <a:cs typeface="黑体"/>
                        </a:rPr>
                        <a:t>执行顺序，因为要保证条件码能顺利地传送给</a:t>
                      </a:r>
                      <a:r>
                        <a:rPr dirty="0" sz="2000" spc="-20">
                          <a:solidFill>
                            <a:srgbClr val="40458B"/>
                          </a:solidFill>
                          <a:latin typeface="黑体"/>
                          <a:cs typeface="黑体"/>
                        </a:rPr>
                        <a:t>分支指令。</a:t>
                      </a:r>
                      <a:endParaRPr sz="2000">
                        <a:latin typeface="黑体"/>
                        <a:cs typeface="黑体"/>
                      </a:endParaRPr>
                    </a:p>
                  </a:txBody>
                  <a:tcPr marL="0" marR="0" marB="0" marT="508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1188085">
                <a:tc>
                  <a:txBody>
                    <a:bodyPr/>
                    <a:lstStyle/>
                    <a:p>
                      <a:pPr>
                        <a:lnSpc>
                          <a:spcPct val="100000"/>
                        </a:lnSpc>
                        <a:spcBef>
                          <a:spcPts val="1430"/>
                        </a:spcBef>
                      </a:pPr>
                      <a:endParaRPr sz="2000">
                        <a:latin typeface="Times New Roman"/>
                        <a:cs typeface="Times New Roman"/>
                      </a:endParaRPr>
                    </a:p>
                    <a:p>
                      <a:pPr algn="ctr" marL="635">
                        <a:lnSpc>
                          <a:spcPct val="100000"/>
                        </a:lnSpc>
                      </a:pPr>
                      <a:r>
                        <a:rPr dirty="0" sz="2000" spc="-10">
                          <a:solidFill>
                            <a:srgbClr val="FF0000"/>
                          </a:solidFill>
                          <a:latin typeface="黑体"/>
                          <a:cs typeface="黑体"/>
                        </a:rPr>
                        <a:t>条件寄存器</a:t>
                      </a:r>
                      <a:endParaRPr sz="2000">
                        <a:latin typeface="黑体"/>
                        <a:cs typeface="黑体"/>
                      </a:endParaRPr>
                    </a:p>
                  </a:txBody>
                  <a:tcPr marL="0" marR="0" marB="0" marT="18161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just" marL="92075" marR="245745">
                        <a:lnSpc>
                          <a:spcPct val="120000"/>
                        </a:lnSpc>
                        <a:spcBef>
                          <a:spcPts val="45"/>
                        </a:spcBef>
                      </a:pPr>
                      <a:r>
                        <a:rPr dirty="0" sz="2000" spc="-20">
                          <a:solidFill>
                            <a:srgbClr val="40458B"/>
                          </a:solidFill>
                          <a:latin typeface="黑体"/>
                          <a:cs typeface="黑体"/>
                        </a:rPr>
                        <a:t>比较指令把比较结果放</a:t>
                      </a:r>
                      <a:r>
                        <a:rPr dirty="0" sz="2000" spc="-15">
                          <a:solidFill>
                            <a:srgbClr val="40458B"/>
                          </a:solidFill>
                          <a:latin typeface="黑体"/>
                          <a:cs typeface="黑体"/>
                        </a:rPr>
                        <a:t>入任何一个寄存器，检测时就检测该寄存器。</a:t>
                      </a:r>
                      <a:endParaRPr sz="2000">
                        <a:latin typeface="黑体"/>
                        <a:cs typeface="黑体"/>
                      </a:endParaRPr>
                    </a:p>
                  </a:txBody>
                  <a:tcPr marL="0" marR="0" marB="0" marT="57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1430"/>
                        </a:spcBef>
                      </a:pPr>
                      <a:endParaRPr sz="2000">
                        <a:latin typeface="Times New Roman"/>
                        <a:cs typeface="Times New Roman"/>
                      </a:endParaRPr>
                    </a:p>
                    <a:p>
                      <a:pPr algn="ctr">
                        <a:lnSpc>
                          <a:spcPct val="100000"/>
                        </a:lnSpc>
                      </a:pPr>
                      <a:r>
                        <a:rPr dirty="0" sz="2000" spc="-25">
                          <a:solidFill>
                            <a:srgbClr val="40458B"/>
                          </a:solidFill>
                          <a:latin typeface="黑体"/>
                          <a:cs typeface="黑体"/>
                        </a:rPr>
                        <a:t>简单</a:t>
                      </a:r>
                      <a:endParaRPr sz="2000">
                        <a:latin typeface="黑体"/>
                        <a:cs typeface="黑体"/>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R="21590">
                        <a:lnSpc>
                          <a:spcPct val="100000"/>
                        </a:lnSpc>
                        <a:spcBef>
                          <a:spcPts val="1430"/>
                        </a:spcBef>
                      </a:pPr>
                      <a:endParaRPr sz="2000">
                        <a:latin typeface="Times New Roman"/>
                        <a:cs typeface="Times New Roman"/>
                      </a:endParaRPr>
                    </a:p>
                    <a:p>
                      <a:pPr marL="92075" marR="21590">
                        <a:lnSpc>
                          <a:spcPct val="100000"/>
                        </a:lnSpc>
                      </a:pPr>
                      <a:r>
                        <a:rPr dirty="0" sz="2000" spc="-15">
                          <a:solidFill>
                            <a:srgbClr val="40458B"/>
                          </a:solidFill>
                          <a:latin typeface="黑体"/>
                          <a:cs typeface="黑体"/>
                        </a:rPr>
                        <a:t>占用了一个寄存器</a:t>
                      </a:r>
                      <a:endParaRPr sz="2000">
                        <a:latin typeface="黑体"/>
                        <a:cs typeface="黑体"/>
                      </a:endParaRPr>
                    </a:p>
                  </a:txBody>
                  <a:tcPr marL="0" marR="0" marB="0" marT="18161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1919605">
                <a:tc>
                  <a:txBody>
                    <a:bodyPr/>
                    <a:lstStyle/>
                    <a:p>
                      <a:pPr>
                        <a:lnSpc>
                          <a:spcPct val="100000"/>
                        </a:lnSpc>
                        <a:spcBef>
                          <a:spcPts val="1585"/>
                        </a:spcBef>
                      </a:pPr>
                      <a:endParaRPr sz="2000">
                        <a:latin typeface="Times New Roman"/>
                        <a:cs typeface="Times New Roman"/>
                      </a:endParaRPr>
                    </a:p>
                    <a:p>
                      <a:pPr algn="ctr" marL="635">
                        <a:lnSpc>
                          <a:spcPct val="100000"/>
                        </a:lnSpc>
                      </a:pPr>
                      <a:r>
                        <a:rPr dirty="0" sz="2000" spc="-10">
                          <a:solidFill>
                            <a:srgbClr val="FF0000"/>
                          </a:solidFill>
                          <a:latin typeface="黑体"/>
                          <a:cs typeface="黑体"/>
                        </a:rPr>
                        <a:t>比较与分支</a:t>
                      </a:r>
                      <a:endParaRPr sz="2000">
                        <a:latin typeface="黑体"/>
                        <a:cs typeface="黑体"/>
                      </a:endParaRPr>
                    </a:p>
                  </a:txBody>
                  <a:tcPr marL="0" marR="0" marB="0" marT="201295">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just" marL="92075" marR="248285">
                        <a:lnSpc>
                          <a:spcPct val="120000"/>
                        </a:lnSpc>
                        <a:spcBef>
                          <a:spcPts val="45"/>
                        </a:spcBef>
                      </a:pPr>
                      <a:r>
                        <a:rPr dirty="0" sz="2000" spc="-15">
                          <a:solidFill>
                            <a:srgbClr val="40458B"/>
                          </a:solidFill>
                          <a:latin typeface="黑体"/>
                          <a:cs typeface="黑体"/>
                        </a:rPr>
                        <a:t>比较操作是分支指令的一部分，通常这种比较是受到一定限制的。</a:t>
                      </a:r>
                      <a:endParaRPr sz="2000">
                        <a:latin typeface="黑体"/>
                        <a:cs typeface="黑体"/>
                      </a:endParaRPr>
                    </a:p>
                  </a:txBody>
                  <a:tcPr marL="0" marR="0" marB="0" marT="571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just" marL="92075" marR="321945">
                        <a:lnSpc>
                          <a:spcPct val="120000"/>
                        </a:lnSpc>
                        <a:spcBef>
                          <a:spcPts val="45"/>
                        </a:spcBef>
                      </a:pPr>
                      <a:r>
                        <a:rPr dirty="0" sz="2000" spc="-15">
                          <a:solidFill>
                            <a:srgbClr val="40458B"/>
                          </a:solidFill>
                          <a:latin typeface="黑体"/>
                          <a:cs typeface="黑体"/>
                        </a:rPr>
                        <a:t>用一条指</a:t>
                      </a:r>
                      <a:r>
                        <a:rPr dirty="0" sz="2000">
                          <a:solidFill>
                            <a:srgbClr val="40458B"/>
                          </a:solidFill>
                          <a:latin typeface="黑体"/>
                          <a:cs typeface="黑体"/>
                        </a:rPr>
                        <a:t>令（</a:t>
                      </a:r>
                      <a:r>
                        <a:rPr dirty="0" sz="2000" spc="-25">
                          <a:solidFill>
                            <a:srgbClr val="40458B"/>
                          </a:solidFill>
                          <a:latin typeface="黑体"/>
                          <a:cs typeface="黑体"/>
                        </a:rPr>
                        <a:t>而不</a:t>
                      </a:r>
                      <a:r>
                        <a:rPr dirty="0" sz="2000">
                          <a:solidFill>
                            <a:srgbClr val="40458B"/>
                          </a:solidFill>
                          <a:latin typeface="黑体"/>
                          <a:cs typeface="黑体"/>
                        </a:rPr>
                        <a:t>是两条</a:t>
                      </a:r>
                      <a:r>
                        <a:rPr dirty="0" sz="2000" spc="-50">
                          <a:solidFill>
                            <a:srgbClr val="40458B"/>
                          </a:solidFill>
                          <a:latin typeface="黑体"/>
                          <a:cs typeface="黑体"/>
                        </a:rPr>
                        <a:t>）</a:t>
                      </a:r>
                      <a:r>
                        <a:rPr dirty="0" sz="2000" spc="-15">
                          <a:solidFill>
                            <a:srgbClr val="40458B"/>
                          </a:solidFill>
                          <a:latin typeface="黑体"/>
                          <a:cs typeface="黑体"/>
                        </a:rPr>
                        <a:t>就能实现</a:t>
                      </a:r>
                      <a:r>
                        <a:rPr dirty="0" sz="2000" spc="-25">
                          <a:solidFill>
                            <a:srgbClr val="40458B"/>
                          </a:solidFill>
                          <a:latin typeface="黑体"/>
                          <a:cs typeface="黑体"/>
                        </a:rPr>
                        <a:t>分支</a:t>
                      </a:r>
                      <a:endParaRPr sz="2000">
                        <a:latin typeface="黑体"/>
                        <a:cs typeface="黑体"/>
                      </a:endParaRPr>
                    </a:p>
                  </a:txBody>
                  <a:tcPr marL="0" marR="0" marB="0" marT="571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20000"/>
                        </a:lnSpc>
                        <a:spcBef>
                          <a:spcPts val="45"/>
                        </a:spcBef>
                      </a:pPr>
                      <a:r>
                        <a:rPr dirty="0" sz="2000" spc="-15">
                          <a:solidFill>
                            <a:srgbClr val="40458B"/>
                          </a:solidFill>
                          <a:latin typeface="黑体"/>
                          <a:cs typeface="黑体"/>
                        </a:rPr>
                        <a:t>当采用流水方式时，</a:t>
                      </a:r>
                      <a:r>
                        <a:rPr dirty="0" sz="2000" spc="-50">
                          <a:solidFill>
                            <a:srgbClr val="40458B"/>
                          </a:solidFill>
                          <a:latin typeface="黑体"/>
                          <a:cs typeface="黑体"/>
                        </a:rPr>
                        <a:t> </a:t>
                      </a:r>
                      <a:r>
                        <a:rPr dirty="0" sz="2000" spc="-15">
                          <a:solidFill>
                            <a:srgbClr val="40458B"/>
                          </a:solidFill>
                          <a:latin typeface="黑体"/>
                          <a:cs typeface="黑体"/>
                        </a:rPr>
                        <a:t>该指令的操作可能太多，在一拍内做不完。</a:t>
                      </a:r>
                      <a:endParaRPr sz="2000">
                        <a:latin typeface="黑体"/>
                        <a:cs typeface="黑体"/>
                      </a:endParaRPr>
                    </a:p>
                  </a:txBody>
                  <a:tcPr marL="0" marR="0" marB="0" marT="5715">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11" name="object 11" descr=""/>
          <p:cNvSpPr txBox="1"/>
          <p:nvPr/>
        </p:nvSpPr>
        <p:spPr>
          <a:xfrm>
            <a:off x="8191881" y="246710"/>
            <a:ext cx="2159000"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00CC"/>
                </a:solidFill>
                <a:latin typeface="黑体"/>
                <a:cs typeface="黑体"/>
              </a:rPr>
              <a:t>2.3.2</a:t>
            </a:r>
            <a:r>
              <a:rPr dirty="0" sz="2400" spc="-30">
                <a:solidFill>
                  <a:srgbClr val="0000CC"/>
                </a:solidFill>
                <a:latin typeface="黑体"/>
                <a:cs typeface="黑体"/>
              </a:rPr>
              <a:t> 控制指令</a:t>
            </a:r>
            <a:endParaRPr sz="2400">
              <a:latin typeface="黑体"/>
              <a:cs typeface="黑体"/>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2790570" y="211023"/>
            <a:ext cx="4916170" cy="514350"/>
          </a:xfrm>
          <a:prstGeom prst="rect"/>
        </p:spPr>
        <p:txBody>
          <a:bodyPr wrap="square" lIns="0" tIns="13335" rIns="0" bIns="0" rtlCol="0" vert="horz">
            <a:spAutoFit/>
          </a:bodyPr>
          <a:lstStyle/>
          <a:p>
            <a:pPr marL="12700">
              <a:lnSpc>
                <a:spcPct val="100000"/>
              </a:lnSpc>
              <a:spcBef>
                <a:spcPts val="105"/>
              </a:spcBef>
            </a:pPr>
            <a:r>
              <a:rPr dirty="0" u="none">
                <a:solidFill>
                  <a:srgbClr val="4F55AC"/>
                </a:solidFill>
              </a:rPr>
              <a:t>2.3</a:t>
            </a:r>
            <a:r>
              <a:rPr dirty="0" u="none" spc="-35">
                <a:solidFill>
                  <a:srgbClr val="4F55AC"/>
                </a:solidFill>
              </a:rPr>
              <a:t> </a:t>
            </a:r>
            <a:r>
              <a:rPr dirty="0" u="none" spc="-5">
                <a:solidFill>
                  <a:srgbClr val="4F55AC"/>
                </a:solidFill>
                <a:latin typeface="微软雅黑"/>
                <a:cs typeface="微软雅黑"/>
              </a:rPr>
              <a:t>指令系统的设计与优化</a:t>
            </a:r>
          </a:p>
        </p:txBody>
      </p:sp>
      <p:pic>
        <p:nvPicPr>
          <p:cNvPr id="9" name="object 9" descr=""/>
          <p:cNvPicPr/>
          <p:nvPr/>
        </p:nvPicPr>
        <p:blipFill>
          <a:blip r:embed="rId2" cstate="print"/>
          <a:stretch>
            <a:fillRect/>
          </a:stretch>
        </p:blipFill>
        <p:spPr>
          <a:xfrm>
            <a:off x="3892776" y="2671317"/>
            <a:ext cx="219075" cy="231775"/>
          </a:xfrm>
          <a:prstGeom prst="rect">
            <a:avLst/>
          </a:prstGeom>
        </p:spPr>
      </p:pic>
      <p:pic>
        <p:nvPicPr>
          <p:cNvPr id="10" name="object 10" descr=""/>
          <p:cNvPicPr/>
          <p:nvPr/>
        </p:nvPicPr>
        <p:blipFill>
          <a:blip r:embed="rId2" cstate="print"/>
          <a:stretch>
            <a:fillRect/>
          </a:stretch>
        </p:blipFill>
        <p:spPr>
          <a:xfrm>
            <a:off x="7803958" y="2671317"/>
            <a:ext cx="219075" cy="231775"/>
          </a:xfrm>
          <a:prstGeom prst="rect">
            <a:avLst/>
          </a:prstGeom>
        </p:spPr>
      </p:pic>
      <p:sp>
        <p:nvSpPr>
          <p:cNvPr id="11" name="object 11" descr=""/>
          <p:cNvSpPr txBox="1"/>
          <p:nvPr/>
        </p:nvSpPr>
        <p:spPr>
          <a:xfrm>
            <a:off x="1926717" y="1106515"/>
            <a:ext cx="8141970" cy="2651125"/>
          </a:xfrm>
          <a:prstGeom prst="rect">
            <a:avLst/>
          </a:prstGeom>
        </p:spPr>
        <p:txBody>
          <a:bodyPr wrap="square" lIns="0" tIns="154940" rIns="0" bIns="0" rtlCol="0" vert="horz">
            <a:spAutoFit/>
          </a:bodyPr>
          <a:lstStyle/>
          <a:p>
            <a:pPr marL="12700">
              <a:lnSpc>
                <a:spcPct val="100000"/>
              </a:lnSpc>
              <a:spcBef>
                <a:spcPts val="1220"/>
              </a:spcBef>
            </a:pPr>
            <a:r>
              <a:rPr dirty="0" sz="2800" spc="-40">
                <a:solidFill>
                  <a:srgbClr val="172152"/>
                </a:solidFill>
                <a:latin typeface="黑体"/>
                <a:cs typeface="黑体"/>
              </a:rPr>
              <a:t>控制流指令的寻址方式</a:t>
            </a:r>
            <a:endParaRPr sz="2800">
              <a:latin typeface="黑体"/>
              <a:cs typeface="黑体"/>
            </a:endParaRPr>
          </a:p>
          <a:p>
            <a:pPr marL="1099185" marR="50800" indent="-457200">
              <a:lnSpc>
                <a:spcPct val="110000"/>
              </a:lnSpc>
              <a:spcBef>
                <a:spcPts val="615"/>
              </a:spcBef>
              <a:buSzPct val="88636"/>
              <a:buFont typeface="Wingdings"/>
              <a:buChar char=""/>
              <a:tabLst>
                <a:tab pos="1099185" algn="l"/>
              </a:tabLst>
            </a:pPr>
            <a:r>
              <a:rPr dirty="0" sz="2200" spc="-35">
                <a:solidFill>
                  <a:srgbClr val="006FC0"/>
                </a:solidFill>
                <a:latin typeface="黑体"/>
                <a:cs typeface="黑体"/>
              </a:rPr>
              <a:t>需要指明转移的目标地址，多数情况下，目标地址会在指令中明确表示出来</a:t>
            </a:r>
            <a:endParaRPr sz="2200">
              <a:latin typeface="黑体"/>
              <a:cs typeface="黑体"/>
            </a:endParaRPr>
          </a:p>
          <a:p>
            <a:pPr marL="1099185" indent="-457200">
              <a:lnSpc>
                <a:spcPct val="100000"/>
              </a:lnSpc>
              <a:spcBef>
                <a:spcPts val="790"/>
              </a:spcBef>
              <a:buSzPct val="88636"/>
              <a:buFont typeface="Wingdings"/>
              <a:buChar char=""/>
              <a:tabLst>
                <a:tab pos="1099185" algn="l"/>
                <a:tab pos="6127115" algn="l"/>
              </a:tabLst>
            </a:pPr>
            <a:r>
              <a:rPr dirty="0" sz="2200" spc="-25">
                <a:solidFill>
                  <a:srgbClr val="006FC0"/>
                </a:solidFill>
                <a:latin typeface="黑体"/>
                <a:cs typeface="黑体"/>
              </a:rPr>
              <a:t>过</a:t>
            </a:r>
            <a:r>
              <a:rPr dirty="0" sz="2200" spc="-30">
                <a:solidFill>
                  <a:srgbClr val="006FC0"/>
                </a:solidFill>
                <a:latin typeface="黑体"/>
                <a:cs typeface="黑体"/>
              </a:rPr>
              <a:t>程返</a:t>
            </a:r>
            <a:r>
              <a:rPr dirty="0" sz="2200" spc="-25">
                <a:solidFill>
                  <a:srgbClr val="006FC0"/>
                </a:solidFill>
                <a:latin typeface="黑体"/>
                <a:cs typeface="黑体"/>
              </a:rPr>
              <a:t></a:t>
            </a:r>
            <a:r>
              <a:rPr dirty="0" sz="2200" spc="-30">
                <a:solidFill>
                  <a:srgbClr val="006FC0"/>
                </a:solidFill>
                <a:latin typeface="黑体"/>
                <a:cs typeface="黑体"/>
              </a:rPr>
              <a:t>是</a:t>
            </a:r>
            <a:r>
              <a:rPr dirty="0" sz="2200" spc="-25">
                <a:solidFill>
                  <a:srgbClr val="006FC0"/>
                </a:solidFill>
                <a:latin typeface="黑体"/>
                <a:cs typeface="黑体"/>
              </a:rPr>
              <a:t>例</a:t>
            </a:r>
            <a:r>
              <a:rPr dirty="0" sz="2200" spc="-30">
                <a:solidFill>
                  <a:srgbClr val="006FC0"/>
                </a:solidFill>
                <a:latin typeface="黑体"/>
                <a:cs typeface="黑体"/>
              </a:rPr>
              <a:t>外，</a:t>
            </a:r>
            <a:r>
              <a:rPr dirty="0" sz="2200" spc="-25">
                <a:solidFill>
                  <a:srgbClr val="006FC0"/>
                </a:solidFill>
                <a:latin typeface="黑体"/>
                <a:cs typeface="黑体"/>
              </a:rPr>
              <a:t>因</a:t>
            </a:r>
            <a:r>
              <a:rPr dirty="0" sz="2200" spc="-30">
                <a:solidFill>
                  <a:srgbClr val="006FC0"/>
                </a:solidFill>
                <a:latin typeface="黑体"/>
                <a:cs typeface="黑体"/>
              </a:rPr>
              <a:t>为</a:t>
            </a:r>
            <a:r>
              <a:rPr dirty="0" sz="2200" spc="-25">
                <a:solidFill>
                  <a:srgbClr val="006FC0"/>
                </a:solidFill>
                <a:latin typeface="黑体"/>
                <a:cs typeface="黑体"/>
              </a:rPr>
              <a:t>编</a:t>
            </a:r>
            <a:r>
              <a:rPr dirty="0" sz="2200" spc="-30">
                <a:solidFill>
                  <a:srgbClr val="006FC0"/>
                </a:solidFill>
                <a:latin typeface="黑体"/>
                <a:cs typeface="黑体"/>
              </a:rPr>
              <a:t>译时</a:t>
            </a:r>
            <a:r>
              <a:rPr dirty="0" sz="2200" spc="-25">
                <a:solidFill>
                  <a:srgbClr val="006FC0"/>
                </a:solidFill>
                <a:latin typeface="黑体"/>
                <a:cs typeface="黑体"/>
              </a:rPr>
              <a:t>不</a:t>
            </a:r>
            <a:r>
              <a:rPr dirty="0" sz="2200" spc="-30">
                <a:solidFill>
                  <a:srgbClr val="006FC0"/>
                </a:solidFill>
                <a:latin typeface="黑体"/>
                <a:cs typeface="黑体"/>
              </a:rPr>
              <a:t>知</a:t>
            </a:r>
            <a:r>
              <a:rPr dirty="0" sz="2200" spc="-25">
                <a:solidFill>
                  <a:srgbClr val="006FC0"/>
                </a:solidFill>
                <a:latin typeface="黑体"/>
                <a:cs typeface="黑体"/>
              </a:rPr>
              <a:t>道</a:t>
            </a:r>
            <a:r>
              <a:rPr dirty="0" sz="2200" spc="-50">
                <a:solidFill>
                  <a:srgbClr val="006FC0"/>
                </a:solidFill>
                <a:latin typeface="黑体"/>
                <a:cs typeface="黑体"/>
              </a:rPr>
              <a:t>返</a:t>
            </a:r>
            <a:r>
              <a:rPr dirty="0" sz="2200">
                <a:solidFill>
                  <a:srgbClr val="006FC0"/>
                </a:solidFill>
                <a:latin typeface="黑体"/>
                <a:cs typeface="黑体"/>
              </a:rPr>
              <a:t>	</a:t>
            </a:r>
            <a:r>
              <a:rPr dirty="0" sz="2200" spc="-25">
                <a:solidFill>
                  <a:srgbClr val="006FC0"/>
                </a:solidFill>
                <a:latin typeface="黑体"/>
                <a:cs typeface="黑体"/>
              </a:rPr>
              <a:t>的</a:t>
            </a:r>
            <a:r>
              <a:rPr dirty="0" sz="2200" spc="-30">
                <a:solidFill>
                  <a:srgbClr val="006FC0"/>
                </a:solidFill>
                <a:latin typeface="黑体"/>
                <a:cs typeface="黑体"/>
              </a:rPr>
              <a:t>地</a:t>
            </a:r>
            <a:r>
              <a:rPr dirty="0" sz="2200" spc="-25">
                <a:solidFill>
                  <a:srgbClr val="006FC0"/>
                </a:solidFill>
                <a:latin typeface="黑体"/>
                <a:cs typeface="黑体"/>
              </a:rPr>
              <a:t>址</a:t>
            </a:r>
            <a:r>
              <a:rPr dirty="0" sz="2200" spc="-50">
                <a:solidFill>
                  <a:srgbClr val="006FC0"/>
                </a:solidFill>
                <a:latin typeface="黑体"/>
                <a:cs typeface="黑体"/>
              </a:rPr>
              <a:t>。</a:t>
            </a:r>
            <a:endParaRPr sz="2200">
              <a:latin typeface="黑体"/>
              <a:cs typeface="黑体"/>
            </a:endParaRPr>
          </a:p>
          <a:p>
            <a:pPr marL="1099185" marR="5080" indent="-457200">
              <a:lnSpc>
                <a:spcPct val="110000"/>
              </a:lnSpc>
              <a:spcBef>
                <a:spcPts val="530"/>
              </a:spcBef>
              <a:buSzPct val="88636"/>
              <a:buFont typeface="Wingdings"/>
              <a:buChar char=""/>
              <a:tabLst>
                <a:tab pos="1099185" algn="l"/>
              </a:tabLst>
            </a:pPr>
            <a:r>
              <a:rPr dirty="0" sz="2200" spc="-30">
                <a:solidFill>
                  <a:srgbClr val="006FC0"/>
                </a:solidFill>
                <a:latin typeface="黑体"/>
                <a:cs typeface="黑体"/>
              </a:rPr>
              <a:t>最常见的是使用</a:t>
            </a:r>
            <a:r>
              <a:rPr dirty="0" sz="2200" spc="-25">
                <a:solidFill>
                  <a:srgbClr val="006FC0"/>
                </a:solidFill>
                <a:latin typeface="Tahoma"/>
                <a:cs typeface="Tahoma"/>
              </a:rPr>
              <a:t>PC</a:t>
            </a:r>
            <a:r>
              <a:rPr dirty="0" sz="2200" spc="-35">
                <a:solidFill>
                  <a:srgbClr val="006FC0"/>
                </a:solidFill>
                <a:latin typeface="黑体"/>
                <a:cs typeface="黑体"/>
              </a:rPr>
              <a:t>的位移量来指定目标地址，这种类型的</a:t>
            </a:r>
            <a:r>
              <a:rPr dirty="0" sz="2200" spc="-25">
                <a:solidFill>
                  <a:srgbClr val="006FC0"/>
                </a:solidFill>
                <a:latin typeface="黑体"/>
                <a:cs typeface="黑体"/>
              </a:rPr>
              <a:t>控制流指令为</a:t>
            </a:r>
            <a:r>
              <a:rPr dirty="0" sz="2200" spc="-20">
                <a:solidFill>
                  <a:srgbClr val="006FC0"/>
                </a:solidFill>
                <a:latin typeface="Tahoma"/>
                <a:cs typeface="Tahoma"/>
              </a:rPr>
              <a:t>PC</a:t>
            </a:r>
            <a:r>
              <a:rPr dirty="0" sz="2200" spc="-35">
                <a:solidFill>
                  <a:srgbClr val="006FC0"/>
                </a:solidFill>
                <a:latin typeface="黑体"/>
                <a:cs typeface="黑体"/>
              </a:rPr>
              <a:t>相对寻址指令</a:t>
            </a:r>
            <a:endParaRPr sz="2200">
              <a:latin typeface="黑体"/>
              <a:cs typeface="黑体"/>
            </a:endParaRPr>
          </a:p>
        </p:txBody>
      </p:sp>
      <p:sp>
        <p:nvSpPr>
          <p:cNvPr id="12" name="object 12" descr=""/>
          <p:cNvSpPr txBox="1"/>
          <p:nvPr/>
        </p:nvSpPr>
        <p:spPr>
          <a:xfrm>
            <a:off x="8191881" y="246710"/>
            <a:ext cx="2159000"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00CC"/>
                </a:solidFill>
                <a:latin typeface="黑体"/>
                <a:cs typeface="黑体"/>
              </a:rPr>
              <a:t>2.3.2</a:t>
            </a:r>
            <a:r>
              <a:rPr dirty="0" sz="2400" spc="-30">
                <a:solidFill>
                  <a:srgbClr val="0000CC"/>
                </a:solidFill>
                <a:latin typeface="黑体"/>
                <a:cs typeface="黑体"/>
              </a:rPr>
              <a:t> 控制指令</a:t>
            </a:r>
            <a:endParaRPr sz="2400">
              <a:latin typeface="黑体"/>
              <a:cs typeface="黑体"/>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2790570" y="211023"/>
            <a:ext cx="4916170" cy="514350"/>
          </a:xfrm>
          <a:prstGeom prst="rect"/>
        </p:spPr>
        <p:txBody>
          <a:bodyPr wrap="square" lIns="0" tIns="13335" rIns="0" bIns="0" rtlCol="0" vert="horz">
            <a:spAutoFit/>
          </a:bodyPr>
          <a:lstStyle/>
          <a:p>
            <a:pPr marL="12700">
              <a:lnSpc>
                <a:spcPct val="100000"/>
              </a:lnSpc>
              <a:spcBef>
                <a:spcPts val="105"/>
              </a:spcBef>
            </a:pPr>
            <a:r>
              <a:rPr dirty="0" u="none">
                <a:solidFill>
                  <a:srgbClr val="4F55AC"/>
                </a:solidFill>
              </a:rPr>
              <a:t>2.3</a:t>
            </a:r>
            <a:r>
              <a:rPr dirty="0" u="none" spc="-35">
                <a:solidFill>
                  <a:srgbClr val="4F55AC"/>
                </a:solidFill>
              </a:rPr>
              <a:t> </a:t>
            </a:r>
            <a:r>
              <a:rPr dirty="0" u="none" spc="-5">
                <a:solidFill>
                  <a:srgbClr val="4F55AC"/>
                </a:solidFill>
                <a:latin typeface="微软雅黑"/>
                <a:cs typeface="微软雅黑"/>
              </a:rPr>
              <a:t>指令系统的设计与优化</a:t>
            </a:r>
          </a:p>
        </p:txBody>
      </p:sp>
      <p:sp>
        <p:nvSpPr>
          <p:cNvPr id="9" name="object 9" descr=""/>
          <p:cNvSpPr txBox="1"/>
          <p:nvPr/>
        </p:nvSpPr>
        <p:spPr>
          <a:xfrm>
            <a:off x="1602994" y="802743"/>
            <a:ext cx="8746490" cy="5244465"/>
          </a:xfrm>
          <a:prstGeom prst="rect">
            <a:avLst/>
          </a:prstGeom>
        </p:spPr>
        <p:txBody>
          <a:bodyPr wrap="square" lIns="0" tIns="90170" rIns="0" bIns="0" rtlCol="0" vert="horz">
            <a:spAutoFit/>
          </a:bodyPr>
          <a:lstStyle/>
          <a:p>
            <a:pPr marL="469265" indent="-456565">
              <a:lnSpc>
                <a:spcPct val="100000"/>
              </a:lnSpc>
              <a:spcBef>
                <a:spcPts val="710"/>
              </a:spcBef>
              <a:buClr>
                <a:srgbClr val="40458B"/>
              </a:buClr>
              <a:buSzPct val="117857"/>
              <a:buAutoNum type="arabicPeriod" startAt="5"/>
              <a:tabLst>
                <a:tab pos="469265" algn="l"/>
              </a:tabLst>
            </a:pPr>
            <a:r>
              <a:rPr dirty="0" sz="2800" spc="-30">
                <a:solidFill>
                  <a:srgbClr val="172152"/>
                </a:solidFill>
                <a:latin typeface="Tahoma"/>
                <a:cs typeface="Tahoma"/>
              </a:rPr>
              <a:t>PC</a:t>
            </a:r>
            <a:r>
              <a:rPr dirty="0" sz="2800" spc="-40">
                <a:solidFill>
                  <a:srgbClr val="172152"/>
                </a:solidFill>
                <a:latin typeface="黑体"/>
                <a:cs typeface="黑体"/>
              </a:rPr>
              <a:t>转移目标地址的表示</a:t>
            </a:r>
            <a:endParaRPr sz="2800">
              <a:latin typeface="黑体"/>
              <a:cs typeface="黑体"/>
            </a:endParaRPr>
          </a:p>
          <a:p>
            <a:pPr lvl="1" marL="1099185" indent="-457200">
              <a:lnSpc>
                <a:spcPct val="100000"/>
              </a:lnSpc>
              <a:spcBef>
                <a:spcPts val="780"/>
              </a:spcBef>
              <a:buSzPct val="88636"/>
              <a:buFont typeface="Wingdings"/>
              <a:buChar char=""/>
              <a:tabLst>
                <a:tab pos="1099185" algn="l"/>
              </a:tabLst>
            </a:pPr>
            <a:r>
              <a:rPr dirty="0" sz="2200" spc="-55">
                <a:solidFill>
                  <a:srgbClr val="006FC0"/>
                </a:solidFill>
                <a:latin typeface="黑体"/>
                <a:cs typeface="黑体"/>
              </a:rPr>
              <a:t>最常用的方法： 在指令中提供一个偏移量，由该偏移量和程序</a:t>
            </a:r>
            <a:endParaRPr sz="2200">
              <a:latin typeface="黑体"/>
              <a:cs typeface="黑体"/>
            </a:endParaRPr>
          </a:p>
          <a:p>
            <a:pPr marL="1099185">
              <a:lnSpc>
                <a:spcPct val="100000"/>
              </a:lnSpc>
              <a:spcBef>
                <a:spcPts val="265"/>
              </a:spcBef>
            </a:pPr>
            <a:r>
              <a:rPr dirty="0" sz="2200" spc="-20">
                <a:solidFill>
                  <a:srgbClr val="006FC0"/>
                </a:solidFill>
                <a:latin typeface="黑体"/>
                <a:cs typeface="黑体"/>
              </a:rPr>
              <a:t>计数器（</a:t>
            </a:r>
            <a:r>
              <a:rPr dirty="0" sz="2200" spc="-20">
                <a:solidFill>
                  <a:srgbClr val="006FC0"/>
                </a:solidFill>
                <a:latin typeface="宋体"/>
                <a:cs typeface="宋体"/>
              </a:rPr>
              <a:t>PC</a:t>
            </a:r>
            <a:r>
              <a:rPr dirty="0" sz="2200" spc="-20">
                <a:solidFill>
                  <a:srgbClr val="006FC0"/>
                </a:solidFill>
                <a:latin typeface="黑体"/>
                <a:cs typeface="黑体"/>
              </a:rPr>
              <a:t>）</a:t>
            </a:r>
            <a:r>
              <a:rPr dirty="0" sz="2200" spc="-35">
                <a:solidFill>
                  <a:srgbClr val="006FC0"/>
                </a:solidFill>
                <a:latin typeface="黑体"/>
                <a:cs typeface="黑体"/>
              </a:rPr>
              <a:t>的值相加而得出目标地址。</a:t>
            </a:r>
            <a:endParaRPr sz="2200">
              <a:latin typeface="黑体"/>
              <a:cs typeface="黑体"/>
            </a:endParaRPr>
          </a:p>
          <a:p>
            <a:pPr marL="1591310">
              <a:lnSpc>
                <a:spcPct val="100000"/>
              </a:lnSpc>
              <a:spcBef>
                <a:spcPts val="740"/>
              </a:spcBef>
            </a:pPr>
            <a:r>
              <a:rPr dirty="0" sz="2000" spc="-10" b="1">
                <a:solidFill>
                  <a:srgbClr val="FF0000"/>
                </a:solidFill>
                <a:latin typeface="黑体"/>
                <a:cs typeface="黑体"/>
              </a:rPr>
              <a:t>（</a:t>
            </a:r>
            <a:r>
              <a:rPr dirty="0" sz="2000" spc="-10" b="1">
                <a:solidFill>
                  <a:srgbClr val="FF0000"/>
                </a:solidFill>
                <a:latin typeface="宋体"/>
                <a:cs typeface="宋体"/>
              </a:rPr>
              <a:t>PC</a:t>
            </a:r>
            <a:r>
              <a:rPr dirty="0" sz="2000" spc="-15" b="1">
                <a:solidFill>
                  <a:srgbClr val="FF0000"/>
                </a:solidFill>
                <a:latin typeface="黑体"/>
                <a:cs typeface="黑体"/>
              </a:rPr>
              <a:t>相对寻址</a:t>
            </a:r>
            <a:r>
              <a:rPr dirty="0" sz="2000" spc="-50" b="1">
                <a:solidFill>
                  <a:srgbClr val="FF0000"/>
                </a:solidFill>
                <a:latin typeface="黑体"/>
                <a:cs typeface="黑体"/>
              </a:rPr>
              <a:t>）</a:t>
            </a:r>
            <a:endParaRPr sz="2000">
              <a:latin typeface="黑体"/>
              <a:cs typeface="黑体"/>
            </a:endParaRPr>
          </a:p>
          <a:p>
            <a:pPr lvl="1" marL="1099185" indent="-457200">
              <a:lnSpc>
                <a:spcPct val="100000"/>
              </a:lnSpc>
              <a:spcBef>
                <a:spcPts val="770"/>
              </a:spcBef>
              <a:buClr>
                <a:srgbClr val="006FC0"/>
              </a:buClr>
              <a:buSzPct val="88636"/>
              <a:buFont typeface="Wingdings"/>
              <a:buChar char=""/>
              <a:tabLst>
                <a:tab pos="1099185" algn="l"/>
              </a:tabLst>
            </a:pPr>
            <a:r>
              <a:rPr dirty="0" sz="2200" spc="-35">
                <a:solidFill>
                  <a:srgbClr val="D50092"/>
                </a:solidFill>
                <a:latin typeface="黑体"/>
                <a:cs typeface="黑体"/>
              </a:rPr>
              <a:t>优点</a:t>
            </a:r>
            <a:endParaRPr sz="2200">
              <a:latin typeface="黑体"/>
              <a:cs typeface="黑体"/>
            </a:endParaRPr>
          </a:p>
          <a:p>
            <a:pPr algn="just" lvl="2" marL="1306830" indent="-358775">
              <a:lnSpc>
                <a:spcPct val="100000"/>
              </a:lnSpc>
              <a:spcBef>
                <a:spcPts val="745"/>
              </a:spcBef>
              <a:buClr>
                <a:srgbClr val="4668F5"/>
              </a:buClr>
              <a:buSzPct val="72500"/>
              <a:buFont typeface="Wingdings"/>
              <a:buChar char=""/>
              <a:tabLst>
                <a:tab pos="1306830" algn="l"/>
              </a:tabLst>
            </a:pPr>
            <a:r>
              <a:rPr dirty="0" sz="2000" spc="-25" b="1">
                <a:solidFill>
                  <a:srgbClr val="6F2F9F"/>
                </a:solidFill>
                <a:latin typeface="黑体"/>
                <a:cs typeface="黑体"/>
              </a:rPr>
              <a:t>有效地减少表示该目标地址所需要的位数，缩短指令的长度</a:t>
            </a:r>
            <a:endParaRPr sz="2000">
              <a:latin typeface="黑体"/>
              <a:cs typeface="黑体"/>
            </a:endParaRPr>
          </a:p>
          <a:p>
            <a:pPr algn="just" lvl="2" marL="1306830" marR="19685" indent="-358775">
              <a:lnSpc>
                <a:spcPct val="110000"/>
              </a:lnSpc>
              <a:spcBef>
                <a:spcPts val="480"/>
              </a:spcBef>
              <a:buClr>
                <a:srgbClr val="4668F5"/>
              </a:buClr>
              <a:buSzPct val="72500"/>
              <a:buFont typeface="Wingdings"/>
              <a:buChar char=""/>
              <a:tabLst>
                <a:tab pos="1308100" algn="l"/>
              </a:tabLst>
            </a:pPr>
            <a:r>
              <a:rPr dirty="0" sz="2000" spc="-20" b="1">
                <a:solidFill>
                  <a:srgbClr val="6F2F9F"/>
                </a:solidFill>
                <a:latin typeface="黑体"/>
                <a:cs typeface="黑体"/>
              </a:rPr>
              <a:t>使程序的运行与载入位置无关</a:t>
            </a:r>
            <a:r>
              <a:rPr dirty="0" sz="2000" b="1">
                <a:solidFill>
                  <a:srgbClr val="6F2F9F"/>
                </a:solidFill>
                <a:latin typeface="黑体"/>
                <a:cs typeface="黑体"/>
              </a:rPr>
              <a:t>（</a:t>
            </a:r>
            <a:r>
              <a:rPr dirty="0" sz="2000" spc="-20" b="1">
                <a:solidFill>
                  <a:srgbClr val="FF0000"/>
                </a:solidFill>
                <a:latin typeface="黑体"/>
                <a:cs typeface="黑体"/>
              </a:rPr>
              <a:t>称为位置无关</a:t>
            </a:r>
            <a:r>
              <a:rPr dirty="0" sz="2000" spc="-10" b="1">
                <a:solidFill>
                  <a:srgbClr val="6F2F9F"/>
                </a:solidFill>
                <a:latin typeface="黑体"/>
                <a:cs typeface="黑体"/>
              </a:rPr>
              <a:t>）（</a:t>
            </a:r>
            <a:r>
              <a:rPr dirty="0" sz="2000" spc="-25" b="1">
                <a:solidFill>
                  <a:srgbClr val="6F2F9F"/>
                </a:solidFill>
                <a:latin typeface="黑体"/>
                <a:cs typeface="黑体"/>
              </a:rPr>
              <a:t>代码可被装载到</a:t>
            </a:r>
            <a:r>
              <a:rPr dirty="0" sz="2000" spc="-25" b="1">
                <a:solidFill>
                  <a:srgbClr val="6F2F9F"/>
                </a:solidFill>
                <a:latin typeface="黑体"/>
                <a:cs typeface="黑体"/>
              </a:rPr>
              <a:t>	</a:t>
            </a:r>
            <a:r>
              <a:rPr dirty="0" sz="2000" spc="-20" b="1">
                <a:solidFill>
                  <a:srgbClr val="6F2F9F"/>
                </a:solidFill>
                <a:latin typeface="黑体"/>
                <a:cs typeface="黑体"/>
              </a:rPr>
              <a:t>主存的任意位置执行</a:t>
            </a:r>
            <a:r>
              <a:rPr dirty="0" sz="2000" spc="-15" b="1">
                <a:solidFill>
                  <a:srgbClr val="6F2F9F"/>
                </a:solidFill>
                <a:latin typeface="黑体"/>
                <a:cs typeface="黑体"/>
              </a:rPr>
              <a:t>）</a:t>
            </a:r>
            <a:r>
              <a:rPr dirty="0" sz="2000" spc="-25" b="1">
                <a:solidFill>
                  <a:srgbClr val="6F2F9F"/>
                </a:solidFill>
                <a:latin typeface="黑体"/>
                <a:cs typeface="黑体"/>
              </a:rPr>
              <a:t>，可以减少程序在链接时的工作量，对在执	行时才链接的程序有好处。</a:t>
            </a:r>
            <a:endParaRPr sz="2000">
              <a:latin typeface="黑体"/>
              <a:cs typeface="黑体"/>
            </a:endParaRPr>
          </a:p>
          <a:p>
            <a:pPr lvl="1" marL="1099185" marR="67945" indent="-457200">
              <a:lnSpc>
                <a:spcPct val="110000"/>
              </a:lnSpc>
              <a:spcBef>
                <a:spcPts val="509"/>
              </a:spcBef>
              <a:buClr>
                <a:srgbClr val="006FC0"/>
              </a:buClr>
              <a:buSzPct val="88636"/>
              <a:buFont typeface="Wingdings"/>
              <a:buChar char=""/>
              <a:tabLst>
                <a:tab pos="1099185" algn="l"/>
              </a:tabLst>
            </a:pPr>
            <a:r>
              <a:rPr dirty="0" sz="2200" spc="-20">
                <a:solidFill>
                  <a:srgbClr val="D50092"/>
                </a:solidFill>
                <a:latin typeface="黑体"/>
                <a:cs typeface="黑体"/>
              </a:rPr>
              <a:t>关键：</a:t>
            </a:r>
            <a:r>
              <a:rPr dirty="0" sz="2200" spc="-35">
                <a:solidFill>
                  <a:srgbClr val="006FC0"/>
                </a:solidFill>
                <a:latin typeface="黑体"/>
                <a:cs typeface="黑体"/>
              </a:rPr>
              <a:t>确定偏移量字段的长度</a:t>
            </a:r>
            <a:r>
              <a:rPr dirty="0" sz="2200" spc="-25">
                <a:solidFill>
                  <a:srgbClr val="006FC0"/>
                </a:solidFill>
                <a:latin typeface="Tahoma"/>
                <a:cs typeface="Tahoma"/>
              </a:rPr>
              <a:t>---</a:t>
            </a:r>
            <a:r>
              <a:rPr dirty="0" sz="2200" spc="-35">
                <a:solidFill>
                  <a:srgbClr val="006FC0"/>
                </a:solidFill>
                <a:latin typeface="黑体"/>
                <a:cs typeface="黑体"/>
              </a:rPr>
              <a:t>跳转的目标地址离跳转指令有多远</a:t>
            </a:r>
            <a:endParaRPr sz="2200">
              <a:latin typeface="黑体"/>
              <a:cs typeface="黑体"/>
            </a:endParaRPr>
          </a:p>
          <a:p>
            <a:pPr lvl="2" marL="1307465" indent="-359410">
              <a:lnSpc>
                <a:spcPct val="100000"/>
              </a:lnSpc>
              <a:spcBef>
                <a:spcPts val="740"/>
              </a:spcBef>
              <a:buClr>
                <a:srgbClr val="4668F5"/>
              </a:buClr>
              <a:buSzPct val="72500"/>
              <a:buFont typeface="Wingdings"/>
              <a:buChar char=""/>
              <a:tabLst>
                <a:tab pos="1307465" algn="l"/>
              </a:tabLst>
            </a:pPr>
            <a:r>
              <a:rPr dirty="0" sz="2000" spc="-15" b="1">
                <a:solidFill>
                  <a:srgbClr val="6F2F9F"/>
                </a:solidFill>
                <a:latin typeface="黑体"/>
                <a:cs typeface="黑体"/>
              </a:rPr>
              <a:t>模拟结果表明：采用</a:t>
            </a:r>
            <a:r>
              <a:rPr dirty="0" sz="2000" spc="-10" b="1">
                <a:solidFill>
                  <a:srgbClr val="9933FF"/>
                </a:solidFill>
                <a:latin typeface="宋体"/>
                <a:cs typeface="宋体"/>
              </a:rPr>
              <a:t>4</a:t>
            </a:r>
            <a:r>
              <a:rPr dirty="0" sz="2000" spc="-10" b="1">
                <a:solidFill>
                  <a:srgbClr val="9933FF"/>
                </a:solidFill>
                <a:latin typeface="黑体"/>
                <a:cs typeface="黑体"/>
              </a:rPr>
              <a:t>～</a:t>
            </a:r>
            <a:r>
              <a:rPr dirty="0" sz="2000" spc="-10" b="1">
                <a:solidFill>
                  <a:srgbClr val="9933FF"/>
                </a:solidFill>
                <a:latin typeface="宋体"/>
                <a:cs typeface="宋体"/>
              </a:rPr>
              <a:t>8</a:t>
            </a:r>
            <a:r>
              <a:rPr dirty="0" sz="2000" spc="-10" b="1">
                <a:solidFill>
                  <a:srgbClr val="9933FF"/>
                </a:solidFill>
                <a:latin typeface="黑体"/>
                <a:cs typeface="黑体"/>
              </a:rPr>
              <a:t>位</a:t>
            </a:r>
            <a:r>
              <a:rPr dirty="0" sz="2000" spc="-20" b="1">
                <a:solidFill>
                  <a:srgbClr val="6F2F9F"/>
                </a:solidFill>
                <a:latin typeface="黑体"/>
                <a:cs typeface="黑体"/>
              </a:rPr>
              <a:t>的偏移量字段</a:t>
            </a:r>
            <a:r>
              <a:rPr dirty="0" sz="2000" spc="-10" b="1">
                <a:solidFill>
                  <a:srgbClr val="6F2F9F"/>
                </a:solidFill>
                <a:latin typeface="黑体"/>
                <a:cs typeface="黑体"/>
              </a:rPr>
              <a:t>（</a:t>
            </a:r>
            <a:r>
              <a:rPr dirty="0" sz="2000" spc="-20" b="1">
                <a:solidFill>
                  <a:srgbClr val="6F2F9F"/>
                </a:solidFill>
                <a:latin typeface="黑体"/>
                <a:cs typeface="黑体"/>
              </a:rPr>
              <a:t>以指令字为单位</a:t>
            </a:r>
            <a:r>
              <a:rPr dirty="0" sz="2000" spc="-10" b="1">
                <a:solidFill>
                  <a:srgbClr val="6F2F9F"/>
                </a:solidFill>
                <a:latin typeface="黑体"/>
                <a:cs typeface="黑体"/>
              </a:rPr>
              <a:t>）</a:t>
            </a:r>
            <a:r>
              <a:rPr dirty="0" sz="2000" spc="-30" b="1">
                <a:solidFill>
                  <a:srgbClr val="6F2F9F"/>
                </a:solidFill>
                <a:latin typeface="黑体"/>
                <a:cs typeface="黑体"/>
              </a:rPr>
              <a:t>就能</a:t>
            </a:r>
            <a:endParaRPr sz="2000">
              <a:latin typeface="黑体"/>
              <a:cs typeface="黑体"/>
            </a:endParaRPr>
          </a:p>
          <a:p>
            <a:pPr marL="1308100">
              <a:lnSpc>
                <a:spcPct val="100000"/>
              </a:lnSpc>
              <a:spcBef>
                <a:spcPts val="240"/>
              </a:spcBef>
            </a:pPr>
            <a:r>
              <a:rPr dirty="0" sz="2000" spc="-25" b="1">
                <a:solidFill>
                  <a:srgbClr val="6F2F9F"/>
                </a:solidFill>
                <a:latin typeface="黑体"/>
                <a:cs typeface="黑体"/>
              </a:rPr>
              <a:t>表示大多数控制指令的转移目标地址了。</a:t>
            </a:r>
            <a:endParaRPr sz="2000">
              <a:latin typeface="黑体"/>
              <a:cs typeface="黑体"/>
            </a:endParaRPr>
          </a:p>
        </p:txBody>
      </p:sp>
      <p:sp>
        <p:nvSpPr>
          <p:cNvPr id="10" name="object 10" descr=""/>
          <p:cNvSpPr txBox="1"/>
          <p:nvPr/>
        </p:nvSpPr>
        <p:spPr>
          <a:xfrm>
            <a:off x="8191881" y="246710"/>
            <a:ext cx="2159000"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00CC"/>
                </a:solidFill>
                <a:latin typeface="黑体"/>
                <a:cs typeface="黑体"/>
              </a:rPr>
              <a:t>2.3.2</a:t>
            </a:r>
            <a:r>
              <a:rPr dirty="0" sz="2400" spc="-30">
                <a:solidFill>
                  <a:srgbClr val="0000CC"/>
                </a:solidFill>
                <a:latin typeface="黑体"/>
                <a:cs typeface="黑体"/>
              </a:rPr>
              <a:t> 控制指令</a:t>
            </a:r>
            <a:endParaRPr sz="2400">
              <a:latin typeface="黑体"/>
              <a:cs typeface="黑体"/>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2790570" y="211023"/>
            <a:ext cx="4916170" cy="514350"/>
          </a:xfrm>
          <a:prstGeom prst="rect"/>
        </p:spPr>
        <p:txBody>
          <a:bodyPr wrap="square" lIns="0" tIns="13335" rIns="0" bIns="0" rtlCol="0" vert="horz">
            <a:spAutoFit/>
          </a:bodyPr>
          <a:lstStyle/>
          <a:p>
            <a:pPr marL="12700">
              <a:lnSpc>
                <a:spcPct val="100000"/>
              </a:lnSpc>
              <a:spcBef>
                <a:spcPts val="105"/>
              </a:spcBef>
            </a:pPr>
            <a:r>
              <a:rPr dirty="0" u="none">
                <a:solidFill>
                  <a:srgbClr val="4F55AC"/>
                </a:solidFill>
              </a:rPr>
              <a:t>2.3</a:t>
            </a:r>
            <a:r>
              <a:rPr dirty="0" u="none" spc="-35">
                <a:solidFill>
                  <a:srgbClr val="4F55AC"/>
                </a:solidFill>
              </a:rPr>
              <a:t> </a:t>
            </a:r>
            <a:r>
              <a:rPr dirty="0" u="none" spc="-5">
                <a:solidFill>
                  <a:srgbClr val="4F55AC"/>
                </a:solidFill>
                <a:latin typeface="微软雅黑"/>
                <a:cs typeface="微软雅黑"/>
              </a:rPr>
              <a:t>指令系统的设计与优化</a:t>
            </a:r>
          </a:p>
        </p:txBody>
      </p:sp>
      <p:pic>
        <p:nvPicPr>
          <p:cNvPr id="9" name="object 9" descr=""/>
          <p:cNvPicPr/>
          <p:nvPr/>
        </p:nvPicPr>
        <p:blipFill>
          <a:blip r:embed="rId2" cstate="print"/>
          <a:stretch>
            <a:fillRect/>
          </a:stretch>
        </p:blipFill>
        <p:spPr>
          <a:xfrm>
            <a:off x="4243676" y="1173352"/>
            <a:ext cx="276225" cy="292100"/>
          </a:xfrm>
          <a:prstGeom prst="rect">
            <a:avLst/>
          </a:prstGeom>
        </p:spPr>
      </p:pic>
      <p:pic>
        <p:nvPicPr>
          <p:cNvPr id="10" name="object 10" descr=""/>
          <p:cNvPicPr/>
          <p:nvPr/>
        </p:nvPicPr>
        <p:blipFill>
          <a:blip r:embed="rId3" cstate="print"/>
          <a:stretch>
            <a:fillRect/>
          </a:stretch>
        </p:blipFill>
        <p:spPr>
          <a:xfrm>
            <a:off x="3289780" y="2200020"/>
            <a:ext cx="219075" cy="231775"/>
          </a:xfrm>
          <a:prstGeom prst="rect">
            <a:avLst/>
          </a:prstGeom>
        </p:spPr>
      </p:pic>
      <p:pic>
        <p:nvPicPr>
          <p:cNvPr id="11" name="object 11" descr=""/>
          <p:cNvPicPr/>
          <p:nvPr/>
        </p:nvPicPr>
        <p:blipFill>
          <a:blip r:embed="rId4" cstate="print"/>
          <a:stretch>
            <a:fillRect/>
          </a:stretch>
        </p:blipFill>
        <p:spPr>
          <a:xfrm>
            <a:off x="7633501" y="2685414"/>
            <a:ext cx="200025" cy="209550"/>
          </a:xfrm>
          <a:prstGeom prst="rect">
            <a:avLst/>
          </a:prstGeom>
        </p:spPr>
      </p:pic>
      <p:sp>
        <p:nvSpPr>
          <p:cNvPr id="12" name="object 12" descr=""/>
          <p:cNvSpPr txBox="1"/>
          <p:nvPr/>
        </p:nvSpPr>
        <p:spPr>
          <a:xfrm>
            <a:off x="1602994" y="841812"/>
            <a:ext cx="8828405" cy="4767580"/>
          </a:xfrm>
          <a:prstGeom prst="rect">
            <a:avLst/>
          </a:prstGeom>
        </p:spPr>
        <p:txBody>
          <a:bodyPr wrap="square" lIns="0" tIns="182245" rIns="0" bIns="0" rtlCol="0" vert="horz">
            <a:spAutoFit/>
          </a:bodyPr>
          <a:lstStyle/>
          <a:p>
            <a:pPr marL="469265" indent="-456565">
              <a:lnSpc>
                <a:spcPct val="100000"/>
              </a:lnSpc>
              <a:spcBef>
                <a:spcPts val="1435"/>
              </a:spcBef>
              <a:buClr>
                <a:srgbClr val="40458B"/>
              </a:buClr>
              <a:buSzPct val="117857"/>
              <a:buFont typeface="Tahoma"/>
              <a:buAutoNum type="arabicPeriod" startAt="6"/>
              <a:tabLst>
                <a:tab pos="469265" algn="l"/>
              </a:tabLst>
            </a:pPr>
            <a:r>
              <a:rPr dirty="0" sz="2800" spc="-270">
                <a:solidFill>
                  <a:srgbClr val="172152"/>
                </a:solidFill>
                <a:latin typeface="黑体"/>
                <a:cs typeface="黑体"/>
              </a:rPr>
              <a:t>过程调用和返</a:t>
            </a:r>
            <a:r>
              <a:rPr dirty="0" sz="2800" spc="-1480">
                <a:solidFill>
                  <a:srgbClr val="172152"/>
                </a:solidFill>
                <a:latin typeface="黑体"/>
                <a:cs typeface="黑体"/>
              </a:rPr>
              <a:t></a:t>
            </a:r>
            <a:endParaRPr sz="2800">
              <a:latin typeface="黑体"/>
              <a:cs typeface="黑体"/>
            </a:endParaRPr>
          </a:p>
          <a:p>
            <a:pPr algn="just" lvl="1" marL="1099185" marR="172085" indent="-457200">
              <a:lnSpc>
                <a:spcPct val="130100"/>
              </a:lnSpc>
              <a:spcBef>
                <a:spcPts val="545"/>
              </a:spcBef>
              <a:buSzPct val="88636"/>
              <a:buFont typeface="Wingdings"/>
              <a:buChar char=""/>
              <a:tabLst>
                <a:tab pos="1099185" algn="l"/>
              </a:tabLst>
            </a:pPr>
            <a:r>
              <a:rPr dirty="0" sz="2200" spc="-30">
                <a:solidFill>
                  <a:srgbClr val="006FC0"/>
                </a:solidFill>
                <a:latin typeface="黑体"/>
                <a:cs typeface="黑体"/>
              </a:rPr>
              <a:t>除了要改变控制流之外，可能还要</a:t>
            </a:r>
            <a:r>
              <a:rPr dirty="0" sz="2200" spc="-30">
                <a:solidFill>
                  <a:srgbClr val="D50092"/>
                </a:solidFill>
                <a:latin typeface="黑体"/>
                <a:cs typeface="黑体"/>
              </a:rPr>
              <a:t>保存机器状态</a:t>
            </a:r>
            <a:r>
              <a:rPr dirty="0" sz="2200" spc="-35">
                <a:solidFill>
                  <a:srgbClr val="006FC0"/>
                </a:solidFill>
                <a:latin typeface="黑体"/>
                <a:cs typeface="黑体"/>
              </a:rPr>
              <a:t>。至少也得保</a:t>
            </a:r>
            <a:r>
              <a:rPr dirty="0" sz="2200">
                <a:solidFill>
                  <a:srgbClr val="006FC0"/>
                </a:solidFill>
                <a:latin typeface="黑体"/>
                <a:cs typeface="黑体"/>
              </a:rPr>
              <a:t>存返  地址</a:t>
            </a:r>
            <a:r>
              <a:rPr dirty="0" sz="2200" spc="-25">
                <a:solidFill>
                  <a:srgbClr val="006FC0"/>
                </a:solidFill>
                <a:latin typeface="黑体"/>
                <a:cs typeface="黑体"/>
              </a:rPr>
              <a:t>（</a:t>
            </a:r>
            <a:r>
              <a:rPr dirty="0" sz="2200" spc="-30">
                <a:solidFill>
                  <a:srgbClr val="006FC0"/>
                </a:solidFill>
                <a:latin typeface="黑体"/>
                <a:cs typeface="黑体"/>
              </a:rPr>
              <a:t>放在专用的链接寄存器或堆栈中</a:t>
            </a:r>
            <a:r>
              <a:rPr dirty="0" sz="2200" spc="-50">
                <a:solidFill>
                  <a:srgbClr val="006FC0"/>
                </a:solidFill>
                <a:latin typeface="黑体"/>
                <a:cs typeface="黑体"/>
              </a:rPr>
              <a:t>）</a:t>
            </a:r>
            <a:endParaRPr sz="2200">
              <a:latin typeface="黑体"/>
              <a:cs typeface="黑体"/>
            </a:endParaRPr>
          </a:p>
          <a:p>
            <a:pPr algn="just" lvl="2" marL="1912620" marR="5080" indent="-361315">
              <a:lnSpc>
                <a:spcPct val="130100"/>
              </a:lnSpc>
              <a:spcBef>
                <a:spcPts val="509"/>
              </a:spcBef>
              <a:buClr>
                <a:srgbClr val="4668F5"/>
              </a:buClr>
              <a:buSzPct val="72500"/>
              <a:buFont typeface="Wingdings"/>
              <a:buChar char=""/>
              <a:tabLst>
                <a:tab pos="1912620" algn="l"/>
              </a:tabLst>
            </a:pPr>
            <a:r>
              <a:rPr dirty="0" sz="2000" spc="-25" b="1">
                <a:solidFill>
                  <a:srgbClr val="6F2F9F"/>
                </a:solidFill>
                <a:latin typeface="黑体"/>
                <a:cs typeface="黑体"/>
              </a:rPr>
              <a:t>编译时不知道目标地址，为了实现返 和间接跳转，需要使用</a:t>
            </a:r>
            <a:r>
              <a:rPr dirty="0" sz="2000" spc="-20" b="1">
                <a:solidFill>
                  <a:srgbClr val="6F2F9F"/>
                </a:solidFill>
                <a:latin typeface="黑体"/>
                <a:cs typeface="黑体"/>
              </a:rPr>
              <a:t>寄存器间接跳转</a:t>
            </a:r>
            <a:r>
              <a:rPr dirty="0" sz="2000" spc="-10" b="1">
                <a:solidFill>
                  <a:srgbClr val="6F2F9F"/>
                </a:solidFill>
                <a:latin typeface="黑体"/>
                <a:cs typeface="黑体"/>
              </a:rPr>
              <a:t>（</a:t>
            </a:r>
            <a:r>
              <a:rPr dirty="0" sz="2000" spc="-25" b="1">
                <a:solidFill>
                  <a:srgbClr val="6F2F9F"/>
                </a:solidFill>
                <a:latin typeface="黑体"/>
                <a:cs typeface="黑体"/>
              </a:rPr>
              <a:t>动态指定目标地址，才能在运行时改变目标</a:t>
            </a:r>
            <a:r>
              <a:rPr dirty="0" sz="2000" spc="-10" b="1">
                <a:solidFill>
                  <a:srgbClr val="6F2F9F"/>
                </a:solidFill>
                <a:latin typeface="黑体"/>
                <a:cs typeface="黑体"/>
              </a:rPr>
              <a:t>地址</a:t>
            </a:r>
            <a:r>
              <a:rPr dirty="0" sz="2000" spc="-50" b="1">
                <a:solidFill>
                  <a:srgbClr val="6F2F9F"/>
                </a:solidFill>
                <a:latin typeface="黑体"/>
                <a:cs typeface="黑体"/>
              </a:rPr>
              <a:t>）</a:t>
            </a:r>
            <a:endParaRPr sz="2000">
              <a:latin typeface="黑体"/>
              <a:cs typeface="黑体"/>
            </a:endParaRPr>
          </a:p>
          <a:p>
            <a:pPr algn="just" lvl="1" marL="1099185" marR="174625" indent="-457200">
              <a:lnSpc>
                <a:spcPct val="130000"/>
              </a:lnSpc>
              <a:spcBef>
                <a:spcPts val="495"/>
              </a:spcBef>
              <a:buSzPct val="88636"/>
              <a:buFont typeface="Wingdings"/>
              <a:buChar char=""/>
              <a:tabLst>
                <a:tab pos="1099185" algn="l"/>
              </a:tabLst>
            </a:pPr>
            <a:r>
              <a:rPr dirty="0" sz="2200" spc="-30">
                <a:solidFill>
                  <a:srgbClr val="006FC0"/>
                </a:solidFill>
                <a:latin typeface="黑体"/>
                <a:cs typeface="黑体"/>
              </a:rPr>
              <a:t>过去有些指令系统结构提供了</a:t>
            </a:r>
            <a:r>
              <a:rPr dirty="0" sz="2200" spc="-30">
                <a:solidFill>
                  <a:srgbClr val="D50092"/>
                </a:solidFill>
                <a:latin typeface="黑体"/>
                <a:cs typeface="黑体"/>
              </a:rPr>
              <a:t>专门的保存机制</a:t>
            </a:r>
            <a:r>
              <a:rPr dirty="0" sz="2200" spc="-35">
                <a:solidFill>
                  <a:srgbClr val="006FC0"/>
                </a:solidFill>
                <a:latin typeface="黑体"/>
                <a:cs typeface="黑体"/>
              </a:rPr>
              <a:t>来保存许多寄存器的内容。</a:t>
            </a:r>
            <a:endParaRPr sz="2200">
              <a:latin typeface="黑体"/>
              <a:cs typeface="黑体"/>
            </a:endParaRPr>
          </a:p>
          <a:p>
            <a:pPr algn="just" lvl="1" marL="1099185" marR="33020" indent="-457200">
              <a:lnSpc>
                <a:spcPct val="130000"/>
              </a:lnSpc>
              <a:spcBef>
                <a:spcPts val="530"/>
              </a:spcBef>
              <a:buSzPct val="88636"/>
              <a:buFont typeface="Wingdings"/>
              <a:buChar char=""/>
              <a:tabLst>
                <a:tab pos="1099185" algn="l"/>
              </a:tabLst>
            </a:pPr>
            <a:r>
              <a:rPr dirty="0" sz="2200" spc="-30">
                <a:solidFill>
                  <a:srgbClr val="006FC0"/>
                </a:solidFill>
                <a:latin typeface="黑体"/>
                <a:cs typeface="黑体"/>
              </a:rPr>
              <a:t>现在较新的指令系统结构则要求由编译器生成</a:t>
            </a:r>
            <a:r>
              <a:rPr dirty="0" sz="2200" spc="-20">
                <a:solidFill>
                  <a:srgbClr val="D50092"/>
                </a:solidFill>
                <a:latin typeface="黑体"/>
                <a:cs typeface="黑体"/>
              </a:rPr>
              <a:t>load</a:t>
            </a:r>
            <a:r>
              <a:rPr dirty="0" sz="2200" spc="-20">
                <a:solidFill>
                  <a:srgbClr val="006FC0"/>
                </a:solidFill>
                <a:latin typeface="黑体"/>
                <a:cs typeface="黑体"/>
              </a:rPr>
              <a:t>和</a:t>
            </a:r>
            <a:r>
              <a:rPr dirty="0" sz="2200" spc="-20">
                <a:solidFill>
                  <a:srgbClr val="D50092"/>
                </a:solidFill>
                <a:latin typeface="黑体"/>
                <a:cs typeface="黑体"/>
              </a:rPr>
              <a:t>store</a:t>
            </a:r>
            <a:r>
              <a:rPr dirty="0" sz="2200" spc="-35">
                <a:solidFill>
                  <a:srgbClr val="006FC0"/>
                </a:solidFill>
                <a:latin typeface="黑体"/>
                <a:cs typeface="黑体"/>
              </a:rPr>
              <a:t>指令来保存或恢复寄存器的内容。</a:t>
            </a:r>
            <a:endParaRPr sz="2200">
              <a:latin typeface="黑体"/>
              <a:cs typeface="黑体"/>
            </a:endParaRPr>
          </a:p>
        </p:txBody>
      </p:sp>
      <p:sp>
        <p:nvSpPr>
          <p:cNvPr id="13" name="object 13" descr=""/>
          <p:cNvSpPr txBox="1"/>
          <p:nvPr/>
        </p:nvSpPr>
        <p:spPr>
          <a:xfrm>
            <a:off x="8191881" y="246710"/>
            <a:ext cx="2159000"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00CC"/>
                </a:solidFill>
                <a:latin typeface="黑体"/>
                <a:cs typeface="黑体"/>
              </a:rPr>
              <a:t>2.3.2</a:t>
            </a:r>
            <a:r>
              <a:rPr dirty="0" sz="2400" spc="-30">
                <a:solidFill>
                  <a:srgbClr val="0000CC"/>
                </a:solidFill>
                <a:latin typeface="黑体"/>
                <a:cs typeface="黑体"/>
              </a:rPr>
              <a:t> 控制指令</a:t>
            </a:r>
            <a:endParaRPr sz="2400">
              <a:latin typeface="黑体"/>
              <a:cs typeface="黑体"/>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908429" y="758444"/>
            <a:ext cx="8791575" cy="4380865"/>
          </a:xfrm>
          <a:prstGeom prst="rect">
            <a:avLst/>
          </a:prstGeom>
        </p:spPr>
        <p:txBody>
          <a:bodyPr wrap="square" lIns="0" tIns="13335" rIns="0" bIns="0" rtlCol="0" vert="horz">
            <a:spAutoFit/>
          </a:bodyPr>
          <a:lstStyle/>
          <a:p>
            <a:pPr marL="5142865">
              <a:lnSpc>
                <a:spcPct val="100000"/>
              </a:lnSpc>
              <a:spcBef>
                <a:spcPts val="105"/>
              </a:spcBef>
            </a:pPr>
            <a:r>
              <a:rPr dirty="0" sz="2600">
                <a:solidFill>
                  <a:srgbClr val="0000CC"/>
                </a:solidFill>
                <a:latin typeface="黑体"/>
                <a:cs typeface="黑体"/>
              </a:rPr>
              <a:t>2.3.3</a:t>
            </a:r>
            <a:r>
              <a:rPr dirty="0" sz="2600" spc="-15">
                <a:solidFill>
                  <a:srgbClr val="0000CC"/>
                </a:solidFill>
                <a:latin typeface="黑体"/>
                <a:cs typeface="黑体"/>
              </a:rPr>
              <a:t> 指令操作码的优化</a:t>
            </a:r>
            <a:endParaRPr sz="2600">
              <a:latin typeface="黑体"/>
              <a:cs typeface="黑体"/>
            </a:endParaRPr>
          </a:p>
          <a:p>
            <a:pPr marL="469265" indent="-456565">
              <a:lnSpc>
                <a:spcPct val="100000"/>
              </a:lnSpc>
              <a:spcBef>
                <a:spcPts val="2185"/>
              </a:spcBef>
              <a:buSzPct val="88636"/>
              <a:buFont typeface="Wingdings"/>
              <a:buChar char=""/>
              <a:tabLst>
                <a:tab pos="469265" algn="l"/>
              </a:tabLst>
            </a:pPr>
            <a:r>
              <a:rPr dirty="0" sz="2200" spc="-30">
                <a:solidFill>
                  <a:srgbClr val="006FC0"/>
                </a:solidFill>
                <a:latin typeface="黑体"/>
                <a:cs typeface="黑体"/>
              </a:rPr>
              <a:t>指令由两部分组成：</a:t>
            </a:r>
            <a:r>
              <a:rPr dirty="0" sz="2200" spc="-35">
                <a:solidFill>
                  <a:srgbClr val="D50092"/>
                </a:solidFill>
                <a:latin typeface="黑体"/>
                <a:cs typeface="黑体"/>
              </a:rPr>
              <a:t>操作码、地址码</a:t>
            </a:r>
            <a:endParaRPr sz="2200">
              <a:latin typeface="黑体"/>
              <a:cs typeface="黑体"/>
            </a:endParaRPr>
          </a:p>
          <a:p>
            <a:pPr marL="469900" marR="490220" indent="-457200">
              <a:lnSpc>
                <a:spcPct val="130000"/>
              </a:lnSpc>
              <a:spcBef>
                <a:spcPts val="525"/>
              </a:spcBef>
              <a:buClr>
                <a:srgbClr val="006FC0"/>
              </a:buClr>
              <a:buSzPct val="88636"/>
              <a:buFont typeface="Wingdings"/>
              <a:buChar char=""/>
              <a:tabLst>
                <a:tab pos="469900" algn="l"/>
              </a:tabLst>
            </a:pPr>
            <a:r>
              <a:rPr dirty="0" sz="2200" spc="-35">
                <a:solidFill>
                  <a:srgbClr val="FF0000"/>
                </a:solidFill>
                <a:latin typeface="黑体"/>
                <a:cs typeface="黑体"/>
              </a:rPr>
              <a:t>指令格式的设计</a:t>
            </a:r>
            <a:r>
              <a:rPr dirty="0" sz="2200" spc="-35">
                <a:solidFill>
                  <a:srgbClr val="006FC0"/>
                </a:solidFill>
                <a:latin typeface="黑体"/>
                <a:cs typeface="黑体"/>
              </a:rPr>
              <a:t>：确定指令字的编码方式，包括操作码字段和地</a:t>
            </a:r>
            <a:r>
              <a:rPr dirty="0" sz="2200" spc="-30">
                <a:solidFill>
                  <a:srgbClr val="006FC0"/>
                </a:solidFill>
                <a:latin typeface="黑体"/>
                <a:cs typeface="黑体"/>
              </a:rPr>
              <a:t>址码字段的</a:t>
            </a:r>
            <a:r>
              <a:rPr dirty="0" sz="2200" spc="-25">
                <a:solidFill>
                  <a:srgbClr val="FF0000"/>
                </a:solidFill>
                <a:latin typeface="黑体"/>
                <a:cs typeface="黑体"/>
              </a:rPr>
              <a:t>编码</a:t>
            </a:r>
            <a:r>
              <a:rPr dirty="0" sz="2200" spc="-30">
                <a:solidFill>
                  <a:srgbClr val="006FC0"/>
                </a:solidFill>
                <a:latin typeface="黑体"/>
                <a:cs typeface="黑体"/>
              </a:rPr>
              <a:t>和</a:t>
            </a:r>
            <a:r>
              <a:rPr dirty="0" sz="2200" spc="-25">
                <a:solidFill>
                  <a:srgbClr val="FF0000"/>
                </a:solidFill>
                <a:latin typeface="黑体"/>
                <a:cs typeface="黑体"/>
              </a:rPr>
              <a:t>表示方式</a:t>
            </a:r>
            <a:r>
              <a:rPr dirty="0" sz="2200" spc="-50">
                <a:solidFill>
                  <a:srgbClr val="006FC0"/>
                </a:solidFill>
                <a:latin typeface="黑体"/>
                <a:cs typeface="黑体"/>
              </a:rPr>
              <a:t>。</a:t>
            </a:r>
            <a:endParaRPr sz="2200">
              <a:latin typeface="黑体"/>
              <a:cs typeface="黑体"/>
            </a:endParaRPr>
          </a:p>
          <a:p>
            <a:pPr marL="469900" marR="490220" indent="-457200">
              <a:lnSpc>
                <a:spcPct val="130000"/>
              </a:lnSpc>
              <a:spcBef>
                <a:spcPts val="530"/>
              </a:spcBef>
              <a:buClr>
                <a:srgbClr val="006FC0"/>
              </a:buClr>
              <a:buSzPct val="88636"/>
              <a:buFont typeface="Wingdings"/>
              <a:buChar char=""/>
              <a:tabLst>
                <a:tab pos="469900" algn="l"/>
              </a:tabLst>
            </a:pPr>
            <a:r>
              <a:rPr dirty="0" sz="2200" spc="-35">
                <a:solidFill>
                  <a:srgbClr val="D50092"/>
                </a:solidFill>
                <a:latin typeface="黑体"/>
                <a:cs typeface="黑体"/>
              </a:rPr>
              <a:t>指令格式的优化</a:t>
            </a:r>
            <a:r>
              <a:rPr dirty="0" sz="2200" spc="-35">
                <a:solidFill>
                  <a:srgbClr val="006FC0"/>
                </a:solidFill>
                <a:latin typeface="黑体"/>
                <a:cs typeface="黑体"/>
              </a:rPr>
              <a:t>：如何用最短的位数来表示指令的操作信息和地</a:t>
            </a:r>
            <a:r>
              <a:rPr dirty="0" sz="2200" spc="-30">
                <a:solidFill>
                  <a:srgbClr val="006FC0"/>
                </a:solidFill>
                <a:latin typeface="黑体"/>
                <a:cs typeface="黑体"/>
              </a:rPr>
              <a:t>址信息。</a:t>
            </a:r>
            <a:endParaRPr sz="2200">
              <a:latin typeface="黑体"/>
              <a:cs typeface="黑体"/>
            </a:endParaRPr>
          </a:p>
          <a:p>
            <a:pPr marL="469265" indent="-456565">
              <a:lnSpc>
                <a:spcPct val="100000"/>
              </a:lnSpc>
              <a:spcBef>
                <a:spcPts val="1320"/>
              </a:spcBef>
              <a:buSzPct val="88636"/>
              <a:buFont typeface="Wingdings"/>
              <a:buChar char=""/>
              <a:tabLst>
                <a:tab pos="469265" algn="l"/>
              </a:tabLst>
            </a:pPr>
            <a:r>
              <a:rPr dirty="0" sz="2200" spc="-35">
                <a:solidFill>
                  <a:srgbClr val="006FC0"/>
                </a:solidFill>
                <a:latin typeface="黑体"/>
                <a:cs typeface="黑体"/>
              </a:rPr>
              <a:t>定长操作码优化没有空间，只有不定长的操作码才可优化。</a:t>
            </a:r>
            <a:endParaRPr sz="2200">
              <a:latin typeface="黑体"/>
              <a:cs typeface="黑体"/>
            </a:endParaRPr>
          </a:p>
          <a:p>
            <a:pPr marL="469265" indent="-456565">
              <a:lnSpc>
                <a:spcPct val="100000"/>
              </a:lnSpc>
              <a:spcBef>
                <a:spcPts val="1325"/>
              </a:spcBef>
              <a:buClr>
                <a:srgbClr val="006FC0"/>
              </a:buClr>
              <a:buSzPct val="88636"/>
              <a:buFont typeface="Wingdings"/>
              <a:buChar char=""/>
              <a:tabLst>
                <a:tab pos="469265" algn="l"/>
              </a:tabLst>
            </a:pPr>
            <a:r>
              <a:rPr dirty="0" sz="2200" spc="-30">
                <a:solidFill>
                  <a:srgbClr val="FF09FF"/>
                </a:solidFill>
                <a:latin typeface="黑体"/>
                <a:cs typeface="黑体"/>
              </a:rPr>
              <a:t>优化的目的</a:t>
            </a:r>
            <a:r>
              <a:rPr dirty="0" sz="2200" spc="-30">
                <a:solidFill>
                  <a:srgbClr val="006FC0"/>
                </a:solidFill>
                <a:latin typeface="黑体"/>
                <a:cs typeface="黑体"/>
              </a:rPr>
              <a:t>：提高性能，降低消耗</a:t>
            </a:r>
            <a:r>
              <a:rPr dirty="0" sz="2200" spc="-25">
                <a:solidFill>
                  <a:srgbClr val="006FC0"/>
                </a:solidFill>
                <a:latin typeface="黑体"/>
                <a:cs typeface="黑体"/>
              </a:rPr>
              <a:t>（</a:t>
            </a:r>
            <a:r>
              <a:rPr dirty="0" sz="2200" spc="-30">
                <a:solidFill>
                  <a:srgbClr val="006FC0"/>
                </a:solidFill>
                <a:latin typeface="黑体"/>
                <a:cs typeface="黑体"/>
              </a:rPr>
              <a:t>空间</a:t>
            </a:r>
            <a:r>
              <a:rPr dirty="0" sz="2200" spc="-50">
                <a:solidFill>
                  <a:srgbClr val="006FC0"/>
                </a:solidFill>
                <a:latin typeface="黑体"/>
                <a:cs typeface="黑体"/>
              </a:rPr>
              <a:t>）</a:t>
            </a:r>
            <a:endParaRPr sz="2200">
              <a:latin typeface="黑体"/>
              <a:cs typeface="黑体"/>
            </a:endParaRPr>
          </a:p>
          <a:p>
            <a:pPr lvl="1" marL="1283970" indent="-361315">
              <a:lnSpc>
                <a:spcPct val="100000"/>
              </a:lnSpc>
              <a:spcBef>
                <a:spcPts val="1230"/>
              </a:spcBef>
              <a:buClr>
                <a:srgbClr val="4668F5"/>
              </a:buClr>
              <a:buSzPct val="72500"/>
              <a:buFont typeface="Wingdings"/>
              <a:buChar char=""/>
              <a:tabLst>
                <a:tab pos="1283970" algn="l"/>
              </a:tabLst>
            </a:pPr>
            <a:r>
              <a:rPr dirty="0" sz="2000" spc="-20" b="1">
                <a:solidFill>
                  <a:srgbClr val="6F2F9F"/>
                </a:solidFill>
                <a:latin typeface="黑体"/>
                <a:cs typeface="黑体"/>
              </a:rPr>
              <a:t>---两者都希望 操作码变短</a:t>
            </a:r>
            <a:r>
              <a:rPr dirty="0" sz="2000" spc="-10" b="1">
                <a:solidFill>
                  <a:srgbClr val="6F2F9F"/>
                </a:solidFill>
                <a:latin typeface="黑体"/>
                <a:cs typeface="黑体"/>
              </a:rPr>
              <a:t>（</a:t>
            </a:r>
            <a:r>
              <a:rPr dirty="0" sz="2000" spc="-20" b="1">
                <a:solidFill>
                  <a:srgbClr val="6F2F9F"/>
                </a:solidFill>
                <a:latin typeface="黑体"/>
                <a:cs typeface="黑体"/>
              </a:rPr>
              <a:t>优化的思路，从性能和空间</a:t>
            </a:r>
            <a:r>
              <a:rPr dirty="0" sz="2000" spc="-50" b="1">
                <a:solidFill>
                  <a:srgbClr val="6F2F9F"/>
                </a:solidFill>
                <a:latin typeface="黑体"/>
                <a:cs typeface="黑体"/>
              </a:rPr>
              <a:t>）</a:t>
            </a:r>
            <a:endParaRPr sz="2000">
              <a:latin typeface="黑体"/>
              <a:cs typeface="黑体"/>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602994" y="734695"/>
            <a:ext cx="9013825" cy="4923155"/>
          </a:xfrm>
          <a:prstGeom prst="rect">
            <a:avLst/>
          </a:prstGeom>
        </p:spPr>
        <p:txBody>
          <a:bodyPr wrap="square" lIns="0" tIns="13335" rIns="0" bIns="0" rtlCol="0" vert="horz">
            <a:spAutoFit/>
          </a:bodyPr>
          <a:lstStyle/>
          <a:p>
            <a:pPr marL="5305425">
              <a:lnSpc>
                <a:spcPct val="100000"/>
              </a:lnSpc>
              <a:spcBef>
                <a:spcPts val="105"/>
              </a:spcBef>
            </a:pPr>
            <a:r>
              <a:rPr dirty="0" sz="2600">
                <a:solidFill>
                  <a:srgbClr val="0000CC"/>
                </a:solidFill>
                <a:latin typeface="黑体"/>
                <a:cs typeface="黑体"/>
              </a:rPr>
              <a:t>2.3.3</a:t>
            </a:r>
            <a:r>
              <a:rPr dirty="0" sz="2600" spc="-15">
                <a:solidFill>
                  <a:srgbClr val="0000CC"/>
                </a:solidFill>
                <a:latin typeface="黑体"/>
                <a:cs typeface="黑体"/>
              </a:rPr>
              <a:t> 指令操作码的优化</a:t>
            </a:r>
            <a:endParaRPr sz="2600">
              <a:latin typeface="黑体"/>
              <a:cs typeface="黑体"/>
            </a:endParaRPr>
          </a:p>
          <a:p>
            <a:pPr marL="469265" indent="-456565">
              <a:lnSpc>
                <a:spcPct val="100000"/>
              </a:lnSpc>
              <a:spcBef>
                <a:spcPts val="690"/>
              </a:spcBef>
              <a:buClr>
                <a:srgbClr val="40458B"/>
              </a:buClr>
              <a:buSzPct val="117857"/>
              <a:buFont typeface="Wingdings"/>
              <a:buChar char=""/>
              <a:tabLst>
                <a:tab pos="469265" algn="l"/>
              </a:tabLst>
            </a:pPr>
            <a:r>
              <a:rPr dirty="0" sz="2800" spc="-40">
                <a:solidFill>
                  <a:srgbClr val="172152"/>
                </a:solidFill>
                <a:latin typeface="黑体"/>
                <a:cs typeface="黑体"/>
              </a:rPr>
              <a:t>对操作码优化：首先需要知道每种指令在程序中出现</a:t>
            </a:r>
            <a:endParaRPr sz="2800">
              <a:latin typeface="黑体"/>
              <a:cs typeface="黑体"/>
            </a:endParaRPr>
          </a:p>
          <a:p>
            <a:pPr marL="469900">
              <a:lnSpc>
                <a:spcPct val="100000"/>
              </a:lnSpc>
              <a:spcBef>
                <a:spcPts val="1010"/>
              </a:spcBef>
            </a:pPr>
            <a:r>
              <a:rPr dirty="0" sz="2800" spc="-35">
                <a:solidFill>
                  <a:srgbClr val="172152"/>
                </a:solidFill>
                <a:latin typeface="黑体"/>
                <a:cs typeface="黑体"/>
              </a:rPr>
              <a:t>的概率（使用频度），</a:t>
            </a:r>
            <a:r>
              <a:rPr dirty="0" sz="2800" spc="-40">
                <a:solidFill>
                  <a:srgbClr val="172152"/>
                </a:solidFill>
                <a:latin typeface="黑体"/>
                <a:cs typeface="黑体"/>
              </a:rPr>
              <a:t>可通过大量经典程序统计求得。</a:t>
            </a:r>
            <a:endParaRPr sz="2800">
              <a:latin typeface="黑体"/>
              <a:cs typeface="黑体"/>
            </a:endParaRPr>
          </a:p>
          <a:p>
            <a:pPr marL="469265" indent="-456565">
              <a:lnSpc>
                <a:spcPct val="100000"/>
              </a:lnSpc>
              <a:spcBef>
                <a:spcPts val="1680"/>
              </a:spcBef>
              <a:buClr>
                <a:srgbClr val="40458B"/>
              </a:buClr>
              <a:buSzPct val="117857"/>
              <a:buFont typeface="Wingdings"/>
              <a:buChar char=""/>
              <a:tabLst>
                <a:tab pos="469265" algn="l"/>
              </a:tabLst>
            </a:pPr>
            <a:r>
              <a:rPr dirty="0" sz="2800" spc="-105">
                <a:solidFill>
                  <a:srgbClr val="172152"/>
                </a:solidFill>
                <a:latin typeface="黑体"/>
                <a:cs typeface="黑体"/>
              </a:rPr>
              <a:t>哈夫曼编码 </a:t>
            </a:r>
            <a:r>
              <a:rPr dirty="0" sz="2800" spc="-30">
                <a:solidFill>
                  <a:srgbClr val="172152"/>
                </a:solidFill>
                <a:latin typeface="黑体"/>
                <a:cs typeface="黑体"/>
              </a:rPr>
              <a:t>（</a:t>
            </a:r>
            <a:r>
              <a:rPr dirty="0" sz="2800" spc="-35">
                <a:solidFill>
                  <a:srgbClr val="172152"/>
                </a:solidFill>
                <a:latin typeface="黑体"/>
                <a:cs typeface="黑体"/>
              </a:rPr>
              <a:t>变长操作码优化</a:t>
            </a:r>
            <a:r>
              <a:rPr dirty="0" sz="2800" spc="-50">
                <a:solidFill>
                  <a:srgbClr val="172152"/>
                </a:solidFill>
                <a:latin typeface="黑体"/>
                <a:cs typeface="黑体"/>
              </a:rPr>
              <a:t>）</a:t>
            </a:r>
            <a:endParaRPr sz="2800">
              <a:latin typeface="黑体"/>
              <a:cs typeface="黑体"/>
            </a:endParaRPr>
          </a:p>
          <a:p>
            <a:pPr algn="just" lvl="1" marL="1099185" marR="83820" indent="-457200">
              <a:lnSpc>
                <a:spcPct val="130000"/>
              </a:lnSpc>
              <a:spcBef>
                <a:spcPts val="650"/>
              </a:spcBef>
              <a:buClr>
                <a:srgbClr val="006FC0"/>
              </a:buClr>
              <a:buSzPct val="88636"/>
              <a:buFont typeface="Wingdings"/>
              <a:buChar char=""/>
              <a:tabLst>
                <a:tab pos="1099185" algn="l"/>
              </a:tabLst>
            </a:pPr>
            <a:r>
              <a:rPr dirty="0" sz="2200" spc="-25">
                <a:solidFill>
                  <a:srgbClr val="D50092"/>
                </a:solidFill>
                <a:latin typeface="黑体"/>
                <a:cs typeface="黑体"/>
              </a:rPr>
              <a:t>基本思想</a:t>
            </a:r>
            <a:r>
              <a:rPr dirty="0" sz="2200" spc="-35">
                <a:solidFill>
                  <a:srgbClr val="006FC0"/>
                </a:solidFill>
                <a:latin typeface="黑体"/>
                <a:cs typeface="黑体"/>
              </a:rPr>
              <a:t>：当各种事件发生的概率不均等时，可以对发生概率最</a:t>
            </a:r>
            <a:r>
              <a:rPr dirty="0" sz="2200" spc="-30">
                <a:solidFill>
                  <a:srgbClr val="006FC0"/>
                </a:solidFill>
                <a:latin typeface="黑体"/>
                <a:cs typeface="黑体"/>
              </a:rPr>
              <a:t>高的事件用最短的位数</a:t>
            </a:r>
            <a:r>
              <a:rPr dirty="0" sz="2200" spc="-25">
                <a:solidFill>
                  <a:srgbClr val="006FC0"/>
                </a:solidFill>
                <a:latin typeface="黑体"/>
                <a:cs typeface="黑体"/>
              </a:rPr>
              <a:t>（</a:t>
            </a:r>
            <a:r>
              <a:rPr dirty="0" sz="2200" spc="-30">
                <a:solidFill>
                  <a:srgbClr val="006FC0"/>
                </a:solidFill>
                <a:latin typeface="黑体"/>
                <a:cs typeface="黑体"/>
              </a:rPr>
              <a:t>时间</a:t>
            </a:r>
            <a:r>
              <a:rPr dirty="0" sz="2200" spc="-25">
                <a:solidFill>
                  <a:srgbClr val="006FC0"/>
                </a:solidFill>
                <a:latin typeface="黑体"/>
                <a:cs typeface="黑体"/>
              </a:rPr>
              <a:t>）</a:t>
            </a:r>
            <a:r>
              <a:rPr dirty="0" sz="2200" spc="-30">
                <a:solidFill>
                  <a:srgbClr val="006FC0"/>
                </a:solidFill>
                <a:latin typeface="黑体"/>
                <a:cs typeface="黑体"/>
              </a:rPr>
              <a:t>来表示（处理</a:t>
            </a:r>
            <a:r>
              <a:rPr dirty="0" sz="2200" spc="-25">
                <a:solidFill>
                  <a:srgbClr val="006FC0"/>
                </a:solidFill>
                <a:latin typeface="黑体"/>
                <a:cs typeface="黑体"/>
              </a:rPr>
              <a:t>）</a:t>
            </a:r>
            <a:r>
              <a:rPr dirty="0" sz="2200" spc="-35">
                <a:solidFill>
                  <a:srgbClr val="006FC0"/>
                </a:solidFill>
                <a:latin typeface="黑体"/>
                <a:cs typeface="黑体"/>
              </a:rPr>
              <a:t>，而对于出现概</a:t>
            </a:r>
            <a:r>
              <a:rPr dirty="0" sz="2200" spc="-30">
                <a:solidFill>
                  <a:srgbClr val="006FC0"/>
                </a:solidFill>
                <a:latin typeface="黑体"/>
                <a:cs typeface="黑体"/>
              </a:rPr>
              <a:t>率较低的事件，则可以用较长的位数（时间）来表示</a:t>
            </a:r>
            <a:r>
              <a:rPr dirty="0" sz="2200" spc="-25">
                <a:solidFill>
                  <a:srgbClr val="006FC0"/>
                </a:solidFill>
                <a:latin typeface="黑体"/>
                <a:cs typeface="黑体"/>
              </a:rPr>
              <a:t>（</a:t>
            </a:r>
            <a:r>
              <a:rPr dirty="0" sz="2200" spc="-30">
                <a:solidFill>
                  <a:srgbClr val="006FC0"/>
                </a:solidFill>
                <a:latin typeface="黑体"/>
                <a:cs typeface="黑体"/>
              </a:rPr>
              <a:t>处理</a:t>
            </a:r>
            <a:r>
              <a:rPr dirty="0" sz="2200" spc="-25">
                <a:solidFill>
                  <a:srgbClr val="006FC0"/>
                </a:solidFill>
                <a:latin typeface="黑体"/>
                <a:cs typeface="黑体"/>
              </a:rPr>
              <a:t>），</a:t>
            </a:r>
            <a:r>
              <a:rPr dirty="0" sz="2200" spc="-30">
                <a:solidFill>
                  <a:srgbClr val="006FC0"/>
                </a:solidFill>
                <a:latin typeface="黑体"/>
                <a:cs typeface="黑体"/>
              </a:rPr>
              <a:t>从而使总的平均位数（时间）</a:t>
            </a:r>
            <a:r>
              <a:rPr dirty="0" sz="2200" spc="-40">
                <a:solidFill>
                  <a:srgbClr val="006FC0"/>
                </a:solidFill>
                <a:latin typeface="黑体"/>
                <a:cs typeface="黑体"/>
              </a:rPr>
              <a:t>缩短。</a:t>
            </a:r>
            <a:endParaRPr sz="2200">
              <a:latin typeface="黑体"/>
              <a:cs typeface="黑体"/>
            </a:endParaRPr>
          </a:p>
          <a:p>
            <a:pPr algn="just" lvl="1" marL="1098550" indent="-456565">
              <a:lnSpc>
                <a:spcPct val="100000"/>
              </a:lnSpc>
              <a:spcBef>
                <a:spcPts val="1320"/>
              </a:spcBef>
              <a:buSzPct val="88636"/>
              <a:buFont typeface="Wingdings"/>
              <a:buChar char=""/>
              <a:tabLst>
                <a:tab pos="1098550" algn="l"/>
              </a:tabLst>
            </a:pPr>
            <a:r>
              <a:rPr dirty="0" sz="2200" spc="-35">
                <a:solidFill>
                  <a:srgbClr val="006FC0"/>
                </a:solidFill>
                <a:latin typeface="黑体"/>
                <a:cs typeface="黑体"/>
              </a:rPr>
              <a:t>构造哈夫曼树的方法</a:t>
            </a:r>
            <a:endParaRPr sz="2200">
              <a:latin typeface="黑体"/>
              <a:cs typeface="黑体"/>
            </a:endParaRPr>
          </a:p>
          <a:p>
            <a:pPr algn="just" lvl="2" marL="1306830" indent="-358775">
              <a:lnSpc>
                <a:spcPct val="100000"/>
              </a:lnSpc>
              <a:spcBef>
                <a:spcPts val="1235"/>
              </a:spcBef>
              <a:buClr>
                <a:srgbClr val="4668F5"/>
              </a:buClr>
              <a:buSzPct val="72500"/>
              <a:buFont typeface="Wingdings"/>
              <a:buChar char=""/>
              <a:tabLst>
                <a:tab pos="1306830" algn="l"/>
              </a:tabLst>
            </a:pPr>
            <a:r>
              <a:rPr dirty="0" sz="2000" spc="-25" b="1">
                <a:solidFill>
                  <a:srgbClr val="6F2F9F"/>
                </a:solidFill>
                <a:latin typeface="黑体"/>
                <a:cs typeface="黑体"/>
              </a:rPr>
              <a:t>上述基本思想可以借助哈夫曼编码实现</a:t>
            </a:r>
            <a:endParaRPr sz="2000">
              <a:latin typeface="黑体"/>
              <a:cs typeface="黑体"/>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8" name="object 8" descr=""/>
          <p:cNvSpPr txBox="1"/>
          <p:nvPr/>
        </p:nvSpPr>
        <p:spPr>
          <a:xfrm>
            <a:off x="4339433" y="1829657"/>
            <a:ext cx="3813810" cy="922655"/>
          </a:xfrm>
          <a:prstGeom prst="rect">
            <a:avLst/>
          </a:prstGeom>
        </p:spPr>
        <p:txBody>
          <a:bodyPr wrap="square" lIns="0" tIns="86995" rIns="0" bIns="0" rtlCol="0" vert="horz">
            <a:spAutoFit/>
          </a:bodyPr>
          <a:lstStyle/>
          <a:p>
            <a:pPr marL="50800">
              <a:lnSpc>
                <a:spcPct val="100000"/>
              </a:lnSpc>
              <a:spcBef>
                <a:spcPts val="685"/>
              </a:spcBef>
              <a:tabLst>
                <a:tab pos="569595" algn="l"/>
                <a:tab pos="3433445" algn="l"/>
              </a:tabLst>
            </a:pPr>
            <a:r>
              <a:rPr dirty="0" sz="2300" spc="1060" i="1">
                <a:latin typeface="Times New Roman"/>
                <a:cs typeface="Times New Roman"/>
              </a:rPr>
              <a:t>H</a:t>
            </a:r>
            <a:r>
              <a:rPr dirty="0" sz="2300" i="1">
                <a:latin typeface="Times New Roman"/>
                <a:cs typeface="Times New Roman"/>
              </a:rPr>
              <a:t>	</a:t>
            </a:r>
            <a:r>
              <a:rPr dirty="0" sz="2300" spc="844">
                <a:latin typeface="Symbol"/>
                <a:cs typeface="Symbol"/>
              </a:rPr>
              <a:t></a:t>
            </a:r>
            <a:r>
              <a:rPr dirty="0" sz="2300" spc="-165">
                <a:latin typeface="Times New Roman"/>
                <a:cs typeface="Times New Roman"/>
              </a:rPr>
              <a:t> </a:t>
            </a:r>
            <a:r>
              <a:rPr dirty="0" sz="2300" spc="1520">
                <a:latin typeface="宋体"/>
                <a:cs typeface="宋体"/>
              </a:rPr>
              <a:t>－</a:t>
            </a:r>
            <a:r>
              <a:rPr dirty="0" baseline="-9629" sz="5625" spc="2279">
                <a:latin typeface="Symbol"/>
                <a:cs typeface="Symbol"/>
              </a:rPr>
              <a:t></a:t>
            </a:r>
            <a:r>
              <a:rPr dirty="0" baseline="-9629" sz="5625" spc="-120">
                <a:latin typeface="Times New Roman"/>
                <a:cs typeface="Times New Roman"/>
              </a:rPr>
              <a:t> </a:t>
            </a:r>
            <a:r>
              <a:rPr dirty="0" sz="2300" spc="509" i="1">
                <a:latin typeface="Times New Roman"/>
                <a:cs typeface="Times New Roman"/>
              </a:rPr>
              <a:t>p</a:t>
            </a:r>
            <a:r>
              <a:rPr dirty="0" baseline="-21072" sz="2175" spc="765" i="1">
                <a:latin typeface="Times New Roman"/>
                <a:cs typeface="Times New Roman"/>
              </a:rPr>
              <a:t>i</a:t>
            </a:r>
            <a:r>
              <a:rPr dirty="0" baseline="-21072" sz="2175" spc="772" i="1">
                <a:latin typeface="Times New Roman"/>
                <a:cs typeface="Times New Roman"/>
              </a:rPr>
              <a:t> </a:t>
            </a:r>
            <a:r>
              <a:rPr dirty="0" sz="2300" spc="585">
                <a:latin typeface="Times New Roman"/>
                <a:cs typeface="Times New Roman"/>
              </a:rPr>
              <a:t>log</a:t>
            </a:r>
            <a:r>
              <a:rPr dirty="0" sz="2300" spc="-175">
                <a:latin typeface="Times New Roman"/>
                <a:cs typeface="Times New Roman"/>
              </a:rPr>
              <a:t> </a:t>
            </a:r>
            <a:r>
              <a:rPr dirty="0" baseline="-21072" sz="2175" spc="675">
                <a:latin typeface="Times New Roman"/>
                <a:cs typeface="Times New Roman"/>
              </a:rPr>
              <a:t>2</a:t>
            </a:r>
            <a:r>
              <a:rPr dirty="0" baseline="-21072" sz="2175">
                <a:latin typeface="Times New Roman"/>
                <a:cs typeface="Times New Roman"/>
              </a:rPr>
              <a:t>	</a:t>
            </a:r>
            <a:r>
              <a:rPr dirty="0" sz="2300" spc="484" i="1">
                <a:latin typeface="Times New Roman"/>
                <a:cs typeface="Times New Roman"/>
              </a:rPr>
              <a:t>p</a:t>
            </a:r>
            <a:r>
              <a:rPr dirty="0" baseline="-21072" sz="2175" spc="727" i="1">
                <a:latin typeface="Times New Roman"/>
                <a:cs typeface="Times New Roman"/>
              </a:rPr>
              <a:t>i</a:t>
            </a:r>
            <a:endParaRPr baseline="-21072" sz="2175">
              <a:latin typeface="Times New Roman"/>
              <a:cs typeface="Times New Roman"/>
            </a:endParaRPr>
          </a:p>
          <a:p>
            <a:pPr algn="ctr" marR="540385">
              <a:lnSpc>
                <a:spcPct val="100000"/>
              </a:lnSpc>
              <a:spcBef>
                <a:spcPts val="235"/>
              </a:spcBef>
            </a:pPr>
            <a:r>
              <a:rPr dirty="0" sz="1450" spc="280" i="1">
                <a:latin typeface="Times New Roman"/>
                <a:cs typeface="Times New Roman"/>
              </a:rPr>
              <a:t>i</a:t>
            </a:r>
            <a:r>
              <a:rPr dirty="0" sz="1450" spc="-175" i="1">
                <a:latin typeface="Times New Roman"/>
                <a:cs typeface="Times New Roman"/>
              </a:rPr>
              <a:t> </a:t>
            </a:r>
            <a:r>
              <a:rPr dirty="0" sz="1450" spc="420">
                <a:latin typeface="Symbol"/>
                <a:cs typeface="Symbol"/>
              </a:rPr>
              <a:t></a:t>
            </a:r>
            <a:r>
              <a:rPr dirty="0" sz="1450" spc="420">
                <a:latin typeface="Times New Roman"/>
                <a:cs typeface="Times New Roman"/>
              </a:rPr>
              <a:t>1</a:t>
            </a:r>
            <a:endParaRPr sz="1450">
              <a:latin typeface="Times New Roman"/>
              <a:cs typeface="Times New Roman"/>
            </a:endParaRPr>
          </a:p>
        </p:txBody>
      </p:sp>
      <p:sp>
        <p:nvSpPr>
          <p:cNvPr id="9" name="object 9" descr=""/>
          <p:cNvSpPr txBox="1"/>
          <p:nvPr/>
        </p:nvSpPr>
        <p:spPr>
          <a:xfrm>
            <a:off x="2900298" y="1568322"/>
            <a:ext cx="4578350" cy="560070"/>
          </a:xfrm>
          <a:prstGeom prst="rect">
            <a:avLst/>
          </a:prstGeom>
        </p:spPr>
        <p:txBody>
          <a:bodyPr wrap="square" lIns="0" tIns="13335" rIns="0" bIns="0" rtlCol="0" vert="horz">
            <a:spAutoFit/>
          </a:bodyPr>
          <a:lstStyle/>
          <a:p>
            <a:pPr marL="469265" indent="-456565">
              <a:lnSpc>
                <a:spcPct val="100000"/>
              </a:lnSpc>
              <a:spcBef>
                <a:spcPts val="105"/>
              </a:spcBef>
              <a:buClr>
                <a:srgbClr val="4668F5"/>
              </a:buClr>
              <a:buSzPct val="60000"/>
              <a:buFont typeface="Wingdings"/>
              <a:buChar char=""/>
              <a:tabLst>
                <a:tab pos="469265" algn="l"/>
              </a:tabLst>
            </a:pPr>
            <a:r>
              <a:rPr dirty="0" sz="2000" spc="-15" b="1">
                <a:solidFill>
                  <a:srgbClr val="FF0000"/>
                </a:solidFill>
                <a:latin typeface="宋体"/>
                <a:cs typeface="宋体"/>
              </a:rPr>
              <a:t>信息熵：</a:t>
            </a:r>
            <a:r>
              <a:rPr dirty="0" sz="2000" spc="-20" b="1">
                <a:latin typeface="宋体"/>
                <a:cs typeface="宋体"/>
              </a:rPr>
              <a:t>即信息所含的平均信息量。</a:t>
            </a:r>
            <a:endParaRPr sz="2000">
              <a:latin typeface="宋体"/>
              <a:cs typeface="宋体"/>
            </a:endParaRPr>
          </a:p>
          <a:p>
            <a:pPr marL="2983865">
              <a:lnSpc>
                <a:spcPct val="100000"/>
              </a:lnSpc>
              <a:spcBef>
                <a:spcPts val="60"/>
              </a:spcBef>
            </a:pPr>
            <a:r>
              <a:rPr dirty="0" sz="1450" spc="450" i="1">
                <a:latin typeface="Times New Roman"/>
                <a:cs typeface="Times New Roman"/>
              </a:rPr>
              <a:t>n</a:t>
            </a:r>
            <a:endParaRPr sz="1450">
              <a:latin typeface="Times New Roman"/>
              <a:cs typeface="Times New Roman"/>
            </a:endParaRPr>
          </a:p>
        </p:txBody>
      </p:sp>
      <p:sp>
        <p:nvSpPr>
          <p:cNvPr id="10" name="object 10" descr=""/>
          <p:cNvSpPr txBox="1"/>
          <p:nvPr/>
        </p:nvSpPr>
        <p:spPr>
          <a:xfrm>
            <a:off x="2088007" y="1040333"/>
            <a:ext cx="5969635" cy="391795"/>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SzPct val="89583"/>
              <a:buFont typeface="Wingdings"/>
              <a:buChar char=""/>
              <a:tabLst>
                <a:tab pos="469265" algn="l"/>
              </a:tabLst>
            </a:pPr>
            <a:r>
              <a:rPr dirty="0" sz="2400" spc="-10">
                <a:solidFill>
                  <a:srgbClr val="FF0000"/>
                </a:solidFill>
                <a:latin typeface="黑体"/>
                <a:cs typeface="黑体"/>
              </a:rPr>
              <a:t>操作码优化的程度</a:t>
            </a:r>
            <a:r>
              <a:rPr dirty="0" sz="2400" spc="-10">
                <a:solidFill>
                  <a:srgbClr val="40458B"/>
                </a:solidFill>
                <a:latin typeface="黑体"/>
                <a:cs typeface="黑体"/>
              </a:rPr>
              <a:t>可以用</a:t>
            </a:r>
            <a:r>
              <a:rPr dirty="0" sz="2400" spc="-5">
                <a:solidFill>
                  <a:srgbClr val="FF0000"/>
                </a:solidFill>
                <a:latin typeface="黑体"/>
                <a:cs typeface="黑体"/>
              </a:rPr>
              <a:t>信息熵</a:t>
            </a:r>
            <a:r>
              <a:rPr dirty="0" sz="2400" spc="-20">
                <a:solidFill>
                  <a:srgbClr val="40458B"/>
                </a:solidFill>
                <a:latin typeface="黑体"/>
                <a:cs typeface="黑体"/>
              </a:rPr>
              <a:t>来衡量。</a:t>
            </a:r>
            <a:endParaRPr sz="2400">
              <a:latin typeface="黑体"/>
              <a:cs typeface="黑体"/>
            </a:endParaRPr>
          </a:p>
        </p:txBody>
      </p:sp>
      <p:sp>
        <p:nvSpPr>
          <p:cNvPr id="11" name="object 11" descr=""/>
          <p:cNvSpPr txBox="1"/>
          <p:nvPr/>
        </p:nvSpPr>
        <p:spPr>
          <a:xfrm>
            <a:off x="1844167" y="3123057"/>
            <a:ext cx="9104630" cy="2556510"/>
          </a:xfrm>
          <a:prstGeom prst="rect">
            <a:avLst/>
          </a:prstGeom>
        </p:spPr>
        <p:txBody>
          <a:bodyPr wrap="square" lIns="0" tIns="13335" rIns="0" bIns="0" rtlCol="0" vert="horz">
            <a:spAutoFit/>
          </a:bodyPr>
          <a:lstStyle/>
          <a:p>
            <a:pPr marL="1525905" indent="-457200">
              <a:lnSpc>
                <a:spcPct val="100000"/>
              </a:lnSpc>
              <a:spcBef>
                <a:spcPts val="105"/>
              </a:spcBef>
              <a:buClr>
                <a:srgbClr val="4668F5"/>
              </a:buClr>
              <a:buSzPct val="60000"/>
              <a:buFont typeface="Wingdings"/>
              <a:buChar char=""/>
              <a:tabLst>
                <a:tab pos="1525905" algn="l"/>
              </a:tabLst>
            </a:pPr>
            <a:r>
              <a:rPr dirty="0" sz="2000" spc="-15" b="1">
                <a:latin typeface="宋体"/>
                <a:cs typeface="宋体"/>
              </a:rPr>
              <a:t>表示用二进制编码表示</a:t>
            </a:r>
            <a:r>
              <a:rPr dirty="0" sz="2000" b="1">
                <a:solidFill>
                  <a:srgbClr val="9933FF"/>
                </a:solidFill>
                <a:latin typeface="Times New Roman"/>
                <a:cs typeface="Times New Roman"/>
              </a:rPr>
              <a:t>n</a:t>
            </a:r>
            <a:r>
              <a:rPr dirty="0" sz="2000" spc="-50" b="1">
                <a:latin typeface="宋体"/>
                <a:cs typeface="宋体"/>
              </a:rPr>
              <a:t>个码点时，理论上的最短平均编码长度 。</a:t>
            </a:r>
            <a:endParaRPr sz="2000">
              <a:latin typeface="宋体"/>
              <a:cs typeface="宋体"/>
            </a:endParaRPr>
          </a:p>
          <a:p>
            <a:pPr>
              <a:lnSpc>
                <a:spcPct val="100000"/>
              </a:lnSpc>
              <a:spcBef>
                <a:spcPts val="2200"/>
              </a:spcBef>
            </a:pPr>
            <a:endParaRPr sz="2000">
              <a:latin typeface="宋体"/>
              <a:cs typeface="宋体"/>
            </a:endParaRPr>
          </a:p>
          <a:p>
            <a:pPr marL="133985">
              <a:lnSpc>
                <a:spcPct val="100000"/>
              </a:lnSpc>
            </a:pPr>
            <a:r>
              <a:rPr dirty="0" sz="2000" spc="-10" b="1">
                <a:solidFill>
                  <a:srgbClr val="E14B04"/>
                </a:solidFill>
                <a:latin typeface="宋体"/>
                <a:cs typeface="宋体"/>
              </a:rPr>
              <a:t>例</a:t>
            </a:r>
            <a:r>
              <a:rPr dirty="0" sz="2000" b="1">
                <a:solidFill>
                  <a:srgbClr val="E14B04"/>
                </a:solidFill>
                <a:latin typeface="Times New Roman"/>
                <a:cs typeface="Times New Roman"/>
              </a:rPr>
              <a:t>2.1</a:t>
            </a:r>
            <a:r>
              <a:rPr dirty="0" sz="2000" spc="-5" b="1">
                <a:solidFill>
                  <a:srgbClr val="E14B04"/>
                </a:solidFill>
                <a:latin typeface="Times New Roman"/>
                <a:cs typeface="Times New Roman"/>
              </a:rPr>
              <a:t> </a:t>
            </a:r>
            <a:r>
              <a:rPr dirty="0" sz="2000" spc="-10" b="1">
                <a:solidFill>
                  <a:srgbClr val="006FC0"/>
                </a:solidFill>
                <a:latin typeface="宋体"/>
                <a:cs typeface="宋体"/>
              </a:rPr>
              <a:t>假设某模型机有</a:t>
            </a:r>
            <a:r>
              <a:rPr dirty="0" sz="2000" b="1">
                <a:solidFill>
                  <a:srgbClr val="006FC0"/>
                </a:solidFill>
                <a:latin typeface="Times New Roman"/>
                <a:cs typeface="Times New Roman"/>
              </a:rPr>
              <a:t>7</a:t>
            </a:r>
            <a:r>
              <a:rPr dirty="0" sz="2000" spc="-25" b="1">
                <a:solidFill>
                  <a:srgbClr val="006FC0"/>
                </a:solidFill>
                <a:latin typeface="宋体"/>
                <a:cs typeface="宋体"/>
              </a:rPr>
              <a:t>条指令，这些指令的使用频度如表左边所示。</a:t>
            </a:r>
            <a:endParaRPr sz="2000">
              <a:latin typeface="宋体"/>
              <a:cs typeface="宋体"/>
            </a:endParaRPr>
          </a:p>
          <a:p>
            <a:pPr marL="520700" indent="-508000">
              <a:lnSpc>
                <a:spcPct val="100000"/>
              </a:lnSpc>
              <a:spcBef>
                <a:spcPts val="1200"/>
              </a:spcBef>
              <a:buAutoNum type="arabicParenBoth"/>
              <a:tabLst>
                <a:tab pos="520700" algn="l"/>
              </a:tabLst>
            </a:pPr>
            <a:r>
              <a:rPr dirty="0" sz="2000" spc="-10" b="1">
                <a:latin typeface="宋体"/>
                <a:cs typeface="宋体"/>
              </a:rPr>
              <a:t>计算这</a:t>
            </a:r>
            <a:r>
              <a:rPr dirty="0" sz="2000" spc="-10" b="1">
                <a:solidFill>
                  <a:srgbClr val="9933FF"/>
                </a:solidFill>
                <a:latin typeface="宋体"/>
                <a:cs typeface="宋体"/>
              </a:rPr>
              <a:t>7</a:t>
            </a:r>
            <a:r>
              <a:rPr dirty="0" sz="2000" spc="-25" b="1">
                <a:latin typeface="宋体"/>
                <a:cs typeface="宋体"/>
              </a:rPr>
              <a:t>条指令的操作码编码的最短平均码长；</a:t>
            </a:r>
            <a:endParaRPr sz="2000">
              <a:latin typeface="宋体"/>
              <a:cs typeface="宋体"/>
            </a:endParaRPr>
          </a:p>
          <a:p>
            <a:pPr marL="521334" indent="-508634">
              <a:lnSpc>
                <a:spcPct val="100000"/>
              </a:lnSpc>
              <a:spcBef>
                <a:spcPts val="1200"/>
              </a:spcBef>
              <a:buAutoNum type="arabicParenBoth"/>
              <a:tabLst>
                <a:tab pos="521334" algn="l"/>
              </a:tabLst>
            </a:pPr>
            <a:r>
              <a:rPr dirty="0" sz="2000" spc="-15" b="1">
                <a:latin typeface="宋体"/>
                <a:cs typeface="宋体"/>
              </a:rPr>
              <a:t>画出哈夫曼树，写出这</a:t>
            </a:r>
            <a:r>
              <a:rPr dirty="0" sz="2000" spc="-10" b="1">
                <a:solidFill>
                  <a:srgbClr val="9933FF"/>
                </a:solidFill>
                <a:latin typeface="宋体"/>
                <a:cs typeface="宋体"/>
              </a:rPr>
              <a:t>7</a:t>
            </a:r>
            <a:r>
              <a:rPr dirty="0" sz="2000" spc="-25" b="1">
                <a:latin typeface="宋体"/>
                <a:cs typeface="宋体"/>
              </a:rPr>
              <a:t>条指令的哈夫曼编码，并计算该编码的平均码长和信</a:t>
            </a:r>
            <a:endParaRPr sz="2000">
              <a:latin typeface="宋体"/>
              <a:cs typeface="宋体"/>
            </a:endParaRPr>
          </a:p>
          <a:p>
            <a:pPr marL="83820">
              <a:lnSpc>
                <a:spcPct val="100000"/>
              </a:lnSpc>
              <a:spcBef>
                <a:spcPts val="720"/>
              </a:spcBef>
            </a:pPr>
            <a:r>
              <a:rPr dirty="0" sz="2000" spc="-20" b="1">
                <a:latin typeface="宋体"/>
                <a:cs typeface="宋体"/>
              </a:rPr>
              <a:t>息冗余量。</a:t>
            </a:r>
            <a:endParaRPr sz="2000">
              <a:latin typeface="宋体"/>
              <a:cs typeface="宋体"/>
            </a:endParaRPr>
          </a:p>
        </p:txBody>
      </p:sp>
      <p:sp>
        <p:nvSpPr>
          <p:cNvPr id="12" name="object 12"/>
          <p:cNvSpPr txBox="1">
            <a:spLocks noGrp="1"/>
          </p:cNvSpPr>
          <p:nvPr>
            <p:ph type="title"/>
          </p:nvPr>
        </p:nvSpPr>
        <p:spPr>
          <a:xfrm>
            <a:off x="2646045" y="230835"/>
            <a:ext cx="3661410" cy="422909"/>
          </a:xfrm>
          <a:prstGeom prst="rect"/>
        </p:spPr>
        <p:txBody>
          <a:bodyPr wrap="square" lIns="0" tIns="13335" rIns="0" bIns="0" rtlCol="0" vert="horz">
            <a:spAutoFit/>
          </a:bodyPr>
          <a:lstStyle/>
          <a:p>
            <a:pPr marL="12700">
              <a:lnSpc>
                <a:spcPct val="100000"/>
              </a:lnSpc>
              <a:spcBef>
                <a:spcPts val="105"/>
              </a:spcBef>
            </a:pPr>
            <a:r>
              <a:rPr dirty="0" u="none" sz="2600" b="0">
                <a:latin typeface="黑体"/>
                <a:cs typeface="黑体"/>
              </a:rPr>
              <a:t>2.3.3</a:t>
            </a:r>
            <a:r>
              <a:rPr dirty="0" u="none" sz="2600" spc="-25" b="0">
                <a:latin typeface="黑体"/>
                <a:cs typeface="黑体"/>
              </a:rPr>
              <a:t> 指令操作码的优化</a:t>
            </a:r>
            <a:endParaRPr sz="2600">
              <a:latin typeface="黑体"/>
              <a:cs typeface="黑体"/>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710689" algn="l"/>
                <a:tab pos="11028045" algn="l"/>
              </a:tabLst>
            </a:pPr>
            <a:r>
              <a:rPr dirty="0">
                <a:solidFill>
                  <a:srgbClr val="4F55AC"/>
                </a:solidFill>
              </a:rPr>
              <a:t>	2.3</a:t>
            </a:r>
            <a:r>
              <a:rPr dirty="0" spc="-30">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graphicFrame>
        <p:nvGraphicFramePr>
          <p:cNvPr id="4" name="object 4" descr=""/>
          <p:cNvGraphicFramePr>
            <a:graphicFrameLocks noGrp="1"/>
          </p:cNvGraphicFramePr>
          <p:nvPr/>
        </p:nvGraphicFramePr>
        <p:xfrm>
          <a:off x="2193988" y="1327213"/>
          <a:ext cx="7521575" cy="4446270"/>
        </p:xfrm>
        <a:graphic>
          <a:graphicData uri="http://schemas.openxmlformats.org/drawingml/2006/table">
            <a:tbl>
              <a:tblPr firstRow="1" bandRow="1">
                <a:tableStyleId>{2D5ABB26-0587-4C30-8999-92F81FD0307C}</a:tableStyleId>
              </a:tblPr>
              <a:tblGrid>
                <a:gridCol w="936625"/>
                <a:gridCol w="1295400"/>
                <a:gridCol w="1368425"/>
                <a:gridCol w="936625"/>
                <a:gridCol w="1944370"/>
                <a:gridCol w="934720"/>
              </a:tblGrid>
              <a:tr h="810260">
                <a:tc>
                  <a:txBody>
                    <a:bodyPr/>
                    <a:lstStyle/>
                    <a:p>
                      <a:pPr algn="ctr">
                        <a:lnSpc>
                          <a:spcPct val="100000"/>
                        </a:lnSpc>
                        <a:spcBef>
                          <a:spcPts val="2070"/>
                        </a:spcBef>
                      </a:pPr>
                      <a:r>
                        <a:rPr dirty="0" sz="2000" spc="-30" b="1">
                          <a:solidFill>
                            <a:srgbClr val="E14B04"/>
                          </a:solidFill>
                          <a:latin typeface="宋体"/>
                          <a:cs typeface="宋体"/>
                        </a:rPr>
                        <a:t>指令</a:t>
                      </a:r>
                      <a:endParaRPr sz="2000">
                        <a:latin typeface="宋体"/>
                        <a:cs typeface="宋体"/>
                      </a:endParaRPr>
                    </a:p>
                  </a:txBody>
                  <a:tcPr marL="0" marR="0" marB="0" marT="26289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2070"/>
                        </a:spcBef>
                      </a:pPr>
                      <a:r>
                        <a:rPr dirty="0" sz="2000" spc="-10" b="1">
                          <a:solidFill>
                            <a:srgbClr val="E14B04"/>
                          </a:solidFill>
                          <a:latin typeface="宋体"/>
                          <a:cs typeface="宋体"/>
                        </a:rPr>
                        <a:t>频度</a:t>
                      </a:r>
                      <a:r>
                        <a:rPr dirty="0" sz="2000" spc="-25" b="1">
                          <a:solidFill>
                            <a:srgbClr val="E14B04"/>
                          </a:solidFill>
                          <a:latin typeface="Times New Roman"/>
                          <a:cs typeface="Times New Roman"/>
                        </a:rPr>
                        <a:t>p</a:t>
                      </a:r>
                      <a:r>
                        <a:rPr dirty="0" baseline="-21367" sz="1950" spc="-37" b="1">
                          <a:solidFill>
                            <a:srgbClr val="E14B04"/>
                          </a:solidFill>
                          <a:latin typeface="Times New Roman"/>
                          <a:cs typeface="Times New Roman"/>
                        </a:rPr>
                        <a:t>i</a:t>
                      </a:r>
                      <a:endParaRPr baseline="-21367" sz="1950">
                        <a:latin typeface="Times New Roman"/>
                        <a:cs typeface="Times New Roman"/>
                      </a:endParaRPr>
                    </a:p>
                  </a:txBody>
                  <a:tcPr marL="0" marR="0" marB="0" marT="26289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44450" marR="35560">
                        <a:lnSpc>
                          <a:spcPct val="120000"/>
                        </a:lnSpc>
                        <a:spcBef>
                          <a:spcPts val="60"/>
                        </a:spcBef>
                      </a:pPr>
                      <a:r>
                        <a:rPr dirty="0" sz="2000" spc="-20" b="1">
                          <a:solidFill>
                            <a:srgbClr val="E14B04"/>
                          </a:solidFill>
                          <a:latin typeface="宋体"/>
                          <a:cs typeface="宋体"/>
                        </a:rPr>
                        <a:t>操作码使用哈夫曼编码</a:t>
                      </a:r>
                      <a:endParaRPr sz="2000">
                        <a:latin typeface="宋体"/>
                        <a:cs typeface="宋体"/>
                      </a:endParaRPr>
                    </a:p>
                  </a:txBody>
                  <a:tcPr marL="0" marR="0" marB="0" marT="762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84455">
                        <a:lnSpc>
                          <a:spcPct val="100000"/>
                        </a:lnSpc>
                        <a:spcBef>
                          <a:spcPts val="509"/>
                        </a:spcBef>
                      </a:pPr>
                      <a:r>
                        <a:rPr dirty="0" sz="2000" spc="-30" b="1">
                          <a:solidFill>
                            <a:srgbClr val="E14B04"/>
                          </a:solidFill>
                          <a:latin typeface="宋体"/>
                          <a:cs typeface="宋体"/>
                        </a:rPr>
                        <a:t>操作码</a:t>
                      </a:r>
                      <a:endParaRPr sz="2000">
                        <a:latin typeface="宋体"/>
                        <a:cs typeface="宋体"/>
                      </a:endParaRPr>
                    </a:p>
                    <a:p>
                      <a:pPr marL="154305">
                        <a:lnSpc>
                          <a:spcPct val="100000"/>
                        </a:lnSpc>
                        <a:spcBef>
                          <a:spcPts val="720"/>
                        </a:spcBef>
                      </a:pPr>
                      <a:r>
                        <a:rPr dirty="0" sz="2000" spc="-10" b="1">
                          <a:solidFill>
                            <a:srgbClr val="E14B04"/>
                          </a:solidFill>
                          <a:latin typeface="宋体"/>
                          <a:cs typeface="宋体"/>
                        </a:rPr>
                        <a:t>长度</a:t>
                      </a:r>
                      <a:r>
                        <a:rPr dirty="0" sz="2000" spc="-25" b="1">
                          <a:solidFill>
                            <a:srgbClr val="E14B04"/>
                          </a:solidFill>
                          <a:latin typeface="Times New Roman"/>
                          <a:cs typeface="Times New Roman"/>
                        </a:rPr>
                        <a:t>l</a:t>
                      </a:r>
                      <a:r>
                        <a:rPr dirty="0" baseline="-21367" sz="1950" spc="-37" b="1">
                          <a:solidFill>
                            <a:srgbClr val="E14B04"/>
                          </a:solidFill>
                          <a:latin typeface="Times New Roman"/>
                          <a:cs typeface="Times New Roman"/>
                        </a:rPr>
                        <a:t>i</a:t>
                      </a:r>
                      <a:endParaRPr baseline="-21367" sz="1950">
                        <a:latin typeface="Times New Roman"/>
                        <a:cs typeface="Times New Roman"/>
                      </a:endParaRPr>
                    </a:p>
                  </a:txBody>
                  <a:tcPr marL="0" marR="0" marB="0" marT="64769">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635">
                        <a:lnSpc>
                          <a:spcPct val="100000"/>
                        </a:lnSpc>
                        <a:spcBef>
                          <a:spcPts val="570"/>
                        </a:spcBef>
                      </a:pPr>
                      <a:r>
                        <a:rPr dirty="0" sz="2000" spc="-20" b="1">
                          <a:solidFill>
                            <a:srgbClr val="E14B04"/>
                          </a:solidFill>
                          <a:latin typeface="宋体"/>
                          <a:cs typeface="宋体"/>
                        </a:rPr>
                        <a:t>利用哈夫曼概念</a:t>
                      </a:r>
                      <a:endParaRPr sz="2000">
                        <a:latin typeface="宋体"/>
                        <a:cs typeface="宋体"/>
                      </a:endParaRPr>
                    </a:p>
                    <a:p>
                      <a:pPr marL="635">
                        <a:lnSpc>
                          <a:spcPct val="100000"/>
                        </a:lnSpc>
                        <a:spcBef>
                          <a:spcPts val="240"/>
                        </a:spcBef>
                      </a:pPr>
                      <a:r>
                        <a:rPr dirty="0" sz="2000" spc="-20" b="1">
                          <a:solidFill>
                            <a:srgbClr val="E14B04"/>
                          </a:solidFill>
                          <a:latin typeface="宋体"/>
                          <a:cs typeface="宋体"/>
                        </a:rPr>
                        <a:t>的扩展操作码</a:t>
                      </a:r>
                      <a:endParaRPr sz="2000">
                        <a:latin typeface="宋体"/>
                        <a:cs typeface="宋体"/>
                      </a:endParaRPr>
                    </a:p>
                  </a:txBody>
                  <a:tcPr marL="0" marR="0" marB="0" marT="7239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84455">
                        <a:lnSpc>
                          <a:spcPct val="100000"/>
                        </a:lnSpc>
                        <a:spcBef>
                          <a:spcPts val="509"/>
                        </a:spcBef>
                      </a:pPr>
                      <a:r>
                        <a:rPr dirty="0" sz="2000" spc="-30" b="1">
                          <a:solidFill>
                            <a:srgbClr val="E14B04"/>
                          </a:solidFill>
                          <a:latin typeface="宋体"/>
                          <a:cs typeface="宋体"/>
                        </a:rPr>
                        <a:t>操作码</a:t>
                      </a:r>
                      <a:endParaRPr sz="2000">
                        <a:latin typeface="宋体"/>
                        <a:cs typeface="宋体"/>
                      </a:endParaRPr>
                    </a:p>
                    <a:p>
                      <a:pPr marL="153035">
                        <a:lnSpc>
                          <a:spcPct val="100000"/>
                        </a:lnSpc>
                        <a:spcBef>
                          <a:spcPts val="720"/>
                        </a:spcBef>
                      </a:pPr>
                      <a:r>
                        <a:rPr dirty="0" sz="2000" spc="-10" b="1">
                          <a:solidFill>
                            <a:srgbClr val="E14B04"/>
                          </a:solidFill>
                          <a:latin typeface="宋体"/>
                          <a:cs typeface="宋体"/>
                        </a:rPr>
                        <a:t>长度</a:t>
                      </a:r>
                      <a:r>
                        <a:rPr dirty="0" sz="2000" spc="-25" b="1">
                          <a:solidFill>
                            <a:srgbClr val="E14B04"/>
                          </a:solidFill>
                          <a:latin typeface="Times New Roman"/>
                          <a:cs typeface="Times New Roman"/>
                        </a:rPr>
                        <a:t>l</a:t>
                      </a:r>
                      <a:r>
                        <a:rPr dirty="0" baseline="-21367" sz="1950" spc="-37" b="1">
                          <a:solidFill>
                            <a:srgbClr val="E14B04"/>
                          </a:solidFill>
                          <a:latin typeface="Times New Roman"/>
                          <a:cs typeface="Times New Roman"/>
                        </a:rPr>
                        <a:t>i</a:t>
                      </a:r>
                      <a:endParaRPr baseline="-21367" sz="1950">
                        <a:latin typeface="Times New Roman"/>
                        <a:cs typeface="Times New Roman"/>
                      </a:endParaRPr>
                    </a:p>
                  </a:txBody>
                  <a:tcPr marL="0" marR="0" marB="0" marT="64769">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539750">
                <a:tc>
                  <a:txBody>
                    <a:bodyPr/>
                    <a:lstStyle/>
                    <a:p>
                      <a:pPr algn="ctr">
                        <a:lnSpc>
                          <a:spcPct val="100000"/>
                        </a:lnSpc>
                        <a:spcBef>
                          <a:spcPts val="995"/>
                        </a:spcBef>
                      </a:pPr>
                      <a:r>
                        <a:rPr dirty="0" sz="2000" spc="-25" b="1">
                          <a:solidFill>
                            <a:srgbClr val="339933"/>
                          </a:solidFill>
                          <a:latin typeface="Times New Roman"/>
                          <a:cs typeface="Times New Roman"/>
                        </a:rPr>
                        <a:t>I</a:t>
                      </a:r>
                      <a:r>
                        <a:rPr dirty="0" baseline="-21367" sz="1950" spc="-37" b="1">
                          <a:solidFill>
                            <a:srgbClr val="339933"/>
                          </a:solidFill>
                          <a:latin typeface="Times New Roman"/>
                          <a:cs typeface="Times New Roman"/>
                        </a:rPr>
                        <a:t>1</a:t>
                      </a:r>
                      <a:endParaRPr baseline="-21367" sz="1950">
                        <a:latin typeface="Times New Roman"/>
                        <a:cs typeface="Times New Roman"/>
                      </a:endParaRPr>
                    </a:p>
                  </a:txBody>
                  <a:tcPr marL="0" marR="0" marB="0" marT="1263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995"/>
                        </a:spcBef>
                      </a:pPr>
                      <a:r>
                        <a:rPr dirty="0" sz="2000" spc="-20" b="1">
                          <a:solidFill>
                            <a:srgbClr val="40458B"/>
                          </a:solidFill>
                          <a:latin typeface="Times New Roman"/>
                          <a:cs typeface="Times New Roman"/>
                        </a:rPr>
                        <a:t>0.40</a:t>
                      </a:r>
                      <a:endParaRPr sz="2000">
                        <a:latin typeface="Times New Roman"/>
                        <a:cs typeface="Times New Roman"/>
                      </a:endParaRPr>
                    </a:p>
                  </a:txBody>
                  <a:tcPr marL="0" marR="0" marB="0" marT="1263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27000">
                        <a:lnSpc>
                          <a:spcPct val="100000"/>
                        </a:lnSpc>
                        <a:spcBef>
                          <a:spcPts val="995"/>
                        </a:spcBef>
                      </a:pPr>
                      <a:r>
                        <a:rPr dirty="0" sz="2000" spc="-50" b="1">
                          <a:solidFill>
                            <a:srgbClr val="40458B"/>
                          </a:solidFill>
                          <a:latin typeface="Times New Roman"/>
                          <a:cs typeface="Times New Roman"/>
                        </a:rPr>
                        <a:t>0</a:t>
                      </a:r>
                      <a:endParaRPr sz="2000">
                        <a:latin typeface="Times New Roman"/>
                        <a:cs typeface="Times New Roman"/>
                      </a:endParaRPr>
                    </a:p>
                  </a:txBody>
                  <a:tcPr marL="0" marR="0" marB="0" marT="1263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995"/>
                        </a:spcBef>
                      </a:pPr>
                      <a:r>
                        <a:rPr dirty="0" sz="2000" spc="-50" b="1">
                          <a:solidFill>
                            <a:srgbClr val="40458B"/>
                          </a:solidFill>
                          <a:latin typeface="Times New Roman"/>
                          <a:cs typeface="Times New Roman"/>
                        </a:rPr>
                        <a:t>1</a:t>
                      </a:r>
                      <a:endParaRPr sz="2000">
                        <a:latin typeface="Times New Roman"/>
                        <a:cs typeface="Times New Roman"/>
                      </a:endParaRPr>
                    </a:p>
                  </a:txBody>
                  <a:tcPr marL="0" marR="0" marB="0" marT="1263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27000">
                        <a:lnSpc>
                          <a:spcPct val="100000"/>
                        </a:lnSpc>
                        <a:spcBef>
                          <a:spcPts val="995"/>
                        </a:spcBef>
                      </a:pPr>
                      <a:r>
                        <a:rPr dirty="0" sz="2000" b="1">
                          <a:solidFill>
                            <a:srgbClr val="40458B"/>
                          </a:solidFill>
                          <a:latin typeface="Times New Roman"/>
                          <a:cs typeface="Times New Roman"/>
                        </a:rPr>
                        <a:t>0 </a:t>
                      </a:r>
                      <a:r>
                        <a:rPr dirty="0" sz="2000" spc="-50" b="1">
                          <a:solidFill>
                            <a:srgbClr val="40458B"/>
                          </a:solidFill>
                          <a:latin typeface="Times New Roman"/>
                          <a:cs typeface="Times New Roman"/>
                        </a:rPr>
                        <a:t>0</a:t>
                      </a:r>
                      <a:endParaRPr sz="2000">
                        <a:latin typeface="Times New Roman"/>
                        <a:cs typeface="Times New Roman"/>
                      </a:endParaRPr>
                    </a:p>
                  </a:txBody>
                  <a:tcPr marL="0" marR="0" marB="0" marT="1263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995"/>
                        </a:spcBef>
                      </a:pPr>
                      <a:r>
                        <a:rPr dirty="0" sz="2000" spc="-50" b="1">
                          <a:solidFill>
                            <a:srgbClr val="40458B"/>
                          </a:solidFill>
                          <a:latin typeface="Times New Roman"/>
                          <a:cs typeface="Times New Roman"/>
                        </a:rPr>
                        <a:t>2</a:t>
                      </a:r>
                      <a:endParaRPr sz="2000">
                        <a:latin typeface="Times New Roman"/>
                        <a:cs typeface="Times New Roman"/>
                      </a:endParaRPr>
                    </a:p>
                  </a:txBody>
                  <a:tcPr marL="0" marR="0" marB="0" marT="12636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02920">
                <a:tc>
                  <a:txBody>
                    <a:bodyPr/>
                    <a:lstStyle/>
                    <a:p>
                      <a:pPr algn="ctr">
                        <a:lnSpc>
                          <a:spcPct val="100000"/>
                        </a:lnSpc>
                        <a:spcBef>
                          <a:spcPts val="850"/>
                        </a:spcBef>
                      </a:pPr>
                      <a:r>
                        <a:rPr dirty="0" sz="2000" spc="-25" b="1">
                          <a:solidFill>
                            <a:srgbClr val="339933"/>
                          </a:solidFill>
                          <a:latin typeface="Times New Roman"/>
                          <a:cs typeface="Times New Roman"/>
                        </a:rPr>
                        <a:t>I</a:t>
                      </a:r>
                      <a:r>
                        <a:rPr dirty="0" baseline="-21367" sz="1950" spc="-37" b="1">
                          <a:solidFill>
                            <a:srgbClr val="339933"/>
                          </a:solidFill>
                          <a:latin typeface="Times New Roman"/>
                          <a:cs typeface="Times New Roman"/>
                        </a:rPr>
                        <a:t>2</a:t>
                      </a:r>
                      <a:endParaRPr baseline="-21367" sz="1950">
                        <a:latin typeface="Times New Roman"/>
                        <a:cs typeface="Times New Roman"/>
                      </a:endParaRPr>
                    </a:p>
                  </a:txBody>
                  <a:tcPr marL="0" marR="0" marB="0" marT="10795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850"/>
                        </a:spcBef>
                      </a:pPr>
                      <a:r>
                        <a:rPr dirty="0" sz="2000" spc="-20" b="1">
                          <a:solidFill>
                            <a:srgbClr val="40458B"/>
                          </a:solidFill>
                          <a:latin typeface="Times New Roman"/>
                          <a:cs typeface="Times New Roman"/>
                        </a:rPr>
                        <a:t>0.30</a:t>
                      </a:r>
                      <a:endParaRPr sz="2000">
                        <a:latin typeface="Times New Roman"/>
                        <a:cs typeface="Times New Roman"/>
                      </a:endParaRPr>
                    </a:p>
                  </a:txBody>
                  <a:tcPr marL="0" marR="0" marB="0" marT="1079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27000">
                        <a:lnSpc>
                          <a:spcPct val="100000"/>
                        </a:lnSpc>
                        <a:spcBef>
                          <a:spcPts val="850"/>
                        </a:spcBef>
                      </a:pPr>
                      <a:r>
                        <a:rPr dirty="0" sz="2000" b="1">
                          <a:solidFill>
                            <a:srgbClr val="40458B"/>
                          </a:solidFill>
                          <a:latin typeface="Times New Roman"/>
                          <a:cs typeface="Times New Roman"/>
                        </a:rPr>
                        <a:t>1 </a:t>
                      </a:r>
                      <a:r>
                        <a:rPr dirty="0" sz="2000" spc="-50" b="1">
                          <a:solidFill>
                            <a:srgbClr val="40458B"/>
                          </a:solidFill>
                          <a:latin typeface="Times New Roman"/>
                          <a:cs typeface="Times New Roman"/>
                        </a:rPr>
                        <a:t>0</a:t>
                      </a:r>
                      <a:endParaRPr sz="2000">
                        <a:latin typeface="Times New Roman"/>
                        <a:cs typeface="Times New Roman"/>
                      </a:endParaRPr>
                    </a:p>
                  </a:txBody>
                  <a:tcPr marL="0" marR="0" marB="0" marT="1079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850"/>
                        </a:spcBef>
                      </a:pPr>
                      <a:r>
                        <a:rPr dirty="0" sz="2000" spc="-50" b="1">
                          <a:solidFill>
                            <a:srgbClr val="40458B"/>
                          </a:solidFill>
                          <a:latin typeface="Times New Roman"/>
                          <a:cs typeface="Times New Roman"/>
                        </a:rPr>
                        <a:t>2</a:t>
                      </a:r>
                      <a:endParaRPr sz="2000">
                        <a:latin typeface="Times New Roman"/>
                        <a:cs typeface="Times New Roman"/>
                      </a:endParaRPr>
                    </a:p>
                  </a:txBody>
                  <a:tcPr marL="0" marR="0" marB="0" marT="1079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27000">
                        <a:lnSpc>
                          <a:spcPct val="100000"/>
                        </a:lnSpc>
                        <a:spcBef>
                          <a:spcPts val="850"/>
                        </a:spcBef>
                      </a:pPr>
                      <a:r>
                        <a:rPr dirty="0" sz="2000" b="1">
                          <a:solidFill>
                            <a:srgbClr val="40458B"/>
                          </a:solidFill>
                          <a:latin typeface="Times New Roman"/>
                          <a:cs typeface="Times New Roman"/>
                        </a:rPr>
                        <a:t>0 </a:t>
                      </a:r>
                      <a:r>
                        <a:rPr dirty="0" sz="2000" spc="-50" b="1">
                          <a:solidFill>
                            <a:srgbClr val="40458B"/>
                          </a:solidFill>
                          <a:latin typeface="Times New Roman"/>
                          <a:cs typeface="Times New Roman"/>
                        </a:rPr>
                        <a:t>1</a:t>
                      </a:r>
                      <a:endParaRPr sz="2000">
                        <a:latin typeface="Times New Roman"/>
                        <a:cs typeface="Times New Roman"/>
                      </a:endParaRPr>
                    </a:p>
                  </a:txBody>
                  <a:tcPr marL="0" marR="0" marB="0" marT="1079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850"/>
                        </a:spcBef>
                      </a:pPr>
                      <a:r>
                        <a:rPr dirty="0" sz="2000" spc="-50" b="1">
                          <a:solidFill>
                            <a:srgbClr val="40458B"/>
                          </a:solidFill>
                          <a:latin typeface="Times New Roman"/>
                          <a:cs typeface="Times New Roman"/>
                        </a:rPr>
                        <a:t>2</a:t>
                      </a:r>
                      <a:endParaRPr sz="2000">
                        <a:latin typeface="Times New Roman"/>
                        <a:cs typeface="Times New Roman"/>
                      </a:endParaRPr>
                    </a:p>
                  </a:txBody>
                  <a:tcPr marL="0" marR="0" marB="0" marT="10795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75945">
                <a:tc>
                  <a:txBody>
                    <a:bodyPr/>
                    <a:lstStyle/>
                    <a:p>
                      <a:pPr algn="ctr">
                        <a:lnSpc>
                          <a:spcPct val="100000"/>
                        </a:lnSpc>
                        <a:spcBef>
                          <a:spcPts val="1140"/>
                        </a:spcBef>
                      </a:pPr>
                      <a:r>
                        <a:rPr dirty="0" sz="2000" spc="-25" b="1">
                          <a:solidFill>
                            <a:srgbClr val="339933"/>
                          </a:solidFill>
                          <a:latin typeface="Times New Roman"/>
                          <a:cs typeface="Times New Roman"/>
                        </a:rPr>
                        <a:t>I</a:t>
                      </a:r>
                      <a:r>
                        <a:rPr dirty="0" baseline="-21367" sz="1950" spc="-37" b="1">
                          <a:solidFill>
                            <a:srgbClr val="339933"/>
                          </a:solidFill>
                          <a:latin typeface="Times New Roman"/>
                          <a:cs typeface="Times New Roman"/>
                        </a:rPr>
                        <a:t>3</a:t>
                      </a:r>
                      <a:endParaRPr baseline="-21367" sz="1950">
                        <a:latin typeface="Times New Roman"/>
                        <a:cs typeface="Times New Roman"/>
                      </a:endParaRPr>
                    </a:p>
                  </a:txBody>
                  <a:tcPr marL="0" marR="0" marB="0" marT="14478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140"/>
                        </a:spcBef>
                      </a:pPr>
                      <a:r>
                        <a:rPr dirty="0" sz="2000" spc="-20" b="1">
                          <a:solidFill>
                            <a:srgbClr val="40458B"/>
                          </a:solidFill>
                          <a:latin typeface="Times New Roman"/>
                          <a:cs typeface="Times New Roman"/>
                        </a:rPr>
                        <a:t>0.15</a:t>
                      </a:r>
                      <a:endParaRPr sz="2000">
                        <a:latin typeface="Times New Roman"/>
                        <a:cs typeface="Times New Roman"/>
                      </a:endParaRPr>
                    </a:p>
                  </a:txBody>
                  <a:tcPr marL="0" marR="0" marB="0" marT="14478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27000">
                        <a:lnSpc>
                          <a:spcPct val="100000"/>
                        </a:lnSpc>
                        <a:spcBef>
                          <a:spcPts val="1140"/>
                        </a:spcBef>
                      </a:pPr>
                      <a:r>
                        <a:rPr dirty="0" sz="2000" b="1">
                          <a:solidFill>
                            <a:srgbClr val="40458B"/>
                          </a:solidFill>
                          <a:latin typeface="Times New Roman"/>
                          <a:cs typeface="Times New Roman"/>
                        </a:rPr>
                        <a:t>1 1 </a:t>
                      </a:r>
                      <a:r>
                        <a:rPr dirty="0" sz="2000" spc="-50" b="1">
                          <a:solidFill>
                            <a:srgbClr val="40458B"/>
                          </a:solidFill>
                          <a:latin typeface="Times New Roman"/>
                          <a:cs typeface="Times New Roman"/>
                        </a:rPr>
                        <a:t>0</a:t>
                      </a:r>
                      <a:endParaRPr sz="2000">
                        <a:latin typeface="Times New Roman"/>
                        <a:cs typeface="Times New Roman"/>
                      </a:endParaRPr>
                    </a:p>
                  </a:txBody>
                  <a:tcPr marL="0" marR="0" marB="0" marT="14478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140"/>
                        </a:spcBef>
                      </a:pPr>
                      <a:r>
                        <a:rPr dirty="0" sz="2000" spc="-50" b="1">
                          <a:solidFill>
                            <a:srgbClr val="40458B"/>
                          </a:solidFill>
                          <a:latin typeface="Times New Roman"/>
                          <a:cs typeface="Times New Roman"/>
                        </a:rPr>
                        <a:t>3</a:t>
                      </a:r>
                      <a:endParaRPr sz="2000">
                        <a:latin typeface="Times New Roman"/>
                        <a:cs typeface="Times New Roman"/>
                      </a:endParaRPr>
                    </a:p>
                  </a:txBody>
                  <a:tcPr marL="0" marR="0" marB="0" marT="14478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27000">
                        <a:lnSpc>
                          <a:spcPct val="100000"/>
                        </a:lnSpc>
                        <a:spcBef>
                          <a:spcPts val="1140"/>
                        </a:spcBef>
                      </a:pPr>
                      <a:r>
                        <a:rPr dirty="0" sz="2000" b="1">
                          <a:solidFill>
                            <a:srgbClr val="40458B"/>
                          </a:solidFill>
                          <a:latin typeface="Times New Roman"/>
                          <a:cs typeface="Times New Roman"/>
                        </a:rPr>
                        <a:t>1 </a:t>
                      </a:r>
                      <a:r>
                        <a:rPr dirty="0" sz="2000" spc="-50" b="1">
                          <a:solidFill>
                            <a:srgbClr val="40458B"/>
                          </a:solidFill>
                          <a:latin typeface="Times New Roman"/>
                          <a:cs typeface="Times New Roman"/>
                        </a:rPr>
                        <a:t>0</a:t>
                      </a:r>
                      <a:endParaRPr sz="2000">
                        <a:latin typeface="Times New Roman"/>
                        <a:cs typeface="Times New Roman"/>
                      </a:endParaRPr>
                    </a:p>
                  </a:txBody>
                  <a:tcPr marL="0" marR="0" marB="0" marT="14478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1140"/>
                        </a:spcBef>
                      </a:pPr>
                      <a:r>
                        <a:rPr dirty="0" sz="2000" spc="-50" b="1">
                          <a:solidFill>
                            <a:srgbClr val="40458B"/>
                          </a:solidFill>
                          <a:latin typeface="Times New Roman"/>
                          <a:cs typeface="Times New Roman"/>
                        </a:rPr>
                        <a:t>2</a:t>
                      </a:r>
                      <a:endParaRPr sz="2000">
                        <a:latin typeface="Times New Roman"/>
                        <a:cs typeface="Times New Roman"/>
                      </a:endParaRPr>
                    </a:p>
                  </a:txBody>
                  <a:tcPr marL="0" marR="0" marB="0" marT="14478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04825">
                <a:tc>
                  <a:txBody>
                    <a:bodyPr/>
                    <a:lstStyle/>
                    <a:p>
                      <a:pPr algn="ctr">
                        <a:lnSpc>
                          <a:spcPct val="100000"/>
                        </a:lnSpc>
                        <a:spcBef>
                          <a:spcPts val="860"/>
                        </a:spcBef>
                      </a:pPr>
                      <a:r>
                        <a:rPr dirty="0" sz="2000" spc="-25" b="1">
                          <a:solidFill>
                            <a:srgbClr val="339933"/>
                          </a:solidFill>
                          <a:latin typeface="Times New Roman"/>
                          <a:cs typeface="Times New Roman"/>
                        </a:rPr>
                        <a:t>I</a:t>
                      </a:r>
                      <a:r>
                        <a:rPr dirty="0" baseline="-21367" sz="1950" spc="-37" b="1">
                          <a:solidFill>
                            <a:srgbClr val="339933"/>
                          </a:solidFill>
                          <a:latin typeface="Times New Roman"/>
                          <a:cs typeface="Times New Roman"/>
                        </a:rPr>
                        <a:t>4</a:t>
                      </a:r>
                      <a:endParaRPr baseline="-21367" sz="1950">
                        <a:latin typeface="Times New Roman"/>
                        <a:cs typeface="Times New Roman"/>
                      </a:endParaRPr>
                    </a:p>
                  </a:txBody>
                  <a:tcPr marL="0" marR="0" marB="0" marT="10922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860"/>
                        </a:spcBef>
                      </a:pPr>
                      <a:r>
                        <a:rPr dirty="0" sz="2000" spc="-20" b="1">
                          <a:solidFill>
                            <a:srgbClr val="40458B"/>
                          </a:solidFill>
                          <a:latin typeface="Times New Roman"/>
                          <a:cs typeface="Times New Roman"/>
                        </a:rPr>
                        <a:t>0.05</a:t>
                      </a:r>
                      <a:endParaRPr sz="2000">
                        <a:latin typeface="Times New Roman"/>
                        <a:cs typeface="Times New Roman"/>
                      </a:endParaRPr>
                    </a:p>
                  </a:txBody>
                  <a:tcPr marL="0" marR="0" marB="0" marT="1092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27000">
                        <a:lnSpc>
                          <a:spcPct val="100000"/>
                        </a:lnSpc>
                        <a:spcBef>
                          <a:spcPts val="860"/>
                        </a:spcBef>
                      </a:pPr>
                      <a:r>
                        <a:rPr dirty="0" sz="2000" b="1">
                          <a:solidFill>
                            <a:srgbClr val="40458B"/>
                          </a:solidFill>
                          <a:latin typeface="Times New Roman"/>
                          <a:cs typeface="Times New Roman"/>
                        </a:rPr>
                        <a:t>1 1 1</a:t>
                      </a:r>
                      <a:r>
                        <a:rPr dirty="0" sz="2000" spc="-10" b="1">
                          <a:solidFill>
                            <a:srgbClr val="40458B"/>
                          </a:solidFill>
                          <a:latin typeface="Times New Roman"/>
                          <a:cs typeface="Times New Roman"/>
                        </a:rPr>
                        <a:t> </a:t>
                      </a:r>
                      <a:r>
                        <a:rPr dirty="0" sz="2000" b="1">
                          <a:solidFill>
                            <a:srgbClr val="40458B"/>
                          </a:solidFill>
                          <a:latin typeface="Times New Roman"/>
                          <a:cs typeface="Times New Roman"/>
                        </a:rPr>
                        <a:t>0 </a:t>
                      </a:r>
                      <a:r>
                        <a:rPr dirty="0" sz="2000" spc="-50" b="1">
                          <a:solidFill>
                            <a:srgbClr val="40458B"/>
                          </a:solidFill>
                          <a:latin typeface="Times New Roman"/>
                          <a:cs typeface="Times New Roman"/>
                        </a:rPr>
                        <a:t>0</a:t>
                      </a:r>
                      <a:endParaRPr sz="2000">
                        <a:latin typeface="Times New Roman"/>
                        <a:cs typeface="Times New Roman"/>
                      </a:endParaRPr>
                    </a:p>
                  </a:txBody>
                  <a:tcPr marL="0" marR="0" marB="0" marT="1092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860"/>
                        </a:spcBef>
                      </a:pPr>
                      <a:r>
                        <a:rPr dirty="0" sz="2000" spc="-50" b="1">
                          <a:solidFill>
                            <a:srgbClr val="40458B"/>
                          </a:solidFill>
                          <a:latin typeface="Times New Roman"/>
                          <a:cs typeface="Times New Roman"/>
                        </a:rPr>
                        <a:t>5</a:t>
                      </a:r>
                      <a:endParaRPr sz="2000">
                        <a:latin typeface="Times New Roman"/>
                        <a:cs typeface="Times New Roman"/>
                      </a:endParaRPr>
                    </a:p>
                  </a:txBody>
                  <a:tcPr marL="0" marR="0" marB="0" marT="1092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27000">
                        <a:lnSpc>
                          <a:spcPct val="100000"/>
                        </a:lnSpc>
                        <a:spcBef>
                          <a:spcPts val="860"/>
                        </a:spcBef>
                      </a:pPr>
                      <a:r>
                        <a:rPr dirty="0" sz="2000" b="1">
                          <a:solidFill>
                            <a:srgbClr val="40458B"/>
                          </a:solidFill>
                          <a:latin typeface="Times New Roman"/>
                          <a:cs typeface="Times New Roman"/>
                        </a:rPr>
                        <a:t>1 1 0</a:t>
                      </a:r>
                      <a:r>
                        <a:rPr dirty="0" sz="2000" spc="-10" b="1">
                          <a:solidFill>
                            <a:srgbClr val="40458B"/>
                          </a:solidFill>
                          <a:latin typeface="Times New Roman"/>
                          <a:cs typeface="Times New Roman"/>
                        </a:rPr>
                        <a:t> </a:t>
                      </a:r>
                      <a:r>
                        <a:rPr dirty="0" sz="2000" spc="-50" b="1">
                          <a:solidFill>
                            <a:srgbClr val="40458B"/>
                          </a:solidFill>
                          <a:latin typeface="Times New Roman"/>
                          <a:cs typeface="Times New Roman"/>
                        </a:rPr>
                        <a:t>0</a:t>
                      </a:r>
                      <a:endParaRPr sz="2000">
                        <a:latin typeface="Times New Roman"/>
                        <a:cs typeface="Times New Roman"/>
                      </a:endParaRPr>
                    </a:p>
                  </a:txBody>
                  <a:tcPr marL="0" marR="0" marB="0" marT="1092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860"/>
                        </a:spcBef>
                      </a:pPr>
                      <a:r>
                        <a:rPr dirty="0" sz="2000" spc="-50" b="1">
                          <a:solidFill>
                            <a:srgbClr val="40458B"/>
                          </a:solidFill>
                          <a:latin typeface="Times New Roman"/>
                          <a:cs typeface="Times New Roman"/>
                        </a:rPr>
                        <a:t>4</a:t>
                      </a:r>
                      <a:endParaRPr sz="2000">
                        <a:latin typeface="Times New Roman"/>
                        <a:cs typeface="Times New Roman"/>
                      </a:endParaRPr>
                    </a:p>
                  </a:txBody>
                  <a:tcPr marL="0" marR="0" marB="0" marT="10922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02920">
                <a:tc>
                  <a:txBody>
                    <a:bodyPr/>
                    <a:lstStyle/>
                    <a:p>
                      <a:pPr algn="ctr">
                        <a:lnSpc>
                          <a:spcPct val="100000"/>
                        </a:lnSpc>
                        <a:spcBef>
                          <a:spcPts val="855"/>
                        </a:spcBef>
                      </a:pPr>
                      <a:r>
                        <a:rPr dirty="0" sz="2000" spc="-25" b="1">
                          <a:solidFill>
                            <a:srgbClr val="339933"/>
                          </a:solidFill>
                          <a:latin typeface="Times New Roman"/>
                          <a:cs typeface="Times New Roman"/>
                        </a:rPr>
                        <a:t>I</a:t>
                      </a:r>
                      <a:r>
                        <a:rPr dirty="0" baseline="-21367" sz="1950" spc="-37" b="1">
                          <a:solidFill>
                            <a:srgbClr val="339933"/>
                          </a:solidFill>
                          <a:latin typeface="Times New Roman"/>
                          <a:cs typeface="Times New Roman"/>
                        </a:rPr>
                        <a:t>5</a:t>
                      </a:r>
                      <a:endParaRPr baseline="-21367" sz="1950">
                        <a:latin typeface="Times New Roman"/>
                        <a:cs typeface="Times New Roman"/>
                      </a:endParaRPr>
                    </a:p>
                  </a:txBody>
                  <a:tcPr marL="0" marR="0" marB="0" marT="10858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855"/>
                        </a:spcBef>
                      </a:pPr>
                      <a:r>
                        <a:rPr dirty="0" sz="2000" spc="-20" b="1">
                          <a:solidFill>
                            <a:srgbClr val="40458B"/>
                          </a:solidFill>
                          <a:latin typeface="Times New Roman"/>
                          <a:cs typeface="Times New Roman"/>
                        </a:rPr>
                        <a:t>0.04</a:t>
                      </a:r>
                      <a:endParaRPr sz="2000">
                        <a:latin typeface="Times New Roman"/>
                        <a:cs typeface="Times New Roman"/>
                      </a:endParaRPr>
                    </a:p>
                  </a:txBody>
                  <a:tcPr marL="0" marR="0" marB="0" marT="10858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27000">
                        <a:lnSpc>
                          <a:spcPct val="100000"/>
                        </a:lnSpc>
                        <a:spcBef>
                          <a:spcPts val="855"/>
                        </a:spcBef>
                      </a:pPr>
                      <a:r>
                        <a:rPr dirty="0" sz="2000" b="1">
                          <a:solidFill>
                            <a:srgbClr val="40458B"/>
                          </a:solidFill>
                          <a:latin typeface="Times New Roman"/>
                          <a:cs typeface="Times New Roman"/>
                        </a:rPr>
                        <a:t>1 1 1</a:t>
                      </a:r>
                      <a:r>
                        <a:rPr dirty="0" sz="2000" spc="-10" b="1">
                          <a:solidFill>
                            <a:srgbClr val="40458B"/>
                          </a:solidFill>
                          <a:latin typeface="Times New Roman"/>
                          <a:cs typeface="Times New Roman"/>
                        </a:rPr>
                        <a:t> </a:t>
                      </a:r>
                      <a:r>
                        <a:rPr dirty="0" sz="2000" b="1">
                          <a:solidFill>
                            <a:srgbClr val="40458B"/>
                          </a:solidFill>
                          <a:latin typeface="Times New Roman"/>
                          <a:cs typeface="Times New Roman"/>
                        </a:rPr>
                        <a:t>0 </a:t>
                      </a:r>
                      <a:r>
                        <a:rPr dirty="0" sz="2000" spc="-50" b="1">
                          <a:solidFill>
                            <a:srgbClr val="40458B"/>
                          </a:solidFill>
                          <a:latin typeface="Times New Roman"/>
                          <a:cs typeface="Times New Roman"/>
                        </a:rPr>
                        <a:t>1</a:t>
                      </a:r>
                      <a:endParaRPr sz="2000">
                        <a:latin typeface="Times New Roman"/>
                        <a:cs typeface="Times New Roman"/>
                      </a:endParaRPr>
                    </a:p>
                  </a:txBody>
                  <a:tcPr marL="0" marR="0" marB="0" marT="10858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855"/>
                        </a:spcBef>
                      </a:pPr>
                      <a:r>
                        <a:rPr dirty="0" sz="2000" spc="-50" b="1">
                          <a:solidFill>
                            <a:srgbClr val="40458B"/>
                          </a:solidFill>
                          <a:latin typeface="Times New Roman"/>
                          <a:cs typeface="Times New Roman"/>
                        </a:rPr>
                        <a:t>5</a:t>
                      </a:r>
                      <a:endParaRPr sz="2000">
                        <a:latin typeface="Times New Roman"/>
                        <a:cs typeface="Times New Roman"/>
                      </a:endParaRPr>
                    </a:p>
                  </a:txBody>
                  <a:tcPr marL="0" marR="0" marB="0" marT="10858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27000">
                        <a:lnSpc>
                          <a:spcPct val="100000"/>
                        </a:lnSpc>
                        <a:spcBef>
                          <a:spcPts val="855"/>
                        </a:spcBef>
                      </a:pPr>
                      <a:r>
                        <a:rPr dirty="0" sz="2000" b="1">
                          <a:solidFill>
                            <a:srgbClr val="40458B"/>
                          </a:solidFill>
                          <a:latin typeface="Times New Roman"/>
                          <a:cs typeface="Times New Roman"/>
                        </a:rPr>
                        <a:t>1 1 0</a:t>
                      </a:r>
                      <a:r>
                        <a:rPr dirty="0" sz="2000" spc="-10" b="1">
                          <a:solidFill>
                            <a:srgbClr val="40458B"/>
                          </a:solidFill>
                          <a:latin typeface="Times New Roman"/>
                          <a:cs typeface="Times New Roman"/>
                        </a:rPr>
                        <a:t> </a:t>
                      </a:r>
                      <a:r>
                        <a:rPr dirty="0" sz="2000" spc="-50" b="1">
                          <a:solidFill>
                            <a:srgbClr val="40458B"/>
                          </a:solidFill>
                          <a:latin typeface="Times New Roman"/>
                          <a:cs typeface="Times New Roman"/>
                        </a:rPr>
                        <a:t>1</a:t>
                      </a:r>
                      <a:endParaRPr sz="2000">
                        <a:latin typeface="Times New Roman"/>
                        <a:cs typeface="Times New Roman"/>
                      </a:endParaRPr>
                    </a:p>
                  </a:txBody>
                  <a:tcPr marL="0" marR="0" marB="0" marT="10858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855"/>
                        </a:spcBef>
                      </a:pPr>
                      <a:r>
                        <a:rPr dirty="0" sz="2000" spc="-50" b="1">
                          <a:solidFill>
                            <a:srgbClr val="40458B"/>
                          </a:solidFill>
                          <a:latin typeface="Times New Roman"/>
                          <a:cs typeface="Times New Roman"/>
                        </a:rPr>
                        <a:t>4</a:t>
                      </a:r>
                      <a:endParaRPr sz="2000">
                        <a:latin typeface="Times New Roman"/>
                        <a:cs typeface="Times New Roman"/>
                      </a:endParaRPr>
                    </a:p>
                  </a:txBody>
                  <a:tcPr marL="0" marR="0" marB="0" marT="10858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04825">
                <a:tc>
                  <a:txBody>
                    <a:bodyPr/>
                    <a:lstStyle/>
                    <a:p>
                      <a:pPr algn="ctr">
                        <a:lnSpc>
                          <a:spcPct val="100000"/>
                        </a:lnSpc>
                        <a:spcBef>
                          <a:spcPts val="860"/>
                        </a:spcBef>
                      </a:pPr>
                      <a:r>
                        <a:rPr dirty="0" sz="2000" spc="-25" b="1">
                          <a:solidFill>
                            <a:srgbClr val="339933"/>
                          </a:solidFill>
                          <a:latin typeface="Times New Roman"/>
                          <a:cs typeface="Times New Roman"/>
                        </a:rPr>
                        <a:t>I</a:t>
                      </a:r>
                      <a:r>
                        <a:rPr dirty="0" baseline="-21367" sz="1950" spc="-37" b="1">
                          <a:solidFill>
                            <a:srgbClr val="339933"/>
                          </a:solidFill>
                          <a:latin typeface="Times New Roman"/>
                          <a:cs typeface="Times New Roman"/>
                        </a:rPr>
                        <a:t>6</a:t>
                      </a:r>
                      <a:endParaRPr baseline="-21367" sz="1950">
                        <a:latin typeface="Times New Roman"/>
                        <a:cs typeface="Times New Roman"/>
                      </a:endParaRPr>
                    </a:p>
                  </a:txBody>
                  <a:tcPr marL="0" marR="0" marB="0" marT="10922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860"/>
                        </a:spcBef>
                      </a:pPr>
                      <a:r>
                        <a:rPr dirty="0" sz="2000" spc="-20" b="1">
                          <a:solidFill>
                            <a:srgbClr val="40458B"/>
                          </a:solidFill>
                          <a:latin typeface="Times New Roman"/>
                          <a:cs typeface="Times New Roman"/>
                        </a:rPr>
                        <a:t>0.03</a:t>
                      </a:r>
                      <a:endParaRPr sz="2000">
                        <a:latin typeface="Times New Roman"/>
                        <a:cs typeface="Times New Roman"/>
                      </a:endParaRPr>
                    </a:p>
                  </a:txBody>
                  <a:tcPr marL="0" marR="0" marB="0" marT="1092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27000">
                        <a:lnSpc>
                          <a:spcPct val="100000"/>
                        </a:lnSpc>
                        <a:spcBef>
                          <a:spcPts val="860"/>
                        </a:spcBef>
                      </a:pPr>
                      <a:r>
                        <a:rPr dirty="0" sz="2000" b="1">
                          <a:solidFill>
                            <a:srgbClr val="40458B"/>
                          </a:solidFill>
                          <a:latin typeface="Times New Roman"/>
                          <a:cs typeface="Times New Roman"/>
                        </a:rPr>
                        <a:t>1 1 1</a:t>
                      </a:r>
                      <a:r>
                        <a:rPr dirty="0" sz="2000" spc="-10" b="1">
                          <a:solidFill>
                            <a:srgbClr val="40458B"/>
                          </a:solidFill>
                          <a:latin typeface="Times New Roman"/>
                          <a:cs typeface="Times New Roman"/>
                        </a:rPr>
                        <a:t> </a:t>
                      </a:r>
                      <a:r>
                        <a:rPr dirty="0" sz="2000" b="1">
                          <a:solidFill>
                            <a:srgbClr val="40458B"/>
                          </a:solidFill>
                          <a:latin typeface="Times New Roman"/>
                          <a:cs typeface="Times New Roman"/>
                        </a:rPr>
                        <a:t>1 </a:t>
                      </a:r>
                      <a:r>
                        <a:rPr dirty="0" sz="2000" spc="-50" b="1">
                          <a:solidFill>
                            <a:srgbClr val="40458B"/>
                          </a:solidFill>
                          <a:latin typeface="Times New Roman"/>
                          <a:cs typeface="Times New Roman"/>
                        </a:rPr>
                        <a:t>0</a:t>
                      </a:r>
                      <a:endParaRPr sz="2000">
                        <a:latin typeface="Times New Roman"/>
                        <a:cs typeface="Times New Roman"/>
                      </a:endParaRPr>
                    </a:p>
                  </a:txBody>
                  <a:tcPr marL="0" marR="0" marB="0" marT="1092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860"/>
                        </a:spcBef>
                      </a:pPr>
                      <a:r>
                        <a:rPr dirty="0" sz="2000" spc="-50" b="1">
                          <a:solidFill>
                            <a:srgbClr val="40458B"/>
                          </a:solidFill>
                          <a:latin typeface="Times New Roman"/>
                          <a:cs typeface="Times New Roman"/>
                        </a:rPr>
                        <a:t>5</a:t>
                      </a:r>
                      <a:endParaRPr sz="2000">
                        <a:latin typeface="Times New Roman"/>
                        <a:cs typeface="Times New Roman"/>
                      </a:endParaRPr>
                    </a:p>
                  </a:txBody>
                  <a:tcPr marL="0" marR="0" marB="0" marT="1092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27000">
                        <a:lnSpc>
                          <a:spcPct val="100000"/>
                        </a:lnSpc>
                        <a:spcBef>
                          <a:spcPts val="860"/>
                        </a:spcBef>
                      </a:pPr>
                      <a:r>
                        <a:rPr dirty="0" sz="2000" b="1">
                          <a:solidFill>
                            <a:srgbClr val="40458B"/>
                          </a:solidFill>
                          <a:latin typeface="Times New Roman"/>
                          <a:cs typeface="Times New Roman"/>
                        </a:rPr>
                        <a:t>1 1 1</a:t>
                      </a:r>
                      <a:r>
                        <a:rPr dirty="0" sz="2000" spc="-10" b="1">
                          <a:solidFill>
                            <a:srgbClr val="40458B"/>
                          </a:solidFill>
                          <a:latin typeface="Times New Roman"/>
                          <a:cs typeface="Times New Roman"/>
                        </a:rPr>
                        <a:t> </a:t>
                      </a:r>
                      <a:r>
                        <a:rPr dirty="0" sz="2000" spc="-50" b="1">
                          <a:solidFill>
                            <a:srgbClr val="40458B"/>
                          </a:solidFill>
                          <a:latin typeface="Times New Roman"/>
                          <a:cs typeface="Times New Roman"/>
                        </a:rPr>
                        <a:t>0</a:t>
                      </a:r>
                      <a:endParaRPr sz="2000">
                        <a:latin typeface="Times New Roman"/>
                        <a:cs typeface="Times New Roman"/>
                      </a:endParaRPr>
                    </a:p>
                  </a:txBody>
                  <a:tcPr marL="0" marR="0" marB="0" marT="1092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860"/>
                        </a:spcBef>
                      </a:pPr>
                      <a:r>
                        <a:rPr dirty="0" sz="2000" spc="-50" b="1">
                          <a:solidFill>
                            <a:srgbClr val="40458B"/>
                          </a:solidFill>
                          <a:latin typeface="Times New Roman"/>
                          <a:cs typeface="Times New Roman"/>
                        </a:rPr>
                        <a:t>4</a:t>
                      </a:r>
                      <a:endParaRPr sz="2000">
                        <a:latin typeface="Times New Roman"/>
                        <a:cs typeface="Times New Roman"/>
                      </a:endParaRPr>
                    </a:p>
                  </a:txBody>
                  <a:tcPr marL="0" marR="0" marB="0" marT="10922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04825">
                <a:tc>
                  <a:txBody>
                    <a:bodyPr/>
                    <a:lstStyle/>
                    <a:p>
                      <a:pPr algn="ctr">
                        <a:lnSpc>
                          <a:spcPct val="100000"/>
                        </a:lnSpc>
                        <a:spcBef>
                          <a:spcPts val="860"/>
                        </a:spcBef>
                      </a:pPr>
                      <a:r>
                        <a:rPr dirty="0" sz="2000" spc="-25" b="1">
                          <a:solidFill>
                            <a:srgbClr val="339933"/>
                          </a:solidFill>
                          <a:latin typeface="Times New Roman"/>
                          <a:cs typeface="Times New Roman"/>
                        </a:rPr>
                        <a:t>I</a:t>
                      </a:r>
                      <a:r>
                        <a:rPr dirty="0" baseline="-21367" sz="1950" spc="-37" b="1">
                          <a:solidFill>
                            <a:srgbClr val="339933"/>
                          </a:solidFill>
                          <a:latin typeface="Times New Roman"/>
                          <a:cs typeface="Times New Roman"/>
                        </a:rPr>
                        <a:t>7</a:t>
                      </a:r>
                      <a:endParaRPr baseline="-21367" sz="1950">
                        <a:latin typeface="Times New Roman"/>
                        <a:cs typeface="Times New Roman"/>
                      </a:endParaRPr>
                    </a:p>
                  </a:txBody>
                  <a:tcPr marL="0" marR="0" marB="0" marT="10922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860"/>
                        </a:spcBef>
                      </a:pPr>
                      <a:r>
                        <a:rPr dirty="0" sz="2000" spc="-20" b="1">
                          <a:solidFill>
                            <a:srgbClr val="40458B"/>
                          </a:solidFill>
                          <a:latin typeface="Times New Roman"/>
                          <a:cs typeface="Times New Roman"/>
                        </a:rPr>
                        <a:t>0.03</a:t>
                      </a:r>
                      <a:endParaRPr sz="2000">
                        <a:latin typeface="Times New Roman"/>
                        <a:cs typeface="Times New Roman"/>
                      </a:endParaRPr>
                    </a:p>
                  </a:txBody>
                  <a:tcPr marL="0" marR="0" marB="0" marT="10922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127000">
                        <a:lnSpc>
                          <a:spcPct val="100000"/>
                        </a:lnSpc>
                        <a:spcBef>
                          <a:spcPts val="860"/>
                        </a:spcBef>
                      </a:pPr>
                      <a:r>
                        <a:rPr dirty="0" sz="2000" b="1">
                          <a:solidFill>
                            <a:srgbClr val="40458B"/>
                          </a:solidFill>
                          <a:latin typeface="Times New Roman"/>
                          <a:cs typeface="Times New Roman"/>
                        </a:rPr>
                        <a:t>1 1 1</a:t>
                      </a:r>
                      <a:r>
                        <a:rPr dirty="0" sz="2000" spc="-10" b="1">
                          <a:solidFill>
                            <a:srgbClr val="40458B"/>
                          </a:solidFill>
                          <a:latin typeface="Times New Roman"/>
                          <a:cs typeface="Times New Roman"/>
                        </a:rPr>
                        <a:t> </a:t>
                      </a:r>
                      <a:r>
                        <a:rPr dirty="0" sz="2000" b="1">
                          <a:solidFill>
                            <a:srgbClr val="40458B"/>
                          </a:solidFill>
                          <a:latin typeface="Times New Roman"/>
                          <a:cs typeface="Times New Roman"/>
                        </a:rPr>
                        <a:t>1 </a:t>
                      </a:r>
                      <a:r>
                        <a:rPr dirty="0" sz="2000" spc="-50" b="1">
                          <a:solidFill>
                            <a:srgbClr val="40458B"/>
                          </a:solidFill>
                          <a:latin typeface="Times New Roman"/>
                          <a:cs typeface="Times New Roman"/>
                        </a:rPr>
                        <a:t>1</a:t>
                      </a:r>
                      <a:endParaRPr sz="2000">
                        <a:latin typeface="Times New Roman"/>
                        <a:cs typeface="Times New Roman"/>
                      </a:endParaRPr>
                    </a:p>
                  </a:txBody>
                  <a:tcPr marL="0" marR="0" marB="0" marT="10922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860"/>
                        </a:spcBef>
                      </a:pPr>
                      <a:r>
                        <a:rPr dirty="0" sz="2000" spc="-50" b="1">
                          <a:solidFill>
                            <a:srgbClr val="40458B"/>
                          </a:solidFill>
                          <a:latin typeface="Times New Roman"/>
                          <a:cs typeface="Times New Roman"/>
                        </a:rPr>
                        <a:t>5</a:t>
                      </a:r>
                      <a:endParaRPr sz="2000">
                        <a:latin typeface="Times New Roman"/>
                        <a:cs typeface="Times New Roman"/>
                      </a:endParaRPr>
                    </a:p>
                  </a:txBody>
                  <a:tcPr marL="0" marR="0" marB="0" marT="10922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127000">
                        <a:lnSpc>
                          <a:spcPct val="100000"/>
                        </a:lnSpc>
                        <a:spcBef>
                          <a:spcPts val="860"/>
                        </a:spcBef>
                      </a:pPr>
                      <a:r>
                        <a:rPr dirty="0" sz="2000" b="1">
                          <a:solidFill>
                            <a:srgbClr val="40458B"/>
                          </a:solidFill>
                          <a:latin typeface="Times New Roman"/>
                          <a:cs typeface="Times New Roman"/>
                        </a:rPr>
                        <a:t>1 1 1</a:t>
                      </a:r>
                      <a:r>
                        <a:rPr dirty="0" sz="2000" spc="-10" b="1">
                          <a:solidFill>
                            <a:srgbClr val="40458B"/>
                          </a:solidFill>
                          <a:latin typeface="Times New Roman"/>
                          <a:cs typeface="Times New Roman"/>
                        </a:rPr>
                        <a:t> </a:t>
                      </a:r>
                      <a:r>
                        <a:rPr dirty="0" sz="2000" spc="-50" b="1">
                          <a:solidFill>
                            <a:srgbClr val="40458B"/>
                          </a:solidFill>
                          <a:latin typeface="Times New Roman"/>
                          <a:cs typeface="Times New Roman"/>
                        </a:rPr>
                        <a:t>1</a:t>
                      </a:r>
                      <a:endParaRPr sz="2000">
                        <a:latin typeface="Times New Roman"/>
                        <a:cs typeface="Times New Roman"/>
                      </a:endParaRPr>
                    </a:p>
                  </a:txBody>
                  <a:tcPr marL="0" marR="0" marB="0" marT="10922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905">
                        <a:lnSpc>
                          <a:spcPct val="100000"/>
                        </a:lnSpc>
                        <a:spcBef>
                          <a:spcPts val="860"/>
                        </a:spcBef>
                      </a:pPr>
                      <a:r>
                        <a:rPr dirty="0" sz="2000" spc="-50" b="1">
                          <a:solidFill>
                            <a:srgbClr val="40458B"/>
                          </a:solidFill>
                          <a:latin typeface="Times New Roman"/>
                          <a:cs typeface="Times New Roman"/>
                        </a:rPr>
                        <a:t>4</a:t>
                      </a:r>
                      <a:endParaRPr sz="2000">
                        <a:latin typeface="Times New Roman"/>
                        <a:cs typeface="Times New Roman"/>
                      </a:endParaRPr>
                    </a:p>
                  </a:txBody>
                  <a:tcPr marL="0" marR="0" marB="0" marT="10922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5" name="object 5" descr=""/>
          <p:cNvSpPr/>
          <p:nvPr/>
        </p:nvSpPr>
        <p:spPr>
          <a:xfrm>
            <a:off x="3432175" y="2133600"/>
            <a:ext cx="863600" cy="3672204"/>
          </a:xfrm>
          <a:custGeom>
            <a:avLst/>
            <a:gdLst/>
            <a:ahLst/>
            <a:cxnLst/>
            <a:rect l="l" t="t" r="r" b="b"/>
            <a:pathLst>
              <a:path w="863600" h="3672204">
                <a:moveTo>
                  <a:pt x="0" y="1835912"/>
                </a:moveTo>
                <a:lnTo>
                  <a:pt x="342" y="1762071"/>
                </a:lnTo>
                <a:lnTo>
                  <a:pt x="1362" y="1688970"/>
                </a:lnTo>
                <a:lnTo>
                  <a:pt x="3046" y="1616664"/>
                </a:lnTo>
                <a:lnTo>
                  <a:pt x="5381" y="1545208"/>
                </a:lnTo>
                <a:lnTo>
                  <a:pt x="8355" y="1474657"/>
                </a:lnTo>
                <a:lnTo>
                  <a:pt x="11954" y="1405066"/>
                </a:lnTo>
                <a:lnTo>
                  <a:pt x="16166" y="1336489"/>
                </a:lnTo>
                <a:lnTo>
                  <a:pt x="20977" y="1268981"/>
                </a:lnTo>
                <a:lnTo>
                  <a:pt x="26375" y="1202598"/>
                </a:lnTo>
                <a:lnTo>
                  <a:pt x="32347" y="1137393"/>
                </a:lnTo>
                <a:lnTo>
                  <a:pt x="38880" y="1073422"/>
                </a:lnTo>
                <a:lnTo>
                  <a:pt x="45961" y="1010740"/>
                </a:lnTo>
                <a:lnTo>
                  <a:pt x="53578" y="949401"/>
                </a:lnTo>
                <a:lnTo>
                  <a:pt x="61716" y="889460"/>
                </a:lnTo>
                <a:lnTo>
                  <a:pt x="70365" y="830973"/>
                </a:lnTo>
                <a:lnTo>
                  <a:pt x="79509" y="773994"/>
                </a:lnTo>
                <a:lnTo>
                  <a:pt x="89138" y="718577"/>
                </a:lnTo>
                <a:lnTo>
                  <a:pt x="99237" y="664778"/>
                </a:lnTo>
                <a:lnTo>
                  <a:pt x="109794" y="612651"/>
                </a:lnTo>
                <a:lnTo>
                  <a:pt x="120796" y="562252"/>
                </a:lnTo>
                <a:lnTo>
                  <a:pt x="132230" y="513635"/>
                </a:lnTo>
                <a:lnTo>
                  <a:pt x="144083" y="466855"/>
                </a:lnTo>
                <a:lnTo>
                  <a:pt x="156343" y="421967"/>
                </a:lnTo>
                <a:lnTo>
                  <a:pt x="168996" y="379025"/>
                </a:lnTo>
                <a:lnTo>
                  <a:pt x="182030" y="338085"/>
                </a:lnTo>
                <a:lnTo>
                  <a:pt x="195431" y="299202"/>
                </a:lnTo>
                <a:lnTo>
                  <a:pt x="209187" y="262429"/>
                </a:lnTo>
                <a:lnTo>
                  <a:pt x="237711" y="195437"/>
                </a:lnTo>
                <a:lnTo>
                  <a:pt x="267500" y="137548"/>
                </a:lnTo>
                <a:lnTo>
                  <a:pt x="298450" y="89201"/>
                </a:lnTo>
                <a:lnTo>
                  <a:pt x="330458" y="50833"/>
                </a:lnTo>
                <a:lnTo>
                  <a:pt x="363421" y="22885"/>
                </a:lnTo>
                <a:lnTo>
                  <a:pt x="414431" y="1457"/>
                </a:lnTo>
                <a:lnTo>
                  <a:pt x="431800" y="0"/>
                </a:lnTo>
                <a:lnTo>
                  <a:pt x="449168" y="1457"/>
                </a:lnTo>
                <a:lnTo>
                  <a:pt x="500178" y="22885"/>
                </a:lnTo>
                <a:lnTo>
                  <a:pt x="533141" y="50833"/>
                </a:lnTo>
                <a:lnTo>
                  <a:pt x="565149" y="89201"/>
                </a:lnTo>
                <a:lnTo>
                  <a:pt x="596099" y="137548"/>
                </a:lnTo>
                <a:lnTo>
                  <a:pt x="625888" y="195437"/>
                </a:lnTo>
                <a:lnTo>
                  <a:pt x="654412" y="262429"/>
                </a:lnTo>
                <a:lnTo>
                  <a:pt x="668168" y="299202"/>
                </a:lnTo>
                <a:lnTo>
                  <a:pt x="681569" y="338085"/>
                </a:lnTo>
                <a:lnTo>
                  <a:pt x="694603" y="379025"/>
                </a:lnTo>
                <a:lnTo>
                  <a:pt x="707256" y="421967"/>
                </a:lnTo>
                <a:lnTo>
                  <a:pt x="719516" y="466855"/>
                </a:lnTo>
                <a:lnTo>
                  <a:pt x="731369" y="513635"/>
                </a:lnTo>
                <a:lnTo>
                  <a:pt x="742803" y="562252"/>
                </a:lnTo>
                <a:lnTo>
                  <a:pt x="753805" y="612651"/>
                </a:lnTo>
                <a:lnTo>
                  <a:pt x="764362" y="664778"/>
                </a:lnTo>
                <a:lnTo>
                  <a:pt x="774461" y="718577"/>
                </a:lnTo>
                <a:lnTo>
                  <a:pt x="784090" y="773994"/>
                </a:lnTo>
                <a:lnTo>
                  <a:pt x="793234" y="830973"/>
                </a:lnTo>
                <a:lnTo>
                  <a:pt x="801883" y="889460"/>
                </a:lnTo>
                <a:lnTo>
                  <a:pt x="810021" y="949401"/>
                </a:lnTo>
                <a:lnTo>
                  <a:pt x="817638" y="1010740"/>
                </a:lnTo>
                <a:lnTo>
                  <a:pt x="824719" y="1073422"/>
                </a:lnTo>
                <a:lnTo>
                  <a:pt x="831252" y="1137393"/>
                </a:lnTo>
                <a:lnTo>
                  <a:pt x="837224" y="1202598"/>
                </a:lnTo>
                <a:lnTo>
                  <a:pt x="842622" y="1268981"/>
                </a:lnTo>
                <a:lnTo>
                  <a:pt x="847433" y="1336489"/>
                </a:lnTo>
                <a:lnTo>
                  <a:pt x="851645" y="1405066"/>
                </a:lnTo>
                <a:lnTo>
                  <a:pt x="855244" y="1474657"/>
                </a:lnTo>
                <a:lnTo>
                  <a:pt x="858218" y="1545208"/>
                </a:lnTo>
                <a:lnTo>
                  <a:pt x="860553" y="1616664"/>
                </a:lnTo>
                <a:lnTo>
                  <a:pt x="862237" y="1688970"/>
                </a:lnTo>
                <a:lnTo>
                  <a:pt x="863257" y="1762071"/>
                </a:lnTo>
                <a:lnTo>
                  <a:pt x="863600" y="1835912"/>
                </a:lnTo>
                <a:lnTo>
                  <a:pt x="863257" y="1909753"/>
                </a:lnTo>
                <a:lnTo>
                  <a:pt x="862237" y="1982854"/>
                </a:lnTo>
                <a:lnTo>
                  <a:pt x="860553" y="2055160"/>
                </a:lnTo>
                <a:lnTo>
                  <a:pt x="858218" y="2126616"/>
                </a:lnTo>
                <a:lnTo>
                  <a:pt x="855244" y="2197168"/>
                </a:lnTo>
                <a:lnTo>
                  <a:pt x="851645" y="2266761"/>
                </a:lnTo>
                <a:lnTo>
                  <a:pt x="847433" y="2335339"/>
                </a:lnTo>
                <a:lnTo>
                  <a:pt x="842622" y="2402848"/>
                </a:lnTo>
                <a:lnTo>
                  <a:pt x="837224" y="2469233"/>
                </a:lnTo>
                <a:lnTo>
                  <a:pt x="831252" y="2534439"/>
                </a:lnTo>
                <a:lnTo>
                  <a:pt x="824719" y="2598412"/>
                </a:lnTo>
                <a:lnTo>
                  <a:pt x="817638" y="2661096"/>
                </a:lnTo>
                <a:lnTo>
                  <a:pt x="810021" y="2722437"/>
                </a:lnTo>
                <a:lnTo>
                  <a:pt x="801883" y="2782380"/>
                </a:lnTo>
                <a:lnTo>
                  <a:pt x="793234" y="2840869"/>
                </a:lnTo>
                <a:lnTo>
                  <a:pt x="784090" y="2897851"/>
                </a:lnTo>
                <a:lnTo>
                  <a:pt x="774461" y="2953270"/>
                </a:lnTo>
                <a:lnTo>
                  <a:pt x="764362" y="3007071"/>
                </a:lnTo>
                <a:lnTo>
                  <a:pt x="753805" y="3059200"/>
                </a:lnTo>
                <a:lnTo>
                  <a:pt x="742803" y="3109601"/>
                </a:lnTo>
                <a:lnTo>
                  <a:pt x="731369" y="3158221"/>
                </a:lnTo>
                <a:lnTo>
                  <a:pt x="719516" y="3205003"/>
                </a:lnTo>
                <a:lnTo>
                  <a:pt x="707256" y="3249894"/>
                </a:lnTo>
                <a:lnTo>
                  <a:pt x="694603" y="3292837"/>
                </a:lnTo>
                <a:lnTo>
                  <a:pt x="681569" y="3333780"/>
                </a:lnTo>
                <a:lnTo>
                  <a:pt x="668168" y="3372665"/>
                </a:lnTo>
                <a:lnTo>
                  <a:pt x="654412" y="3409440"/>
                </a:lnTo>
                <a:lnTo>
                  <a:pt x="625888" y="3476436"/>
                </a:lnTo>
                <a:lnTo>
                  <a:pt x="596099" y="3534329"/>
                </a:lnTo>
                <a:lnTo>
                  <a:pt x="565149" y="3582680"/>
                </a:lnTo>
                <a:lnTo>
                  <a:pt x="533141" y="3621050"/>
                </a:lnTo>
                <a:lnTo>
                  <a:pt x="500178" y="3649000"/>
                </a:lnTo>
                <a:lnTo>
                  <a:pt x="449168" y="3670429"/>
                </a:lnTo>
                <a:lnTo>
                  <a:pt x="431800" y="3671887"/>
                </a:lnTo>
                <a:lnTo>
                  <a:pt x="414431" y="3670429"/>
                </a:lnTo>
                <a:lnTo>
                  <a:pt x="363421" y="3649000"/>
                </a:lnTo>
                <a:lnTo>
                  <a:pt x="330458" y="3621050"/>
                </a:lnTo>
                <a:lnTo>
                  <a:pt x="298450" y="3582680"/>
                </a:lnTo>
                <a:lnTo>
                  <a:pt x="267500" y="3534329"/>
                </a:lnTo>
                <a:lnTo>
                  <a:pt x="237711" y="3476436"/>
                </a:lnTo>
                <a:lnTo>
                  <a:pt x="209187" y="3409440"/>
                </a:lnTo>
                <a:lnTo>
                  <a:pt x="195431" y="3372665"/>
                </a:lnTo>
                <a:lnTo>
                  <a:pt x="182030" y="3333780"/>
                </a:lnTo>
                <a:lnTo>
                  <a:pt x="168996" y="3292837"/>
                </a:lnTo>
                <a:lnTo>
                  <a:pt x="156343" y="3249894"/>
                </a:lnTo>
                <a:lnTo>
                  <a:pt x="144083" y="3205003"/>
                </a:lnTo>
                <a:lnTo>
                  <a:pt x="132230" y="3158221"/>
                </a:lnTo>
                <a:lnTo>
                  <a:pt x="120796" y="3109601"/>
                </a:lnTo>
                <a:lnTo>
                  <a:pt x="109794" y="3059200"/>
                </a:lnTo>
                <a:lnTo>
                  <a:pt x="99237" y="3007071"/>
                </a:lnTo>
                <a:lnTo>
                  <a:pt x="89138" y="2953270"/>
                </a:lnTo>
                <a:lnTo>
                  <a:pt x="79509" y="2897851"/>
                </a:lnTo>
                <a:lnTo>
                  <a:pt x="70365" y="2840869"/>
                </a:lnTo>
                <a:lnTo>
                  <a:pt x="61716" y="2782380"/>
                </a:lnTo>
                <a:lnTo>
                  <a:pt x="53578" y="2722437"/>
                </a:lnTo>
                <a:lnTo>
                  <a:pt x="45961" y="2661096"/>
                </a:lnTo>
                <a:lnTo>
                  <a:pt x="38880" y="2598412"/>
                </a:lnTo>
                <a:lnTo>
                  <a:pt x="32347" y="2534439"/>
                </a:lnTo>
                <a:lnTo>
                  <a:pt x="26375" y="2469233"/>
                </a:lnTo>
                <a:lnTo>
                  <a:pt x="20977" y="2402848"/>
                </a:lnTo>
                <a:lnTo>
                  <a:pt x="16166" y="2335339"/>
                </a:lnTo>
                <a:lnTo>
                  <a:pt x="11954" y="2266761"/>
                </a:lnTo>
                <a:lnTo>
                  <a:pt x="8355" y="2197168"/>
                </a:lnTo>
                <a:lnTo>
                  <a:pt x="5381" y="2126616"/>
                </a:lnTo>
                <a:lnTo>
                  <a:pt x="3046" y="2055160"/>
                </a:lnTo>
                <a:lnTo>
                  <a:pt x="1362" y="1982854"/>
                </a:lnTo>
                <a:lnTo>
                  <a:pt x="342" y="1909753"/>
                </a:lnTo>
                <a:lnTo>
                  <a:pt x="0" y="1835912"/>
                </a:lnTo>
                <a:close/>
              </a:path>
            </a:pathLst>
          </a:custGeom>
          <a:ln w="19050">
            <a:solidFill>
              <a:srgbClr val="E14B04"/>
            </a:solidFill>
          </a:ln>
        </p:spPr>
        <p:txBody>
          <a:bodyPr wrap="square" lIns="0" tIns="0" rIns="0" bIns="0" rtlCol="0"/>
          <a:lstStyle/>
          <a:p/>
        </p:txBody>
      </p:sp>
      <p:sp>
        <p:nvSpPr>
          <p:cNvPr id="6" name="object 6" descr=""/>
          <p:cNvSpPr txBox="1"/>
          <p:nvPr/>
        </p:nvSpPr>
        <p:spPr>
          <a:xfrm>
            <a:off x="7039102" y="746836"/>
            <a:ext cx="3661410"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2.3.3</a:t>
            </a:r>
            <a:r>
              <a:rPr dirty="0" sz="2600" spc="-25">
                <a:solidFill>
                  <a:srgbClr val="0000CC"/>
                </a:solidFill>
                <a:latin typeface="黑体"/>
                <a:cs typeface="黑体"/>
              </a:rPr>
              <a:t> 指令操作码的优化</a:t>
            </a:r>
            <a:endParaRPr sz="2600">
              <a:latin typeface="黑体"/>
              <a:cs typeface="黑体"/>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863344" y="728218"/>
            <a:ext cx="8693150" cy="920750"/>
          </a:xfrm>
          <a:prstGeom prst="rect">
            <a:avLst/>
          </a:prstGeom>
        </p:spPr>
        <p:txBody>
          <a:bodyPr wrap="square" lIns="0" tIns="13335" rIns="0" bIns="0" rtlCol="0" vert="horz">
            <a:spAutoFit/>
          </a:bodyPr>
          <a:lstStyle/>
          <a:p>
            <a:pPr marL="5045075">
              <a:lnSpc>
                <a:spcPct val="100000"/>
              </a:lnSpc>
              <a:spcBef>
                <a:spcPts val="105"/>
              </a:spcBef>
            </a:pPr>
            <a:r>
              <a:rPr dirty="0" sz="2600">
                <a:solidFill>
                  <a:srgbClr val="0000CC"/>
                </a:solidFill>
                <a:latin typeface="黑体"/>
                <a:cs typeface="黑体"/>
              </a:rPr>
              <a:t>2.3.3</a:t>
            </a:r>
            <a:r>
              <a:rPr dirty="0" sz="2600" spc="-15">
                <a:solidFill>
                  <a:srgbClr val="0000CC"/>
                </a:solidFill>
                <a:latin typeface="黑体"/>
                <a:cs typeface="黑体"/>
              </a:rPr>
              <a:t> 指令操作码的优化</a:t>
            </a:r>
            <a:endParaRPr sz="2600">
              <a:latin typeface="黑体"/>
              <a:cs typeface="黑体"/>
            </a:endParaRPr>
          </a:p>
          <a:p>
            <a:pPr marL="12700">
              <a:lnSpc>
                <a:spcPct val="100000"/>
              </a:lnSpc>
              <a:spcBef>
                <a:spcPts val="1520"/>
              </a:spcBef>
            </a:pPr>
            <a:r>
              <a:rPr dirty="0" sz="2000" spc="-254" b="1">
                <a:solidFill>
                  <a:srgbClr val="4F55AC"/>
                </a:solidFill>
                <a:latin typeface="宋体"/>
                <a:cs typeface="宋体"/>
              </a:rPr>
              <a:t>解 </a:t>
            </a:r>
            <a:r>
              <a:rPr dirty="0" sz="2000" spc="-10" b="1">
                <a:latin typeface="宋体"/>
                <a:cs typeface="宋体"/>
              </a:rPr>
              <a:t>（</a:t>
            </a:r>
            <a:r>
              <a:rPr dirty="0" sz="2000" spc="-10" b="1">
                <a:latin typeface="Times New Roman"/>
                <a:cs typeface="Times New Roman"/>
              </a:rPr>
              <a:t>1</a:t>
            </a:r>
            <a:r>
              <a:rPr dirty="0" sz="2000" spc="-10" b="1">
                <a:latin typeface="宋体"/>
                <a:cs typeface="宋体"/>
              </a:rPr>
              <a:t>）这</a:t>
            </a:r>
            <a:r>
              <a:rPr dirty="0" sz="2000" b="1">
                <a:latin typeface="Times New Roman"/>
                <a:cs typeface="Times New Roman"/>
              </a:rPr>
              <a:t>7</a:t>
            </a:r>
            <a:r>
              <a:rPr dirty="0" sz="2000" spc="-25" b="1">
                <a:latin typeface="宋体"/>
                <a:cs typeface="宋体"/>
              </a:rPr>
              <a:t>条指令的操作码编码的最短平均码长；</a:t>
            </a:r>
            <a:endParaRPr sz="2000">
              <a:latin typeface="宋体"/>
              <a:cs typeface="宋体"/>
            </a:endParaRPr>
          </a:p>
        </p:txBody>
      </p:sp>
      <p:sp>
        <p:nvSpPr>
          <p:cNvPr id="5" name="object 5" descr=""/>
          <p:cNvSpPr txBox="1"/>
          <p:nvPr/>
        </p:nvSpPr>
        <p:spPr>
          <a:xfrm>
            <a:off x="1710944" y="2232406"/>
            <a:ext cx="9091295" cy="330835"/>
          </a:xfrm>
          <a:prstGeom prst="rect">
            <a:avLst/>
          </a:prstGeom>
        </p:spPr>
        <p:txBody>
          <a:bodyPr wrap="square" lIns="0" tIns="13335" rIns="0" bIns="0" rtlCol="0" vert="horz">
            <a:spAutoFit/>
          </a:bodyPr>
          <a:lstStyle/>
          <a:p>
            <a:pPr marL="12700">
              <a:lnSpc>
                <a:spcPct val="100000"/>
              </a:lnSpc>
              <a:spcBef>
                <a:spcPts val="105"/>
              </a:spcBef>
            </a:pPr>
            <a:r>
              <a:rPr dirty="0" sz="2000" spc="-10" b="1">
                <a:latin typeface="宋体"/>
                <a:cs typeface="宋体"/>
              </a:rPr>
              <a:t>（</a:t>
            </a:r>
            <a:r>
              <a:rPr dirty="0" sz="2000" spc="-10" b="1">
                <a:latin typeface="Times New Roman"/>
                <a:cs typeface="Times New Roman"/>
              </a:rPr>
              <a:t>2</a:t>
            </a:r>
            <a:r>
              <a:rPr dirty="0" sz="2000" spc="-10" b="1">
                <a:latin typeface="宋体"/>
                <a:cs typeface="宋体"/>
              </a:rPr>
              <a:t>）</a:t>
            </a:r>
            <a:r>
              <a:rPr dirty="0" sz="2000" spc="-25" b="1">
                <a:latin typeface="宋体"/>
                <a:cs typeface="宋体"/>
              </a:rPr>
              <a:t>其哈夫曼树如图所示，该树的每个叶结点分别对应于一条指令。在该树中，</a:t>
            </a:r>
            <a:endParaRPr sz="2000">
              <a:latin typeface="宋体"/>
              <a:cs typeface="宋体"/>
            </a:endParaRPr>
          </a:p>
        </p:txBody>
      </p:sp>
      <p:sp>
        <p:nvSpPr>
          <p:cNvPr id="6" name="object 6" descr=""/>
          <p:cNvSpPr txBox="1"/>
          <p:nvPr/>
        </p:nvSpPr>
        <p:spPr>
          <a:xfrm>
            <a:off x="2142744" y="2536901"/>
            <a:ext cx="8402955" cy="1856105"/>
          </a:xfrm>
          <a:prstGeom prst="rect">
            <a:avLst/>
          </a:prstGeom>
        </p:spPr>
        <p:txBody>
          <a:bodyPr wrap="square" lIns="0" tIns="13335" rIns="0" bIns="0" rtlCol="0" vert="horz">
            <a:spAutoFit/>
          </a:bodyPr>
          <a:lstStyle/>
          <a:p>
            <a:pPr marL="38100">
              <a:lnSpc>
                <a:spcPct val="100000"/>
              </a:lnSpc>
              <a:spcBef>
                <a:spcPts val="105"/>
              </a:spcBef>
            </a:pPr>
            <a:r>
              <a:rPr dirty="0" sz="2000" spc="-25" b="1">
                <a:latin typeface="宋体"/>
                <a:cs typeface="宋体"/>
              </a:rPr>
              <a:t>对每个结点向下的两个分支，分别用二进制</a:t>
            </a:r>
            <a:r>
              <a:rPr dirty="0" sz="2000" spc="-10" b="1">
                <a:solidFill>
                  <a:srgbClr val="6600FF"/>
                </a:solidFill>
                <a:latin typeface="宋体"/>
                <a:cs typeface="宋体"/>
              </a:rPr>
              <a:t>“</a:t>
            </a:r>
            <a:r>
              <a:rPr dirty="0" sz="2000" spc="-10" b="1">
                <a:solidFill>
                  <a:srgbClr val="6600FF"/>
                </a:solidFill>
                <a:latin typeface="Times New Roman"/>
                <a:cs typeface="Times New Roman"/>
              </a:rPr>
              <a:t>1”</a:t>
            </a:r>
            <a:r>
              <a:rPr dirty="0" sz="2000" spc="-15" b="1">
                <a:latin typeface="宋体"/>
                <a:cs typeface="宋体"/>
              </a:rPr>
              <a:t>和</a:t>
            </a:r>
            <a:r>
              <a:rPr dirty="0" sz="2000" spc="-20" b="1">
                <a:solidFill>
                  <a:srgbClr val="6600FF"/>
                </a:solidFill>
                <a:latin typeface="宋体"/>
                <a:cs typeface="宋体"/>
              </a:rPr>
              <a:t>“</a:t>
            </a:r>
            <a:r>
              <a:rPr dirty="0" sz="2000" spc="-20" b="1">
                <a:solidFill>
                  <a:srgbClr val="6600FF"/>
                </a:solidFill>
                <a:latin typeface="Times New Roman"/>
                <a:cs typeface="Times New Roman"/>
              </a:rPr>
              <a:t>0”</a:t>
            </a:r>
            <a:r>
              <a:rPr dirty="0" sz="2000" spc="-30" b="1">
                <a:latin typeface="宋体"/>
                <a:cs typeface="宋体"/>
              </a:rPr>
              <a:t>来表示。</a:t>
            </a:r>
            <a:endParaRPr sz="2000">
              <a:latin typeface="宋体"/>
              <a:cs typeface="宋体"/>
            </a:endParaRPr>
          </a:p>
          <a:p>
            <a:pPr marL="278765">
              <a:lnSpc>
                <a:spcPct val="100000"/>
              </a:lnSpc>
              <a:spcBef>
                <a:spcPts val="5"/>
              </a:spcBef>
            </a:pPr>
            <a:r>
              <a:rPr dirty="0" sz="2000" spc="-25" b="1">
                <a:latin typeface="宋体"/>
                <a:cs typeface="宋体"/>
              </a:rPr>
              <a:t>从该哈夫曼树可以很容易地写出哈夫曼编码。</a:t>
            </a:r>
            <a:endParaRPr sz="2000">
              <a:latin typeface="宋体"/>
              <a:cs typeface="宋体"/>
            </a:endParaRPr>
          </a:p>
          <a:p>
            <a:pPr marL="38100" marR="30480" indent="240665">
              <a:lnSpc>
                <a:spcPct val="100000"/>
              </a:lnSpc>
            </a:pPr>
            <a:r>
              <a:rPr dirty="0" sz="2000" spc="-10" b="1">
                <a:solidFill>
                  <a:srgbClr val="339933"/>
                </a:solidFill>
                <a:latin typeface="宋体"/>
                <a:cs typeface="宋体"/>
              </a:rPr>
              <a:t>具体方法</a:t>
            </a:r>
            <a:r>
              <a:rPr dirty="0" sz="2000" spc="-10" b="1">
                <a:latin typeface="宋体"/>
                <a:cs typeface="宋体"/>
              </a:rPr>
              <a:t>：对于任意一条指令</a:t>
            </a:r>
            <a:r>
              <a:rPr dirty="0" sz="2000" b="1">
                <a:solidFill>
                  <a:srgbClr val="9933FF"/>
                </a:solidFill>
                <a:latin typeface="Times New Roman"/>
                <a:cs typeface="Times New Roman"/>
              </a:rPr>
              <a:t>I</a:t>
            </a:r>
            <a:r>
              <a:rPr dirty="0" baseline="-21367" sz="1950" b="1">
                <a:solidFill>
                  <a:srgbClr val="9933FF"/>
                </a:solidFill>
                <a:latin typeface="Times New Roman"/>
                <a:cs typeface="Times New Roman"/>
              </a:rPr>
              <a:t>i </a:t>
            </a:r>
            <a:r>
              <a:rPr dirty="0" sz="2000" spc="-10" b="1">
                <a:latin typeface="宋体"/>
                <a:cs typeface="宋体"/>
              </a:rPr>
              <a:t>（</a:t>
            </a:r>
            <a:r>
              <a:rPr dirty="0" sz="2000" spc="-10" b="1">
                <a:latin typeface="Times New Roman"/>
                <a:cs typeface="Times New Roman"/>
              </a:rPr>
              <a:t>i=1</a:t>
            </a:r>
            <a:r>
              <a:rPr dirty="0" sz="2000" spc="-10" b="1">
                <a:latin typeface="宋体"/>
                <a:cs typeface="宋体"/>
              </a:rPr>
              <a:t>，</a:t>
            </a:r>
            <a:r>
              <a:rPr dirty="0" sz="2000" spc="-10" b="1">
                <a:latin typeface="Times New Roman"/>
                <a:cs typeface="Times New Roman"/>
              </a:rPr>
              <a:t>2</a:t>
            </a:r>
            <a:r>
              <a:rPr dirty="0" sz="2000" spc="-10" b="1">
                <a:latin typeface="宋体"/>
                <a:cs typeface="宋体"/>
              </a:rPr>
              <a:t>，</a:t>
            </a:r>
            <a:r>
              <a:rPr dirty="0" sz="2000" spc="-10" b="1">
                <a:latin typeface="Times New Roman"/>
                <a:cs typeface="Times New Roman"/>
              </a:rPr>
              <a:t>…</a:t>
            </a:r>
            <a:r>
              <a:rPr dirty="0" sz="2000" spc="-10" b="1">
                <a:latin typeface="宋体"/>
                <a:cs typeface="宋体"/>
              </a:rPr>
              <a:t>，</a:t>
            </a:r>
            <a:r>
              <a:rPr dirty="0" sz="2000" spc="-10" b="1">
                <a:latin typeface="Times New Roman"/>
                <a:cs typeface="Times New Roman"/>
              </a:rPr>
              <a:t>7</a:t>
            </a:r>
            <a:r>
              <a:rPr dirty="0" sz="2000" spc="-10" b="1">
                <a:latin typeface="宋体"/>
                <a:cs typeface="宋体"/>
              </a:rPr>
              <a:t>），</a:t>
            </a:r>
            <a:r>
              <a:rPr dirty="0" sz="2000" spc="-25" b="1">
                <a:latin typeface="宋体"/>
                <a:cs typeface="宋体"/>
              </a:rPr>
              <a:t>从哈夫曼树根结点</a:t>
            </a:r>
            <a:r>
              <a:rPr dirty="0" sz="2000" spc="-15" b="1">
                <a:latin typeface="宋体"/>
                <a:cs typeface="宋体"/>
              </a:rPr>
              <a:t>出发、沿一条路径连接到叶结点</a:t>
            </a:r>
            <a:r>
              <a:rPr dirty="0" sz="2000" spc="-10" b="1">
                <a:solidFill>
                  <a:srgbClr val="9933FF"/>
                </a:solidFill>
                <a:latin typeface="Times New Roman"/>
                <a:cs typeface="Times New Roman"/>
              </a:rPr>
              <a:t>I</a:t>
            </a:r>
            <a:r>
              <a:rPr dirty="0" baseline="-21367" sz="1950" spc="-15" b="1">
                <a:solidFill>
                  <a:srgbClr val="9933FF"/>
                </a:solidFill>
                <a:latin typeface="Times New Roman"/>
                <a:cs typeface="Times New Roman"/>
              </a:rPr>
              <a:t>i</a:t>
            </a:r>
            <a:r>
              <a:rPr dirty="0" sz="2000" spc="-20" b="1">
                <a:latin typeface="宋体"/>
                <a:cs typeface="宋体"/>
              </a:rPr>
              <a:t>，把途中所经过的各分支的</a:t>
            </a:r>
            <a:r>
              <a:rPr dirty="0" sz="2000" spc="-10" b="1">
                <a:solidFill>
                  <a:srgbClr val="9933FF"/>
                </a:solidFill>
                <a:latin typeface="宋体"/>
                <a:cs typeface="宋体"/>
              </a:rPr>
              <a:t>“</a:t>
            </a:r>
            <a:r>
              <a:rPr dirty="0" sz="2000" spc="-10" b="1">
                <a:solidFill>
                  <a:srgbClr val="9933FF"/>
                </a:solidFill>
                <a:latin typeface="Times New Roman"/>
                <a:cs typeface="Times New Roman"/>
              </a:rPr>
              <a:t>0”</a:t>
            </a:r>
            <a:r>
              <a:rPr dirty="0" sz="2000" spc="-20" b="1">
                <a:latin typeface="宋体"/>
                <a:cs typeface="宋体"/>
              </a:rPr>
              <a:t>和</a:t>
            </a:r>
            <a:r>
              <a:rPr dirty="0" sz="2000" spc="-10" b="1">
                <a:solidFill>
                  <a:srgbClr val="9933FF"/>
                </a:solidFill>
                <a:latin typeface="宋体"/>
                <a:cs typeface="宋体"/>
              </a:rPr>
              <a:t>“</a:t>
            </a:r>
            <a:r>
              <a:rPr dirty="0" sz="2000" spc="-10" b="1">
                <a:solidFill>
                  <a:srgbClr val="9933FF"/>
                </a:solidFill>
                <a:latin typeface="Times New Roman"/>
                <a:cs typeface="Times New Roman"/>
              </a:rPr>
              <a:t>1”</a:t>
            </a:r>
            <a:r>
              <a:rPr dirty="0" sz="2000" spc="-50" b="1">
                <a:latin typeface="宋体"/>
                <a:cs typeface="宋体"/>
              </a:rPr>
              <a:t>按</a:t>
            </a:r>
            <a:endParaRPr sz="2000">
              <a:latin typeface="宋体"/>
              <a:cs typeface="宋体"/>
            </a:endParaRPr>
          </a:p>
          <a:p>
            <a:pPr marL="38100">
              <a:lnSpc>
                <a:spcPts val="2345"/>
              </a:lnSpc>
              <a:spcBef>
                <a:spcPts val="105"/>
              </a:spcBef>
            </a:pPr>
            <a:r>
              <a:rPr dirty="0" sz="2000" spc="-30" b="1">
                <a:latin typeface="宋体"/>
                <a:cs typeface="宋体"/>
              </a:rPr>
              <a:t>从左到右的顺序记录下来，便是该指令的哈夫曼编码。上表中列出了所有</a:t>
            </a:r>
            <a:endParaRPr sz="2000">
              <a:latin typeface="宋体"/>
              <a:cs typeface="宋体"/>
            </a:endParaRPr>
          </a:p>
          <a:p>
            <a:pPr marL="38100">
              <a:lnSpc>
                <a:spcPts val="2345"/>
              </a:lnSpc>
            </a:pPr>
            <a:r>
              <a:rPr dirty="0" sz="2000" spc="-15" b="1">
                <a:latin typeface="宋体"/>
                <a:cs typeface="宋体"/>
              </a:rPr>
              <a:t>指令的哈夫曼编码。</a:t>
            </a:r>
            <a:endParaRPr sz="2000">
              <a:latin typeface="宋体"/>
              <a:cs typeface="宋体"/>
            </a:endParaRPr>
          </a:p>
        </p:txBody>
      </p:sp>
      <p:sp>
        <p:nvSpPr>
          <p:cNvPr id="7" name="object 7" descr=""/>
          <p:cNvSpPr txBox="1"/>
          <p:nvPr/>
        </p:nvSpPr>
        <p:spPr>
          <a:xfrm>
            <a:off x="5677019" y="1781309"/>
            <a:ext cx="120014" cy="250190"/>
          </a:xfrm>
          <a:prstGeom prst="rect">
            <a:avLst/>
          </a:prstGeom>
        </p:spPr>
        <p:txBody>
          <a:bodyPr wrap="square" lIns="0" tIns="15875" rIns="0" bIns="0" rtlCol="0" vert="horz">
            <a:spAutoFit/>
          </a:bodyPr>
          <a:lstStyle/>
          <a:p>
            <a:pPr marL="12700">
              <a:lnSpc>
                <a:spcPct val="100000"/>
              </a:lnSpc>
              <a:spcBef>
                <a:spcPts val="125"/>
              </a:spcBef>
            </a:pPr>
            <a:r>
              <a:rPr dirty="0" sz="1450" spc="-50">
                <a:latin typeface="Times New Roman"/>
                <a:cs typeface="Times New Roman"/>
              </a:rPr>
              <a:t>7</a:t>
            </a:r>
            <a:endParaRPr sz="1450">
              <a:latin typeface="Times New Roman"/>
              <a:cs typeface="Times New Roman"/>
            </a:endParaRPr>
          </a:p>
        </p:txBody>
      </p:sp>
      <p:sp>
        <p:nvSpPr>
          <p:cNvPr id="8" name="object 8" descr=""/>
          <p:cNvSpPr txBox="1"/>
          <p:nvPr/>
        </p:nvSpPr>
        <p:spPr>
          <a:xfrm>
            <a:off x="5555362" y="1886072"/>
            <a:ext cx="371475" cy="603885"/>
          </a:xfrm>
          <a:prstGeom prst="rect">
            <a:avLst/>
          </a:prstGeom>
        </p:spPr>
        <p:txBody>
          <a:bodyPr wrap="square" lIns="0" tIns="11430" rIns="0" bIns="0" rtlCol="0" vert="horz">
            <a:spAutoFit/>
          </a:bodyPr>
          <a:lstStyle/>
          <a:p>
            <a:pPr marL="12700">
              <a:lnSpc>
                <a:spcPct val="100000"/>
              </a:lnSpc>
              <a:spcBef>
                <a:spcPts val="90"/>
              </a:spcBef>
            </a:pPr>
            <a:r>
              <a:rPr dirty="0" sz="3800" spc="-50">
                <a:latin typeface="Symbol"/>
                <a:cs typeface="Symbol"/>
              </a:rPr>
              <a:t></a:t>
            </a:r>
            <a:endParaRPr sz="3800">
              <a:latin typeface="Symbol"/>
              <a:cs typeface="Symbol"/>
            </a:endParaRPr>
          </a:p>
        </p:txBody>
      </p:sp>
      <p:sp>
        <p:nvSpPr>
          <p:cNvPr id="9" name="object 9" descr=""/>
          <p:cNvSpPr txBox="1"/>
          <p:nvPr/>
        </p:nvSpPr>
        <p:spPr>
          <a:xfrm>
            <a:off x="5605347" y="2412507"/>
            <a:ext cx="278765" cy="250190"/>
          </a:xfrm>
          <a:prstGeom prst="rect">
            <a:avLst/>
          </a:prstGeom>
        </p:spPr>
        <p:txBody>
          <a:bodyPr wrap="square" lIns="0" tIns="15875" rIns="0" bIns="0" rtlCol="0" vert="horz">
            <a:spAutoFit/>
          </a:bodyPr>
          <a:lstStyle/>
          <a:p>
            <a:pPr marL="12700">
              <a:lnSpc>
                <a:spcPct val="100000"/>
              </a:lnSpc>
              <a:spcBef>
                <a:spcPts val="125"/>
              </a:spcBef>
            </a:pPr>
            <a:r>
              <a:rPr dirty="0" sz="1450" spc="-25" i="1">
                <a:latin typeface="Times New Roman"/>
                <a:cs typeface="Times New Roman"/>
              </a:rPr>
              <a:t>i</a:t>
            </a:r>
            <a:r>
              <a:rPr dirty="0" sz="1450" spc="-25">
                <a:latin typeface="Symbol"/>
                <a:cs typeface="Symbol"/>
              </a:rPr>
              <a:t></a:t>
            </a:r>
            <a:r>
              <a:rPr dirty="0" sz="1450" spc="-25">
                <a:latin typeface="Times New Roman"/>
                <a:cs typeface="Times New Roman"/>
              </a:rPr>
              <a:t>1</a:t>
            </a:r>
            <a:endParaRPr sz="1450">
              <a:latin typeface="Times New Roman"/>
              <a:cs typeface="Times New Roman"/>
            </a:endParaRPr>
          </a:p>
        </p:txBody>
      </p:sp>
      <p:sp>
        <p:nvSpPr>
          <p:cNvPr id="10" name="object 10" descr=""/>
          <p:cNvSpPr txBox="1"/>
          <p:nvPr/>
        </p:nvSpPr>
        <p:spPr>
          <a:xfrm>
            <a:off x="6136623" y="2186280"/>
            <a:ext cx="998855" cy="250190"/>
          </a:xfrm>
          <a:prstGeom prst="rect">
            <a:avLst/>
          </a:prstGeom>
        </p:spPr>
        <p:txBody>
          <a:bodyPr wrap="square" lIns="0" tIns="15875" rIns="0" bIns="0" rtlCol="0" vert="horz">
            <a:spAutoFit/>
          </a:bodyPr>
          <a:lstStyle/>
          <a:p>
            <a:pPr marL="12700">
              <a:lnSpc>
                <a:spcPct val="100000"/>
              </a:lnSpc>
              <a:spcBef>
                <a:spcPts val="125"/>
              </a:spcBef>
              <a:tabLst>
                <a:tab pos="567055" algn="l"/>
                <a:tab pos="932815" algn="l"/>
              </a:tabLst>
            </a:pPr>
            <a:r>
              <a:rPr dirty="0" sz="1450" spc="-50" i="1">
                <a:latin typeface="Times New Roman"/>
                <a:cs typeface="Times New Roman"/>
              </a:rPr>
              <a:t>i</a:t>
            </a:r>
            <a:r>
              <a:rPr dirty="0" sz="1450" i="1">
                <a:latin typeface="Times New Roman"/>
                <a:cs typeface="Times New Roman"/>
              </a:rPr>
              <a:t>	</a:t>
            </a:r>
            <a:r>
              <a:rPr dirty="0" sz="1450" spc="-50">
                <a:latin typeface="Times New Roman"/>
                <a:cs typeface="Times New Roman"/>
              </a:rPr>
              <a:t>2</a:t>
            </a:r>
            <a:r>
              <a:rPr dirty="0" sz="1450">
                <a:latin typeface="Times New Roman"/>
                <a:cs typeface="Times New Roman"/>
              </a:rPr>
              <a:t>	</a:t>
            </a:r>
            <a:r>
              <a:rPr dirty="0" sz="1450" spc="-50" i="1">
                <a:latin typeface="Times New Roman"/>
                <a:cs typeface="Times New Roman"/>
              </a:rPr>
              <a:t>i</a:t>
            </a:r>
            <a:endParaRPr sz="1450">
              <a:latin typeface="Times New Roman"/>
              <a:cs typeface="Times New Roman"/>
            </a:endParaRPr>
          </a:p>
        </p:txBody>
      </p:sp>
      <p:sp>
        <p:nvSpPr>
          <p:cNvPr id="11" name="object 11" descr=""/>
          <p:cNvSpPr txBox="1"/>
          <p:nvPr/>
        </p:nvSpPr>
        <p:spPr>
          <a:xfrm>
            <a:off x="5978838" y="1972547"/>
            <a:ext cx="2088514" cy="410845"/>
          </a:xfrm>
          <a:prstGeom prst="rect">
            <a:avLst/>
          </a:prstGeom>
        </p:spPr>
        <p:txBody>
          <a:bodyPr wrap="square" lIns="0" tIns="15875" rIns="0" bIns="0" rtlCol="0" vert="horz">
            <a:spAutoFit/>
          </a:bodyPr>
          <a:lstStyle/>
          <a:p>
            <a:pPr marL="12700">
              <a:lnSpc>
                <a:spcPct val="100000"/>
              </a:lnSpc>
              <a:spcBef>
                <a:spcPts val="125"/>
              </a:spcBef>
              <a:tabLst>
                <a:tab pos="932815" algn="l"/>
                <a:tab pos="1254125" algn="l"/>
              </a:tabLst>
            </a:pPr>
            <a:r>
              <a:rPr dirty="0" sz="2500" i="1">
                <a:latin typeface="Times New Roman"/>
                <a:cs typeface="Times New Roman"/>
              </a:rPr>
              <a:t>p</a:t>
            </a:r>
            <a:r>
              <a:rPr dirty="0" sz="2500" spc="365" i="1">
                <a:latin typeface="Times New Roman"/>
                <a:cs typeface="Times New Roman"/>
              </a:rPr>
              <a:t> </a:t>
            </a:r>
            <a:r>
              <a:rPr dirty="0" sz="2500" spc="-25">
                <a:latin typeface="Times New Roman"/>
                <a:cs typeface="Times New Roman"/>
              </a:rPr>
              <a:t>log</a:t>
            </a:r>
            <a:r>
              <a:rPr dirty="0" sz="2500">
                <a:latin typeface="Times New Roman"/>
                <a:cs typeface="Times New Roman"/>
              </a:rPr>
              <a:t>	</a:t>
            </a:r>
            <a:r>
              <a:rPr dirty="0" sz="2500" spc="-50" i="1">
                <a:latin typeface="Times New Roman"/>
                <a:cs typeface="Times New Roman"/>
              </a:rPr>
              <a:t>p</a:t>
            </a:r>
            <a:r>
              <a:rPr dirty="0" sz="2500" i="1">
                <a:latin typeface="Times New Roman"/>
                <a:cs typeface="Times New Roman"/>
              </a:rPr>
              <a:t>	</a:t>
            </a:r>
            <a:r>
              <a:rPr dirty="0" sz="2500">
                <a:latin typeface="Symbol"/>
                <a:cs typeface="Symbol"/>
              </a:rPr>
              <a:t></a:t>
            </a:r>
            <a:r>
              <a:rPr dirty="0" sz="2500" spc="-55">
                <a:latin typeface="Times New Roman"/>
                <a:cs typeface="Times New Roman"/>
              </a:rPr>
              <a:t> </a:t>
            </a:r>
            <a:r>
              <a:rPr dirty="0" sz="2500" spc="-20">
                <a:latin typeface="Times New Roman"/>
                <a:cs typeface="Times New Roman"/>
              </a:rPr>
              <a:t>2.17</a:t>
            </a:r>
            <a:endParaRPr sz="2500">
              <a:latin typeface="Times New Roman"/>
              <a:cs typeface="Times New Roman"/>
            </a:endParaRPr>
          </a:p>
        </p:txBody>
      </p:sp>
      <p:sp>
        <p:nvSpPr>
          <p:cNvPr id="12" name="object 12" descr=""/>
          <p:cNvSpPr txBox="1"/>
          <p:nvPr/>
        </p:nvSpPr>
        <p:spPr>
          <a:xfrm>
            <a:off x="4701237" y="1972547"/>
            <a:ext cx="894715" cy="410845"/>
          </a:xfrm>
          <a:prstGeom prst="rect">
            <a:avLst/>
          </a:prstGeom>
        </p:spPr>
        <p:txBody>
          <a:bodyPr wrap="square" lIns="0" tIns="15875" rIns="0" bIns="0" rtlCol="0" vert="horz">
            <a:spAutoFit/>
          </a:bodyPr>
          <a:lstStyle/>
          <a:p>
            <a:pPr marL="12700">
              <a:lnSpc>
                <a:spcPct val="100000"/>
              </a:lnSpc>
              <a:spcBef>
                <a:spcPts val="125"/>
              </a:spcBef>
            </a:pPr>
            <a:r>
              <a:rPr dirty="0" sz="2500" i="1">
                <a:latin typeface="Times New Roman"/>
                <a:cs typeface="Times New Roman"/>
              </a:rPr>
              <a:t>H</a:t>
            </a:r>
            <a:r>
              <a:rPr dirty="0" sz="2500" spc="275" i="1">
                <a:latin typeface="Times New Roman"/>
                <a:cs typeface="Times New Roman"/>
              </a:rPr>
              <a:t> </a:t>
            </a:r>
            <a:r>
              <a:rPr dirty="0" sz="2500">
                <a:latin typeface="Symbol"/>
                <a:cs typeface="Symbol"/>
              </a:rPr>
              <a:t></a:t>
            </a:r>
            <a:r>
              <a:rPr dirty="0" sz="2500" spc="-330">
                <a:latin typeface="Times New Roman"/>
                <a:cs typeface="Times New Roman"/>
              </a:rPr>
              <a:t> </a:t>
            </a:r>
            <a:r>
              <a:rPr dirty="0" sz="2500" spc="-50">
                <a:latin typeface="宋体"/>
                <a:cs typeface="宋体"/>
              </a:rPr>
              <a:t>－</a:t>
            </a:r>
            <a:endParaRPr sz="2500">
              <a:latin typeface="宋体"/>
              <a:cs typeface="宋体"/>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959610" y="779145"/>
            <a:ext cx="8740140" cy="1734820"/>
          </a:xfrm>
          <a:prstGeom prst="rect">
            <a:avLst/>
          </a:prstGeom>
        </p:spPr>
        <p:txBody>
          <a:bodyPr wrap="square" lIns="0" tIns="13335" rIns="0" bIns="0" rtlCol="0" vert="horz">
            <a:spAutoFit/>
          </a:bodyPr>
          <a:lstStyle/>
          <a:p>
            <a:pPr marL="5092065">
              <a:lnSpc>
                <a:spcPct val="100000"/>
              </a:lnSpc>
              <a:spcBef>
                <a:spcPts val="105"/>
              </a:spcBef>
            </a:pPr>
            <a:r>
              <a:rPr dirty="0" sz="2600">
                <a:solidFill>
                  <a:srgbClr val="0000CC"/>
                </a:solidFill>
                <a:latin typeface="黑体"/>
                <a:cs typeface="黑体"/>
              </a:rPr>
              <a:t>2.3.3</a:t>
            </a:r>
            <a:r>
              <a:rPr dirty="0" sz="2600" spc="-15">
                <a:solidFill>
                  <a:srgbClr val="0000CC"/>
                </a:solidFill>
                <a:latin typeface="黑体"/>
                <a:cs typeface="黑体"/>
              </a:rPr>
              <a:t> 指令操作码的优化</a:t>
            </a:r>
            <a:endParaRPr sz="2600">
              <a:latin typeface="黑体"/>
              <a:cs typeface="黑体"/>
            </a:endParaRPr>
          </a:p>
          <a:p>
            <a:pPr marL="113030" marR="144145" indent="-100965">
              <a:lnSpc>
                <a:spcPct val="130000"/>
              </a:lnSpc>
              <a:spcBef>
                <a:spcPts val="1595"/>
              </a:spcBef>
            </a:pPr>
            <a:r>
              <a:rPr dirty="0" sz="2800" b="1">
                <a:solidFill>
                  <a:srgbClr val="E14B04"/>
                </a:solidFill>
                <a:latin typeface="黑体"/>
                <a:cs typeface="黑体"/>
              </a:rPr>
              <a:t>解 </a:t>
            </a:r>
            <a:r>
              <a:rPr dirty="0" sz="2800" spc="-25" b="1">
                <a:solidFill>
                  <a:srgbClr val="006FC0"/>
                </a:solidFill>
                <a:latin typeface="黑体"/>
                <a:cs typeface="黑体"/>
              </a:rPr>
              <a:t>（1）</a:t>
            </a:r>
            <a:r>
              <a:rPr dirty="0" sz="2800" spc="-20" b="1">
                <a:solidFill>
                  <a:srgbClr val="006FC0"/>
                </a:solidFill>
                <a:latin typeface="黑体"/>
                <a:cs typeface="黑体"/>
              </a:rPr>
              <a:t>这7</a:t>
            </a:r>
            <a:r>
              <a:rPr dirty="0" sz="2800" spc="-30" b="1">
                <a:solidFill>
                  <a:srgbClr val="006FC0"/>
                </a:solidFill>
                <a:latin typeface="黑体"/>
                <a:cs typeface="黑体"/>
              </a:rPr>
              <a:t>条指令的操作码若用定长编码：需要</a:t>
            </a:r>
            <a:r>
              <a:rPr dirty="0" sz="2800" spc="-30" b="1">
                <a:solidFill>
                  <a:srgbClr val="C00000"/>
                </a:solidFill>
                <a:latin typeface="黑体"/>
                <a:cs typeface="黑体"/>
              </a:rPr>
              <a:t>3位，</a:t>
            </a:r>
            <a:r>
              <a:rPr dirty="0" sz="2800" spc="-10" b="1">
                <a:solidFill>
                  <a:srgbClr val="FF0000"/>
                </a:solidFill>
                <a:latin typeface="黑体"/>
                <a:cs typeface="黑体"/>
              </a:rPr>
              <a:t>这</a:t>
            </a:r>
            <a:r>
              <a:rPr dirty="0" sz="2800" spc="-20" b="1">
                <a:solidFill>
                  <a:srgbClr val="FF0000"/>
                </a:solidFill>
                <a:latin typeface="黑体"/>
                <a:cs typeface="黑体"/>
              </a:rPr>
              <a:t>7</a:t>
            </a:r>
            <a:r>
              <a:rPr dirty="0" sz="2800" spc="-35" b="1">
                <a:solidFill>
                  <a:srgbClr val="FF0000"/>
                </a:solidFill>
                <a:latin typeface="黑体"/>
                <a:cs typeface="黑体"/>
              </a:rPr>
              <a:t>条指令的操作码编码的最短平均码长为：</a:t>
            </a:r>
            <a:endParaRPr sz="2800">
              <a:latin typeface="黑体"/>
              <a:cs typeface="黑体"/>
            </a:endParaRPr>
          </a:p>
        </p:txBody>
      </p:sp>
      <p:sp>
        <p:nvSpPr>
          <p:cNvPr id="5" name="object 5" descr=""/>
          <p:cNvSpPr txBox="1"/>
          <p:nvPr/>
        </p:nvSpPr>
        <p:spPr>
          <a:xfrm>
            <a:off x="1890776" y="3888485"/>
            <a:ext cx="8779510" cy="2282190"/>
          </a:xfrm>
          <a:prstGeom prst="rect">
            <a:avLst/>
          </a:prstGeom>
        </p:spPr>
        <p:txBody>
          <a:bodyPr wrap="square" lIns="0" tIns="195580" rIns="0" bIns="0" rtlCol="0" vert="horz">
            <a:spAutoFit/>
          </a:bodyPr>
          <a:lstStyle/>
          <a:p>
            <a:pPr marL="181610">
              <a:lnSpc>
                <a:spcPct val="100000"/>
              </a:lnSpc>
              <a:spcBef>
                <a:spcPts val="1540"/>
              </a:spcBef>
            </a:pPr>
            <a:r>
              <a:rPr dirty="0" sz="2400" spc="-10" b="1">
                <a:latin typeface="黑体"/>
                <a:cs typeface="黑体"/>
              </a:rPr>
              <a:t>H=0.40×1.32+0.30×1.74+0.15×2.74+0.05×4.32+</a:t>
            </a:r>
            <a:endParaRPr sz="2400">
              <a:latin typeface="黑体"/>
              <a:cs typeface="黑体"/>
            </a:endParaRPr>
          </a:p>
          <a:p>
            <a:pPr marL="2803525">
              <a:lnSpc>
                <a:spcPct val="100000"/>
              </a:lnSpc>
              <a:spcBef>
                <a:spcPts val="1440"/>
              </a:spcBef>
            </a:pPr>
            <a:r>
              <a:rPr dirty="0" sz="2400" b="1">
                <a:latin typeface="黑体"/>
                <a:cs typeface="黑体"/>
              </a:rPr>
              <a:t>0.04×4.64+0.03×5.06+</a:t>
            </a:r>
            <a:r>
              <a:rPr dirty="0" sz="2400" spc="-280" b="1">
                <a:latin typeface="黑体"/>
                <a:cs typeface="黑体"/>
              </a:rPr>
              <a:t> </a:t>
            </a:r>
            <a:r>
              <a:rPr dirty="0" sz="2400" spc="-10" b="1">
                <a:latin typeface="黑体"/>
                <a:cs typeface="黑体"/>
              </a:rPr>
              <a:t>0.03×5.06</a:t>
            </a:r>
            <a:endParaRPr sz="2400">
              <a:latin typeface="黑体"/>
              <a:cs typeface="黑体"/>
            </a:endParaRPr>
          </a:p>
          <a:p>
            <a:pPr marL="340360">
              <a:lnSpc>
                <a:spcPct val="100000"/>
              </a:lnSpc>
              <a:spcBef>
                <a:spcPts val="1440"/>
              </a:spcBef>
            </a:pPr>
            <a:r>
              <a:rPr dirty="0" sz="2400" spc="-10" b="1">
                <a:latin typeface="黑体"/>
                <a:cs typeface="黑体"/>
              </a:rPr>
              <a:t>=2.17</a:t>
            </a:r>
            <a:endParaRPr sz="2400">
              <a:latin typeface="黑体"/>
              <a:cs typeface="黑体"/>
            </a:endParaRPr>
          </a:p>
          <a:p>
            <a:pPr marL="12700">
              <a:lnSpc>
                <a:spcPct val="100000"/>
              </a:lnSpc>
              <a:spcBef>
                <a:spcPts val="1450"/>
              </a:spcBef>
            </a:pPr>
            <a:r>
              <a:rPr dirty="0" sz="2800" spc="-25" b="1">
                <a:solidFill>
                  <a:srgbClr val="FF0000"/>
                </a:solidFill>
                <a:latin typeface="黑体"/>
                <a:cs typeface="黑体"/>
              </a:rPr>
              <a:t>说明：表示这</a:t>
            </a:r>
            <a:r>
              <a:rPr dirty="0" sz="2800" spc="-20" b="1">
                <a:solidFill>
                  <a:srgbClr val="FF0000"/>
                </a:solidFill>
                <a:latin typeface="黑体"/>
                <a:cs typeface="黑体"/>
              </a:rPr>
              <a:t>7</a:t>
            </a:r>
            <a:r>
              <a:rPr dirty="0" sz="2800" spc="-30" b="1">
                <a:solidFill>
                  <a:srgbClr val="FF0000"/>
                </a:solidFill>
                <a:latin typeface="黑体"/>
                <a:cs typeface="黑体"/>
              </a:rPr>
              <a:t>种指令，操作码平均需要</a:t>
            </a:r>
            <a:r>
              <a:rPr dirty="0" sz="2800" spc="-10" b="1">
                <a:solidFill>
                  <a:srgbClr val="FF0000"/>
                </a:solidFill>
                <a:latin typeface="黑体"/>
                <a:cs typeface="黑体"/>
              </a:rPr>
              <a:t>2.17</a:t>
            </a:r>
            <a:r>
              <a:rPr dirty="0" sz="2800" spc="-35" b="1">
                <a:solidFill>
                  <a:srgbClr val="FF0000"/>
                </a:solidFill>
                <a:latin typeface="黑体"/>
                <a:cs typeface="黑体"/>
              </a:rPr>
              <a:t>位就足够了</a:t>
            </a:r>
            <a:endParaRPr sz="2800">
              <a:latin typeface="黑体"/>
              <a:cs typeface="黑体"/>
            </a:endParaRPr>
          </a:p>
        </p:txBody>
      </p:sp>
      <p:sp>
        <p:nvSpPr>
          <p:cNvPr id="6" name="object 6" descr=""/>
          <p:cNvSpPr txBox="1"/>
          <p:nvPr/>
        </p:nvSpPr>
        <p:spPr>
          <a:xfrm>
            <a:off x="5604459" y="2716283"/>
            <a:ext cx="120014" cy="250190"/>
          </a:xfrm>
          <a:prstGeom prst="rect">
            <a:avLst/>
          </a:prstGeom>
        </p:spPr>
        <p:txBody>
          <a:bodyPr wrap="square" lIns="0" tIns="15875" rIns="0" bIns="0" rtlCol="0" vert="horz">
            <a:spAutoFit/>
          </a:bodyPr>
          <a:lstStyle/>
          <a:p>
            <a:pPr marL="12700">
              <a:lnSpc>
                <a:spcPct val="100000"/>
              </a:lnSpc>
              <a:spcBef>
                <a:spcPts val="125"/>
              </a:spcBef>
            </a:pPr>
            <a:r>
              <a:rPr dirty="0" sz="1450" spc="-50">
                <a:latin typeface="Times New Roman"/>
                <a:cs typeface="Times New Roman"/>
              </a:rPr>
              <a:t>7</a:t>
            </a:r>
            <a:endParaRPr sz="1450">
              <a:latin typeface="Times New Roman"/>
              <a:cs typeface="Times New Roman"/>
            </a:endParaRPr>
          </a:p>
        </p:txBody>
      </p:sp>
      <p:sp>
        <p:nvSpPr>
          <p:cNvPr id="7" name="object 7" descr=""/>
          <p:cNvSpPr txBox="1"/>
          <p:nvPr/>
        </p:nvSpPr>
        <p:spPr>
          <a:xfrm>
            <a:off x="4602838" y="2689039"/>
            <a:ext cx="3418204" cy="908685"/>
          </a:xfrm>
          <a:prstGeom prst="rect">
            <a:avLst/>
          </a:prstGeom>
        </p:spPr>
        <p:txBody>
          <a:bodyPr wrap="square" lIns="0" tIns="69215" rIns="0" bIns="0" rtlCol="0" vert="horz">
            <a:spAutoFit/>
          </a:bodyPr>
          <a:lstStyle/>
          <a:p>
            <a:pPr marL="38100">
              <a:lnSpc>
                <a:spcPct val="100000"/>
              </a:lnSpc>
              <a:spcBef>
                <a:spcPts val="545"/>
              </a:spcBef>
            </a:pPr>
            <a:r>
              <a:rPr dirty="0" sz="2500" i="1">
                <a:latin typeface="Times New Roman"/>
                <a:cs typeface="Times New Roman"/>
              </a:rPr>
              <a:t>H</a:t>
            </a:r>
            <a:r>
              <a:rPr dirty="0" sz="2500" spc="275" i="1">
                <a:latin typeface="Times New Roman"/>
                <a:cs typeface="Times New Roman"/>
              </a:rPr>
              <a:t> </a:t>
            </a:r>
            <a:r>
              <a:rPr dirty="0" sz="2500">
                <a:latin typeface="Symbol"/>
                <a:cs typeface="Symbol"/>
              </a:rPr>
              <a:t></a:t>
            </a:r>
            <a:r>
              <a:rPr dirty="0" sz="2500" spc="-330">
                <a:latin typeface="Times New Roman"/>
                <a:cs typeface="Times New Roman"/>
              </a:rPr>
              <a:t> </a:t>
            </a:r>
            <a:r>
              <a:rPr dirty="0" sz="2500" spc="-105">
                <a:latin typeface="宋体"/>
                <a:cs typeface="宋体"/>
              </a:rPr>
              <a:t>－</a:t>
            </a:r>
            <a:r>
              <a:rPr dirty="0" baseline="-8771" sz="5700" spc="-157">
                <a:latin typeface="Symbol"/>
                <a:cs typeface="Symbol"/>
              </a:rPr>
              <a:t></a:t>
            </a:r>
            <a:r>
              <a:rPr dirty="0" baseline="-8771" sz="5700" spc="-472">
                <a:latin typeface="Times New Roman"/>
                <a:cs typeface="Times New Roman"/>
              </a:rPr>
              <a:t> </a:t>
            </a:r>
            <a:r>
              <a:rPr dirty="0" sz="2500" i="1">
                <a:latin typeface="Times New Roman"/>
                <a:cs typeface="Times New Roman"/>
              </a:rPr>
              <a:t>p</a:t>
            </a:r>
            <a:r>
              <a:rPr dirty="0" baseline="-24904" sz="2175" i="1">
                <a:latin typeface="Times New Roman"/>
                <a:cs typeface="Times New Roman"/>
              </a:rPr>
              <a:t>i</a:t>
            </a:r>
            <a:r>
              <a:rPr dirty="0" baseline="-24904" sz="2175" spc="397" i="1">
                <a:latin typeface="Times New Roman"/>
                <a:cs typeface="Times New Roman"/>
              </a:rPr>
              <a:t> </a:t>
            </a:r>
            <a:r>
              <a:rPr dirty="0" sz="2500">
                <a:latin typeface="Times New Roman"/>
                <a:cs typeface="Times New Roman"/>
              </a:rPr>
              <a:t>log</a:t>
            </a:r>
            <a:r>
              <a:rPr dirty="0" baseline="-24904" sz="2175">
                <a:latin typeface="Times New Roman"/>
                <a:cs typeface="Times New Roman"/>
              </a:rPr>
              <a:t>2</a:t>
            </a:r>
            <a:r>
              <a:rPr dirty="0" baseline="-24904" sz="2175" spc="150">
                <a:latin typeface="Times New Roman"/>
                <a:cs typeface="Times New Roman"/>
              </a:rPr>
              <a:t>  </a:t>
            </a:r>
            <a:r>
              <a:rPr dirty="0" sz="2500" i="1">
                <a:latin typeface="Times New Roman"/>
                <a:cs typeface="Times New Roman"/>
              </a:rPr>
              <a:t>p</a:t>
            </a:r>
            <a:r>
              <a:rPr dirty="0" baseline="-24904" sz="2175" i="1">
                <a:latin typeface="Times New Roman"/>
                <a:cs typeface="Times New Roman"/>
              </a:rPr>
              <a:t>i</a:t>
            </a:r>
            <a:r>
              <a:rPr dirty="0" baseline="-24904" sz="2175" spc="135" i="1">
                <a:latin typeface="Times New Roman"/>
                <a:cs typeface="Times New Roman"/>
              </a:rPr>
              <a:t>  </a:t>
            </a:r>
            <a:r>
              <a:rPr dirty="0" sz="2500">
                <a:latin typeface="Symbol"/>
                <a:cs typeface="Symbol"/>
              </a:rPr>
              <a:t></a:t>
            </a:r>
            <a:r>
              <a:rPr dirty="0" sz="2500" spc="-40">
                <a:latin typeface="Times New Roman"/>
                <a:cs typeface="Times New Roman"/>
              </a:rPr>
              <a:t> </a:t>
            </a:r>
            <a:r>
              <a:rPr dirty="0" sz="2500" spc="-20">
                <a:latin typeface="Times New Roman"/>
                <a:cs typeface="Times New Roman"/>
              </a:rPr>
              <a:t>2.17</a:t>
            </a:r>
            <a:endParaRPr sz="2500">
              <a:latin typeface="Times New Roman"/>
              <a:cs typeface="Times New Roman"/>
            </a:endParaRPr>
          </a:p>
          <a:p>
            <a:pPr marL="942340">
              <a:lnSpc>
                <a:spcPct val="100000"/>
              </a:lnSpc>
              <a:spcBef>
                <a:spcPts val="204"/>
              </a:spcBef>
            </a:pPr>
            <a:r>
              <a:rPr dirty="0" sz="1450" spc="-25" i="1">
                <a:latin typeface="Times New Roman"/>
                <a:cs typeface="Times New Roman"/>
              </a:rPr>
              <a:t>i</a:t>
            </a:r>
            <a:r>
              <a:rPr dirty="0" sz="1450" spc="-25">
                <a:latin typeface="Symbol"/>
                <a:cs typeface="Symbol"/>
              </a:rPr>
              <a:t></a:t>
            </a:r>
            <a:r>
              <a:rPr dirty="0" sz="1450" spc="-25">
                <a:latin typeface="Times New Roman"/>
                <a:cs typeface="Times New Roman"/>
              </a:rPr>
              <a:t>1</a:t>
            </a:r>
            <a:endParaRPr sz="1450">
              <a:latin typeface="Times New Roman"/>
              <a:cs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567815"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pic>
        <p:nvPicPr>
          <p:cNvPr id="4" name="object 4"/>
          <p:cNvPicPr/>
          <p:nvPr/>
        </p:nvPicPr>
        <p:blipFill>
          <a:blip r:embed="rId2" cstate="print"/>
          <a:stretch>
            <a:fillRect/>
          </a:stretch>
        </p:blipFill>
        <p:spPr>
          <a:xfrm>
            <a:off x="1826384" y="2978419"/>
            <a:ext cx="3739329" cy="762732"/>
          </a:xfrm>
          <a:prstGeom prst="rect">
            <a:avLst/>
          </a:prstGeom>
        </p:spPr>
      </p:pic>
      <p:sp>
        <p:nvSpPr>
          <p:cNvPr id="5" name="object 5" descr=""/>
          <p:cNvSpPr/>
          <p:nvPr/>
        </p:nvSpPr>
        <p:spPr>
          <a:xfrm>
            <a:off x="6911017" y="3417871"/>
            <a:ext cx="883285" cy="0"/>
          </a:xfrm>
          <a:custGeom>
            <a:avLst/>
            <a:gdLst/>
            <a:ahLst/>
            <a:cxnLst/>
            <a:rect l="l" t="t" r="r" b="b"/>
            <a:pathLst>
              <a:path w="883284" h="0">
                <a:moveTo>
                  <a:pt x="0" y="0"/>
                </a:moveTo>
                <a:lnTo>
                  <a:pt x="882824" y="0"/>
                </a:lnTo>
              </a:path>
            </a:pathLst>
          </a:custGeom>
          <a:ln w="13232">
            <a:solidFill>
              <a:srgbClr val="000000"/>
            </a:solidFill>
          </a:ln>
        </p:spPr>
        <p:txBody>
          <a:bodyPr wrap="square" lIns="0" tIns="0" rIns="0" bIns="0" rtlCol="0"/>
          <a:lstStyle/>
          <a:p/>
        </p:txBody>
      </p:sp>
      <p:sp>
        <p:nvSpPr>
          <p:cNvPr id="6" name="object 6" descr=""/>
          <p:cNvSpPr txBox="1"/>
          <p:nvPr/>
        </p:nvSpPr>
        <p:spPr>
          <a:xfrm>
            <a:off x="1745869" y="832418"/>
            <a:ext cx="8465185" cy="2932430"/>
          </a:xfrm>
          <a:prstGeom prst="rect">
            <a:avLst/>
          </a:prstGeom>
        </p:spPr>
        <p:txBody>
          <a:bodyPr wrap="square" lIns="0" tIns="31750" rIns="0" bIns="0" rtlCol="0" vert="horz">
            <a:spAutoFit/>
          </a:bodyPr>
          <a:lstStyle/>
          <a:p>
            <a:pPr marL="495300" marR="30480" indent="-457200">
              <a:lnSpc>
                <a:spcPct val="128099"/>
              </a:lnSpc>
              <a:spcBef>
                <a:spcPts val="250"/>
              </a:spcBef>
              <a:buClr>
                <a:srgbClr val="40458B"/>
              </a:buClr>
              <a:buFont typeface="Wingdings"/>
              <a:buChar char=""/>
              <a:tabLst>
                <a:tab pos="495300" algn="l"/>
              </a:tabLst>
            </a:pPr>
            <a:r>
              <a:rPr dirty="0" sz="2800" spc="-25" b="1">
                <a:solidFill>
                  <a:srgbClr val="FF0000"/>
                </a:solidFill>
                <a:latin typeface="宋体"/>
                <a:cs typeface="宋体"/>
              </a:rPr>
              <a:t>信息冗余量：</a:t>
            </a:r>
            <a:r>
              <a:rPr dirty="0" sz="2400" spc="-5">
                <a:solidFill>
                  <a:srgbClr val="006FC0"/>
                </a:solidFill>
                <a:latin typeface="黑体"/>
                <a:cs typeface="黑体"/>
              </a:rPr>
              <a:t>信息冗余量是指在信息传输或存储过程中，由于某些字符或信息的重复出现而产生的多余数据。</a:t>
            </a:r>
            <a:endParaRPr sz="2400">
              <a:latin typeface="黑体"/>
              <a:cs typeface="黑体"/>
            </a:endParaRPr>
          </a:p>
          <a:p>
            <a:pPr marL="494665" indent="-456565">
              <a:lnSpc>
                <a:spcPct val="100000"/>
              </a:lnSpc>
              <a:spcBef>
                <a:spcPts val="1605"/>
              </a:spcBef>
              <a:buClr>
                <a:srgbClr val="40458B"/>
              </a:buClr>
              <a:buFont typeface="Wingdings"/>
              <a:buChar char=""/>
              <a:tabLst>
                <a:tab pos="494665" algn="l"/>
              </a:tabLst>
            </a:pPr>
            <a:r>
              <a:rPr dirty="0" sz="2800" spc="-30" b="1">
                <a:solidFill>
                  <a:srgbClr val="FF0000"/>
                </a:solidFill>
                <a:latin typeface="宋体"/>
                <a:cs typeface="宋体"/>
              </a:rPr>
              <a:t>结合本节案例，信息冗余量的计算如下：</a:t>
            </a:r>
            <a:endParaRPr sz="2800">
              <a:latin typeface="宋体"/>
              <a:cs typeface="宋体"/>
            </a:endParaRPr>
          </a:p>
          <a:p>
            <a:pPr>
              <a:lnSpc>
                <a:spcPct val="100000"/>
              </a:lnSpc>
              <a:spcBef>
                <a:spcPts val="409"/>
              </a:spcBef>
            </a:pPr>
            <a:endParaRPr sz="2800">
              <a:latin typeface="宋体"/>
              <a:cs typeface="宋体"/>
            </a:endParaRPr>
          </a:p>
          <a:p>
            <a:pPr marL="5173345">
              <a:lnSpc>
                <a:spcPct val="100000"/>
              </a:lnSpc>
            </a:pPr>
            <a:r>
              <a:rPr dirty="0" sz="2150" spc="-10">
                <a:latin typeface="Times New Roman"/>
                <a:cs typeface="Times New Roman"/>
              </a:rPr>
              <a:t>3</a:t>
            </a:r>
            <a:r>
              <a:rPr dirty="0" sz="2150" spc="-10">
                <a:latin typeface="宋体"/>
                <a:cs typeface="宋体"/>
              </a:rPr>
              <a:t>－</a:t>
            </a:r>
            <a:r>
              <a:rPr dirty="0" sz="2150" spc="-10">
                <a:latin typeface="Times New Roman"/>
                <a:cs typeface="Times New Roman"/>
              </a:rPr>
              <a:t>2.17 </a:t>
            </a:r>
            <a:r>
              <a:rPr dirty="0" baseline="-34883" sz="3225">
                <a:latin typeface="Symbol"/>
                <a:cs typeface="Symbol"/>
              </a:rPr>
              <a:t></a:t>
            </a:r>
            <a:r>
              <a:rPr dirty="0" baseline="-34883" sz="3225" spc="-202">
                <a:latin typeface="Times New Roman"/>
                <a:cs typeface="Times New Roman"/>
              </a:rPr>
              <a:t> </a:t>
            </a:r>
            <a:r>
              <a:rPr dirty="0" baseline="-34883" sz="3225" spc="-37">
                <a:latin typeface="Times New Roman"/>
                <a:cs typeface="Times New Roman"/>
              </a:rPr>
              <a:t>28%</a:t>
            </a:r>
            <a:endParaRPr baseline="-34883" sz="3225">
              <a:latin typeface="Times New Roman"/>
              <a:cs typeface="Times New Roman"/>
            </a:endParaRPr>
          </a:p>
          <a:p>
            <a:pPr marL="5542915">
              <a:lnSpc>
                <a:spcPct val="100000"/>
              </a:lnSpc>
              <a:spcBef>
                <a:spcPts val="434"/>
              </a:spcBef>
            </a:pPr>
            <a:r>
              <a:rPr dirty="0" sz="2150" spc="-50">
                <a:latin typeface="Times New Roman"/>
                <a:cs typeface="Times New Roman"/>
              </a:rPr>
              <a:t>3</a:t>
            </a:r>
            <a:endParaRPr sz="2150">
              <a:latin typeface="Times New Roman"/>
              <a:cs typeface="Times New Roman"/>
            </a:endParaRPr>
          </a:p>
        </p:txBody>
      </p:sp>
      <p:sp>
        <p:nvSpPr>
          <p:cNvPr id="7" name="object 7" descr=""/>
          <p:cNvSpPr txBox="1"/>
          <p:nvPr/>
        </p:nvSpPr>
        <p:spPr>
          <a:xfrm>
            <a:off x="2279650" y="4668901"/>
            <a:ext cx="8641080" cy="631825"/>
          </a:xfrm>
          <a:prstGeom prst="rect">
            <a:avLst/>
          </a:prstGeom>
          <a:solidFill>
            <a:srgbClr val="ABADD9"/>
          </a:solidFill>
        </p:spPr>
        <p:txBody>
          <a:bodyPr wrap="square" lIns="0" tIns="98425" rIns="0" bIns="0" rtlCol="0" vert="horz">
            <a:spAutoFit/>
          </a:bodyPr>
          <a:lstStyle/>
          <a:p>
            <a:pPr marL="91440">
              <a:lnSpc>
                <a:spcPct val="100000"/>
              </a:lnSpc>
              <a:spcBef>
                <a:spcPts val="775"/>
              </a:spcBef>
            </a:pPr>
            <a:r>
              <a:rPr dirty="0" sz="2400" spc="-20" b="1">
                <a:solidFill>
                  <a:srgbClr val="FF0000"/>
                </a:solidFill>
                <a:latin typeface="宋体"/>
                <a:cs typeface="宋体"/>
              </a:rPr>
              <a:t>说明：采用实际定长3位操作码编码，浪费了</a:t>
            </a:r>
            <a:r>
              <a:rPr dirty="0" sz="2400" spc="-25" b="1">
                <a:solidFill>
                  <a:srgbClr val="FF0000"/>
                </a:solidFill>
                <a:latin typeface="宋体"/>
                <a:cs typeface="宋体"/>
              </a:rPr>
              <a:t>28%</a:t>
            </a:r>
            <a:endParaRPr sz="2400">
              <a:latin typeface="宋体"/>
              <a:cs typeface="宋体"/>
            </a:endParaRPr>
          </a:p>
        </p:txBody>
      </p:sp>
      <p:grpSp>
        <p:nvGrpSpPr>
          <p:cNvPr id="8" name="object 8" descr=""/>
          <p:cNvGrpSpPr/>
          <p:nvPr/>
        </p:nvGrpSpPr>
        <p:grpSpPr>
          <a:xfrm>
            <a:off x="7315263" y="3952811"/>
            <a:ext cx="327025" cy="398780"/>
            <a:chOff x="7315263" y="3952811"/>
            <a:chExt cx="327025" cy="398780"/>
          </a:xfrm>
        </p:grpSpPr>
        <p:sp>
          <p:nvSpPr>
            <p:cNvPr id="9" name="object 9" descr=""/>
            <p:cNvSpPr/>
            <p:nvPr/>
          </p:nvSpPr>
          <p:spPr>
            <a:xfrm>
              <a:off x="7320026" y="3957573"/>
              <a:ext cx="317500" cy="389255"/>
            </a:xfrm>
            <a:custGeom>
              <a:avLst/>
              <a:gdLst/>
              <a:ahLst/>
              <a:cxnLst/>
              <a:rect l="l" t="t" r="r" b="b"/>
              <a:pathLst>
                <a:path w="317500" h="389254">
                  <a:moveTo>
                    <a:pt x="238125" y="0"/>
                  </a:moveTo>
                  <a:lnTo>
                    <a:pt x="79375" y="0"/>
                  </a:lnTo>
                  <a:lnTo>
                    <a:pt x="79375" y="230250"/>
                  </a:lnTo>
                  <a:lnTo>
                    <a:pt x="0" y="230250"/>
                  </a:lnTo>
                  <a:lnTo>
                    <a:pt x="158750" y="389000"/>
                  </a:lnTo>
                  <a:lnTo>
                    <a:pt x="317500" y="230250"/>
                  </a:lnTo>
                  <a:lnTo>
                    <a:pt x="238125" y="230250"/>
                  </a:lnTo>
                  <a:lnTo>
                    <a:pt x="238125" y="0"/>
                  </a:lnTo>
                  <a:close/>
                </a:path>
              </a:pathLst>
            </a:custGeom>
            <a:solidFill>
              <a:srgbClr val="FFACFF"/>
            </a:solidFill>
          </p:spPr>
          <p:txBody>
            <a:bodyPr wrap="square" lIns="0" tIns="0" rIns="0" bIns="0" rtlCol="0"/>
            <a:lstStyle/>
            <a:p/>
          </p:txBody>
        </p:sp>
        <p:sp>
          <p:nvSpPr>
            <p:cNvPr id="10" name="object 10" descr=""/>
            <p:cNvSpPr/>
            <p:nvPr/>
          </p:nvSpPr>
          <p:spPr>
            <a:xfrm>
              <a:off x="7320026" y="3957573"/>
              <a:ext cx="317500" cy="389255"/>
            </a:xfrm>
            <a:custGeom>
              <a:avLst/>
              <a:gdLst/>
              <a:ahLst/>
              <a:cxnLst/>
              <a:rect l="l" t="t" r="r" b="b"/>
              <a:pathLst>
                <a:path w="317500" h="389254">
                  <a:moveTo>
                    <a:pt x="0" y="230250"/>
                  </a:moveTo>
                  <a:lnTo>
                    <a:pt x="79375" y="230250"/>
                  </a:lnTo>
                  <a:lnTo>
                    <a:pt x="79375" y="0"/>
                  </a:lnTo>
                  <a:lnTo>
                    <a:pt x="238125" y="0"/>
                  </a:lnTo>
                  <a:lnTo>
                    <a:pt x="238125" y="230250"/>
                  </a:lnTo>
                  <a:lnTo>
                    <a:pt x="317500" y="230250"/>
                  </a:lnTo>
                  <a:lnTo>
                    <a:pt x="158750" y="389000"/>
                  </a:lnTo>
                  <a:lnTo>
                    <a:pt x="0" y="230250"/>
                  </a:lnTo>
                  <a:close/>
                </a:path>
              </a:pathLst>
            </a:custGeom>
            <a:ln w="9525">
              <a:solidFill>
                <a:srgbClr val="40458B"/>
              </a:solidFill>
            </a:ln>
          </p:spPr>
          <p:txBody>
            <a:bodyPr wrap="square" lIns="0" tIns="0" rIns="0" bIns="0" rtlCol="0"/>
            <a:lstStyle/>
            <a:p/>
          </p:txBody>
        </p:sp>
      </p:grpSp>
      <p:sp>
        <p:nvSpPr>
          <p:cNvPr id="11" name="object 11" descr=""/>
          <p:cNvSpPr txBox="1"/>
          <p:nvPr/>
        </p:nvSpPr>
        <p:spPr>
          <a:xfrm>
            <a:off x="2279650" y="5788025"/>
            <a:ext cx="8641080" cy="631825"/>
          </a:xfrm>
          <a:prstGeom prst="rect">
            <a:avLst/>
          </a:prstGeom>
          <a:solidFill>
            <a:srgbClr val="ABADD9"/>
          </a:solidFill>
        </p:spPr>
        <p:txBody>
          <a:bodyPr wrap="square" lIns="0" tIns="98425" rIns="0" bIns="0" rtlCol="0" vert="horz">
            <a:spAutoFit/>
          </a:bodyPr>
          <a:lstStyle/>
          <a:p>
            <a:pPr algn="ctr" marR="454025">
              <a:lnSpc>
                <a:spcPct val="100000"/>
              </a:lnSpc>
              <a:spcBef>
                <a:spcPts val="775"/>
              </a:spcBef>
            </a:pPr>
            <a:r>
              <a:rPr dirty="0" sz="2400" spc="-25" b="1">
                <a:solidFill>
                  <a:srgbClr val="FF0000"/>
                </a:solidFill>
                <a:latin typeface="宋体"/>
                <a:cs typeface="宋体"/>
              </a:rPr>
              <a:t>优化：哈夫曼编码</a:t>
            </a:r>
            <a:endParaRPr sz="2400">
              <a:latin typeface="宋体"/>
              <a:cs typeface="宋体"/>
            </a:endParaRPr>
          </a:p>
        </p:txBody>
      </p:sp>
      <p:grpSp>
        <p:nvGrpSpPr>
          <p:cNvPr id="12" name="object 12" descr=""/>
          <p:cNvGrpSpPr/>
          <p:nvPr/>
        </p:nvGrpSpPr>
        <p:grpSpPr>
          <a:xfrm>
            <a:off x="7326312" y="5410263"/>
            <a:ext cx="327025" cy="398780"/>
            <a:chOff x="7326312" y="5410263"/>
            <a:chExt cx="327025" cy="398780"/>
          </a:xfrm>
        </p:grpSpPr>
        <p:sp>
          <p:nvSpPr>
            <p:cNvPr id="13" name="object 13" descr=""/>
            <p:cNvSpPr/>
            <p:nvPr/>
          </p:nvSpPr>
          <p:spPr>
            <a:xfrm>
              <a:off x="7331075" y="5415026"/>
              <a:ext cx="317500" cy="389255"/>
            </a:xfrm>
            <a:custGeom>
              <a:avLst/>
              <a:gdLst/>
              <a:ahLst/>
              <a:cxnLst/>
              <a:rect l="l" t="t" r="r" b="b"/>
              <a:pathLst>
                <a:path w="317500" h="389254">
                  <a:moveTo>
                    <a:pt x="238125" y="0"/>
                  </a:moveTo>
                  <a:lnTo>
                    <a:pt x="79375" y="0"/>
                  </a:lnTo>
                  <a:lnTo>
                    <a:pt x="79375" y="230124"/>
                  </a:lnTo>
                  <a:lnTo>
                    <a:pt x="0" y="230124"/>
                  </a:lnTo>
                  <a:lnTo>
                    <a:pt x="158750" y="388874"/>
                  </a:lnTo>
                  <a:lnTo>
                    <a:pt x="317500" y="230124"/>
                  </a:lnTo>
                  <a:lnTo>
                    <a:pt x="238125" y="230124"/>
                  </a:lnTo>
                  <a:lnTo>
                    <a:pt x="238125" y="0"/>
                  </a:lnTo>
                  <a:close/>
                </a:path>
              </a:pathLst>
            </a:custGeom>
            <a:solidFill>
              <a:srgbClr val="FFACFF"/>
            </a:solidFill>
          </p:spPr>
          <p:txBody>
            <a:bodyPr wrap="square" lIns="0" tIns="0" rIns="0" bIns="0" rtlCol="0"/>
            <a:lstStyle/>
            <a:p/>
          </p:txBody>
        </p:sp>
        <p:sp>
          <p:nvSpPr>
            <p:cNvPr id="14" name="object 14" descr=""/>
            <p:cNvSpPr/>
            <p:nvPr/>
          </p:nvSpPr>
          <p:spPr>
            <a:xfrm>
              <a:off x="7331075" y="5415026"/>
              <a:ext cx="317500" cy="389255"/>
            </a:xfrm>
            <a:custGeom>
              <a:avLst/>
              <a:gdLst/>
              <a:ahLst/>
              <a:cxnLst/>
              <a:rect l="l" t="t" r="r" b="b"/>
              <a:pathLst>
                <a:path w="317500" h="389254">
                  <a:moveTo>
                    <a:pt x="0" y="230124"/>
                  </a:moveTo>
                  <a:lnTo>
                    <a:pt x="79375" y="230124"/>
                  </a:lnTo>
                  <a:lnTo>
                    <a:pt x="79375" y="0"/>
                  </a:lnTo>
                  <a:lnTo>
                    <a:pt x="238125" y="0"/>
                  </a:lnTo>
                  <a:lnTo>
                    <a:pt x="238125" y="230124"/>
                  </a:lnTo>
                  <a:lnTo>
                    <a:pt x="317500" y="230124"/>
                  </a:lnTo>
                  <a:lnTo>
                    <a:pt x="158750" y="388874"/>
                  </a:lnTo>
                  <a:lnTo>
                    <a:pt x="0" y="230124"/>
                  </a:lnTo>
                  <a:close/>
                </a:path>
              </a:pathLst>
            </a:custGeom>
            <a:ln w="9525">
              <a:solidFill>
                <a:srgbClr val="40458B"/>
              </a:solidFill>
            </a:ln>
          </p:spPr>
          <p:txBody>
            <a:bodyPr wrap="square" lIns="0" tIns="0" rIns="0" bIns="0" rtlCol="0"/>
            <a:lstStyle/>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2574798" y="138430"/>
            <a:ext cx="4912995" cy="513715"/>
          </a:xfrm>
          <a:prstGeom prst="rect"/>
        </p:spPr>
        <p:txBody>
          <a:bodyPr wrap="square" lIns="0" tIns="12700" rIns="0" bIns="0" rtlCol="0" vert="horz">
            <a:spAutoFit/>
          </a:bodyPr>
          <a:lstStyle/>
          <a:p>
            <a:pPr marL="12700">
              <a:lnSpc>
                <a:spcPct val="100000"/>
              </a:lnSpc>
              <a:spcBef>
                <a:spcPts val="100"/>
              </a:spcBef>
            </a:pPr>
            <a:r>
              <a:rPr dirty="0" u="none">
                <a:solidFill>
                  <a:srgbClr val="4F55AC"/>
                </a:solidFill>
              </a:rPr>
              <a:t>2.3</a:t>
            </a:r>
            <a:r>
              <a:rPr dirty="0" u="none" spc="-35">
                <a:solidFill>
                  <a:srgbClr val="4F55AC"/>
                </a:solidFill>
              </a:rPr>
              <a:t> </a:t>
            </a:r>
            <a:r>
              <a:rPr dirty="0" u="none" spc="-5">
                <a:solidFill>
                  <a:srgbClr val="4F55AC"/>
                </a:solidFill>
                <a:latin typeface="微软雅黑"/>
                <a:cs typeface="微软雅黑"/>
              </a:rPr>
              <a:t>指令系统的设计与优化</a:t>
            </a:r>
          </a:p>
        </p:txBody>
      </p:sp>
      <p:grpSp>
        <p:nvGrpSpPr>
          <p:cNvPr id="9" name="object 9" descr=""/>
          <p:cNvGrpSpPr/>
          <p:nvPr/>
        </p:nvGrpSpPr>
        <p:grpSpPr>
          <a:xfrm>
            <a:off x="8910468" y="-9525"/>
            <a:ext cx="723900" cy="588010"/>
            <a:chOff x="8910468" y="-9525"/>
            <a:chExt cx="723900" cy="588010"/>
          </a:xfrm>
        </p:grpSpPr>
        <p:sp>
          <p:nvSpPr>
            <p:cNvPr id="10" name="object 10" descr=""/>
            <p:cNvSpPr/>
            <p:nvPr/>
          </p:nvSpPr>
          <p:spPr>
            <a:xfrm>
              <a:off x="8919993" y="0"/>
              <a:ext cx="704850" cy="568960"/>
            </a:xfrm>
            <a:custGeom>
              <a:avLst/>
              <a:gdLst/>
              <a:ahLst/>
              <a:cxnLst/>
              <a:rect l="l" t="t" r="r" b="b"/>
              <a:pathLst>
                <a:path w="704850" h="568960">
                  <a:moveTo>
                    <a:pt x="615267" y="0"/>
                  </a:moveTo>
                  <a:lnTo>
                    <a:pt x="89306" y="0"/>
                  </a:lnTo>
                  <a:lnTo>
                    <a:pt x="80705" y="8799"/>
                  </a:lnTo>
                  <a:lnTo>
                    <a:pt x="28186" y="92220"/>
                  </a:lnTo>
                  <a:lnTo>
                    <a:pt x="9593" y="142525"/>
                  </a:lnTo>
                  <a:lnTo>
                    <a:pt x="0" y="192211"/>
                  </a:lnTo>
                  <a:lnTo>
                    <a:pt x="0" y="260325"/>
                  </a:lnTo>
                  <a:lnTo>
                    <a:pt x="3206" y="279451"/>
                  </a:lnTo>
                  <a:lnTo>
                    <a:pt x="6387" y="294731"/>
                  </a:lnTo>
                  <a:lnTo>
                    <a:pt x="9593" y="313186"/>
                  </a:lnTo>
                  <a:lnTo>
                    <a:pt x="28186" y="360316"/>
                  </a:lnTo>
                  <a:lnTo>
                    <a:pt x="58932" y="418906"/>
                  </a:lnTo>
                  <a:lnTo>
                    <a:pt x="102478" y="469212"/>
                  </a:lnTo>
                  <a:lnTo>
                    <a:pt x="183183" y="527802"/>
                  </a:lnTo>
                  <a:lnTo>
                    <a:pt x="263888" y="559007"/>
                  </a:lnTo>
                  <a:lnTo>
                    <a:pt x="282455" y="562182"/>
                  </a:lnTo>
                  <a:lnTo>
                    <a:pt x="297841" y="565357"/>
                  </a:lnTo>
                  <a:lnTo>
                    <a:pt x="316408" y="565357"/>
                  </a:lnTo>
                  <a:lnTo>
                    <a:pt x="335000" y="568557"/>
                  </a:lnTo>
                  <a:lnTo>
                    <a:pt x="369573" y="568557"/>
                  </a:lnTo>
                  <a:lnTo>
                    <a:pt x="388166" y="565357"/>
                  </a:lnTo>
                  <a:lnTo>
                    <a:pt x="406732" y="565357"/>
                  </a:lnTo>
                  <a:lnTo>
                    <a:pt x="422092" y="562182"/>
                  </a:lnTo>
                  <a:lnTo>
                    <a:pt x="490644" y="540527"/>
                  </a:lnTo>
                  <a:lnTo>
                    <a:pt x="577116" y="490867"/>
                  </a:lnTo>
                  <a:lnTo>
                    <a:pt x="645642" y="418906"/>
                  </a:lnTo>
                  <a:lnTo>
                    <a:pt x="689214" y="329111"/>
                  </a:lnTo>
                  <a:lnTo>
                    <a:pt x="698161" y="294731"/>
                  </a:lnTo>
                  <a:lnTo>
                    <a:pt x="701367" y="279451"/>
                  </a:lnTo>
                  <a:lnTo>
                    <a:pt x="704574" y="260325"/>
                  </a:lnTo>
                  <a:lnTo>
                    <a:pt x="704574" y="192211"/>
                  </a:lnTo>
                  <a:lnTo>
                    <a:pt x="694980" y="142525"/>
                  </a:lnTo>
                  <a:lnTo>
                    <a:pt x="676388" y="92220"/>
                  </a:lnTo>
                  <a:lnTo>
                    <a:pt x="645642" y="36830"/>
                  </a:lnTo>
                  <a:lnTo>
                    <a:pt x="623868" y="8799"/>
                  </a:lnTo>
                  <a:lnTo>
                    <a:pt x="615267" y="0"/>
                  </a:lnTo>
                  <a:close/>
                </a:path>
              </a:pathLst>
            </a:custGeom>
            <a:solidFill>
              <a:srgbClr val="CCFFCC"/>
            </a:solidFill>
          </p:spPr>
          <p:txBody>
            <a:bodyPr wrap="square" lIns="0" tIns="0" rIns="0" bIns="0" rtlCol="0"/>
            <a:lstStyle/>
            <a:p/>
          </p:txBody>
        </p:sp>
        <p:sp>
          <p:nvSpPr>
            <p:cNvPr id="11" name="object 11" descr=""/>
            <p:cNvSpPr/>
            <p:nvPr/>
          </p:nvSpPr>
          <p:spPr>
            <a:xfrm>
              <a:off x="8919993" y="0"/>
              <a:ext cx="704850" cy="568960"/>
            </a:xfrm>
            <a:custGeom>
              <a:avLst/>
              <a:gdLst/>
              <a:ahLst/>
              <a:cxnLst/>
              <a:rect l="l" t="t" r="r" b="b"/>
              <a:pathLst>
                <a:path w="704850" h="568960">
                  <a:moveTo>
                    <a:pt x="89306" y="0"/>
                  </a:moveTo>
                  <a:lnTo>
                    <a:pt x="80705" y="8799"/>
                  </a:lnTo>
                  <a:lnTo>
                    <a:pt x="58932" y="36830"/>
                  </a:lnTo>
                  <a:lnTo>
                    <a:pt x="43546" y="64834"/>
                  </a:lnTo>
                  <a:lnTo>
                    <a:pt x="28186" y="92220"/>
                  </a:lnTo>
                  <a:lnTo>
                    <a:pt x="21773" y="108145"/>
                  </a:lnTo>
                  <a:lnTo>
                    <a:pt x="15360" y="123425"/>
                  </a:lnTo>
                  <a:lnTo>
                    <a:pt x="9593" y="142525"/>
                  </a:lnTo>
                  <a:lnTo>
                    <a:pt x="6387" y="157805"/>
                  </a:lnTo>
                  <a:lnTo>
                    <a:pt x="3206" y="173730"/>
                  </a:lnTo>
                  <a:lnTo>
                    <a:pt x="0" y="192211"/>
                  </a:lnTo>
                  <a:lnTo>
                    <a:pt x="0" y="207490"/>
                  </a:lnTo>
                  <a:lnTo>
                    <a:pt x="0" y="226590"/>
                  </a:lnTo>
                  <a:lnTo>
                    <a:pt x="0" y="245045"/>
                  </a:lnTo>
                  <a:lnTo>
                    <a:pt x="0" y="260325"/>
                  </a:lnTo>
                  <a:lnTo>
                    <a:pt x="3206" y="279451"/>
                  </a:lnTo>
                  <a:lnTo>
                    <a:pt x="6387" y="294731"/>
                  </a:lnTo>
                  <a:lnTo>
                    <a:pt x="9593" y="313186"/>
                  </a:lnTo>
                  <a:lnTo>
                    <a:pt x="15360" y="329111"/>
                  </a:lnTo>
                  <a:lnTo>
                    <a:pt x="21773" y="344391"/>
                  </a:lnTo>
                  <a:lnTo>
                    <a:pt x="28186" y="360316"/>
                  </a:lnTo>
                  <a:lnTo>
                    <a:pt x="43546" y="390876"/>
                  </a:lnTo>
                  <a:lnTo>
                    <a:pt x="80705" y="444382"/>
                  </a:lnTo>
                  <a:lnTo>
                    <a:pt x="127457" y="490867"/>
                  </a:lnTo>
                  <a:lnTo>
                    <a:pt x="183183" y="527802"/>
                  </a:lnTo>
                  <a:lnTo>
                    <a:pt x="248528" y="553277"/>
                  </a:lnTo>
                  <a:lnTo>
                    <a:pt x="263888" y="559007"/>
                  </a:lnTo>
                  <a:lnTo>
                    <a:pt x="282455" y="562182"/>
                  </a:lnTo>
                  <a:lnTo>
                    <a:pt x="297841" y="565357"/>
                  </a:lnTo>
                  <a:lnTo>
                    <a:pt x="316408" y="565357"/>
                  </a:lnTo>
                  <a:lnTo>
                    <a:pt x="335000" y="568557"/>
                  </a:lnTo>
                  <a:lnTo>
                    <a:pt x="353567" y="568557"/>
                  </a:lnTo>
                  <a:lnTo>
                    <a:pt x="369573" y="568557"/>
                  </a:lnTo>
                  <a:lnTo>
                    <a:pt x="388166" y="565357"/>
                  </a:lnTo>
                  <a:lnTo>
                    <a:pt x="406732" y="565357"/>
                  </a:lnTo>
                  <a:lnTo>
                    <a:pt x="422092" y="562182"/>
                  </a:lnTo>
                  <a:lnTo>
                    <a:pt x="440685" y="559007"/>
                  </a:lnTo>
                  <a:lnTo>
                    <a:pt x="456045" y="553277"/>
                  </a:lnTo>
                  <a:lnTo>
                    <a:pt x="490644" y="540527"/>
                  </a:lnTo>
                  <a:lnTo>
                    <a:pt x="549576" y="509322"/>
                  </a:lnTo>
                  <a:lnTo>
                    <a:pt x="602095" y="469212"/>
                  </a:lnTo>
                  <a:lnTo>
                    <a:pt x="645642" y="418906"/>
                  </a:lnTo>
                  <a:lnTo>
                    <a:pt x="676388" y="360316"/>
                  </a:lnTo>
                  <a:lnTo>
                    <a:pt x="682801" y="344391"/>
                  </a:lnTo>
                  <a:lnTo>
                    <a:pt x="689214" y="329111"/>
                  </a:lnTo>
                  <a:lnTo>
                    <a:pt x="694980" y="313186"/>
                  </a:lnTo>
                  <a:lnTo>
                    <a:pt x="698161" y="294731"/>
                  </a:lnTo>
                  <a:lnTo>
                    <a:pt x="701367" y="279451"/>
                  </a:lnTo>
                  <a:lnTo>
                    <a:pt x="704574" y="260325"/>
                  </a:lnTo>
                  <a:lnTo>
                    <a:pt x="704574" y="245045"/>
                  </a:lnTo>
                  <a:lnTo>
                    <a:pt x="704574" y="226590"/>
                  </a:lnTo>
                  <a:lnTo>
                    <a:pt x="704574" y="207490"/>
                  </a:lnTo>
                  <a:lnTo>
                    <a:pt x="704574" y="192211"/>
                  </a:lnTo>
                  <a:lnTo>
                    <a:pt x="701367" y="173730"/>
                  </a:lnTo>
                  <a:lnTo>
                    <a:pt x="698161" y="157805"/>
                  </a:lnTo>
                  <a:lnTo>
                    <a:pt x="694980" y="142525"/>
                  </a:lnTo>
                  <a:lnTo>
                    <a:pt x="689214" y="126600"/>
                  </a:lnTo>
                  <a:lnTo>
                    <a:pt x="682801" y="108145"/>
                  </a:lnTo>
                  <a:lnTo>
                    <a:pt x="676388" y="92220"/>
                  </a:lnTo>
                  <a:lnTo>
                    <a:pt x="664234" y="64834"/>
                  </a:lnTo>
                  <a:lnTo>
                    <a:pt x="645642" y="36830"/>
                  </a:lnTo>
                  <a:lnTo>
                    <a:pt x="623868" y="8799"/>
                  </a:lnTo>
                  <a:lnTo>
                    <a:pt x="615267" y="0"/>
                  </a:lnTo>
                </a:path>
              </a:pathLst>
            </a:custGeom>
            <a:ln w="18554">
              <a:solidFill>
                <a:srgbClr val="000000"/>
              </a:solidFill>
            </a:ln>
          </p:spPr>
          <p:txBody>
            <a:bodyPr wrap="square" lIns="0" tIns="0" rIns="0" bIns="0" rtlCol="0"/>
            <a:lstStyle/>
            <a:p/>
          </p:txBody>
        </p:sp>
      </p:grpSp>
      <p:sp>
        <p:nvSpPr>
          <p:cNvPr id="12" name="object 12" descr=""/>
          <p:cNvSpPr txBox="1"/>
          <p:nvPr/>
        </p:nvSpPr>
        <p:spPr>
          <a:xfrm>
            <a:off x="9056524" y="72863"/>
            <a:ext cx="434340" cy="306705"/>
          </a:xfrm>
          <a:prstGeom prst="rect">
            <a:avLst/>
          </a:prstGeom>
        </p:spPr>
        <p:txBody>
          <a:bodyPr wrap="square" lIns="0" tIns="11430" rIns="0" bIns="0" rtlCol="0" vert="horz">
            <a:spAutoFit/>
          </a:bodyPr>
          <a:lstStyle/>
          <a:p>
            <a:pPr marL="12700">
              <a:lnSpc>
                <a:spcPct val="100000"/>
              </a:lnSpc>
              <a:spcBef>
                <a:spcPts val="90"/>
              </a:spcBef>
            </a:pPr>
            <a:r>
              <a:rPr dirty="0" sz="1850" spc="-20" b="1">
                <a:latin typeface="Times New Roman"/>
                <a:cs typeface="Times New Roman"/>
              </a:rPr>
              <a:t>0.05</a:t>
            </a:r>
            <a:endParaRPr sz="1850">
              <a:latin typeface="Times New Roman"/>
              <a:cs typeface="Times New Roman"/>
            </a:endParaRPr>
          </a:p>
        </p:txBody>
      </p:sp>
      <p:sp>
        <p:nvSpPr>
          <p:cNvPr id="13" name="object 13" descr=""/>
          <p:cNvSpPr/>
          <p:nvPr/>
        </p:nvSpPr>
        <p:spPr>
          <a:xfrm>
            <a:off x="8429349" y="406801"/>
            <a:ext cx="1630045" cy="603885"/>
          </a:xfrm>
          <a:custGeom>
            <a:avLst/>
            <a:gdLst/>
            <a:ahLst/>
            <a:cxnLst/>
            <a:rect l="l" t="t" r="r" b="b"/>
            <a:pathLst>
              <a:path w="1630045" h="603885">
                <a:moveTo>
                  <a:pt x="0" y="603688"/>
                </a:moveTo>
                <a:lnTo>
                  <a:pt x="571349" y="40109"/>
                </a:lnTo>
              </a:path>
              <a:path w="1630045" h="603885">
                <a:moveTo>
                  <a:pt x="1142699" y="0"/>
                </a:moveTo>
                <a:lnTo>
                  <a:pt x="1629491" y="603688"/>
                </a:lnTo>
              </a:path>
            </a:pathLst>
          </a:custGeom>
          <a:ln w="18558">
            <a:solidFill>
              <a:srgbClr val="000000"/>
            </a:solidFill>
          </a:ln>
        </p:spPr>
        <p:txBody>
          <a:bodyPr wrap="square" lIns="0" tIns="0" rIns="0" bIns="0" rtlCol="0"/>
          <a:lstStyle/>
          <a:p/>
        </p:txBody>
      </p:sp>
      <p:sp>
        <p:nvSpPr>
          <p:cNvPr id="14" name="object 14" descr=""/>
          <p:cNvSpPr txBox="1"/>
          <p:nvPr/>
        </p:nvSpPr>
        <p:spPr>
          <a:xfrm>
            <a:off x="7935598" y="1675053"/>
            <a:ext cx="2829560" cy="306705"/>
          </a:xfrm>
          <a:prstGeom prst="rect">
            <a:avLst/>
          </a:prstGeom>
        </p:spPr>
        <p:txBody>
          <a:bodyPr wrap="square" lIns="0" tIns="11430" rIns="0" bIns="0" rtlCol="0" vert="horz">
            <a:spAutoFit/>
          </a:bodyPr>
          <a:lstStyle/>
          <a:p>
            <a:pPr marL="12700">
              <a:lnSpc>
                <a:spcPct val="100000"/>
              </a:lnSpc>
              <a:spcBef>
                <a:spcPts val="90"/>
              </a:spcBef>
            </a:pPr>
            <a:r>
              <a:rPr dirty="0" sz="1850" spc="-45">
                <a:solidFill>
                  <a:srgbClr val="333399"/>
                </a:solidFill>
                <a:latin typeface="宋体"/>
                <a:cs typeface="宋体"/>
              </a:rPr>
              <a:t>画哈夫曼树的一个基本步骤</a:t>
            </a:r>
            <a:endParaRPr sz="1850">
              <a:latin typeface="宋体"/>
              <a:cs typeface="宋体"/>
            </a:endParaRPr>
          </a:p>
        </p:txBody>
      </p:sp>
      <p:sp>
        <p:nvSpPr>
          <p:cNvPr id="15" name="object 15" descr=""/>
          <p:cNvSpPr txBox="1"/>
          <p:nvPr/>
        </p:nvSpPr>
        <p:spPr>
          <a:xfrm>
            <a:off x="8023237" y="1010489"/>
            <a:ext cx="897255" cy="522605"/>
          </a:xfrm>
          <a:prstGeom prst="rect">
            <a:avLst/>
          </a:prstGeom>
          <a:solidFill>
            <a:srgbClr val="CCFFCC"/>
          </a:solidFill>
          <a:ln w="18549">
            <a:solidFill>
              <a:srgbClr val="000000"/>
            </a:solidFill>
          </a:ln>
        </p:spPr>
        <p:txBody>
          <a:bodyPr wrap="square" lIns="0" tIns="125095" rIns="0" bIns="0" rtlCol="0" vert="horz">
            <a:spAutoFit/>
          </a:bodyPr>
          <a:lstStyle/>
          <a:p>
            <a:pPr marL="250825">
              <a:lnSpc>
                <a:spcPct val="100000"/>
              </a:lnSpc>
              <a:spcBef>
                <a:spcPts val="985"/>
              </a:spcBef>
            </a:pPr>
            <a:r>
              <a:rPr dirty="0" sz="1850" spc="-20" b="1">
                <a:latin typeface="Times New Roman"/>
                <a:cs typeface="Times New Roman"/>
              </a:rPr>
              <a:t>0.02</a:t>
            </a:r>
            <a:endParaRPr sz="1850">
              <a:latin typeface="Times New Roman"/>
              <a:cs typeface="Times New Roman"/>
            </a:endParaRPr>
          </a:p>
        </p:txBody>
      </p:sp>
      <p:sp>
        <p:nvSpPr>
          <p:cNvPr id="16" name="object 16" descr=""/>
          <p:cNvSpPr txBox="1"/>
          <p:nvPr/>
        </p:nvSpPr>
        <p:spPr>
          <a:xfrm>
            <a:off x="9599588" y="1010489"/>
            <a:ext cx="894715" cy="522605"/>
          </a:xfrm>
          <a:prstGeom prst="rect">
            <a:avLst/>
          </a:prstGeom>
          <a:solidFill>
            <a:srgbClr val="CCFFCC"/>
          </a:solidFill>
          <a:ln w="18549">
            <a:solidFill>
              <a:srgbClr val="000000"/>
            </a:solidFill>
          </a:ln>
        </p:spPr>
        <p:txBody>
          <a:bodyPr wrap="square" lIns="0" tIns="128270" rIns="0" bIns="0" rtlCol="0" vert="horz">
            <a:spAutoFit/>
          </a:bodyPr>
          <a:lstStyle/>
          <a:p>
            <a:pPr marL="235585">
              <a:lnSpc>
                <a:spcPct val="100000"/>
              </a:lnSpc>
              <a:spcBef>
                <a:spcPts val="1010"/>
              </a:spcBef>
            </a:pPr>
            <a:r>
              <a:rPr dirty="0" sz="1850" spc="-20" b="1">
                <a:latin typeface="Times New Roman"/>
                <a:cs typeface="Times New Roman"/>
              </a:rPr>
              <a:t>0.03</a:t>
            </a:r>
            <a:endParaRPr sz="1850">
              <a:latin typeface="Times New Roman"/>
              <a:cs typeface="Times New Roman"/>
            </a:endParaRPr>
          </a:p>
        </p:txBody>
      </p:sp>
      <p:sp>
        <p:nvSpPr>
          <p:cNvPr id="17" name="object 17" descr=""/>
          <p:cNvSpPr txBox="1"/>
          <p:nvPr/>
        </p:nvSpPr>
        <p:spPr>
          <a:xfrm>
            <a:off x="2841498" y="2135225"/>
            <a:ext cx="7652384" cy="3065145"/>
          </a:xfrm>
          <a:prstGeom prst="rect">
            <a:avLst/>
          </a:prstGeom>
        </p:spPr>
        <p:txBody>
          <a:bodyPr wrap="square" lIns="0" tIns="165100" rIns="0" bIns="0" rtlCol="0" vert="horz">
            <a:spAutoFit/>
          </a:bodyPr>
          <a:lstStyle/>
          <a:p>
            <a:pPr marL="469265" indent="-456565">
              <a:lnSpc>
                <a:spcPct val="100000"/>
              </a:lnSpc>
              <a:spcBef>
                <a:spcPts val="1300"/>
              </a:spcBef>
              <a:buClr>
                <a:srgbClr val="4668F5"/>
              </a:buClr>
              <a:buSzPct val="72500"/>
              <a:buFont typeface="Wingdings"/>
              <a:buChar char=""/>
              <a:tabLst>
                <a:tab pos="469265" algn="l"/>
              </a:tabLst>
            </a:pPr>
            <a:r>
              <a:rPr dirty="0" sz="2000" spc="-25" b="1">
                <a:solidFill>
                  <a:srgbClr val="6F2F9F"/>
                </a:solidFill>
                <a:latin typeface="黑体"/>
                <a:cs typeface="黑体"/>
              </a:rPr>
              <a:t>将各事件按其使用频度从小到大依次排列 ；</a:t>
            </a:r>
            <a:endParaRPr sz="2000">
              <a:latin typeface="黑体"/>
              <a:cs typeface="黑体"/>
            </a:endParaRPr>
          </a:p>
          <a:p>
            <a:pPr marL="469900" marR="535305" indent="-457200">
              <a:lnSpc>
                <a:spcPct val="130000"/>
              </a:lnSpc>
              <a:spcBef>
                <a:spcPts val="480"/>
              </a:spcBef>
              <a:buClr>
                <a:srgbClr val="4668F5"/>
              </a:buClr>
              <a:buSzPct val="72500"/>
              <a:buFont typeface="Wingdings"/>
              <a:buChar char=""/>
              <a:tabLst>
                <a:tab pos="469900" algn="l"/>
              </a:tabLst>
            </a:pPr>
            <a:r>
              <a:rPr dirty="0" sz="2000" spc="-25" b="1">
                <a:solidFill>
                  <a:srgbClr val="6F2F9F"/>
                </a:solidFill>
                <a:latin typeface="黑体"/>
                <a:cs typeface="黑体"/>
              </a:rPr>
              <a:t>每次从中选择两个频度值最小的结点，将其合并成一个新的结点，并把新结点画在所选结点的上面，</a:t>
            </a:r>
            <a:endParaRPr sz="2000">
              <a:latin typeface="黑体"/>
              <a:cs typeface="黑体"/>
            </a:endParaRPr>
          </a:p>
          <a:p>
            <a:pPr marL="488315" indent="-457200">
              <a:lnSpc>
                <a:spcPct val="100000"/>
              </a:lnSpc>
              <a:spcBef>
                <a:spcPts val="1035"/>
              </a:spcBef>
              <a:buClr>
                <a:srgbClr val="4668F5"/>
              </a:buClr>
              <a:buSzPct val="72500"/>
              <a:buFont typeface="Wingdings"/>
              <a:buChar char=""/>
              <a:tabLst>
                <a:tab pos="488315" algn="l"/>
              </a:tabLst>
            </a:pPr>
            <a:r>
              <a:rPr dirty="0" sz="2000" spc="-25" b="1">
                <a:solidFill>
                  <a:srgbClr val="6F2F9F"/>
                </a:solidFill>
                <a:latin typeface="黑体"/>
                <a:cs typeface="黑体"/>
              </a:rPr>
              <a:t>然后用两条边把新结点分别与那两个结点相连。</a:t>
            </a:r>
            <a:endParaRPr sz="2000">
              <a:latin typeface="黑体"/>
              <a:cs typeface="黑体"/>
            </a:endParaRPr>
          </a:p>
          <a:p>
            <a:pPr lvl="1" marL="1049655" indent="-381635">
              <a:lnSpc>
                <a:spcPct val="100000"/>
              </a:lnSpc>
              <a:spcBef>
                <a:spcPts val="1280"/>
              </a:spcBef>
              <a:buSzPct val="63888"/>
              <a:buFont typeface="Wingdings"/>
              <a:buChar char=""/>
              <a:tabLst>
                <a:tab pos="1049655" algn="l"/>
              </a:tabLst>
            </a:pPr>
            <a:r>
              <a:rPr dirty="0" sz="1800" spc="-15" b="1">
                <a:solidFill>
                  <a:srgbClr val="40458B"/>
                </a:solidFill>
                <a:latin typeface="宋体"/>
                <a:cs typeface="宋体"/>
              </a:rPr>
              <a:t>新结点的频度值是所选两个结点的频度值的和。</a:t>
            </a:r>
            <a:endParaRPr sz="1800">
              <a:latin typeface="宋体"/>
              <a:cs typeface="宋体"/>
            </a:endParaRPr>
          </a:p>
          <a:p>
            <a:pPr marL="488315" marR="5080" indent="-457200">
              <a:lnSpc>
                <a:spcPct val="130000"/>
              </a:lnSpc>
              <a:spcBef>
                <a:spcPts val="500"/>
              </a:spcBef>
              <a:buClr>
                <a:srgbClr val="4668F5"/>
              </a:buClr>
              <a:buSzPct val="72500"/>
              <a:buFont typeface="Wingdings"/>
              <a:buChar char=""/>
              <a:tabLst>
                <a:tab pos="488315" algn="l"/>
              </a:tabLst>
            </a:pPr>
            <a:r>
              <a:rPr dirty="0" sz="2000" spc="-25" b="1">
                <a:solidFill>
                  <a:srgbClr val="6F2F9F"/>
                </a:solidFill>
                <a:latin typeface="黑体"/>
                <a:cs typeface="黑体"/>
              </a:rPr>
              <a:t>把新结点与其他剩余未结合的结点一起，再以上面的步骤进行</a:t>
            </a:r>
            <a:r>
              <a:rPr dirty="0" sz="2000" spc="-50" b="1">
                <a:solidFill>
                  <a:srgbClr val="6F2F9F"/>
                </a:solidFill>
                <a:latin typeface="黑体"/>
                <a:cs typeface="黑体"/>
              </a:rPr>
              <a:t> </a:t>
            </a:r>
            <a:r>
              <a:rPr dirty="0" sz="2000" spc="-25" b="1">
                <a:solidFill>
                  <a:srgbClr val="6F2F9F"/>
                </a:solidFill>
                <a:latin typeface="黑体"/>
                <a:cs typeface="黑体"/>
              </a:rPr>
              <a:t>处理，反复进行，直到全部结点都结合完毕、形成根结点为止。</a:t>
            </a:r>
            <a:endParaRPr sz="2000">
              <a:latin typeface="黑体"/>
              <a:cs typeface="黑体"/>
            </a:endParaRPr>
          </a:p>
        </p:txBody>
      </p:sp>
      <p:sp>
        <p:nvSpPr>
          <p:cNvPr id="18" name="object 18" descr=""/>
          <p:cNvSpPr txBox="1"/>
          <p:nvPr/>
        </p:nvSpPr>
        <p:spPr>
          <a:xfrm>
            <a:off x="1583816" y="641533"/>
            <a:ext cx="4633595" cy="1509395"/>
          </a:xfrm>
          <a:prstGeom prst="rect">
            <a:avLst/>
          </a:prstGeom>
        </p:spPr>
        <p:txBody>
          <a:bodyPr wrap="square" lIns="0" tIns="102870" rIns="0" bIns="0" rtlCol="0" vert="horz">
            <a:spAutoFit/>
          </a:bodyPr>
          <a:lstStyle/>
          <a:p>
            <a:pPr marL="985519">
              <a:lnSpc>
                <a:spcPct val="100000"/>
              </a:lnSpc>
              <a:spcBef>
                <a:spcPts val="810"/>
              </a:spcBef>
            </a:pPr>
            <a:r>
              <a:rPr dirty="0" sz="2600">
                <a:solidFill>
                  <a:srgbClr val="0000CC"/>
                </a:solidFill>
                <a:latin typeface="黑体"/>
                <a:cs typeface="黑体"/>
              </a:rPr>
              <a:t>2.3.3</a:t>
            </a:r>
            <a:r>
              <a:rPr dirty="0" sz="2600" spc="-15">
                <a:solidFill>
                  <a:srgbClr val="0000CC"/>
                </a:solidFill>
                <a:latin typeface="黑体"/>
                <a:cs typeface="黑体"/>
              </a:rPr>
              <a:t> 指令操作码的优化</a:t>
            </a:r>
            <a:endParaRPr sz="2600">
              <a:latin typeface="黑体"/>
              <a:cs typeface="黑体"/>
            </a:endParaRPr>
          </a:p>
          <a:p>
            <a:pPr marL="469265" indent="-456565">
              <a:lnSpc>
                <a:spcPct val="100000"/>
              </a:lnSpc>
              <a:spcBef>
                <a:spcPts val="650"/>
              </a:spcBef>
              <a:buClr>
                <a:srgbClr val="40458B"/>
              </a:buClr>
              <a:buFont typeface="Tahoma"/>
              <a:buAutoNum type="arabicPeriod"/>
              <a:tabLst>
                <a:tab pos="469265" algn="l"/>
              </a:tabLst>
            </a:pPr>
            <a:r>
              <a:rPr dirty="0" sz="2400" spc="-10">
                <a:solidFill>
                  <a:srgbClr val="E14B04"/>
                </a:solidFill>
                <a:latin typeface="黑体"/>
                <a:cs typeface="黑体"/>
              </a:rPr>
              <a:t>哈夫曼编码</a:t>
            </a:r>
            <a:endParaRPr sz="2400">
              <a:latin typeface="黑体"/>
              <a:cs typeface="黑体"/>
            </a:endParaRPr>
          </a:p>
          <a:p>
            <a:pPr lvl="1" marL="1099185" indent="-457200">
              <a:lnSpc>
                <a:spcPct val="100000"/>
              </a:lnSpc>
              <a:spcBef>
                <a:spcPts val="1440"/>
              </a:spcBef>
              <a:buSzPct val="89583"/>
              <a:buFont typeface="Wingdings"/>
              <a:buChar char=""/>
              <a:tabLst>
                <a:tab pos="1099185" algn="l"/>
              </a:tabLst>
            </a:pPr>
            <a:r>
              <a:rPr dirty="0" sz="2400" spc="-15">
                <a:solidFill>
                  <a:srgbClr val="40458B"/>
                </a:solidFill>
                <a:latin typeface="黑体"/>
                <a:cs typeface="黑体"/>
              </a:rPr>
              <a:t>构造哈夫曼树的方法</a:t>
            </a:r>
            <a:endParaRPr sz="2400">
              <a:latin typeface="黑体"/>
              <a:cs typeface="黑体"/>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637792" y="1072642"/>
            <a:ext cx="2877185" cy="452120"/>
          </a:xfrm>
          <a:prstGeom prst="rect">
            <a:avLst/>
          </a:prstGeom>
        </p:spPr>
        <p:txBody>
          <a:bodyPr wrap="square" lIns="0" tIns="12065" rIns="0" bIns="0" rtlCol="0" vert="horz">
            <a:spAutoFit/>
          </a:bodyPr>
          <a:lstStyle/>
          <a:p>
            <a:pPr marL="12700">
              <a:lnSpc>
                <a:spcPct val="100000"/>
              </a:lnSpc>
              <a:spcBef>
                <a:spcPts val="95"/>
              </a:spcBef>
            </a:pPr>
            <a:r>
              <a:rPr dirty="0" sz="2800" spc="-35" b="1">
                <a:solidFill>
                  <a:srgbClr val="40458B"/>
                </a:solidFill>
                <a:latin typeface="黑体"/>
                <a:cs typeface="黑体"/>
              </a:rPr>
              <a:t>哈夫曼树构建过程</a:t>
            </a:r>
            <a:endParaRPr sz="2800">
              <a:latin typeface="黑体"/>
              <a:cs typeface="黑体"/>
            </a:endParaRPr>
          </a:p>
        </p:txBody>
      </p:sp>
      <p:grpSp>
        <p:nvGrpSpPr>
          <p:cNvPr id="5" name="object 5" descr=""/>
          <p:cNvGrpSpPr/>
          <p:nvPr/>
        </p:nvGrpSpPr>
        <p:grpSpPr>
          <a:xfrm>
            <a:off x="3095487" y="1131743"/>
            <a:ext cx="6812915" cy="4240530"/>
            <a:chOff x="3095487" y="1131743"/>
            <a:chExt cx="6812915" cy="4240530"/>
          </a:xfrm>
        </p:grpSpPr>
        <p:sp>
          <p:nvSpPr>
            <p:cNvPr id="6" name="object 6" descr=""/>
            <p:cNvSpPr/>
            <p:nvPr/>
          </p:nvSpPr>
          <p:spPr>
            <a:xfrm>
              <a:off x="3758506" y="1557015"/>
              <a:ext cx="1964689" cy="2599055"/>
            </a:xfrm>
            <a:custGeom>
              <a:avLst/>
              <a:gdLst/>
              <a:ahLst/>
              <a:cxnLst/>
              <a:rect l="l" t="t" r="r" b="b"/>
              <a:pathLst>
                <a:path w="1964689" h="2599054">
                  <a:moveTo>
                    <a:pt x="1964290" y="0"/>
                  </a:moveTo>
                  <a:lnTo>
                    <a:pt x="1693353" y="366501"/>
                  </a:lnTo>
                </a:path>
                <a:path w="1964689" h="2599054">
                  <a:moveTo>
                    <a:pt x="1399839" y="733003"/>
                  </a:moveTo>
                  <a:lnTo>
                    <a:pt x="1128902" y="1099505"/>
                  </a:lnTo>
                </a:path>
                <a:path w="1964689" h="2599054">
                  <a:moveTo>
                    <a:pt x="857966" y="1466007"/>
                  </a:moveTo>
                  <a:lnTo>
                    <a:pt x="587029" y="1832509"/>
                  </a:lnTo>
                </a:path>
                <a:path w="1964689" h="2599054">
                  <a:moveTo>
                    <a:pt x="293514" y="2199053"/>
                  </a:moveTo>
                  <a:lnTo>
                    <a:pt x="0" y="2598873"/>
                  </a:lnTo>
                </a:path>
              </a:pathLst>
            </a:custGeom>
            <a:ln w="16124">
              <a:solidFill>
                <a:srgbClr val="000000"/>
              </a:solidFill>
            </a:ln>
          </p:spPr>
          <p:txBody>
            <a:bodyPr wrap="square" lIns="0" tIns="0" rIns="0" bIns="0" rtlCol="0"/>
            <a:lstStyle/>
            <a:p/>
          </p:txBody>
        </p:sp>
        <p:sp>
          <p:nvSpPr>
            <p:cNvPr id="7" name="object 7" descr=""/>
            <p:cNvSpPr/>
            <p:nvPr/>
          </p:nvSpPr>
          <p:spPr>
            <a:xfrm>
              <a:off x="5606681" y="1139998"/>
              <a:ext cx="519430" cy="466725"/>
            </a:xfrm>
            <a:custGeom>
              <a:avLst/>
              <a:gdLst/>
              <a:ahLst/>
              <a:cxnLst/>
              <a:rect l="l" t="t" r="r" b="b"/>
              <a:pathLst>
                <a:path w="519429" h="466725">
                  <a:moveTo>
                    <a:pt x="259755" y="0"/>
                  </a:moveTo>
                  <a:lnTo>
                    <a:pt x="207415" y="4740"/>
                  </a:lnTo>
                  <a:lnTo>
                    <a:pt x="158661" y="18335"/>
                  </a:lnTo>
                  <a:lnTo>
                    <a:pt x="114538" y="39844"/>
                  </a:lnTo>
                  <a:lnTo>
                    <a:pt x="76093" y="68329"/>
                  </a:lnTo>
                  <a:lnTo>
                    <a:pt x="44371" y="102849"/>
                  </a:lnTo>
                  <a:lnTo>
                    <a:pt x="20417" y="142466"/>
                  </a:lnTo>
                  <a:lnTo>
                    <a:pt x="5278" y="186238"/>
                  </a:lnTo>
                  <a:lnTo>
                    <a:pt x="0" y="233228"/>
                  </a:lnTo>
                  <a:lnTo>
                    <a:pt x="5278" y="280217"/>
                  </a:lnTo>
                  <a:lnTo>
                    <a:pt x="20417" y="323990"/>
                  </a:lnTo>
                  <a:lnTo>
                    <a:pt x="44371" y="363607"/>
                  </a:lnTo>
                  <a:lnTo>
                    <a:pt x="76093" y="398127"/>
                  </a:lnTo>
                  <a:lnTo>
                    <a:pt x="114538" y="426612"/>
                  </a:lnTo>
                  <a:lnTo>
                    <a:pt x="158661" y="448121"/>
                  </a:lnTo>
                  <a:lnTo>
                    <a:pt x="207415" y="461716"/>
                  </a:lnTo>
                  <a:lnTo>
                    <a:pt x="259755" y="466456"/>
                  </a:lnTo>
                  <a:lnTo>
                    <a:pt x="312024" y="461716"/>
                  </a:lnTo>
                  <a:lnTo>
                    <a:pt x="360724" y="448121"/>
                  </a:lnTo>
                  <a:lnTo>
                    <a:pt x="404809" y="426612"/>
                  </a:lnTo>
                  <a:lnTo>
                    <a:pt x="443228" y="398127"/>
                  </a:lnTo>
                  <a:lnTo>
                    <a:pt x="474935" y="363607"/>
                  </a:lnTo>
                  <a:lnTo>
                    <a:pt x="498880" y="323990"/>
                  </a:lnTo>
                  <a:lnTo>
                    <a:pt x="514016" y="280217"/>
                  </a:lnTo>
                  <a:lnTo>
                    <a:pt x="519295" y="233228"/>
                  </a:lnTo>
                  <a:lnTo>
                    <a:pt x="514016" y="186238"/>
                  </a:lnTo>
                  <a:lnTo>
                    <a:pt x="498880" y="142466"/>
                  </a:lnTo>
                  <a:lnTo>
                    <a:pt x="474935" y="102849"/>
                  </a:lnTo>
                  <a:lnTo>
                    <a:pt x="443228" y="68329"/>
                  </a:lnTo>
                  <a:lnTo>
                    <a:pt x="404809" y="39844"/>
                  </a:lnTo>
                  <a:lnTo>
                    <a:pt x="360724" y="18335"/>
                  </a:lnTo>
                  <a:lnTo>
                    <a:pt x="312023" y="4740"/>
                  </a:lnTo>
                  <a:lnTo>
                    <a:pt x="259755" y="0"/>
                  </a:lnTo>
                  <a:close/>
                </a:path>
              </a:pathLst>
            </a:custGeom>
            <a:solidFill>
              <a:srgbClr val="CCFFCC"/>
            </a:solidFill>
          </p:spPr>
          <p:txBody>
            <a:bodyPr wrap="square" lIns="0" tIns="0" rIns="0" bIns="0" rtlCol="0"/>
            <a:lstStyle/>
            <a:p/>
          </p:txBody>
        </p:sp>
        <p:sp>
          <p:nvSpPr>
            <p:cNvPr id="8" name="object 8" descr=""/>
            <p:cNvSpPr/>
            <p:nvPr/>
          </p:nvSpPr>
          <p:spPr>
            <a:xfrm>
              <a:off x="5606681" y="1139998"/>
              <a:ext cx="519430" cy="466725"/>
            </a:xfrm>
            <a:custGeom>
              <a:avLst/>
              <a:gdLst/>
              <a:ahLst/>
              <a:cxnLst/>
              <a:rect l="l" t="t" r="r" b="b"/>
              <a:pathLst>
                <a:path w="519429" h="466725">
                  <a:moveTo>
                    <a:pt x="259755" y="0"/>
                  </a:moveTo>
                  <a:lnTo>
                    <a:pt x="207415" y="4740"/>
                  </a:lnTo>
                  <a:lnTo>
                    <a:pt x="158661" y="18335"/>
                  </a:lnTo>
                  <a:lnTo>
                    <a:pt x="114538" y="39844"/>
                  </a:lnTo>
                  <a:lnTo>
                    <a:pt x="76093" y="68329"/>
                  </a:lnTo>
                  <a:lnTo>
                    <a:pt x="44371" y="102849"/>
                  </a:lnTo>
                  <a:lnTo>
                    <a:pt x="20417" y="142466"/>
                  </a:lnTo>
                  <a:lnTo>
                    <a:pt x="5278" y="186238"/>
                  </a:lnTo>
                  <a:lnTo>
                    <a:pt x="0" y="233228"/>
                  </a:lnTo>
                  <a:lnTo>
                    <a:pt x="5278" y="280217"/>
                  </a:lnTo>
                  <a:lnTo>
                    <a:pt x="20417" y="323990"/>
                  </a:lnTo>
                  <a:lnTo>
                    <a:pt x="44371" y="363607"/>
                  </a:lnTo>
                  <a:lnTo>
                    <a:pt x="76093" y="398127"/>
                  </a:lnTo>
                  <a:lnTo>
                    <a:pt x="114538" y="426612"/>
                  </a:lnTo>
                  <a:lnTo>
                    <a:pt x="158661" y="448121"/>
                  </a:lnTo>
                  <a:lnTo>
                    <a:pt x="207415" y="461716"/>
                  </a:lnTo>
                  <a:lnTo>
                    <a:pt x="259755" y="466456"/>
                  </a:lnTo>
                  <a:lnTo>
                    <a:pt x="312024" y="461716"/>
                  </a:lnTo>
                  <a:lnTo>
                    <a:pt x="360724" y="448121"/>
                  </a:lnTo>
                  <a:lnTo>
                    <a:pt x="404809" y="426612"/>
                  </a:lnTo>
                  <a:lnTo>
                    <a:pt x="443228" y="398127"/>
                  </a:lnTo>
                  <a:lnTo>
                    <a:pt x="474935" y="363607"/>
                  </a:lnTo>
                  <a:lnTo>
                    <a:pt x="498880" y="323990"/>
                  </a:lnTo>
                  <a:lnTo>
                    <a:pt x="514016" y="280217"/>
                  </a:lnTo>
                  <a:lnTo>
                    <a:pt x="519295" y="233228"/>
                  </a:lnTo>
                  <a:lnTo>
                    <a:pt x="514016" y="186238"/>
                  </a:lnTo>
                  <a:lnTo>
                    <a:pt x="498880" y="142466"/>
                  </a:lnTo>
                  <a:lnTo>
                    <a:pt x="474935" y="102849"/>
                  </a:lnTo>
                  <a:lnTo>
                    <a:pt x="443228" y="68329"/>
                  </a:lnTo>
                  <a:lnTo>
                    <a:pt x="404809" y="39844"/>
                  </a:lnTo>
                  <a:lnTo>
                    <a:pt x="360724" y="18335"/>
                  </a:lnTo>
                  <a:lnTo>
                    <a:pt x="312023" y="4740"/>
                  </a:lnTo>
                  <a:lnTo>
                    <a:pt x="259755" y="0"/>
                  </a:lnTo>
                  <a:close/>
                </a:path>
              </a:pathLst>
            </a:custGeom>
            <a:ln w="16124">
              <a:solidFill>
                <a:srgbClr val="000000"/>
              </a:solidFill>
            </a:ln>
          </p:spPr>
          <p:txBody>
            <a:bodyPr wrap="square" lIns="0" tIns="0" rIns="0" bIns="0" rtlCol="0"/>
            <a:lstStyle/>
            <a:p/>
          </p:txBody>
        </p:sp>
        <p:sp>
          <p:nvSpPr>
            <p:cNvPr id="9" name="object 9" descr=""/>
            <p:cNvSpPr/>
            <p:nvPr/>
          </p:nvSpPr>
          <p:spPr>
            <a:xfrm>
              <a:off x="3394032" y="4122570"/>
              <a:ext cx="519430" cy="466725"/>
            </a:xfrm>
            <a:custGeom>
              <a:avLst/>
              <a:gdLst/>
              <a:ahLst/>
              <a:cxnLst/>
              <a:rect l="l" t="t" r="r" b="b"/>
              <a:pathLst>
                <a:path w="519429" h="466725">
                  <a:moveTo>
                    <a:pt x="259647" y="0"/>
                  </a:moveTo>
                  <a:lnTo>
                    <a:pt x="207318" y="4738"/>
                  </a:lnTo>
                  <a:lnTo>
                    <a:pt x="158579" y="18329"/>
                  </a:lnTo>
                  <a:lnTo>
                    <a:pt x="114474" y="39833"/>
                  </a:lnTo>
                  <a:lnTo>
                    <a:pt x="76047" y="68313"/>
                  </a:lnTo>
                  <a:lnTo>
                    <a:pt x="44342" y="102830"/>
                  </a:lnTo>
                  <a:lnTo>
                    <a:pt x="20403" y="142448"/>
                  </a:lnTo>
                  <a:lnTo>
                    <a:pt x="5274" y="186226"/>
                  </a:lnTo>
                  <a:lnTo>
                    <a:pt x="0" y="233228"/>
                  </a:lnTo>
                  <a:lnTo>
                    <a:pt x="5274" y="280236"/>
                  </a:lnTo>
                  <a:lnTo>
                    <a:pt x="20403" y="324017"/>
                  </a:lnTo>
                  <a:lnTo>
                    <a:pt x="44342" y="363635"/>
                  </a:lnTo>
                  <a:lnTo>
                    <a:pt x="76047" y="398151"/>
                  </a:lnTo>
                  <a:lnTo>
                    <a:pt x="114474" y="426629"/>
                  </a:lnTo>
                  <a:lnTo>
                    <a:pt x="158579" y="448130"/>
                  </a:lnTo>
                  <a:lnTo>
                    <a:pt x="207318" y="461719"/>
                  </a:lnTo>
                  <a:lnTo>
                    <a:pt x="259647" y="466456"/>
                  </a:lnTo>
                  <a:lnTo>
                    <a:pt x="311976" y="461719"/>
                  </a:lnTo>
                  <a:lnTo>
                    <a:pt x="360715" y="448130"/>
                  </a:lnTo>
                  <a:lnTo>
                    <a:pt x="404820" y="426629"/>
                  </a:lnTo>
                  <a:lnTo>
                    <a:pt x="443247" y="398151"/>
                  </a:lnTo>
                  <a:lnTo>
                    <a:pt x="474952" y="363635"/>
                  </a:lnTo>
                  <a:lnTo>
                    <a:pt x="498891" y="324017"/>
                  </a:lnTo>
                  <a:lnTo>
                    <a:pt x="514020" y="280236"/>
                  </a:lnTo>
                  <a:lnTo>
                    <a:pt x="519295" y="233228"/>
                  </a:lnTo>
                  <a:lnTo>
                    <a:pt x="514020" y="186226"/>
                  </a:lnTo>
                  <a:lnTo>
                    <a:pt x="498891" y="142448"/>
                  </a:lnTo>
                  <a:lnTo>
                    <a:pt x="474952" y="102830"/>
                  </a:lnTo>
                  <a:lnTo>
                    <a:pt x="443247" y="68313"/>
                  </a:lnTo>
                  <a:lnTo>
                    <a:pt x="404820" y="39833"/>
                  </a:lnTo>
                  <a:lnTo>
                    <a:pt x="360715" y="18329"/>
                  </a:lnTo>
                  <a:lnTo>
                    <a:pt x="311976" y="4738"/>
                  </a:lnTo>
                  <a:lnTo>
                    <a:pt x="259647" y="0"/>
                  </a:lnTo>
                  <a:close/>
                </a:path>
              </a:pathLst>
            </a:custGeom>
            <a:solidFill>
              <a:srgbClr val="CCFFCC"/>
            </a:solidFill>
          </p:spPr>
          <p:txBody>
            <a:bodyPr wrap="square" lIns="0" tIns="0" rIns="0" bIns="0" rtlCol="0"/>
            <a:lstStyle/>
            <a:p/>
          </p:txBody>
        </p:sp>
        <p:sp>
          <p:nvSpPr>
            <p:cNvPr id="10" name="object 10" descr=""/>
            <p:cNvSpPr/>
            <p:nvPr/>
          </p:nvSpPr>
          <p:spPr>
            <a:xfrm>
              <a:off x="3394032" y="4122570"/>
              <a:ext cx="519430" cy="466725"/>
            </a:xfrm>
            <a:custGeom>
              <a:avLst/>
              <a:gdLst/>
              <a:ahLst/>
              <a:cxnLst/>
              <a:rect l="l" t="t" r="r" b="b"/>
              <a:pathLst>
                <a:path w="519429" h="466725">
                  <a:moveTo>
                    <a:pt x="259647" y="0"/>
                  </a:moveTo>
                  <a:lnTo>
                    <a:pt x="207318" y="4738"/>
                  </a:lnTo>
                  <a:lnTo>
                    <a:pt x="158579" y="18329"/>
                  </a:lnTo>
                  <a:lnTo>
                    <a:pt x="114474" y="39833"/>
                  </a:lnTo>
                  <a:lnTo>
                    <a:pt x="76047" y="68313"/>
                  </a:lnTo>
                  <a:lnTo>
                    <a:pt x="44342" y="102830"/>
                  </a:lnTo>
                  <a:lnTo>
                    <a:pt x="20403" y="142448"/>
                  </a:lnTo>
                  <a:lnTo>
                    <a:pt x="5274" y="186226"/>
                  </a:lnTo>
                  <a:lnTo>
                    <a:pt x="0" y="233228"/>
                  </a:lnTo>
                  <a:lnTo>
                    <a:pt x="5274" y="280236"/>
                  </a:lnTo>
                  <a:lnTo>
                    <a:pt x="20403" y="324017"/>
                  </a:lnTo>
                  <a:lnTo>
                    <a:pt x="44342" y="363635"/>
                  </a:lnTo>
                  <a:lnTo>
                    <a:pt x="76047" y="398151"/>
                  </a:lnTo>
                  <a:lnTo>
                    <a:pt x="114474" y="426629"/>
                  </a:lnTo>
                  <a:lnTo>
                    <a:pt x="158579" y="448130"/>
                  </a:lnTo>
                  <a:lnTo>
                    <a:pt x="207318" y="461719"/>
                  </a:lnTo>
                  <a:lnTo>
                    <a:pt x="259647" y="466456"/>
                  </a:lnTo>
                  <a:lnTo>
                    <a:pt x="311976" y="461719"/>
                  </a:lnTo>
                  <a:lnTo>
                    <a:pt x="360715" y="448130"/>
                  </a:lnTo>
                  <a:lnTo>
                    <a:pt x="404820" y="426629"/>
                  </a:lnTo>
                  <a:lnTo>
                    <a:pt x="443247" y="398151"/>
                  </a:lnTo>
                  <a:lnTo>
                    <a:pt x="474952" y="363635"/>
                  </a:lnTo>
                  <a:lnTo>
                    <a:pt x="498891" y="324017"/>
                  </a:lnTo>
                  <a:lnTo>
                    <a:pt x="514020" y="280236"/>
                  </a:lnTo>
                  <a:lnTo>
                    <a:pt x="519295" y="233228"/>
                  </a:lnTo>
                  <a:lnTo>
                    <a:pt x="514020" y="186226"/>
                  </a:lnTo>
                  <a:lnTo>
                    <a:pt x="498891" y="142448"/>
                  </a:lnTo>
                  <a:lnTo>
                    <a:pt x="474952" y="102830"/>
                  </a:lnTo>
                  <a:lnTo>
                    <a:pt x="443247" y="68313"/>
                  </a:lnTo>
                  <a:lnTo>
                    <a:pt x="404820" y="39833"/>
                  </a:lnTo>
                  <a:lnTo>
                    <a:pt x="360715" y="18329"/>
                  </a:lnTo>
                  <a:lnTo>
                    <a:pt x="311976" y="4738"/>
                  </a:lnTo>
                  <a:lnTo>
                    <a:pt x="259647" y="0"/>
                  </a:lnTo>
                  <a:close/>
                </a:path>
              </a:pathLst>
            </a:custGeom>
            <a:ln w="16124">
              <a:solidFill>
                <a:srgbClr val="000000"/>
              </a:solidFill>
            </a:ln>
          </p:spPr>
          <p:txBody>
            <a:bodyPr wrap="square" lIns="0" tIns="0" rIns="0" bIns="0" rtlCol="0"/>
            <a:lstStyle/>
            <a:p/>
          </p:txBody>
        </p:sp>
        <p:sp>
          <p:nvSpPr>
            <p:cNvPr id="11" name="object 11" descr=""/>
            <p:cNvSpPr/>
            <p:nvPr/>
          </p:nvSpPr>
          <p:spPr>
            <a:xfrm>
              <a:off x="3981061" y="3389524"/>
              <a:ext cx="519430" cy="466725"/>
            </a:xfrm>
            <a:custGeom>
              <a:avLst/>
              <a:gdLst/>
              <a:ahLst/>
              <a:cxnLst/>
              <a:rect l="l" t="t" r="r" b="b"/>
              <a:pathLst>
                <a:path w="519429" h="466725">
                  <a:moveTo>
                    <a:pt x="259647" y="0"/>
                  </a:moveTo>
                  <a:lnTo>
                    <a:pt x="207318" y="4740"/>
                  </a:lnTo>
                  <a:lnTo>
                    <a:pt x="158579" y="18335"/>
                  </a:lnTo>
                  <a:lnTo>
                    <a:pt x="114474" y="39846"/>
                  </a:lnTo>
                  <a:lnTo>
                    <a:pt x="76047" y="68334"/>
                  </a:lnTo>
                  <a:lnTo>
                    <a:pt x="44342" y="102860"/>
                  </a:lnTo>
                  <a:lnTo>
                    <a:pt x="20403" y="142484"/>
                  </a:lnTo>
                  <a:lnTo>
                    <a:pt x="5274" y="186267"/>
                  </a:lnTo>
                  <a:lnTo>
                    <a:pt x="0" y="233271"/>
                  </a:lnTo>
                  <a:lnTo>
                    <a:pt x="5274" y="280279"/>
                  </a:lnTo>
                  <a:lnTo>
                    <a:pt x="20403" y="324060"/>
                  </a:lnTo>
                  <a:lnTo>
                    <a:pt x="44342" y="363678"/>
                  </a:lnTo>
                  <a:lnTo>
                    <a:pt x="76047" y="398194"/>
                  </a:lnTo>
                  <a:lnTo>
                    <a:pt x="114474" y="426672"/>
                  </a:lnTo>
                  <a:lnTo>
                    <a:pt x="158579" y="448173"/>
                  </a:lnTo>
                  <a:lnTo>
                    <a:pt x="207318" y="461762"/>
                  </a:lnTo>
                  <a:lnTo>
                    <a:pt x="259647" y="466499"/>
                  </a:lnTo>
                  <a:lnTo>
                    <a:pt x="311976" y="461762"/>
                  </a:lnTo>
                  <a:lnTo>
                    <a:pt x="360715" y="448173"/>
                  </a:lnTo>
                  <a:lnTo>
                    <a:pt x="404820" y="426672"/>
                  </a:lnTo>
                  <a:lnTo>
                    <a:pt x="443247" y="398194"/>
                  </a:lnTo>
                  <a:lnTo>
                    <a:pt x="474952" y="363678"/>
                  </a:lnTo>
                  <a:lnTo>
                    <a:pt x="498891" y="324060"/>
                  </a:lnTo>
                  <a:lnTo>
                    <a:pt x="514020" y="280279"/>
                  </a:lnTo>
                  <a:lnTo>
                    <a:pt x="519295" y="233271"/>
                  </a:lnTo>
                  <a:lnTo>
                    <a:pt x="514020" y="186267"/>
                  </a:lnTo>
                  <a:lnTo>
                    <a:pt x="498891" y="142484"/>
                  </a:lnTo>
                  <a:lnTo>
                    <a:pt x="474952" y="102860"/>
                  </a:lnTo>
                  <a:lnTo>
                    <a:pt x="443247" y="68334"/>
                  </a:lnTo>
                  <a:lnTo>
                    <a:pt x="404820" y="39846"/>
                  </a:lnTo>
                  <a:lnTo>
                    <a:pt x="360715" y="18335"/>
                  </a:lnTo>
                  <a:lnTo>
                    <a:pt x="311976" y="4740"/>
                  </a:lnTo>
                  <a:lnTo>
                    <a:pt x="259647" y="0"/>
                  </a:lnTo>
                  <a:close/>
                </a:path>
              </a:pathLst>
            </a:custGeom>
            <a:solidFill>
              <a:srgbClr val="CCFFCC"/>
            </a:solidFill>
          </p:spPr>
          <p:txBody>
            <a:bodyPr wrap="square" lIns="0" tIns="0" rIns="0" bIns="0" rtlCol="0"/>
            <a:lstStyle/>
            <a:p/>
          </p:txBody>
        </p:sp>
        <p:sp>
          <p:nvSpPr>
            <p:cNvPr id="12" name="object 12" descr=""/>
            <p:cNvSpPr/>
            <p:nvPr/>
          </p:nvSpPr>
          <p:spPr>
            <a:xfrm>
              <a:off x="3981061" y="3389524"/>
              <a:ext cx="519430" cy="466725"/>
            </a:xfrm>
            <a:custGeom>
              <a:avLst/>
              <a:gdLst/>
              <a:ahLst/>
              <a:cxnLst/>
              <a:rect l="l" t="t" r="r" b="b"/>
              <a:pathLst>
                <a:path w="519429" h="466725">
                  <a:moveTo>
                    <a:pt x="259647" y="0"/>
                  </a:moveTo>
                  <a:lnTo>
                    <a:pt x="207318" y="4740"/>
                  </a:lnTo>
                  <a:lnTo>
                    <a:pt x="158579" y="18335"/>
                  </a:lnTo>
                  <a:lnTo>
                    <a:pt x="114474" y="39846"/>
                  </a:lnTo>
                  <a:lnTo>
                    <a:pt x="76047" y="68334"/>
                  </a:lnTo>
                  <a:lnTo>
                    <a:pt x="44342" y="102860"/>
                  </a:lnTo>
                  <a:lnTo>
                    <a:pt x="20403" y="142484"/>
                  </a:lnTo>
                  <a:lnTo>
                    <a:pt x="5274" y="186267"/>
                  </a:lnTo>
                  <a:lnTo>
                    <a:pt x="0" y="233271"/>
                  </a:lnTo>
                  <a:lnTo>
                    <a:pt x="5274" y="280279"/>
                  </a:lnTo>
                  <a:lnTo>
                    <a:pt x="20403" y="324060"/>
                  </a:lnTo>
                  <a:lnTo>
                    <a:pt x="44342" y="363678"/>
                  </a:lnTo>
                  <a:lnTo>
                    <a:pt x="76047" y="398194"/>
                  </a:lnTo>
                  <a:lnTo>
                    <a:pt x="114474" y="426672"/>
                  </a:lnTo>
                  <a:lnTo>
                    <a:pt x="158579" y="448173"/>
                  </a:lnTo>
                  <a:lnTo>
                    <a:pt x="207318" y="461762"/>
                  </a:lnTo>
                  <a:lnTo>
                    <a:pt x="259647" y="466499"/>
                  </a:lnTo>
                  <a:lnTo>
                    <a:pt x="311976" y="461762"/>
                  </a:lnTo>
                  <a:lnTo>
                    <a:pt x="360715" y="448173"/>
                  </a:lnTo>
                  <a:lnTo>
                    <a:pt x="404820" y="426672"/>
                  </a:lnTo>
                  <a:lnTo>
                    <a:pt x="443247" y="398194"/>
                  </a:lnTo>
                  <a:lnTo>
                    <a:pt x="474952" y="363678"/>
                  </a:lnTo>
                  <a:lnTo>
                    <a:pt x="498891" y="324060"/>
                  </a:lnTo>
                  <a:lnTo>
                    <a:pt x="514020" y="280279"/>
                  </a:lnTo>
                  <a:lnTo>
                    <a:pt x="519295" y="233271"/>
                  </a:lnTo>
                  <a:lnTo>
                    <a:pt x="514020" y="186267"/>
                  </a:lnTo>
                  <a:lnTo>
                    <a:pt x="498891" y="142484"/>
                  </a:lnTo>
                  <a:lnTo>
                    <a:pt x="474952" y="102860"/>
                  </a:lnTo>
                  <a:lnTo>
                    <a:pt x="443247" y="68334"/>
                  </a:lnTo>
                  <a:lnTo>
                    <a:pt x="404820" y="39846"/>
                  </a:lnTo>
                  <a:lnTo>
                    <a:pt x="360715" y="18335"/>
                  </a:lnTo>
                  <a:lnTo>
                    <a:pt x="311976" y="4740"/>
                  </a:lnTo>
                  <a:lnTo>
                    <a:pt x="259647" y="0"/>
                  </a:lnTo>
                  <a:close/>
                </a:path>
              </a:pathLst>
            </a:custGeom>
            <a:ln w="16124">
              <a:solidFill>
                <a:srgbClr val="000000"/>
              </a:solidFill>
            </a:ln>
          </p:spPr>
          <p:txBody>
            <a:bodyPr wrap="square" lIns="0" tIns="0" rIns="0" bIns="0" rtlCol="0"/>
            <a:lstStyle/>
            <a:p/>
          </p:txBody>
        </p:sp>
        <p:sp>
          <p:nvSpPr>
            <p:cNvPr id="13" name="object 13" descr=""/>
            <p:cNvSpPr/>
            <p:nvPr/>
          </p:nvSpPr>
          <p:spPr>
            <a:xfrm>
              <a:off x="4522934" y="2623202"/>
              <a:ext cx="519430" cy="466725"/>
            </a:xfrm>
            <a:custGeom>
              <a:avLst/>
              <a:gdLst/>
              <a:ahLst/>
              <a:cxnLst/>
              <a:rect l="l" t="t" r="r" b="b"/>
              <a:pathLst>
                <a:path w="519429" h="466725">
                  <a:moveTo>
                    <a:pt x="259647" y="0"/>
                  </a:moveTo>
                  <a:lnTo>
                    <a:pt x="207318" y="4740"/>
                  </a:lnTo>
                  <a:lnTo>
                    <a:pt x="158579" y="18335"/>
                  </a:lnTo>
                  <a:lnTo>
                    <a:pt x="114474" y="39844"/>
                  </a:lnTo>
                  <a:lnTo>
                    <a:pt x="76047" y="68329"/>
                  </a:lnTo>
                  <a:lnTo>
                    <a:pt x="44342" y="102849"/>
                  </a:lnTo>
                  <a:lnTo>
                    <a:pt x="20403" y="142466"/>
                  </a:lnTo>
                  <a:lnTo>
                    <a:pt x="5274" y="186238"/>
                  </a:lnTo>
                  <a:lnTo>
                    <a:pt x="0" y="233228"/>
                  </a:lnTo>
                  <a:lnTo>
                    <a:pt x="5274" y="280217"/>
                  </a:lnTo>
                  <a:lnTo>
                    <a:pt x="20403" y="323990"/>
                  </a:lnTo>
                  <a:lnTo>
                    <a:pt x="44342" y="363607"/>
                  </a:lnTo>
                  <a:lnTo>
                    <a:pt x="76047" y="398127"/>
                  </a:lnTo>
                  <a:lnTo>
                    <a:pt x="114474" y="426612"/>
                  </a:lnTo>
                  <a:lnTo>
                    <a:pt x="158579" y="448121"/>
                  </a:lnTo>
                  <a:lnTo>
                    <a:pt x="207318" y="461716"/>
                  </a:lnTo>
                  <a:lnTo>
                    <a:pt x="259647" y="466456"/>
                  </a:lnTo>
                  <a:lnTo>
                    <a:pt x="311976" y="461716"/>
                  </a:lnTo>
                  <a:lnTo>
                    <a:pt x="360715" y="448121"/>
                  </a:lnTo>
                  <a:lnTo>
                    <a:pt x="404820" y="426612"/>
                  </a:lnTo>
                  <a:lnTo>
                    <a:pt x="443247" y="398127"/>
                  </a:lnTo>
                  <a:lnTo>
                    <a:pt x="474952" y="363607"/>
                  </a:lnTo>
                  <a:lnTo>
                    <a:pt x="498891" y="323990"/>
                  </a:lnTo>
                  <a:lnTo>
                    <a:pt x="514020" y="280217"/>
                  </a:lnTo>
                  <a:lnTo>
                    <a:pt x="519295" y="233228"/>
                  </a:lnTo>
                  <a:lnTo>
                    <a:pt x="514020" y="186238"/>
                  </a:lnTo>
                  <a:lnTo>
                    <a:pt x="498891" y="142466"/>
                  </a:lnTo>
                  <a:lnTo>
                    <a:pt x="474952" y="102849"/>
                  </a:lnTo>
                  <a:lnTo>
                    <a:pt x="443247" y="68329"/>
                  </a:lnTo>
                  <a:lnTo>
                    <a:pt x="404820" y="39844"/>
                  </a:lnTo>
                  <a:lnTo>
                    <a:pt x="360715" y="18335"/>
                  </a:lnTo>
                  <a:lnTo>
                    <a:pt x="311976" y="4740"/>
                  </a:lnTo>
                  <a:lnTo>
                    <a:pt x="259647" y="0"/>
                  </a:lnTo>
                  <a:close/>
                </a:path>
              </a:pathLst>
            </a:custGeom>
            <a:solidFill>
              <a:srgbClr val="CCFFCC"/>
            </a:solidFill>
          </p:spPr>
          <p:txBody>
            <a:bodyPr wrap="square" lIns="0" tIns="0" rIns="0" bIns="0" rtlCol="0"/>
            <a:lstStyle/>
            <a:p/>
          </p:txBody>
        </p:sp>
        <p:sp>
          <p:nvSpPr>
            <p:cNvPr id="14" name="object 14" descr=""/>
            <p:cNvSpPr/>
            <p:nvPr/>
          </p:nvSpPr>
          <p:spPr>
            <a:xfrm>
              <a:off x="4522934" y="2623202"/>
              <a:ext cx="519430" cy="466725"/>
            </a:xfrm>
            <a:custGeom>
              <a:avLst/>
              <a:gdLst/>
              <a:ahLst/>
              <a:cxnLst/>
              <a:rect l="l" t="t" r="r" b="b"/>
              <a:pathLst>
                <a:path w="519429" h="466725">
                  <a:moveTo>
                    <a:pt x="259647" y="0"/>
                  </a:moveTo>
                  <a:lnTo>
                    <a:pt x="207318" y="4740"/>
                  </a:lnTo>
                  <a:lnTo>
                    <a:pt x="158579" y="18335"/>
                  </a:lnTo>
                  <a:lnTo>
                    <a:pt x="114474" y="39844"/>
                  </a:lnTo>
                  <a:lnTo>
                    <a:pt x="76047" y="68329"/>
                  </a:lnTo>
                  <a:lnTo>
                    <a:pt x="44342" y="102849"/>
                  </a:lnTo>
                  <a:lnTo>
                    <a:pt x="20403" y="142466"/>
                  </a:lnTo>
                  <a:lnTo>
                    <a:pt x="5274" y="186238"/>
                  </a:lnTo>
                  <a:lnTo>
                    <a:pt x="0" y="233228"/>
                  </a:lnTo>
                  <a:lnTo>
                    <a:pt x="5274" y="280217"/>
                  </a:lnTo>
                  <a:lnTo>
                    <a:pt x="20403" y="323990"/>
                  </a:lnTo>
                  <a:lnTo>
                    <a:pt x="44342" y="363607"/>
                  </a:lnTo>
                  <a:lnTo>
                    <a:pt x="76047" y="398127"/>
                  </a:lnTo>
                  <a:lnTo>
                    <a:pt x="114474" y="426612"/>
                  </a:lnTo>
                  <a:lnTo>
                    <a:pt x="158579" y="448121"/>
                  </a:lnTo>
                  <a:lnTo>
                    <a:pt x="207318" y="461716"/>
                  </a:lnTo>
                  <a:lnTo>
                    <a:pt x="259647" y="466456"/>
                  </a:lnTo>
                  <a:lnTo>
                    <a:pt x="311976" y="461716"/>
                  </a:lnTo>
                  <a:lnTo>
                    <a:pt x="360715" y="448121"/>
                  </a:lnTo>
                  <a:lnTo>
                    <a:pt x="404820" y="426612"/>
                  </a:lnTo>
                  <a:lnTo>
                    <a:pt x="443247" y="398127"/>
                  </a:lnTo>
                  <a:lnTo>
                    <a:pt x="474952" y="363607"/>
                  </a:lnTo>
                  <a:lnTo>
                    <a:pt x="498891" y="323990"/>
                  </a:lnTo>
                  <a:lnTo>
                    <a:pt x="514020" y="280217"/>
                  </a:lnTo>
                  <a:lnTo>
                    <a:pt x="519295" y="233228"/>
                  </a:lnTo>
                  <a:lnTo>
                    <a:pt x="514020" y="186238"/>
                  </a:lnTo>
                  <a:lnTo>
                    <a:pt x="498891" y="142466"/>
                  </a:lnTo>
                  <a:lnTo>
                    <a:pt x="474952" y="102849"/>
                  </a:lnTo>
                  <a:lnTo>
                    <a:pt x="443247" y="68329"/>
                  </a:lnTo>
                  <a:lnTo>
                    <a:pt x="404820" y="39844"/>
                  </a:lnTo>
                  <a:lnTo>
                    <a:pt x="360715" y="18335"/>
                  </a:lnTo>
                  <a:lnTo>
                    <a:pt x="311976" y="4740"/>
                  </a:lnTo>
                  <a:lnTo>
                    <a:pt x="259647" y="0"/>
                  </a:lnTo>
                  <a:close/>
                </a:path>
              </a:pathLst>
            </a:custGeom>
            <a:ln w="16124">
              <a:solidFill>
                <a:srgbClr val="000000"/>
              </a:solidFill>
            </a:ln>
          </p:spPr>
          <p:txBody>
            <a:bodyPr wrap="square" lIns="0" tIns="0" rIns="0" bIns="0" rtlCol="0"/>
            <a:lstStyle/>
            <a:p/>
          </p:txBody>
        </p:sp>
        <p:sp>
          <p:nvSpPr>
            <p:cNvPr id="15" name="object 15" descr=""/>
            <p:cNvSpPr/>
            <p:nvPr/>
          </p:nvSpPr>
          <p:spPr>
            <a:xfrm>
              <a:off x="5064807" y="1890198"/>
              <a:ext cx="519430" cy="466725"/>
            </a:xfrm>
            <a:custGeom>
              <a:avLst/>
              <a:gdLst/>
              <a:ahLst/>
              <a:cxnLst/>
              <a:rect l="l" t="t" r="r" b="b"/>
              <a:pathLst>
                <a:path w="519429" h="466725">
                  <a:moveTo>
                    <a:pt x="259540" y="0"/>
                  </a:moveTo>
                  <a:lnTo>
                    <a:pt x="207271" y="4740"/>
                  </a:lnTo>
                  <a:lnTo>
                    <a:pt x="158570" y="18335"/>
                  </a:lnTo>
                  <a:lnTo>
                    <a:pt x="114486" y="39844"/>
                  </a:lnTo>
                  <a:lnTo>
                    <a:pt x="76066" y="68329"/>
                  </a:lnTo>
                  <a:lnTo>
                    <a:pt x="44359" y="102849"/>
                  </a:lnTo>
                  <a:lnTo>
                    <a:pt x="20414" y="142466"/>
                  </a:lnTo>
                  <a:lnTo>
                    <a:pt x="5278" y="186238"/>
                  </a:lnTo>
                  <a:lnTo>
                    <a:pt x="0" y="233228"/>
                  </a:lnTo>
                  <a:lnTo>
                    <a:pt x="5278" y="280217"/>
                  </a:lnTo>
                  <a:lnTo>
                    <a:pt x="20414" y="323990"/>
                  </a:lnTo>
                  <a:lnTo>
                    <a:pt x="44359" y="363607"/>
                  </a:lnTo>
                  <a:lnTo>
                    <a:pt x="76066" y="398127"/>
                  </a:lnTo>
                  <a:lnTo>
                    <a:pt x="114486" y="426612"/>
                  </a:lnTo>
                  <a:lnTo>
                    <a:pt x="158570" y="448121"/>
                  </a:lnTo>
                  <a:lnTo>
                    <a:pt x="207271" y="461716"/>
                  </a:lnTo>
                  <a:lnTo>
                    <a:pt x="259540" y="466456"/>
                  </a:lnTo>
                  <a:lnTo>
                    <a:pt x="311879" y="461716"/>
                  </a:lnTo>
                  <a:lnTo>
                    <a:pt x="360634" y="448121"/>
                  </a:lnTo>
                  <a:lnTo>
                    <a:pt x="404756" y="426612"/>
                  </a:lnTo>
                  <a:lnTo>
                    <a:pt x="443201" y="398127"/>
                  </a:lnTo>
                  <a:lnTo>
                    <a:pt x="474924" y="363607"/>
                  </a:lnTo>
                  <a:lnTo>
                    <a:pt x="498877" y="323990"/>
                  </a:lnTo>
                  <a:lnTo>
                    <a:pt x="514016" y="280217"/>
                  </a:lnTo>
                  <a:lnTo>
                    <a:pt x="519295" y="233228"/>
                  </a:lnTo>
                  <a:lnTo>
                    <a:pt x="514016" y="186238"/>
                  </a:lnTo>
                  <a:lnTo>
                    <a:pt x="498877" y="142466"/>
                  </a:lnTo>
                  <a:lnTo>
                    <a:pt x="474924" y="102849"/>
                  </a:lnTo>
                  <a:lnTo>
                    <a:pt x="443201" y="68329"/>
                  </a:lnTo>
                  <a:lnTo>
                    <a:pt x="404756" y="39844"/>
                  </a:lnTo>
                  <a:lnTo>
                    <a:pt x="360634" y="18335"/>
                  </a:lnTo>
                  <a:lnTo>
                    <a:pt x="311879" y="4740"/>
                  </a:lnTo>
                  <a:lnTo>
                    <a:pt x="259540" y="0"/>
                  </a:lnTo>
                  <a:close/>
                </a:path>
              </a:pathLst>
            </a:custGeom>
            <a:solidFill>
              <a:srgbClr val="CCFFCC"/>
            </a:solidFill>
          </p:spPr>
          <p:txBody>
            <a:bodyPr wrap="square" lIns="0" tIns="0" rIns="0" bIns="0" rtlCol="0"/>
            <a:lstStyle/>
            <a:p/>
          </p:txBody>
        </p:sp>
        <p:sp>
          <p:nvSpPr>
            <p:cNvPr id="16" name="object 16" descr=""/>
            <p:cNvSpPr/>
            <p:nvPr/>
          </p:nvSpPr>
          <p:spPr>
            <a:xfrm>
              <a:off x="5064807" y="1890198"/>
              <a:ext cx="519430" cy="466725"/>
            </a:xfrm>
            <a:custGeom>
              <a:avLst/>
              <a:gdLst/>
              <a:ahLst/>
              <a:cxnLst/>
              <a:rect l="l" t="t" r="r" b="b"/>
              <a:pathLst>
                <a:path w="519429" h="466725">
                  <a:moveTo>
                    <a:pt x="259540" y="0"/>
                  </a:moveTo>
                  <a:lnTo>
                    <a:pt x="207271" y="4740"/>
                  </a:lnTo>
                  <a:lnTo>
                    <a:pt x="158570" y="18335"/>
                  </a:lnTo>
                  <a:lnTo>
                    <a:pt x="114486" y="39844"/>
                  </a:lnTo>
                  <a:lnTo>
                    <a:pt x="76066" y="68329"/>
                  </a:lnTo>
                  <a:lnTo>
                    <a:pt x="44359" y="102849"/>
                  </a:lnTo>
                  <a:lnTo>
                    <a:pt x="20414" y="142466"/>
                  </a:lnTo>
                  <a:lnTo>
                    <a:pt x="5278" y="186238"/>
                  </a:lnTo>
                  <a:lnTo>
                    <a:pt x="0" y="233228"/>
                  </a:lnTo>
                  <a:lnTo>
                    <a:pt x="5278" y="280217"/>
                  </a:lnTo>
                  <a:lnTo>
                    <a:pt x="20414" y="323990"/>
                  </a:lnTo>
                  <a:lnTo>
                    <a:pt x="44359" y="363607"/>
                  </a:lnTo>
                  <a:lnTo>
                    <a:pt x="76066" y="398127"/>
                  </a:lnTo>
                  <a:lnTo>
                    <a:pt x="114486" y="426612"/>
                  </a:lnTo>
                  <a:lnTo>
                    <a:pt x="158570" y="448121"/>
                  </a:lnTo>
                  <a:lnTo>
                    <a:pt x="207271" y="461716"/>
                  </a:lnTo>
                  <a:lnTo>
                    <a:pt x="259540" y="466456"/>
                  </a:lnTo>
                  <a:lnTo>
                    <a:pt x="311879" y="461716"/>
                  </a:lnTo>
                  <a:lnTo>
                    <a:pt x="360634" y="448121"/>
                  </a:lnTo>
                  <a:lnTo>
                    <a:pt x="404756" y="426612"/>
                  </a:lnTo>
                  <a:lnTo>
                    <a:pt x="443201" y="398127"/>
                  </a:lnTo>
                  <a:lnTo>
                    <a:pt x="474924" y="363607"/>
                  </a:lnTo>
                  <a:lnTo>
                    <a:pt x="498877" y="323990"/>
                  </a:lnTo>
                  <a:lnTo>
                    <a:pt x="514016" y="280217"/>
                  </a:lnTo>
                  <a:lnTo>
                    <a:pt x="519295" y="233228"/>
                  </a:lnTo>
                  <a:lnTo>
                    <a:pt x="514016" y="186238"/>
                  </a:lnTo>
                  <a:lnTo>
                    <a:pt x="498877" y="142466"/>
                  </a:lnTo>
                  <a:lnTo>
                    <a:pt x="474924" y="102849"/>
                  </a:lnTo>
                  <a:lnTo>
                    <a:pt x="443201" y="68329"/>
                  </a:lnTo>
                  <a:lnTo>
                    <a:pt x="404756" y="39844"/>
                  </a:lnTo>
                  <a:lnTo>
                    <a:pt x="360634" y="18335"/>
                  </a:lnTo>
                  <a:lnTo>
                    <a:pt x="311879" y="4740"/>
                  </a:lnTo>
                  <a:lnTo>
                    <a:pt x="259540" y="0"/>
                  </a:lnTo>
                  <a:close/>
                </a:path>
              </a:pathLst>
            </a:custGeom>
            <a:ln w="16124">
              <a:solidFill>
                <a:srgbClr val="000000"/>
              </a:solidFill>
            </a:ln>
          </p:spPr>
          <p:txBody>
            <a:bodyPr wrap="square" lIns="0" tIns="0" rIns="0" bIns="0" rtlCol="0"/>
            <a:lstStyle/>
            <a:p/>
          </p:txBody>
        </p:sp>
        <p:sp>
          <p:nvSpPr>
            <p:cNvPr id="17" name="object 17" descr=""/>
            <p:cNvSpPr/>
            <p:nvPr/>
          </p:nvSpPr>
          <p:spPr>
            <a:xfrm>
              <a:off x="3871396" y="5030764"/>
              <a:ext cx="542290" cy="333375"/>
            </a:xfrm>
            <a:custGeom>
              <a:avLst/>
              <a:gdLst/>
              <a:ahLst/>
              <a:cxnLst/>
              <a:rect l="l" t="t" r="r" b="b"/>
              <a:pathLst>
                <a:path w="542289" h="333375">
                  <a:moveTo>
                    <a:pt x="541873" y="0"/>
                  </a:moveTo>
                  <a:lnTo>
                    <a:pt x="0" y="0"/>
                  </a:lnTo>
                  <a:lnTo>
                    <a:pt x="0" y="333183"/>
                  </a:lnTo>
                  <a:lnTo>
                    <a:pt x="541873" y="333183"/>
                  </a:lnTo>
                  <a:lnTo>
                    <a:pt x="541873" y="0"/>
                  </a:lnTo>
                  <a:close/>
                </a:path>
              </a:pathLst>
            </a:custGeom>
            <a:solidFill>
              <a:srgbClr val="CCFFCC"/>
            </a:solidFill>
          </p:spPr>
          <p:txBody>
            <a:bodyPr wrap="square" lIns="0" tIns="0" rIns="0" bIns="0" rtlCol="0"/>
            <a:lstStyle/>
            <a:p/>
          </p:txBody>
        </p:sp>
        <p:sp>
          <p:nvSpPr>
            <p:cNvPr id="18" name="object 18" descr=""/>
            <p:cNvSpPr/>
            <p:nvPr/>
          </p:nvSpPr>
          <p:spPr>
            <a:xfrm>
              <a:off x="3871396" y="5030764"/>
              <a:ext cx="542290" cy="333375"/>
            </a:xfrm>
            <a:custGeom>
              <a:avLst/>
              <a:gdLst/>
              <a:ahLst/>
              <a:cxnLst/>
              <a:rect l="l" t="t" r="r" b="b"/>
              <a:pathLst>
                <a:path w="542289" h="333375">
                  <a:moveTo>
                    <a:pt x="0" y="333183"/>
                  </a:moveTo>
                  <a:lnTo>
                    <a:pt x="541873" y="333183"/>
                  </a:lnTo>
                  <a:lnTo>
                    <a:pt x="541873" y="0"/>
                  </a:lnTo>
                  <a:lnTo>
                    <a:pt x="0" y="0"/>
                  </a:lnTo>
                  <a:lnTo>
                    <a:pt x="0" y="333183"/>
                  </a:lnTo>
                  <a:close/>
                </a:path>
              </a:pathLst>
            </a:custGeom>
            <a:ln w="16123">
              <a:solidFill>
                <a:srgbClr val="000000"/>
              </a:solidFill>
            </a:ln>
          </p:spPr>
          <p:txBody>
            <a:bodyPr wrap="square" lIns="0" tIns="0" rIns="0" bIns="0" rtlCol="0"/>
            <a:lstStyle/>
            <a:p/>
          </p:txBody>
        </p:sp>
        <p:sp>
          <p:nvSpPr>
            <p:cNvPr id="19" name="object 19" descr=""/>
            <p:cNvSpPr/>
            <p:nvPr/>
          </p:nvSpPr>
          <p:spPr>
            <a:xfrm>
              <a:off x="3103742" y="4522390"/>
              <a:ext cx="361315" cy="500380"/>
            </a:xfrm>
            <a:custGeom>
              <a:avLst/>
              <a:gdLst/>
              <a:ahLst/>
              <a:cxnLst/>
              <a:rect l="l" t="t" r="r" b="b"/>
              <a:pathLst>
                <a:path w="361314" h="500379">
                  <a:moveTo>
                    <a:pt x="361248" y="0"/>
                  </a:moveTo>
                  <a:lnTo>
                    <a:pt x="0" y="499775"/>
                  </a:lnTo>
                </a:path>
              </a:pathLst>
            </a:custGeom>
            <a:ln w="16125">
              <a:solidFill>
                <a:srgbClr val="000000"/>
              </a:solidFill>
            </a:ln>
          </p:spPr>
          <p:txBody>
            <a:bodyPr wrap="square" lIns="0" tIns="0" rIns="0" bIns="0" rtlCol="0"/>
            <a:lstStyle/>
            <a:p/>
          </p:txBody>
        </p:sp>
        <p:sp>
          <p:nvSpPr>
            <p:cNvPr id="20" name="object 20" descr=""/>
            <p:cNvSpPr/>
            <p:nvPr/>
          </p:nvSpPr>
          <p:spPr>
            <a:xfrm>
              <a:off x="5222854" y="4122570"/>
              <a:ext cx="519430" cy="466725"/>
            </a:xfrm>
            <a:custGeom>
              <a:avLst/>
              <a:gdLst/>
              <a:ahLst/>
              <a:cxnLst/>
              <a:rect l="l" t="t" r="r" b="b"/>
              <a:pathLst>
                <a:path w="519429" h="466725">
                  <a:moveTo>
                    <a:pt x="259540" y="0"/>
                  </a:moveTo>
                  <a:lnTo>
                    <a:pt x="207271" y="4738"/>
                  </a:lnTo>
                  <a:lnTo>
                    <a:pt x="158570" y="18329"/>
                  </a:lnTo>
                  <a:lnTo>
                    <a:pt x="114486" y="39833"/>
                  </a:lnTo>
                  <a:lnTo>
                    <a:pt x="76066" y="68313"/>
                  </a:lnTo>
                  <a:lnTo>
                    <a:pt x="44359" y="102830"/>
                  </a:lnTo>
                  <a:lnTo>
                    <a:pt x="20414" y="142448"/>
                  </a:lnTo>
                  <a:lnTo>
                    <a:pt x="5278" y="186226"/>
                  </a:lnTo>
                  <a:lnTo>
                    <a:pt x="0" y="233228"/>
                  </a:lnTo>
                  <a:lnTo>
                    <a:pt x="5278" y="280236"/>
                  </a:lnTo>
                  <a:lnTo>
                    <a:pt x="20414" y="324017"/>
                  </a:lnTo>
                  <a:lnTo>
                    <a:pt x="44359" y="363635"/>
                  </a:lnTo>
                  <a:lnTo>
                    <a:pt x="76066" y="398151"/>
                  </a:lnTo>
                  <a:lnTo>
                    <a:pt x="114486" y="426629"/>
                  </a:lnTo>
                  <a:lnTo>
                    <a:pt x="158570" y="448130"/>
                  </a:lnTo>
                  <a:lnTo>
                    <a:pt x="207271" y="461719"/>
                  </a:lnTo>
                  <a:lnTo>
                    <a:pt x="259540" y="466456"/>
                  </a:lnTo>
                  <a:lnTo>
                    <a:pt x="311879" y="461719"/>
                  </a:lnTo>
                  <a:lnTo>
                    <a:pt x="360634" y="448130"/>
                  </a:lnTo>
                  <a:lnTo>
                    <a:pt x="404756" y="426629"/>
                  </a:lnTo>
                  <a:lnTo>
                    <a:pt x="443201" y="398151"/>
                  </a:lnTo>
                  <a:lnTo>
                    <a:pt x="474924" y="363635"/>
                  </a:lnTo>
                  <a:lnTo>
                    <a:pt x="498877" y="324017"/>
                  </a:lnTo>
                  <a:lnTo>
                    <a:pt x="514016" y="280236"/>
                  </a:lnTo>
                  <a:lnTo>
                    <a:pt x="519295" y="233228"/>
                  </a:lnTo>
                  <a:lnTo>
                    <a:pt x="514016" y="186226"/>
                  </a:lnTo>
                  <a:lnTo>
                    <a:pt x="498877" y="142448"/>
                  </a:lnTo>
                  <a:lnTo>
                    <a:pt x="474924" y="102830"/>
                  </a:lnTo>
                  <a:lnTo>
                    <a:pt x="443201" y="68313"/>
                  </a:lnTo>
                  <a:lnTo>
                    <a:pt x="404756" y="39833"/>
                  </a:lnTo>
                  <a:lnTo>
                    <a:pt x="360634" y="18329"/>
                  </a:lnTo>
                  <a:lnTo>
                    <a:pt x="311879" y="4738"/>
                  </a:lnTo>
                  <a:lnTo>
                    <a:pt x="259540" y="0"/>
                  </a:lnTo>
                  <a:close/>
                </a:path>
              </a:pathLst>
            </a:custGeom>
            <a:solidFill>
              <a:srgbClr val="CCFFCC"/>
            </a:solidFill>
          </p:spPr>
          <p:txBody>
            <a:bodyPr wrap="square" lIns="0" tIns="0" rIns="0" bIns="0" rtlCol="0"/>
            <a:lstStyle/>
            <a:p/>
          </p:txBody>
        </p:sp>
        <p:sp>
          <p:nvSpPr>
            <p:cNvPr id="21" name="object 21" descr=""/>
            <p:cNvSpPr/>
            <p:nvPr/>
          </p:nvSpPr>
          <p:spPr>
            <a:xfrm>
              <a:off x="5222854" y="4122570"/>
              <a:ext cx="519430" cy="466725"/>
            </a:xfrm>
            <a:custGeom>
              <a:avLst/>
              <a:gdLst/>
              <a:ahLst/>
              <a:cxnLst/>
              <a:rect l="l" t="t" r="r" b="b"/>
              <a:pathLst>
                <a:path w="519429" h="466725">
                  <a:moveTo>
                    <a:pt x="259540" y="0"/>
                  </a:moveTo>
                  <a:lnTo>
                    <a:pt x="207271" y="4738"/>
                  </a:lnTo>
                  <a:lnTo>
                    <a:pt x="158570" y="18329"/>
                  </a:lnTo>
                  <a:lnTo>
                    <a:pt x="114486" y="39833"/>
                  </a:lnTo>
                  <a:lnTo>
                    <a:pt x="76066" y="68313"/>
                  </a:lnTo>
                  <a:lnTo>
                    <a:pt x="44359" y="102830"/>
                  </a:lnTo>
                  <a:lnTo>
                    <a:pt x="20414" y="142448"/>
                  </a:lnTo>
                  <a:lnTo>
                    <a:pt x="5278" y="186226"/>
                  </a:lnTo>
                  <a:lnTo>
                    <a:pt x="0" y="233228"/>
                  </a:lnTo>
                  <a:lnTo>
                    <a:pt x="5278" y="280236"/>
                  </a:lnTo>
                  <a:lnTo>
                    <a:pt x="20414" y="324017"/>
                  </a:lnTo>
                  <a:lnTo>
                    <a:pt x="44359" y="363635"/>
                  </a:lnTo>
                  <a:lnTo>
                    <a:pt x="76066" y="398151"/>
                  </a:lnTo>
                  <a:lnTo>
                    <a:pt x="114486" y="426629"/>
                  </a:lnTo>
                  <a:lnTo>
                    <a:pt x="158570" y="448130"/>
                  </a:lnTo>
                  <a:lnTo>
                    <a:pt x="207271" y="461719"/>
                  </a:lnTo>
                  <a:lnTo>
                    <a:pt x="259540" y="466456"/>
                  </a:lnTo>
                  <a:lnTo>
                    <a:pt x="311879" y="461719"/>
                  </a:lnTo>
                  <a:lnTo>
                    <a:pt x="360634" y="448130"/>
                  </a:lnTo>
                  <a:lnTo>
                    <a:pt x="404756" y="426629"/>
                  </a:lnTo>
                  <a:lnTo>
                    <a:pt x="443201" y="398151"/>
                  </a:lnTo>
                  <a:lnTo>
                    <a:pt x="474924" y="363635"/>
                  </a:lnTo>
                  <a:lnTo>
                    <a:pt x="498877" y="324017"/>
                  </a:lnTo>
                  <a:lnTo>
                    <a:pt x="514016" y="280236"/>
                  </a:lnTo>
                  <a:lnTo>
                    <a:pt x="519295" y="233228"/>
                  </a:lnTo>
                  <a:lnTo>
                    <a:pt x="514016" y="186226"/>
                  </a:lnTo>
                  <a:lnTo>
                    <a:pt x="498877" y="142448"/>
                  </a:lnTo>
                  <a:lnTo>
                    <a:pt x="474924" y="102830"/>
                  </a:lnTo>
                  <a:lnTo>
                    <a:pt x="443201" y="68313"/>
                  </a:lnTo>
                  <a:lnTo>
                    <a:pt x="404756" y="39833"/>
                  </a:lnTo>
                  <a:lnTo>
                    <a:pt x="360634" y="18329"/>
                  </a:lnTo>
                  <a:lnTo>
                    <a:pt x="311879" y="4738"/>
                  </a:lnTo>
                  <a:lnTo>
                    <a:pt x="259540" y="0"/>
                  </a:lnTo>
                  <a:close/>
                </a:path>
              </a:pathLst>
            </a:custGeom>
            <a:ln w="16124">
              <a:solidFill>
                <a:srgbClr val="000000"/>
              </a:solidFill>
            </a:ln>
          </p:spPr>
          <p:txBody>
            <a:bodyPr wrap="square" lIns="0" tIns="0" rIns="0" bIns="0" rtlCol="0"/>
            <a:lstStyle/>
            <a:p/>
          </p:txBody>
        </p:sp>
        <p:sp>
          <p:nvSpPr>
            <p:cNvPr id="22" name="object 22" descr=""/>
            <p:cNvSpPr/>
            <p:nvPr/>
          </p:nvSpPr>
          <p:spPr>
            <a:xfrm>
              <a:off x="5677641" y="5030764"/>
              <a:ext cx="542290" cy="333375"/>
            </a:xfrm>
            <a:custGeom>
              <a:avLst/>
              <a:gdLst/>
              <a:ahLst/>
              <a:cxnLst/>
              <a:rect l="l" t="t" r="r" b="b"/>
              <a:pathLst>
                <a:path w="542289" h="333375">
                  <a:moveTo>
                    <a:pt x="541873" y="0"/>
                  </a:moveTo>
                  <a:lnTo>
                    <a:pt x="0" y="0"/>
                  </a:lnTo>
                  <a:lnTo>
                    <a:pt x="0" y="333183"/>
                  </a:lnTo>
                  <a:lnTo>
                    <a:pt x="541873" y="333183"/>
                  </a:lnTo>
                  <a:lnTo>
                    <a:pt x="541873" y="0"/>
                  </a:lnTo>
                  <a:close/>
                </a:path>
              </a:pathLst>
            </a:custGeom>
            <a:solidFill>
              <a:srgbClr val="CCFFCC"/>
            </a:solidFill>
          </p:spPr>
          <p:txBody>
            <a:bodyPr wrap="square" lIns="0" tIns="0" rIns="0" bIns="0" rtlCol="0"/>
            <a:lstStyle/>
            <a:p/>
          </p:txBody>
        </p:sp>
        <p:sp>
          <p:nvSpPr>
            <p:cNvPr id="23" name="object 23" descr=""/>
            <p:cNvSpPr/>
            <p:nvPr/>
          </p:nvSpPr>
          <p:spPr>
            <a:xfrm>
              <a:off x="5677641" y="5030764"/>
              <a:ext cx="542290" cy="333375"/>
            </a:xfrm>
            <a:custGeom>
              <a:avLst/>
              <a:gdLst/>
              <a:ahLst/>
              <a:cxnLst/>
              <a:rect l="l" t="t" r="r" b="b"/>
              <a:pathLst>
                <a:path w="542289" h="333375">
                  <a:moveTo>
                    <a:pt x="0" y="333183"/>
                  </a:moveTo>
                  <a:lnTo>
                    <a:pt x="541873" y="333183"/>
                  </a:lnTo>
                  <a:lnTo>
                    <a:pt x="541873" y="0"/>
                  </a:lnTo>
                  <a:lnTo>
                    <a:pt x="0" y="0"/>
                  </a:lnTo>
                  <a:lnTo>
                    <a:pt x="0" y="333183"/>
                  </a:lnTo>
                  <a:close/>
                </a:path>
              </a:pathLst>
            </a:custGeom>
            <a:ln w="16123">
              <a:solidFill>
                <a:srgbClr val="000000"/>
              </a:solidFill>
            </a:ln>
          </p:spPr>
          <p:txBody>
            <a:bodyPr wrap="square" lIns="0" tIns="0" rIns="0" bIns="0" rtlCol="0"/>
            <a:lstStyle/>
            <a:p/>
          </p:txBody>
        </p:sp>
        <p:sp>
          <p:nvSpPr>
            <p:cNvPr id="24" name="object 24" descr=""/>
            <p:cNvSpPr/>
            <p:nvPr/>
          </p:nvSpPr>
          <p:spPr>
            <a:xfrm>
              <a:off x="6806543" y="5030764"/>
              <a:ext cx="542290" cy="333375"/>
            </a:xfrm>
            <a:custGeom>
              <a:avLst/>
              <a:gdLst/>
              <a:ahLst/>
              <a:cxnLst/>
              <a:rect l="l" t="t" r="r" b="b"/>
              <a:pathLst>
                <a:path w="542290" h="333375">
                  <a:moveTo>
                    <a:pt x="541873" y="0"/>
                  </a:moveTo>
                  <a:lnTo>
                    <a:pt x="0" y="0"/>
                  </a:lnTo>
                  <a:lnTo>
                    <a:pt x="0" y="333183"/>
                  </a:lnTo>
                  <a:lnTo>
                    <a:pt x="541873" y="333183"/>
                  </a:lnTo>
                  <a:lnTo>
                    <a:pt x="541873" y="0"/>
                  </a:lnTo>
                  <a:close/>
                </a:path>
              </a:pathLst>
            </a:custGeom>
            <a:solidFill>
              <a:srgbClr val="CCFFCC"/>
            </a:solidFill>
          </p:spPr>
          <p:txBody>
            <a:bodyPr wrap="square" lIns="0" tIns="0" rIns="0" bIns="0" rtlCol="0"/>
            <a:lstStyle/>
            <a:p/>
          </p:txBody>
        </p:sp>
        <p:sp>
          <p:nvSpPr>
            <p:cNvPr id="25" name="object 25" descr=""/>
            <p:cNvSpPr/>
            <p:nvPr/>
          </p:nvSpPr>
          <p:spPr>
            <a:xfrm>
              <a:off x="6806543" y="5030764"/>
              <a:ext cx="542290" cy="333375"/>
            </a:xfrm>
            <a:custGeom>
              <a:avLst/>
              <a:gdLst/>
              <a:ahLst/>
              <a:cxnLst/>
              <a:rect l="l" t="t" r="r" b="b"/>
              <a:pathLst>
                <a:path w="542290" h="333375">
                  <a:moveTo>
                    <a:pt x="0" y="333183"/>
                  </a:moveTo>
                  <a:lnTo>
                    <a:pt x="541873" y="333183"/>
                  </a:lnTo>
                  <a:lnTo>
                    <a:pt x="541873" y="0"/>
                  </a:lnTo>
                  <a:lnTo>
                    <a:pt x="0" y="0"/>
                  </a:lnTo>
                  <a:lnTo>
                    <a:pt x="0" y="333183"/>
                  </a:lnTo>
                  <a:close/>
                </a:path>
              </a:pathLst>
            </a:custGeom>
            <a:ln w="16123">
              <a:solidFill>
                <a:srgbClr val="000000"/>
              </a:solidFill>
            </a:ln>
          </p:spPr>
          <p:txBody>
            <a:bodyPr wrap="square" lIns="0" tIns="0" rIns="0" bIns="0" rtlCol="0"/>
            <a:lstStyle/>
            <a:p/>
          </p:txBody>
        </p:sp>
        <p:sp>
          <p:nvSpPr>
            <p:cNvPr id="26" name="object 26" descr=""/>
            <p:cNvSpPr/>
            <p:nvPr/>
          </p:nvSpPr>
          <p:spPr>
            <a:xfrm>
              <a:off x="8093492" y="5030764"/>
              <a:ext cx="542290" cy="333375"/>
            </a:xfrm>
            <a:custGeom>
              <a:avLst/>
              <a:gdLst/>
              <a:ahLst/>
              <a:cxnLst/>
              <a:rect l="l" t="t" r="r" b="b"/>
              <a:pathLst>
                <a:path w="542290" h="333375">
                  <a:moveTo>
                    <a:pt x="541873" y="0"/>
                  </a:moveTo>
                  <a:lnTo>
                    <a:pt x="0" y="0"/>
                  </a:lnTo>
                  <a:lnTo>
                    <a:pt x="0" y="333183"/>
                  </a:lnTo>
                  <a:lnTo>
                    <a:pt x="541873" y="333183"/>
                  </a:lnTo>
                  <a:lnTo>
                    <a:pt x="541873" y="0"/>
                  </a:lnTo>
                  <a:close/>
                </a:path>
              </a:pathLst>
            </a:custGeom>
            <a:solidFill>
              <a:srgbClr val="CCFFCC"/>
            </a:solidFill>
          </p:spPr>
          <p:txBody>
            <a:bodyPr wrap="square" lIns="0" tIns="0" rIns="0" bIns="0" rtlCol="0"/>
            <a:lstStyle/>
            <a:p/>
          </p:txBody>
        </p:sp>
        <p:sp>
          <p:nvSpPr>
            <p:cNvPr id="27" name="object 27" descr=""/>
            <p:cNvSpPr/>
            <p:nvPr/>
          </p:nvSpPr>
          <p:spPr>
            <a:xfrm>
              <a:off x="8093492" y="5030764"/>
              <a:ext cx="542290" cy="333375"/>
            </a:xfrm>
            <a:custGeom>
              <a:avLst/>
              <a:gdLst/>
              <a:ahLst/>
              <a:cxnLst/>
              <a:rect l="l" t="t" r="r" b="b"/>
              <a:pathLst>
                <a:path w="542290" h="333375">
                  <a:moveTo>
                    <a:pt x="0" y="333183"/>
                  </a:moveTo>
                  <a:lnTo>
                    <a:pt x="541873" y="333183"/>
                  </a:lnTo>
                  <a:lnTo>
                    <a:pt x="541873" y="0"/>
                  </a:lnTo>
                  <a:lnTo>
                    <a:pt x="0" y="0"/>
                  </a:lnTo>
                  <a:lnTo>
                    <a:pt x="0" y="333183"/>
                  </a:lnTo>
                  <a:close/>
                </a:path>
              </a:pathLst>
            </a:custGeom>
            <a:ln w="16123">
              <a:solidFill>
                <a:srgbClr val="000000"/>
              </a:solidFill>
            </a:ln>
          </p:spPr>
          <p:txBody>
            <a:bodyPr wrap="square" lIns="0" tIns="0" rIns="0" bIns="0" rtlCol="0"/>
            <a:lstStyle/>
            <a:p/>
          </p:txBody>
        </p:sp>
        <p:sp>
          <p:nvSpPr>
            <p:cNvPr id="28" name="object 28" descr=""/>
            <p:cNvSpPr/>
            <p:nvPr/>
          </p:nvSpPr>
          <p:spPr>
            <a:xfrm>
              <a:off x="3871396" y="2956385"/>
              <a:ext cx="3251835" cy="2066289"/>
            </a:xfrm>
            <a:custGeom>
              <a:avLst/>
              <a:gdLst/>
              <a:ahLst/>
              <a:cxnLst/>
              <a:rect l="l" t="t" r="r" b="b"/>
              <a:pathLst>
                <a:path w="3251834" h="2066289">
                  <a:moveTo>
                    <a:pt x="0" y="1532686"/>
                  </a:moveTo>
                  <a:lnTo>
                    <a:pt x="270936" y="2065780"/>
                  </a:lnTo>
                </a:path>
                <a:path w="3251834" h="2066289">
                  <a:moveTo>
                    <a:pt x="1444995" y="1566005"/>
                  </a:moveTo>
                  <a:lnTo>
                    <a:pt x="1151480" y="2065780"/>
                  </a:lnTo>
                </a:path>
                <a:path w="3251834" h="2066289">
                  <a:moveTo>
                    <a:pt x="1783666" y="1566005"/>
                  </a:moveTo>
                  <a:lnTo>
                    <a:pt x="2077180" y="2065780"/>
                  </a:lnTo>
                </a:path>
                <a:path w="3251834" h="2066289">
                  <a:moveTo>
                    <a:pt x="609607" y="766364"/>
                  </a:moveTo>
                  <a:lnTo>
                    <a:pt x="1422417" y="1232821"/>
                  </a:lnTo>
                </a:path>
                <a:path w="3251834" h="2066289">
                  <a:moveTo>
                    <a:pt x="1151480" y="0"/>
                  </a:moveTo>
                  <a:lnTo>
                    <a:pt x="3251239" y="2065780"/>
                  </a:lnTo>
                </a:path>
              </a:pathLst>
            </a:custGeom>
            <a:ln w="16124">
              <a:solidFill>
                <a:srgbClr val="000000"/>
              </a:solidFill>
            </a:ln>
          </p:spPr>
          <p:txBody>
            <a:bodyPr wrap="square" lIns="0" tIns="0" rIns="0" bIns="0" rtlCol="0"/>
            <a:lstStyle/>
            <a:p/>
          </p:txBody>
        </p:sp>
        <p:sp>
          <p:nvSpPr>
            <p:cNvPr id="29" name="object 29" descr=""/>
            <p:cNvSpPr/>
            <p:nvPr/>
          </p:nvSpPr>
          <p:spPr>
            <a:xfrm>
              <a:off x="9357863" y="5030764"/>
              <a:ext cx="542290" cy="333375"/>
            </a:xfrm>
            <a:custGeom>
              <a:avLst/>
              <a:gdLst/>
              <a:ahLst/>
              <a:cxnLst/>
              <a:rect l="l" t="t" r="r" b="b"/>
              <a:pathLst>
                <a:path w="542290" h="333375">
                  <a:moveTo>
                    <a:pt x="541873" y="0"/>
                  </a:moveTo>
                  <a:lnTo>
                    <a:pt x="0" y="0"/>
                  </a:lnTo>
                  <a:lnTo>
                    <a:pt x="0" y="333183"/>
                  </a:lnTo>
                  <a:lnTo>
                    <a:pt x="541873" y="333183"/>
                  </a:lnTo>
                  <a:lnTo>
                    <a:pt x="541873" y="0"/>
                  </a:lnTo>
                  <a:close/>
                </a:path>
              </a:pathLst>
            </a:custGeom>
            <a:solidFill>
              <a:srgbClr val="CCFFCC"/>
            </a:solidFill>
          </p:spPr>
          <p:txBody>
            <a:bodyPr wrap="square" lIns="0" tIns="0" rIns="0" bIns="0" rtlCol="0"/>
            <a:lstStyle/>
            <a:p/>
          </p:txBody>
        </p:sp>
        <p:sp>
          <p:nvSpPr>
            <p:cNvPr id="30" name="object 30" descr=""/>
            <p:cNvSpPr/>
            <p:nvPr/>
          </p:nvSpPr>
          <p:spPr>
            <a:xfrm>
              <a:off x="9357863" y="5030764"/>
              <a:ext cx="542290" cy="333375"/>
            </a:xfrm>
            <a:custGeom>
              <a:avLst/>
              <a:gdLst/>
              <a:ahLst/>
              <a:cxnLst/>
              <a:rect l="l" t="t" r="r" b="b"/>
              <a:pathLst>
                <a:path w="542290" h="333375">
                  <a:moveTo>
                    <a:pt x="0" y="333183"/>
                  </a:moveTo>
                  <a:lnTo>
                    <a:pt x="541873" y="333183"/>
                  </a:lnTo>
                  <a:lnTo>
                    <a:pt x="541873" y="0"/>
                  </a:lnTo>
                  <a:lnTo>
                    <a:pt x="0" y="0"/>
                  </a:lnTo>
                  <a:lnTo>
                    <a:pt x="0" y="333183"/>
                  </a:lnTo>
                  <a:close/>
                </a:path>
              </a:pathLst>
            </a:custGeom>
            <a:ln w="16123">
              <a:solidFill>
                <a:srgbClr val="000000"/>
              </a:solidFill>
            </a:ln>
          </p:spPr>
          <p:txBody>
            <a:bodyPr wrap="square" lIns="0" tIns="0" rIns="0" bIns="0" rtlCol="0"/>
            <a:lstStyle/>
            <a:p/>
          </p:txBody>
        </p:sp>
        <p:sp>
          <p:nvSpPr>
            <p:cNvPr id="31" name="object 31" descr=""/>
            <p:cNvSpPr/>
            <p:nvPr/>
          </p:nvSpPr>
          <p:spPr>
            <a:xfrm>
              <a:off x="5542172" y="1523696"/>
              <a:ext cx="4109720" cy="3498850"/>
            </a:xfrm>
            <a:custGeom>
              <a:avLst/>
              <a:gdLst/>
              <a:ahLst/>
              <a:cxnLst/>
              <a:rect l="l" t="t" r="r" b="b"/>
              <a:pathLst>
                <a:path w="4109720" h="3498850">
                  <a:moveTo>
                    <a:pt x="0" y="733003"/>
                  </a:moveTo>
                  <a:lnTo>
                    <a:pt x="2822256" y="3498469"/>
                  </a:lnTo>
                </a:path>
                <a:path w="4109720" h="3498850">
                  <a:moveTo>
                    <a:pt x="541873" y="0"/>
                  </a:moveTo>
                  <a:lnTo>
                    <a:pt x="4109205" y="3498469"/>
                  </a:lnTo>
                </a:path>
              </a:pathLst>
            </a:custGeom>
            <a:ln w="16124">
              <a:solidFill>
                <a:srgbClr val="000000"/>
              </a:solidFill>
            </a:ln>
          </p:spPr>
          <p:txBody>
            <a:bodyPr wrap="square" lIns="0" tIns="0" rIns="0" bIns="0" rtlCol="0"/>
            <a:lstStyle/>
            <a:p/>
          </p:txBody>
        </p:sp>
      </p:grpSp>
      <p:sp>
        <p:nvSpPr>
          <p:cNvPr id="32" name="object 32" descr=""/>
          <p:cNvSpPr txBox="1"/>
          <p:nvPr/>
        </p:nvSpPr>
        <p:spPr>
          <a:xfrm>
            <a:off x="4308709" y="3000649"/>
            <a:ext cx="122555" cy="257810"/>
          </a:xfrm>
          <a:prstGeom prst="rect">
            <a:avLst/>
          </a:prstGeom>
        </p:spPr>
        <p:txBody>
          <a:bodyPr wrap="square" lIns="0" tIns="15240" rIns="0" bIns="0" rtlCol="0" vert="horz">
            <a:spAutoFit/>
          </a:bodyPr>
          <a:lstStyle/>
          <a:p>
            <a:pPr marL="12700">
              <a:lnSpc>
                <a:spcPct val="100000"/>
              </a:lnSpc>
              <a:spcBef>
                <a:spcPts val="120"/>
              </a:spcBef>
            </a:pPr>
            <a:r>
              <a:rPr dirty="0" sz="1500" spc="-50" b="1">
                <a:solidFill>
                  <a:srgbClr val="FF0000"/>
                </a:solidFill>
                <a:latin typeface="Times New Roman"/>
                <a:cs typeface="Times New Roman"/>
              </a:rPr>
              <a:t>1</a:t>
            </a:r>
            <a:endParaRPr sz="1500">
              <a:latin typeface="Times New Roman"/>
              <a:cs typeface="Times New Roman"/>
            </a:endParaRPr>
          </a:p>
        </p:txBody>
      </p:sp>
      <p:sp>
        <p:nvSpPr>
          <p:cNvPr id="33" name="object 33" descr=""/>
          <p:cNvSpPr txBox="1"/>
          <p:nvPr/>
        </p:nvSpPr>
        <p:spPr>
          <a:xfrm>
            <a:off x="3719873" y="3767272"/>
            <a:ext cx="122555" cy="257810"/>
          </a:xfrm>
          <a:prstGeom prst="rect">
            <a:avLst/>
          </a:prstGeom>
        </p:spPr>
        <p:txBody>
          <a:bodyPr wrap="square" lIns="0" tIns="15240" rIns="0" bIns="0" rtlCol="0" vert="horz">
            <a:spAutoFit/>
          </a:bodyPr>
          <a:lstStyle/>
          <a:p>
            <a:pPr marL="12700">
              <a:lnSpc>
                <a:spcPct val="100000"/>
              </a:lnSpc>
              <a:spcBef>
                <a:spcPts val="120"/>
              </a:spcBef>
            </a:pPr>
            <a:r>
              <a:rPr dirty="0" sz="1500" spc="-50" b="1">
                <a:solidFill>
                  <a:srgbClr val="FF0000"/>
                </a:solidFill>
                <a:latin typeface="Times New Roman"/>
                <a:cs typeface="Times New Roman"/>
              </a:rPr>
              <a:t>1</a:t>
            </a:r>
            <a:endParaRPr sz="1500">
              <a:latin typeface="Times New Roman"/>
              <a:cs typeface="Times New Roman"/>
            </a:endParaRPr>
          </a:p>
        </p:txBody>
      </p:sp>
      <p:sp>
        <p:nvSpPr>
          <p:cNvPr id="34" name="object 34" descr=""/>
          <p:cNvSpPr txBox="1"/>
          <p:nvPr/>
        </p:nvSpPr>
        <p:spPr>
          <a:xfrm>
            <a:off x="3110395" y="4598382"/>
            <a:ext cx="122555" cy="257810"/>
          </a:xfrm>
          <a:prstGeom prst="rect">
            <a:avLst/>
          </a:prstGeom>
        </p:spPr>
        <p:txBody>
          <a:bodyPr wrap="square" lIns="0" tIns="15240" rIns="0" bIns="0" rtlCol="0" vert="horz">
            <a:spAutoFit/>
          </a:bodyPr>
          <a:lstStyle/>
          <a:p>
            <a:pPr marL="12700">
              <a:lnSpc>
                <a:spcPct val="100000"/>
              </a:lnSpc>
              <a:spcBef>
                <a:spcPts val="120"/>
              </a:spcBef>
            </a:pPr>
            <a:r>
              <a:rPr dirty="0" sz="1500" spc="-50" b="1">
                <a:solidFill>
                  <a:srgbClr val="FF0000"/>
                </a:solidFill>
                <a:latin typeface="Times New Roman"/>
                <a:cs typeface="Times New Roman"/>
              </a:rPr>
              <a:t>1</a:t>
            </a:r>
            <a:endParaRPr sz="1500">
              <a:latin typeface="Times New Roman"/>
              <a:cs typeface="Times New Roman"/>
            </a:endParaRPr>
          </a:p>
        </p:txBody>
      </p:sp>
      <p:sp>
        <p:nvSpPr>
          <p:cNvPr id="35" name="object 35" descr=""/>
          <p:cNvSpPr txBox="1"/>
          <p:nvPr/>
        </p:nvSpPr>
        <p:spPr>
          <a:xfrm>
            <a:off x="4984803" y="4598382"/>
            <a:ext cx="122555" cy="257810"/>
          </a:xfrm>
          <a:prstGeom prst="rect">
            <a:avLst/>
          </a:prstGeom>
        </p:spPr>
        <p:txBody>
          <a:bodyPr wrap="square" lIns="0" tIns="15240" rIns="0" bIns="0" rtlCol="0" vert="horz">
            <a:spAutoFit/>
          </a:bodyPr>
          <a:lstStyle/>
          <a:p>
            <a:pPr marL="12700">
              <a:lnSpc>
                <a:spcPct val="100000"/>
              </a:lnSpc>
              <a:spcBef>
                <a:spcPts val="120"/>
              </a:spcBef>
            </a:pPr>
            <a:r>
              <a:rPr dirty="0" sz="1500" spc="-50" b="1">
                <a:solidFill>
                  <a:srgbClr val="FF0000"/>
                </a:solidFill>
                <a:latin typeface="Times New Roman"/>
                <a:cs typeface="Times New Roman"/>
              </a:rPr>
              <a:t>1</a:t>
            </a:r>
            <a:endParaRPr sz="1500">
              <a:latin typeface="Times New Roman"/>
              <a:cs typeface="Times New Roman"/>
            </a:endParaRPr>
          </a:p>
        </p:txBody>
      </p:sp>
      <p:sp>
        <p:nvSpPr>
          <p:cNvPr id="36" name="object 36" descr=""/>
          <p:cNvSpPr txBox="1"/>
          <p:nvPr/>
        </p:nvSpPr>
        <p:spPr>
          <a:xfrm>
            <a:off x="4060479" y="4598382"/>
            <a:ext cx="122555" cy="257810"/>
          </a:xfrm>
          <a:prstGeom prst="rect">
            <a:avLst/>
          </a:prstGeom>
        </p:spPr>
        <p:txBody>
          <a:bodyPr wrap="square" lIns="0" tIns="15240" rIns="0" bIns="0" rtlCol="0" vert="horz">
            <a:spAutoFit/>
          </a:bodyPr>
          <a:lstStyle/>
          <a:p>
            <a:pPr marL="12700">
              <a:lnSpc>
                <a:spcPct val="100000"/>
              </a:lnSpc>
              <a:spcBef>
                <a:spcPts val="120"/>
              </a:spcBef>
            </a:pPr>
            <a:r>
              <a:rPr dirty="0" sz="1500" spc="-50" b="1">
                <a:solidFill>
                  <a:srgbClr val="FF0000"/>
                </a:solidFill>
                <a:latin typeface="Times New Roman"/>
                <a:cs typeface="Times New Roman"/>
              </a:rPr>
              <a:t>0</a:t>
            </a:r>
            <a:endParaRPr sz="1500">
              <a:latin typeface="Times New Roman"/>
              <a:cs typeface="Times New Roman"/>
            </a:endParaRPr>
          </a:p>
        </p:txBody>
      </p:sp>
      <p:sp>
        <p:nvSpPr>
          <p:cNvPr id="37" name="object 37" descr=""/>
          <p:cNvSpPr txBox="1"/>
          <p:nvPr/>
        </p:nvSpPr>
        <p:spPr>
          <a:xfrm>
            <a:off x="5844490" y="4567428"/>
            <a:ext cx="122555" cy="257810"/>
          </a:xfrm>
          <a:prstGeom prst="rect">
            <a:avLst/>
          </a:prstGeom>
        </p:spPr>
        <p:txBody>
          <a:bodyPr wrap="square" lIns="0" tIns="15240" rIns="0" bIns="0" rtlCol="0" vert="horz">
            <a:spAutoFit/>
          </a:bodyPr>
          <a:lstStyle/>
          <a:p>
            <a:pPr marL="12700">
              <a:lnSpc>
                <a:spcPct val="100000"/>
              </a:lnSpc>
              <a:spcBef>
                <a:spcPts val="120"/>
              </a:spcBef>
            </a:pPr>
            <a:r>
              <a:rPr dirty="0" sz="1500" spc="-50" b="1">
                <a:solidFill>
                  <a:srgbClr val="FF0000"/>
                </a:solidFill>
                <a:latin typeface="Times New Roman"/>
                <a:cs typeface="Times New Roman"/>
              </a:rPr>
              <a:t>0</a:t>
            </a:r>
            <a:endParaRPr sz="1500">
              <a:latin typeface="Times New Roman"/>
              <a:cs typeface="Times New Roman"/>
            </a:endParaRPr>
          </a:p>
        </p:txBody>
      </p:sp>
      <p:sp>
        <p:nvSpPr>
          <p:cNvPr id="38" name="object 38" descr=""/>
          <p:cNvSpPr txBox="1"/>
          <p:nvPr/>
        </p:nvSpPr>
        <p:spPr>
          <a:xfrm>
            <a:off x="6159292" y="3800805"/>
            <a:ext cx="122555" cy="257810"/>
          </a:xfrm>
          <a:prstGeom prst="rect">
            <a:avLst/>
          </a:prstGeom>
        </p:spPr>
        <p:txBody>
          <a:bodyPr wrap="square" lIns="0" tIns="15240" rIns="0" bIns="0" rtlCol="0" vert="horz">
            <a:spAutoFit/>
          </a:bodyPr>
          <a:lstStyle/>
          <a:p>
            <a:pPr marL="12700">
              <a:lnSpc>
                <a:spcPct val="100000"/>
              </a:lnSpc>
              <a:spcBef>
                <a:spcPts val="120"/>
              </a:spcBef>
            </a:pPr>
            <a:r>
              <a:rPr dirty="0" sz="1500" spc="-50" b="1">
                <a:solidFill>
                  <a:srgbClr val="FF0000"/>
                </a:solidFill>
                <a:latin typeface="Times New Roman"/>
                <a:cs typeface="Times New Roman"/>
              </a:rPr>
              <a:t>0</a:t>
            </a:r>
            <a:endParaRPr sz="1500">
              <a:latin typeface="Times New Roman"/>
              <a:cs typeface="Times New Roman"/>
            </a:endParaRPr>
          </a:p>
        </p:txBody>
      </p:sp>
      <p:sp>
        <p:nvSpPr>
          <p:cNvPr id="39" name="object 39" descr=""/>
          <p:cNvSpPr txBox="1"/>
          <p:nvPr/>
        </p:nvSpPr>
        <p:spPr>
          <a:xfrm>
            <a:off x="6861792" y="3266336"/>
            <a:ext cx="122555" cy="257810"/>
          </a:xfrm>
          <a:prstGeom prst="rect">
            <a:avLst/>
          </a:prstGeom>
        </p:spPr>
        <p:txBody>
          <a:bodyPr wrap="square" lIns="0" tIns="15240" rIns="0" bIns="0" rtlCol="0" vert="horz">
            <a:spAutoFit/>
          </a:bodyPr>
          <a:lstStyle/>
          <a:p>
            <a:pPr marL="12700">
              <a:lnSpc>
                <a:spcPct val="100000"/>
              </a:lnSpc>
              <a:spcBef>
                <a:spcPts val="120"/>
              </a:spcBef>
            </a:pPr>
            <a:r>
              <a:rPr dirty="0" sz="1500" spc="-50" b="1">
                <a:solidFill>
                  <a:srgbClr val="FF0000"/>
                </a:solidFill>
                <a:latin typeface="Times New Roman"/>
                <a:cs typeface="Times New Roman"/>
              </a:rPr>
              <a:t>0</a:t>
            </a:r>
            <a:endParaRPr sz="1500">
              <a:latin typeface="Times New Roman"/>
              <a:cs typeface="Times New Roman"/>
            </a:endParaRPr>
          </a:p>
        </p:txBody>
      </p:sp>
      <p:sp>
        <p:nvSpPr>
          <p:cNvPr id="40" name="object 40" descr=""/>
          <p:cNvSpPr txBox="1"/>
          <p:nvPr/>
        </p:nvSpPr>
        <p:spPr>
          <a:xfrm>
            <a:off x="7584720" y="2698849"/>
            <a:ext cx="122555" cy="257810"/>
          </a:xfrm>
          <a:prstGeom prst="rect">
            <a:avLst/>
          </a:prstGeom>
        </p:spPr>
        <p:txBody>
          <a:bodyPr wrap="square" lIns="0" tIns="15240" rIns="0" bIns="0" rtlCol="0" vert="horz">
            <a:spAutoFit/>
          </a:bodyPr>
          <a:lstStyle/>
          <a:p>
            <a:pPr marL="12700">
              <a:lnSpc>
                <a:spcPct val="100000"/>
              </a:lnSpc>
              <a:spcBef>
                <a:spcPts val="120"/>
              </a:spcBef>
            </a:pPr>
            <a:r>
              <a:rPr dirty="0" sz="1500" spc="-50" b="1">
                <a:solidFill>
                  <a:srgbClr val="FF0000"/>
                </a:solidFill>
                <a:latin typeface="Times New Roman"/>
                <a:cs typeface="Times New Roman"/>
              </a:rPr>
              <a:t>0</a:t>
            </a:r>
            <a:endParaRPr sz="1500">
              <a:latin typeface="Times New Roman"/>
              <a:cs typeface="Times New Roman"/>
            </a:endParaRPr>
          </a:p>
        </p:txBody>
      </p:sp>
      <p:sp>
        <p:nvSpPr>
          <p:cNvPr id="41" name="object 41" descr=""/>
          <p:cNvSpPr txBox="1"/>
          <p:nvPr/>
        </p:nvSpPr>
        <p:spPr>
          <a:xfrm>
            <a:off x="3110395" y="5377908"/>
            <a:ext cx="165100" cy="257810"/>
          </a:xfrm>
          <a:prstGeom prst="rect">
            <a:avLst/>
          </a:prstGeom>
        </p:spPr>
        <p:txBody>
          <a:bodyPr wrap="square" lIns="0" tIns="15240" rIns="0" bIns="0" rtlCol="0" vert="horz">
            <a:spAutoFit/>
          </a:bodyPr>
          <a:lstStyle/>
          <a:p>
            <a:pPr marL="12700">
              <a:lnSpc>
                <a:spcPct val="100000"/>
              </a:lnSpc>
              <a:spcBef>
                <a:spcPts val="120"/>
              </a:spcBef>
            </a:pPr>
            <a:r>
              <a:rPr dirty="0" baseline="3703" sz="2250" spc="-37" b="1">
                <a:latin typeface="Times New Roman"/>
                <a:cs typeface="Times New Roman"/>
              </a:rPr>
              <a:t>I</a:t>
            </a:r>
            <a:r>
              <a:rPr dirty="0" sz="1000" spc="-25" b="1">
                <a:latin typeface="Times New Roman"/>
                <a:cs typeface="Times New Roman"/>
              </a:rPr>
              <a:t>7</a:t>
            </a:r>
            <a:endParaRPr sz="1000">
              <a:latin typeface="Times New Roman"/>
              <a:cs typeface="Times New Roman"/>
            </a:endParaRPr>
          </a:p>
        </p:txBody>
      </p:sp>
      <p:sp>
        <p:nvSpPr>
          <p:cNvPr id="42" name="object 42" descr=""/>
          <p:cNvSpPr txBox="1"/>
          <p:nvPr/>
        </p:nvSpPr>
        <p:spPr>
          <a:xfrm>
            <a:off x="4081122" y="5377908"/>
            <a:ext cx="165100" cy="257810"/>
          </a:xfrm>
          <a:prstGeom prst="rect">
            <a:avLst/>
          </a:prstGeom>
        </p:spPr>
        <p:txBody>
          <a:bodyPr wrap="square" lIns="0" tIns="15240" rIns="0" bIns="0" rtlCol="0" vert="horz">
            <a:spAutoFit/>
          </a:bodyPr>
          <a:lstStyle/>
          <a:p>
            <a:pPr marL="12700">
              <a:lnSpc>
                <a:spcPct val="100000"/>
              </a:lnSpc>
              <a:spcBef>
                <a:spcPts val="120"/>
              </a:spcBef>
            </a:pPr>
            <a:r>
              <a:rPr dirty="0" baseline="3703" sz="2250" spc="-37" b="1">
                <a:latin typeface="Times New Roman"/>
                <a:cs typeface="Times New Roman"/>
              </a:rPr>
              <a:t>I</a:t>
            </a:r>
            <a:r>
              <a:rPr dirty="0" sz="1000" spc="-25" b="1">
                <a:latin typeface="Times New Roman"/>
                <a:cs typeface="Times New Roman"/>
              </a:rPr>
              <a:t>6</a:t>
            </a:r>
            <a:endParaRPr sz="1000">
              <a:latin typeface="Times New Roman"/>
              <a:cs typeface="Times New Roman"/>
            </a:endParaRPr>
          </a:p>
        </p:txBody>
      </p:sp>
      <p:sp>
        <p:nvSpPr>
          <p:cNvPr id="43" name="object 43" descr=""/>
          <p:cNvSpPr txBox="1"/>
          <p:nvPr/>
        </p:nvSpPr>
        <p:spPr>
          <a:xfrm>
            <a:off x="8351514" y="5377908"/>
            <a:ext cx="165100" cy="257810"/>
          </a:xfrm>
          <a:prstGeom prst="rect">
            <a:avLst/>
          </a:prstGeom>
        </p:spPr>
        <p:txBody>
          <a:bodyPr wrap="square" lIns="0" tIns="15240" rIns="0" bIns="0" rtlCol="0" vert="horz">
            <a:spAutoFit/>
          </a:bodyPr>
          <a:lstStyle/>
          <a:p>
            <a:pPr marL="12700">
              <a:lnSpc>
                <a:spcPct val="100000"/>
              </a:lnSpc>
              <a:spcBef>
                <a:spcPts val="120"/>
              </a:spcBef>
            </a:pPr>
            <a:r>
              <a:rPr dirty="0" baseline="3703" sz="2250" spc="-37" b="1">
                <a:latin typeface="Times New Roman"/>
                <a:cs typeface="Times New Roman"/>
              </a:rPr>
              <a:t>I</a:t>
            </a:r>
            <a:r>
              <a:rPr dirty="0" sz="1000" spc="-25" b="1">
                <a:latin typeface="Times New Roman"/>
                <a:cs typeface="Times New Roman"/>
              </a:rPr>
              <a:t>2</a:t>
            </a:r>
            <a:endParaRPr sz="1000">
              <a:latin typeface="Times New Roman"/>
              <a:cs typeface="Times New Roman"/>
            </a:endParaRPr>
          </a:p>
        </p:txBody>
      </p:sp>
      <p:sp>
        <p:nvSpPr>
          <p:cNvPr id="44" name="object 44" descr=""/>
          <p:cNvSpPr txBox="1"/>
          <p:nvPr/>
        </p:nvSpPr>
        <p:spPr>
          <a:xfrm>
            <a:off x="9593307" y="5377908"/>
            <a:ext cx="165100" cy="257810"/>
          </a:xfrm>
          <a:prstGeom prst="rect">
            <a:avLst/>
          </a:prstGeom>
        </p:spPr>
        <p:txBody>
          <a:bodyPr wrap="square" lIns="0" tIns="15240" rIns="0" bIns="0" rtlCol="0" vert="horz">
            <a:spAutoFit/>
          </a:bodyPr>
          <a:lstStyle/>
          <a:p>
            <a:pPr marL="12700">
              <a:lnSpc>
                <a:spcPct val="100000"/>
              </a:lnSpc>
              <a:spcBef>
                <a:spcPts val="120"/>
              </a:spcBef>
            </a:pPr>
            <a:r>
              <a:rPr dirty="0" baseline="3703" sz="2250" spc="-37" b="1">
                <a:latin typeface="Times New Roman"/>
                <a:cs typeface="Times New Roman"/>
              </a:rPr>
              <a:t>I</a:t>
            </a:r>
            <a:r>
              <a:rPr dirty="0" sz="1000" spc="-25" b="1">
                <a:latin typeface="Times New Roman"/>
                <a:cs typeface="Times New Roman"/>
              </a:rPr>
              <a:t>1</a:t>
            </a:r>
            <a:endParaRPr sz="1000">
              <a:latin typeface="Times New Roman"/>
              <a:cs typeface="Times New Roman"/>
            </a:endParaRPr>
          </a:p>
        </p:txBody>
      </p:sp>
      <p:sp>
        <p:nvSpPr>
          <p:cNvPr id="45" name="object 45" descr=""/>
          <p:cNvSpPr txBox="1"/>
          <p:nvPr/>
        </p:nvSpPr>
        <p:spPr>
          <a:xfrm>
            <a:off x="5687088" y="1232627"/>
            <a:ext cx="364490" cy="257810"/>
          </a:xfrm>
          <a:prstGeom prst="rect">
            <a:avLst/>
          </a:prstGeom>
        </p:spPr>
        <p:txBody>
          <a:bodyPr wrap="square" lIns="0" tIns="15240" rIns="0" bIns="0" rtlCol="0" vert="horz">
            <a:spAutoFit/>
          </a:bodyPr>
          <a:lstStyle/>
          <a:p>
            <a:pPr marL="12700">
              <a:lnSpc>
                <a:spcPct val="100000"/>
              </a:lnSpc>
              <a:spcBef>
                <a:spcPts val="120"/>
              </a:spcBef>
            </a:pPr>
            <a:r>
              <a:rPr dirty="0" sz="1500" spc="-20" b="1">
                <a:latin typeface="Times New Roman"/>
                <a:cs typeface="Times New Roman"/>
              </a:rPr>
              <a:t>1.00</a:t>
            </a:r>
            <a:endParaRPr sz="1500">
              <a:latin typeface="Times New Roman"/>
              <a:cs typeface="Times New Roman"/>
            </a:endParaRPr>
          </a:p>
        </p:txBody>
      </p:sp>
      <p:sp>
        <p:nvSpPr>
          <p:cNvPr id="46" name="object 46" descr=""/>
          <p:cNvSpPr txBox="1"/>
          <p:nvPr/>
        </p:nvSpPr>
        <p:spPr>
          <a:xfrm>
            <a:off x="4873805" y="1498959"/>
            <a:ext cx="664845" cy="1024255"/>
          </a:xfrm>
          <a:prstGeom prst="rect">
            <a:avLst/>
          </a:prstGeom>
        </p:spPr>
        <p:txBody>
          <a:bodyPr wrap="square" lIns="0" tIns="15240" rIns="0" bIns="0" rtlCol="0" vert="horz">
            <a:spAutoFit/>
          </a:bodyPr>
          <a:lstStyle/>
          <a:p>
            <a:pPr algn="r" marR="5080">
              <a:lnSpc>
                <a:spcPct val="100000"/>
              </a:lnSpc>
              <a:spcBef>
                <a:spcPts val="120"/>
              </a:spcBef>
            </a:pPr>
            <a:r>
              <a:rPr dirty="0" sz="1500" spc="-50" b="1">
                <a:solidFill>
                  <a:srgbClr val="FF0000"/>
                </a:solidFill>
                <a:latin typeface="Times New Roman"/>
                <a:cs typeface="Times New Roman"/>
              </a:rPr>
              <a:t>1</a:t>
            </a:r>
            <a:endParaRPr sz="1500">
              <a:latin typeface="Times New Roman"/>
              <a:cs typeface="Times New Roman"/>
            </a:endParaRPr>
          </a:p>
          <a:p>
            <a:pPr>
              <a:lnSpc>
                <a:spcPct val="100000"/>
              </a:lnSpc>
              <a:spcBef>
                <a:spcPts val="295"/>
              </a:spcBef>
            </a:pPr>
            <a:endParaRPr sz="1500">
              <a:latin typeface="Times New Roman"/>
              <a:cs typeface="Times New Roman"/>
            </a:endParaRPr>
          </a:p>
          <a:p>
            <a:pPr marL="283210">
              <a:lnSpc>
                <a:spcPct val="100000"/>
              </a:lnSpc>
            </a:pPr>
            <a:r>
              <a:rPr dirty="0" sz="1500" spc="-20" b="1">
                <a:latin typeface="Times New Roman"/>
                <a:cs typeface="Times New Roman"/>
              </a:rPr>
              <a:t>0.60</a:t>
            </a:r>
            <a:endParaRPr sz="1500">
              <a:latin typeface="Times New Roman"/>
              <a:cs typeface="Times New Roman"/>
            </a:endParaRPr>
          </a:p>
          <a:p>
            <a:pPr marL="12700">
              <a:lnSpc>
                <a:spcPct val="100000"/>
              </a:lnSpc>
              <a:spcBef>
                <a:spcPts val="415"/>
              </a:spcBef>
            </a:pPr>
            <a:r>
              <a:rPr dirty="0" sz="1500" spc="-50" b="1">
                <a:solidFill>
                  <a:srgbClr val="FF0000"/>
                </a:solidFill>
                <a:latin typeface="Times New Roman"/>
                <a:cs typeface="Times New Roman"/>
              </a:rPr>
              <a:t>1</a:t>
            </a:r>
            <a:endParaRPr sz="1500">
              <a:latin typeface="Times New Roman"/>
              <a:cs typeface="Times New Roman"/>
            </a:endParaRPr>
          </a:p>
        </p:txBody>
      </p:sp>
      <p:sp>
        <p:nvSpPr>
          <p:cNvPr id="47" name="object 47" descr=""/>
          <p:cNvSpPr txBox="1"/>
          <p:nvPr/>
        </p:nvSpPr>
        <p:spPr>
          <a:xfrm>
            <a:off x="4602869" y="2716906"/>
            <a:ext cx="364490" cy="257810"/>
          </a:xfrm>
          <a:prstGeom prst="rect">
            <a:avLst/>
          </a:prstGeom>
        </p:spPr>
        <p:txBody>
          <a:bodyPr wrap="square" lIns="0" tIns="15240" rIns="0" bIns="0" rtlCol="0" vert="horz">
            <a:spAutoFit/>
          </a:bodyPr>
          <a:lstStyle/>
          <a:p>
            <a:pPr marL="12700">
              <a:lnSpc>
                <a:spcPct val="100000"/>
              </a:lnSpc>
              <a:spcBef>
                <a:spcPts val="120"/>
              </a:spcBef>
            </a:pPr>
            <a:r>
              <a:rPr dirty="0" sz="1500" spc="-20" b="1">
                <a:latin typeface="Times New Roman"/>
                <a:cs typeface="Times New Roman"/>
              </a:rPr>
              <a:t>0.30</a:t>
            </a:r>
            <a:endParaRPr sz="1500">
              <a:latin typeface="Times New Roman"/>
              <a:cs typeface="Times New Roman"/>
            </a:endParaRPr>
          </a:p>
        </p:txBody>
      </p:sp>
      <p:sp>
        <p:nvSpPr>
          <p:cNvPr id="48" name="object 48" descr=""/>
          <p:cNvSpPr txBox="1"/>
          <p:nvPr/>
        </p:nvSpPr>
        <p:spPr>
          <a:xfrm>
            <a:off x="4060479" y="3483529"/>
            <a:ext cx="364490" cy="257810"/>
          </a:xfrm>
          <a:prstGeom prst="rect">
            <a:avLst/>
          </a:prstGeom>
        </p:spPr>
        <p:txBody>
          <a:bodyPr wrap="square" lIns="0" tIns="15240" rIns="0" bIns="0" rtlCol="0" vert="horz">
            <a:spAutoFit/>
          </a:bodyPr>
          <a:lstStyle/>
          <a:p>
            <a:pPr marL="12700">
              <a:lnSpc>
                <a:spcPct val="100000"/>
              </a:lnSpc>
              <a:spcBef>
                <a:spcPts val="120"/>
              </a:spcBef>
            </a:pPr>
            <a:r>
              <a:rPr dirty="0" sz="1500" spc="-20" b="1">
                <a:latin typeface="Times New Roman"/>
                <a:cs typeface="Times New Roman"/>
              </a:rPr>
              <a:t>0.15</a:t>
            </a:r>
            <a:endParaRPr sz="1500">
              <a:latin typeface="Times New Roman"/>
              <a:cs typeface="Times New Roman"/>
            </a:endParaRPr>
          </a:p>
        </p:txBody>
      </p:sp>
      <p:sp>
        <p:nvSpPr>
          <p:cNvPr id="49" name="object 49" descr=""/>
          <p:cNvSpPr txBox="1"/>
          <p:nvPr/>
        </p:nvSpPr>
        <p:spPr>
          <a:xfrm>
            <a:off x="3472160" y="4216102"/>
            <a:ext cx="364490" cy="257810"/>
          </a:xfrm>
          <a:prstGeom prst="rect">
            <a:avLst/>
          </a:prstGeom>
        </p:spPr>
        <p:txBody>
          <a:bodyPr wrap="square" lIns="0" tIns="15240" rIns="0" bIns="0" rtlCol="0" vert="horz">
            <a:spAutoFit/>
          </a:bodyPr>
          <a:lstStyle/>
          <a:p>
            <a:pPr marL="12700">
              <a:lnSpc>
                <a:spcPct val="100000"/>
              </a:lnSpc>
              <a:spcBef>
                <a:spcPts val="120"/>
              </a:spcBef>
            </a:pPr>
            <a:r>
              <a:rPr dirty="0" sz="1500" spc="-20" b="1">
                <a:latin typeface="Times New Roman"/>
                <a:cs typeface="Times New Roman"/>
              </a:rPr>
              <a:t>0.06</a:t>
            </a:r>
            <a:endParaRPr sz="1500">
              <a:latin typeface="Times New Roman"/>
              <a:cs typeface="Times New Roman"/>
            </a:endParaRPr>
          </a:p>
        </p:txBody>
      </p:sp>
      <p:sp>
        <p:nvSpPr>
          <p:cNvPr id="50" name="object 50" descr=""/>
          <p:cNvSpPr txBox="1"/>
          <p:nvPr/>
        </p:nvSpPr>
        <p:spPr>
          <a:xfrm>
            <a:off x="5302617" y="4216102"/>
            <a:ext cx="364490" cy="257810"/>
          </a:xfrm>
          <a:prstGeom prst="rect">
            <a:avLst/>
          </a:prstGeom>
        </p:spPr>
        <p:txBody>
          <a:bodyPr wrap="square" lIns="0" tIns="15240" rIns="0" bIns="0" rtlCol="0" vert="horz">
            <a:spAutoFit/>
          </a:bodyPr>
          <a:lstStyle/>
          <a:p>
            <a:pPr marL="12700">
              <a:lnSpc>
                <a:spcPct val="100000"/>
              </a:lnSpc>
              <a:spcBef>
                <a:spcPts val="120"/>
              </a:spcBef>
            </a:pPr>
            <a:r>
              <a:rPr dirty="0" sz="1500" spc="-20" b="1">
                <a:latin typeface="Times New Roman"/>
                <a:cs typeface="Times New Roman"/>
              </a:rPr>
              <a:t>0.09</a:t>
            </a:r>
            <a:endParaRPr sz="1500">
              <a:latin typeface="Times New Roman"/>
              <a:cs typeface="Times New Roman"/>
            </a:endParaRPr>
          </a:p>
        </p:txBody>
      </p:sp>
      <p:sp>
        <p:nvSpPr>
          <p:cNvPr id="51" name="object 51" descr=""/>
          <p:cNvSpPr txBox="1"/>
          <p:nvPr/>
        </p:nvSpPr>
        <p:spPr>
          <a:xfrm>
            <a:off x="2877962" y="5030764"/>
            <a:ext cx="542290" cy="333375"/>
          </a:xfrm>
          <a:prstGeom prst="rect">
            <a:avLst/>
          </a:prstGeom>
          <a:solidFill>
            <a:srgbClr val="CCFFCC"/>
          </a:solidFill>
          <a:ln w="16123">
            <a:solidFill>
              <a:srgbClr val="000000"/>
            </a:solidFill>
          </a:ln>
        </p:spPr>
        <p:txBody>
          <a:bodyPr wrap="square" lIns="0" tIns="50165" rIns="0" bIns="0" rtlCol="0" vert="horz">
            <a:spAutoFit/>
          </a:bodyPr>
          <a:lstStyle/>
          <a:p>
            <a:pPr marL="110489">
              <a:lnSpc>
                <a:spcPct val="100000"/>
              </a:lnSpc>
              <a:spcBef>
                <a:spcPts val="395"/>
              </a:spcBef>
            </a:pPr>
            <a:r>
              <a:rPr dirty="0" sz="1500" spc="-20" b="1">
                <a:latin typeface="Times New Roman"/>
                <a:cs typeface="Times New Roman"/>
              </a:rPr>
              <a:t>0.03</a:t>
            </a:r>
            <a:endParaRPr sz="1500">
              <a:latin typeface="Times New Roman"/>
              <a:cs typeface="Times New Roman"/>
            </a:endParaRPr>
          </a:p>
        </p:txBody>
      </p:sp>
      <p:sp>
        <p:nvSpPr>
          <p:cNvPr id="52" name="object 52" descr=""/>
          <p:cNvSpPr txBox="1"/>
          <p:nvPr/>
        </p:nvSpPr>
        <p:spPr>
          <a:xfrm>
            <a:off x="3970167" y="5065269"/>
            <a:ext cx="364490" cy="257810"/>
          </a:xfrm>
          <a:prstGeom prst="rect">
            <a:avLst/>
          </a:prstGeom>
        </p:spPr>
        <p:txBody>
          <a:bodyPr wrap="square" lIns="0" tIns="15240" rIns="0" bIns="0" rtlCol="0" vert="horz">
            <a:spAutoFit/>
          </a:bodyPr>
          <a:lstStyle/>
          <a:p>
            <a:pPr marL="12700">
              <a:lnSpc>
                <a:spcPct val="100000"/>
              </a:lnSpc>
              <a:spcBef>
                <a:spcPts val="120"/>
              </a:spcBef>
            </a:pPr>
            <a:r>
              <a:rPr dirty="0" sz="1500" spc="-20" b="1">
                <a:latin typeface="Times New Roman"/>
                <a:cs typeface="Times New Roman"/>
              </a:rPr>
              <a:t>0.03</a:t>
            </a:r>
            <a:endParaRPr sz="1500">
              <a:latin typeface="Times New Roman"/>
              <a:cs typeface="Times New Roman"/>
            </a:endParaRPr>
          </a:p>
        </p:txBody>
      </p:sp>
      <p:sp>
        <p:nvSpPr>
          <p:cNvPr id="53" name="object 53" descr=""/>
          <p:cNvSpPr txBox="1"/>
          <p:nvPr/>
        </p:nvSpPr>
        <p:spPr>
          <a:xfrm>
            <a:off x="4774518" y="5030764"/>
            <a:ext cx="542290" cy="333375"/>
          </a:xfrm>
          <a:prstGeom prst="rect">
            <a:avLst/>
          </a:prstGeom>
          <a:solidFill>
            <a:srgbClr val="CCFFCC"/>
          </a:solidFill>
          <a:ln w="16123">
            <a:solidFill>
              <a:srgbClr val="000000"/>
            </a:solidFill>
          </a:ln>
        </p:spPr>
        <p:txBody>
          <a:bodyPr wrap="square" lIns="0" tIns="50165" rIns="0" bIns="0" rtlCol="0" vert="horz">
            <a:spAutoFit/>
          </a:bodyPr>
          <a:lstStyle/>
          <a:p>
            <a:pPr marL="111760">
              <a:lnSpc>
                <a:spcPct val="100000"/>
              </a:lnSpc>
              <a:spcBef>
                <a:spcPts val="395"/>
              </a:spcBef>
            </a:pPr>
            <a:r>
              <a:rPr dirty="0" sz="1500" spc="-20" b="1">
                <a:latin typeface="Times New Roman"/>
                <a:cs typeface="Times New Roman"/>
              </a:rPr>
              <a:t>0.04</a:t>
            </a:r>
            <a:endParaRPr sz="1500">
              <a:latin typeface="Times New Roman"/>
              <a:cs typeface="Times New Roman"/>
            </a:endParaRPr>
          </a:p>
        </p:txBody>
      </p:sp>
      <p:sp>
        <p:nvSpPr>
          <p:cNvPr id="54" name="object 54" descr=""/>
          <p:cNvSpPr txBox="1"/>
          <p:nvPr/>
        </p:nvSpPr>
        <p:spPr>
          <a:xfrm>
            <a:off x="9459128" y="5065269"/>
            <a:ext cx="364490" cy="257810"/>
          </a:xfrm>
          <a:prstGeom prst="rect">
            <a:avLst/>
          </a:prstGeom>
        </p:spPr>
        <p:txBody>
          <a:bodyPr wrap="square" lIns="0" tIns="15240" rIns="0" bIns="0" rtlCol="0" vert="horz">
            <a:spAutoFit/>
          </a:bodyPr>
          <a:lstStyle/>
          <a:p>
            <a:pPr marL="12700">
              <a:lnSpc>
                <a:spcPct val="100000"/>
              </a:lnSpc>
              <a:spcBef>
                <a:spcPts val="120"/>
              </a:spcBef>
            </a:pPr>
            <a:r>
              <a:rPr dirty="0" sz="1500" spc="-20" b="1">
                <a:latin typeface="Times New Roman"/>
                <a:cs typeface="Times New Roman"/>
              </a:rPr>
              <a:t>0.40</a:t>
            </a:r>
            <a:endParaRPr sz="1500">
              <a:latin typeface="Times New Roman"/>
              <a:cs typeface="Times New Roman"/>
            </a:endParaRPr>
          </a:p>
        </p:txBody>
      </p:sp>
      <p:sp>
        <p:nvSpPr>
          <p:cNvPr id="55" name="object 55" descr=""/>
          <p:cNvSpPr txBox="1"/>
          <p:nvPr/>
        </p:nvSpPr>
        <p:spPr>
          <a:xfrm>
            <a:off x="8193682" y="5065269"/>
            <a:ext cx="364490" cy="257810"/>
          </a:xfrm>
          <a:prstGeom prst="rect">
            <a:avLst/>
          </a:prstGeom>
        </p:spPr>
        <p:txBody>
          <a:bodyPr wrap="square" lIns="0" tIns="15240" rIns="0" bIns="0" rtlCol="0" vert="horz">
            <a:spAutoFit/>
          </a:bodyPr>
          <a:lstStyle/>
          <a:p>
            <a:pPr marL="12700">
              <a:lnSpc>
                <a:spcPct val="100000"/>
              </a:lnSpc>
              <a:spcBef>
                <a:spcPts val="120"/>
              </a:spcBef>
            </a:pPr>
            <a:r>
              <a:rPr dirty="0" sz="1500" spc="-20" b="1">
                <a:latin typeface="Times New Roman"/>
                <a:cs typeface="Times New Roman"/>
              </a:rPr>
              <a:t>0.30</a:t>
            </a:r>
            <a:endParaRPr sz="1500">
              <a:latin typeface="Times New Roman"/>
              <a:cs typeface="Times New Roman"/>
            </a:endParaRPr>
          </a:p>
        </p:txBody>
      </p:sp>
      <p:sp>
        <p:nvSpPr>
          <p:cNvPr id="56" name="object 56" descr=""/>
          <p:cNvSpPr txBox="1"/>
          <p:nvPr/>
        </p:nvSpPr>
        <p:spPr>
          <a:xfrm>
            <a:off x="5777401" y="5065269"/>
            <a:ext cx="1492885" cy="257810"/>
          </a:xfrm>
          <a:prstGeom prst="rect">
            <a:avLst/>
          </a:prstGeom>
        </p:spPr>
        <p:txBody>
          <a:bodyPr wrap="square" lIns="0" tIns="15240" rIns="0" bIns="0" rtlCol="0" vert="horz">
            <a:spAutoFit/>
          </a:bodyPr>
          <a:lstStyle/>
          <a:p>
            <a:pPr marL="12700">
              <a:lnSpc>
                <a:spcPct val="100000"/>
              </a:lnSpc>
              <a:spcBef>
                <a:spcPts val="120"/>
              </a:spcBef>
              <a:tabLst>
                <a:tab pos="1140460" algn="l"/>
              </a:tabLst>
            </a:pPr>
            <a:r>
              <a:rPr dirty="0" sz="1500" spc="-20" b="1">
                <a:latin typeface="Times New Roman"/>
                <a:cs typeface="Times New Roman"/>
              </a:rPr>
              <a:t>0.05</a:t>
            </a:r>
            <a:r>
              <a:rPr dirty="0" sz="1500" b="1">
                <a:latin typeface="Times New Roman"/>
                <a:cs typeface="Times New Roman"/>
              </a:rPr>
              <a:t>	</a:t>
            </a:r>
            <a:r>
              <a:rPr dirty="0" sz="1500" spc="-20" b="1">
                <a:latin typeface="Times New Roman"/>
                <a:cs typeface="Times New Roman"/>
              </a:rPr>
              <a:t>0.15</a:t>
            </a:r>
            <a:endParaRPr sz="1500">
              <a:latin typeface="Times New Roman"/>
              <a:cs typeface="Times New Roman"/>
            </a:endParaRPr>
          </a:p>
        </p:txBody>
      </p:sp>
      <p:sp>
        <p:nvSpPr>
          <p:cNvPr id="57" name="object 57" descr=""/>
          <p:cNvSpPr/>
          <p:nvPr/>
        </p:nvSpPr>
        <p:spPr>
          <a:xfrm>
            <a:off x="2747772" y="5617514"/>
            <a:ext cx="7272655" cy="134620"/>
          </a:xfrm>
          <a:custGeom>
            <a:avLst/>
            <a:gdLst/>
            <a:ahLst/>
            <a:cxnLst/>
            <a:rect l="l" t="t" r="r" b="b"/>
            <a:pathLst>
              <a:path w="7272655" h="134620">
                <a:moveTo>
                  <a:pt x="7177108" y="31741"/>
                </a:moveTo>
                <a:lnTo>
                  <a:pt x="0" y="102247"/>
                </a:lnTo>
                <a:lnTo>
                  <a:pt x="380" y="133997"/>
                </a:lnTo>
                <a:lnTo>
                  <a:pt x="7177447" y="63490"/>
                </a:lnTo>
                <a:lnTo>
                  <a:pt x="7177108" y="31741"/>
                </a:lnTo>
                <a:close/>
              </a:path>
              <a:path w="7272655" h="134620">
                <a:moveTo>
                  <a:pt x="7241555" y="31584"/>
                </a:moveTo>
                <a:lnTo>
                  <a:pt x="7193026" y="31584"/>
                </a:lnTo>
                <a:lnTo>
                  <a:pt x="7193280" y="63334"/>
                </a:lnTo>
                <a:lnTo>
                  <a:pt x="7177447" y="63490"/>
                </a:lnTo>
                <a:lnTo>
                  <a:pt x="7177785" y="95237"/>
                </a:lnTo>
                <a:lnTo>
                  <a:pt x="7272528" y="46685"/>
                </a:lnTo>
                <a:lnTo>
                  <a:pt x="7241555" y="31584"/>
                </a:lnTo>
                <a:close/>
              </a:path>
              <a:path w="7272655" h="134620">
                <a:moveTo>
                  <a:pt x="7193026" y="31584"/>
                </a:moveTo>
                <a:lnTo>
                  <a:pt x="7177108" y="31741"/>
                </a:lnTo>
                <a:lnTo>
                  <a:pt x="7177445" y="63334"/>
                </a:lnTo>
                <a:lnTo>
                  <a:pt x="7177447" y="63490"/>
                </a:lnTo>
                <a:lnTo>
                  <a:pt x="7193280" y="63334"/>
                </a:lnTo>
                <a:lnTo>
                  <a:pt x="7193146" y="46685"/>
                </a:lnTo>
                <a:lnTo>
                  <a:pt x="7193026" y="31584"/>
                </a:lnTo>
                <a:close/>
              </a:path>
              <a:path w="7272655" h="134620">
                <a:moveTo>
                  <a:pt x="7176770" y="0"/>
                </a:moveTo>
                <a:lnTo>
                  <a:pt x="7177106" y="31584"/>
                </a:lnTo>
                <a:lnTo>
                  <a:pt x="7177108" y="31741"/>
                </a:lnTo>
                <a:lnTo>
                  <a:pt x="7241555" y="31584"/>
                </a:lnTo>
                <a:lnTo>
                  <a:pt x="7176770" y="0"/>
                </a:lnTo>
                <a:close/>
              </a:path>
            </a:pathLst>
          </a:custGeom>
          <a:solidFill>
            <a:srgbClr val="FFACFF"/>
          </a:solidFill>
        </p:spPr>
        <p:txBody>
          <a:bodyPr wrap="square" lIns="0" tIns="0" rIns="0" bIns="0" rtlCol="0"/>
          <a:lstStyle/>
          <a:p/>
        </p:txBody>
      </p:sp>
      <p:sp>
        <p:nvSpPr>
          <p:cNvPr id="58" name="object 58" descr=""/>
          <p:cNvSpPr txBox="1"/>
          <p:nvPr/>
        </p:nvSpPr>
        <p:spPr>
          <a:xfrm>
            <a:off x="4856226" y="5263862"/>
            <a:ext cx="3329304" cy="963930"/>
          </a:xfrm>
          <a:prstGeom prst="rect">
            <a:avLst/>
          </a:prstGeom>
        </p:spPr>
        <p:txBody>
          <a:bodyPr wrap="square" lIns="0" tIns="129539" rIns="0" bIns="0" rtlCol="0" vert="horz">
            <a:spAutoFit/>
          </a:bodyPr>
          <a:lstStyle/>
          <a:p>
            <a:pPr marL="164465">
              <a:lnSpc>
                <a:spcPct val="100000"/>
              </a:lnSpc>
              <a:spcBef>
                <a:spcPts val="1019"/>
              </a:spcBef>
              <a:tabLst>
                <a:tab pos="1067435" algn="l"/>
                <a:tab pos="2219325" algn="l"/>
              </a:tabLst>
            </a:pPr>
            <a:r>
              <a:rPr dirty="0" baseline="3703" sz="2250" spc="-37" b="1">
                <a:latin typeface="Times New Roman"/>
                <a:cs typeface="Times New Roman"/>
              </a:rPr>
              <a:t>I</a:t>
            </a:r>
            <a:r>
              <a:rPr dirty="0" sz="1000" spc="-25" b="1">
                <a:latin typeface="Times New Roman"/>
                <a:cs typeface="Times New Roman"/>
              </a:rPr>
              <a:t>5</a:t>
            </a:r>
            <a:r>
              <a:rPr dirty="0" sz="1000" b="1">
                <a:latin typeface="Times New Roman"/>
                <a:cs typeface="Times New Roman"/>
              </a:rPr>
              <a:t>	</a:t>
            </a:r>
            <a:r>
              <a:rPr dirty="0" baseline="3703" sz="2250" spc="-37" b="1">
                <a:latin typeface="Times New Roman"/>
                <a:cs typeface="Times New Roman"/>
              </a:rPr>
              <a:t>I</a:t>
            </a:r>
            <a:r>
              <a:rPr dirty="0" sz="1000" spc="-25" b="1">
                <a:latin typeface="Times New Roman"/>
                <a:cs typeface="Times New Roman"/>
              </a:rPr>
              <a:t>4</a:t>
            </a:r>
            <a:r>
              <a:rPr dirty="0" sz="1000" b="1">
                <a:latin typeface="Times New Roman"/>
                <a:cs typeface="Times New Roman"/>
              </a:rPr>
              <a:t>	</a:t>
            </a:r>
            <a:r>
              <a:rPr dirty="0" baseline="3703" sz="2250" spc="-37" b="1">
                <a:latin typeface="Times New Roman"/>
                <a:cs typeface="Times New Roman"/>
              </a:rPr>
              <a:t>I</a:t>
            </a:r>
            <a:r>
              <a:rPr dirty="0" sz="1000" spc="-25" b="1">
                <a:latin typeface="Times New Roman"/>
                <a:cs typeface="Times New Roman"/>
              </a:rPr>
              <a:t>3</a:t>
            </a:r>
            <a:endParaRPr sz="1000">
              <a:latin typeface="Times New Roman"/>
              <a:cs typeface="Times New Roman"/>
            </a:endParaRPr>
          </a:p>
          <a:p>
            <a:pPr>
              <a:lnSpc>
                <a:spcPct val="100000"/>
              </a:lnSpc>
              <a:spcBef>
                <a:spcPts val="395"/>
              </a:spcBef>
            </a:pPr>
            <a:endParaRPr sz="1000">
              <a:latin typeface="Times New Roman"/>
              <a:cs typeface="Times New Roman"/>
            </a:endParaRPr>
          </a:p>
          <a:p>
            <a:pPr marL="12700">
              <a:lnSpc>
                <a:spcPct val="100000"/>
              </a:lnSpc>
            </a:pPr>
            <a:r>
              <a:rPr dirty="0" sz="2600" spc="-15">
                <a:solidFill>
                  <a:srgbClr val="40458B"/>
                </a:solidFill>
                <a:latin typeface="黑体"/>
                <a:cs typeface="黑体"/>
              </a:rPr>
              <a:t>从左到右注意大小顺序</a:t>
            </a:r>
            <a:endParaRPr sz="2600">
              <a:latin typeface="黑体"/>
              <a:cs typeface="黑体"/>
            </a:endParaRPr>
          </a:p>
        </p:txBody>
      </p:sp>
      <p:sp>
        <p:nvSpPr>
          <p:cNvPr id="59" name="object 59" descr=""/>
          <p:cNvSpPr/>
          <p:nvPr/>
        </p:nvSpPr>
        <p:spPr>
          <a:xfrm>
            <a:off x="2827401" y="4797425"/>
            <a:ext cx="1755775" cy="647700"/>
          </a:xfrm>
          <a:custGeom>
            <a:avLst/>
            <a:gdLst/>
            <a:ahLst/>
            <a:cxnLst/>
            <a:rect l="l" t="t" r="r" b="b"/>
            <a:pathLst>
              <a:path w="1755775" h="647700">
                <a:moveTo>
                  <a:pt x="0" y="323850"/>
                </a:moveTo>
                <a:lnTo>
                  <a:pt x="10432" y="273775"/>
                </a:lnTo>
                <a:lnTo>
                  <a:pt x="40688" y="226115"/>
                </a:lnTo>
                <a:lnTo>
                  <a:pt x="89209" y="181447"/>
                </a:lnTo>
                <a:lnTo>
                  <a:pt x="154434" y="140347"/>
                </a:lnTo>
                <a:lnTo>
                  <a:pt x="192823" y="121315"/>
                </a:lnTo>
                <a:lnTo>
                  <a:pt x="234803" y="103392"/>
                </a:lnTo>
                <a:lnTo>
                  <a:pt x="280180" y="86649"/>
                </a:lnTo>
                <a:lnTo>
                  <a:pt x="328757" y="71159"/>
                </a:lnTo>
                <a:lnTo>
                  <a:pt x="380340" y="56993"/>
                </a:lnTo>
                <a:lnTo>
                  <a:pt x="434735" y="44224"/>
                </a:lnTo>
                <a:lnTo>
                  <a:pt x="491745" y="32923"/>
                </a:lnTo>
                <a:lnTo>
                  <a:pt x="551176" y="23164"/>
                </a:lnTo>
                <a:lnTo>
                  <a:pt x="612834" y="15017"/>
                </a:lnTo>
                <a:lnTo>
                  <a:pt x="676522" y="8555"/>
                </a:lnTo>
                <a:lnTo>
                  <a:pt x="742047" y="3850"/>
                </a:lnTo>
                <a:lnTo>
                  <a:pt x="809212" y="974"/>
                </a:lnTo>
                <a:lnTo>
                  <a:pt x="877824" y="0"/>
                </a:lnTo>
                <a:lnTo>
                  <a:pt x="946436" y="974"/>
                </a:lnTo>
                <a:lnTo>
                  <a:pt x="1013604" y="3850"/>
                </a:lnTo>
                <a:lnTo>
                  <a:pt x="1079132" y="8555"/>
                </a:lnTo>
                <a:lnTo>
                  <a:pt x="1142825" y="15017"/>
                </a:lnTo>
                <a:lnTo>
                  <a:pt x="1204489" y="23164"/>
                </a:lnTo>
                <a:lnTo>
                  <a:pt x="1263927" y="32923"/>
                </a:lnTo>
                <a:lnTo>
                  <a:pt x="1320945" y="44224"/>
                </a:lnTo>
                <a:lnTo>
                  <a:pt x="1375348" y="56993"/>
                </a:lnTo>
                <a:lnTo>
                  <a:pt x="1426940" y="71159"/>
                </a:lnTo>
                <a:lnTo>
                  <a:pt x="1475526" y="86649"/>
                </a:lnTo>
                <a:lnTo>
                  <a:pt x="1520912" y="103392"/>
                </a:lnTo>
                <a:lnTo>
                  <a:pt x="1562901" y="121315"/>
                </a:lnTo>
                <a:lnTo>
                  <a:pt x="1601299" y="140347"/>
                </a:lnTo>
                <a:lnTo>
                  <a:pt x="1635910" y="160415"/>
                </a:lnTo>
                <a:lnTo>
                  <a:pt x="1692993" y="203371"/>
                </a:lnTo>
                <a:lnTo>
                  <a:pt x="1732588" y="249607"/>
                </a:lnTo>
                <a:lnTo>
                  <a:pt x="1753133" y="298546"/>
                </a:lnTo>
                <a:lnTo>
                  <a:pt x="1755775" y="323850"/>
                </a:lnTo>
                <a:lnTo>
                  <a:pt x="1753133" y="349153"/>
                </a:lnTo>
                <a:lnTo>
                  <a:pt x="1732588" y="398092"/>
                </a:lnTo>
                <a:lnTo>
                  <a:pt x="1692993" y="444328"/>
                </a:lnTo>
                <a:lnTo>
                  <a:pt x="1635910" y="487284"/>
                </a:lnTo>
                <a:lnTo>
                  <a:pt x="1601299" y="507352"/>
                </a:lnTo>
                <a:lnTo>
                  <a:pt x="1562901" y="526384"/>
                </a:lnTo>
                <a:lnTo>
                  <a:pt x="1520912" y="544307"/>
                </a:lnTo>
                <a:lnTo>
                  <a:pt x="1475526" y="561050"/>
                </a:lnTo>
                <a:lnTo>
                  <a:pt x="1426940" y="576540"/>
                </a:lnTo>
                <a:lnTo>
                  <a:pt x="1375348" y="590706"/>
                </a:lnTo>
                <a:lnTo>
                  <a:pt x="1320945" y="603475"/>
                </a:lnTo>
                <a:lnTo>
                  <a:pt x="1263927" y="614776"/>
                </a:lnTo>
                <a:lnTo>
                  <a:pt x="1204489" y="624535"/>
                </a:lnTo>
                <a:lnTo>
                  <a:pt x="1142825" y="632682"/>
                </a:lnTo>
                <a:lnTo>
                  <a:pt x="1079132" y="639144"/>
                </a:lnTo>
                <a:lnTo>
                  <a:pt x="1013604" y="643849"/>
                </a:lnTo>
                <a:lnTo>
                  <a:pt x="946436" y="646725"/>
                </a:lnTo>
                <a:lnTo>
                  <a:pt x="877824" y="647700"/>
                </a:lnTo>
                <a:lnTo>
                  <a:pt x="809212" y="646725"/>
                </a:lnTo>
                <a:lnTo>
                  <a:pt x="742047" y="643849"/>
                </a:lnTo>
                <a:lnTo>
                  <a:pt x="676522" y="639144"/>
                </a:lnTo>
                <a:lnTo>
                  <a:pt x="612834" y="632682"/>
                </a:lnTo>
                <a:lnTo>
                  <a:pt x="551176" y="624535"/>
                </a:lnTo>
                <a:lnTo>
                  <a:pt x="491745" y="614776"/>
                </a:lnTo>
                <a:lnTo>
                  <a:pt x="434735" y="603475"/>
                </a:lnTo>
                <a:lnTo>
                  <a:pt x="380340" y="590706"/>
                </a:lnTo>
                <a:lnTo>
                  <a:pt x="328757" y="576540"/>
                </a:lnTo>
                <a:lnTo>
                  <a:pt x="280180" y="561050"/>
                </a:lnTo>
                <a:lnTo>
                  <a:pt x="234803" y="544307"/>
                </a:lnTo>
                <a:lnTo>
                  <a:pt x="192823" y="526384"/>
                </a:lnTo>
                <a:lnTo>
                  <a:pt x="154434" y="507352"/>
                </a:lnTo>
                <a:lnTo>
                  <a:pt x="119831" y="487284"/>
                </a:lnTo>
                <a:lnTo>
                  <a:pt x="62763" y="444328"/>
                </a:lnTo>
                <a:lnTo>
                  <a:pt x="23179" y="398092"/>
                </a:lnTo>
                <a:lnTo>
                  <a:pt x="2640" y="349153"/>
                </a:lnTo>
                <a:lnTo>
                  <a:pt x="0" y="323850"/>
                </a:lnTo>
                <a:close/>
              </a:path>
            </a:pathLst>
          </a:custGeom>
          <a:ln w="19050">
            <a:solidFill>
              <a:srgbClr val="FF09FF"/>
            </a:solidFill>
          </a:ln>
        </p:spPr>
        <p:txBody>
          <a:bodyPr wrap="square" lIns="0" tIns="0" rIns="0" bIns="0" rtlCol="0"/>
          <a:lstStyle/>
          <a:p/>
        </p:txBody>
      </p:sp>
      <p:sp>
        <p:nvSpPr>
          <p:cNvPr id="60" name="object 60" descr=""/>
          <p:cNvSpPr txBox="1"/>
          <p:nvPr/>
        </p:nvSpPr>
        <p:spPr>
          <a:xfrm>
            <a:off x="5010150" y="3664711"/>
            <a:ext cx="150495" cy="299720"/>
          </a:xfrm>
          <a:prstGeom prst="rect">
            <a:avLst/>
          </a:prstGeom>
        </p:spPr>
        <p:txBody>
          <a:bodyPr wrap="square" lIns="0" tIns="12700" rIns="0" bIns="0" rtlCol="0" vert="horz">
            <a:spAutoFit/>
          </a:bodyPr>
          <a:lstStyle/>
          <a:p>
            <a:pPr marL="12700">
              <a:lnSpc>
                <a:spcPct val="100000"/>
              </a:lnSpc>
              <a:spcBef>
                <a:spcPts val="100"/>
              </a:spcBef>
            </a:pPr>
            <a:r>
              <a:rPr dirty="0" sz="1800" spc="-50">
                <a:solidFill>
                  <a:srgbClr val="FF0000"/>
                </a:solidFill>
                <a:latin typeface="Tahoma"/>
                <a:cs typeface="Tahoma"/>
              </a:rPr>
              <a:t>0</a:t>
            </a:r>
            <a:endParaRPr sz="1800">
              <a:latin typeface="Tahoma"/>
              <a:cs typeface="Tahoma"/>
            </a:endParaRPr>
          </a:p>
        </p:txBody>
      </p:sp>
      <p:grpSp>
        <p:nvGrpSpPr>
          <p:cNvPr id="61" name="object 61" descr=""/>
          <p:cNvGrpSpPr/>
          <p:nvPr/>
        </p:nvGrpSpPr>
        <p:grpSpPr>
          <a:xfrm>
            <a:off x="3206750" y="2201798"/>
            <a:ext cx="6197600" cy="3253104"/>
            <a:chOff x="3206750" y="2201798"/>
            <a:chExt cx="6197600" cy="3253104"/>
          </a:xfrm>
        </p:grpSpPr>
        <p:sp>
          <p:nvSpPr>
            <p:cNvPr id="62" name="object 62" descr=""/>
            <p:cNvSpPr/>
            <p:nvPr/>
          </p:nvSpPr>
          <p:spPr>
            <a:xfrm>
              <a:off x="3216275" y="4005198"/>
              <a:ext cx="3195955" cy="1440180"/>
            </a:xfrm>
            <a:custGeom>
              <a:avLst/>
              <a:gdLst/>
              <a:ahLst/>
              <a:cxnLst/>
              <a:rect l="l" t="t" r="r" b="b"/>
              <a:pathLst>
                <a:path w="3195954" h="1440179">
                  <a:moveTo>
                    <a:pt x="1439926" y="1116076"/>
                  </a:moveTo>
                  <a:lnTo>
                    <a:pt x="1450358" y="1066001"/>
                  </a:lnTo>
                  <a:lnTo>
                    <a:pt x="1480614" y="1018341"/>
                  </a:lnTo>
                  <a:lnTo>
                    <a:pt x="1529135" y="973673"/>
                  </a:lnTo>
                  <a:lnTo>
                    <a:pt x="1594360" y="932573"/>
                  </a:lnTo>
                  <a:lnTo>
                    <a:pt x="1632749" y="913541"/>
                  </a:lnTo>
                  <a:lnTo>
                    <a:pt x="1674729" y="895618"/>
                  </a:lnTo>
                  <a:lnTo>
                    <a:pt x="1720106" y="878875"/>
                  </a:lnTo>
                  <a:lnTo>
                    <a:pt x="1768683" y="863385"/>
                  </a:lnTo>
                  <a:lnTo>
                    <a:pt x="1820266" y="849219"/>
                  </a:lnTo>
                  <a:lnTo>
                    <a:pt x="1874661" y="836450"/>
                  </a:lnTo>
                  <a:lnTo>
                    <a:pt x="1931671" y="825149"/>
                  </a:lnTo>
                  <a:lnTo>
                    <a:pt x="1991102" y="815390"/>
                  </a:lnTo>
                  <a:lnTo>
                    <a:pt x="2052760" y="807243"/>
                  </a:lnTo>
                  <a:lnTo>
                    <a:pt x="2116448" y="800781"/>
                  </a:lnTo>
                  <a:lnTo>
                    <a:pt x="2181973" y="796076"/>
                  </a:lnTo>
                  <a:lnTo>
                    <a:pt x="2249138" y="793200"/>
                  </a:lnTo>
                  <a:lnTo>
                    <a:pt x="2317750" y="792226"/>
                  </a:lnTo>
                  <a:lnTo>
                    <a:pt x="2386362" y="793200"/>
                  </a:lnTo>
                  <a:lnTo>
                    <a:pt x="2453530" y="796076"/>
                  </a:lnTo>
                  <a:lnTo>
                    <a:pt x="2519058" y="800781"/>
                  </a:lnTo>
                  <a:lnTo>
                    <a:pt x="2582751" y="807243"/>
                  </a:lnTo>
                  <a:lnTo>
                    <a:pt x="2644415" y="815390"/>
                  </a:lnTo>
                  <a:lnTo>
                    <a:pt x="2703853" y="825149"/>
                  </a:lnTo>
                  <a:lnTo>
                    <a:pt x="2760871" y="836450"/>
                  </a:lnTo>
                  <a:lnTo>
                    <a:pt x="2815274" y="849219"/>
                  </a:lnTo>
                  <a:lnTo>
                    <a:pt x="2866866" y="863385"/>
                  </a:lnTo>
                  <a:lnTo>
                    <a:pt x="2915452" y="878875"/>
                  </a:lnTo>
                  <a:lnTo>
                    <a:pt x="2960838" y="895618"/>
                  </a:lnTo>
                  <a:lnTo>
                    <a:pt x="3002827" y="913541"/>
                  </a:lnTo>
                  <a:lnTo>
                    <a:pt x="3041225" y="932573"/>
                  </a:lnTo>
                  <a:lnTo>
                    <a:pt x="3075836" y="952641"/>
                  </a:lnTo>
                  <a:lnTo>
                    <a:pt x="3132919" y="995597"/>
                  </a:lnTo>
                  <a:lnTo>
                    <a:pt x="3172514" y="1041833"/>
                  </a:lnTo>
                  <a:lnTo>
                    <a:pt x="3193059" y="1090772"/>
                  </a:lnTo>
                  <a:lnTo>
                    <a:pt x="3195701" y="1116076"/>
                  </a:lnTo>
                  <a:lnTo>
                    <a:pt x="3193059" y="1141379"/>
                  </a:lnTo>
                  <a:lnTo>
                    <a:pt x="3172514" y="1190318"/>
                  </a:lnTo>
                  <a:lnTo>
                    <a:pt x="3132919" y="1236554"/>
                  </a:lnTo>
                  <a:lnTo>
                    <a:pt x="3075836" y="1279510"/>
                  </a:lnTo>
                  <a:lnTo>
                    <a:pt x="3041225" y="1299578"/>
                  </a:lnTo>
                  <a:lnTo>
                    <a:pt x="3002827" y="1318610"/>
                  </a:lnTo>
                  <a:lnTo>
                    <a:pt x="2960838" y="1336533"/>
                  </a:lnTo>
                  <a:lnTo>
                    <a:pt x="2915452" y="1353276"/>
                  </a:lnTo>
                  <a:lnTo>
                    <a:pt x="2866866" y="1368766"/>
                  </a:lnTo>
                  <a:lnTo>
                    <a:pt x="2815274" y="1382932"/>
                  </a:lnTo>
                  <a:lnTo>
                    <a:pt x="2760871" y="1395701"/>
                  </a:lnTo>
                  <a:lnTo>
                    <a:pt x="2703853" y="1407002"/>
                  </a:lnTo>
                  <a:lnTo>
                    <a:pt x="2644415" y="1416761"/>
                  </a:lnTo>
                  <a:lnTo>
                    <a:pt x="2582751" y="1424908"/>
                  </a:lnTo>
                  <a:lnTo>
                    <a:pt x="2519058" y="1431370"/>
                  </a:lnTo>
                  <a:lnTo>
                    <a:pt x="2453530" y="1436075"/>
                  </a:lnTo>
                  <a:lnTo>
                    <a:pt x="2386362" y="1438951"/>
                  </a:lnTo>
                  <a:lnTo>
                    <a:pt x="2317750" y="1439926"/>
                  </a:lnTo>
                  <a:lnTo>
                    <a:pt x="2249138" y="1438951"/>
                  </a:lnTo>
                  <a:lnTo>
                    <a:pt x="2181973" y="1436075"/>
                  </a:lnTo>
                  <a:lnTo>
                    <a:pt x="2116448" y="1431370"/>
                  </a:lnTo>
                  <a:lnTo>
                    <a:pt x="2052760" y="1424908"/>
                  </a:lnTo>
                  <a:lnTo>
                    <a:pt x="1991102" y="1416761"/>
                  </a:lnTo>
                  <a:lnTo>
                    <a:pt x="1931671" y="1407002"/>
                  </a:lnTo>
                  <a:lnTo>
                    <a:pt x="1874661" y="1395701"/>
                  </a:lnTo>
                  <a:lnTo>
                    <a:pt x="1820266" y="1382932"/>
                  </a:lnTo>
                  <a:lnTo>
                    <a:pt x="1768683" y="1368766"/>
                  </a:lnTo>
                  <a:lnTo>
                    <a:pt x="1720106" y="1353276"/>
                  </a:lnTo>
                  <a:lnTo>
                    <a:pt x="1674729" y="1336533"/>
                  </a:lnTo>
                  <a:lnTo>
                    <a:pt x="1632749" y="1318610"/>
                  </a:lnTo>
                  <a:lnTo>
                    <a:pt x="1594360" y="1299578"/>
                  </a:lnTo>
                  <a:lnTo>
                    <a:pt x="1559757" y="1279510"/>
                  </a:lnTo>
                  <a:lnTo>
                    <a:pt x="1502689" y="1236554"/>
                  </a:lnTo>
                  <a:lnTo>
                    <a:pt x="1463105" y="1190318"/>
                  </a:lnTo>
                  <a:lnTo>
                    <a:pt x="1442566" y="1141379"/>
                  </a:lnTo>
                  <a:lnTo>
                    <a:pt x="1439926" y="1116076"/>
                  </a:lnTo>
                  <a:close/>
                </a:path>
                <a:path w="3195954" h="1440179">
                  <a:moveTo>
                    <a:pt x="0" y="323850"/>
                  </a:moveTo>
                  <a:lnTo>
                    <a:pt x="16590" y="274540"/>
                  </a:lnTo>
                  <a:lnTo>
                    <a:pt x="45331" y="242928"/>
                  </a:lnTo>
                  <a:lnTo>
                    <a:pt x="87371" y="212516"/>
                  </a:lnTo>
                  <a:lnTo>
                    <a:pt x="141988" y="183465"/>
                  </a:lnTo>
                  <a:lnTo>
                    <a:pt x="208457" y="155940"/>
                  </a:lnTo>
                  <a:lnTo>
                    <a:pt x="245910" y="142800"/>
                  </a:lnTo>
                  <a:lnTo>
                    <a:pt x="286054" y="130103"/>
                  </a:lnTo>
                  <a:lnTo>
                    <a:pt x="328801" y="117868"/>
                  </a:lnTo>
                  <a:lnTo>
                    <a:pt x="374057" y="106117"/>
                  </a:lnTo>
                  <a:lnTo>
                    <a:pt x="421735" y="94869"/>
                  </a:lnTo>
                  <a:lnTo>
                    <a:pt x="471742" y="84144"/>
                  </a:lnTo>
                  <a:lnTo>
                    <a:pt x="523989" y="73964"/>
                  </a:lnTo>
                  <a:lnTo>
                    <a:pt x="578384" y="64349"/>
                  </a:lnTo>
                  <a:lnTo>
                    <a:pt x="634838" y="55319"/>
                  </a:lnTo>
                  <a:lnTo>
                    <a:pt x="693260" y="46894"/>
                  </a:lnTo>
                  <a:lnTo>
                    <a:pt x="753560" y="39095"/>
                  </a:lnTo>
                  <a:lnTo>
                    <a:pt x="815647" y="31942"/>
                  </a:lnTo>
                  <a:lnTo>
                    <a:pt x="879431" y="25455"/>
                  </a:lnTo>
                  <a:lnTo>
                    <a:pt x="944821" y="19655"/>
                  </a:lnTo>
                  <a:lnTo>
                    <a:pt x="1011726" y="14563"/>
                  </a:lnTo>
                  <a:lnTo>
                    <a:pt x="1080057" y="10198"/>
                  </a:lnTo>
                  <a:lnTo>
                    <a:pt x="1149723" y="6581"/>
                  </a:lnTo>
                  <a:lnTo>
                    <a:pt x="1220633" y="3732"/>
                  </a:lnTo>
                  <a:lnTo>
                    <a:pt x="1292697" y="1672"/>
                  </a:lnTo>
                  <a:lnTo>
                    <a:pt x="1365825" y="421"/>
                  </a:lnTo>
                  <a:lnTo>
                    <a:pt x="1439926" y="0"/>
                  </a:lnTo>
                  <a:lnTo>
                    <a:pt x="1514015" y="421"/>
                  </a:lnTo>
                  <a:lnTo>
                    <a:pt x="1587131" y="1672"/>
                  </a:lnTo>
                  <a:lnTo>
                    <a:pt x="1659185" y="3732"/>
                  </a:lnTo>
                  <a:lnTo>
                    <a:pt x="1730086" y="6581"/>
                  </a:lnTo>
                  <a:lnTo>
                    <a:pt x="1799743" y="10198"/>
                  </a:lnTo>
                  <a:lnTo>
                    <a:pt x="1868066" y="14563"/>
                  </a:lnTo>
                  <a:lnTo>
                    <a:pt x="1934964" y="19655"/>
                  </a:lnTo>
                  <a:lnTo>
                    <a:pt x="2000347" y="25455"/>
                  </a:lnTo>
                  <a:lnTo>
                    <a:pt x="2064124" y="31942"/>
                  </a:lnTo>
                  <a:lnTo>
                    <a:pt x="2126205" y="39095"/>
                  </a:lnTo>
                  <a:lnTo>
                    <a:pt x="2186499" y="46894"/>
                  </a:lnTo>
                  <a:lnTo>
                    <a:pt x="2244917" y="55319"/>
                  </a:lnTo>
                  <a:lnTo>
                    <a:pt x="2301366" y="64349"/>
                  </a:lnTo>
                  <a:lnTo>
                    <a:pt x="2355758" y="73964"/>
                  </a:lnTo>
                  <a:lnTo>
                    <a:pt x="2408001" y="84144"/>
                  </a:lnTo>
                  <a:lnTo>
                    <a:pt x="2458005" y="94868"/>
                  </a:lnTo>
                  <a:lnTo>
                    <a:pt x="2505680" y="106117"/>
                  </a:lnTo>
                  <a:lnTo>
                    <a:pt x="2550934" y="117868"/>
                  </a:lnTo>
                  <a:lnTo>
                    <a:pt x="2593678" y="130103"/>
                  </a:lnTo>
                  <a:lnTo>
                    <a:pt x="2633821" y="142800"/>
                  </a:lnTo>
                  <a:lnTo>
                    <a:pt x="2671273" y="155940"/>
                  </a:lnTo>
                  <a:lnTo>
                    <a:pt x="2737739" y="183465"/>
                  </a:lnTo>
                  <a:lnTo>
                    <a:pt x="2792354" y="212516"/>
                  </a:lnTo>
                  <a:lnTo>
                    <a:pt x="2834394" y="242928"/>
                  </a:lnTo>
                  <a:lnTo>
                    <a:pt x="2863134" y="274540"/>
                  </a:lnTo>
                  <a:lnTo>
                    <a:pt x="2879725" y="323850"/>
                  </a:lnTo>
                  <a:lnTo>
                    <a:pt x="2877851" y="340522"/>
                  </a:lnTo>
                  <a:lnTo>
                    <a:pt x="2850472" y="389141"/>
                  </a:lnTo>
                  <a:lnTo>
                    <a:pt x="2814991" y="420184"/>
                  </a:lnTo>
                  <a:lnTo>
                    <a:pt x="2766573" y="449943"/>
                  </a:lnTo>
                  <a:lnTo>
                    <a:pt x="2705942" y="478254"/>
                  </a:lnTo>
                  <a:lnTo>
                    <a:pt x="2633821" y="504955"/>
                  </a:lnTo>
                  <a:lnTo>
                    <a:pt x="2593678" y="517651"/>
                  </a:lnTo>
                  <a:lnTo>
                    <a:pt x="2550934" y="529884"/>
                  </a:lnTo>
                  <a:lnTo>
                    <a:pt x="2505680" y="541633"/>
                  </a:lnTo>
                  <a:lnTo>
                    <a:pt x="2458005" y="552878"/>
                  </a:lnTo>
                  <a:lnTo>
                    <a:pt x="2408001" y="563599"/>
                  </a:lnTo>
                  <a:lnTo>
                    <a:pt x="2355758" y="573776"/>
                  </a:lnTo>
                  <a:lnTo>
                    <a:pt x="2301366" y="583387"/>
                  </a:lnTo>
                  <a:lnTo>
                    <a:pt x="2244917" y="592414"/>
                  </a:lnTo>
                  <a:lnTo>
                    <a:pt x="2186499" y="600835"/>
                  </a:lnTo>
                  <a:lnTo>
                    <a:pt x="2126205" y="608630"/>
                  </a:lnTo>
                  <a:lnTo>
                    <a:pt x="2064124" y="615779"/>
                  </a:lnTo>
                  <a:lnTo>
                    <a:pt x="2000347" y="622262"/>
                  </a:lnTo>
                  <a:lnTo>
                    <a:pt x="1934964" y="628058"/>
                  </a:lnTo>
                  <a:lnTo>
                    <a:pt x="1868066" y="633147"/>
                  </a:lnTo>
                  <a:lnTo>
                    <a:pt x="1799743" y="637509"/>
                  </a:lnTo>
                  <a:lnTo>
                    <a:pt x="1730086" y="641124"/>
                  </a:lnTo>
                  <a:lnTo>
                    <a:pt x="1659185" y="643970"/>
                  </a:lnTo>
                  <a:lnTo>
                    <a:pt x="1587131" y="646028"/>
                  </a:lnTo>
                  <a:lnTo>
                    <a:pt x="1514015" y="647278"/>
                  </a:lnTo>
                  <a:lnTo>
                    <a:pt x="1439926" y="647700"/>
                  </a:lnTo>
                  <a:lnTo>
                    <a:pt x="1365825" y="647278"/>
                  </a:lnTo>
                  <a:lnTo>
                    <a:pt x="1292697" y="646028"/>
                  </a:lnTo>
                  <a:lnTo>
                    <a:pt x="1220633" y="643970"/>
                  </a:lnTo>
                  <a:lnTo>
                    <a:pt x="1149723" y="641124"/>
                  </a:lnTo>
                  <a:lnTo>
                    <a:pt x="1080057" y="637509"/>
                  </a:lnTo>
                  <a:lnTo>
                    <a:pt x="1011726" y="633147"/>
                  </a:lnTo>
                  <a:lnTo>
                    <a:pt x="944821" y="628058"/>
                  </a:lnTo>
                  <a:lnTo>
                    <a:pt x="879431" y="622262"/>
                  </a:lnTo>
                  <a:lnTo>
                    <a:pt x="815647" y="615779"/>
                  </a:lnTo>
                  <a:lnTo>
                    <a:pt x="753560" y="608630"/>
                  </a:lnTo>
                  <a:lnTo>
                    <a:pt x="693260" y="600835"/>
                  </a:lnTo>
                  <a:lnTo>
                    <a:pt x="634838" y="592414"/>
                  </a:lnTo>
                  <a:lnTo>
                    <a:pt x="578384" y="583387"/>
                  </a:lnTo>
                  <a:lnTo>
                    <a:pt x="523989" y="573776"/>
                  </a:lnTo>
                  <a:lnTo>
                    <a:pt x="471742" y="563599"/>
                  </a:lnTo>
                  <a:lnTo>
                    <a:pt x="421735" y="552878"/>
                  </a:lnTo>
                  <a:lnTo>
                    <a:pt x="374057" y="541633"/>
                  </a:lnTo>
                  <a:lnTo>
                    <a:pt x="328801" y="529884"/>
                  </a:lnTo>
                  <a:lnTo>
                    <a:pt x="286054" y="517651"/>
                  </a:lnTo>
                  <a:lnTo>
                    <a:pt x="245910" y="504955"/>
                  </a:lnTo>
                  <a:lnTo>
                    <a:pt x="208457" y="491816"/>
                  </a:lnTo>
                  <a:lnTo>
                    <a:pt x="141988" y="464289"/>
                  </a:lnTo>
                  <a:lnTo>
                    <a:pt x="87371" y="435234"/>
                  </a:lnTo>
                  <a:lnTo>
                    <a:pt x="45331" y="404813"/>
                  </a:lnTo>
                  <a:lnTo>
                    <a:pt x="16590" y="373188"/>
                  </a:lnTo>
                  <a:lnTo>
                    <a:pt x="0" y="323850"/>
                  </a:lnTo>
                  <a:close/>
                </a:path>
              </a:pathLst>
            </a:custGeom>
            <a:ln w="19050">
              <a:solidFill>
                <a:srgbClr val="FF09FF"/>
              </a:solidFill>
            </a:ln>
          </p:spPr>
          <p:txBody>
            <a:bodyPr wrap="square" lIns="0" tIns="0" rIns="0" bIns="0" rtlCol="0"/>
            <a:lstStyle/>
            <a:p/>
          </p:txBody>
        </p:sp>
        <p:sp>
          <p:nvSpPr>
            <p:cNvPr id="63" name="object 63" descr=""/>
            <p:cNvSpPr/>
            <p:nvPr/>
          </p:nvSpPr>
          <p:spPr>
            <a:xfrm>
              <a:off x="3930008" y="3351832"/>
              <a:ext cx="3513454" cy="1986914"/>
            </a:xfrm>
            <a:custGeom>
              <a:avLst/>
              <a:gdLst/>
              <a:ahLst/>
              <a:cxnLst/>
              <a:rect l="l" t="t" r="r" b="b"/>
              <a:pathLst>
                <a:path w="3513454" h="1986914">
                  <a:moveTo>
                    <a:pt x="10420" y="66880"/>
                  </a:moveTo>
                  <a:lnTo>
                    <a:pt x="42266" y="32729"/>
                  </a:lnTo>
                  <a:lnTo>
                    <a:pt x="94100" y="10817"/>
                  </a:lnTo>
                  <a:lnTo>
                    <a:pt x="139136" y="2826"/>
                  </a:lnTo>
                  <a:lnTo>
                    <a:pt x="192119" y="0"/>
                  </a:lnTo>
                  <a:lnTo>
                    <a:pt x="221475" y="489"/>
                  </a:lnTo>
                  <a:lnTo>
                    <a:pt x="285678" y="5203"/>
                  </a:lnTo>
                  <a:lnTo>
                    <a:pt x="356893" y="14808"/>
                  </a:lnTo>
                  <a:lnTo>
                    <a:pt x="395013" y="21409"/>
                  </a:lnTo>
                  <a:lnTo>
                    <a:pt x="434746" y="29192"/>
                  </a:lnTo>
                  <a:lnTo>
                    <a:pt x="476044" y="38142"/>
                  </a:lnTo>
                  <a:lnTo>
                    <a:pt x="518862" y="48246"/>
                  </a:lnTo>
                  <a:lnTo>
                    <a:pt x="563152" y="59490"/>
                  </a:lnTo>
                  <a:lnTo>
                    <a:pt x="608867" y="71860"/>
                  </a:lnTo>
                  <a:lnTo>
                    <a:pt x="655961" y="85343"/>
                  </a:lnTo>
                  <a:lnTo>
                    <a:pt x="704387" y="99924"/>
                  </a:lnTo>
                  <a:lnTo>
                    <a:pt x="754099" y="115590"/>
                  </a:lnTo>
                  <a:lnTo>
                    <a:pt x="805048" y="132328"/>
                  </a:lnTo>
                  <a:lnTo>
                    <a:pt x="857189" y="150123"/>
                  </a:lnTo>
                  <a:lnTo>
                    <a:pt x="910475" y="168961"/>
                  </a:lnTo>
                  <a:lnTo>
                    <a:pt x="964859" y="188830"/>
                  </a:lnTo>
                  <a:lnTo>
                    <a:pt x="1020294" y="209715"/>
                  </a:lnTo>
                  <a:lnTo>
                    <a:pt x="1076734" y="231602"/>
                  </a:lnTo>
                  <a:lnTo>
                    <a:pt x="1134131" y="254478"/>
                  </a:lnTo>
                  <a:lnTo>
                    <a:pt x="1192439" y="278329"/>
                  </a:lnTo>
                  <a:lnTo>
                    <a:pt x="1251611" y="303142"/>
                  </a:lnTo>
                  <a:lnTo>
                    <a:pt x="1311601" y="328901"/>
                  </a:lnTo>
                  <a:lnTo>
                    <a:pt x="1372361" y="355595"/>
                  </a:lnTo>
                  <a:lnTo>
                    <a:pt x="1433844" y="383208"/>
                  </a:lnTo>
                  <a:lnTo>
                    <a:pt x="1496005" y="411728"/>
                  </a:lnTo>
                  <a:lnTo>
                    <a:pt x="1558796" y="441140"/>
                  </a:lnTo>
                  <a:lnTo>
                    <a:pt x="1622170" y="471431"/>
                  </a:lnTo>
                  <a:lnTo>
                    <a:pt x="1686081" y="502587"/>
                  </a:lnTo>
                  <a:lnTo>
                    <a:pt x="1750482" y="534594"/>
                  </a:lnTo>
                  <a:lnTo>
                    <a:pt x="1815325" y="567439"/>
                  </a:lnTo>
                  <a:lnTo>
                    <a:pt x="1880565" y="601108"/>
                  </a:lnTo>
                  <a:lnTo>
                    <a:pt x="1946154" y="635586"/>
                  </a:lnTo>
                  <a:lnTo>
                    <a:pt x="2011474" y="670558"/>
                  </a:lnTo>
                  <a:lnTo>
                    <a:pt x="2075927" y="705694"/>
                  </a:lnTo>
                  <a:lnTo>
                    <a:pt x="2139476" y="740965"/>
                  </a:lnTo>
                  <a:lnTo>
                    <a:pt x="2202084" y="776338"/>
                  </a:lnTo>
                  <a:lnTo>
                    <a:pt x="2263713" y="811784"/>
                  </a:lnTo>
                  <a:lnTo>
                    <a:pt x="2324325" y="847270"/>
                  </a:lnTo>
                  <a:lnTo>
                    <a:pt x="2383883" y="882766"/>
                  </a:lnTo>
                  <a:lnTo>
                    <a:pt x="2442349" y="918241"/>
                  </a:lnTo>
                  <a:lnTo>
                    <a:pt x="2499685" y="953663"/>
                  </a:lnTo>
                  <a:lnTo>
                    <a:pt x="2555855" y="989003"/>
                  </a:lnTo>
                  <a:lnTo>
                    <a:pt x="2610819" y="1024228"/>
                  </a:lnTo>
                  <a:lnTo>
                    <a:pt x="2664541" y="1059307"/>
                  </a:lnTo>
                  <a:lnTo>
                    <a:pt x="2716982" y="1094211"/>
                  </a:lnTo>
                  <a:lnTo>
                    <a:pt x="2768106" y="1128907"/>
                  </a:lnTo>
                  <a:lnTo>
                    <a:pt x="2817875" y="1163364"/>
                  </a:lnTo>
                  <a:lnTo>
                    <a:pt x="2866250" y="1197552"/>
                  </a:lnTo>
                  <a:lnTo>
                    <a:pt x="2913195" y="1231440"/>
                  </a:lnTo>
                  <a:lnTo>
                    <a:pt x="2958672" y="1264996"/>
                  </a:lnTo>
                  <a:lnTo>
                    <a:pt x="3002643" y="1298189"/>
                  </a:lnTo>
                  <a:lnTo>
                    <a:pt x="3045070" y="1330989"/>
                  </a:lnTo>
                  <a:lnTo>
                    <a:pt x="3085916" y="1363364"/>
                  </a:lnTo>
                  <a:lnTo>
                    <a:pt x="3125143" y="1395284"/>
                  </a:lnTo>
                  <a:lnTo>
                    <a:pt x="3162714" y="1426717"/>
                  </a:lnTo>
                  <a:lnTo>
                    <a:pt x="3198590" y="1457632"/>
                  </a:lnTo>
                  <a:lnTo>
                    <a:pt x="3232735" y="1487999"/>
                  </a:lnTo>
                  <a:lnTo>
                    <a:pt x="3265111" y="1517785"/>
                  </a:lnTo>
                  <a:lnTo>
                    <a:pt x="3295680" y="1546961"/>
                  </a:lnTo>
                  <a:lnTo>
                    <a:pt x="3324404" y="1575495"/>
                  </a:lnTo>
                  <a:lnTo>
                    <a:pt x="3351245" y="1603357"/>
                  </a:lnTo>
                  <a:lnTo>
                    <a:pt x="3399132" y="1656936"/>
                  </a:lnTo>
                  <a:lnTo>
                    <a:pt x="3439037" y="1707452"/>
                  </a:lnTo>
                  <a:lnTo>
                    <a:pt x="3470662" y="1754656"/>
                  </a:lnTo>
                  <a:lnTo>
                    <a:pt x="3493703" y="1798299"/>
                  </a:lnTo>
                  <a:lnTo>
                    <a:pt x="3507861" y="1838134"/>
                  </a:lnTo>
                  <a:lnTo>
                    <a:pt x="3512833" y="1873912"/>
                  </a:lnTo>
                  <a:lnTo>
                    <a:pt x="3511781" y="1890202"/>
                  </a:lnTo>
                  <a:lnTo>
                    <a:pt x="3494096" y="1932196"/>
                  </a:lnTo>
                  <a:lnTo>
                    <a:pt x="3455447" y="1962226"/>
                  </a:lnTo>
                  <a:lnTo>
                    <a:pt x="3418733" y="1975492"/>
                  </a:lnTo>
                  <a:lnTo>
                    <a:pt x="3373697" y="1983483"/>
                  </a:lnTo>
                  <a:lnTo>
                    <a:pt x="3320713" y="1986309"/>
                  </a:lnTo>
                  <a:lnTo>
                    <a:pt x="3291358" y="1985820"/>
                  </a:lnTo>
                  <a:lnTo>
                    <a:pt x="3227155" y="1981106"/>
                  </a:lnTo>
                  <a:lnTo>
                    <a:pt x="3155940" y="1971501"/>
                  </a:lnTo>
                  <a:lnTo>
                    <a:pt x="3117820" y="1964900"/>
                  </a:lnTo>
                  <a:lnTo>
                    <a:pt x="3078087" y="1957117"/>
                  </a:lnTo>
                  <a:lnTo>
                    <a:pt x="3036788" y="1948167"/>
                  </a:lnTo>
                  <a:lnTo>
                    <a:pt x="2993971" y="1938063"/>
                  </a:lnTo>
                  <a:lnTo>
                    <a:pt x="2949681" y="1926819"/>
                  </a:lnTo>
                  <a:lnTo>
                    <a:pt x="2903966" y="1914449"/>
                  </a:lnTo>
                  <a:lnTo>
                    <a:pt x="2856871" y="1900966"/>
                  </a:lnTo>
                  <a:lnTo>
                    <a:pt x="2808445" y="1886385"/>
                  </a:lnTo>
                  <a:lnTo>
                    <a:pt x="2758734" y="1870719"/>
                  </a:lnTo>
                  <a:lnTo>
                    <a:pt x="2707785" y="1853981"/>
                  </a:lnTo>
                  <a:lnTo>
                    <a:pt x="2655644" y="1836186"/>
                  </a:lnTo>
                  <a:lnTo>
                    <a:pt x="2602358" y="1817348"/>
                  </a:lnTo>
                  <a:lnTo>
                    <a:pt x="2547974" y="1797479"/>
                  </a:lnTo>
                  <a:lnTo>
                    <a:pt x="2492539" y="1776594"/>
                  </a:lnTo>
                  <a:lnTo>
                    <a:pt x="2436099" y="1754707"/>
                  </a:lnTo>
                  <a:lnTo>
                    <a:pt x="2378702" y="1731831"/>
                  </a:lnTo>
                  <a:lnTo>
                    <a:pt x="2320394" y="1707980"/>
                  </a:lnTo>
                  <a:lnTo>
                    <a:pt x="2261222" y="1683167"/>
                  </a:lnTo>
                  <a:lnTo>
                    <a:pt x="2201232" y="1657407"/>
                  </a:lnTo>
                  <a:lnTo>
                    <a:pt x="2140472" y="1630714"/>
                  </a:lnTo>
                  <a:lnTo>
                    <a:pt x="2078988" y="1603100"/>
                  </a:lnTo>
                  <a:lnTo>
                    <a:pt x="2016828" y="1574581"/>
                  </a:lnTo>
                  <a:lnTo>
                    <a:pt x="1954037" y="1545169"/>
                  </a:lnTo>
                  <a:lnTo>
                    <a:pt x="1890663" y="1514878"/>
                  </a:lnTo>
                  <a:lnTo>
                    <a:pt x="1826752" y="1483722"/>
                  </a:lnTo>
                  <a:lnTo>
                    <a:pt x="1762351" y="1451714"/>
                  </a:lnTo>
                  <a:lnTo>
                    <a:pt x="1697508" y="1418870"/>
                  </a:lnTo>
                  <a:lnTo>
                    <a:pt x="1632268" y="1385201"/>
                  </a:lnTo>
                  <a:lnTo>
                    <a:pt x="1566678" y="1350723"/>
                  </a:lnTo>
                  <a:lnTo>
                    <a:pt x="1501359" y="1315751"/>
                  </a:lnTo>
                  <a:lnTo>
                    <a:pt x="1436906" y="1280615"/>
                  </a:lnTo>
                  <a:lnTo>
                    <a:pt x="1373357" y="1245344"/>
                  </a:lnTo>
                  <a:lnTo>
                    <a:pt x="1310749" y="1209971"/>
                  </a:lnTo>
                  <a:lnTo>
                    <a:pt x="1249120" y="1174525"/>
                  </a:lnTo>
                  <a:lnTo>
                    <a:pt x="1188508" y="1139039"/>
                  </a:lnTo>
                  <a:lnTo>
                    <a:pt x="1128950" y="1103543"/>
                  </a:lnTo>
                  <a:lnTo>
                    <a:pt x="1070484" y="1068068"/>
                  </a:lnTo>
                  <a:lnTo>
                    <a:pt x="1013147" y="1032645"/>
                  </a:lnTo>
                  <a:lnTo>
                    <a:pt x="956978" y="997306"/>
                  </a:lnTo>
                  <a:lnTo>
                    <a:pt x="902014" y="962081"/>
                  </a:lnTo>
                  <a:lnTo>
                    <a:pt x="848292" y="927001"/>
                  </a:lnTo>
                  <a:lnTo>
                    <a:pt x="795850" y="892098"/>
                  </a:lnTo>
                  <a:lnTo>
                    <a:pt x="744727" y="857402"/>
                  </a:lnTo>
                  <a:lnTo>
                    <a:pt x="694958" y="822945"/>
                  </a:lnTo>
                  <a:lnTo>
                    <a:pt x="646582" y="788757"/>
                  </a:lnTo>
                  <a:lnTo>
                    <a:pt x="599638" y="754869"/>
                  </a:lnTo>
                  <a:lnTo>
                    <a:pt x="554161" y="721313"/>
                  </a:lnTo>
                  <a:lnTo>
                    <a:pt x="510190" y="688120"/>
                  </a:lnTo>
                  <a:lnTo>
                    <a:pt x="467763" y="655320"/>
                  </a:lnTo>
                  <a:lnTo>
                    <a:pt x="426917" y="622944"/>
                  </a:lnTo>
                  <a:lnTo>
                    <a:pt x="387690" y="591025"/>
                  </a:lnTo>
                  <a:lnTo>
                    <a:pt x="350119" y="559592"/>
                  </a:lnTo>
                  <a:lnTo>
                    <a:pt x="314242" y="528677"/>
                  </a:lnTo>
                  <a:lnTo>
                    <a:pt x="280097" y="498310"/>
                  </a:lnTo>
                  <a:lnTo>
                    <a:pt x="247722" y="468523"/>
                  </a:lnTo>
                  <a:lnTo>
                    <a:pt x="217153" y="439348"/>
                  </a:lnTo>
                  <a:lnTo>
                    <a:pt x="188429" y="410814"/>
                  </a:lnTo>
                  <a:lnTo>
                    <a:pt x="161587" y="382952"/>
                  </a:lnTo>
                  <a:lnTo>
                    <a:pt x="113701" y="329373"/>
                  </a:lnTo>
                  <a:lnTo>
                    <a:pt x="73795" y="278857"/>
                  </a:lnTo>
                  <a:lnTo>
                    <a:pt x="42171" y="231653"/>
                  </a:lnTo>
                  <a:lnTo>
                    <a:pt x="19130" y="188010"/>
                  </a:lnTo>
                  <a:lnTo>
                    <a:pt x="4972" y="148175"/>
                  </a:lnTo>
                  <a:lnTo>
                    <a:pt x="0" y="112397"/>
                  </a:lnTo>
                  <a:lnTo>
                    <a:pt x="1051" y="96107"/>
                  </a:lnTo>
                  <a:lnTo>
                    <a:pt x="4513" y="80924"/>
                  </a:lnTo>
                  <a:lnTo>
                    <a:pt x="10420" y="66880"/>
                  </a:lnTo>
                  <a:close/>
                </a:path>
              </a:pathLst>
            </a:custGeom>
            <a:ln w="19050">
              <a:solidFill>
                <a:srgbClr val="FFC000"/>
              </a:solidFill>
            </a:ln>
          </p:spPr>
          <p:txBody>
            <a:bodyPr wrap="square" lIns="0" tIns="0" rIns="0" bIns="0" rtlCol="0"/>
            <a:lstStyle/>
            <a:p/>
          </p:txBody>
        </p:sp>
        <p:sp>
          <p:nvSpPr>
            <p:cNvPr id="64" name="object 64" descr=""/>
            <p:cNvSpPr/>
            <p:nvPr/>
          </p:nvSpPr>
          <p:spPr>
            <a:xfrm>
              <a:off x="5011801" y="2201798"/>
              <a:ext cx="4392930" cy="2870200"/>
            </a:xfrm>
            <a:custGeom>
              <a:avLst/>
              <a:gdLst/>
              <a:ahLst/>
              <a:cxnLst/>
              <a:rect l="l" t="t" r="r" b="b"/>
              <a:pathLst>
                <a:path w="4392930" h="2870200">
                  <a:moveTo>
                    <a:pt x="3052699" y="2811526"/>
                  </a:moveTo>
                  <a:lnTo>
                    <a:pt x="3036557" y="2781300"/>
                  </a:lnTo>
                  <a:lnTo>
                    <a:pt x="3012567" y="2736342"/>
                  </a:lnTo>
                  <a:lnTo>
                    <a:pt x="2995091" y="2761018"/>
                  </a:lnTo>
                  <a:lnTo>
                    <a:pt x="66763" y="688454"/>
                  </a:lnTo>
                  <a:lnTo>
                    <a:pt x="71958" y="681101"/>
                  </a:lnTo>
                  <a:lnTo>
                    <a:pt x="84201" y="663829"/>
                  </a:lnTo>
                  <a:lnTo>
                    <a:pt x="0" y="650875"/>
                  </a:lnTo>
                  <a:lnTo>
                    <a:pt x="40132" y="726059"/>
                  </a:lnTo>
                  <a:lnTo>
                    <a:pt x="57594" y="701395"/>
                  </a:lnTo>
                  <a:lnTo>
                    <a:pt x="2985922" y="2773959"/>
                  </a:lnTo>
                  <a:lnTo>
                    <a:pt x="2968498" y="2798572"/>
                  </a:lnTo>
                  <a:lnTo>
                    <a:pt x="3052699" y="2811526"/>
                  </a:lnTo>
                  <a:close/>
                </a:path>
                <a:path w="4392930" h="2870200">
                  <a:moveTo>
                    <a:pt x="4392549" y="2870200"/>
                  </a:moveTo>
                  <a:lnTo>
                    <a:pt x="4376636" y="2838958"/>
                  </a:lnTo>
                  <a:lnTo>
                    <a:pt x="4353941" y="2794381"/>
                  </a:lnTo>
                  <a:lnTo>
                    <a:pt x="4335996" y="2818600"/>
                  </a:lnTo>
                  <a:lnTo>
                    <a:pt x="575525" y="38950"/>
                  </a:lnTo>
                  <a:lnTo>
                    <a:pt x="581139" y="31369"/>
                  </a:lnTo>
                  <a:lnTo>
                    <a:pt x="593471" y="14732"/>
                  </a:lnTo>
                  <a:lnTo>
                    <a:pt x="509524" y="0"/>
                  </a:lnTo>
                  <a:lnTo>
                    <a:pt x="548132" y="75946"/>
                  </a:lnTo>
                  <a:lnTo>
                    <a:pt x="566064" y="51739"/>
                  </a:lnTo>
                  <a:lnTo>
                    <a:pt x="4326534" y="2831388"/>
                  </a:lnTo>
                  <a:lnTo>
                    <a:pt x="4308602" y="2855595"/>
                  </a:lnTo>
                  <a:lnTo>
                    <a:pt x="4392549" y="2870200"/>
                  </a:lnTo>
                  <a:close/>
                </a:path>
              </a:pathLst>
            </a:custGeom>
            <a:solidFill>
              <a:srgbClr val="FF0000"/>
            </a:solidFill>
          </p:spPr>
          <p:txBody>
            <a:bodyPr wrap="square" lIns="0" tIns="0" rIns="0" bIns="0" rtlCol="0"/>
            <a:lstStyle/>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192087" y="331850"/>
            <a:ext cx="1078230" cy="274955"/>
            <a:chOff x="192087" y="331850"/>
            <a:chExt cx="1078230" cy="274955"/>
          </a:xfrm>
        </p:grpSpPr>
        <p:sp>
          <p:nvSpPr>
            <p:cNvPr id="3" name="object 3"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4" name="object 4"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5" name="object 5"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6" name="object 6"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7" name="object 7" descr=""/>
          <p:cNvSpPr txBox="1"/>
          <p:nvPr/>
        </p:nvSpPr>
        <p:spPr>
          <a:xfrm>
            <a:off x="1163637" y="140934"/>
            <a:ext cx="11041380" cy="1466215"/>
          </a:xfrm>
          <a:prstGeom prst="rect">
            <a:avLst/>
          </a:prstGeom>
        </p:spPr>
        <p:txBody>
          <a:bodyPr wrap="square" lIns="0" tIns="62865" rIns="0" bIns="0" rtlCol="0" vert="horz">
            <a:spAutoFit/>
          </a:bodyPr>
          <a:lstStyle/>
          <a:p>
            <a:pPr marL="12700">
              <a:lnSpc>
                <a:spcPct val="100000"/>
              </a:lnSpc>
              <a:spcBef>
                <a:spcPts val="495"/>
              </a:spcBef>
              <a:tabLst>
                <a:tab pos="1567815" algn="l"/>
                <a:tab pos="11028045" algn="l"/>
              </a:tabLst>
            </a:pPr>
            <a:r>
              <a:rPr dirty="0" u="heavy" sz="3200" b="1">
                <a:solidFill>
                  <a:srgbClr val="4F55AC"/>
                </a:solidFill>
                <a:uFill>
                  <a:solidFill>
                    <a:srgbClr val="2C44A3"/>
                  </a:solidFill>
                </a:uFill>
                <a:latin typeface="黑体"/>
                <a:cs typeface="黑体"/>
              </a:rPr>
              <a:t>	2.3</a:t>
            </a:r>
            <a:r>
              <a:rPr dirty="0" u="heavy" sz="3200" spc="-35" b="1">
                <a:solidFill>
                  <a:srgbClr val="4F55AC"/>
                </a:solidFill>
                <a:uFill>
                  <a:solidFill>
                    <a:srgbClr val="2C44A3"/>
                  </a:solidFill>
                </a:uFill>
                <a:latin typeface="黑体"/>
                <a:cs typeface="黑体"/>
              </a:rPr>
              <a:t> </a:t>
            </a:r>
            <a:r>
              <a:rPr dirty="0" u="heavy" sz="3200" b="1">
                <a:solidFill>
                  <a:srgbClr val="4F55AC"/>
                </a:solidFill>
                <a:uFill>
                  <a:solidFill>
                    <a:srgbClr val="2C44A3"/>
                  </a:solidFill>
                </a:uFill>
                <a:latin typeface="微软雅黑"/>
                <a:cs typeface="微软雅黑"/>
              </a:rPr>
              <a:t>指令系统的设计与优</a:t>
            </a:r>
            <a:r>
              <a:rPr dirty="0" u="heavy" sz="3200" spc="-50" b="1">
                <a:solidFill>
                  <a:srgbClr val="4F55AC"/>
                </a:solidFill>
                <a:uFill>
                  <a:solidFill>
                    <a:srgbClr val="2C44A3"/>
                  </a:solidFill>
                </a:uFill>
                <a:latin typeface="微软雅黑"/>
                <a:cs typeface="微软雅黑"/>
              </a:rPr>
              <a:t>化</a:t>
            </a:r>
            <a:r>
              <a:rPr dirty="0" u="heavy" sz="3200" b="1">
                <a:solidFill>
                  <a:srgbClr val="4F55AC"/>
                </a:solidFill>
                <a:uFill>
                  <a:solidFill>
                    <a:srgbClr val="2C44A3"/>
                  </a:solidFill>
                </a:uFill>
                <a:latin typeface="微软雅黑"/>
                <a:cs typeface="微软雅黑"/>
              </a:rPr>
              <a:t>	</a:t>
            </a:r>
            <a:endParaRPr sz="3200">
              <a:latin typeface="微软雅黑"/>
              <a:cs typeface="微软雅黑"/>
            </a:endParaRPr>
          </a:p>
          <a:p>
            <a:pPr marL="839469" indent="-457834">
              <a:lnSpc>
                <a:spcPct val="100000"/>
              </a:lnSpc>
              <a:spcBef>
                <a:spcPts val="340"/>
              </a:spcBef>
              <a:buClr>
                <a:srgbClr val="40458B"/>
              </a:buClr>
              <a:buFont typeface="Wingdings"/>
              <a:buChar char=""/>
              <a:tabLst>
                <a:tab pos="839469" algn="l"/>
              </a:tabLst>
            </a:pPr>
            <a:r>
              <a:rPr dirty="0" sz="2800" spc="-40" b="1">
                <a:solidFill>
                  <a:srgbClr val="006FC0"/>
                </a:solidFill>
                <a:latin typeface="微软雅黑"/>
                <a:cs typeface="微软雅黑"/>
              </a:rPr>
              <a:t>根据上页采用哈夫曼编码，该哈夫曼编码的平均码长</a:t>
            </a:r>
            <a:endParaRPr sz="2800">
              <a:latin typeface="微软雅黑"/>
              <a:cs typeface="微软雅黑"/>
            </a:endParaRPr>
          </a:p>
          <a:p>
            <a:pPr marL="839469">
              <a:lnSpc>
                <a:spcPct val="100000"/>
              </a:lnSpc>
              <a:spcBef>
                <a:spcPts val="50"/>
              </a:spcBef>
            </a:pPr>
            <a:r>
              <a:rPr dirty="0" sz="2800" spc="-40" b="1">
                <a:solidFill>
                  <a:srgbClr val="006FC0"/>
                </a:solidFill>
                <a:latin typeface="微软雅黑"/>
                <a:cs typeface="微软雅黑"/>
              </a:rPr>
              <a:t>（平均码长是唯一的</a:t>
            </a:r>
            <a:r>
              <a:rPr dirty="0" sz="2800" spc="-25" b="1">
                <a:solidFill>
                  <a:srgbClr val="006FC0"/>
                </a:solidFill>
                <a:latin typeface="微软雅黑"/>
                <a:cs typeface="微软雅黑"/>
              </a:rPr>
              <a:t>）：</a:t>
            </a:r>
            <a:endParaRPr sz="2800">
              <a:latin typeface="微软雅黑"/>
              <a:cs typeface="微软雅黑"/>
            </a:endParaRPr>
          </a:p>
        </p:txBody>
      </p:sp>
      <p:sp>
        <p:nvSpPr>
          <p:cNvPr id="8" name="object 8" descr=""/>
          <p:cNvSpPr txBox="1"/>
          <p:nvPr/>
        </p:nvSpPr>
        <p:spPr>
          <a:xfrm>
            <a:off x="8756760" y="1532834"/>
            <a:ext cx="116205" cy="241935"/>
          </a:xfrm>
          <a:prstGeom prst="rect">
            <a:avLst/>
          </a:prstGeom>
        </p:spPr>
        <p:txBody>
          <a:bodyPr wrap="square" lIns="0" tIns="15240" rIns="0" bIns="0" rtlCol="0" vert="horz">
            <a:spAutoFit/>
          </a:bodyPr>
          <a:lstStyle/>
          <a:p>
            <a:pPr marL="12700">
              <a:lnSpc>
                <a:spcPct val="100000"/>
              </a:lnSpc>
              <a:spcBef>
                <a:spcPts val="120"/>
              </a:spcBef>
            </a:pPr>
            <a:r>
              <a:rPr dirty="0" sz="1400" spc="-50">
                <a:latin typeface="Times New Roman"/>
                <a:cs typeface="Times New Roman"/>
              </a:rPr>
              <a:t>7</a:t>
            </a:r>
            <a:endParaRPr sz="1400">
              <a:latin typeface="Times New Roman"/>
              <a:cs typeface="Times New Roman"/>
            </a:endParaRPr>
          </a:p>
        </p:txBody>
      </p:sp>
      <p:sp>
        <p:nvSpPr>
          <p:cNvPr id="9" name="object 9" descr=""/>
          <p:cNvSpPr txBox="1"/>
          <p:nvPr/>
        </p:nvSpPr>
        <p:spPr>
          <a:xfrm>
            <a:off x="8130333" y="1506594"/>
            <a:ext cx="2220595" cy="876300"/>
          </a:xfrm>
          <a:prstGeom prst="rect">
            <a:avLst/>
          </a:prstGeom>
        </p:spPr>
        <p:txBody>
          <a:bodyPr wrap="square" lIns="0" tIns="68580" rIns="0" bIns="0" rtlCol="0" vert="horz">
            <a:spAutoFit/>
          </a:bodyPr>
          <a:lstStyle/>
          <a:p>
            <a:pPr marL="38100">
              <a:lnSpc>
                <a:spcPct val="100000"/>
              </a:lnSpc>
              <a:spcBef>
                <a:spcPts val="540"/>
              </a:spcBef>
            </a:pPr>
            <a:r>
              <a:rPr dirty="0" sz="2400" i="1">
                <a:latin typeface="Times New Roman"/>
                <a:cs typeface="Times New Roman"/>
              </a:rPr>
              <a:t>L</a:t>
            </a:r>
            <a:r>
              <a:rPr dirty="0" sz="2400" spc="-5" i="1">
                <a:latin typeface="Times New Roman"/>
                <a:cs typeface="Times New Roman"/>
              </a:rPr>
              <a:t> </a:t>
            </a:r>
            <a:r>
              <a:rPr dirty="0" sz="2400">
                <a:latin typeface="Symbol"/>
                <a:cs typeface="Symbol"/>
              </a:rPr>
              <a:t></a:t>
            </a:r>
            <a:r>
              <a:rPr dirty="0" sz="2400" spc="-45">
                <a:latin typeface="Times New Roman"/>
                <a:cs typeface="Times New Roman"/>
              </a:rPr>
              <a:t> </a:t>
            </a:r>
            <a:r>
              <a:rPr dirty="0" baseline="-8371" sz="5475">
                <a:latin typeface="Symbol"/>
                <a:cs typeface="Symbol"/>
              </a:rPr>
              <a:t></a:t>
            </a:r>
            <a:r>
              <a:rPr dirty="0" baseline="-8371" sz="5475" spc="-419">
                <a:latin typeface="Times New Roman"/>
                <a:cs typeface="Times New Roman"/>
              </a:rPr>
              <a:t> </a:t>
            </a:r>
            <a:r>
              <a:rPr dirty="0" sz="2400" i="1">
                <a:latin typeface="Times New Roman"/>
                <a:cs typeface="Times New Roman"/>
              </a:rPr>
              <a:t>p</a:t>
            </a:r>
            <a:r>
              <a:rPr dirty="0" baseline="-23809" sz="2100" i="1">
                <a:latin typeface="Times New Roman"/>
                <a:cs typeface="Times New Roman"/>
              </a:rPr>
              <a:t>i</a:t>
            </a:r>
            <a:r>
              <a:rPr dirty="0" sz="2400" i="1">
                <a:latin typeface="Times New Roman"/>
                <a:cs typeface="Times New Roman"/>
              </a:rPr>
              <a:t>l</a:t>
            </a:r>
            <a:r>
              <a:rPr dirty="0" baseline="-23809" sz="2100" i="1">
                <a:latin typeface="Times New Roman"/>
                <a:cs typeface="Times New Roman"/>
              </a:rPr>
              <a:t>i</a:t>
            </a:r>
            <a:r>
              <a:rPr dirty="0" baseline="-23809" sz="2100" spc="142" i="1">
                <a:latin typeface="Times New Roman"/>
                <a:cs typeface="Times New Roman"/>
              </a:rPr>
              <a:t>  </a:t>
            </a:r>
            <a:r>
              <a:rPr dirty="0" sz="2400">
                <a:latin typeface="Symbol"/>
                <a:cs typeface="Symbol"/>
              </a:rPr>
              <a:t></a:t>
            </a:r>
            <a:r>
              <a:rPr dirty="0" sz="2400" spc="-20">
                <a:latin typeface="Times New Roman"/>
                <a:cs typeface="Times New Roman"/>
              </a:rPr>
              <a:t> 2.20</a:t>
            </a:r>
            <a:endParaRPr sz="2400">
              <a:latin typeface="Times New Roman"/>
              <a:cs typeface="Times New Roman"/>
            </a:endParaRPr>
          </a:p>
          <a:p>
            <a:pPr marL="569595">
              <a:lnSpc>
                <a:spcPct val="100000"/>
              </a:lnSpc>
              <a:spcBef>
                <a:spcPts val="195"/>
              </a:spcBef>
            </a:pPr>
            <a:r>
              <a:rPr dirty="0" sz="1400" spc="-25" i="1">
                <a:latin typeface="Times New Roman"/>
                <a:cs typeface="Times New Roman"/>
              </a:rPr>
              <a:t>i</a:t>
            </a:r>
            <a:r>
              <a:rPr dirty="0" sz="1400" spc="-25">
                <a:latin typeface="Symbol"/>
                <a:cs typeface="Symbol"/>
              </a:rPr>
              <a:t></a:t>
            </a:r>
            <a:r>
              <a:rPr dirty="0" sz="1400" spc="-25">
                <a:latin typeface="Times New Roman"/>
                <a:cs typeface="Times New Roman"/>
              </a:rPr>
              <a:t>1</a:t>
            </a:r>
            <a:endParaRPr sz="1400">
              <a:latin typeface="Times New Roman"/>
              <a:cs typeface="Times New Roman"/>
            </a:endParaRPr>
          </a:p>
        </p:txBody>
      </p:sp>
      <p:sp>
        <p:nvSpPr>
          <p:cNvPr id="10" name="object 10" descr=""/>
          <p:cNvSpPr txBox="1"/>
          <p:nvPr/>
        </p:nvSpPr>
        <p:spPr>
          <a:xfrm>
            <a:off x="1942592" y="1803273"/>
            <a:ext cx="5685790" cy="1215390"/>
          </a:xfrm>
          <a:prstGeom prst="rect">
            <a:avLst/>
          </a:prstGeom>
        </p:spPr>
        <p:txBody>
          <a:bodyPr wrap="square" lIns="0" tIns="13335" rIns="0" bIns="0" rtlCol="0" vert="horz">
            <a:spAutoFit/>
          </a:bodyPr>
          <a:lstStyle/>
          <a:p>
            <a:pPr marL="469900" marR="5080" indent="-457834">
              <a:lnSpc>
                <a:spcPct val="100000"/>
              </a:lnSpc>
              <a:spcBef>
                <a:spcPts val="105"/>
              </a:spcBef>
            </a:pPr>
            <a:r>
              <a:rPr dirty="0" sz="2600" spc="-10" b="1">
                <a:latin typeface="黑体"/>
                <a:cs typeface="黑体"/>
              </a:rPr>
              <a:t>L=0.40×1+0.30×2+0.15×3+0.05×5+ </a:t>
            </a:r>
            <a:r>
              <a:rPr dirty="0" sz="2600" b="1">
                <a:latin typeface="黑体"/>
                <a:cs typeface="黑体"/>
              </a:rPr>
              <a:t>0.04×5+0.03×5+</a:t>
            </a:r>
            <a:r>
              <a:rPr dirty="0" sz="2600" spc="-80" b="1">
                <a:latin typeface="黑体"/>
                <a:cs typeface="黑体"/>
              </a:rPr>
              <a:t> </a:t>
            </a:r>
            <a:r>
              <a:rPr dirty="0" sz="2600" spc="-10" b="1">
                <a:latin typeface="黑体"/>
                <a:cs typeface="黑体"/>
              </a:rPr>
              <a:t>0.03×5</a:t>
            </a:r>
            <a:endParaRPr sz="2600">
              <a:latin typeface="黑体"/>
              <a:cs typeface="黑体"/>
            </a:endParaRPr>
          </a:p>
          <a:p>
            <a:pPr marL="179705">
              <a:lnSpc>
                <a:spcPct val="100000"/>
              </a:lnSpc>
            </a:pPr>
            <a:r>
              <a:rPr dirty="0" sz="2600" spc="-10" b="1">
                <a:latin typeface="黑体"/>
                <a:cs typeface="黑体"/>
              </a:rPr>
              <a:t>=2.20</a:t>
            </a:r>
            <a:endParaRPr sz="2600">
              <a:latin typeface="黑体"/>
              <a:cs typeface="黑体"/>
            </a:endParaRPr>
          </a:p>
        </p:txBody>
      </p:sp>
      <p:sp>
        <p:nvSpPr>
          <p:cNvPr id="11" name="object 11" descr=""/>
          <p:cNvSpPr txBox="1"/>
          <p:nvPr/>
        </p:nvSpPr>
        <p:spPr>
          <a:xfrm>
            <a:off x="7932057" y="3743332"/>
            <a:ext cx="120014" cy="250190"/>
          </a:xfrm>
          <a:prstGeom prst="rect">
            <a:avLst/>
          </a:prstGeom>
        </p:spPr>
        <p:txBody>
          <a:bodyPr wrap="square" lIns="0" tIns="15875" rIns="0" bIns="0" rtlCol="0" vert="horz">
            <a:spAutoFit/>
          </a:bodyPr>
          <a:lstStyle/>
          <a:p>
            <a:pPr marL="12700">
              <a:lnSpc>
                <a:spcPct val="100000"/>
              </a:lnSpc>
              <a:spcBef>
                <a:spcPts val="125"/>
              </a:spcBef>
            </a:pPr>
            <a:r>
              <a:rPr dirty="0" sz="1450" spc="-50">
                <a:latin typeface="Times New Roman"/>
                <a:cs typeface="Times New Roman"/>
              </a:rPr>
              <a:t>7</a:t>
            </a:r>
            <a:endParaRPr sz="1450">
              <a:latin typeface="Times New Roman"/>
              <a:cs typeface="Times New Roman"/>
            </a:endParaRPr>
          </a:p>
        </p:txBody>
      </p:sp>
      <p:sp>
        <p:nvSpPr>
          <p:cNvPr id="12" name="object 12" descr=""/>
          <p:cNvSpPr txBox="1"/>
          <p:nvPr/>
        </p:nvSpPr>
        <p:spPr>
          <a:xfrm>
            <a:off x="1756917" y="3170325"/>
            <a:ext cx="8590915" cy="1454785"/>
          </a:xfrm>
          <a:prstGeom prst="rect">
            <a:avLst/>
          </a:prstGeom>
        </p:spPr>
        <p:txBody>
          <a:bodyPr wrap="square" lIns="0" tIns="87630" rIns="0" bIns="0" rtlCol="0" vert="horz">
            <a:spAutoFit/>
          </a:bodyPr>
          <a:lstStyle/>
          <a:p>
            <a:pPr marL="494665" indent="-456565">
              <a:lnSpc>
                <a:spcPct val="100000"/>
              </a:lnSpc>
              <a:spcBef>
                <a:spcPts val="690"/>
              </a:spcBef>
              <a:buClr>
                <a:srgbClr val="40458B"/>
              </a:buClr>
              <a:buFont typeface="Wingdings"/>
              <a:buChar char=""/>
              <a:tabLst>
                <a:tab pos="494665" algn="l"/>
              </a:tabLst>
            </a:pPr>
            <a:r>
              <a:rPr dirty="0" sz="2800" spc="-25" b="1">
                <a:solidFill>
                  <a:srgbClr val="006FC0"/>
                </a:solidFill>
                <a:latin typeface="宋体"/>
                <a:cs typeface="宋体"/>
              </a:rPr>
              <a:t>这</a:t>
            </a:r>
            <a:r>
              <a:rPr dirty="0" sz="2800" spc="-20" b="1">
                <a:solidFill>
                  <a:srgbClr val="006FC0"/>
                </a:solidFill>
                <a:latin typeface="Times New Roman"/>
                <a:cs typeface="Times New Roman"/>
              </a:rPr>
              <a:t>7</a:t>
            </a:r>
            <a:r>
              <a:rPr dirty="0" sz="2800" spc="-30" b="1">
                <a:solidFill>
                  <a:srgbClr val="006FC0"/>
                </a:solidFill>
                <a:latin typeface="宋体"/>
                <a:cs typeface="宋体"/>
              </a:rPr>
              <a:t>条指令的定长操作码编码的最短平均码长</a:t>
            </a:r>
            <a:r>
              <a:rPr dirty="0" sz="2800" spc="-50" b="1">
                <a:latin typeface="宋体"/>
                <a:cs typeface="宋体"/>
              </a:rPr>
              <a:t>：</a:t>
            </a:r>
            <a:endParaRPr sz="2800">
              <a:latin typeface="宋体"/>
              <a:cs typeface="宋体"/>
            </a:endParaRPr>
          </a:p>
          <a:p>
            <a:pPr marL="5211445">
              <a:lnSpc>
                <a:spcPct val="100000"/>
              </a:lnSpc>
              <a:spcBef>
                <a:spcPts val="795"/>
              </a:spcBef>
            </a:pPr>
            <a:r>
              <a:rPr dirty="0" sz="2500" i="1">
                <a:latin typeface="Times New Roman"/>
                <a:cs typeface="Times New Roman"/>
              </a:rPr>
              <a:t>H</a:t>
            </a:r>
            <a:r>
              <a:rPr dirty="0" sz="2500" spc="275" i="1">
                <a:latin typeface="Times New Roman"/>
                <a:cs typeface="Times New Roman"/>
              </a:rPr>
              <a:t> </a:t>
            </a:r>
            <a:r>
              <a:rPr dirty="0" sz="2500">
                <a:latin typeface="Symbol"/>
                <a:cs typeface="Symbol"/>
              </a:rPr>
              <a:t></a:t>
            </a:r>
            <a:r>
              <a:rPr dirty="0" sz="2500" spc="-330">
                <a:latin typeface="Times New Roman"/>
                <a:cs typeface="Times New Roman"/>
              </a:rPr>
              <a:t> </a:t>
            </a:r>
            <a:r>
              <a:rPr dirty="0" sz="2500" spc="-105">
                <a:latin typeface="宋体"/>
                <a:cs typeface="宋体"/>
              </a:rPr>
              <a:t>－</a:t>
            </a:r>
            <a:r>
              <a:rPr dirty="0" baseline="-8771" sz="5700" spc="-157">
                <a:latin typeface="Symbol"/>
                <a:cs typeface="Symbol"/>
              </a:rPr>
              <a:t></a:t>
            </a:r>
            <a:r>
              <a:rPr dirty="0" baseline="-8771" sz="5700" spc="-472">
                <a:latin typeface="Times New Roman"/>
                <a:cs typeface="Times New Roman"/>
              </a:rPr>
              <a:t> </a:t>
            </a:r>
            <a:r>
              <a:rPr dirty="0" sz="2500" i="1">
                <a:latin typeface="Times New Roman"/>
                <a:cs typeface="Times New Roman"/>
              </a:rPr>
              <a:t>p</a:t>
            </a:r>
            <a:r>
              <a:rPr dirty="0" baseline="-24904" sz="2175" i="1">
                <a:latin typeface="Times New Roman"/>
                <a:cs typeface="Times New Roman"/>
              </a:rPr>
              <a:t>i</a:t>
            </a:r>
            <a:r>
              <a:rPr dirty="0" baseline="-24904" sz="2175" spc="397" i="1">
                <a:latin typeface="Times New Roman"/>
                <a:cs typeface="Times New Roman"/>
              </a:rPr>
              <a:t> </a:t>
            </a:r>
            <a:r>
              <a:rPr dirty="0" sz="2500">
                <a:latin typeface="Times New Roman"/>
                <a:cs typeface="Times New Roman"/>
              </a:rPr>
              <a:t>log</a:t>
            </a:r>
            <a:r>
              <a:rPr dirty="0" baseline="-24904" sz="2175">
                <a:latin typeface="Times New Roman"/>
                <a:cs typeface="Times New Roman"/>
              </a:rPr>
              <a:t>2</a:t>
            </a:r>
            <a:r>
              <a:rPr dirty="0" baseline="-24904" sz="2175" spc="150">
                <a:latin typeface="Times New Roman"/>
                <a:cs typeface="Times New Roman"/>
              </a:rPr>
              <a:t>  </a:t>
            </a:r>
            <a:r>
              <a:rPr dirty="0" sz="2500" i="1">
                <a:latin typeface="Times New Roman"/>
                <a:cs typeface="Times New Roman"/>
              </a:rPr>
              <a:t>p</a:t>
            </a:r>
            <a:r>
              <a:rPr dirty="0" baseline="-24904" sz="2175" i="1">
                <a:latin typeface="Times New Roman"/>
                <a:cs typeface="Times New Roman"/>
              </a:rPr>
              <a:t>i</a:t>
            </a:r>
            <a:r>
              <a:rPr dirty="0" baseline="-24904" sz="2175" spc="135" i="1">
                <a:latin typeface="Times New Roman"/>
                <a:cs typeface="Times New Roman"/>
              </a:rPr>
              <a:t>  </a:t>
            </a:r>
            <a:r>
              <a:rPr dirty="0" sz="2500">
                <a:latin typeface="Symbol"/>
                <a:cs typeface="Symbol"/>
              </a:rPr>
              <a:t></a:t>
            </a:r>
            <a:r>
              <a:rPr dirty="0" sz="2500" spc="-40">
                <a:latin typeface="Times New Roman"/>
                <a:cs typeface="Times New Roman"/>
              </a:rPr>
              <a:t> </a:t>
            </a:r>
            <a:r>
              <a:rPr dirty="0" sz="2500" spc="-20">
                <a:latin typeface="Times New Roman"/>
                <a:cs typeface="Times New Roman"/>
              </a:rPr>
              <a:t>2.17</a:t>
            </a:r>
            <a:endParaRPr sz="2500">
              <a:latin typeface="Times New Roman"/>
              <a:cs typeface="Times New Roman"/>
            </a:endParaRPr>
          </a:p>
          <a:p>
            <a:pPr algn="r" marR="2213610">
              <a:lnSpc>
                <a:spcPct val="100000"/>
              </a:lnSpc>
              <a:spcBef>
                <a:spcPts val="200"/>
              </a:spcBef>
            </a:pPr>
            <a:r>
              <a:rPr dirty="0" sz="1450" spc="-25" i="1">
                <a:latin typeface="Times New Roman"/>
                <a:cs typeface="Times New Roman"/>
              </a:rPr>
              <a:t>i</a:t>
            </a:r>
            <a:r>
              <a:rPr dirty="0" sz="1450" spc="-25">
                <a:latin typeface="Symbol"/>
                <a:cs typeface="Symbol"/>
              </a:rPr>
              <a:t></a:t>
            </a:r>
            <a:r>
              <a:rPr dirty="0" sz="1450" spc="-25">
                <a:latin typeface="Times New Roman"/>
                <a:cs typeface="Times New Roman"/>
              </a:rPr>
              <a:t>1</a:t>
            </a:r>
            <a:endParaRPr sz="1450">
              <a:latin typeface="Times New Roman"/>
              <a:cs typeface="Times New Roman"/>
            </a:endParaRPr>
          </a:p>
        </p:txBody>
      </p:sp>
      <p:sp>
        <p:nvSpPr>
          <p:cNvPr id="13" name="object 13" descr=""/>
          <p:cNvSpPr txBox="1"/>
          <p:nvPr/>
        </p:nvSpPr>
        <p:spPr>
          <a:xfrm>
            <a:off x="8389602" y="4903161"/>
            <a:ext cx="116205" cy="241935"/>
          </a:xfrm>
          <a:prstGeom prst="rect">
            <a:avLst/>
          </a:prstGeom>
        </p:spPr>
        <p:txBody>
          <a:bodyPr wrap="square" lIns="0" tIns="15240" rIns="0" bIns="0" rtlCol="0" vert="horz">
            <a:spAutoFit/>
          </a:bodyPr>
          <a:lstStyle/>
          <a:p>
            <a:pPr marL="12700">
              <a:lnSpc>
                <a:spcPct val="100000"/>
              </a:lnSpc>
              <a:spcBef>
                <a:spcPts val="120"/>
              </a:spcBef>
            </a:pPr>
            <a:r>
              <a:rPr dirty="0" sz="1400" spc="-50">
                <a:latin typeface="Times New Roman"/>
                <a:cs typeface="Times New Roman"/>
              </a:rPr>
              <a:t>7</a:t>
            </a:r>
            <a:endParaRPr sz="1400">
              <a:latin typeface="Times New Roman"/>
              <a:cs typeface="Times New Roman"/>
            </a:endParaRPr>
          </a:p>
        </p:txBody>
      </p:sp>
      <p:sp>
        <p:nvSpPr>
          <p:cNvPr id="14" name="object 14" descr=""/>
          <p:cNvSpPr txBox="1"/>
          <p:nvPr/>
        </p:nvSpPr>
        <p:spPr>
          <a:xfrm>
            <a:off x="8320640" y="5511103"/>
            <a:ext cx="269875" cy="241935"/>
          </a:xfrm>
          <a:prstGeom prst="rect">
            <a:avLst/>
          </a:prstGeom>
        </p:spPr>
        <p:txBody>
          <a:bodyPr wrap="square" lIns="0" tIns="15240" rIns="0" bIns="0" rtlCol="0" vert="horz">
            <a:spAutoFit/>
          </a:bodyPr>
          <a:lstStyle/>
          <a:p>
            <a:pPr marL="12700">
              <a:lnSpc>
                <a:spcPct val="100000"/>
              </a:lnSpc>
              <a:spcBef>
                <a:spcPts val="120"/>
              </a:spcBef>
            </a:pPr>
            <a:r>
              <a:rPr dirty="0" sz="1400" spc="-25" i="1">
                <a:latin typeface="Times New Roman"/>
                <a:cs typeface="Times New Roman"/>
              </a:rPr>
              <a:t>i</a:t>
            </a:r>
            <a:r>
              <a:rPr dirty="0" sz="1400" spc="-25">
                <a:latin typeface="Symbol"/>
                <a:cs typeface="Symbol"/>
              </a:rPr>
              <a:t></a:t>
            </a:r>
            <a:r>
              <a:rPr dirty="0" sz="1400" spc="-25">
                <a:latin typeface="Times New Roman"/>
                <a:cs typeface="Times New Roman"/>
              </a:rPr>
              <a:t>1</a:t>
            </a:r>
            <a:endParaRPr sz="1400">
              <a:latin typeface="Times New Roman"/>
              <a:cs typeface="Times New Roman"/>
            </a:endParaRPr>
          </a:p>
        </p:txBody>
      </p:sp>
      <p:sp>
        <p:nvSpPr>
          <p:cNvPr id="15" name="object 15" descr=""/>
          <p:cNvSpPr txBox="1"/>
          <p:nvPr/>
        </p:nvSpPr>
        <p:spPr>
          <a:xfrm>
            <a:off x="1756917" y="5057909"/>
            <a:ext cx="8227059" cy="582295"/>
          </a:xfrm>
          <a:prstGeom prst="rect">
            <a:avLst/>
          </a:prstGeom>
        </p:spPr>
        <p:txBody>
          <a:bodyPr wrap="square" lIns="0" tIns="12700" rIns="0" bIns="0" rtlCol="0" vert="horz">
            <a:spAutoFit/>
          </a:bodyPr>
          <a:lstStyle/>
          <a:p>
            <a:pPr marL="494665" indent="-456565">
              <a:lnSpc>
                <a:spcPct val="100000"/>
              </a:lnSpc>
              <a:spcBef>
                <a:spcPts val="100"/>
              </a:spcBef>
              <a:buClr>
                <a:srgbClr val="40458B"/>
              </a:buClr>
              <a:buFont typeface="Wingdings"/>
              <a:buChar char=""/>
              <a:tabLst>
                <a:tab pos="494665" algn="l"/>
              </a:tabLst>
            </a:pPr>
            <a:r>
              <a:rPr dirty="0" sz="2800" spc="-25" b="1">
                <a:solidFill>
                  <a:srgbClr val="006FC0"/>
                </a:solidFill>
                <a:latin typeface="宋体"/>
                <a:cs typeface="宋体"/>
              </a:rPr>
              <a:t>这</a:t>
            </a:r>
            <a:r>
              <a:rPr dirty="0" sz="2800" spc="-10" b="1">
                <a:solidFill>
                  <a:srgbClr val="006FC0"/>
                </a:solidFill>
                <a:latin typeface="Times New Roman"/>
                <a:cs typeface="Times New Roman"/>
              </a:rPr>
              <a:t>7</a:t>
            </a:r>
            <a:r>
              <a:rPr dirty="0" sz="2800" spc="-114" b="1">
                <a:solidFill>
                  <a:srgbClr val="006FC0"/>
                </a:solidFill>
                <a:latin typeface="宋体"/>
                <a:cs typeface="宋体"/>
              </a:rPr>
              <a:t>条指令的哈夫曼编码 平均码长：</a:t>
            </a:r>
            <a:r>
              <a:rPr dirty="0" baseline="23148" sz="3600" spc="-7" i="1">
                <a:latin typeface="Times New Roman"/>
                <a:cs typeface="Times New Roman"/>
              </a:rPr>
              <a:t>L</a:t>
            </a:r>
            <a:r>
              <a:rPr dirty="0" baseline="23148" sz="3600" i="1">
                <a:latin typeface="Times New Roman"/>
                <a:cs typeface="Times New Roman"/>
              </a:rPr>
              <a:t> </a:t>
            </a:r>
            <a:r>
              <a:rPr dirty="0" baseline="23148" sz="3600">
                <a:latin typeface="Symbol"/>
                <a:cs typeface="Symbol"/>
              </a:rPr>
              <a:t></a:t>
            </a:r>
            <a:r>
              <a:rPr dirty="0" baseline="23148" sz="3600" spc="-52">
                <a:latin typeface="Times New Roman"/>
                <a:cs typeface="Times New Roman"/>
              </a:rPr>
              <a:t> </a:t>
            </a:r>
            <a:r>
              <a:rPr dirty="0" baseline="6088" sz="5475">
                <a:latin typeface="Symbol"/>
                <a:cs typeface="Symbol"/>
              </a:rPr>
              <a:t></a:t>
            </a:r>
            <a:r>
              <a:rPr dirty="0" baseline="6088" sz="5475" spc="-405">
                <a:latin typeface="Times New Roman"/>
                <a:cs typeface="Times New Roman"/>
              </a:rPr>
              <a:t> </a:t>
            </a:r>
            <a:r>
              <a:rPr dirty="0" baseline="23148" sz="3600" i="1">
                <a:latin typeface="Times New Roman"/>
                <a:cs typeface="Times New Roman"/>
              </a:rPr>
              <a:t>p</a:t>
            </a:r>
            <a:r>
              <a:rPr dirty="0" baseline="15873" sz="2100" i="1">
                <a:latin typeface="Times New Roman"/>
                <a:cs typeface="Times New Roman"/>
              </a:rPr>
              <a:t>i</a:t>
            </a:r>
            <a:r>
              <a:rPr dirty="0" baseline="23148" sz="3600" i="1">
                <a:latin typeface="Times New Roman"/>
                <a:cs typeface="Times New Roman"/>
              </a:rPr>
              <a:t>l</a:t>
            </a:r>
            <a:r>
              <a:rPr dirty="0" baseline="15873" sz="2100" i="1">
                <a:latin typeface="Times New Roman"/>
                <a:cs typeface="Times New Roman"/>
              </a:rPr>
              <a:t>i</a:t>
            </a:r>
            <a:r>
              <a:rPr dirty="0" baseline="15873" sz="2100" spc="150" i="1">
                <a:latin typeface="Times New Roman"/>
                <a:cs typeface="Times New Roman"/>
              </a:rPr>
              <a:t>  </a:t>
            </a:r>
            <a:r>
              <a:rPr dirty="0" baseline="23148" sz="3600">
                <a:latin typeface="Symbol"/>
                <a:cs typeface="Symbol"/>
              </a:rPr>
              <a:t></a:t>
            </a:r>
            <a:r>
              <a:rPr dirty="0" baseline="23148" sz="3600" spc="-22">
                <a:latin typeface="Times New Roman"/>
                <a:cs typeface="Times New Roman"/>
              </a:rPr>
              <a:t> </a:t>
            </a:r>
            <a:r>
              <a:rPr dirty="0" baseline="23148" sz="3600" spc="-30">
                <a:latin typeface="Times New Roman"/>
                <a:cs typeface="Times New Roman"/>
              </a:rPr>
              <a:t>2.20</a:t>
            </a:r>
            <a:endParaRPr baseline="23148" sz="3600">
              <a:latin typeface="Times New Roman"/>
              <a:cs typeface="Times New Roman"/>
            </a:endParaRPr>
          </a:p>
        </p:txBody>
      </p:sp>
      <p:sp>
        <p:nvSpPr>
          <p:cNvPr id="16" name="object 16" descr=""/>
          <p:cNvSpPr/>
          <p:nvPr/>
        </p:nvSpPr>
        <p:spPr>
          <a:xfrm>
            <a:off x="7193026" y="1838325"/>
            <a:ext cx="360680" cy="393700"/>
          </a:xfrm>
          <a:custGeom>
            <a:avLst/>
            <a:gdLst/>
            <a:ahLst/>
            <a:cxnLst/>
            <a:rect l="l" t="t" r="r" b="b"/>
            <a:pathLst>
              <a:path w="360679" h="393700">
                <a:moveTo>
                  <a:pt x="0" y="196850"/>
                </a:moveTo>
                <a:lnTo>
                  <a:pt x="6434" y="144521"/>
                </a:lnTo>
                <a:lnTo>
                  <a:pt x="24590" y="97498"/>
                </a:lnTo>
                <a:lnTo>
                  <a:pt x="52752" y="57658"/>
                </a:lnTo>
                <a:lnTo>
                  <a:pt x="89201" y="26876"/>
                </a:lnTo>
                <a:lnTo>
                  <a:pt x="132218" y="7032"/>
                </a:lnTo>
                <a:lnTo>
                  <a:pt x="180085" y="0"/>
                </a:lnTo>
                <a:lnTo>
                  <a:pt x="228007" y="7032"/>
                </a:lnTo>
                <a:lnTo>
                  <a:pt x="271060" y="26876"/>
                </a:lnTo>
                <a:lnTo>
                  <a:pt x="307530" y="57658"/>
                </a:lnTo>
                <a:lnTo>
                  <a:pt x="335703" y="97498"/>
                </a:lnTo>
                <a:lnTo>
                  <a:pt x="353864" y="144521"/>
                </a:lnTo>
                <a:lnTo>
                  <a:pt x="360299" y="196850"/>
                </a:lnTo>
                <a:lnTo>
                  <a:pt x="353864" y="249178"/>
                </a:lnTo>
                <a:lnTo>
                  <a:pt x="335703" y="296201"/>
                </a:lnTo>
                <a:lnTo>
                  <a:pt x="307530" y="336041"/>
                </a:lnTo>
                <a:lnTo>
                  <a:pt x="271060" y="366823"/>
                </a:lnTo>
                <a:lnTo>
                  <a:pt x="228007" y="386667"/>
                </a:lnTo>
                <a:lnTo>
                  <a:pt x="180085" y="393700"/>
                </a:lnTo>
                <a:lnTo>
                  <a:pt x="132218" y="386667"/>
                </a:lnTo>
                <a:lnTo>
                  <a:pt x="89201" y="366823"/>
                </a:lnTo>
                <a:lnTo>
                  <a:pt x="52752" y="336041"/>
                </a:lnTo>
                <a:lnTo>
                  <a:pt x="24590" y="296201"/>
                </a:lnTo>
                <a:lnTo>
                  <a:pt x="6434" y="249178"/>
                </a:lnTo>
                <a:lnTo>
                  <a:pt x="0" y="196850"/>
                </a:lnTo>
                <a:close/>
              </a:path>
            </a:pathLst>
          </a:custGeom>
          <a:ln w="19050">
            <a:solidFill>
              <a:srgbClr val="FF09FF"/>
            </a:solidFill>
          </a:ln>
        </p:spPr>
        <p:txBody>
          <a:bodyPr wrap="square" lIns="0" tIns="0" rIns="0" bIns="0" rtlCol="0"/>
          <a:lstStyle/>
          <a:p/>
        </p:txBody>
      </p:sp>
      <p:sp>
        <p:nvSpPr>
          <p:cNvPr id="17" name="object 17" descr=""/>
          <p:cNvSpPr/>
          <p:nvPr/>
        </p:nvSpPr>
        <p:spPr>
          <a:xfrm>
            <a:off x="5846826" y="1849501"/>
            <a:ext cx="697230" cy="793750"/>
          </a:xfrm>
          <a:custGeom>
            <a:avLst/>
            <a:gdLst/>
            <a:ahLst/>
            <a:cxnLst/>
            <a:rect l="l" t="t" r="r" b="b"/>
            <a:pathLst>
              <a:path w="697229" h="793750">
                <a:moveTo>
                  <a:pt x="0" y="196850"/>
                </a:moveTo>
                <a:lnTo>
                  <a:pt x="6434" y="144477"/>
                </a:lnTo>
                <a:lnTo>
                  <a:pt x="24590" y="97441"/>
                </a:lnTo>
                <a:lnTo>
                  <a:pt x="52752" y="57610"/>
                </a:lnTo>
                <a:lnTo>
                  <a:pt x="89201" y="26848"/>
                </a:lnTo>
                <a:lnTo>
                  <a:pt x="132218" y="7023"/>
                </a:lnTo>
                <a:lnTo>
                  <a:pt x="180086" y="0"/>
                </a:lnTo>
                <a:lnTo>
                  <a:pt x="228007" y="7023"/>
                </a:lnTo>
                <a:lnTo>
                  <a:pt x="271060" y="26848"/>
                </a:lnTo>
                <a:lnTo>
                  <a:pt x="307530" y="57610"/>
                </a:lnTo>
                <a:lnTo>
                  <a:pt x="335703" y="97441"/>
                </a:lnTo>
                <a:lnTo>
                  <a:pt x="353864" y="144477"/>
                </a:lnTo>
                <a:lnTo>
                  <a:pt x="360299" y="196850"/>
                </a:lnTo>
                <a:lnTo>
                  <a:pt x="353864" y="249178"/>
                </a:lnTo>
                <a:lnTo>
                  <a:pt x="335703" y="296201"/>
                </a:lnTo>
                <a:lnTo>
                  <a:pt x="307530" y="336041"/>
                </a:lnTo>
                <a:lnTo>
                  <a:pt x="271060" y="366823"/>
                </a:lnTo>
                <a:lnTo>
                  <a:pt x="228007" y="386667"/>
                </a:lnTo>
                <a:lnTo>
                  <a:pt x="180086" y="393700"/>
                </a:lnTo>
                <a:lnTo>
                  <a:pt x="132218" y="386667"/>
                </a:lnTo>
                <a:lnTo>
                  <a:pt x="89201" y="366823"/>
                </a:lnTo>
                <a:lnTo>
                  <a:pt x="52752" y="336041"/>
                </a:lnTo>
                <a:lnTo>
                  <a:pt x="24590" y="296201"/>
                </a:lnTo>
                <a:lnTo>
                  <a:pt x="6434" y="249178"/>
                </a:lnTo>
                <a:lnTo>
                  <a:pt x="0" y="196850"/>
                </a:lnTo>
                <a:close/>
              </a:path>
              <a:path w="697229" h="793750">
                <a:moveTo>
                  <a:pt x="338074" y="596900"/>
                </a:moveTo>
                <a:lnTo>
                  <a:pt x="344478" y="544527"/>
                </a:lnTo>
                <a:lnTo>
                  <a:pt x="362552" y="497491"/>
                </a:lnTo>
                <a:lnTo>
                  <a:pt x="390588" y="457660"/>
                </a:lnTo>
                <a:lnTo>
                  <a:pt x="426879" y="426898"/>
                </a:lnTo>
                <a:lnTo>
                  <a:pt x="469718" y="407073"/>
                </a:lnTo>
                <a:lnTo>
                  <a:pt x="517398" y="400050"/>
                </a:lnTo>
                <a:lnTo>
                  <a:pt x="565130" y="407073"/>
                </a:lnTo>
                <a:lnTo>
                  <a:pt x="608005" y="426898"/>
                </a:lnTo>
                <a:lnTo>
                  <a:pt x="644318" y="457660"/>
                </a:lnTo>
                <a:lnTo>
                  <a:pt x="672366" y="497491"/>
                </a:lnTo>
                <a:lnTo>
                  <a:pt x="690444" y="544527"/>
                </a:lnTo>
                <a:lnTo>
                  <a:pt x="696849" y="596900"/>
                </a:lnTo>
                <a:lnTo>
                  <a:pt x="690444" y="649228"/>
                </a:lnTo>
                <a:lnTo>
                  <a:pt x="672366" y="696251"/>
                </a:lnTo>
                <a:lnTo>
                  <a:pt x="644318" y="736091"/>
                </a:lnTo>
                <a:lnTo>
                  <a:pt x="608005" y="766873"/>
                </a:lnTo>
                <a:lnTo>
                  <a:pt x="565130" y="786717"/>
                </a:lnTo>
                <a:lnTo>
                  <a:pt x="517398" y="793750"/>
                </a:lnTo>
                <a:lnTo>
                  <a:pt x="469718" y="786717"/>
                </a:lnTo>
                <a:lnTo>
                  <a:pt x="426879" y="766873"/>
                </a:lnTo>
                <a:lnTo>
                  <a:pt x="390588" y="736091"/>
                </a:lnTo>
                <a:lnTo>
                  <a:pt x="362552" y="696251"/>
                </a:lnTo>
                <a:lnTo>
                  <a:pt x="344478" y="649228"/>
                </a:lnTo>
                <a:lnTo>
                  <a:pt x="338074" y="596900"/>
                </a:lnTo>
                <a:close/>
              </a:path>
            </a:pathLst>
          </a:custGeom>
          <a:ln w="19050">
            <a:solidFill>
              <a:srgbClr val="FF09FF"/>
            </a:solidFill>
          </a:ln>
        </p:spPr>
        <p:txBody>
          <a:bodyPr wrap="square" lIns="0" tIns="0" rIns="0" bIns="0" rtlCol="0"/>
          <a:lstStyle/>
          <a:p/>
        </p:txBody>
      </p:sp>
      <p:sp>
        <p:nvSpPr>
          <p:cNvPr id="18" name="object 18" descr=""/>
          <p:cNvSpPr/>
          <p:nvPr/>
        </p:nvSpPr>
        <p:spPr>
          <a:xfrm>
            <a:off x="4511675" y="1838325"/>
            <a:ext cx="527050" cy="814705"/>
          </a:xfrm>
          <a:custGeom>
            <a:avLst/>
            <a:gdLst/>
            <a:ahLst/>
            <a:cxnLst/>
            <a:rect l="l" t="t" r="r" b="b"/>
            <a:pathLst>
              <a:path w="527050" h="814705">
                <a:moveTo>
                  <a:pt x="0" y="196850"/>
                </a:moveTo>
                <a:lnTo>
                  <a:pt x="6434" y="144521"/>
                </a:lnTo>
                <a:lnTo>
                  <a:pt x="24595" y="97498"/>
                </a:lnTo>
                <a:lnTo>
                  <a:pt x="52768" y="57658"/>
                </a:lnTo>
                <a:lnTo>
                  <a:pt x="89238" y="26876"/>
                </a:lnTo>
                <a:lnTo>
                  <a:pt x="132291" y="7032"/>
                </a:lnTo>
                <a:lnTo>
                  <a:pt x="180212" y="0"/>
                </a:lnTo>
                <a:lnTo>
                  <a:pt x="228090" y="7032"/>
                </a:lnTo>
                <a:lnTo>
                  <a:pt x="271130" y="26876"/>
                </a:lnTo>
                <a:lnTo>
                  <a:pt x="307609" y="57658"/>
                </a:lnTo>
                <a:lnTo>
                  <a:pt x="335802" y="97498"/>
                </a:lnTo>
                <a:lnTo>
                  <a:pt x="353982" y="144521"/>
                </a:lnTo>
                <a:lnTo>
                  <a:pt x="360425" y="196850"/>
                </a:lnTo>
                <a:lnTo>
                  <a:pt x="353982" y="249178"/>
                </a:lnTo>
                <a:lnTo>
                  <a:pt x="335802" y="296201"/>
                </a:lnTo>
                <a:lnTo>
                  <a:pt x="307609" y="336041"/>
                </a:lnTo>
                <a:lnTo>
                  <a:pt x="271130" y="366823"/>
                </a:lnTo>
                <a:lnTo>
                  <a:pt x="228090" y="386667"/>
                </a:lnTo>
                <a:lnTo>
                  <a:pt x="180212" y="393700"/>
                </a:lnTo>
                <a:lnTo>
                  <a:pt x="132291" y="386667"/>
                </a:lnTo>
                <a:lnTo>
                  <a:pt x="89238" y="366823"/>
                </a:lnTo>
                <a:lnTo>
                  <a:pt x="52768" y="336041"/>
                </a:lnTo>
                <a:lnTo>
                  <a:pt x="24595" y="296201"/>
                </a:lnTo>
                <a:lnTo>
                  <a:pt x="6434" y="249178"/>
                </a:lnTo>
                <a:lnTo>
                  <a:pt x="0" y="196850"/>
                </a:lnTo>
                <a:close/>
              </a:path>
              <a:path w="527050" h="814705">
                <a:moveTo>
                  <a:pt x="168275" y="618363"/>
                </a:moveTo>
                <a:lnTo>
                  <a:pt x="174679" y="566223"/>
                </a:lnTo>
                <a:lnTo>
                  <a:pt x="192753" y="519378"/>
                </a:lnTo>
                <a:lnTo>
                  <a:pt x="220789" y="479694"/>
                </a:lnTo>
                <a:lnTo>
                  <a:pt x="257080" y="449039"/>
                </a:lnTo>
                <a:lnTo>
                  <a:pt x="299919" y="429277"/>
                </a:lnTo>
                <a:lnTo>
                  <a:pt x="347599" y="422275"/>
                </a:lnTo>
                <a:lnTo>
                  <a:pt x="395331" y="429277"/>
                </a:lnTo>
                <a:lnTo>
                  <a:pt x="438206" y="449039"/>
                </a:lnTo>
                <a:lnTo>
                  <a:pt x="474519" y="479694"/>
                </a:lnTo>
                <a:lnTo>
                  <a:pt x="502567" y="519378"/>
                </a:lnTo>
                <a:lnTo>
                  <a:pt x="520645" y="566223"/>
                </a:lnTo>
                <a:lnTo>
                  <a:pt x="527050" y="618363"/>
                </a:lnTo>
                <a:lnTo>
                  <a:pt x="520645" y="670458"/>
                </a:lnTo>
                <a:lnTo>
                  <a:pt x="502567" y="717291"/>
                </a:lnTo>
                <a:lnTo>
                  <a:pt x="474519" y="756983"/>
                </a:lnTo>
                <a:lnTo>
                  <a:pt x="438206" y="787658"/>
                </a:lnTo>
                <a:lnTo>
                  <a:pt x="395331" y="807440"/>
                </a:lnTo>
                <a:lnTo>
                  <a:pt x="347599" y="814451"/>
                </a:lnTo>
                <a:lnTo>
                  <a:pt x="299919" y="807440"/>
                </a:lnTo>
                <a:lnTo>
                  <a:pt x="257080" y="787658"/>
                </a:lnTo>
                <a:lnTo>
                  <a:pt x="220789" y="756983"/>
                </a:lnTo>
                <a:lnTo>
                  <a:pt x="192753" y="717291"/>
                </a:lnTo>
                <a:lnTo>
                  <a:pt x="174679" y="670458"/>
                </a:lnTo>
                <a:lnTo>
                  <a:pt x="168275" y="618363"/>
                </a:lnTo>
                <a:close/>
              </a:path>
            </a:pathLst>
          </a:custGeom>
          <a:ln w="19050">
            <a:solidFill>
              <a:srgbClr val="FF09FF"/>
            </a:solidFill>
          </a:ln>
        </p:spPr>
        <p:txBody>
          <a:bodyPr wrap="square" lIns="0" tIns="0" rIns="0" bIns="0" rtlCol="0"/>
          <a:lstStyle/>
          <a:p/>
        </p:txBody>
      </p:sp>
      <p:sp>
        <p:nvSpPr>
          <p:cNvPr id="19" name="object 19" descr=""/>
          <p:cNvSpPr/>
          <p:nvPr/>
        </p:nvSpPr>
        <p:spPr>
          <a:xfrm>
            <a:off x="3143250" y="1838325"/>
            <a:ext cx="504825" cy="840105"/>
          </a:xfrm>
          <a:custGeom>
            <a:avLst/>
            <a:gdLst/>
            <a:ahLst/>
            <a:cxnLst/>
            <a:rect l="l" t="t" r="r" b="b"/>
            <a:pathLst>
              <a:path w="504825" h="840105">
                <a:moveTo>
                  <a:pt x="0" y="196850"/>
                </a:moveTo>
                <a:lnTo>
                  <a:pt x="6434" y="144521"/>
                </a:lnTo>
                <a:lnTo>
                  <a:pt x="24595" y="97498"/>
                </a:lnTo>
                <a:lnTo>
                  <a:pt x="52768" y="57658"/>
                </a:lnTo>
                <a:lnTo>
                  <a:pt x="89238" y="26876"/>
                </a:lnTo>
                <a:lnTo>
                  <a:pt x="132291" y="7032"/>
                </a:lnTo>
                <a:lnTo>
                  <a:pt x="180212" y="0"/>
                </a:lnTo>
                <a:lnTo>
                  <a:pt x="228090" y="7032"/>
                </a:lnTo>
                <a:lnTo>
                  <a:pt x="271130" y="26876"/>
                </a:lnTo>
                <a:lnTo>
                  <a:pt x="307609" y="57658"/>
                </a:lnTo>
                <a:lnTo>
                  <a:pt x="335802" y="97498"/>
                </a:lnTo>
                <a:lnTo>
                  <a:pt x="353982" y="144521"/>
                </a:lnTo>
                <a:lnTo>
                  <a:pt x="360425" y="196850"/>
                </a:lnTo>
                <a:lnTo>
                  <a:pt x="353982" y="249178"/>
                </a:lnTo>
                <a:lnTo>
                  <a:pt x="335802" y="296201"/>
                </a:lnTo>
                <a:lnTo>
                  <a:pt x="307609" y="336041"/>
                </a:lnTo>
                <a:lnTo>
                  <a:pt x="271130" y="366823"/>
                </a:lnTo>
                <a:lnTo>
                  <a:pt x="228090" y="386667"/>
                </a:lnTo>
                <a:lnTo>
                  <a:pt x="180212" y="393700"/>
                </a:lnTo>
                <a:lnTo>
                  <a:pt x="132291" y="386667"/>
                </a:lnTo>
                <a:lnTo>
                  <a:pt x="89238" y="366823"/>
                </a:lnTo>
                <a:lnTo>
                  <a:pt x="52768" y="336041"/>
                </a:lnTo>
                <a:lnTo>
                  <a:pt x="24595" y="296201"/>
                </a:lnTo>
                <a:lnTo>
                  <a:pt x="6434" y="249178"/>
                </a:lnTo>
                <a:lnTo>
                  <a:pt x="0" y="196850"/>
                </a:lnTo>
                <a:close/>
              </a:path>
              <a:path w="504825" h="840105">
                <a:moveTo>
                  <a:pt x="144525" y="643763"/>
                </a:moveTo>
                <a:lnTo>
                  <a:pt x="150960" y="591623"/>
                </a:lnTo>
                <a:lnTo>
                  <a:pt x="169116" y="544778"/>
                </a:lnTo>
                <a:lnTo>
                  <a:pt x="197278" y="505094"/>
                </a:lnTo>
                <a:lnTo>
                  <a:pt x="233727" y="474439"/>
                </a:lnTo>
                <a:lnTo>
                  <a:pt x="276744" y="454677"/>
                </a:lnTo>
                <a:lnTo>
                  <a:pt x="324612" y="447675"/>
                </a:lnTo>
                <a:lnTo>
                  <a:pt x="372533" y="454677"/>
                </a:lnTo>
                <a:lnTo>
                  <a:pt x="415586" y="474439"/>
                </a:lnTo>
                <a:lnTo>
                  <a:pt x="452056" y="505094"/>
                </a:lnTo>
                <a:lnTo>
                  <a:pt x="480229" y="544778"/>
                </a:lnTo>
                <a:lnTo>
                  <a:pt x="498390" y="591623"/>
                </a:lnTo>
                <a:lnTo>
                  <a:pt x="504825" y="643763"/>
                </a:lnTo>
                <a:lnTo>
                  <a:pt x="498390" y="695849"/>
                </a:lnTo>
                <a:lnTo>
                  <a:pt x="480229" y="742658"/>
                </a:lnTo>
                <a:lnTo>
                  <a:pt x="452056" y="782320"/>
                </a:lnTo>
                <a:lnTo>
                  <a:pt x="415586" y="812964"/>
                </a:lnTo>
                <a:lnTo>
                  <a:pt x="372533" y="832722"/>
                </a:lnTo>
                <a:lnTo>
                  <a:pt x="324612" y="839724"/>
                </a:lnTo>
                <a:lnTo>
                  <a:pt x="276744" y="832722"/>
                </a:lnTo>
                <a:lnTo>
                  <a:pt x="233727" y="812964"/>
                </a:lnTo>
                <a:lnTo>
                  <a:pt x="197278" y="782319"/>
                </a:lnTo>
                <a:lnTo>
                  <a:pt x="169116" y="742658"/>
                </a:lnTo>
                <a:lnTo>
                  <a:pt x="150960" y="695849"/>
                </a:lnTo>
                <a:lnTo>
                  <a:pt x="144525" y="643763"/>
                </a:lnTo>
                <a:close/>
              </a:path>
            </a:pathLst>
          </a:custGeom>
          <a:ln w="19050">
            <a:solidFill>
              <a:srgbClr val="FF09FF"/>
            </a:solidFill>
          </a:ln>
        </p:spPr>
        <p:txBody>
          <a:bodyPr wrap="square" lIns="0" tIns="0" rIns="0" bIns="0" rtlCol="0"/>
          <a:lstStyle/>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0" y="2697733"/>
            <a:ext cx="12192000" cy="4160520"/>
            <a:chOff x="0" y="2697733"/>
            <a:chExt cx="12192000" cy="4160520"/>
          </a:xfrm>
        </p:grpSpPr>
        <p:sp>
          <p:nvSpPr>
            <p:cNvPr id="3" name="object 3"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4" name="object 4" descr=""/>
            <p:cNvSpPr/>
            <p:nvPr/>
          </p:nvSpPr>
          <p:spPr>
            <a:xfrm>
              <a:off x="1692275" y="4084700"/>
              <a:ext cx="8641080" cy="631825"/>
            </a:xfrm>
            <a:custGeom>
              <a:avLst/>
              <a:gdLst/>
              <a:ahLst/>
              <a:cxnLst/>
              <a:rect l="l" t="t" r="r" b="b"/>
              <a:pathLst>
                <a:path w="8641080" h="631825">
                  <a:moveTo>
                    <a:pt x="8640826" y="0"/>
                  </a:moveTo>
                  <a:lnTo>
                    <a:pt x="0" y="0"/>
                  </a:lnTo>
                  <a:lnTo>
                    <a:pt x="0" y="631825"/>
                  </a:lnTo>
                  <a:lnTo>
                    <a:pt x="8640826" y="631825"/>
                  </a:lnTo>
                  <a:lnTo>
                    <a:pt x="8640826" y="0"/>
                  </a:lnTo>
                  <a:close/>
                </a:path>
              </a:pathLst>
            </a:custGeom>
            <a:solidFill>
              <a:srgbClr val="ABADD9"/>
            </a:solidFill>
          </p:spPr>
          <p:txBody>
            <a:bodyPr wrap="square" lIns="0" tIns="0" rIns="0" bIns="0" rtlCol="0"/>
            <a:lstStyle/>
            <a:p/>
          </p:txBody>
        </p:sp>
        <p:sp>
          <p:nvSpPr>
            <p:cNvPr id="5" name="object 5" descr=""/>
            <p:cNvSpPr/>
            <p:nvPr/>
          </p:nvSpPr>
          <p:spPr>
            <a:xfrm>
              <a:off x="7237476" y="3781425"/>
              <a:ext cx="317500" cy="389255"/>
            </a:xfrm>
            <a:custGeom>
              <a:avLst/>
              <a:gdLst/>
              <a:ahLst/>
              <a:cxnLst/>
              <a:rect l="l" t="t" r="r" b="b"/>
              <a:pathLst>
                <a:path w="317500" h="389254">
                  <a:moveTo>
                    <a:pt x="238125" y="0"/>
                  </a:moveTo>
                  <a:lnTo>
                    <a:pt x="79375" y="0"/>
                  </a:lnTo>
                  <a:lnTo>
                    <a:pt x="79375" y="230124"/>
                  </a:lnTo>
                  <a:lnTo>
                    <a:pt x="0" y="230124"/>
                  </a:lnTo>
                  <a:lnTo>
                    <a:pt x="158750" y="388874"/>
                  </a:lnTo>
                  <a:lnTo>
                    <a:pt x="317500" y="230124"/>
                  </a:lnTo>
                  <a:lnTo>
                    <a:pt x="238125" y="230124"/>
                  </a:lnTo>
                  <a:lnTo>
                    <a:pt x="238125" y="0"/>
                  </a:lnTo>
                  <a:close/>
                </a:path>
              </a:pathLst>
            </a:custGeom>
            <a:solidFill>
              <a:srgbClr val="FFACFF"/>
            </a:solidFill>
          </p:spPr>
          <p:txBody>
            <a:bodyPr wrap="square" lIns="0" tIns="0" rIns="0" bIns="0" rtlCol="0"/>
            <a:lstStyle/>
            <a:p/>
          </p:txBody>
        </p:sp>
        <p:sp>
          <p:nvSpPr>
            <p:cNvPr id="6" name="object 6" descr=""/>
            <p:cNvSpPr/>
            <p:nvPr/>
          </p:nvSpPr>
          <p:spPr>
            <a:xfrm>
              <a:off x="7237476" y="3781425"/>
              <a:ext cx="317500" cy="389255"/>
            </a:xfrm>
            <a:custGeom>
              <a:avLst/>
              <a:gdLst/>
              <a:ahLst/>
              <a:cxnLst/>
              <a:rect l="l" t="t" r="r" b="b"/>
              <a:pathLst>
                <a:path w="317500" h="389254">
                  <a:moveTo>
                    <a:pt x="0" y="230124"/>
                  </a:moveTo>
                  <a:lnTo>
                    <a:pt x="79375" y="230124"/>
                  </a:lnTo>
                  <a:lnTo>
                    <a:pt x="79375" y="0"/>
                  </a:lnTo>
                  <a:lnTo>
                    <a:pt x="238125" y="0"/>
                  </a:lnTo>
                  <a:lnTo>
                    <a:pt x="238125" y="230124"/>
                  </a:lnTo>
                  <a:lnTo>
                    <a:pt x="317500" y="230124"/>
                  </a:lnTo>
                  <a:lnTo>
                    <a:pt x="158750" y="388874"/>
                  </a:lnTo>
                  <a:lnTo>
                    <a:pt x="0" y="230124"/>
                  </a:lnTo>
                  <a:close/>
                </a:path>
              </a:pathLst>
            </a:custGeom>
            <a:ln w="9525">
              <a:solidFill>
                <a:srgbClr val="40458B"/>
              </a:solidFill>
            </a:ln>
          </p:spPr>
          <p:txBody>
            <a:bodyPr wrap="square" lIns="0" tIns="0" rIns="0" bIns="0" rtlCol="0"/>
            <a:lstStyle/>
            <a:p/>
          </p:txBody>
        </p:sp>
        <p:pic>
          <p:nvPicPr>
            <p:cNvPr id="7" name="object 7"/>
            <p:cNvPicPr/>
            <p:nvPr/>
          </p:nvPicPr>
          <p:blipFill>
            <a:blip r:embed="rId2" cstate="print"/>
            <a:stretch>
              <a:fillRect/>
            </a:stretch>
          </p:blipFill>
          <p:spPr>
            <a:xfrm>
              <a:off x="1692401" y="2697733"/>
              <a:ext cx="4598035" cy="1586483"/>
            </a:xfrm>
            <a:prstGeom prst="rect">
              <a:avLst/>
            </a:prstGeom>
          </p:spPr>
        </p:pic>
        <p:pic>
          <p:nvPicPr>
            <p:cNvPr id="8" name="object 8"/>
            <p:cNvPicPr/>
            <p:nvPr/>
          </p:nvPicPr>
          <p:blipFill>
            <a:blip r:embed="rId3" cstate="print"/>
            <a:stretch>
              <a:fillRect/>
            </a:stretch>
          </p:blipFill>
          <p:spPr>
            <a:xfrm>
              <a:off x="1659889" y="4707521"/>
              <a:ext cx="6110223" cy="2150476"/>
            </a:xfrm>
            <a:prstGeom prst="rect">
              <a:avLst/>
            </a:prstGeom>
          </p:spPr>
        </p:pic>
        <p:sp>
          <p:nvSpPr>
            <p:cNvPr id="9" name="object 9" descr=""/>
            <p:cNvSpPr/>
            <p:nvPr/>
          </p:nvSpPr>
          <p:spPr>
            <a:xfrm>
              <a:off x="6936417" y="5424408"/>
              <a:ext cx="883285" cy="0"/>
            </a:xfrm>
            <a:custGeom>
              <a:avLst/>
              <a:gdLst/>
              <a:ahLst/>
              <a:cxnLst/>
              <a:rect l="l" t="t" r="r" b="b"/>
              <a:pathLst>
                <a:path w="883284" h="0">
                  <a:moveTo>
                    <a:pt x="0" y="0"/>
                  </a:moveTo>
                  <a:lnTo>
                    <a:pt x="882824" y="0"/>
                  </a:lnTo>
                </a:path>
              </a:pathLst>
            </a:custGeom>
            <a:ln w="13232">
              <a:solidFill>
                <a:srgbClr val="000000"/>
              </a:solidFill>
            </a:ln>
          </p:spPr>
          <p:txBody>
            <a:bodyPr wrap="square" lIns="0" tIns="0" rIns="0" bIns="0" rtlCol="0"/>
            <a:lstStyle/>
            <a:p/>
          </p:txBody>
        </p:sp>
        <p:sp>
          <p:nvSpPr>
            <p:cNvPr id="10" name="object 10" descr=""/>
            <p:cNvSpPr/>
            <p:nvPr/>
          </p:nvSpPr>
          <p:spPr>
            <a:xfrm>
              <a:off x="2424176" y="5975349"/>
              <a:ext cx="8641080" cy="631825"/>
            </a:xfrm>
            <a:custGeom>
              <a:avLst/>
              <a:gdLst/>
              <a:ahLst/>
              <a:cxnLst/>
              <a:rect l="l" t="t" r="r" b="b"/>
              <a:pathLst>
                <a:path w="8641080" h="631825">
                  <a:moveTo>
                    <a:pt x="8640699" y="0"/>
                  </a:moveTo>
                  <a:lnTo>
                    <a:pt x="0" y="0"/>
                  </a:lnTo>
                  <a:lnTo>
                    <a:pt x="0" y="631825"/>
                  </a:lnTo>
                  <a:lnTo>
                    <a:pt x="8640699" y="631825"/>
                  </a:lnTo>
                  <a:lnTo>
                    <a:pt x="8640699" y="0"/>
                  </a:lnTo>
                  <a:close/>
                </a:path>
              </a:pathLst>
            </a:custGeom>
            <a:solidFill>
              <a:srgbClr val="ABADD9"/>
            </a:solidFill>
          </p:spPr>
          <p:txBody>
            <a:bodyPr wrap="square" lIns="0" tIns="0" rIns="0" bIns="0" rtlCol="0"/>
            <a:lstStyle/>
            <a:p/>
          </p:txBody>
        </p:sp>
      </p:grpSp>
      <p:sp>
        <p:nvSpPr>
          <p:cNvPr id="11" name="object 11"/>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567815"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12" name="object 12" descr=""/>
          <p:cNvSpPr/>
          <p:nvPr/>
        </p:nvSpPr>
        <p:spPr>
          <a:xfrm>
            <a:off x="6501451" y="3281346"/>
            <a:ext cx="1206500" cy="0"/>
          </a:xfrm>
          <a:custGeom>
            <a:avLst/>
            <a:gdLst/>
            <a:ahLst/>
            <a:cxnLst/>
            <a:rect l="l" t="t" r="r" b="b"/>
            <a:pathLst>
              <a:path w="1206500" h="0">
                <a:moveTo>
                  <a:pt x="0" y="0"/>
                </a:moveTo>
                <a:lnTo>
                  <a:pt x="1206283" y="0"/>
                </a:lnTo>
              </a:path>
            </a:pathLst>
          </a:custGeom>
          <a:ln w="11026">
            <a:solidFill>
              <a:srgbClr val="000000"/>
            </a:solidFill>
          </a:ln>
        </p:spPr>
        <p:txBody>
          <a:bodyPr wrap="square" lIns="0" tIns="0" rIns="0" bIns="0" rtlCol="0"/>
          <a:lstStyle/>
          <a:p/>
        </p:txBody>
      </p:sp>
      <p:sp>
        <p:nvSpPr>
          <p:cNvPr id="13" name="object 13" descr=""/>
          <p:cNvSpPr txBox="1"/>
          <p:nvPr/>
        </p:nvSpPr>
        <p:spPr>
          <a:xfrm>
            <a:off x="1695069" y="832418"/>
            <a:ext cx="8566785" cy="5621020"/>
          </a:xfrm>
          <a:prstGeom prst="rect">
            <a:avLst/>
          </a:prstGeom>
        </p:spPr>
        <p:txBody>
          <a:bodyPr wrap="square" lIns="0" tIns="31750" rIns="0" bIns="0" rtlCol="0" vert="horz">
            <a:spAutoFit/>
          </a:bodyPr>
          <a:lstStyle/>
          <a:p>
            <a:pPr marL="546100" marR="81280" indent="-457200">
              <a:lnSpc>
                <a:spcPct val="128099"/>
              </a:lnSpc>
              <a:spcBef>
                <a:spcPts val="250"/>
              </a:spcBef>
              <a:buClr>
                <a:srgbClr val="40458B"/>
              </a:buClr>
              <a:buFont typeface="Wingdings"/>
              <a:buChar char=""/>
              <a:tabLst>
                <a:tab pos="546100" algn="l"/>
              </a:tabLst>
            </a:pPr>
            <a:r>
              <a:rPr dirty="0" sz="2800" spc="-25" b="1">
                <a:solidFill>
                  <a:srgbClr val="FF0000"/>
                </a:solidFill>
                <a:latin typeface="宋体"/>
                <a:cs typeface="宋体"/>
              </a:rPr>
              <a:t>信息冗余量：</a:t>
            </a:r>
            <a:r>
              <a:rPr dirty="0" sz="2400" spc="-5">
                <a:solidFill>
                  <a:srgbClr val="006FC0"/>
                </a:solidFill>
                <a:latin typeface="黑体"/>
                <a:cs typeface="黑体"/>
              </a:rPr>
              <a:t>信息冗余量是指在信息传输或存储过程中，由于某些字符或信息的重复出现而产生的多余数据。</a:t>
            </a:r>
            <a:endParaRPr sz="2400">
              <a:latin typeface="黑体"/>
              <a:cs typeface="黑体"/>
            </a:endParaRPr>
          </a:p>
          <a:p>
            <a:pPr marL="545465" indent="-456565">
              <a:lnSpc>
                <a:spcPct val="100000"/>
              </a:lnSpc>
              <a:spcBef>
                <a:spcPts val="1605"/>
              </a:spcBef>
              <a:buClr>
                <a:srgbClr val="40458B"/>
              </a:buClr>
              <a:buFont typeface="Wingdings"/>
              <a:buChar char=""/>
              <a:tabLst>
                <a:tab pos="545465" algn="l"/>
              </a:tabLst>
            </a:pPr>
            <a:r>
              <a:rPr dirty="0" sz="2800" spc="-30" b="1">
                <a:solidFill>
                  <a:srgbClr val="FF0000"/>
                </a:solidFill>
                <a:latin typeface="宋体"/>
                <a:cs typeface="宋体"/>
              </a:rPr>
              <a:t>结合本节案例，两种信息冗余量的计算如下：</a:t>
            </a:r>
            <a:endParaRPr sz="2800">
              <a:latin typeface="宋体"/>
              <a:cs typeface="宋体"/>
            </a:endParaRPr>
          </a:p>
          <a:p>
            <a:pPr algn="r" marR="1573530">
              <a:lnSpc>
                <a:spcPct val="100000"/>
              </a:lnSpc>
              <a:spcBef>
                <a:spcPts val="2975"/>
              </a:spcBef>
            </a:pPr>
            <a:r>
              <a:rPr dirty="0" sz="2150" spc="-40">
                <a:latin typeface="Times New Roman"/>
                <a:cs typeface="Times New Roman"/>
              </a:rPr>
              <a:t>2.20</a:t>
            </a:r>
            <a:r>
              <a:rPr dirty="0" sz="2150" spc="-40">
                <a:latin typeface="宋体"/>
                <a:cs typeface="宋体"/>
              </a:rPr>
              <a:t>－</a:t>
            </a:r>
            <a:r>
              <a:rPr dirty="0" sz="2150" spc="-40">
                <a:latin typeface="Times New Roman"/>
                <a:cs typeface="Times New Roman"/>
              </a:rPr>
              <a:t>2.17 </a:t>
            </a:r>
            <a:r>
              <a:rPr dirty="0" baseline="-34883" sz="3225">
                <a:latin typeface="Symbol"/>
                <a:cs typeface="Symbol"/>
              </a:rPr>
              <a:t></a:t>
            </a:r>
            <a:r>
              <a:rPr dirty="0" baseline="-34883" sz="3225" spc="-450">
                <a:latin typeface="Times New Roman"/>
                <a:cs typeface="Times New Roman"/>
              </a:rPr>
              <a:t> </a:t>
            </a:r>
            <a:r>
              <a:rPr dirty="0" baseline="-34883" sz="3225" spc="-15">
                <a:latin typeface="Times New Roman"/>
                <a:cs typeface="Times New Roman"/>
              </a:rPr>
              <a:t>1.36%</a:t>
            </a:r>
            <a:endParaRPr baseline="-34883" sz="3225">
              <a:latin typeface="Times New Roman"/>
              <a:cs typeface="Times New Roman"/>
            </a:endParaRPr>
          </a:p>
          <a:p>
            <a:pPr algn="ctr" marL="2273935">
              <a:lnSpc>
                <a:spcPct val="100000"/>
              </a:lnSpc>
              <a:spcBef>
                <a:spcPts val="434"/>
              </a:spcBef>
            </a:pPr>
            <a:r>
              <a:rPr dirty="0" sz="2150" spc="-20">
                <a:latin typeface="Times New Roman"/>
                <a:cs typeface="Times New Roman"/>
              </a:rPr>
              <a:t>2.20</a:t>
            </a:r>
            <a:endParaRPr sz="2150">
              <a:latin typeface="Times New Roman"/>
              <a:cs typeface="Times New Roman"/>
            </a:endParaRPr>
          </a:p>
          <a:p>
            <a:pPr>
              <a:lnSpc>
                <a:spcPct val="100000"/>
              </a:lnSpc>
              <a:spcBef>
                <a:spcPts val="1995"/>
              </a:spcBef>
            </a:pPr>
            <a:endParaRPr sz="2150">
              <a:latin typeface="Times New Roman"/>
              <a:cs typeface="Times New Roman"/>
            </a:endParaRPr>
          </a:p>
          <a:p>
            <a:pPr marL="88900">
              <a:lnSpc>
                <a:spcPct val="100000"/>
              </a:lnSpc>
              <a:spcBef>
                <a:spcPts val="5"/>
              </a:spcBef>
            </a:pPr>
            <a:r>
              <a:rPr dirty="0" sz="2400" spc="-25" b="1">
                <a:solidFill>
                  <a:srgbClr val="FF0000"/>
                </a:solidFill>
                <a:latin typeface="宋体"/>
                <a:cs typeface="宋体"/>
              </a:rPr>
              <a:t>说明：采用哈夫曼编码非常接近最短长度</a:t>
            </a:r>
            <a:r>
              <a:rPr dirty="0" sz="2400" spc="-10" b="1">
                <a:solidFill>
                  <a:srgbClr val="FF0000"/>
                </a:solidFill>
                <a:latin typeface="宋体"/>
                <a:cs typeface="宋体"/>
              </a:rPr>
              <a:t>2.17</a:t>
            </a:r>
            <a:r>
              <a:rPr dirty="0" sz="2400" spc="-25" b="1">
                <a:solidFill>
                  <a:srgbClr val="FF0000"/>
                </a:solidFill>
                <a:latin typeface="宋体"/>
                <a:cs typeface="宋体"/>
              </a:rPr>
              <a:t>，浪费了</a:t>
            </a:r>
            <a:r>
              <a:rPr dirty="0" sz="2400" spc="-10" b="1">
                <a:solidFill>
                  <a:srgbClr val="FF0000"/>
                </a:solidFill>
                <a:latin typeface="宋体"/>
                <a:cs typeface="宋体"/>
              </a:rPr>
              <a:t>1.36%</a:t>
            </a:r>
            <a:endParaRPr sz="2400">
              <a:latin typeface="宋体"/>
              <a:cs typeface="宋体"/>
            </a:endParaRPr>
          </a:p>
          <a:p>
            <a:pPr>
              <a:lnSpc>
                <a:spcPct val="100000"/>
              </a:lnSpc>
              <a:spcBef>
                <a:spcPts val="810"/>
              </a:spcBef>
            </a:pPr>
            <a:endParaRPr sz="2400">
              <a:latin typeface="宋体"/>
              <a:cs typeface="宋体"/>
            </a:endParaRPr>
          </a:p>
          <a:p>
            <a:pPr algn="r" marR="1652905">
              <a:lnSpc>
                <a:spcPct val="100000"/>
              </a:lnSpc>
            </a:pPr>
            <a:r>
              <a:rPr dirty="0" sz="2150" spc="-10">
                <a:latin typeface="Times New Roman"/>
                <a:cs typeface="Times New Roman"/>
              </a:rPr>
              <a:t>3</a:t>
            </a:r>
            <a:r>
              <a:rPr dirty="0" sz="2150" spc="-10">
                <a:latin typeface="宋体"/>
                <a:cs typeface="宋体"/>
              </a:rPr>
              <a:t>－</a:t>
            </a:r>
            <a:r>
              <a:rPr dirty="0" sz="2150" spc="-10">
                <a:latin typeface="Times New Roman"/>
                <a:cs typeface="Times New Roman"/>
              </a:rPr>
              <a:t>2.17 </a:t>
            </a:r>
            <a:r>
              <a:rPr dirty="0" baseline="-34883" sz="3225">
                <a:latin typeface="Symbol"/>
                <a:cs typeface="Symbol"/>
              </a:rPr>
              <a:t></a:t>
            </a:r>
            <a:r>
              <a:rPr dirty="0" baseline="-34883" sz="3225" spc="-202">
                <a:latin typeface="Times New Roman"/>
                <a:cs typeface="Times New Roman"/>
              </a:rPr>
              <a:t> </a:t>
            </a:r>
            <a:r>
              <a:rPr dirty="0" baseline="-34883" sz="3225" spc="-37">
                <a:latin typeface="Times New Roman"/>
                <a:cs typeface="Times New Roman"/>
              </a:rPr>
              <a:t>28%</a:t>
            </a:r>
            <a:endParaRPr baseline="-34883" sz="3225">
              <a:latin typeface="Times New Roman"/>
              <a:cs typeface="Times New Roman"/>
            </a:endParaRPr>
          </a:p>
          <a:p>
            <a:pPr marL="5619115">
              <a:lnSpc>
                <a:spcPct val="100000"/>
              </a:lnSpc>
              <a:spcBef>
                <a:spcPts val="430"/>
              </a:spcBef>
            </a:pPr>
            <a:r>
              <a:rPr dirty="0" sz="2150" spc="-50">
                <a:latin typeface="Times New Roman"/>
                <a:cs typeface="Times New Roman"/>
              </a:rPr>
              <a:t>3</a:t>
            </a:r>
            <a:endParaRPr sz="2150">
              <a:latin typeface="Times New Roman"/>
              <a:cs typeface="Times New Roman"/>
            </a:endParaRPr>
          </a:p>
          <a:p>
            <a:pPr>
              <a:lnSpc>
                <a:spcPct val="100000"/>
              </a:lnSpc>
              <a:spcBef>
                <a:spcPts val="15"/>
              </a:spcBef>
            </a:pPr>
            <a:endParaRPr sz="2150">
              <a:latin typeface="Times New Roman"/>
              <a:cs typeface="Times New Roman"/>
            </a:endParaRPr>
          </a:p>
          <a:p>
            <a:pPr marL="820419">
              <a:lnSpc>
                <a:spcPct val="100000"/>
              </a:lnSpc>
            </a:pPr>
            <a:r>
              <a:rPr dirty="0" sz="2400" spc="-20" b="1">
                <a:solidFill>
                  <a:srgbClr val="FF0000"/>
                </a:solidFill>
                <a:latin typeface="宋体"/>
                <a:cs typeface="宋体"/>
              </a:rPr>
              <a:t>说明：采用实际定长3位操作码编码，浪费了</a:t>
            </a:r>
            <a:r>
              <a:rPr dirty="0" sz="2400" spc="-25" b="1">
                <a:solidFill>
                  <a:srgbClr val="FF0000"/>
                </a:solidFill>
                <a:latin typeface="宋体"/>
                <a:cs typeface="宋体"/>
              </a:rPr>
              <a:t>28%</a:t>
            </a:r>
            <a:endParaRPr sz="2400">
              <a:latin typeface="宋体"/>
              <a:cs typeface="宋体"/>
            </a:endParaRPr>
          </a:p>
        </p:txBody>
      </p:sp>
      <p:grpSp>
        <p:nvGrpSpPr>
          <p:cNvPr id="14" name="object 14" descr=""/>
          <p:cNvGrpSpPr/>
          <p:nvPr/>
        </p:nvGrpSpPr>
        <p:grpSpPr>
          <a:xfrm>
            <a:off x="7964487" y="5667375"/>
            <a:ext cx="327025" cy="398780"/>
            <a:chOff x="7964487" y="5667375"/>
            <a:chExt cx="327025" cy="398780"/>
          </a:xfrm>
        </p:grpSpPr>
        <p:sp>
          <p:nvSpPr>
            <p:cNvPr id="15" name="object 15" descr=""/>
            <p:cNvSpPr/>
            <p:nvPr/>
          </p:nvSpPr>
          <p:spPr>
            <a:xfrm>
              <a:off x="7969250" y="5672137"/>
              <a:ext cx="317500" cy="389255"/>
            </a:xfrm>
            <a:custGeom>
              <a:avLst/>
              <a:gdLst/>
              <a:ahLst/>
              <a:cxnLst/>
              <a:rect l="l" t="t" r="r" b="b"/>
              <a:pathLst>
                <a:path w="317500" h="389254">
                  <a:moveTo>
                    <a:pt x="238125" y="0"/>
                  </a:moveTo>
                  <a:lnTo>
                    <a:pt x="79375" y="0"/>
                  </a:lnTo>
                  <a:lnTo>
                    <a:pt x="79375" y="230187"/>
                  </a:lnTo>
                  <a:lnTo>
                    <a:pt x="0" y="230187"/>
                  </a:lnTo>
                  <a:lnTo>
                    <a:pt x="158750" y="388937"/>
                  </a:lnTo>
                  <a:lnTo>
                    <a:pt x="317500" y="230187"/>
                  </a:lnTo>
                  <a:lnTo>
                    <a:pt x="238125" y="230187"/>
                  </a:lnTo>
                  <a:lnTo>
                    <a:pt x="238125" y="0"/>
                  </a:lnTo>
                  <a:close/>
                </a:path>
              </a:pathLst>
            </a:custGeom>
            <a:solidFill>
              <a:srgbClr val="FFACFF"/>
            </a:solidFill>
          </p:spPr>
          <p:txBody>
            <a:bodyPr wrap="square" lIns="0" tIns="0" rIns="0" bIns="0" rtlCol="0"/>
            <a:lstStyle/>
            <a:p/>
          </p:txBody>
        </p:sp>
        <p:sp>
          <p:nvSpPr>
            <p:cNvPr id="16" name="object 16" descr=""/>
            <p:cNvSpPr/>
            <p:nvPr/>
          </p:nvSpPr>
          <p:spPr>
            <a:xfrm>
              <a:off x="7969250" y="5672137"/>
              <a:ext cx="317500" cy="389255"/>
            </a:xfrm>
            <a:custGeom>
              <a:avLst/>
              <a:gdLst/>
              <a:ahLst/>
              <a:cxnLst/>
              <a:rect l="l" t="t" r="r" b="b"/>
              <a:pathLst>
                <a:path w="317500" h="389254">
                  <a:moveTo>
                    <a:pt x="0" y="230187"/>
                  </a:moveTo>
                  <a:lnTo>
                    <a:pt x="79375" y="230187"/>
                  </a:lnTo>
                  <a:lnTo>
                    <a:pt x="79375" y="0"/>
                  </a:lnTo>
                  <a:lnTo>
                    <a:pt x="238125" y="0"/>
                  </a:lnTo>
                  <a:lnTo>
                    <a:pt x="238125" y="230187"/>
                  </a:lnTo>
                  <a:lnTo>
                    <a:pt x="317500" y="230187"/>
                  </a:lnTo>
                  <a:lnTo>
                    <a:pt x="158750" y="388937"/>
                  </a:lnTo>
                  <a:lnTo>
                    <a:pt x="0" y="230187"/>
                  </a:lnTo>
                  <a:close/>
                </a:path>
              </a:pathLst>
            </a:custGeom>
            <a:ln w="9525">
              <a:solidFill>
                <a:srgbClr val="40458B"/>
              </a:solidFill>
            </a:ln>
          </p:spPr>
          <p:txBody>
            <a:bodyPr wrap="square" lIns="0" tIns="0" rIns="0" bIns="0" rtlCol="0"/>
            <a:lstStyle/>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567815"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511046" y="797179"/>
            <a:ext cx="9008110" cy="452120"/>
          </a:xfrm>
          <a:prstGeom prst="rect">
            <a:avLst/>
          </a:prstGeom>
        </p:spPr>
        <p:txBody>
          <a:bodyPr wrap="square" lIns="0" tIns="12065" rIns="0" bIns="0" rtlCol="0" vert="horz">
            <a:spAutoFit/>
          </a:bodyPr>
          <a:lstStyle/>
          <a:p>
            <a:pPr marL="469265" indent="-456565">
              <a:lnSpc>
                <a:spcPct val="100000"/>
              </a:lnSpc>
              <a:spcBef>
                <a:spcPts val="95"/>
              </a:spcBef>
              <a:buClr>
                <a:srgbClr val="40458B"/>
              </a:buClr>
              <a:buFont typeface="Wingdings"/>
              <a:buChar char=""/>
              <a:tabLst>
                <a:tab pos="469265" algn="l"/>
              </a:tabLst>
            </a:pPr>
            <a:r>
              <a:rPr dirty="0" sz="2800" spc="-40" b="1">
                <a:solidFill>
                  <a:srgbClr val="006FC0"/>
                </a:solidFill>
                <a:latin typeface="微软雅黑"/>
                <a:cs typeface="微软雅黑"/>
              </a:rPr>
              <a:t>根据上页采用哈夫曼编码，该哈夫曼编码的平均码长：</a:t>
            </a:r>
            <a:endParaRPr sz="2800">
              <a:latin typeface="微软雅黑"/>
              <a:cs typeface="微软雅黑"/>
            </a:endParaRPr>
          </a:p>
        </p:txBody>
      </p:sp>
      <p:sp>
        <p:nvSpPr>
          <p:cNvPr id="5" name="object 5" descr=""/>
          <p:cNvSpPr txBox="1"/>
          <p:nvPr/>
        </p:nvSpPr>
        <p:spPr>
          <a:xfrm>
            <a:off x="8756760" y="1532834"/>
            <a:ext cx="116205" cy="241935"/>
          </a:xfrm>
          <a:prstGeom prst="rect">
            <a:avLst/>
          </a:prstGeom>
        </p:spPr>
        <p:txBody>
          <a:bodyPr wrap="square" lIns="0" tIns="15240" rIns="0" bIns="0" rtlCol="0" vert="horz">
            <a:spAutoFit/>
          </a:bodyPr>
          <a:lstStyle/>
          <a:p>
            <a:pPr marL="12700">
              <a:lnSpc>
                <a:spcPct val="100000"/>
              </a:lnSpc>
              <a:spcBef>
                <a:spcPts val="120"/>
              </a:spcBef>
            </a:pPr>
            <a:r>
              <a:rPr dirty="0" sz="1400" spc="-50">
                <a:latin typeface="Times New Roman"/>
                <a:cs typeface="Times New Roman"/>
              </a:rPr>
              <a:t>7</a:t>
            </a:r>
            <a:endParaRPr sz="1400">
              <a:latin typeface="Times New Roman"/>
              <a:cs typeface="Times New Roman"/>
            </a:endParaRPr>
          </a:p>
        </p:txBody>
      </p:sp>
      <p:sp>
        <p:nvSpPr>
          <p:cNvPr id="6" name="object 6" descr=""/>
          <p:cNvSpPr txBox="1"/>
          <p:nvPr/>
        </p:nvSpPr>
        <p:spPr>
          <a:xfrm>
            <a:off x="8130333" y="1506594"/>
            <a:ext cx="2220595" cy="876300"/>
          </a:xfrm>
          <a:prstGeom prst="rect">
            <a:avLst/>
          </a:prstGeom>
        </p:spPr>
        <p:txBody>
          <a:bodyPr wrap="square" lIns="0" tIns="68580" rIns="0" bIns="0" rtlCol="0" vert="horz">
            <a:spAutoFit/>
          </a:bodyPr>
          <a:lstStyle/>
          <a:p>
            <a:pPr marL="38100">
              <a:lnSpc>
                <a:spcPct val="100000"/>
              </a:lnSpc>
              <a:spcBef>
                <a:spcPts val="540"/>
              </a:spcBef>
            </a:pPr>
            <a:r>
              <a:rPr dirty="0" sz="2400" i="1">
                <a:latin typeface="Times New Roman"/>
                <a:cs typeface="Times New Roman"/>
              </a:rPr>
              <a:t>L</a:t>
            </a:r>
            <a:r>
              <a:rPr dirty="0" sz="2400" spc="-5" i="1">
                <a:latin typeface="Times New Roman"/>
                <a:cs typeface="Times New Roman"/>
              </a:rPr>
              <a:t> </a:t>
            </a:r>
            <a:r>
              <a:rPr dirty="0" sz="2400">
                <a:latin typeface="Symbol"/>
                <a:cs typeface="Symbol"/>
              </a:rPr>
              <a:t></a:t>
            </a:r>
            <a:r>
              <a:rPr dirty="0" sz="2400" spc="-45">
                <a:latin typeface="Times New Roman"/>
                <a:cs typeface="Times New Roman"/>
              </a:rPr>
              <a:t> </a:t>
            </a:r>
            <a:r>
              <a:rPr dirty="0" baseline="-8371" sz="5475">
                <a:latin typeface="Symbol"/>
                <a:cs typeface="Symbol"/>
              </a:rPr>
              <a:t></a:t>
            </a:r>
            <a:r>
              <a:rPr dirty="0" baseline="-8371" sz="5475" spc="-419">
                <a:latin typeface="Times New Roman"/>
                <a:cs typeface="Times New Roman"/>
              </a:rPr>
              <a:t> </a:t>
            </a:r>
            <a:r>
              <a:rPr dirty="0" sz="2400" i="1">
                <a:latin typeface="Times New Roman"/>
                <a:cs typeface="Times New Roman"/>
              </a:rPr>
              <a:t>p</a:t>
            </a:r>
            <a:r>
              <a:rPr dirty="0" baseline="-23809" sz="2100" i="1">
                <a:latin typeface="Times New Roman"/>
                <a:cs typeface="Times New Roman"/>
              </a:rPr>
              <a:t>i</a:t>
            </a:r>
            <a:r>
              <a:rPr dirty="0" sz="2400" i="1">
                <a:latin typeface="Times New Roman"/>
                <a:cs typeface="Times New Roman"/>
              </a:rPr>
              <a:t>l</a:t>
            </a:r>
            <a:r>
              <a:rPr dirty="0" baseline="-23809" sz="2100" i="1">
                <a:latin typeface="Times New Roman"/>
                <a:cs typeface="Times New Roman"/>
              </a:rPr>
              <a:t>i</a:t>
            </a:r>
            <a:r>
              <a:rPr dirty="0" baseline="-23809" sz="2100" spc="142" i="1">
                <a:latin typeface="Times New Roman"/>
                <a:cs typeface="Times New Roman"/>
              </a:rPr>
              <a:t>  </a:t>
            </a:r>
            <a:r>
              <a:rPr dirty="0" sz="2400">
                <a:latin typeface="Symbol"/>
                <a:cs typeface="Symbol"/>
              </a:rPr>
              <a:t></a:t>
            </a:r>
            <a:r>
              <a:rPr dirty="0" sz="2400" spc="-20">
                <a:latin typeface="Times New Roman"/>
                <a:cs typeface="Times New Roman"/>
              </a:rPr>
              <a:t> 2.20</a:t>
            </a:r>
            <a:endParaRPr sz="2400">
              <a:latin typeface="Times New Roman"/>
              <a:cs typeface="Times New Roman"/>
            </a:endParaRPr>
          </a:p>
          <a:p>
            <a:pPr marL="569595">
              <a:lnSpc>
                <a:spcPct val="100000"/>
              </a:lnSpc>
              <a:spcBef>
                <a:spcPts val="195"/>
              </a:spcBef>
            </a:pPr>
            <a:r>
              <a:rPr dirty="0" sz="1400" spc="-25" i="1">
                <a:latin typeface="Times New Roman"/>
                <a:cs typeface="Times New Roman"/>
              </a:rPr>
              <a:t>i</a:t>
            </a:r>
            <a:r>
              <a:rPr dirty="0" sz="1400" spc="-25">
                <a:latin typeface="Symbol"/>
                <a:cs typeface="Symbol"/>
              </a:rPr>
              <a:t></a:t>
            </a:r>
            <a:r>
              <a:rPr dirty="0" sz="1400" spc="-25">
                <a:latin typeface="Times New Roman"/>
                <a:cs typeface="Times New Roman"/>
              </a:rPr>
              <a:t>1</a:t>
            </a:r>
            <a:endParaRPr sz="1400">
              <a:latin typeface="Times New Roman"/>
              <a:cs typeface="Times New Roman"/>
            </a:endParaRPr>
          </a:p>
        </p:txBody>
      </p:sp>
      <p:sp>
        <p:nvSpPr>
          <p:cNvPr id="7" name="object 7" descr=""/>
          <p:cNvSpPr txBox="1"/>
          <p:nvPr/>
        </p:nvSpPr>
        <p:spPr>
          <a:xfrm>
            <a:off x="1917319" y="1467688"/>
            <a:ext cx="5685155" cy="1216025"/>
          </a:xfrm>
          <a:prstGeom prst="rect">
            <a:avLst/>
          </a:prstGeom>
        </p:spPr>
        <p:txBody>
          <a:bodyPr wrap="square" lIns="0" tIns="13335" rIns="0" bIns="0" rtlCol="0" vert="horz">
            <a:spAutoFit/>
          </a:bodyPr>
          <a:lstStyle/>
          <a:p>
            <a:pPr marL="469900" marR="5080" indent="-457200">
              <a:lnSpc>
                <a:spcPct val="100000"/>
              </a:lnSpc>
              <a:spcBef>
                <a:spcPts val="105"/>
              </a:spcBef>
            </a:pPr>
            <a:r>
              <a:rPr dirty="0" sz="2600" spc="-10" b="1">
                <a:latin typeface="黑体"/>
                <a:cs typeface="黑体"/>
              </a:rPr>
              <a:t>L=0.40×1+0.30×2+0.15×3+0.05×5+ </a:t>
            </a:r>
            <a:r>
              <a:rPr dirty="0" sz="2600" b="1">
                <a:latin typeface="黑体"/>
                <a:cs typeface="黑体"/>
              </a:rPr>
              <a:t>0.04×5+0.03×5+</a:t>
            </a:r>
            <a:r>
              <a:rPr dirty="0" sz="2600" spc="-85" b="1">
                <a:latin typeface="黑体"/>
                <a:cs typeface="黑体"/>
              </a:rPr>
              <a:t> </a:t>
            </a:r>
            <a:r>
              <a:rPr dirty="0" sz="2600" spc="-10" b="1">
                <a:latin typeface="黑体"/>
                <a:cs typeface="黑体"/>
              </a:rPr>
              <a:t>0.03×5</a:t>
            </a:r>
            <a:endParaRPr sz="2600">
              <a:latin typeface="黑体"/>
              <a:cs typeface="黑体"/>
            </a:endParaRPr>
          </a:p>
          <a:p>
            <a:pPr marL="179705">
              <a:lnSpc>
                <a:spcPct val="100000"/>
              </a:lnSpc>
              <a:spcBef>
                <a:spcPts val="5"/>
              </a:spcBef>
            </a:pPr>
            <a:r>
              <a:rPr dirty="0" sz="2600" spc="-10" b="1">
                <a:latin typeface="黑体"/>
                <a:cs typeface="黑体"/>
              </a:rPr>
              <a:t>=2.20</a:t>
            </a:r>
            <a:endParaRPr sz="2600">
              <a:latin typeface="黑体"/>
              <a:cs typeface="黑体"/>
            </a:endParaRPr>
          </a:p>
        </p:txBody>
      </p:sp>
      <p:sp>
        <p:nvSpPr>
          <p:cNvPr id="8" name="object 8" descr=""/>
          <p:cNvSpPr/>
          <p:nvPr/>
        </p:nvSpPr>
        <p:spPr>
          <a:xfrm>
            <a:off x="7159625" y="1465325"/>
            <a:ext cx="360680" cy="392430"/>
          </a:xfrm>
          <a:custGeom>
            <a:avLst/>
            <a:gdLst/>
            <a:ahLst/>
            <a:cxnLst/>
            <a:rect l="l" t="t" r="r" b="b"/>
            <a:pathLst>
              <a:path w="360679" h="392430">
                <a:moveTo>
                  <a:pt x="0" y="195961"/>
                </a:moveTo>
                <a:lnTo>
                  <a:pt x="6434" y="143874"/>
                </a:lnTo>
                <a:lnTo>
                  <a:pt x="24595" y="97065"/>
                </a:lnTo>
                <a:lnTo>
                  <a:pt x="52768" y="57403"/>
                </a:lnTo>
                <a:lnTo>
                  <a:pt x="89238" y="26759"/>
                </a:lnTo>
                <a:lnTo>
                  <a:pt x="132291" y="7001"/>
                </a:lnTo>
                <a:lnTo>
                  <a:pt x="180213" y="0"/>
                </a:lnTo>
                <a:lnTo>
                  <a:pt x="228090" y="7001"/>
                </a:lnTo>
                <a:lnTo>
                  <a:pt x="271130" y="26759"/>
                </a:lnTo>
                <a:lnTo>
                  <a:pt x="307609" y="57404"/>
                </a:lnTo>
                <a:lnTo>
                  <a:pt x="335802" y="97065"/>
                </a:lnTo>
                <a:lnTo>
                  <a:pt x="353982" y="143874"/>
                </a:lnTo>
                <a:lnTo>
                  <a:pt x="360425" y="195961"/>
                </a:lnTo>
                <a:lnTo>
                  <a:pt x="353982" y="248100"/>
                </a:lnTo>
                <a:lnTo>
                  <a:pt x="335802" y="294945"/>
                </a:lnTo>
                <a:lnTo>
                  <a:pt x="307609" y="334629"/>
                </a:lnTo>
                <a:lnTo>
                  <a:pt x="271130" y="365284"/>
                </a:lnTo>
                <a:lnTo>
                  <a:pt x="228090" y="385046"/>
                </a:lnTo>
                <a:lnTo>
                  <a:pt x="180213" y="392049"/>
                </a:lnTo>
                <a:lnTo>
                  <a:pt x="132291" y="385046"/>
                </a:lnTo>
                <a:lnTo>
                  <a:pt x="89238" y="365284"/>
                </a:lnTo>
                <a:lnTo>
                  <a:pt x="52768" y="334629"/>
                </a:lnTo>
                <a:lnTo>
                  <a:pt x="24595" y="294945"/>
                </a:lnTo>
                <a:lnTo>
                  <a:pt x="6434" y="248100"/>
                </a:lnTo>
                <a:lnTo>
                  <a:pt x="0" y="195961"/>
                </a:lnTo>
                <a:close/>
              </a:path>
            </a:pathLst>
          </a:custGeom>
          <a:ln w="19050">
            <a:solidFill>
              <a:srgbClr val="FF09FF"/>
            </a:solidFill>
          </a:ln>
        </p:spPr>
        <p:txBody>
          <a:bodyPr wrap="square" lIns="0" tIns="0" rIns="0" bIns="0" rtlCol="0"/>
          <a:lstStyle/>
          <a:p/>
        </p:txBody>
      </p:sp>
      <p:sp>
        <p:nvSpPr>
          <p:cNvPr id="9" name="object 9" descr=""/>
          <p:cNvSpPr/>
          <p:nvPr/>
        </p:nvSpPr>
        <p:spPr>
          <a:xfrm>
            <a:off x="5813425" y="1476375"/>
            <a:ext cx="698500" cy="792480"/>
          </a:xfrm>
          <a:custGeom>
            <a:avLst/>
            <a:gdLst/>
            <a:ahLst/>
            <a:cxnLst/>
            <a:rect l="l" t="t" r="r" b="b"/>
            <a:pathLst>
              <a:path w="698500" h="792480">
                <a:moveTo>
                  <a:pt x="0" y="196087"/>
                </a:moveTo>
                <a:lnTo>
                  <a:pt x="6434" y="143948"/>
                </a:lnTo>
                <a:lnTo>
                  <a:pt x="24595" y="97103"/>
                </a:lnTo>
                <a:lnTo>
                  <a:pt x="52768" y="57419"/>
                </a:lnTo>
                <a:lnTo>
                  <a:pt x="89238" y="26764"/>
                </a:lnTo>
                <a:lnTo>
                  <a:pt x="132291" y="7002"/>
                </a:lnTo>
                <a:lnTo>
                  <a:pt x="180212" y="0"/>
                </a:lnTo>
                <a:lnTo>
                  <a:pt x="228090" y="7002"/>
                </a:lnTo>
                <a:lnTo>
                  <a:pt x="271130" y="26764"/>
                </a:lnTo>
                <a:lnTo>
                  <a:pt x="307609" y="57419"/>
                </a:lnTo>
                <a:lnTo>
                  <a:pt x="335802" y="97103"/>
                </a:lnTo>
                <a:lnTo>
                  <a:pt x="353982" y="143948"/>
                </a:lnTo>
                <a:lnTo>
                  <a:pt x="360425" y="196087"/>
                </a:lnTo>
                <a:lnTo>
                  <a:pt x="353982" y="248183"/>
                </a:lnTo>
                <a:lnTo>
                  <a:pt x="335802" y="295016"/>
                </a:lnTo>
                <a:lnTo>
                  <a:pt x="307609" y="334708"/>
                </a:lnTo>
                <a:lnTo>
                  <a:pt x="271130" y="365383"/>
                </a:lnTo>
                <a:lnTo>
                  <a:pt x="228090" y="385165"/>
                </a:lnTo>
                <a:lnTo>
                  <a:pt x="180212" y="392175"/>
                </a:lnTo>
                <a:lnTo>
                  <a:pt x="132291" y="385165"/>
                </a:lnTo>
                <a:lnTo>
                  <a:pt x="89238" y="365383"/>
                </a:lnTo>
                <a:lnTo>
                  <a:pt x="52768" y="334708"/>
                </a:lnTo>
                <a:lnTo>
                  <a:pt x="24595" y="295016"/>
                </a:lnTo>
                <a:lnTo>
                  <a:pt x="6434" y="248183"/>
                </a:lnTo>
                <a:lnTo>
                  <a:pt x="0" y="196087"/>
                </a:lnTo>
                <a:close/>
              </a:path>
              <a:path w="698500" h="792480">
                <a:moveTo>
                  <a:pt x="338200" y="596138"/>
                </a:moveTo>
                <a:lnTo>
                  <a:pt x="344635" y="543998"/>
                </a:lnTo>
                <a:lnTo>
                  <a:pt x="362791" y="497153"/>
                </a:lnTo>
                <a:lnTo>
                  <a:pt x="390953" y="457469"/>
                </a:lnTo>
                <a:lnTo>
                  <a:pt x="427402" y="426814"/>
                </a:lnTo>
                <a:lnTo>
                  <a:pt x="470419" y="407052"/>
                </a:lnTo>
                <a:lnTo>
                  <a:pt x="518287" y="400050"/>
                </a:lnTo>
                <a:lnTo>
                  <a:pt x="566208" y="407052"/>
                </a:lnTo>
                <a:lnTo>
                  <a:pt x="609261" y="426814"/>
                </a:lnTo>
                <a:lnTo>
                  <a:pt x="645731" y="457469"/>
                </a:lnTo>
                <a:lnTo>
                  <a:pt x="673904" y="497153"/>
                </a:lnTo>
                <a:lnTo>
                  <a:pt x="692065" y="543998"/>
                </a:lnTo>
                <a:lnTo>
                  <a:pt x="698500" y="596138"/>
                </a:lnTo>
                <a:lnTo>
                  <a:pt x="692065" y="648224"/>
                </a:lnTo>
                <a:lnTo>
                  <a:pt x="673904" y="695033"/>
                </a:lnTo>
                <a:lnTo>
                  <a:pt x="645731" y="734695"/>
                </a:lnTo>
                <a:lnTo>
                  <a:pt x="609261" y="765339"/>
                </a:lnTo>
                <a:lnTo>
                  <a:pt x="566208" y="785097"/>
                </a:lnTo>
                <a:lnTo>
                  <a:pt x="518287" y="792099"/>
                </a:lnTo>
                <a:lnTo>
                  <a:pt x="470419" y="785097"/>
                </a:lnTo>
                <a:lnTo>
                  <a:pt x="427402" y="765339"/>
                </a:lnTo>
                <a:lnTo>
                  <a:pt x="390953" y="734694"/>
                </a:lnTo>
                <a:lnTo>
                  <a:pt x="362791" y="695033"/>
                </a:lnTo>
                <a:lnTo>
                  <a:pt x="344635" y="648224"/>
                </a:lnTo>
                <a:lnTo>
                  <a:pt x="338200" y="596138"/>
                </a:lnTo>
                <a:close/>
              </a:path>
            </a:pathLst>
          </a:custGeom>
          <a:ln w="19050">
            <a:solidFill>
              <a:srgbClr val="FF09FF"/>
            </a:solidFill>
          </a:ln>
        </p:spPr>
        <p:txBody>
          <a:bodyPr wrap="square" lIns="0" tIns="0" rIns="0" bIns="0" rtlCol="0"/>
          <a:lstStyle/>
          <a:p/>
        </p:txBody>
      </p:sp>
      <p:sp>
        <p:nvSpPr>
          <p:cNvPr id="10" name="object 10" descr=""/>
          <p:cNvSpPr/>
          <p:nvPr/>
        </p:nvSpPr>
        <p:spPr>
          <a:xfrm>
            <a:off x="4478401" y="1465325"/>
            <a:ext cx="527050" cy="814705"/>
          </a:xfrm>
          <a:custGeom>
            <a:avLst/>
            <a:gdLst/>
            <a:ahLst/>
            <a:cxnLst/>
            <a:rect l="l" t="t" r="r" b="b"/>
            <a:pathLst>
              <a:path w="527050" h="814705">
                <a:moveTo>
                  <a:pt x="0" y="195961"/>
                </a:moveTo>
                <a:lnTo>
                  <a:pt x="6434" y="143874"/>
                </a:lnTo>
                <a:lnTo>
                  <a:pt x="24590" y="97065"/>
                </a:lnTo>
                <a:lnTo>
                  <a:pt x="52752" y="57403"/>
                </a:lnTo>
                <a:lnTo>
                  <a:pt x="89201" y="26759"/>
                </a:lnTo>
                <a:lnTo>
                  <a:pt x="132218" y="7001"/>
                </a:lnTo>
                <a:lnTo>
                  <a:pt x="180086" y="0"/>
                </a:lnTo>
                <a:lnTo>
                  <a:pt x="228007" y="7001"/>
                </a:lnTo>
                <a:lnTo>
                  <a:pt x="271060" y="26759"/>
                </a:lnTo>
                <a:lnTo>
                  <a:pt x="307530" y="57404"/>
                </a:lnTo>
                <a:lnTo>
                  <a:pt x="335703" y="97065"/>
                </a:lnTo>
                <a:lnTo>
                  <a:pt x="353864" y="143874"/>
                </a:lnTo>
                <a:lnTo>
                  <a:pt x="360299" y="195961"/>
                </a:lnTo>
                <a:lnTo>
                  <a:pt x="353864" y="248100"/>
                </a:lnTo>
                <a:lnTo>
                  <a:pt x="335703" y="294945"/>
                </a:lnTo>
                <a:lnTo>
                  <a:pt x="307530" y="334629"/>
                </a:lnTo>
                <a:lnTo>
                  <a:pt x="271060" y="365284"/>
                </a:lnTo>
                <a:lnTo>
                  <a:pt x="228007" y="385046"/>
                </a:lnTo>
                <a:lnTo>
                  <a:pt x="180086" y="392049"/>
                </a:lnTo>
                <a:lnTo>
                  <a:pt x="132218" y="385046"/>
                </a:lnTo>
                <a:lnTo>
                  <a:pt x="89201" y="365284"/>
                </a:lnTo>
                <a:lnTo>
                  <a:pt x="52752" y="334629"/>
                </a:lnTo>
                <a:lnTo>
                  <a:pt x="24590" y="294945"/>
                </a:lnTo>
                <a:lnTo>
                  <a:pt x="6434" y="248100"/>
                </a:lnTo>
                <a:lnTo>
                  <a:pt x="0" y="195961"/>
                </a:lnTo>
                <a:close/>
              </a:path>
              <a:path w="527050" h="814705">
                <a:moveTo>
                  <a:pt x="166624" y="617474"/>
                </a:moveTo>
                <a:lnTo>
                  <a:pt x="173058" y="565145"/>
                </a:lnTo>
                <a:lnTo>
                  <a:pt x="191219" y="518122"/>
                </a:lnTo>
                <a:lnTo>
                  <a:pt x="219392" y="478282"/>
                </a:lnTo>
                <a:lnTo>
                  <a:pt x="255862" y="447500"/>
                </a:lnTo>
                <a:lnTo>
                  <a:pt x="298915" y="427656"/>
                </a:lnTo>
                <a:lnTo>
                  <a:pt x="346837" y="420624"/>
                </a:lnTo>
                <a:lnTo>
                  <a:pt x="394714" y="427656"/>
                </a:lnTo>
                <a:lnTo>
                  <a:pt x="437754" y="447500"/>
                </a:lnTo>
                <a:lnTo>
                  <a:pt x="474233" y="478282"/>
                </a:lnTo>
                <a:lnTo>
                  <a:pt x="502426" y="518122"/>
                </a:lnTo>
                <a:lnTo>
                  <a:pt x="520606" y="565145"/>
                </a:lnTo>
                <a:lnTo>
                  <a:pt x="527050" y="617474"/>
                </a:lnTo>
                <a:lnTo>
                  <a:pt x="520606" y="669802"/>
                </a:lnTo>
                <a:lnTo>
                  <a:pt x="502426" y="716825"/>
                </a:lnTo>
                <a:lnTo>
                  <a:pt x="474233" y="756665"/>
                </a:lnTo>
                <a:lnTo>
                  <a:pt x="437754" y="787447"/>
                </a:lnTo>
                <a:lnTo>
                  <a:pt x="394714" y="807291"/>
                </a:lnTo>
                <a:lnTo>
                  <a:pt x="346837" y="814324"/>
                </a:lnTo>
                <a:lnTo>
                  <a:pt x="298915" y="807291"/>
                </a:lnTo>
                <a:lnTo>
                  <a:pt x="255862" y="787447"/>
                </a:lnTo>
                <a:lnTo>
                  <a:pt x="219392" y="756665"/>
                </a:lnTo>
                <a:lnTo>
                  <a:pt x="191219" y="716825"/>
                </a:lnTo>
                <a:lnTo>
                  <a:pt x="173058" y="669802"/>
                </a:lnTo>
                <a:lnTo>
                  <a:pt x="166624" y="617474"/>
                </a:lnTo>
                <a:close/>
              </a:path>
            </a:pathLst>
          </a:custGeom>
          <a:ln w="19050">
            <a:solidFill>
              <a:srgbClr val="FF09FF"/>
            </a:solidFill>
          </a:ln>
        </p:spPr>
        <p:txBody>
          <a:bodyPr wrap="square" lIns="0" tIns="0" rIns="0" bIns="0" rtlCol="0"/>
          <a:lstStyle/>
          <a:p/>
        </p:txBody>
      </p:sp>
      <p:sp>
        <p:nvSpPr>
          <p:cNvPr id="11" name="object 11" descr=""/>
          <p:cNvSpPr/>
          <p:nvPr/>
        </p:nvSpPr>
        <p:spPr>
          <a:xfrm>
            <a:off x="3109976" y="1465325"/>
            <a:ext cx="504825" cy="840105"/>
          </a:xfrm>
          <a:custGeom>
            <a:avLst/>
            <a:gdLst/>
            <a:ahLst/>
            <a:cxnLst/>
            <a:rect l="l" t="t" r="r" b="b"/>
            <a:pathLst>
              <a:path w="504825" h="840105">
                <a:moveTo>
                  <a:pt x="0" y="195961"/>
                </a:moveTo>
                <a:lnTo>
                  <a:pt x="6434" y="143874"/>
                </a:lnTo>
                <a:lnTo>
                  <a:pt x="24590" y="97065"/>
                </a:lnTo>
                <a:lnTo>
                  <a:pt x="52752" y="57403"/>
                </a:lnTo>
                <a:lnTo>
                  <a:pt x="89201" y="26759"/>
                </a:lnTo>
                <a:lnTo>
                  <a:pt x="132218" y="7001"/>
                </a:lnTo>
                <a:lnTo>
                  <a:pt x="180086" y="0"/>
                </a:lnTo>
                <a:lnTo>
                  <a:pt x="228007" y="7001"/>
                </a:lnTo>
                <a:lnTo>
                  <a:pt x="271060" y="26759"/>
                </a:lnTo>
                <a:lnTo>
                  <a:pt x="307530" y="57404"/>
                </a:lnTo>
                <a:lnTo>
                  <a:pt x="335703" y="97065"/>
                </a:lnTo>
                <a:lnTo>
                  <a:pt x="353864" y="143874"/>
                </a:lnTo>
                <a:lnTo>
                  <a:pt x="360299" y="195961"/>
                </a:lnTo>
                <a:lnTo>
                  <a:pt x="353864" y="248100"/>
                </a:lnTo>
                <a:lnTo>
                  <a:pt x="335703" y="294945"/>
                </a:lnTo>
                <a:lnTo>
                  <a:pt x="307530" y="334629"/>
                </a:lnTo>
                <a:lnTo>
                  <a:pt x="271060" y="365284"/>
                </a:lnTo>
                <a:lnTo>
                  <a:pt x="228007" y="385046"/>
                </a:lnTo>
                <a:lnTo>
                  <a:pt x="180086" y="392049"/>
                </a:lnTo>
                <a:lnTo>
                  <a:pt x="132218" y="385046"/>
                </a:lnTo>
                <a:lnTo>
                  <a:pt x="89201" y="365284"/>
                </a:lnTo>
                <a:lnTo>
                  <a:pt x="52752" y="334629"/>
                </a:lnTo>
                <a:lnTo>
                  <a:pt x="24590" y="294945"/>
                </a:lnTo>
                <a:lnTo>
                  <a:pt x="6434" y="248100"/>
                </a:lnTo>
                <a:lnTo>
                  <a:pt x="0" y="195961"/>
                </a:lnTo>
                <a:close/>
              </a:path>
              <a:path w="504825" h="840105">
                <a:moveTo>
                  <a:pt x="144399" y="643636"/>
                </a:moveTo>
                <a:lnTo>
                  <a:pt x="150833" y="591549"/>
                </a:lnTo>
                <a:lnTo>
                  <a:pt x="168994" y="544740"/>
                </a:lnTo>
                <a:lnTo>
                  <a:pt x="197167" y="505078"/>
                </a:lnTo>
                <a:lnTo>
                  <a:pt x="233637" y="474434"/>
                </a:lnTo>
                <a:lnTo>
                  <a:pt x="276690" y="454676"/>
                </a:lnTo>
                <a:lnTo>
                  <a:pt x="324612" y="447675"/>
                </a:lnTo>
                <a:lnTo>
                  <a:pt x="372489" y="454676"/>
                </a:lnTo>
                <a:lnTo>
                  <a:pt x="415529" y="474434"/>
                </a:lnTo>
                <a:lnTo>
                  <a:pt x="452008" y="505079"/>
                </a:lnTo>
                <a:lnTo>
                  <a:pt x="480201" y="544740"/>
                </a:lnTo>
                <a:lnTo>
                  <a:pt x="498381" y="591549"/>
                </a:lnTo>
                <a:lnTo>
                  <a:pt x="504825" y="643636"/>
                </a:lnTo>
                <a:lnTo>
                  <a:pt x="498381" y="695775"/>
                </a:lnTo>
                <a:lnTo>
                  <a:pt x="480201" y="742620"/>
                </a:lnTo>
                <a:lnTo>
                  <a:pt x="452008" y="782304"/>
                </a:lnTo>
                <a:lnTo>
                  <a:pt x="415529" y="812959"/>
                </a:lnTo>
                <a:lnTo>
                  <a:pt x="372489" y="832721"/>
                </a:lnTo>
                <a:lnTo>
                  <a:pt x="324612" y="839724"/>
                </a:lnTo>
                <a:lnTo>
                  <a:pt x="276690" y="832721"/>
                </a:lnTo>
                <a:lnTo>
                  <a:pt x="233637" y="812959"/>
                </a:lnTo>
                <a:lnTo>
                  <a:pt x="197167" y="782304"/>
                </a:lnTo>
                <a:lnTo>
                  <a:pt x="168994" y="742620"/>
                </a:lnTo>
                <a:lnTo>
                  <a:pt x="150833" y="695775"/>
                </a:lnTo>
                <a:lnTo>
                  <a:pt x="144399" y="643636"/>
                </a:lnTo>
                <a:close/>
              </a:path>
            </a:pathLst>
          </a:custGeom>
          <a:ln w="19050">
            <a:solidFill>
              <a:srgbClr val="FF09FF"/>
            </a:solidFill>
          </a:ln>
        </p:spPr>
        <p:txBody>
          <a:bodyPr wrap="square" lIns="0" tIns="0" rIns="0" bIns="0" rtlCol="0"/>
          <a:lstStyle/>
          <a:p/>
        </p:txBody>
      </p:sp>
      <p:graphicFrame>
        <p:nvGraphicFramePr>
          <p:cNvPr id="12" name="object 12" descr=""/>
          <p:cNvGraphicFramePr>
            <a:graphicFrameLocks noGrp="1"/>
          </p:cNvGraphicFramePr>
          <p:nvPr/>
        </p:nvGraphicFramePr>
        <p:xfrm>
          <a:off x="1798637" y="2705163"/>
          <a:ext cx="6802755" cy="3700145"/>
        </p:xfrm>
        <a:graphic>
          <a:graphicData uri="http://schemas.openxmlformats.org/drawingml/2006/table">
            <a:tbl>
              <a:tblPr firstRow="1" bandRow="1">
                <a:tableStyleId>{2D5ABB26-0587-4C30-8999-92F81FD0307C}</a:tableStyleId>
              </a:tblPr>
              <a:tblGrid>
                <a:gridCol w="845819"/>
                <a:gridCol w="1169670"/>
                <a:gridCol w="1235710"/>
                <a:gridCol w="845820"/>
                <a:gridCol w="1756410"/>
                <a:gridCol w="844550"/>
              </a:tblGrid>
              <a:tr h="1028700">
                <a:tc>
                  <a:txBody>
                    <a:bodyPr/>
                    <a:lstStyle/>
                    <a:p>
                      <a:pPr>
                        <a:lnSpc>
                          <a:spcPct val="100000"/>
                        </a:lnSpc>
                        <a:spcBef>
                          <a:spcPts val="980"/>
                        </a:spcBef>
                      </a:pPr>
                      <a:endParaRPr sz="1800">
                        <a:latin typeface="Times New Roman"/>
                        <a:cs typeface="Times New Roman"/>
                      </a:endParaRPr>
                    </a:p>
                    <a:p>
                      <a:pPr algn="ctr">
                        <a:lnSpc>
                          <a:spcPct val="100000"/>
                        </a:lnSpc>
                      </a:pPr>
                      <a:r>
                        <a:rPr dirty="0" sz="1800" spc="-30" b="1">
                          <a:solidFill>
                            <a:srgbClr val="E14B04"/>
                          </a:solidFill>
                          <a:latin typeface="宋体"/>
                          <a:cs typeface="宋体"/>
                        </a:rPr>
                        <a:t>指令</a:t>
                      </a:r>
                      <a:endParaRPr sz="1800">
                        <a:latin typeface="宋体"/>
                        <a:cs typeface="宋体"/>
                      </a:endParaRPr>
                    </a:p>
                  </a:txBody>
                  <a:tcPr marL="0" marR="0" marB="0" marT="12446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spcBef>
                          <a:spcPts val="980"/>
                        </a:spcBef>
                      </a:pPr>
                      <a:endParaRPr sz="1800">
                        <a:latin typeface="Times New Roman"/>
                        <a:cs typeface="Times New Roman"/>
                      </a:endParaRPr>
                    </a:p>
                    <a:p>
                      <a:pPr algn="ctr" marL="635">
                        <a:lnSpc>
                          <a:spcPct val="100000"/>
                        </a:lnSpc>
                      </a:pPr>
                      <a:r>
                        <a:rPr dirty="0" sz="1800" spc="-10" b="1">
                          <a:solidFill>
                            <a:srgbClr val="E14B04"/>
                          </a:solidFill>
                          <a:latin typeface="宋体"/>
                          <a:cs typeface="宋体"/>
                        </a:rPr>
                        <a:t>频度</a:t>
                      </a:r>
                      <a:r>
                        <a:rPr dirty="0" sz="1800" spc="-25" b="1">
                          <a:solidFill>
                            <a:srgbClr val="E14B04"/>
                          </a:solidFill>
                          <a:latin typeface="Times New Roman"/>
                          <a:cs typeface="Times New Roman"/>
                        </a:rPr>
                        <a:t>p</a:t>
                      </a:r>
                      <a:r>
                        <a:rPr dirty="0" baseline="-20833" sz="1800" spc="-37" b="1">
                          <a:solidFill>
                            <a:srgbClr val="E14B04"/>
                          </a:solidFill>
                          <a:latin typeface="Times New Roman"/>
                          <a:cs typeface="Times New Roman"/>
                        </a:rPr>
                        <a:t>i</a:t>
                      </a:r>
                      <a:endParaRPr baseline="-20833" sz="1800">
                        <a:latin typeface="Times New Roman"/>
                        <a:cs typeface="Times New Roman"/>
                      </a:endParaRPr>
                    </a:p>
                  </a:txBody>
                  <a:tcPr marL="0" marR="0" marB="0" marT="12446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41910">
                        <a:lnSpc>
                          <a:spcPct val="100000"/>
                        </a:lnSpc>
                        <a:spcBef>
                          <a:spcPts val="1665"/>
                        </a:spcBef>
                      </a:pPr>
                      <a:r>
                        <a:rPr dirty="0" sz="1800" spc="-30" b="1">
                          <a:solidFill>
                            <a:srgbClr val="E14B04"/>
                          </a:solidFill>
                          <a:latin typeface="宋体"/>
                          <a:cs typeface="宋体"/>
                        </a:rPr>
                        <a:t>操作码使用</a:t>
                      </a:r>
                      <a:endParaRPr sz="1800">
                        <a:latin typeface="宋体"/>
                        <a:cs typeface="宋体"/>
                      </a:endParaRPr>
                    </a:p>
                    <a:p>
                      <a:pPr marL="41910">
                        <a:lnSpc>
                          <a:spcPct val="100000"/>
                        </a:lnSpc>
                        <a:spcBef>
                          <a:spcPts val="434"/>
                        </a:spcBef>
                      </a:pPr>
                      <a:r>
                        <a:rPr dirty="0" sz="1800" spc="-20" b="1">
                          <a:solidFill>
                            <a:srgbClr val="E14B04"/>
                          </a:solidFill>
                          <a:latin typeface="宋体"/>
                          <a:cs typeface="宋体"/>
                        </a:rPr>
                        <a:t>哈夫曼编码</a:t>
                      </a:r>
                      <a:endParaRPr sz="1800">
                        <a:latin typeface="宋体"/>
                        <a:cs typeface="宋体"/>
                      </a:endParaRPr>
                    </a:p>
                  </a:txBody>
                  <a:tcPr marL="0" marR="0" marB="0" marT="21145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139700" marR="69850" indent="-62865">
                        <a:lnSpc>
                          <a:spcPct val="130000"/>
                        </a:lnSpc>
                        <a:spcBef>
                          <a:spcPts val="994"/>
                        </a:spcBef>
                      </a:pPr>
                      <a:r>
                        <a:rPr dirty="0" sz="1800" spc="-25" b="1">
                          <a:solidFill>
                            <a:srgbClr val="E14B04"/>
                          </a:solidFill>
                          <a:latin typeface="宋体"/>
                          <a:cs typeface="宋体"/>
                        </a:rPr>
                        <a:t>操作码</a:t>
                      </a:r>
                      <a:r>
                        <a:rPr dirty="0" sz="1800" spc="-10" b="1">
                          <a:solidFill>
                            <a:srgbClr val="E14B04"/>
                          </a:solidFill>
                          <a:latin typeface="宋体"/>
                          <a:cs typeface="宋体"/>
                        </a:rPr>
                        <a:t>长度</a:t>
                      </a:r>
                      <a:r>
                        <a:rPr dirty="0" sz="1800" spc="-25" b="1">
                          <a:solidFill>
                            <a:srgbClr val="E14B04"/>
                          </a:solidFill>
                          <a:latin typeface="Times New Roman"/>
                          <a:cs typeface="Times New Roman"/>
                        </a:rPr>
                        <a:t>l</a:t>
                      </a:r>
                      <a:r>
                        <a:rPr dirty="0" baseline="-20833" sz="1800" spc="-37" b="1">
                          <a:solidFill>
                            <a:srgbClr val="E14B04"/>
                          </a:solidFill>
                          <a:latin typeface="Times New Roman"/>
                          <a:cs typeface="Times New Roman"/>
                        </a:rPr>
                        <a:t>i</a:t>
                      </a:r>
                      <a:endParaRPr baseline="-20833" sz="1800">
                        <a:latin typeface="Times New Roman"/>
                        <a:cs typeface="Times New Roman"/>
                      </a:endParaRPr>
                    </a:p>
                  </a:txBody>
                  <a:tcPr marL="0" marR="0" marB="0" marT="126364">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635">
                        <a:lnSpc>
                          <a:spcPct val="100000"/>
                        </a:lnSpc>
                        <a:spcBef>
                          <a:spcPts val="1695"/>
                        </a:spcBef>
                      </a:pPr>
                      <a:r>
                        <a:rPr dirty="0" sz="1800" spc="-20" b="1">
                          <a:solidFill>
                            <a:srgbClr val="E14B04"/>
                          </a:solidFill>
                          <a:latin typeface="宋体"/>
                          <a:cs typeface="宋体"/>
                        </a:rPr>
                        <a:t>利用哈夫曼概念</a:t>
                      </a:r>
                      <a:endParaRPr sz="1800">
                        <a:latin typeface="宋体"/>
                        <a:cs typeface="宋体"/>
                      </a:endParaRPr>
                    </a:p>
                    <a:p>
                      <a:pPr marL="635">
                        <a:lnSpc>
                          <a:spcPct val="100000"/>
                        </a:lnSpc>
                        <a:spcBef>
                          <a:spcPts val="220"/>
                        </a:spcBef>
                      </a:pPr>
                      <a:r>
                        <a:rPr dirty="0" sz="1800" spc="-20" b="1">
                          <a:solidFill>
                            <a:srgbClr val="E14B04"/>
                          </a:solidFill>
                          <a:latin typeface="宋体"/>
                          <a:cs typeface="宋体"/>
                        </a:rPr>
                        <a:t>的扩展操作码</a:t>
                      </a:r>
                      <a:endParaRPr sz="1800">
                        <a:latin typeface="宋体"/>
                        <a:cs typeface="宋体"/>
                      </a:endParaRPr>
                    </a:p>
                  </a:txBody>
                  <a:tcPr marL="0" marR="0" marB="0" marT="21526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138430" marR="69215" indent="-60960">
                        <a:lnSpc>
                          <a:spcPct val="130000"/>
                        </a:lnSpc>
                        <a:spcBef>
                          <a:spcPts val="994"/>
                        </a:spcBef>
                      </a:pPr>
                      <a:r>
                        <a:rPr dirty="0" sz="1800" spc="-25" b="1">
                          <a:solidFill>
                            <a:srgbClr val="E14B04"/>
                          </a:solidFill>
                          <a:latin typeface="宋体"/>
                          <a:cs typeface="宋体"/>
                        </a:rPr>
                        <a:t>操作码</a:t>
                      </a:r>
                      <a:r>
                        <a:rPr dirty="0" sz="1800" spc="-10" b="1">
                          <a:solidFill>
                            <a:srgbClr val="E14B04"/>
                          </a:solidFill>
                          <a:latin typeface="宋体"/>
                          <a:cs typeface="宋体"/>
                        </a:rPr>
                        <a:t>长度</a:t>
                      </a:r>
                      <a:r>
                        <a:rPr dirty="0" sz="1800" spc="-25" b="1">
                          <a:solidFill>
                            <a:srgbClr val="E14B04"/>
                          </a:solidFill>
                          <a:latin typeface="Times New Roman"/>
                          <a:cs typeface="Times New Roman"/>
                        </a:rPr>
                        <a:t>l</a:t>
                      </a:r>
                      <a:r>
                        <a:rPr dirty="0" baseline="-20833" sz="1800" spc="-37" b="1">
                          <a:solidFill>
                            <a:srgbClr val="E14B04"/>
                          </a:solidFill>
                          <a:latin typeface="Times New Roman"/>
                          <a:cs typeface="Times New Roman"/>
                        </a:rPr>
                        <a:t>i</a:t>
                      </a:r>
                      <a:endParaRPr baseline="-20833" sz="1800">
                        <a:latin typeface="Times New Roman"/>
                        <a:cs typeface="Times New Roman"/>
                      </a:endParaRPr>
                    </a:p>
                  </a:txBody>
                  <a:tcPr marL="0" marR="0" marB="0" marT="126364">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381635">
                <a:tc>
                  <a:txBody>
                    <a:bodyPr/>
                    <a:lstStyle/>
                    <a:p>
                      <a:pPr algn="ctr">
                        <a:lnSpc>
                          <a:spcPct val="100000"/>
                        </a:lnSpc>
                        <a:spcBef>
                          <a:spcPts val="495"/>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1</a:t>
                      </a:r>
                      <a:endParaRPr baseline="-20833" sz="1800">
                        <a:latin typeface="Times New Roman"/>
                        <a:cs typeface="Times New Roman"/>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20" b="1">
                          <a:solidFill>
                            <a:srgbClr val="40458B"/>
                          </a:solidFill>
                          <a:latin typeface="Times New Roman"/>
                          <a:cs typeface="Times New Roman"/>
                        </a:rPr>
                        <a:t>0.40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300">
                        <a:lnSpc>
                          <a:spcPct val="100000"/>
                        </a:lnSpc>
                        <a:spcBef>
                          <a:spcPts val="495"/>
                        </a:spcBef>
                      </a:pP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50" b="1">
                          <a:solidFill>
                            <a:srgbClr val="40458B"/>
                          </a:solidFill>
                          <a:latin typeface="Times New Roman"/>
                          <a:cs typeface="Times New Roman"/>
                        </a:rPr>
                        <a:t>1</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0 </a:t>
                      </a: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495"/>
                        </a:spcBef>
                      </a:pPr>
                      <a:r>
                        <a:rPr dirty="0" sz="1800" spc="-50" b="1">
                          <a:solidFill>
                            <a:srgbClr val="40458B"/>
                          </a:solidFill>
                          <a:latin typeface="Times New Roman"/>
                          <a:cs typeface="Times New Roman"/>
                        </a:rPr>
                        <a:t>2</a:t>
                      </a:r>
                      <a:endParaRPr sz="1800">
                        <a:latin typeface="Times New Roman"/>
                        <a:cs typeface="Times New Roman"/>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1635">
                <a:tc>
                  <a:txBody>
                    <a:bodyPr/>
                    <a:lstStyle/>
                    <a:p>
                      <a:pPr algn="ctr">
                        <a:lnSpc>
                          <a:spcPct val="100000"/>
                        </a:lnSpc>
                        <a:spcBef>
                          <a:spcPts val="495"/>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2</a:t>
                      </a:r>
                      <a:endParaRPr baseline="-20833" sz="1800">
                        <a:latin typeface="Times New Roman"/>
                        <a:cs typeface="Times New Roman"/>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20" b="1">
                          <a:solidFill>
                            <a:srgbClr val="40458B"/>
                          </a:solidFill>
                          <a:latin typeface="Times New Roman"/>
                          <a:cs typeface="Times New Roman"/>
                        </a:rPr>
                        <a:t>0.30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300">
                        <a:lnSpc>
                          <a:spcPct val="100000"/>
                        </a:lnSpc>
                        <a:spcBef>
                          <a:spcPts val="495"/>
                        </a:spcBef>
                      </a:pPr>
                      <a:r>
                        <a:rPr dirty="0" sz="1800" b="1">
                          <a:solidFill>
                            <a:srgbClr val="40458B"/>
                          </a:solidFill>
                          <a:latin typeface="Times New Roman"/>
                          <a:cs typeface="Times New Roman"/>
                        </a:rPr>
                        <a:t>1</a:t>
                      </a:r>
                      <a:r>
                        <a:rPr dirty="0" sz="1800" spc="-10" b="1">
                          <a:solidFill>
                            <a:srgbClr val="40458B"/>
                          </a:solidFill>
                          <a:latin typeface="Times New Roman"/>
                          <a:cs typeface="Times New Roman"/>
                        </a:rPr>
                        <a:t> </a:t>
                      </a: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50" b="1">
                          <a:solidFill>
                            <a:srgbClr val="40458B"/>
                          </a:solidFill>
                          <a:latin typeface="Times New Roman"/>
                          <a:cs typeface="Times New Roman"/>
                        </a:rPr>
                        <a:t>2</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0 </a:t>
                      </a:r>
                      <a:r>
                        <a:rPr dirty="0" sz="1800" spc="-50" b="1">
                          <a:solidFill>
                            <a:srgbClr val="40458B"/>
                          </a:solidFill>
                          <a:latin typeface="Times New Roman"/>
                          <a:cs typeface="Times New Roman"/>
                        </a:rPr>
                        <a:t>1</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495"/>
                        </a:spcBef>
                      </a:pPr>
                      <a:r>
                        <a:rPr dirty="0" sz="1800" spc="-50" b="1">
                          <a:solidFill>
                            <a:srgbClr val="40458B"/>
                          </a:solidFill>
                          <a:latin typeface="Times New Roman"/>
                          <a:cs typeface="Times New Roman"/>
                        </a:rPr>
                        <a:t>2</a:t>
                      </a:r>
                      <a:endParaRPr sz="1800">
                        <a:latin typeface="Times New Roman"/>
                        <a:cs typeface="Times New Roman"/>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1635">
                <a:tc>
                  <a:txBody>
                    <a:bodyPr/>
                    <a:lstStyle/>
                    <a:p>
                      <a:pPr algn="ctr">
                        <a:lnSpc>
                          <a:spcPct val="100000"/>
                        </a:lnSpc>
                        <a:spcBef>
                          <a:spcPts val="495"/>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3</a:t>
                      </a:r>
                      <a:endParaRPr baseline="-20833" sz="1800">
                        <a:latin typeface="Times New Roman"/>
                        <a:cs typeface="Times New Roman"/>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20" b="1">
                          <a:solidFill>
                            <a:srgbClr val="40458B"/>
                          </a:solidFill>
                          <a:latin typeface="Times New Roman"/>
                          <a:cs typeface="Times New Roman"/>
                        </a:rPr>
                        <a:t>0.15</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300">
                        <a:lnSpc>
                          <a:spcPct val="100000"/>
                        </a:lnSpc>
                        <a:spcBef>
                          <a:spcPts val="495"/>
                        </a:spcBef>
                      </a:pPr>
                      <a:r>
                        <a:rPr dirty="0" sz="1800" b="1">
                          <a:solidFill>
                            <a:srgbClr val="40458B"/>
                          </a:solidFill>
                          <a:latin typeface="Times New Roman"/>
                          <a:cs typeface="Times New Roman"/>
                        </a:rPr>
                        <a:t>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1 </a:t>
                      </a: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50" b="1">
                          <a:solidFill>
                            <a:srgbClr val="40458B"/>
                          </a:solidFill>
                          <a:latin typeface="Times New Roman"/>
                          <a:cs typeface="Times New Roman"/>
                        </a:rPr>
                        <a:t>3</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1 </a:t>
                      </a: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495"/>
                        </a:spcBef>
                      </a:pPr>
                      <a:r>
                        <a:rPr dirty="0" sz="1800" spc="-50" b="1">
                          <a:solidFill>
                            <a:srgbClr val="40458B"/>
                          </a:solidFill>
                          <a:latin typeface="Times New Roman"/>
                          <a:cs typeface="Times New Roman"/>
                        </a:rPr>
                        <a:t>2</a:t>
                      </a:r>
                      <a:endParaRPr sz="1800">
                        <a:latin typeface="Times New Roman"/>
                        <a:cs typeface="Times New Roman"/>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1635">
                <a:tc>
                  <a:txBody>
                    <a:bodyPr/>
                    <a:lstStyle/>
                    <a:p>
                      <a:pPr algn="ctr">
                        <a:lnSpc>
                          <a:spcPct val="100000"/>
                        </a:lnSpc>
                        <a:spcBef>
                          <a:spcPts val="495"/>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4</a:t>
                      </a:r>
                      <a:endParaRPr baseline="-20833" sz="1800">
                        <a:latin typeface="Times New Roman"/>
                        <a:cs typeface="Times New Roman"/>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20" b="1">
                          <a:solidFill>
                            <a:srgbClr val="40458B"/>
                          </a:solidFill>
                          <a:latin typeface="Times New Roman"/>
                          <a:cs typeface="Times New Roman"/>
                        </a:rPr>
                        <a:t>0.05</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300">
                        <a:lnSpc>
                          <a:spcPct val="100000"/>
                        </a:lnSpc>
                        <a:spcBef>
                          <a:spcPts val="495"/>
                        </a:spcBef>
                      </a:pPr>
                      <a:r>
                        <a:rPr dirty="0" sz="1800" b="1">
                          <a:solidFill>
                            <a:srgbClr val="40458B"/>
                          </a:solidFill>
                          <a:latin typeface="Times New Roman"/>
                          <a:cs typeface="Times New Roman"/>
                        </a:rPr>
                        <a:t>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1 1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0 </a:t>
                      </a: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50" b="1">
                          <a:solidFill>
                            <a:srgbClr val="40458B"/>
                          </a:solidFill>
                          <a:latin typeface="Times New Roman"/>
                          <a:cs typeface="Times New Roman"/>
                        </a:rPr>
                        <a:t>5</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1 1 0 </a:t>
                      </a: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495"/>
                        </a:spcBef>
                      </a:pPr>
                      <a:r>
                        <a:rPr dirty="0" sz="1800" spc="-50" b="1">
                          <a:solidFill>
                            <a:srgbClr val="40458B"/>
                          </a:solidFill>
                          <a:latin typeface="Times New Roman"/>
                          <a:cs typeface="Times New Roman"/>
                        </a:rPr>
                        <a:t>4</a:t>
                      </a:r>
                      <a:endParaRPr sz="1800">
                        <a:latin typeface="Times New Roman"/>
                        <a:cs typeface="Times New Roman"/>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1635">
                <a:tc>
                  <a:txBody>
                    <a:bodyPr/>
                    <a:lstStyle/>
                    <a:p>
                      <a:pPr algn="ctr">
                        <a:lnSpc>
                          <a:spcPct val="100000"/>
                        </a:lnSpc>
                        <a:spcBef>
                          <a:spcPts val="495"/>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5</a:t>
                      </a:r>
                      <a:endParaRPr baseline="-20833" sz="1800">
                        <a:latin typeface="Times New Roman"/>
                        <a:cs typeface="Times New Roman"/>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20" b="1">
                          <a:solidFill>
                            <a:srgbClr val="40458B"/>
                          </a:solidFill>
                          <a:latin typeface="Times New Roman"/>
                          <a:cs typeface="Times New Roman"/>
                        </a:rPr>
                        <a:t>0.04</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300">
                        <a:lnSpc>
                          <a:spcPct val="100000"/>
                        </a:lnSpc>
                        <a:spcBef>
                          <a:spcPts val="495"/>
                        </a:spcBef>
                      </a:pPr>
                      <a:r>
                        <a:rPr dirty="0" sz="1800" b="1">
                          <a:solidFill>
                            <a:srgbClr val="40458B"/>
                          </a:solidFill>
                          <a:latin typeface="Times New Roman"/>
                          <a:cs typeface="Times New Roman"/>
                        </a:rPr>
                        <a:t>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1 1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0 </a:t>
                      </a:r>
                      <a:r>
                        <a:rPr dirty="0" sz="1800" spc="-50" b="1">
                          <a:solidFill>
                            <a:srgbClr val="40458B"/>
                          </a:solidFill>
                          <a:latin typeface="Times New Roman"/>
                          <a:cs typeface="Times New Roman"/>
                        </a:rPr>
                        <a:t>1</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50" b="1">
                          <a:solidFill>
                            <a:srgbClr val="40458B"/>
                          </a:solidFill>
                          <a:latin typeface="Times New Roman"/>
                          <a:cs typeface="Times New Roman"/>
                        </a:rPr>
                        <a:t>5</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1 1 0 </a:t>
                      </a:r>
                      <a:r>
                        <a:rPr dirty="0" sz="1800" spc="-50" b="1">
                          <a:solidFill>
                            <a:srgbClr val="40458B"/>
                          </a:solidFill>
                          <a:latin typeface="Times New Roman"/>
                          <a:cs typeface="Times New Roman"/>
                        </a:rPr>
                        <a:t>1</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495"/>
                        </a:spcBef>
                      </a:pPr>
                      <a:r>
                        <a:rPr dirty="0" sz="1800" spc="-50" b="1">
                          <a:solidFill>
                            <a:srgbClr val="40458B"/>
                          </a:solidFill>
                          <a:latin typeface="Times New Roman"/>
                          <a:cs typeface="Times New Roman"/>
                        </a:rPr>
                        <a:t>4</a:t>
                      </a:r>
                      <a:endParaRPr sz="1800">
                        <a:latin typeface="Times New Roman"/>
                        <a:cs typeface="Times New Roman"/>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1635">
                <a:tc>
                  <a:txBody>
                    <a:bodyPr/>
                    <a:lstStyle/>
                    <a:p>
                      <a:pPr algn="ctr">
                        <a:lnSpc>
                          <a:spcPct val="100000"/>
                        </a:lnSpc>
                        <a:spcBef>
                          <a:spcPts val="495"/>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6</a:t>
                      </a:r>
                      <a:endParaRPr baseline="-20833" sz="1800">
                        <a:latin typeface="Times New Roman"/>
                        <a:cs typeface="Times New Roman"/>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20" b="1">
                          <a:solidFill>
                            <a:srgbClr val="40458B"/>
                          </a:solidFill>
                          <a:latin typeface="Times New Roman"/>
                          <a:cs typeface="Times New Roman"/>
                        </a:rPr>
                        <a:t>0.03</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300">
                        <a:lnSpc>
                          <a:spcPct val="100000"/>
                        </a:lnSpc>
                        <a:spcBef>
                          <a:spcPts val="495"/>
                        </a:spcBef>
                      </a:pPr>
                      <a:r>
                        <a:rPr dirty="0" sz="1800" b="1">
                          <a:solidFill>
                            <a:srgbClr val="40458B"/>
                          </a:solidFill>
                          <a:latin typeface="Times New Roman"/>
                          <a:cs typeface="Times New Roman"/>
                        </a:rPr>
                        <a:t>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1 1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1 </a:t>
                      </a: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50" b="1">
                          <a:solidFill>
                            <a:srgbClr val="40458B"/>
                          </a:solidFill>
                          <a:latin typeface="Times New Roman"/>
                          <a:cs typeface="Times New Roman"/>
                        </a:rPr>
                        <a:t>5</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1 1 1 </a:t>
                      </a: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495"/>
                        </a:spcBef>
                      </a:pPr>
                      <a:r>
                        <a:rPr dirty="0" sz="1800" spc="-50" b="1">
                          <a:solidFill>
                            <a:srgbClr val="40458B"/>
                          </a:solidFill>
                          <a:latin typeface="Times New Roman"/>
                          <a:cs typeface="Times New Roman"/>
                        </a:rPr>
                        <a:t>4</a:t>
                      </a:r>
                      <a:endParaRPr sz="1800">
                        <a:latin typeface="Times New Roman"/>
                        <a:cs typeface="Times New Roman"/>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1635">
                <a:tc>
                  <a:txBody>
                    <a:bodyPr/>
                    <a:lstStyle/>
                    <a:p>
                      <a:pPr algn="ctr">
                        <a:lnSpc>
                          <a:spcPct val="100000"/>
                        </a:lnSpc>
                        <a:spcBef>
                          <a:spcPts val="495"/>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7</a:t>
                      </a:r>
                      <a:endParaRPr baseline="-20833" sz="1800">
                        <a:latin typeface="Times New Roman"/>
                        <a:cs typeface="Times New Roman"/>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495"/>
                        </a:spcBef>
                      </a:pPr>
                      <a:r>
                        <a:rPr dirty="0" sz="1800" spc="-20" b="1">
                          <a:solidFill>
                            <a:srgbClr val="40458B"/>
                          </a:solidFill>
                          <a:latin typeface="Times New Roman"/>
                          <a:cs typeface="Times New Roman"/>
                        </a:rPr>
                        <a:t>0.03</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114300">
                        <a:lnSpc>
                          <a:spcPct val="100000"/>
                        </a:lnSpc>
                        <a:spcBef>
                          <a:spcPts val="495"/>
                        </a:spcBef>
                      </a:pPr>
                      <a:r>
                        <a:rPr dirty="0" sz="1800" b="1">
                          <a:solidFill>
                            <a:srgbClr val="40458B"/>
                          </a:solidFill>
                          <a:latin typeface="Times New Roman"/>
                          <a:cs typeface="Times New Roman"/>
                        </a:rPr>
                        <a:t>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1 1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1 </a:t>
                      </a:r>
                      <a:r>
                        <a:rPr dirty="0" sz="1800" spc="-50" b="1">
                          <a:solidFill>
                            <a:srgbClr val="40458B"/>
                          </a:solidFill>
                          <a:latin typeface="Times New Roman"/>
                          <a:cs typeface="Times New Roman"/>
                        </a:rPr>
                        <a:t>1</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495"/>
                        </a:spcBef>
                      </a:pPr>
                      <a:r>
                        <a:rPr dirty="0" sz="1800" spc="-50" b="1">
                          <a:solidFill>
                            <a:srgbClr val="40458B"/>
                          </a:solidFill>
                          <a:latin typeface="Times New Roman"/>
                          <a:cs typeface="Times New Roman"/>
                        </a:rPr>
                        <a:t>5</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1 1 1 </a:t>
                      </a:r>
                      <a:r>
                        <a:rPr dirty="0" sz="1800" spc="-50" b="1">
                          <a:solidFill>
                            <a:srgbClr val="40458B"/>
                          </a:solidFill>
                          <a:latin typeface="Times New Roman"/>
                          <a:cs typeface="Times New Roman"/>
                        </a:rPr>
                        <a:t>1</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270">
                        <a:lnSpc>
                          <a:spcPct val="100000"/>
                        </a:lnSpc>
                        <a:spcBef>
                          <a:spcPts val="495"/>
                        </a:spcBef>
                      </a:pPr>
                      <a:r>
                        <a:rPr dirty="0" sz="1800" spc="-50" b="1">
                          <a:solidFill>
                            <a:srgbClr val="40458B"/>
                          </a:solidFill>
                          <a:latin typeface="Times New Roman"/>
                          <a:cs typeface="Times New Roman"/>
                        </a:rPr>
                        <a:t>4</a:t>
                      </a:r>
                      <a:endParaRPr sz="1800">
                        <a:latin typeface="Times New Roman"/>
                        <a:cs typeface="Times New Roman"/>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grpSp>
        <p:nvGrpSpPr>
          <p:cNvPr id="13" name="object 13" descr=""/>
          <p:cNvGrpSpPr/>
          <p:nvPr/>
        </p:nvGrpSpPr>
        <p:grpSpPr>
          <a:xfrm>
            <a:off x="5184838" y="3709987"/>
            <a:ext cx="3863340" cy="2751455"/>
            <a:chOff x="5184838" y="3709987"/>
            <a:chExt cx="3863340" cy="2751455"/>
          </a:xfrm>
        </p:grpSpPr>
        <p:sp>
          <p:nvSpPr>
            <p:cNvPr id="14" name="object 14" descr=""/>
            <p:cNvSpPr/>
            <p:nvPr/>
          </p:nvSpPr>
          <p:spPr>
            <a:xfrm>
              <a:off x="5192776" y="3717925"/>
              <a:ext cx="542925" cy="2735580"/>
            </a:xfrm>
            <a:custGeom>
              <a:avLst/>
              <a:gdLst/>
              <a:ahLst/>
              <a:cxnLst/>
              <a:rect l="l" t="t" r="r" b="b"/>
              <a:pathLst>
                <a:path w="542925" h="2735579">
                  <a:moveTo>
                    <a:pt x="0" y="1367663"/>
                  </a:moveTo>
                  <a:lnTo>
                    <a:pt x="401" y="1292617"/>
                  </a:lnTo>
                  <a:lnTo>
                    <a:pt x="1591" y="1218631"/>
                  </a:lnTo>
                  <a:lnTo>
                    <a:pt x="3549" y="1145807"/>
                  </a:lnTo>
                  <a:lnTo>
                    <a:pt x="6255" y="1074250"/>
                  </a:lnTo>
                  <a:lnTo>
                    <a:pt x="9687" y="1004064"/>
                  </a:lnTo>
                  <a:lnTo>
                    <a:pt x="13826" y="935353"/>
                  </a:lnTo>
                  <a:lnTo>
                    <a:pt x="18651" y="868223"/>
                  </a:lnTo>
                  <a:lnTo>
                    <a:pt x="24140" y="802776"/>
                  </a:lnTo>
                  <a:lnTo>
                    <a:pt x="30274" y="739118"/>
                  </a:lnTo>
                  <a:lnTo>
                    <a:pt x="37032" y="677352"/>
                  </a:lnTo>
                  <a:lnTo>
                    <a:pt x="44392" y="617582"/>
                  </a:lnTo>
                  <a:lnTo>
                    <a:pt x="52336" y="559914"/>
                  </a:lnTo>
                  <a:lnTo>
                    <a:pt x="60841" y="504451"/>
                  </a:lnTo>
                  <a:lnTo>
                    <a:pt x="69887" y="451297"/>
                  </a:lnTo>
                  <a:lnTo>
                    <a:pt x="79454" y="400557"/>
                  </a:lnTo>
                  <a:lnTo>
                    <a:pt x="89521" y="352336"/>
                  </a:lnTo>
                  <a:lnTo>
                    <a:pt x="100067" y="306736"/>
                  </a:lnTo>
                  <a:lnTo>
                    <a:pt x="111072" y="263863"/>
                  </a:lnTo>
                  <a:lnTo>
                    <a:pt x="122515" y="223820"/>
                  </a:lnTo>
                  <a:lnTo>
                    <a:pt x="134375" y="186713"/>
                  </a:lnTo>
                  <a:lnTo>
                    <a:pt x="159265" y="121720"/>
                  </a:lnTo>
                  <a:lnTo>
                    <a:pt x="185578" y="69718"/>
                  </a:lnTo>
                  <a:lnTo>
                    <a:pt x="213148" y="31542"/>
                  </a:lnTo>
                  <a:lnTo>
                    <a:pt x="256498" y="2023"/>
                  </a:lnTo>
                  <a:lnTo>
                    <a:pt x="271399" y="0"/>
                  </a:lnTo>
                  <a:lnTo>
                    <a:pt x="286299" y="2023"/>
                  </a:lnTo>
                  <a:lnTo>
                    <a:pt x="329655" y="31542"/>
                  </a:lnTo>
                  <a:lnTo>
                    <a:pt x="357232" y="69718"/>
                  </a:lnTo>
                  <a:lnTo>
                    <a:pt x="383554" y="121720"/>
                  </a:lnTo>
                  <a:lnTo>
                    <a:pt x="408455" y="186713"/>
                  </a:lnTo>
                  <a:lnTo>
                    <a:pt x="420321" y="223820"/>
                  </a:lnTo>
                  <a:lnTo>
                    <a:pt x="431770" y="263863"/>
                  </a:lnTo>
                  <a:lnTo>
                    <a:pt x="442781" y="306736"/>
                  </a:lnTo>
                  <a:lnTo>
                    <a:pt x="453333" y="352336"/>
                  </a:lnTo>
                  <a:lnTo>
                    <a:pt x="463407" y="400557"/>
                  </a:lnTo>
                  <a:lnTo>
                    <a:pt x="472980" y="451297"/>
                  </a:lnTo>
                  <a:lnTo>
                    <a:pt x="482032" y="504451"/>
                  </a:lnTo>
                  <a:lnTo>
                    <a:pt x="490544" y="559914"/>
                  </a:lnTo>
                  <a:lnTo>
                    <a:pt x="498493" y="617582"/>
                  </a:lnTo>
                  <a:lnTo>
                    <a:pt x="505859" y="677352"/>
                  </a:lnTo>
                  <a:lnTo>
                    <a:pt x="512622" y="739118"/>
                  </a:lnTo>
                  <a:lnTo>
                    <a:pt x="518761" y="802776"/>
                  </a:lnTo>
                  <a:lnTo>
                    <a:pt x="524256" y="868223"/>
                  </a:lnTo>
                  <a:lnTo>
                    <a:pt x="529085" y="935353"/>
                  </a:lnTo>
                  <a:lnTo>
                    <a:pt x="533227" y="1004064"/>
                  </a:lnTo>
                  <a:lnTo>
                    <a:pt x="536663" y="1074250"/>
                  </a:lnTo>
                  <a:lnTo>
                    <a:pt x="539371" y="1145807"/>
                  </a:lnTo>
                  <a:lnTo>
                    <a:pt x="541332" y="1218631"/>
                  </a:lnTo>
                  <a:lnTo>
                    <a:pt x="542523" y="1292617"/>
                  </a:lnTo>
                  <a:lnTo>
                    <a:pt x="542925" y="1367663"/>
                  </a:lnTo>
                  <a:lnTo>
                    <a:pt x="542523" y="1442698"/>
                  </a:lnTo>
                  <a:lnTo>
                    <a:pt x="541332" y="1516676"/>
                  </a:lnTo>
                  <a:lnTo>
                    <a:pt x="539371" y="1589492"/>
                  </a:lnTo>
                  <a:lnTo>
                    <a:pt x="536663" y="1661042"/>
                  </a:lnTo>
                  <a:lnTo>
                    <a:pt x="533227" y="1731221"/>
                  </a:lnTo>
                  <a:lnTo>
                    <a:pt x="529085" y="1799926"/>
                  </a:lnTo>
                  <a:lnTo>
                    <a:pt x="524256" y="1867052"/>
                  </a:lnTo>
                  <a:lnTo>
                    <a:pt x="518761" y="1932494"/>
                  </a:lnTo>
                  <a:lnTo>
                    <a:pt x="512622" y="1996149"/>
                  </a:lnTo>
                  <a:lnTo>
                    <a:pt x="505859" y="2057912"/>
                  </a:lnTo>
                  <a:lnTo>
                    <a:pt x="498493" y="2117678"/>
                  </a:lnTo>
                  <a:lnTo>
                    <a:pt x="490544" y="2175345"/>
                  </a:lnTo>
                  <a:lnTo>
                    <a:pt x="482032" y="2230806"/>
                  </a:lnTo>
                  <a:lnTo>
                    <a:pt x="472980" y="2283959"/>
                  </a:lnTo>
                  <a:lnTo>
                    <a:pt x="463407" y="2334698"/>
                  </a:lnTo>
                  <a:lnTo>
                    <a:pt x="453333" y="2382919"/>
                  </a:lnTo>
                  <a:lnTo>
                    <a:pt x="442781" y="2428519"/>
                  </a:lnTo>
                  <a:lnTo>
                    <a:pt x="431770" y="2471392"/>
                  </a:lnTo>
                  <a:lnTo>
                    <a:pt x="420321" y="2511434"/>
                  </a:lnTo>
                  <a:lnTo>
                    <a:pt x="408455" y="2548542"/>
                  </a:lnTo>
                  <a:lnTo>
                    <a:pt x="383554" y="2613537"/>
                  </a:lnTo>
                  <a:lnTo>
                    <a:pt x="357232" y="2665540"/>
                  </a:lnTo>
                  <a:lnTo>
                    <a:pt x="329655" y="2703718"/>
                  </a:lnTo>
                  <a:lnTo>
                    <a:pt x="286299" y="2733238"/>
                  </a:lnTo>
                  <a:lnTo>
                    <a:pt x="271399" y="2735262"/>
                  </a:lnTo>
                  <a:lnTo>
                    <a:pt x="256498" y="2733238"/>
                  </a:lnTo>
                  <a:lnTo>
                    <a:pt x="213148" y="2703718"/>
                  </a:lnTo>
                  <a:lnTo>
                    <a:pt x="185578" y="2665540"/>
                  </a:lnTo>
                  <a:lnTo>
                    <a:pt x="159265" y="2613537"/>
                  </a:lnTo>
                  <a:lnTo>
                    <a:pt x="134375" y="2548542"/>
                  </a:lnTo>
                  <a:lnTo>
                    <a:pt x="122515" y="2511434"/>
                  </a:lnTo>
                  <a:lnTo>
                    <a:pt x="111072" y="2471392"/>
                  </a:lnTo>
                  <a:lnTo>
                    <a:pt x="100067" y="2428519"/>
                  </a:lnTo>
                  <a:lnTo>
                    <a:pt x="89521" y="2382919"/>
                  </a:lnTo>
                  <a:lnTo>
                    <a:pt x="79454" y="2334698"/>
                  </a:lnTo>
                  <a:lnTo>
                    <a:pt x="69887" y="2283959"/>
                  </a:lnTo>
                  <a:lnTo>
                    <a:pt x="60841" y="2230806"/>
                  </a:lnTo>
                  <a:lnTo>
                    <a:pt x="52336" y="2175345"/>
                  </a:lnTo>
                  <a:lnTo>
                    <a:pt x="44392" y="2117678"/>
                  </a:lnTo>
                  <a:lnTo>
                    <a:pt x="37032" y="2057912"/>
                  </a:lnTo>
                  <a:lnTo>
                    <a:pt x="30274" y="1996149"/>
                  </a:lnTo>
                  <a:lnTo>
                    <a:pt x="24140" y="1932494"/>
                  </a:lnTo>
                  <a:lnTo>
                    <a:pt x="18651" y="1867052"/>
                  </a:lnTo>
                  <a:lnTo>
                    <a:pt x="13826" y="1799926"/>
                  </a:lnTo>
                  <a:lnTo>
                    <a:pt x="9687" y="1731221"/>
                  </a:lnTo>
                  <a:lnTo>
                    <a:pt x="6255" y="1661042"/>
                  </a:lnTo>
                  <a:lnTo>
                    <a:pt x="3549" y="1589492"/>
                  </a:lnTo>
                  <a:lnTo>
                    <a:pt x="1591" y="1516676"/>
                  </a:lnTo>
                  <a:lnTo>
                    <a:pt x="401" y="1442698"/>
                  </a:lnTo>
                  <a:lnTo>
                    <a:pt x="0" y="1367663"/>
                  </a:lnTo>
                  <a:close/>
                </a:path>
              </a:pathLst>
            </a:custGeom>
            <a:ln w="15875">
              <a:solidFill>
                <a:srgbClr val="FF09FF"/>
              </a:solidFill>
            </a:ln>
          </p:spPr>
          <p:txBody>
            <a:bodyPr wrap="square" lIns="0" tIns="0" rIns="0" bIns="0" rtlCol="0"/>
            <a:lstStyle/>
            <a:p/>
          </p:txBody>
        </p:sp>
        <p:sp>
          <p:nvSpPr>
            <p:cNvPr id="15" name="object 15" descr=""/>
            <p:cNvSpPr/>
            <p:nvPr/>
          </p:nvSpPr>
          <p:spPr>
            <a:xfrm>
              <a:off x="5734558" y="3984497"/>
              <a:ext cx="3314065" cy="748665"/>
            </a:xfrm>
            <a:custGeom>
              <a:avLst/>
              <a:gdLst/>
              <a:ahLst/>
              <a:cxnLst/>
              <a:rect l="l" t="t" r="r" b="b"/>
              <a:pathLst>
                <a:path w="3314065" h="748664">
                  <a:moveTo>
                    <a:pt x="3237398" y="29493"/>
                  </a:moveTo>
                  <a:lnTo>
                    <a:pt x="0" y="733170"/>
                  </a:lnTo>
                  <a:lnTo>
                    <a:pt x="3428" y="748664"/>
                  </a:lnTo>
                  <a:lnTo>
                    <a:pt x="3240759" y="45001"/>
                  </a:lnTo>
                  <a:lnTo>
                    <a:pt x="3237398" y="29493"/>
                  </a:lnTo>
                  <a:close/>
                </a:path>
                <a:path w="3314065" h="748664">
                  <a:moveTo>
                    <a:pt x="3306440" y="26796"/>
                  </a:moveTo>
                  <a:lnTo>
                    <a:pt x="3249802" y="26796"/>
                  </a:lnTo>
                  <a:lnTo>
                    <a:pt x="3253232" y="42290"/>
                  </a:lnTo>
                  <a:lnTo>
                    <a:pt x="3240759" y="45001"/>
                  </a:lnTo>
                  <a:lnTo>
                    <a:pt x="3247136" y="74421"/>
                  </a:lnTo>
                  <a:lnTo>
                    <a:pt x="3306440" y="26796"/>
                  </a:lnTo>
                  <a:close/>
                </a:path>
                <a:path w="3314065" h="748664">
                  <a:moveTo>
                    <a:pt x="3249802" y="26796"/>
                  </a:moveTo>
                  <a:lnTo>
                    <a:pt x="3237398" y="29493"/>
                  </a:lnTo>
                  <a:lnTo>
                    <a:pt x="3240759" y="45001"/>
                  </a:lnTo>
                  <a:lnTo>
                    <a:pt x="3253232" y="42290"/>
                  </a:lnTo>
                  <a:lnTo>
                    <a:pt x="3249802" y="26796"/>
                  </a:lnTo>
                  <a:close/>
                </a:path>
                <a:path w="3314065" h="748664">
                  <a:moveTo>
                    <a:pt x="3231007" y="0"/>
                  </a:moveTo>
                  <a:lnTo>
                    <a:pt x="3237398" y="29493"/>
                  </a:lnTo>
                  <a:lnTo>
                    <a:pt x="3249802" y="26796"/>
                  </a:lnTo>
                  <a:lnTo>
                    <a:pt x="3306440" y="26796"/>
                  </a:lnTo>
                  <a:lnTo>
                    <a:pt x="3313557" y="21081"/>
                  </a:lnTo>
                  <a:lnTo>
                    <a:pt x="3231007" y="0"/>
                  </a:lnTo>
                  <a:close/>
                </a:path>
              </a:pathLst>
            </a:custGeom>
            <a:solidFill>
              <a:srgbClr val="D50092"/>
            </a:solidFill>
          </p:spPr>
          <p:txBody>
            <a:bodyPr wrap="square" lIns="0" tIns="0" rIns="0" bIns="0" rtlCol="0"/>
            <a:lstStyle/>
            <a:p/>
          </p:txBody>
        </p:sp>
      </p:grpSp>
      <p:sp>
        <p:nvSpPr>
          <p:cNvPr id="16" name="object 16" descr=""/>
          <p:cNvSpPr txBox="1"/>
          <p:nvPr/>
        </p:nvSpPr>
        <p:spPr>
          <a:xfrm>
            <a:off x="9029700" y="3240087"/>
            <a:ext cx="1530350" cy="2892425"/>
          </a:xfrm>
          <a:prstGeom prst="rect">
            <a:avLst/>
          </a:prstGeom>
          <a:solidFill>
            <a:srgbClr val="95A4E1"/>
          </a:solidFill>
        </p:spPr>
        <p:txBody>
          <a:bodyPr wrap="square" lIns="0" tIns="55880" rIns="0" bIns="0" rtlCol="0" vert="horz">
            <a:spAutoFit/>
          </a:bodyPr>
          <a:lstStyle/>
          <a:p>
            <a:pPr marL="92075" marR="106680">
              <a:lnSpc>
                <a:spcPct val="100000"/>
              </a:lnSpc>
              <a:spcBef>
                <a:spcPts val="440"/>
              </a:spcBef>
            </a:pPr>
            <a:r>
              <a:rPr dirty="0" sz="2600" spc="-15">
                <a:solidFill>
                  <a:srgbClr val="FFFF00"/>
                </a:solidFill>
                <a:latin typeface="黑体"/>
                <a:cs typeface="黑体"/>
              </a:rPr>
              <a:t>长度不唯一、变长</a:t>
            </a:r>
            <a:endParaRPr sz="2600">
              <a:latin typeface="黑体"/>
              <a:cs typeface="黑体"/>
            </a:endParaRPr>
          </a:p>
          <a:p>
            <a:pPr marL="92075" marR="106680">
              <a:lnSpc>
                <a:spcPts val="3050"/>
              </a:lnSpc>
              <a:spcBef>
                <a:spcPts val="165"/>
              </a:spcBef>
            </a:pPr>
            <a:r>
              <a:rPr dirty="0" sz="2600" spc="-15">
                <a:solidFill>
                  <a:srgbClr val="FFFF00"/>
                </a:solidFill>
                <a:latin typeface="黑体"/>
                <a:cs typeface="黑体"/>
              </a:rPr>
              <a:t>，会带来什么影响</a:t>
            </a:r>
            <a:endParaRPr sz="2600">
              <a:latin typeface="黑体"/>
              <a:cs typeface="黑体"/>
            </a:endParaRPr>
          </a:p>
          <a:p>
            <a:pPr marL="92075" marR="106680">
              <a:lnSpc>
                <a:spcPts val="3050"/>
              </a:lnSpc>
              <a:spcBef>
                <a:spcPts val="3260"/>
              </a:spcBef>
            </a:pPr>
            <a:r>
              <a:rPr dirty="0" sz="2600" spc="-20">
                <a:solidFill>
                  <a:srgbClr val="FFFF00"/>
                </a:solidFill>
                <a:latin typeface="黑体"/>
                <a:cs typeface="黑体"/>
              </a:rPr>
              <a:t>操作码规</a:t>
            </a:r>
            <a:r>
              <a:rPr dirty="0" sz="2600" spc="-15">
                <a:solidFill>
                  <a:srgbClr val="FFFF00"/>
                </a:solidFill>
                <a:latin typeface="黑体"/>
                <a:cs typeface="黑体"/>
              </a:rPr>
              <a:t>整性太差</a:t>
            </a:r>
            <a:endParaRPr sz="2600">
              <a:latin typeface="黑体"/>
              <a:cs typeface="黑体"/>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567815"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1511046" y="797179"/>
            <a:ext cx="4744085" cy="452120"/>
          </a:xfrm>
          <a:prstGeom prst="rect">
            <a:avLst/>
          </a:prstGeom>
        </p:spPr>
        <p:txBody>
          <a:bodyPr wrap="square" lIns="0" tIns="12065" rIns="0" bIns="0" rtlCol="0" vert="horz">
            <a:spAutoFit/>
          </a:bodyPr>
          <a:lstStyle/>
          <a:p>
            <a:pPr marL="469265" indent="-456565">
              <a:lnSpc>
                <a:spcPct val="100000"/>
              </a:lnSpc>
              <a:spcBef>
                <a:spcPts val="95"/>
              </a:spcBef>
              <a:buClr>
                <a:srgbClr val="40458B"/>
              </a:buClr>
              <a:buFont typeface="Wingdings"/>
              <a:buChar char=""/>
              <a:tabLst>
                <a:tab pos="469265" algn="l"/>
              </a:tabLst>
            </a:pPr>
            <a:r>
              <a:rPr dirty="0" sz="2800" spc="-40" b="1">
                <a:solidFill>
                  <a:srgbClr val="006FC0"/>
                </a:solidFill>
                <a:latin typeface="微软雅黑"/>
                <a:cs typeface="微软雅黑"/>
              </a:rPr>
              <a:t>根据上页引入扩展操作码：</a:t>
            </a:r>
            <a:endParaRPr sz="2800">
              <a:latin typeface="微软雅黑"/>
              <a:cs typeface="微软雅黑"/>
            </a:endParaRPr>
          </a:p>
        </p:txBody>
      </p:sp>
      <p:graphicFrame>
        <p:nvGraphicFramePr>
          <p:cNvPr id="5" name="object 5" descr=""/>
          <p:cNvGraphicFramePr>
            <a:graphicFrameLocks noGrp="1"/>
          </p:cNvGraphicFramePr>
          <p:nvPr/>
        </p:nvGraphicFramePr>
        <p:xfrm>
          <a:off x="3705288" y="1685988"/>
          <a:ext cx="6802755" cy="3700145"/>
        </p:xfrm>
        <a:graphic>
          <a:graphicData uri="http://schemas.openxmlformats.org/drawingml/2006/table">
            <a:tbl>
              <a:tblPr firstRow="1" bandRow="1">
                <a:tableStyleId>{2D5ABB26-0587-4C30-8999-92F81FD0307C}</a:tableStyleId>
              </a:tblPr>
              <a:tblGrid>
                <a:gridCol w="845819"/>
                <a:gridCol w="1169670"/>
                <a:gridCol w="1235710"/>
                <a:gridCol w="845820"/>
                <a:gridCol w="1755775"/>
                <a:gridCol w="843915"/>
              </a:tblGrid>
              <a:tr h="1028700">
                <a:tc>
                  <a:txBody>
                    <a:bodyPr/>
                    <a:lstStyle/>
                    <a:p>
                      <a:pPr>
                        <a:lnSpc>
                          <a:spcPct val="100000"/>
                        </a:lnSpc>
                        <a:spcBef>
                          <a:spcPts val="975"/>
                        </a:spcBef>
                      </a:pPr>
                      <a:endParaRPr sz="1800">
                        <a:latin typeface="Times New Roman"/>
                        <a:cs typeface="Times New Roman"/>
                      </a:endParaRPr>
                    </a:p>
                    <a:p>
                      <a:pPr algn="ctr" marL="635">
                        <a:lnSpc>
                          <a:spcPct val="100000"/>
                        </a:lnSpc>
                      </a:pPr>
                      <a:r>
                        <a:rPr dirty="0" sz="1800" spc="-30" b="1">
                          <a:solidFill>
                            <a:srgbClr val="E14B04"/>
                          </a:solidFill>
                          <a:latin typeface="宋体"/>
                          <a:cs typeface="宋体"/>
                        </a:rPr>
                        <a:t>指令</a:t>
                      </a:r>
                      <a:endParaRPr sz="1800">
                        <a:latin typeface="宋体"/>
                        <a:cs typeface="宋体"/>
                      </a:endParaRPr>
                    </a:p>
                  </a:txBody>
                  <a:tcPr marL="0" marR="0" marB="0" marT="12382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spcBef>
                          <a:spcPts val="975"/>
                        </a:spcBef>
                      </a:pPr>
                      <a:endParaRPr sz="1800">
                        <a:latin typeface="Times New Roman"/>
                        <a:cs typeface="Times New Roman"/>
                      </a:endParaRPr>
                    </a:p>
                    <a:p>
                      <a:pPr algn="ctr" marL="1270">
                        <a:lnSpc>
                          <a:spcPct val="100000"/>
                        </a:lnSpc>
                      </a:pPr>
                      <a:r>
                        <a:rPr dirty="0" sz="1800" spc="-10" b="1">
                          <a:solidFill>
                            <a:srgbClr val="E14B04"/>
                          </a:solidFill>
                          <a:latin typeface="宋体"/>
                          <a:cs typeface="宋体"/>
                        </a:rPr>
                        <a:t>频度</a:t>
                      </a:r>
                      <a:r>
                        <a:rPr dirty="0" sz="1800" spc="-25" b="1">
                          <a:solidFill>
                            <a:srgbClr val="E14B04"/>
                          </a:solidFill>
                          <a:latin typeface="Times New Roman"/>
                          <a:cs typeface="Times New Roman"/>
                        </a:rPr>
                        <a:t>p</a:t>
                      </a:r>
                      <a:r>
                        <a:rPr dirty="0" baseline="-20833" sz="1800" spc="-37" b="1">
                          <a:solidFill>
                            <a:srgbClr val="E14B04"/>
                          </a:solidFill>
                          <a:latin typeface="Times New Roman"/>
                          <a:cs typeface="Times New Roman"/>
                        </a:rPr>
                        <a:t>i</a:t>
                      </a:r>
                      <a:endParaRPr baseline="-20833" sz="1800">
                        <a:latin typeface="Times New Roman"/>
                        <a:cs typeface="Times New Roman"/>
                      </a:endParaRPr>
                    </a:p>
                  </a:txBody>
                  <a:tcPr marL="0" marR="0" marB="0" marT="12382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41910" marR="34925">
                        <a:lnSpc>
                          <a:spcPct val="120000"/>
                        </a:lnSpc>
                        <a:spcBef>
                          <a:spcPts val="1230"/>
                        </a:spcBef>
                      </a:pPr>
                      <a:r>
                        <a:rPr dirty="0" sz="1800" spc="-20" b="1">
                          <a:solidFill>
                            <a:srgbClr val="E14B04"/>
                          </a:solidFill>
                          <a:latin typeface="宋体"/>
                          <a:cs typeface="宋体"/>
                        </a:rPr>
                        <a:t>操作码使用哈夫曼编码</a:t>
                      </a:r>
                      <a:endParaRPr sz="1800">
                        <a:latin typeface="宋体"/>
                        <a:cs typeface="宋体"/>
                      </a:endParaRPr>
                    </a:p>
                  </a:txBody>
                  <a:tcPr marL="0" marR="0" marB="0" marT="15621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77470">
                        <a:lnSpc>
                          <a:spcPct val="100000"/>
                        </a:lnSpc>
                        <a:spcBef>
                          <a:spcPts val="1639"/>
                        </a:spcBef>
                      </a:pPr>
                      <a:r>
                        <a:rPr dirty="0" sz="1800" spc="-25" b="1">
                          <a:solidFill>
                            <a:srgbClr val="E14B04"/>
                          </a:solidFill>
                          <a:latin typeface="宋体"/>
                          <a:cs typeface="宋体"/>
                        </a:rPr>
                        <a:t>操作码</a:t>
                      </a:r>
                      <a:endParaRPr sz="1800">
                        <a:latin typeface="宋体"/>
                        <a:cs typeface="宋体"/>
                      </a:endParaRPr>
                    </a:p>
                    <a:p>
                      <a:pPr marL="139700">
                        <a:lnSpc>
                          <a:spcPct val="100000"/>
                        </a:lnSpc>
                        <a:spcBef>
                          <a:spcPts val="650"/>
                        </a:spcBef>
                      </a:pPr>
                      <a:r>
                        <a:rPr dirty="0" sz="1800" spc="-20" b="1">
                          <a:solidFill>
                            <a:srgbClr val="E14B04"/>
                          </a:solidFill>
                          <a:latin typeface="宋体"/>
                          <a:cs typeface="宋体"/>
                        </a:rPr>
                        <a:t>长度</a:t>
                      </a:r>
                      <a:r>
                        <a:rPr dirty="0" sz="1800" spc="-25" b="1">
                          <a:solidFill>
                            <a:srgbClr val="E14B04"/>
                          </a:solidFill>
                          <a:latin typeface="Times New Roman"/>
                          <a:cs typeface="Times New Roman"/>
                        </a:rPr>
                        <a:t>l</a:t>
                      </a:r>
                      <a:r>
                        <a:rPr dirty="0" baseline="-20833" sz="1800" spc="-37" b="1">
                          <a:solidFill>
                            <a:srgbClr val="E14B04"/>
                          </a:solidFill>
                          <a:latin typeface="Times New Roman"/>
                          <a:cs typeface="Times New Roman"/>
                        </a:rPr>
                        <a:t>i</a:t>
                      </a:r>
                      <a:endParaRPr baseline="-20833" sz="1800">
                        <a:latin typeface="Times New Roman"/>
                        <a:cs typeface="Times New Roman"/>
                      </a:endParaRPr>
                    </a:p>
                  </a:txBody>
                  <a:tcPr marL="0" marR="0" marB="0" marT="208279">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635" marR="136525">
                        <a:lnSpc>
                          <a:spcPct val="110000"/>
                        </a:lnSpc>
                        <a:spcBef>
                          <a:spcPts val="1480"/>
                        </a:spcBef>
                      </a:pPr>
                      <a:r>
                        <a:rPr dirty="0" sz="1800" spc="-20" b="1">
                          <a:solidFill>
                            <a:srgbClr val="E14B04"/>
                          </a:solidFill>
                          <a:latin typeface="宋体"/>
                          <a:cs typeface="宋体"/>
                        </a:rPr>
                        <a:t>利用哈夫曼概念的扩展操作码</a:t>
                      </a:r>
                      <a:endParaRPr sz="1800">
                        <a:latin typeface="宋体"/>
                        <a:cs typeface="宋体"/>
                      </a:endParaRPr>
                    </a:p>
                  </a:txBody>
                  <a:tcPr marL="0" marR="0" marB="0" marT="18796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77470">
                        <a:lnSpc>
                          <a:spcPct val="100000"/>
                        </a:lnSpc>
                        <a:spcBef>
                          <a:spcPts val="1639"/>
                        </a:spcBef>
                      </a:pPr>
                      <a:r>
                        <a:rPr dirty="0" sz="1800" spc="-25" b="1">
                          <a:solidFill>
                            <a:srgbClr val="E14B04"/>
                          </a:solidFill>
                          <a:latin typeface="宋体"/>
                          <a:cs typeface="宋体"/>
                        </a:rPr>
                        <a:t>操作码</a:t>
                      </a:r>
                      <a:endParaRPr sz="1800">
                        <a:latin typeface="宋体"/>
                        <a:cs typeface="宋体"/>
                      </a:endParaRPr>
                    </a:p>
                    <a:p>
                      <a:pPr marL="139065">
                        <a:lnSpc>
                          <a:spcPct val="100000"/>
                        </a:lnSpc>
                        <a:spcBef>
                          <a:spcPts val="650"/>
                        </a:spcBef>
                      </a:pPr>
                      <a:r>
                        <a:rPr dirty="0" sz="1800" spc="-20" b="1">
                          <a:solidFill>
                            <a:srgbClr val="E14B04"/>
                          </a:solidFill>
                          <a:latin typeface="宋体"/>
                          <a:cs typeface="宋体"/>
                        </a:rPr>
                        <a:t>长度</a:t>
                      </a:r>
                      <a:r>
                        <a:rPr dirty="0" sz="1800" spc="-25" b="1">
                          <a:solidFill>
                            <a:srgbClr val="E14B04"/>
                          </a:solidFill>
                          <a:latin typeface="Times New Roman"/>
                          <a:cs typeface="Times New Roman"/>
                        </a:rPr>
                        <a:t>l</a:t>
                      </a:r>
                      <a:r>
                        <a:rPr dirty="0" baseline="-20833" sz="1800" spc="-37" b="1">
                          <a:solidFill>
                            <a:srgbClr val="E14B04"/>
                          </a:solidFill>
                          <a:latin typeface="Times New Roman"/>
                          <a:cs typeface="Times New Roman"/>
                        </a:rPr>
                        <a:t>i</a:t>
                      </a:r>
                      <a:endParaRPr baseline="-20833" sz="1800">
                        <a:latin typeface="Times New Roman"/>
                        <a:cs typeface="Times New Roman"/>
                      </a:endParaRPr>
                    </a:p>
                  </a:txBody>
                  <a:tcPr marL="0" marR="0" marB="0" marT="208279">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381635">
                <a:tc>
                  <a:txBody>
                    <a:bodyPr/>
                    <a:lstStyle/>
                    <a:p>
                      <a:pPr algn="ctr" marL="635">
                        <a:lnSpc>
                          <a:spcPct val="100000"/>
                        </a:lnSpc>
                        <a:spcBef>
                          <a:spcPts val="495"/>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1</a:t>
                      </a:r>
                      <a:endParaRPr baseline="-20833" sz="1800">
                        <a:latin typeface="Times New Roman"/>
                        <a:cs typeface="Times New Roman"/>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495"/>
                        </a:spcBef>
                      </a:pPr>
                      <a:r>
                        <a:rPr dirty="0" sz="1800" spc="-20" b="1">
                          <a:solidFill>
                            <a:srgbClr val="40458B"/>
                          </a:solidFill>
                          <a:latin typeface="Times New Roman"/>
                          <a:cs typeface="Times New Roman"/>
                        </a:rPr>
                        <a:t>0.40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50" b="1">
                          <a:solidFill>
                            <a:srgbClr val="40458B"/>
                          </a:solidFill>
                          <a:latin typeface="Times New Roman"/>
                          <a:cs typeface="Times New Roman"/>
                        </a:rPr>
                        <a:t>1</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FF0000"/>
                          </a:solidFill>
                          <a:latin typeface="Times New Roman"/>
                          <a:cs typeface="Times New Roman"/>
                        </a:rPr>
                        <a:t>0 </a:t>
                      </a:r>
                      <a:r>
                        <a:rPr dirty="0" sz="1800" spc="-50" b="1">
                          <a:solidFill>
                            <a:srgbClr val="FF0000"/>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495"/>
                        </a:spcBef>
                      </a:pPr>
                      <a:r>
                        <a:rPr dirty="0" sz="1800" spc="-50" b="1">
                          <a:solidFill>
                            <a:srgbClr val="40458B"/>
                          </a:solidFill>
                          <a:latin typeface="Times New Roman"/>
                          <a:cs typeface="Times New Roman"/>
                        </a:rPr>
                        <a:t>2</a:t>
                      </a:r>
                      <a:endParaRPr sz="1800">
                        <a:latin typeface="Times New Roman"/>
                        <a:cs typeface="Times New Roman"/>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1635">
                <a:tc>
                  <a:txBody>
                    <a:bodyPr/>
                    <a:lstStyle/>
                    <a:p>
                      <a:pPr algn="ctr" marL="635">
                        <a:lnSpc>
                          <a:spcPct val="100000"/>
                        </a:lnSpc>
                        <a:spcBef>
                          <a:spcPts val="495"/>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2</a:t>
                      </a:r>
                      <a:endParaRPr baseline="-20833" sz="1800">
                        <a:latin typeface="Times New Roman"/>
                        <a:cs typeface="Times New Roman"/>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495"/>
                        </a:spcBef>
                      </a:pPr>
                      <a:r>
                        <a:rPr dirty="0" sz="1800" spc="-20" b="1">
                          <a:solidFill>
                            <a:srgbClr val="40458B"/>
                          </a:solidFill>
                          <a:latin typeface="Times New Roman"/>
                          <a:cs typeface="Times New Roman"/>
                        </a:rPr>
                        <a:t>0.30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1</a:t>
                      </a:r>
                      <a:r>
                        <a:rPr dirty="0" sz="1800" spc="-10" b="1">
                          <a:solidFill>
                            <a:srgbClr val="40458B"/>
                          </a:solidFill>
                          <a:latin typeface="Times New Roman"/>
                          <a:cs typeface="Times New Roman"/>
                        </a:rPr>
                        <a:t> </a:t>
                      </a: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50" b="1">
                          <a:solidFill>
                            <a:srgbClr val="40458B"/>
                          </a:solidFill>
                          <a:latin typeface="Times New Roman"/>
                          <a:cs typeface="Times New Roman"/>
                        </a:rPr>
                        <a:t>2</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FF0000"/>
                          </a:solidFill>
                          <a:latin typeface="Times New Roman"/>
                          <a:cs typeface="Times New Roman"/>
                        </a:rPr>
                        <a:t>0 </a:t>
                      </a:r>
                      <a:r>
                        <a:rPr dirty="0" sz="1800" spc="-50" b="1">
                          <a:solidFill>
                            <a:srgbClr val="FF0000"/>
                          </a:solidFill>
                          <a:latin typeface="Times New Roman"/>
                          <a:cs typeface="Times New Roman"/>
                        </a:rPr>
                        <a:t>1</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495"/>
                        </a:spcBef>
                      </a:pPr>
                      <a:r>
                        <a:rPr dirty="0" sz="1800" spc="-50" b="1">
                          <a:solidFill>
                            <a:srgbClr val="40458B"/>
                          </a:solidFill>
                          <a:latin typeface="Times New Roman"/>
                          <a:cs typeface="Times New Roman"/>
                        </a:rPr>
                        <a:t>2</a:t>
                      </a:r>
                      <a:endParaRPr sz="1800">
                        <a:latin typeface="Times New Roman"/>
                        <a:cs typeface="Times New Roman"/>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1635">
                <a:tc>
                  <a:txBody>
                    <a:bodyPr/>
                    <a:lstStyle/>
                    <a:p>
                      <a:pPr algn="ctr" marL="635">
                        <a:lnSpc>
                          <a:spcPct val="100000"/>
                        </a:lnSpc>
                        <a:spcBef>
                          <a:spcPts val="495"/>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3</a:t>
                      </a:r>
                      <a:endParaRPr baseline="-20833" sz="1800">
                        <a:latin typeface="Times New Roman"/>
                        <a:cs typeface="Times New Roman"/>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495"/>
                        </a:spcBef>
                      </a:pPr>
                      <a:r>
                        <a:rPr dirty="0" sz="1800" spc="-20" b="1">
                          <a:solidFill>
                            <a:srgbClr val="40458B"/>
                          </a:solidFill>
                          <a:latin typeface="Times New Roman"/>
                          <a:cs typeface="Times New Roman"/>
                        </a:rPr>
                        <a:t>0.15</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1 </a:t>
                      </a: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50" b="1">
                          <a:solidFill>
                            <a:srgbClr val="40458B"/>
                          </a:solidFill>
                          <a:latin typeface="Times New Roman"/>
                          <a:cs typeface="Times New Roman"/>
                        </a:rPr>
                        <a:t>3</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FF0000"/>
                          </a:solidFill>
                          <a:latin typeface="Times New Roman"/>
                          <a:cs typeface="Times New Roman"/>
                        </a:rPr>
                        <a:t>1 </a:t>
                      </a:r>
                      <a:r>
                        <a:rPr dirty="0" sz="1800" spc="-50" b="1">
                          <a:solidFill>
                            <a:srgbClr val="FF0000"/>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495"/>
                        </a:spcBef>
                      </a:pPr>
                      <a:r>
                        <a:rPr dirty="0" sz="1800" spc="-50" b="1">
                          <a:solidFill>
                            <a:srgbClr val="40458B"/>
                          </a:solidFill>
                          <a:latin typeface="Times New Roman"/>
                          <a:cs typeface="Times New Roman"/>
                        </a:rPr>
                        <a:t>2</a:t>
                      </a:r>
                      <a:endParaRPr sz="1800">
                        <a:latin typeface="Times New Roman"/>
                        <a:cs typeface="Times New Roman"/>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1635">
                <a:tc>
                  <a:txBody>
                    <a:bodyPr/>
                    <a:lstStyle/>
                    <a:p>
                      <a:pPr algn="ctr" marL="635">
                        <a:lnSpc>
                          <a:spcPct val="100000"/>
                        </a:lnSpc>
                        <a:spcBef>
                          <a:spcPts val="495"/>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4</a:t>
                      </a:r>
                      <a:endParaRPr baseline="-20833" sz="1800">
                        <a:latin typeface="Times New Roman"/>
                        <a:cs typeface="Times New Roman"/>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495"/>
                        </a:spcBef>
                      </a:pPr>
                      <a:r>
                        <a:rPr dirty="0" sz="1800" spc="-20" b="1">
                          <a:solidFill>
                            <a:srgbClr val="40458B"/>
                          </a:solidFill>
                          <a:latin typeface="Times New Roman"/>
                          <a:cs typeface="Times New Roman"/>
                        </a:rPr>
                        <a:t>0.05</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1 1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0 </a:t>
                      </a: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50" b="1">
                          <a:solidFill>
                            <a:srgbClr val="40458B"/>
                          </a:solidFill>
                          <a:latin typeface="Times New Roman"/>
                          <a:cs typeface="Times New Roman"/>
                        </a:rPr>
                        <a:t>5</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1 1 </a:t>
                      </a:r>
                      <a:r>
                        <a:rPr dirty="0" sz="1800" b="1">
                          <a:solidFill>
                            <a:srgbClr val="FF0000"/>
                          </a:solidFill>
                          <a:latin typeface="Times New Roman"/>
                          <a:cs typeface="Times New Roman"/>
                        </a:rPr>
                        <a:t>0</a:t>
                      </a:r>
                      <a:r>
                        <a:rPr dirty="0" sz="1800" spc="-10" b="1">
                          <a:solidFill>
                            <a:srgbClr val="FF0000"/>
                          </a:solidFill>
                          <a:latin typeface="Times New Roman"/>
                          <a:cs typeface="Times New Roman"/>
                        </a:rPr>
                        <a:t> </a:t>
                      </a:r>
                      <a:r>
                        <a:rPr dirty="0" sz="1800" spc="-50" b="1">
                          <a:solidFill>
                            <a:srgbClr val="FF0000"/>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495"/>
                        </a:spcBef>
                      </a:pPr>
                      <a:r>
                        <a:rPr dirty="0" sz="1800" spc="-50" b="1">
                          <a:solidFill>
                            <a:srgbClr val="40458B"/>
                          </a:solidFill>
                          <a:latin typeface="Times New Roman"/>
                          <a:cs typeface="Times New Roman"/>
                        </a:rPr>
                        <a:t>4</a:t>
                      </a:r>
                      <a:endParaRPr sz="1800">
                        <a:latin typeface="Times New Roman"/>
                        <a:cs typeface="Times New Roman"/>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1635">
                <a:tc>
                  <a:txBody>
                    <a:bodyPr/>
                    <a:lstStyle/>
                    <a:p>
                      <a:pPr algn="ctr" marL="635">
                        <a:lnSpc>
                          <a:spcPct val="100000"/>
                        </a:lnSpc>
                        <a:spcBef>
                          <a:spcPts val="490"/>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5</a:t>
                      </a:r>
                      <a:endParaRPr baseline="-20833" sz="1800">
                        <a:latin typeface="Times New Roman"/>
                        <a:cs typeface="Times New Roman"/>
                      </a:endParaRPr>
                    </a:p>
                  </a:txBody>
                  <a:tcPr marL="0" marR="0" marB="0" marT="6223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490"/>
                        </a:spcBef>
                      </a:pPr>
                      <a:r>
                        <a:rPr dirty="0" sz="1800" spc="-20" b="1">
                          <a:solidFill>
                            <a:srgbClr val="40458B"/>
                          </a:solidFill>
                          <a:latin typeface="Times New Roman"/>
                          <a:cs typeface="Times New Roman"/>
                        </a:rPr>
                        <a:t>0.04</a:t>
                      </a:r>
                      <a:endParaRPr sz="1800">
                        <a:latin typeface="Times New Roman"/>
                        <a:cs typeface="Times New Roman"/>
                      </a:endParaRPr>
                    </a:p>
                  </a:txBody>
                  <a:tcPr marL="0" marR="0" marB="0" marT="6223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0"/>
                        </a:spcBef>
                      </a:pPr>
                      <a:r>
                        <a:rPr dirty="0" sz="1800" b="1">
                          <a:solidFill>
                            <a:srgbClr val="40458B"/>
                          </a:solidFill>
                          <a:latin typeface="Times New Roman"/>
                          <a:cs typeface="Times New Roman"/>
                        </a:rPr>
                        <a:t>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1 1 0 </a:t>
                      </a:r>
                      <a:r>
                        <a:rPr dirty="0" sz="1800" spc="-50" b="1">
                          <a:solidFill>
                            <a:srgbClr val="40458B"/>
                          </a:solidFill>
                          <a:latin typeface="Times New Roman"/>
                          <a:cs typeface="Times New Roman"/>
                        </a:rPr>
                        <a:t>1</a:t>
                      </a:r>
                      <a:endParaRPr sz="1800">
                        <a:latin typeface="Times New Roman"/>
                        <a:cs typeface="Times New Roman"/>
                      </a:endParaRPr>
                    </a:p>
                  </a:txBody>
                  <a:tcPr marL="0" marR="0" marB="0" marT="6223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0"/>
                        </a:spcBef>
                      </a:pPr>
                      <a:r>
                        <a:rPr dirty="0" sz="1800" spc="-50" b="1">
                          <a:solidFill>
                            <a:srgbClr val="40458B"/>
                          </a:solidFill>
                          <a:latin typeface="Times New Roman"/>
                          <a:cs typeface="Times New Roman"/>
                        </a:rPr>
                        <a:t>5</a:t>
                      </a:r>
                      <a:endParaRPr sz="1800">
                        <a:latin typeface="Times New Roman"/>
                        <a:cs typeface="Times New Roman"/>
                      </a:endParaRPr>
                    </a:p>
                  </a:txBody>
                  <a:tcPr marL="0" marR="0" marB="0" marT="6223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0"/>
                        </a:spcBef>
                      </a:pPr>
                      <a:r>
                        <a:rPr dirty="0" sz="1800" b="1">
                          <a:solidFill>
                            <a:srgbClr val="40458B"/>
                          </a:solidFill>
                          <a:latin typeface="Times New Roman"/>
                          <a:cs typeface="Times New Roman"/>
                        </a:rPr>
                        <a:t>1 1 </a:t>
                      </a:r>
                      <a:r>
                        <a:rPr dirty="0" sz="1800" b="1">
                          <a:solidFill>
                            <a:srgbClr val="FF0000"/>
                          </a:solidFill>
                          <a:latin typeface="Times New Roman"/>
                          <a:cs typeface="Times New Roman"/>
                        </a:rPr>
                        <a:t>0</a:t>
                      </a:r>
                      <a:r>
                        <a:rPr dirty="0" sz="1800" spc="-10" b="1">
                          <a:solidFill>
                            <a:srgbClr val="FF0000"/>
                          </a:solidFill>
                          <a:latin typeface="Times New Roman"/>
                          <a:cs typeface="Times New Roman"/>
                        </a:rPr>
                        <a:t> </a:t>
                      </a:r>
                      <a:r>
                        <a:rPr dirty="0" sz="1800" spc="-50" b="1">
                          <a:solidFill>
                            <a:srgbClr val="FF0000"/>
                          </a:solidFill>
                          <a:latin typeface="Times New Roman"/>
                          <a:cs typeface="Times New Roman"/>
                        </a:rPr>
                        <a:t>1</a:t>
                      </a:r>
                      <a:endParaRPr sz="1800">
                        <a:latin typeface="Times New Roman"/>
                        <a:cs typeface="Times New Roman"/>
                      </a:endParaRPr>
                    </a:p>
                  </a:txBody>
                  <a:tcPr marL="0" marR="0" marB="0" marT="6223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490"/>
                        </a:spcBef>
                      </a:pPr>
                      <a:r>
                        <a:rPr dirty="0" sz="1800" spc="-50" b="1">
                          <a:solidFill>
                            <a:srgbClr val="40458B"/>
                          </a:solidFill>
                          <a:latin typeface="Times New Roman"/>
                          <a:cs typeface="Times New Roman"/>
                        </a:rPr>
                        <a:t>4</a:t>
                      </a:r>
                      <a:endParaRPr sz="1800">
                        <a:latin typeface="Times New Roman"/>
                        <a:cs typeface="Times New Roman"/>
                      </a:endParaRPr>
                    </a:p>
                  </a:txBody>
                  <a:tcPr marL="0" marR="0" marB="0" marT="6223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1635">
                <a:tc>
                  <a:txBody>
                    <a:bodyPr/>
                    <a:lstStyle/>
                    <a:p>
                      <a:pPr algn="ctr" marL="635">
                        <a:lnSpc>
                          <a:spcPct val="100000"/>
                        </a:lnSpc>
                        <a:spcBef>
                          <a:spcPts val="495"/>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6</a:t>
                      </a:r>
                      <a:endParaRPr baseline="-20833" sz="1800">
                        <a:latin typeface="Times New Roman"/>
                        <a:cs typeface="Times New Roman"/>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495"/>
                        </a:spcBef>
                      </a:pPr>
                      <a:r>
                        <a:rPr dirty="0" sz="1800" spc="-20" b="1">
                          <a:solidFill>
                            <a:srgbClr val="40458B"/>
                          </a:solidFill>
                          <a:latin typeface="Times New Roman"/>
                          <a:cs typeface="Times New Roman"/>
                        </a:rPr>
                        <a:t>0.03</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1 1 1 </a:t>
                      </a:r>
                      <a:r>
                        <a:rPr dirty="0" sz="1800" spc="-50" b="1">
                          <a:solidFill>
                            <a:srgbClr val="40458B"/>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495"/>
                        </a:spcBef>
                      </a:pPr>
                      <a:r>
                        <a:rPr dirty="0" sz="1800" spc="-50" b="1">
                          <a:solidFill>
                            <a:srgbClr val="40458B"/>
                          </a:solidFill>
                          <a:latin typeface="Times New Roman"/>
                          <a:cs typeface="Times New Roman"/>
                        </a:rPr>
                        <a:t>5</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1 1 </a:t>
                      </a:r>
                      <a:r>
                        <a:rPr dirty="0" sz="1800" b="1">
                          <a:solidFill>
                            <a:srgbClr val="FF0000"/>
                          </a:solidFill>
                          <a:latin typeface="Times New Roman"/>
                          <a:cs typeface="Times New Roman"/>
                        </a:rPr>
                        <a:t>1</a:t>
                      </a:r>
                      <a:r>
                        <a:rPr dirty="0" sz="1800" spc="-10" b="1">
                          <a:solidFill>
                            <a:srgbClr val="FF0000"/>
                          </a:solidFill>
                          <a:latin typeface="Times New Roman"/>
                          <a:cs typeface="Times New Roman"/>
                        </a:rPr>
                        <a:t> </a:t>
                      </a:r>
                      <a:r>
                        <a:rPr dirty="0" sz="1800" spc="-50" b="1">
                          <a:solidFill>
                            <a:srgbClr val="FF0000"/>
                          </a:solidFill>
                          <a:latin typeface="Times New Roman"/>
                          <a:cs typeface="Times New Roman"/>
                        </a:rPr>
                        <a:t>0</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495"/>
                        </a:spcBef>
                      </a:pPr>
                      <a:r>
                        <a:rPr dirty="0" sz="1800" spc="-50" b="1">
                          <a:solidFill>
                            <a:srgbClr val="40458B"/>
                          </a:solidFill>
                          <a:latin typeface="Times New Roman"/>
                          <a:cs typeface="Times New Roman"/>
                        </a:rPr>
                        <a:t>4</a:t>
                      </a:r>
                      <a:endParaRPr sz="1800">
                        <a:latin typeface="Times New Roman"/>
                        <a:cs typeface="Times New Roman"/>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1635">
                <a:tc>
                  <a:txBody>
                    <a:bodyPr/>
                    <a:lstStyle/>
                    <a:p>
                      <a:pPr algn="ctr" marL="635">
                        <a:lnSpc>
                          <a:spcPct val="100000"/>
                        </a:lnSpc>
                        <a:spcBef>
                          <a:spcPts val="495"/>
                        </a:spcBef>
                      </a:pPr>
                      <a:r>
                        <a:rPr dirty="0" sz="1800" spc="-25" b="1">
                          <a:solidFill>
                            <a:srgbClr val="339933"/>
                          </a:solidFill>
                          <a:latin typeface="Times New Roman"/>
                          <a:cs typeface="Times New Roman"/>
                        </a:rPr>
                        <a:t>I</a:t>
                      </a:r>
                      <a:r>
                        <a:rPr dirty="0" baseline="-20833" sz="1800" spc="-37" b="1">
                          <a:solidFill>
                            <a:srgbClr val="339933"/>
                          </a:solidFill>
                          <a:latin typeface="Times New Roman"/>
                          <a:cs typeface="Times New Roman"/>
                        </a:rPr>
                        <a:t>7</a:t>
                      </a:r>
                      <a:endParaRPr baseline="-20833" sz="1800">
                        <a:latin typeface="Times New Roman"/>
                        <a:cs typeface="Times New Roman"/>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270">
                        <a:lnSpc>
                          <a:spcPct val="100000"/>
                        </a:lnSpc>
                        <a:spcBef>
                          <a:spcPts val="495"/>
                        </a:spcBef>
                      </a:pPr>
                      <a:r>
                        <a:rPr dirty="0" sz="1800" spc="-20" b="1">
                          <a:solidFill>
                            <a:srgbClr val="40458B"/>
                          </a:solidFill>
                          <a:latin typeface="Times New Roman"/>
                          <a:cs typeface="Times New Roman"/>
                        </a:rPr>
                        <a:t>0.03</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1</a:t>
                      </a:r>
                      <a:r>
                        <a:rPr dirty="0" sz="1800" spc="-10" b="1">
                          <a:solidFill>
                            <a:srgbClr val="40458B"/>
                          </a:solidFill>
                          <a:latin typeface="Times New Roman"/>
                          <a:cs typeface="Times New Roman"/>
                        </a:rPr>
                        <a:t> </a:t>
                      </a:r>
                      <a:r>
                        <a:rPr dirty="0" sz="1800" b="1">
                          <a:solidFill>
                            <a:srgbClr val="40458B"/>
                          </a:solidFill>
                          <a:latin typeface="Times New Roman"/>
                          <a:cs typeface="Times New Roman"/>
                        </a:rPr>
                        <a:t>1 1 1 </a:t>
                      </a:r>
                      <a:r>
                        <a:rPr dirty="0" sz="1800" spc="-50" b="1">
                          <a:solidFill>
                            <a:srgbClr val="40458B"/>
                          </a:solidFill>
                          <a:latin typeface="Times New Roman"/>
                          <a:cs typeface="Times New Roman"/>
                        </a:rPr>
                        <a:t>1</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495"/>
                        </a:spcBef>
                      </a:pPr>
                      <a:r>
                        <a:rPr dirty="0" sz="1800" spc="-50" b="1">
                          <a:solidFill>
                            <a:srgbClr val="40458B"/>
                          </a:solidFill>
                          <a:latin typeface="Times New Roman"/>
                          <a:cs typeface="Times New Roman"/>
                        </a:rPr>
                        <a:t>5</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114935">
                        <a:lnSpc>
                          <a:spcPct val="100000"/>
                        </a:lnSpc>
                        <a:spcBef>
                          <a:spcPts val="495"/>
                        </a:spcBef>
                      </a:pPr>
                      <a:r>
                        <a:rPr dirty="0" sz="1800" b="1">
                          <a:solidFill>
                            <a:srgbClr val="40458B"/>
                          </a:solidFill>
                          <a:latin typeface="Times New Roman"/>
                          <a:cs typeface="Times New Roman"/>
                        </a:rPr>
                        <a:t>1 1 </a:t>
                      </a:r>
                      <a:r>
                        <a:rPr dirty="0" sz="1800" b="1">
                          <a:solidFill>
                            <a:srgbClr val="FF0000"/>
                          </a:solidFill>
                          <a:latin typeface="Times New Roman"/>
                          <a:cs typeface="Times New Roman"/>
                        </a:rPr>
                        <a:t>1</a:t>
                      </a:r>
                      <a:r>
                        <a:rPr dirty="0" sz="1800" spc="-10" b="1">
                          <a:solidFill>
                            <a:srgbClr val="FF0000"/>
                          </a:solidFill>
                          <a:latin typeface="Times New Roman"/>
                          <a:cs typeface="Times New Roman"/>
                        </a:rPr>
                        <a:t> </a:t>
                      </a:r>
                      <a:r>
                        <a:rPr dirty="0" sz="1800" spc="-50" b="1">
                          <a:solidFill>
                            <a:srgbClr val="FF0000"/>
                          </a:solidFill>
                          <a:latin typeface="Times New Roman"/>
                          <a:cs typeface="Times New Roman"/>
                        </a:rPr>
                        <a:t>1</a:t>
                      </a:r>
                      <a:endParaRPr sz="1800">
                        <a:latin typeface="Times New Roman"/>
                        <a:cs typeface="Times New Roman"/>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905">
                        <a:lnSpc>
                          <a:spcPct val="100000"/>
                        </a:lnSpc>
                        <a:spcBef>
                          <a:spcPts val="495"/>
                        </a:spcBef>
                      </a:pPr>
                      <a:r>
                        <a:rPr dirty="0" sz="1800" spc="-50" b="1">
                          <a:solidFill>
                            <a:srgbClr val="40458B"/>
                          </a:solidFill>
                          <a:latin typeface="Times New Roman"/>
                          <a:cs typeface="Times New Roman"/>
                        </a:rPr>
                        <a:t>4</a:t>
                      </a:r>
                      <a:endParaRPr sz="1800">
                        <a:latin typeface="Times New Roman"/>
                        <a:cs typeface="Times New Roman"/>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6" name="object 6" descr=""/>
          <p:cNvSpPr/>
          <p:nvPr/>
        </p:nvSpPr>
        <p:spPr>
          <a:xfrm>
            <a:off x="3863975" y="2852801"/>
            <a:ext cx="544830" cy="1081405"/>
          </a:xfrm>
          <a:custGeom>
            <a:avLst/>
            <a:gdLst/>
            <a:ahLst/>
            <a:cxnLst/>
            <a:rect l="l" t="t" r="r" b="b"/>
            <a:pathLst>
              <a:path w="544829" h="1081404">
                <a:moveTo>
                  <a:pt x="0" y="540512"/>
                </a:moveTo>
                <a:lnTo>
                  <a:pt x="1832" y="477465"/>
                </a:lnTo>
                <a:lnTo>
                  <a:pt x="7191" y="416558"/>
                </a:lnTo>
                <a:lnTo>
                  <a:pt x="15875" y="358195"/>
                </a:lnTo>
                <a:lnTo>
                  <a:pt x="27677" y="302782"/>
                </a:lnTo>
                <a:lnTo>
                  <a:pt x="42395" y="250723"/>
                </a:lnTo>
                <a:lnTo>
                  <a:pt x="59822" y="202423"/>
                </a:lnTo>
                <a:lnTo>
                  <a:pt x="79756" y="158289"/>
                </a:lnTo>
                <a:lnTo>
                  <a:pt x="101990" y="118725"/>
                </a:lnTo>
                <a:lnTo>
                  <a:pt x="126323" y="84136"/>
                </a:lnTo>
                <a:lnTo>
                  <a:pt x="152548" y="54927"/>
                </a:lnTo>
                <a:lnTo>
                  <a:pt x="209858" y="14272"/>
                </a:lnTo>
                <a:lnTo>
                  <a:pt x="272288" y="0"/>
                </a:lnTo>
                <a:lnTo>
                  <a:pt x="304040" y="3635"/>
                </a:lnTo>
                <a:lnTo>
                  <a:pt x="364114" y="31504"/>
                </a:lnTo>
                <a:lnTo>
                  <a:pt x="418252" y="84136"/>
                </a:lnTo>
                <a:lnTo>
                  <a:pt x="442585" y="118725"/>
                </a:lnTo>
                <a:lnTo>
                  <a:pt x="464819" y="158289"/>
                </a:lnTo>
                <a:lnTo>
                  <a:pt x="484753" y="202423"/>
                </a:lnTo>
                <a:lnTo>
                  <a:pt x="502180" y="250723"/>
                </a:lnTo>
                <a:lnTo>
                  <a:pt x="516898" y="302782"/>
                </a:lnTo>
                <a:lnTo>
                  <a:pt x="528700" y="358195"/>
                </a:lnTo>
                <a:lnTo>
                  <a:pt x="537384" y="416558"/>
                </a:lnTo>
                <a:lnTo>
                  <a:pt x="542743" y="477465"/>
                </a:lnTo>
                <a:lnTo>
                  <a:pt x="544576" y="540512"/>
                </a:lnTo>
                <a:lnTo>
                  <a:pt x="542743" y="603534"/>
                </a:lnTo>
                <a:lnTo>
                  <a:pt x="537384" y="664425"/>
                </a:lnTo>
                <a:lnTo>
                  <a:pt x="528700" y="722778"/>
                </a:lnTo>
                <a:lnTo>
                  <a:pt x="516898" y="778186"/>
                </a:lnTo>
                <a:lnTo>
                  <a:pt x="502180" y="830244"/>
                </a:lnTo>
                <a:lnTo>
                  <a:pt x="484753" y="878546"/>
                </a:lnTo>
                <a:lnTo>
                  <a:pt x="464819" y="922686"/>
                </a:lnTo>
                <a:lnTo>
                  <a:pt x="442585" y="962258"/>
                </a:lnTo>
                <a:lnTo>
                  <a:pt x="418252" y="996856"/>
                </a:lnTo>
                <a:lnTo>
                  <a:pt x="392027" y="1026074"/>
                </a:lnTo>
                <a:lnTo>
                  <a:pt x="334717" y="1066745"/>
                </a:lnTo>
                <a:lnTo>
                  <a:pt x="272288" y="1081024"/>
                </a:lnTo>
                <a:lnTo>
                  <a:pt x="240535" y="1077386"/>
                </a:lnTo>
                <a:lnTo>
                  <a:pt x="180461" y="1049505"/>
                </a:lnTo>
                <a:lnTo>
                  <a:pt x="126323" y="996856"/>
                </a:lnTo>
                <a:lnTo>
                  <a:pt x="101990" y="962258"/>
                </a:lnTo>
                <a:lnTo>
                  <a:pt x="79756" y="922686"/>
                </a:lnTo>
                <a:lnTo>
                  <a:pt x="59822" y="878546"/>
                </a:lnTo>
                <a:lnTo>
                  <a:pt x="42395" y="830244"/>
                </a:lnTo>
                <a:lnTo>
                  <a:pt x="27677" y="778186"/>
                </a:lnTo>
                <a:lnTo>
                  <a:pt x="15875" y="722778"/>
                </a:lnTo>
                <a:lnTo>
                  <a:pt x="7191" y="664425"/>
                </a:lnTo>
                <a:lnTo>
                  <a:pt x="1832" y="603534"/>
                </a:lnTo>
                <a:lnTo>
                  <a:pt x="0" y="540512"/>
                </a:lnTo>
                <a:close/>
              </a:path>
            </a:pathLst>
          </a:custGeom>
          <a:ln w="15875">
            <a:solidFill>
              <a:srgbClr val="FF09FF"/>
            </a:solidFill>
          </a:ln>
        </p:spPr>
        <p:txBody>
          <a:bodyPr wrap="square" lIns="0" tIns="0" rIns="0" bIns="0" rtlCol="0"/>
          <a:lstStyle/>
          <a:p/>
        </p:txBody>
      </p:sp>
      <p:sp>
        <p:nvSpPr>
          <p:cNvPr id="7" name="object 7" descr=""/>
          <p:cNvSpPr/>
          <p:nvPr/>
        </p:nvSpPr>
        <p:spPr>
          <a:xfrm>
            <a:off x="3421379" y="3118485"/>
            <a:ext cx="461009" cy="210185"/>
          </a:xfrm>
          <a:custGeom>
            <a:avLst/>
            <a:gdLst/>
            <a:ahLst/>
            <a:cxnLst/>
            <a:rect l="l" t="t" r="r" b="b"/>
            <a:pathLst>
              <a:path w="461010" h="210185">
                <a:moveTo>
                  <a:pt x="73123" y="27653"/>
                </a:moveTo>
                <a:lnTo>
                  <a:pt x="66800" y="42266"/>
                </a:lnTo>
                <a:lnTo>
                  <a:pt x="454279" y="209930"/>
                </a:lnTo>
                <a:lnTo>
                  <a:pt x="460629" y="195452"/>
                </a:lnTo>
                <a:lnTo>
                  <a:pt x="73123" y="27653"/>
                </a:lnTo>
                <a:close/>
              </a:path>
              <a:path w="461010" h="210185">
                <a:moveTo>
                  <a:pt x="85090" y="0"/>
                </a:moveTo>
                <a:lnTo>
                  <a:pt x="0" y="4699"/>
                </a:lnTo>
                <a:lnTo>
                  <a:pt x="54864" y="69850"/>
                </a:lnTo>
                <a:lnTo>
                  <a:pt x="66800" y="42266"/>
                </a:lnTo>
                <a:lnTo>
                  <a:pt x="55118" y="37211"/>
                </a:lnTo>
                <a:lnTo>
                  <a:pt x="61468" y="22605"/>
                </a:lnTo>
                <a:lnTo>
                  <a:pt x="75307" y="22605"/>
                </a:lnTo>
                <a:lnTo>
                  <a:pt x="85090" y="0"/>
                </a:lnTo>
                <a:close/>
              </a:path>
              <a:path w="461010" h="210185">
                <a:moveTo>
                  <a:pt x="61468" y="22605"/>
                </a:moveTo>
                <a:lnTo>
                  <a:pt x="55118" y="37211"/>
                </a:lnTo>
                <a:lnTo>
                  <a:pt x="66800" y="42266"/>
                </a:lnTo>
                <a:lnTo>
                  <a:pt x="73123" y="27653"/>
                </a:lnTo>
                <a:lnTo>
                  <a:pt x="61468" y="22605"/>
                </a:lnTo>
                <a:close/>
              </a:path>
              <a:path w="461010" h="210185">
                <a:moveTo>
                  <a:pt x="75307" y="22605"/>
                </a:moveTo>
                <a:lnTo>
                  <a:pt x="61468" y="22605"/>
                </a:lnTo>
                <a:lnTo>
                  <a:pt x="73123" y="27653"/>
                </a:lnTo>
                <a:lnTo>
                  <a:pt x="75307" y="22605"/>
                </a:lnTo>
                <a:close/>
              </a:path>
            </a:pathLst>
          </a:custGeom>
          <a:solidFill>
            <a:srgbClr val="D50092"/>
          </a:solidFill>
        </p:spPr>
        <p:txBody>
          <a:bodyPr wrap="square" lIns="0" tIns="0" rIns="0" bIns="0" rtlCol="0"/>
          <a:lstStyle/>
          <a:p/>
        </p:txBody>
      </p:sp>
      <p:sp>
        <p:nvSpPr>
          <p:cNvPr id="8" name="object 8" descr=""/>
          <p:cNvSpPr/>
          <p:nvPr/>
        </p:nvSpPr>
        <p:spPr>
          <a:xfrm>
            <a:off x="9769475" y="2781300"/>
            <a:ext cx="542925" cy="1079500"/>
          </a:xfrm>
          <a:custGeom>
            <a:avLst/>
            <a:gdLst/>
            <a:ahLst/>
            <a:cxnLst/>
            <a:rect l="l" t="t" r="r" b="b"/>
            <a:pathLst>
              <a:path w="542925" h="1079500">
                <a:moveTo>
                  <a:pt x="0" y="539750"/>
                </a:moveTo>
                <a:lnTo>
                  <a:pt x="1826" y="476808"/>
                </a:lnTo>
                <a:lnTo>
                  <a:pt x="7169" y="415998"/>
                </a:lnTo>
                <a:lnTo>
                  <a:pt x="15825" y="357725"/>
                </a:lnTo>
                <a:lnTo>
                  <a:pt x="27590" y="302393"/>
                </a:lnTo>
                <a:lnTo>
                  <a:pt x="42260" y="250408"/>
                </a:lnTo>
                <a:lnTo>
                  <a:pt x="59632" y="202175"/>
                </a:lnTo>
                <a:lnTo>
                  <a:pt x="79502" y="158099"/>
                </a:lnTo>
                <a:lnTo>
                  <a:pt x="101665" y="118585"/>
                </a:lnTo>
                <a:lnTo>
                  <a:pt x="125918" y="84039"/>
                </a:lnTo>
                <a:lnTo>
                  <a:pt x="152057" y="54865"/>
                </a:lnTo>
                <a:lnTo>
                  <a:pt x="209178" y="14256"/>
                </a:lnTo>
                <a:lnTo>
                  <a:pt x="271399" y="0"/>
                </a:lnTo>
                <a:lnTo>
                  <a:pt x="303069" y="3631"/>
                </a:lnTo>
                <a:lnTo>
                  <a:pt x="362984" y="31469"/>
                </a:lnTo>
                <a:lnTo>
                  <a:pt x="416972" y="84039"/>
                </a:lnTo>
                <a:lnTo>
                  <a:pt x="441236" y="118585"/>
                </a:lnTo>
                <a:lnTo>
                  <a:pt x="463407" y="158099"/>
                </a:lnTo>
                <a:lnTo>
                  <a:pt x="483282" y="202175"/>
                </a:lnTo>
                <a:lnTo>
                  <a:pt x="500658" y="250408"/>
                </a:lnTo>
                <a:lnTo>
                  <a:pt x="515331" y="302393"/>
                </a:lnTo>
                <a:lnTo>
                  <a:pt x="527098" y="357725"/>
                </a:lnTo>
                <a:lnTo>
                  <a:pt x="535755" y="415998"/>
                </a:lnTo>
                <a:lnTo>
                  <a:pt x="541098" y="476808"/>
                </a:lnTo>
                <a:lnTo>
                  <a:pt x="542925" y="539750"/>
                </a:lnTo>
                <a:lnTo>
                  <a:pt x="541098" y="602691"/>
                </a:lnTo>
                <a:lnTo>
                  <a:pt x="535755" y="663501"/>
                </a:lnTo>
                <a:lnTo>
                  <a:pt x="527098" y="721774"/>
                </a:lnTo>
                <a:lnTo>
                  <a:pt x="515331" y="777106"/>
                </a:lnTo>
                <a:lnTo>
                  <a:pt x="500658" y="829091"/>
                </a:lnTo>
                <a:lnTo>
                  <a:pt x="483282" y="877324"/>
                </a:lnTo>
                <a:lnTo>
                  <a:pt x="463407" y="921400"/>
                </a:lnTo>
                <a:lnTo>
                  <a:pt x="441236" y="960914"/>
                </a:lnTo>
                <a:lnTo>
                  <a:pt x="416972" y="995460"/>
                </a:lnTo>
                <a:lnTo>
                  <a:pt x="390821" y="1024634"/>
                </a:lnTo>
                <a:lnTo>
                  <a:pt x="333666" y="1065243"/>
                </a:lnTo>
                <a:lnTo>
                  <a:pt x="271399" y="1079500"/>
                </a:lnTo>
                <a:lnTo>
                  <a:pt x="239753" y="1075868"/>
                </a:lnTo>
                <a:lnTo>
                  <a:pt x="179879" y="1048030"/>
                </a:lnTo>
                <a:lnTo>
                  <a:pt x="125918" y="995460"/>
                </a:lnTo>
                <a:lnTo>
                  <a:pt x="101665" y="960914"/>
                </a:lnTo>
                <a:lnTo>
                  <a:pt x="79501" y="921400"/>
                </a:lnTo>
                <a:lnTo>
                  <a:pt x="59632" y="877324"/>
                </a:lnTo>
                <a:lnTo>
                  <a:pt x="42260" y="829091"/>
                </a:lnTo>
                <a:lnTo>
                  <a:pt x="27590" y="777106"/>
                </a:lnTo>
                <a:lnTo>
                  <a:pt x="15825" y="721774"/>
                </a:lnTo>
                <a:lnTo>
                  <a:pt x="7169" y="663501"/>
                </a:lnTo>
                <a:lnTo>
                  <a:pt x="1826" y="602691"/>
                </a:lnTo>
                <a:lnTo>
                  <a:pt x="0" y="539750"/>
                </a:lnTo>
                <a:close/>
              </a:path>
            </a:pathLst>
          </a:custGeom>
          <a:ln w="15875">
            <a:solidFill>
              <a:srgbClr val="FF09FF"/>
            </a:solidFill>
          </a:ln>
        </p:spPr>
        <p:txBody>
          <a:bodyPr wrap="square" lIns="0" tIns="0" rIns="0" bIns="0" rtlCol="0"/>
          <a:lstStyle/>
          <a:p/>
        </p:txBody>
      </p:sp>
      <p:grpSp>
        <p:nvGrpSpPr>
          <p:cNvPr id="9" name="object 9" descr=""/>
          <p:cNvGrpSpPr/>
          <p:nvPr/>
        </p:nvGrpSpPr>
        <p:grpSpPr>
          <a:xfrm>
            <a:off x="9761537" y="3984688"/>
            <a:ext cx="558800" cy="1841500"/>
            <a:chOff x="9761537" y="3984688"/>
            <a:chExt cx="558800" cy="1841500"/>
          </a:xfrm>
        </p:grpSpPr>
        <p:sp>
          <p:nvSpPr>
            <p:cNvPr id="10" name="object 10" descr=""/>
            <p:cNvSpPr/>
            <p:nvPr/>
          </p:nvSpPr>
          <p:spPr>
            <a:xfrm>
              <a:off x="9769475" y="3992626"/>
              <a:ext cx="542925" cy="1411605"/>
            </a:xfrm>
            <a:custGeom>
              <a:avLst/>
              <a:gdLst/>
              <a:ahLst/>
              <a:cxnLst/>
              <a:rect l="l" t="t" r="r" b="b"/>
              <a:pathLst>
                <a:path w="542925" h="1411604">
                  <a:moveTo>
                    <a:pt x="0" y="705612"/>
                  </a:moveTo>
                  <a:lnTo>
                    <a:pt x="1242" y="637646"/>
                  </a:lnTo>
                  <a:lnTo>
                    <a:pt x="4894" y="571511"/>
                  </a:lnTo>
                  <a:lnTo>
                    <a:pt x="10842" y="507501"/>
                  </a:lnTo>
                  <a:lnTo>
                    <a:pt x="18972" y="445913"/>
                  </a:lnTo>
                  <a:lnTo>
                    <a:pt x="29169" y="387040"/>
                  </a:lnTo>
                  <a:lnTo>
                    <a:pt x="41321" y="331180"/>
                  </a:lnTo>
                  <a:lnTo>
                    <a:pt x="55312" y="278627"/>
                  </a:lnTo>
                  <a:lnTo>
                    <a:pt x="71031" y="229676"/>
                  </a:lnTo>
                  <a:lnTo>
                    <a:pt x="88361" y="184624"/>
                  </a:lnTo>
                  <a:lnTo>
                    <a:pt x="107191" y="143766"/>
                  </a:lnTo>
                  <a:lnTo>
                    <a:pt x="127405" y="107396"/>
                  </a:lnTo>
                  <a:lnTo>
                    <a:pt x="148891" y="75812"/>
                  </a:lnTo>
                  <a:lnTo>
                    <a:pt x="195219" y="28178"/>
                  </a:lnTo>
                  <a:lnTo>
                    <a:pt x="245266" y="3229"/>
                  </a:lnTo>
                  <a:lnTo>
                    <a:pt x="271399" y="0"/>
                  </a:lnTo>
                  <a:lnTo>
                    <a:pt x="297553" y="3229"/>
                  </a:lnTo>
                  <a:lnTo>
                    <a:pt x="347634" y="28178"/>
                  </a:lnTo>
                  <a:lnTo>
                    <a:pt x="393989" y="75812"/>
                  </a:lnTo>
                  <a:lnTo>
                    <a:pt x="415484" y="107396"/>
                  </a:lnTo>
                  <a:lnTo>
                    <a:pt x="435707" y="143766"/>
                  </a:lnTo>
                  <a:lnTo>
                    <a:pt x="454544" y="184624"/>
                  </a:lnTo>
                  <a:lnTo>
                    <a:pt x="471880" y="229676"/>
                  </a:lnTo>
                  <a:lnTo>
                    <a:pt x="487603" y="278627"/>
                  </a:lnTo>
                  <a:lnTo>
                    <a:pt x="501598" y="331180"/>
                  </a:lnTo>
                  <a:lnTo>
                    <a:pt x="513752" y="387040"/>
                  </a:lnTo>
                  <a:lnTo>
                    <a:pt x="523951" y="445913"/>
                  </a:lnTo>
                  <a:lnTo>
                    <a:pt x="532081" y="507501"/>
                  </a:lnTo>
                  <a:lnTo>
                    <a:pt x="538029" y="571511"/>
                  </a:lnTo>
                  <a:lnTo>
                    <a:pt x="541682" y="637646"/>
                  </a:lnTo>
                  <a:lnTo>
                    <a:pt x="542925" y="705612"/>
                  </a:lnTo>
                  <a:lnTo>
                    <a:pt x="541682" y="773557"/>
                  </a:lnTo>
                  <a:lnTo>
                    <a:pt x="538029" y="839677"/>
                  </a:lnTo>
                  <a:lnTo>
                    <a:pt x="532081" y="903676"/>
                  </a:lnTo>
                  <a:lnTo>
                    <a:pt x="523951" y="965258"/>
                  </a:lnTo>
                  <a:lnTo>
                    <a:pt x="513752" y="1024127"/>
                  </a:lnTo>
                  <a:lnTo>
                    <a:pt x="501598" y="1079987"/>
                  </a:lnTo>
                  <a:lnTo>
                    <a:pt x="487603" y="1132542"/>
                  </a:lnTo>
                  <a:lnTo>
                    <a:pt x="471880" y="1181497"/>
                  </a:lnTo>
                  <a:lnTo>
                    <a:pt x="454544" y="1226554"/>
                  </a:lnTo>
                  <a:lnTo>
                    <a:pt x="435707" y="1267419"/>
                  </a:lnTo>
                  <a:lnTo>
                    <a:pt x="415484" y="1303796"/>
                  </a:lnTo>
                  <a:lnTo>
                    <a:pt x="393989" y="1335388"/>
                  </a:lnTo>
                  <a:lnTo>
                    <a:pt x="347634" y="1383035"/>
                  </a:lnTo>
                  <a:lnTo>
                    <a:pt x="297553" y="1407993"/>
                  </a:lnTo>
                  <a:lnTo>
                    <a:pt x="271399" y="1411224"/>
                  </a:lnTo>
                  <a:lnTo>
                    <a:pt x="245266" y="1407993"/>
                  </a:lnTo>
                  <a:lnTo>
                    <a:pt x="195219" y="1383035"/>
                  </a:lnTo>
                  <a:lnTo>
                    <a:pt x="148891" y="1335388"/>
                  </a:lnTo>
                  <a:lnTo>
                    <a:pt x="127405" y="1303796"/>
                  </a:lnTo>
                  <a:lnTo>
                    <a:pt x="107191" y="1267419"/>
                  </a:lnTo>
                  <a:lnTo>
                    <a:pt x="88361" y="1226554"/>
                  </a:lnTo>
                  <a:lnTo>
                    <a:pt x="71031" y="1181497"/>
                  </a:lnTo>
                  <a:lnTo>
                    <a:pt x="55312" y="1132542"/>
                  </a:lnTo>
                  <a:lnTo>
                    <a:pt x="41321" y="1079987"/>
                  </a:lnTo>
                  <a:lnTo>
                    <a:pt x="29169" y="1024127"/>
                  </a:lnTo>
                  <a:lnTo>
                    <a:pt x="18972" y="965258"/>
                  </a:lnTo>
                  <a:lnTo>
                    <a:pt x="10842" y="903676"/>
                  </a:lnTo>
                  <a:lnTo>
                    <a:pt x="4894" y="839677"/>
                  </a:lnTo>
                  <a:lnTo>
                    <a:pt x="1242" y="773557"/>
                  </a:lnTo>
                  <a:lnTo>
                    <a:pt x="0" y="705612"/>
                  </a:lnTo>
                  <a:close/>
                </a:path>
              </a:pathLst>
            </a:custGeom>
            <a:ln w="15875">
              <a:solidFill>
                <a:srgbClr val="FF09FF"/>
              </a:solidFill>
            </a:ln>
          </p:spPr>
          <p:txBody>
            <a:bodyPr wrap="square" lIns="0" tIns="0" rIns="0" bIns="0" rtlCol="0"/>
            <a:lstStyle/>
            <a:p/>
          </p:txBody>
        </p:sp>
        <p:sp>
          <p:nvSpPr>
            <p:cNvPr id="11" name="object 11" descr=""/>
            <p:cNvSpPr/>
            <p:nvPr/>
          </p:nvSpPr>
          <p:spPr>
            <a:xfrm>
              <a:off x="9936098" y="5418455"/>
              <a:ext cx="227329" cy="407670"/>
            </a:xfrm>
            <a:custGeom>
              <a:avLst/>
              <a:gdLst/>
              <a:ahLst/>
              <a:cxnLst/>
              <a:rect l="l" t="t" r="r" b="b"/>
              <a:pathLst>
                <a:path w="227329" h="407670">
                  <a:moveTo>
                    <a:pt x="179798" y="346579"/>
                  </a:moveTo>
                  <a:lnTo>
                    <a:pt x="157479" y="358584"/>
                  </a:lnTo>
                  <a:lnTo>
                    <a:pt x="227075" y="407670"/>
                  </a:lnTo>
                  <a:lnTo>
                    <a:pt x="225611" y="358584"/>
                  </a:lnTo>
                  <a:lnTo>
                    <a:pt x="225586" y="357746"/>
                  </a:lnTo>
                  <a:lnTo>
                    <a:pt x="185800" y="357746"/>
                  </a:lnTo>
                  <a:lnTo>
                    <a:pt x="179798" y="346579"/>
                  </a:lnTo>
                  <a:close/>
                </a:path>
                <a:path w="227329" h="407670">
                  <a:moveTo>
                    <a:pt x="202153" y="334555"/>
                  </a:moveTo>
                  <a:lnTo>
                    <a:pt x="179798" y="346579"/>
                  </a:lnTo>
                  <a:lnTo>
                    <a:pt x="185800" y="357746"/>
                  </a:lnTo>
                  <a:lnTo>
                    <a:pt x="208152" y="345719"/>
                  </a:lnTo>
                  <a:lnTo>
                    <a:pt x="202153" y="334555"/>
                  </a:lnTo>
                  <a:close/>
                </a:path>
                <a:path w="227329" h="407670">
                  <a:moveTo>
                    <a:pt x="224535" y="322516"/>
                  </a:moveTo>
                  <a:lnTo>
                    <a:pt x="202153" y="334555"/>
                  </a:lnTo>
                  <a:lnTo>
                    <a:pt x="208152" y="345719"/>
                  </a:lnTo>
                  <a:lnTo>
                    <a:pt x="185800" y="357746"/>
                  </a:lnTo>
                  <a:lnTo>
                    <a:pt x="225586" y="357746"/>
                  </a:lnTo>
                  <a:lnTo>
                    <a:pt x="224535" y="322516"/>
                  </a:lnTo>
                  <a:close/>
                </a:path>
                <a:path w="227329" h="407670">
                  <a:moveTo>
                    <a:pt x="22351" y="0"/>
                  </a:moveTo>
                  <a:lnTo>
                    <a:pt x="0" y="12065"/>
                  </a:lnTo>
                  <a:lnTo>
                    <a:pt x="179798" y="346579"/>
                  </a:lnTo>
                  <a:lnTo>
                    <a:pt x="202153" y="334555"/>
                  </a:lnTo>
                  <a:lnTo>
                    <a:pt x="22351" y="0"/>
                  </a:lnTo>
                  <a:close/>
                </a:path>
              </a:pathLst>
            </a:custGeom>
            <a:solidFill>
              <a:srgbClr val="FF0000"/>
            </a:solidFill>
          </p:spPr>
          <p:txBody>
            <a:bodyPr wrap="square" lIns="0" tIns="0" rIns="0" bIns="0" rtlCol="0"/>
            <a:lstStyle/>
            <a:p/>
          </p:txBody>
        </p:sp>
      </p:grpSp>
      <p:sp>
        <p:nvSpPr>
          <p:cNvPr id="12" name="object 12" descr=""/>
          <p:cNvSpPr txBox="1"/>
          <p:nvPr/>
        </p:nvSpPr>
        <p:spPr>
          <a:xfrm>
            <a:off x="1958975" y="1430274"/>
            <a:ext cx="1530350" cy="1692275"/>
          </a:xfrm>
          <a:prstGeom prst="rect">
            <a:avLst/>
          </a:prstGeom>
          <a:solidFill>
            <a:srgbClr val="95A4E1"/>
          </a:solidFill>
        </p:spPr>
        <p:txBody>
          <a:bodyPr wrap="square" lIns="0" tIns="59055" rIns="0" bIns="0" rtlCol="0" vert="horz">
            <a:spAutoFit/>
          </a:bodyPr>
          <a:lstStyle/>
          <a:p>
            <a:pPr algn="just" marL="91440" marR="107950">
              <a:lnSpc>
                <a:spcPct val="99100"/>
              </a:lnSpc>
              <a:spcBef>
                <a:spcPts val="465"/>
              </a:spcBef>
            </a:pPr>
            <a:r>
              <a:rPr dirty="0" sz="2600" spc="-15">
                <a:solidFill>
                  <a:srgbClr val="FFFF00"/>
                </a:solidFill>
                <a:latin typeface="黑体"/>
                <a:cs typeface="黑体"/>
              </a:rPr>
              <a:t>这三条指</a:t>
            </a:r>
            <a:r>
              <a:rPr dirty="0" sz="2600" spc="-20">
                <a:solidFill>
                  <a:srgbClr val="FFFF00"/>
                </a:solidFill>
                <a:latin typeface="黑体"/>
                <a:cs typeface="黑体"/>
              </a:rPr>
              <a:t>令出现的</a:t>
            </a:r>
            <a:r>
              <a:rPr dirty="0" sz="2600" spc="-15">
                <a:solidFill>
                  <a:srgbClr val="FFFF00"/>
                </a:solidFill>
                <a:latin typeface="黑体"/>
                <a:cs typeface="黑体"/>
              </a:rPr>
              <a:t>频度：共</a:t>
            </a:r>
            <a:r>
              <a:rPr dirty="0" sz="2600" spc="-50">
                <a:solidFill>
                  <a:srgbClr val="FFFF00"/>
                </a:solidFill>
                <a:latin typeface="黑体"/>
                <a:cs typeface="黑体"/>
              </a:rPr>
              <a:t> </a:t>
            </a:r>
            <a:r>
              <a:rPr dirty="0" sz="2600" spc="-20">
                <a:solidFill>
                  <a:srgbClr val="FFFF00"/>
                </a:solidFill>
                <a:latin typeface="Tahoma"/>
                <a:cs typeface="Tahoma"/>
              </a:rPr>
              <a:t>0.85</a:t>
            </a:r>
            <a:endParaRPr sz="2600">
              <a:latin typeface="Tahoma"/>
              <a:cs typeface="Tahoma"/>
            </a:endParaRPr>
          </a:p>
        </p:txBody>
      </p:sp>
      <p:sp>
        <p:nvSpPr>
          <p:cNvPr id="13" name="object 13" descr=""/>
          <p:cNvSpPr/>
          <p:nvPr/>
        </p:nvSpPr>
        <p:spPr>
          <a:xfrm>
            <a:off x="3863975" y="4033773"/>
            <a:ext cx="542925" cy="1370330"/>
          </a:xfrm>
          <a:custGeom>
            <a:avLst/>
            <a:gdLst/>
            <a:ahLst/>
            <a:cxnLst/>
            <a:rect l="l" t="t" r="r" b="b"/>
            <a:pathLst>
              <a:path w="542925" h="1370329">
                <a:moveTo>
                  <a:pt x="0" y="685038"/>
                </a:moveTo>
                <a:lnTo>
                  <a:pt x="1242" y="619064"/>
                </a:lnTo>
                <a:lnTo>
                  <a:pt x="4895" y="554865"/>
                </a:lnTo>
                <a:lnTo>
                  <a:pt x="10843" y="492727"/>
                </a:lnTo>
                <a:lnTo>
                  <a:pt x="18973" y="432938"/>
                </a:lnTo>
                <a:lnTo>
                  <a:pt x="29172" y="375784"/>
                </a:lnTo>
                <a:lnTo>
                  <a:pt x="41326" y="321552"/>
                </a:lnTo>
                <a:lnTo>
                  <a:pt x="55321" y="270530"/>
                </a:lnTo>
                <a:lnTo>
                  <a:pt x="71044" y="223005"/>
                </a:lnTo>
                <a:lnTo>
                  <a:pt x="88380" y="179264"/>
                </a:lnTo>
                <a:lnTo>
                  <a:pt x="107217" y="139593"/>
                </a:lnTo>
                <a:lnTo>
                  <a:pt x="127440" y="104281"/>
                </a:lnTo>
                <a:lnTo>
                  <a:pt x="171590" y="47878"/>
                </a:lnTo>
                <a:lnTo>
                  <a:pt x="219922" y="12352"/>
                </a:lnTo>
                <a:lnTo>
                  <a:pt x="271525" y="0"/>
                </a:lnTo>
                <a:lnTo>
                  <a:pt x="297658" y="3135"/>
                </a:lnTo>
                <a:lnTo>
                  <a:pt x="347705" y="27362"/>
                </a:lnTo>
                <a:lnTo>
                  <a:pt x="394033" y="73613"/>
                </a:lnTo>
                <a:lnTo>
                  <a:pt x="435733" y="139593"/>
                </a:lnTo>
                <a:lnTo>
                  <a:pt x="454563" y="179264"/>
                </a:lnTo>
                <a:lnTo>
                  <a:pt x="471893" y="223005"/>
                </a:lnTo>
                <a:lnTo>
                  <a:pt x="487612" y="270530"/>
                </a:lnTo>
                <a:lnTo>
                  <a:pt x="501603" y="321552"/>
                </a:lnTo>
                <a:lnTo>
                  <a:pt x="513755" y="375784"/>
                </a:lnTo>
                <a:lnTo>
                  <a:pt x="523952" y="432938"/>
                </a:lnTo>
                <a:lnTo>
                  <a:pt x="532082" y="492727"/>
                </a:lnTo>
                <a:lnTo>
                  <a:pt x="538030" y="554865"/>
                </a:lnTo>
                <a:lnTo>
                  <a:pt x="541682" y="619064"/>
                </a:lnTo>
                <a:lnTo>
                  <a:pt x="542925" y="685038"/>
                </a:lnTo>
                <a:lnTo>
                  <a:pt x="541682" y="751011"/>
                </a:lnTo>
                <a:lnTo>
                  <a:pt x="538030" y="815210"/>
                </a:lnTo>
                <a:lnTo>
                  <a:pt x="532082" y="877348"/>
                </a:lnTo>
                <a:lnTo>
                  <a:pt x="523952" y="937137"/>
                </a:lnTo>
                <a:lnTo>
                  <a:pt x="513755" y="994291"/>
                </a:lnTo>
                <a:lnTo>
                  <a:pt x="501603" y="1048523"/>
                </a:lnTo>
                <a:lnTo>
                  <a:pt x="487612" y="1099545"/>
                </a:lnTo>
                <a:lnTo>
                  <a:pt x="471893" y="1147070"/>
                </a:lnTo>
                <a:lnTo>
                  <a:pt x="454563" y="1190811"/>
                </a:lnTo>
                <a:lnTo>
                  <a:pt x="435733" y="1230482"/>
                </a:lnTo>
                <a:lnTo>
                  <a:pt x="415519" y="1265794"/>
                </a:lnTo>
                <a:lnTo>
                  <a:pt x="371391" y="1322197"/>
                </a:lnTo>
                <a:lnTo>
                  <a:pt x="323090" y="1357723"/>
                </a:lnTo>
                <a:lnTo>
                  <a:pt x="271525" y="1370076"/>
                </a:lnTo>
                <a:lnTo>
                  <a:pt x="245371" y="1366940"/>
                </a:lnTo>
                <a:lnTo>
                  <a:pt x="195290" y="1342713"/>
                </a:lnTo>
                <a:lnTo>
                  <a:pt x="148935" y="1296462"/>
                </a:lnTo>
                <a:lnTo>
                  <a:pt x="107217" y="1230482"/>
                </a:lnTo>
                <a:lnTo>
                  <a:pt x="88380" y="1190811"/>
                </a:lnTo>
                <a:lnTo>
                  <a:pt x="71044" y="1147070"/>
                </a:lnTo>
                <a:lnTo>
                  <a:pt x="55321" y="1099545"/>
                </a:lnTo>
                <a:lnTo>
                  <a:pt x="41326" y="1048523"/>
                </a:lnTo>
                <a:lnTo>
                  <a:pt x="29172" y="994291"/>
                </a:lnTo>
                <a:lnTo>
                  <a:pt x="18973" y="937137"/>
                </a:lnTo>
                <a:lnTo>
                  <a:pt x="10843" y="877348"/>
                </a:lnTo>
                <a:lnTo>
                  <a:pt x="4895" y="815210"/>
                </a:lnTo>
                <a:lnTo>
                  <a:pt x="1242" y="751011"/>
                </a:lnTo>
                <a:lnTo>
                  <a:pt x="0" y="685038"/>
                </a:lnTo>
                <a:close/>
              </a:path>
            </a:pathLst>
          </a:custGeom>
          <a:ln w="15875">
            <a:solidFill>
              <a:srgbClr val="FF09FF"/>
            </a:solidFill>
          </a:ln>
        </p:spPr>
        <p:txBody>
          <a:bodyPr wrap="square" lIns="0" tIns="0" rIns="0" bIns="0" rtlCol="0"/>
          <a:lstStyle/>
          <a:p/>
        </p:txBody>
      </p:sp>
      <p:sp>
        <p:nvSpPr>
          <p:cNvPr id="14" name="object 14" descr=""/>
          <p:cNvSpPr/>
          <p:nvPr/>
        </p:nvSpPr>
        <p:spPr>
          <a:xfrm>
            <a:off x="9876408" y="1298955"/>
            <a:ext cx="96520" cy="1528445"/>
          </a:xfrm>
          <a:custGeom>
            <a:avLst/>
            <a:gdLst/>
            <a:ahLst/>
            <a:cxnLst/>
            <a:rect l="l" t="t" r="r" b="b"/>
            <a:pathLst>
              <a:path w="96520" h="1528445">
                <a:moveTo>
                  <a:pt x="45907" y="75860"/>
                </a:moveTo>
                <a:lnTo>
                  <a:pt x="30155" y="76412"/>
                </a:lnTo>
                <a:lnTo>
                  <a:pt x="80373" y="1527810"/>
                </a:lnTo>
                <a:lnTo>
                  <a:pt x="80391" y="1528318"/>
                </a:lnTo>
                <a:lnTo>
                  <a:pt x="96266" y="1527810"/>
                </a:lnTo>
                <a:lnTo>
                  <a:pt x="45963" y="77470"/>
                </a:lnTo>
                <a:lnTo>
                  <a:pt x="45907" y="75860"/>
                </a:lnTo>
                <a:close/>
              </a:path>
              <a:path w="96520" h="1528445">
                <a:moveTo>
                  <a:pt x="35433" y="0"/>
                </a:moveTo>
                <a:lnTo>
                  <a:pt x="0" y="77470"/>
                </a:lnTo>
                <a:lnTo>
                  <a:pt x="30155" y="76412"/>
                </a:lnTo>
                <a:lnTo>
                  <a:pt x="29718" y="63754"/>
                </a:lnTo>
                <a:lnTo>
                  <a:pt x="45466" y="63119"/>
                </a:lnTo>
                <a:lnTo>
                  <a:pt x="69725" y="63119"/>
                </a:lnTo>
                <a:lnTo>
                  <a:pt x="35433" y="0"/>
                </a:lnTo>
                <a:close/>
              </a:path>
              <a:path w="96520" h="1528445">
                <a:moveTo>
                  <a:pt x="45466" y="63119"/>
                </a:moveTo>
                <a:lnTo>
                  <a:pt x="29718" y="63754"/>
                </a:lnTo>
                <a:lnTo>
                  <a:pt x="30100" y="74803"/>
                </a:lnTo>
                <a:lnTo>
                  <a:pt x="30155" y="76412"/>
                </a:lnTo>
                <a:lnTo>
                  <a:pt x="45907" y="75860"/>
                </a:lnTo>
                <a:lnTo>
                  <a:pt x="45488" y="63754"/>
                </a:lnTo>
                <a:lnTo>
                  <a:pt x="45466" y="63119"/>
                </a:lnTo>
                <a:close/>
              </a:path>
              <a:path w="96520" h="1528445">
                <a:moveTo>
                  <a:pt x="69725" y="63119"/>
                </a:moveTo>
                <a:lnTo>
                  <a:pt x="45466" y="63119"/>
                </a:lnTo>
                <a:lnTo>
                  <a:pt x="45871" y="74803"/>
                </a:lnTo>
                <a:lnTo>
                  <a:pt x="45907" y="75860"/>
                </a:lnTo>
                <a:lnTo>
                  <a:pt x="76073" y="74803"/>
                </a:lnTo>
                <a:lnTo>
                  <a:pt x="69725" y="63119"/>
                </a:lnTo>
                <a:close/>
              </a:path>
            </a:pathLst>
          </a:custGeom>
          <a:solidFill>
            <a:srgbClr val="D50092"/>
          </a:solidFill>
        </p:spPr>
        <p:txBody>
          <a:bodyPr wrap="square" lIns="0" tIns="0" rIns="0" bIns="0" rtlCol="0"/>
          <a:lstStyle/>
          <a:p/>
        </p:txBody>
      </p:sp>
      <p:sp>
        <p:nvSpPr>
          <p:cNvPr id="15" name="object 15" descr=""/>
          <p:cNvSpPr/>
          <p:nvPr/>
        </p:nvSpPr>
        <p:spPr>
          <a:xfrm>
            <a:off x="3209163" y="4861433"/>
            <a:ext cx="656590" cy="157480"/>
          </a:xfrm>
          <a:custGeom>
            <a:avLst/>
            <a:gdLst/>
            <a:ahLst/>
            <a:cxnLst/>
            <a:rect l="l" t="t" r="r" b="b"/>
            <a:pathLst>
              <a:path w="656589" h="157479">
                <a:moveTo>
                  <a:pt x="67563" y="82296"/>
                </a:moveTo>
                <a:lnTo>
                  <a:pt x="0" y="134112"/>
                </a:lnTo>
                <a:lnTo>
                  <a:pt x="81914" y="157099"/>
                </a:lnTo>
                <a:lnTo>
                  <a:pt x="76700" y="129921"/>
                </a:lnTo>
                <a:lnTo>
                  <a:pt x="63753" y="129921"/>
                </a:lnTo>
                <a:lnTo>
                  <a:pt x="60833" y="114300"/>
                </a:lnTo>
                <a:lnTo>
                  <a:pt x="73244" y="111906"/>
                </a:lnTo>
                <a:lnTo>
                  <a:pt x="67563" y="82296"/>
                </a:lnTo>
                <a:close/>
              </a:path>
              <a:path w="656589" h="157479">
                <a:moveTo>
                  <a:pt x="73244" y="111906"/>
                </a:moveTo>
                <a:lnTo>
                  <a:pt x="60833" y="114300"/>
                </a:lnTo>
                <a:lnTo>
                  <a:pt x="63753" y="129921"/>
                </a:lnTo>
                <a:lnTo>
                  <a:pt x="76239" y="127513"/>
                </a:lnTo>
                <a:lnTo>
                  <a:pt x="73244" y="111906"/>
                </a:lnTo>
                <a:close/>
              </a:path>
              <a:path w="656589" h="157479">
                <a:moveTo>
                  <a:pt x="76239" y="127513"/>
                </a:moveTo>
                <a:lnTo>
                  <a:pt x="63753" y="129921"/>
                </a:lnTo>
                <a:lnTo>
                  <a:pt x="76700" y="129921"/>
                </a:lnTo>
                <a:lnTo>
                  <a:pt x="76239" y="127513"/>
                </a:lnTo>
                <a:close/>
              </a:path>
              <a:path w="656589" h="157479">
                <a:moveTo>
                  <a:pt x="653541" y="0"/>
                </a:moveTo>
                <a:lnTo>
                  <a:pt x="73244" y="111906"/>
                </a:lnTo>
                <a:lnTo>
                  <a:pt x="76239" y="127513"/>
                </a:lnTo>
                <a:lnTo>
                  <a:pt x="656589" y="15621"/>
                </a:lnTo>
                <a:lnTo>
                  <a:pt x="653541" y="0"/>
                </a:lnTo>
                <a:close/>
              </a:path>
            </a:pathLst>
          </a:custGeom>
          <a:solidFill>
            <a:srgbClr val="D50092"/>
          </a:solidFill>
        </p:spPr>
        <p:txBody>
          <a:bodyPr wrap="square" lIns="0" tIns="0" rIns="0" bIns="0" rtlCol="0"/>
          <a:lstStyle/>
          <a:p/>
        </p:txBody>
      </p:sp>
      <p:sp>
        <p:nvSpPr>
          <p:cNvPr id="16" name="object 16" descr=""/>
          <p:cNvSpPr txBox="1"/>
          <p:nvPr/>
        </p:nvSpPr>
        <p:spPr>
          <a:xfrm>
            <a:off x="1679575" y="4149725"/>
            <a:ext cx="1530350" cy="1692275"/>
          </a:xfrm>
          <a:prstGeom prst="rect">
            <a:avLst/>
          </a:prstGeom>
          <a:solidFill>
            <a:srgbClr val="95A4E1"/>
          </a:solidFill>
        </p:spPr>
        <p:txBody>
          <a:bodyPr wrap="square" lIns="0" tIns="59690" rIns="0" bIns="0" rtlCol="0" vert="horz">
            <a:spAutoFit/>
          </a:bodyPr>
          <a:lstStyle/>
          <a:p>
            <a:pPr algn="just" marL="91440" marR="107950">
              <a:lnSpc>
                <a:spcPct val="99100"/>
              </a:lnSpc>
              <a:spcBef>
                <a:spcPts val="470"/>
              </a:spcBef>
            </a:pPr>
            <a:r>
              <a:rPr dirty="0" sz="2600" spc="-15">
                <a:solidFill>
                  <a:srgbClr val="FFFF00"/>
                </a:solidFill>
                <a:latin typeface="黑体"/>
                <a:cs typeface="黑体"/>
              </a:rPr>
              <a:t>这四条指</a:t>
            </a:r>
            <a:r>
              <a:rPr dirty="0" sz="2600" spc="-20">
                <a:solidFill>
                  <a:srgbClr val="FFFF00"/>
                </a:solidFill>
                <a:latin typeface="黑体"/>
                <a:cs typeface="黑体"/>
              </a:rPr>
              <a:t>令出现的</a:t>
            </a:r>
            <a:r>
              <a:rPr dirty="0" sz="2600" spc="-15">
                <a:solidFill>
                  <a:srgbClr val="FFFF00"/>
                </a:solidFill>
                <a:latin typeface="黑体"/>
                <a:cs typeface="黑体"/>
              </a:rPr>
              <a:t>频度：共</a:t>
            </a:r>
            <a:r>
              <a:rPr dirty="0" sz="2600" spc="-50">
                <a:solidFill>
                  <a:srgbClr val="FFFF00"/>
                </a:solidFill>
                <a:latin typeface="黑体"/>
                <a:cs typeface="黑体"/>
              </a:rPr>
              <a:t> </a:t>
            </a:r>
            <a:r>
              <a:rPr dirty="0" sz="2600" spc="-20">
                <a:solidFill>
                  <a:srgbClr val="FFFF00"/>
                </a:solidFill>
                <a:latin typeface="Tahoma"/>
                <a:cs typeface="Tahoma"/>
              </a:rPr>
              <a:t>0.15</a:t>
            </a:r>
            <a:endParaRPr sz="2600">
              <a:latin typeface="Tahoma"/>
              <a:cs typeface="Tahoma"/>
            </a:endParaRPr>
          </a:p>
        </p:txBody>
      </p:sp>
      <p:sp>
        <p:nvSpPr>
          <p:cNvPr id="17" name="object 17" descr=""/>
          <p:cNvSpPr txBox="1"/>
          <p:nvPr/>
        </p:nvSpPr>
        <p:spPr>
          <a:xfrm>
            <a:off x="8256651" y="806450"/>
            <a:ext cx="2265680" cy="492125"/>
          </a:xfrm>
          <a:prstGeom prst="rect">
            <a:avLst/>
          </a:prstGeom>
          <a:solidFill>
            <a:srgbClr val="95A4E1"/>
          </a:solidFill>
        </p:spPr>
        <p:txBody>
          <a:bodyPr wrap="square" lIns="0" tIns="46355" rIns="0" bIns="0" rtlCol="0" vert="horz">
            <a:spAutoFit/>
          </a:bodyPr>
          <a:lstStyle/>
          <a:p>
            <a:pPr marL="92075">
              <a:lnSpc>
                <a:spcPct val="100000"/>
              </a:lnSpc>
              <a:spcBef>
                <a:spcPts val="365"/>
              </a:spcBef>
            </a:pPr>
            <a:r>
              <a:rPr dirty="0" sz="2600" spc="-15">
                <a:solidFill>
                  <a:srgbClr val="FFFF00"/>
                </a:solidFill>
                <a:latin typeface="黑体"/>
                <a:cs typeface="黑体"/>
              </a:rPr>
              <a:t>操作码扩展</a:t>
            </a:r>
            <a:endParaRPr sz="2600">
              <a:latin typeface="黑体"/>
              <a:cs typeface="黑体"/>
            </a:endParaRPr>
          </a:p>
        </p:txBody>
      </p:sp>
      <p:sp>
        <p:nvSpPr>
          <p:cNvPr id="18" name="object 18" descr=""/>
          <p:cNvSpPr txBox="1"/>
          <p:nvPr/>
        </p:nvSpPr>
        <p:spPr>
          <a:xfrm>
            <a:off x="9199626" y="5840412"/>
            <a:ext cx="1530350" cy="492125"/>
          </a:xfrm>
          <a:prstGeom prst="rect">
            <a:avLst/>
          </a:prstGeom>
          <a:solidFill>
            <a:srgbClr val="95A4E1"/>
          </a:solidFill>
        </p:spPr>
        <p:txBody>
          <a:bodyPr wrap="square" lIns="0" tIns="47625" rIns="0" bIns="0" rtlCol="0" vert="horz">
            <a:spAutoFit/>
          </a:bodyPr>
          <a:lstStyle/>
          <a:p>
            <a:pPr marL="92075">
              <a:lnSpc>
                <a:spcPct val="100000"/>
              </a:lnSpc>
              <a:spcBef>
                <a:spcPts val="375"/>
              </a:spcBef>
            </a:pPr>
            <a:r>
              <a:rPr dirty="0" sz="2600" spc="-25">
                <a:solidFill>
                  <a:srgbClr val="FFFF00"/>
                </a:solidFill>
                <a:latin typeface="Tahoma"/>
                <a:cs typeface="Tahoma"/>
              </a:rPr>
              <a:t>2-</a:t>
            </a:r>
            <a:r>
              <a:rPr dirty="0" sz="2600" spc="-30">
                <a:solidFill>
                  <a:srgbClr val="FFFF00"/>
                </a:solidFill>
                <a:latin typeface="Tahoma"/>
                <a:cs typeface="Tahoma"/>
              </a:rPr>
              <a:t>4</a:t>
            </a:r>
            <a:r>
              <a:rPr dirty="0" sz="2600" spc="-25">
                <a:solidFill>
                  <a:srgbClr val="FFFF00"/>
                </a:solidFill>
                <a:latin typeface="黑体"/>
                <a:cs typeface="黑体"/>
              </a:rPr>
              <a:t>编码</a:t>
            </a:r>
            <a:endParaRPr sz="2600">
              <a:latin typeface="黑体"/>
              <a:cs typeface="黑体"/>
            </a:endParaRPr>
          </a:p>
        </p:txBody>
      </p:sp>
      <p:sp>
        <p:nvSpPr>
          <p:cNvPr id="19" name="object 19" descr=""/>
          <p:cNvSpPr txBox="1"/>
          <p:nvPr/>
        </p:nvSpPr>
        <p:spPr>
          <a:xfrm>
            <a:off x="6456426" y="5805487"/>
            <a:ext cx="2303780" cy="492125"/>
          </a:xfrm>
          <a:prstGeom prst="rect">
            <a:avLst/>
          </a:prstGeom>
          <a:solidFill>
            <a:srgbClr val="95A4E1"/>
          </a:solidFill>
        </p:spPr>
        <p:txBody>
          <a:bodyPr wrap="square" lIns="0" tIns="47625" rIns="0" bIns="0" rtlCol="0" vert="horz">
            <a:spAutoFit/>
          </a:bodyPr>
          <a:lstStyle/>
          <a:p>
            <a:pPr marL="92075">
              <a:lnSpc>
                <a:spcPct val="100000"/>
              </a:lnSpc>
              <a:spcBef>
                <a:spcPts val="375"/>
              </a:spcBef>
            </a:pPr>
            <a:r>
              <a:rPr dirty="0" sz="2600" spc="-25">
                <a:solidFill>
                  <a:srgbClr val="FFFF00"/>
                </a:solidFill>
                <a:latin typeface="Tahoma"/>
                <a:cs typeface="Tahoma"/>
              </a:rPr>
              <a:t>1-2-3-</a:t>
            </a:r>
            <a:r>
              <a:rPr dirty="0" sz="2600" spc="-30">
                <a:solidFill>
                  <a:srgbClr val="FFFF00"/>
                </a:solidFill>
                <a:latin typeface="Tahoma"/>
                <a:cs typeface="Tahoma"/>
              </a:rPr>
              <a:t>5</a:t>
            </a:r>
            <a:r>
              <a:rPr dirty="0" sz="2600" spc="-25">
                <a:solidFill>
                  <a:srgbClr val="FFFF00"/>
                </a:solidFill>
                <a:latin typeface="黑体"/>
                <a:cs typeface="黑体"/>
              </a:rPr>
              <a:t>编码</a:t>
            </a:r>
            <a:endParaRPr sz="2600">
              <a:latin typeface="黑体"/>
              <a:cs typeface="黑体"/>
            </a:endParaRPr>
          </a:p>
        </p:txBody>
      </p:sp>
      <p:sp>
        <p:nvSpPr>
          <p:cNvPr id="20" name="object 20" descr=""/>
          <p:cNvSpPr/>
          <p:nvPr/>
        </p:nvSpPr>
        <p:spPr>
          <a:xfrm>
            <a:off x="7380223" y="5397753"/>
            <a:ext cx="228600" cy="408305"/>
          </a:xfrm>
          <a:custGeom>
            <a:avLst/>
            <a:gdLst/>
            <a:ahLst/>
            <a:cxnLst/>
            <a:rect l="l" t="t" r="r" b="b"/>
            <a:pathLst>
              <a:path w="228600" h="408304">
                <a:moveTo>
                  <a:pt x="181169" y="346801"/>
                </a:moveTo>
                <a:lnTo>
                  <a:pt x="158876" y="358863"/>
                </a:lnTo>
                <a:lnTo>
                  <a:pt x="228600" y="407733"/>
                </a:lnTo>
                <a:lnTo>
                  <a:pt x="227069" y="358863"/>
                </a:lnTo>
                <a:lnTo>
                  <a:pt x="227040" y="357936"/>
                </a:lnTo>
                <a:lnTo>
                  <a:pt x="187198" y="357936"/>
                </a:lnTo>
                <a:lnTo>
                  <a:pt x="181169" y="346801"/>
                </a:lnTo>
                <a:close/>
              </a:path>
              <a:path w="228600" h="408304">
                <a:moveTo>
                  <a:pt x="203520" y="334707"/>
                </a:moveTo>
                <a:lnTo>
                  <a:pt x="181169" y="346801"/>
                </a:lnTo>
                <a:lnTo>
                  <a:pt x="187198" y="357936"/>
                </a:lnTo>
                <a:lnTo>
                  <a:pt x="209550" y="345846"/>
                </a:lnTo>
                <a:lnTo>
                  <a:pt x="203520" y="334707"/>
                </a:lnTo>
                <a:close/>
              </a:path>
              <a:path w="228600" h="408304">
                <a:moveTo>
                  <a:pt x="225932" y="322580"/>
                </a:moveTo>
                <a:lnTo>
                  <a:pt x="203520" y="334707"/>
                </a:lnTo>
                <a:lnTo>
                  <a:pt x="209550" y="345846"/>
                </a:lnTo>
                <a:lnTo>
                  <a:pt x="187198" y="357936"/>
                </a:lnTo>
                <a:lnTo>
                  <a:pt x="227040" y="357936"/>
                </a:lnTo>
                <a:lnTo>
                  <a:pt x="225932" y="322580"/>
                </a:lnTo>
                <a:close/>
              </a:path>
              <a:path w="228600" h="408304">
                <a:moveTo>
                  <a:pt x="22351" y="0"/>
                </a:moveTo>
                <a:lnTo>
                  <a:pt x="0" y="12192"/>
                </a:lnTo>
                <a:lnTo>
                  <a:pt x="181169" y="346801"/>
                </a:lnTo>
                <a:lnTo>
                  <a:pt x="203520" y="334707"/>
                </a:lnTo>
                <a:lnTo>
                  <a:pt x="22351" y="0"/>
                </a:lnTo>
                <a:close/>
              </a:path>
            </a:pathLst>
          </a:custGeom>
          <a:solidFill>
            <a:srgbClr val="FF0000"/>
          </a:solidFill>
        </p:spPr>
        <p:txBody>
          <a:bodyPr wrap="square" lIns="0" tIns="0" rIns="0" bIns="0" rtlCol="0"/>
          <a:lstStyle/>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1698244" y="1017352"/>
            <a:ext cx="8938260" cy="1448435"/>
          </a:xfrm>
          <a:prstGeom prst="rect">
            <a:avLst/>
          </a:prstGeom>
        </p:spPr>
        <p:txBody>
          <a:bodyPr wrap="square" lIns="0" tIns="205740" rIns="0" bIns="0" rtlCol="0" vert="horz">
            <a:spAutoFit/>
          </a:bodyPr>
          <a:lstStyle/>
          <a:p>
            <a:pPr marL="474345" indent="-448945">
              <a:lnSpc>
                <a:spcPct val="100000"/>
              </a:lnSpc>
              <a:spcBef>
                <a:spcPts val="1620"/>
              </a:spcBef>
              <a:buClr>
                <a:srgbClr val="40458B"/>
              </a:buClr>
              <a:buFont typeface="Wingdings"/>
              <a:buChar char=""/>
              <a:tabLst>
                <a:tab pos="474345" algn="l"/>
              </a:tabLst>
            </a:pPr>
            <a:r>
              <a:rPr dirty="0" sz="2400">
                <a:solidFill>
                  <a:srgbClr val="E14B04"/>
                </a:solidFill>
                <a:latin typeface="黑体"/>
                <a:cs typeface="黑体"/>
              </a:rPr>
              <a:t>采用扩展编码，只保留两种2、4</a:t>
            </a:r>
            <a:r>
              <a:rPr dirty="0" sz="2400" spc="-5">
                <a:solidFill>
                  <a:srgbClr val="E14B04"/>
                </a:solidFill>
                <a:latin typeface="黑体"/>
                <a:cs typeface="黑体"/>
              </a:rPr>
              <a:t>两种长度，操作码长度如下：</a:t>
            </a:r>
            <a:endParaRPr sz="2400">
              <a:latin typeface="黑体"/>
              <a:cs typeface="黑体"/>
            </a:endParaRPr>
          </a:p>
          <a:p>
            <a:pPr algn="r" lvl="1" marL="456565" marR="57150" indent="-456565">
              <a:lnSpc>
                <a:spcPct val="100000"/>
              </a:lnSpc>
              <a:spcBef>
                <a:spcPts val="1280"/>
              </a:spcBef>
              <a:buClr>
                <a:srgbClr val="4668F5"/>
              </a:buClr>
              <a:buSzPct val="60000"/>
              <a:buFont typeface="Wingdings"/>
              <a:buChar char=""/>
              <a:tabLst>
                <a:tab pos="456565" algn="l"/>
              </a:tabLst>
            </a:pPr>
            <a:r>
              <a:rPr dirty="0" sz="2000" spc="-5">
                <a:latin typeface="黑体"/>
                <a:cs typeface="黑体"/>
              </a:rPr>
              <a:t>用两位的</a:t>
            </a:r>
            <a:r>
              <a:rPr dirty="0" sz="2000" spc="-10">
                <a:solidFill>
                  <a:srgbClr val="9933FF"/>
                </a:solidFill>
                <a:latin typeface="黑体"/>
                <a:cs typeface="黑体"/>
              </a:rPr>
              <a:t>00</a:t>
            </a:r>
            <a:r>
              <a:rPr dirty="0" sz="2000" spc="-15">
                <a:solidFill>
                  <a:srgbClr val="9933FF"/>
                </a:solidFill>
                <a:latin typeface="黑体"/>
                <a:cs typeface="黑体"/>
              </a:rPr>
              <a:t>、</a:t>
            </a:r>
            <a:r>
              <a:rPr dirty="0" sz="2000" spc="-10">
                <a:solidFill>
                  <a:srgbClr val="9933FF"/>
                </a:solidFill>
                <a:latin typeface="黑体"/>
                <a:cs typeface="黑体"/>
              </a:rPr>
              <a:t>01</a:t>
            </a:r>
            <a:r>
              <a:rPr dirty="0" sz="2000">
                <a:solidFill>
                  <a:srgbClr val="9933FF"/>
                </a:solidFill>
                <a:latin typeface="黑体"/>
                <a:cs typeface="黑体"/>
              </a:rPr>
              <a:t>、</a:t>
            </a:r>
            <a:r>
              <a:rPr dirty="0" sz="2000" spc="-10">
                <a:solidFill>
                  <a:srgbClr val="9933FF"/>
                </a:solidFill>
                <a:latin typeface="黑体"/>
                <a:cs typeface="黑体"/>
              </a:rPr>
              <a:t>10</a:t>
            </a:r>
            <a:r>
              <a:rPr dirty="0" sz="2000" spc="-15">
                <a:latin typeface="黑体"/>
                <a:cs typeface="黑体"/>
              </a:rPr>
              <a:t>分别用于表示使用频度高的</a:t>
            </a:r>
            <a:r>
              <a:rPr dirty="0" sz="2000" spc="-10">
                <a:solidFill>
                  <a:srgbClr val="9933FF"/>
                </a:solidFill>
                <a:latin typeface="黑体"/>
                <a:cs typeface="黑体"/>
              </a:rPr>
              <a:t>I</a:t>
            </a:r>
            <a:r>
              <a:rPr dirty="0" baseline="-21367" sz="1950" spc="-15">
                <a:solidFill>
                  <a:srgbClr val="9933FF"/>
                </a:solidFill>
                <a:latin typeface="黑体"/>
                <a:cs typeface="黑体"/>
              </a:rPr>
              <a:t>1</a:t>
            </a:r>
            <a:r>
              <a:rPr dirty="0" sz="2000">
                <a:solidFill>
                  <a:srgbClr val="9933FF"/>
                </a:solidFill>
                <a:latin typeface="黑体"/>
                <a:cs typeface="黑体"/>
              </a:rPr>
              <a:t>、</a:t>
            </a:r>
            <a:r>
              <a:rPr dirty="0" sz="2000" spc="-10">
                <a:solidFill>
                  <a:srgbClr val="9933FF"/>
                </a:solidFill>
                <a:latin typeface="黑体"/>
                <a:cs typeface="黑体"/>
              </a:rPr>
              <a:t>I</a:t>
            </a:r>
            <a:r>
              <a:rPr dirty="0" baseline="-21367" sz="1950" spc="-15">
                <a:solidFill>
                  <a:srgbClr val="9933FF"/>
                </a:solidFill>
                <a:latin typeface="黑体"/>
                <a:cs typeface="黑体"/>
              </a:rPr>
              <a:t>2</a:t>
            </a:r>
            <a:r>
              <a:rPr dirty="0" sz="2000">
                <a:solidFill>
                  <a:srgbClr val="9933FF"/>
                </a:solidFill>
                <a:latin typeface="黑体"/>
                <a:cs typeface="黑体"/>
              </a:rPr>
              <a:t>、</a:t>
            </a:r>
            <a:r>
              <a:rPr dirty="0" sz="2000" spc="-10">
                <a:solidFill>
                  <a:srgbClr val="9933FF"/>
                </a:solidFill>
                <a:latin typeface="黑体"/>
                <a:cs typeface="黑体"/>
              </a:rPr>
              <a:t>I</a:t>
            </a:r>
            <a:r>
              <a:rPr dirty="0" baseline="-21367" sz="1950" spc="-15">
                <a:solidFill>
                  <a:srgbClr val="9933FF"/>
                </a:solidFill>
                <a:latin typeface="黑体"/>
                <a:cs typeface="黑体"/>
              </a:rPr>
              <a:t>3</a:t>
            </a:r>
            <a:r>
              <a:rPr dirty="0" sz="2000" spc="-20">
                <a:latin typeface="黑体"/>
                <a:cs typeface="黑体"/>
              </a:rPr>
              <a:t>，然后用</a:t>
            </a:r>
            <a:endParaRPr sz="2000">
              <a:latin typeface="黑体"/>
              <a:cs typeface="黑体"/>
            </a:endParaRPr>
          </a:p>
          <a:p>
            <a:pPr algn="r" marR="55880">
              <a:lnSpc>
                <a:spcPct val="100000"/>
              </a:lnSpc>
              <a:spcBef>
                <a:spcPts val="720"/>
              </a:spcBef>
            </a:pPr>
            <a:r>
              <a:rPr dirty="0" sz="2000">
                <a:solidFill>
                  <a:srgbClr val="9933FF"/>
                </a:solidFill>
                <a:latin typeface="黑体"/>
                <a:cs typeface="黑体"/>
              </a:rPr>
              <a:t>11</a:t>
            </a:r>
            <a:r>
              <a:rPr dirty="0" sz="2000" spc="-10">
                <a:latin typeface="黑体"/>
                <a:cs typeface="黑体"/>
              </a:rPr>
              <a:t>作为高位扩展出</a:t>
            </a:r>
            <a:r>
              <a:rPr dirty="0" sz="2000" spc="-10">
                <a:solidFill>
                  <a:srgbClr val="9933FF"/>
                </a:solidFill>
                <a:latin typeface="黑体"/>
                <a:cs typeface="黑体"/>
              </a:rPr>
              <a:t>4</a:t>
            </a:r>
            <a:r>
              <a:rPr dirty="0" sz="2000">
                <a:latin typeface="黑体"/>
                <a:cs typeface="黑体"/>
              </a:rPr>
              <a:t>个</a:t>
            </a:r>
            <a:r>
              <a:rPr dirty="0" sz="2000" spc="-10">
                <a:solidFill>
                  <a:srgbClr val="9933FF"/>
                </a:solidFill>
                <a:latin typeface="黑体"/>
                <a:cs typeface="黑体"/>
              </a:rPr>
              <a:t>4</a:t>
            </a:r>
            <a:r>
              <a:rPr dirty="0" sz="2000" spc="-15">
                <a:latin typeface="黑体"/>
                <a:cs typeface="黑体"/>
              </a:rPr>
              <a:t>位的二进制编码，用于表示剩下的</a:t>
            </a:r>
            <a:r>
              <a:rPr dirty="0" sz="2000" spc="-10">
                <a:solidFill>
                  <a:srgbClr val="9933FF"/>
                </a:solidFill>
                <a:latin typeface="黑体"/>
                <a:cs typeface="黑体"/>
              </a:rPr>
              <a:t>4</a:t>
            </a:r>
            <a:r>
              <a:rPr dirty="0" sz="2000" spc="-15">
                <a:latin typeface="黑体"/>
                <a:cs typeface="黑体"/>
              </a:rPr>
              <a:t>条指令。</a:t>
            </a:r>
            <a:endParaRPr sz="2000">
              <a:latin typeface="黑体"/>
              <a:cs typeface="黑体"/>
            </a:endParaRPr>
          </a:p>
        </p:txBody>
      </p:sp>
      <p:sp>
        <p:nvSpPr>
          <p:cNvPr id="4" name="object 4" descr=""/>
          <p:cNvSpPr txBox="1"/>
          <p:nvPr/>
        </p:nvSpPr>
        <p:spPr>
          <a:xfrm>
            <a:off x="2607055" y="2591816"/>
            <a:ext cx="1508125" cy="330835"/>
          </a:xfrm>
          <a:prstGeom prst="rect">
            <a:avLst/>
          </a:prstGeom>
        </p:spPr>
        <p:txBody>
          <a:bodyPr wrap="square" lIns="0" tIns="13335" rIns="0" bIns="0" rtlCol="0" vert="horz">
            <a:spAutoFit/>
          </a:bodyPr>
          <a:lstStyle/>
          <a:p>
            <a:pPr marL="469265" indent="-456565">
              <a:lnSpc>
                <a:spcPct val="100000"/>
              </a:lnSpc>
              <a:spcBef>
                <a:spcPts val="105"/>
              </a:spcBef>
              <a:buClr>
                <a:srgbClr val="4668F5"/>
              </a:buClr>
              <a:buSzPct val="60000"/>
              <a:buFont typeface="Wingdings"/>
              <a:buChar char=""/>
              <a:tabLst>
                <a:tab pos="469265" algn="l"/>
              </a:tabLst>
            </a:pPr>
            <a:r>
              <a:rPr dirty="0" sz="2000" spc="-20" b="1">
                <a:latin typeface="黑体"/>
                <a:cs typeface="黑体"/>
              </a:rPr>
              <a:t>平均长度</a:t>
            </a:r>
            <a:endParaRPr sz="2000">
              <a:latin typeface="黑体"/>
              <a:cs typeface="黑体"/>
            </a:endParaRPr>
          </a:p>
        </p:txBody>
      </p:sp>
      <p:sp>
        <p:nvSpPr>
          <p:cNvPr id="5" name="object 5" descr=""/>
          <p:cNvSpPr txBox="1"/>
          <p:nvPr/>
        </p:nvSpPr>
        <p:spPr>
          <a:xfrm>
            <a:off x="6249690" y="2578158"/>
            <a:ext cx="133350" cy="283210"/>
          </a:xfrm>
          <a:prstGeom prst="rect">
            <a:avLst/>
          </a:prstGeom>
        </p:spPr>
        <p:txBody>
          <a:bodyPr wrap="square" lIns="0" tIns="17145" rIns="0" bIns="0" rtlCol="0" vert="horz">
            <a:spAutoFit/>
          </a:bodyPr>
          <a:lstStyle/>
          <a:p>
            <a:pPr marL="12700">
              <a:lnSpc>
                <a:spcPct val="100000"/>
              </a:lnSpc>
              <a:spcBef>
                <a:spcPts val="135"/>
              </a:spcBef>
            </a:pPr>
            <a:r>
              <a:rPr dirty="0" sz="1650" spc="-50">
                <a:latin typeface="Times New Roman"/>
                <a:cs typeface="Times New Roman"/>
              </a:rPr>
              <a:t>7</a:t>
            </a:r>
            <a:endParaRPr sz="1650">
              <a:latin typeface="Times New Roman"/>
              <a:cs typeface="Times New Roman"/>
            </a:endParaRPr>
          </a:p>
        </p:txBody>
      </p:sp>
      <p:sp>
        <p:nvSpPr>
          <p:cNvPr id="6" name="object 6" descr=""/>
          <p:cNvSpPr txBox="1"/>
          <p:nvPr/>
        </p:nvSpPr>
        <p:spPr>
          <a:xfrm>
            <a:off x="1710944" y="3260981"/>
            <a:ext cx="8942070" cy="2395855"/>
          </a:xfrm>
          <a:prstGeom prst="rect">
            <a:avLst/>
          </a:prstGeom>
        </p:spPr>
        <p:txBody>
          <a:bodyPr wrap="square" lIns="0" tIns="59055" rIns="0" bIns="0" rtlCol="0" vert="horz">
            <a:spAutoFit/>
          </a:bodyPr>
          <a:lstStyle/>
          <a:p>
            <a:pPr algn="ctr" marL="287020">
              <a:lnSpc>
                <a:spcPct val="100000"/>
              </a:lnSpc>
              <a:spcBef>
                <a:spcPts val="465"/>
              </a:spcBef>
            </a:pPr>
            <a:r>
              <a:rPr dirty="0" sz="1650" spc="-25" i="1">
                <a:latin typeface="Times New Roman"/>
                <a:cs typeface="Times New Roman"/>
              </a:rPr>
              <a:t>i</a:t>
            </a:r>
            <a:r>
              <a:rPr dirty="0" sz="1650" spc="-25">
                <a:latin typeface="Symbol"/>
                <a:cs typeface="Symbol"/>
              </a:rPr>
              <a:t></a:t>
            </a:r>
            <a:r>
              <a:rPr dirty="0" sz="1650" spc="-25">
                <a:latin typeface="Times New Roman"/>
                <a:cs typeface="Times New Roman"/>
              </a:rPr>
              <a:t>1</a:t>
            </a:r>
            <a:endParaRPr sz="1650">
              <a:latin typeface="Times New Roman"/>
              <a:cs typeface="Times New Roman"/>
            </a:endParaRPr>
          </a:p>
          <a:p>
            <a:pPr marL="12700">
              <a:lnSpc>
                <a:spcPct val="100000"/>
              </a:lnSpc>
              <a:spcBef>
                <a:spcPts val="475"/>
              </a:spcBef>
            </a:pPr>
            <a:r>
              <a:rPr dirty="0" sz="2400" spc="-10" b="1">
                <a:solidFill>
                  <a:srgbClr val="C00000"/>
                </a:solidFill>
                <a:latin typeface="黑体"/>
                <a:cs typeface="黑体"/>
              </a:rPr>
              <a:t>L=0.40×2+0.30×2+0.15×2+0.05×4+0.04×4+0.03×4+</a:t>
            </a:r>
            <a:r>
              <a:rPr dirty="0" sz="2400" spc="-175" b="1">
                <a:solidFill>
                  <a:srgbClr val="C00000"/>
                </a:solidFill>
                <a:latin typeface="黑体"/>
                <a:cs typeface="黑体"/>
              </a:rPr>
              <a:t> </a:t>
            </a:r>
            <a:r>
              <a:rPr dirty="0" sz="2400" spc="-10" b="1">
                <a:solidFill>
                  <a:srgbClr val="C00000"/>
                </a:solidFill>
                <a:latin typeface="黑体"/>
                <a:cs typeface="黑体"/>
              </a:rPr>
              <a:t>0.03×4</a:t>
            </a:r>
            <a:endParaRPr sz="2400">
              <a:latin typeface="黑体"/>
              <a:cs typeface="黑体"/>
            </a:endParaRPr>
          </a:p>
          <a:p>
            <a:pPr marL="166370">
              <a:lnSpc>
                <a:spcPct val="100000"/>
              </a:lnSpc>
              <a:spcBef>
                <a:spcPts val="1440"/>
              </a:spcBef>
            </a:pPr>
            <a:r>
              <a:rPr dirty="0" sz="2400" spc="-10" b="1">
                <a:latin typeface="黑体"/>
                <a:cs typeface="黑体"/>
              </a:rPr>
              <a:t>=2.30</a:t>
            </a:r>
            <a:endParaRPr sz="2400">
              <a:latin typeface="黑体"/>
              <a:cs typeface="黑体"/>
            </a:endParaRPr>
          </a:p>
          <a:p>
            <a:pPr marL="88900">
              <a:lnSpc>
                <a:spcPct val="100000"/>
              </a:lnSpc>
              <a:spcBef>
                <a:spcPts val="1440"/>
              </a:spcBef>
            </a:pPr>
            <a:r>
              <a:rPr dirty="0" sz="2400" spc="-10">
                <a:solidFill>
                  <a:srgbClr val="E14B04"/>
                </a:solidFill>
                <a:latin typeface="黑体"/>
                <a:cs typeface="黑体"/>
              </a:rPr>
              <a:t>比哈夫曼编码的</a:t>
            </a:r>
            <a:r>
              <a:rPr dirty="0" sz="2400" spc="-10">
                <a:solidFill>
                  <a:srgbClr val="9933FF"/>
                </a:solidFill>
                <a:latin typeface="Times New Roman"/>
                <a:cs typeface="Times New Roman"/>
              </a:rPr>
              <a:t>2.2</a:t>
            </a:r>
            <a:r>
              <a:rPr dirty="0" sz="2400" spc="-10">
                <a:solidFill>
                  <a:srgbClr val="E14B04"/>
                </a:solidFill>
                <a:latin typeface="黑体"/>
                <a:cs typeface="黑体"/>
              </a:rPr>
              <a:t>大，但很接近于</a:t>
            </a:r>
            <a:r>
              <a:rPr dirty="0" sz="2400" spc="-10">
                <a:solidFill>
                  <a:srgbClr val="9933FF"/>
                </a:solidFill>
                <a:latin typeface="Times New Roman"/>
                <a:cs typeface="Times New Roman"/>
              </a:rPr>
              <a:t>2.2</a:t>
            </a:r>
            <a:r>
              <a:rPr dirty="0" sz="2400" spc="-10">
                <a:solidFill>
                  <a:srgbClr val="E14B04"/>
                </a:solidFill>
                <a:latin typeface="黑体"/>
                <a:cs typeface="黑体"/>
              </a:rPr>
              <a:t>，而且比定长的</a:t>
            </a:r>
            <a:r>
              <a:rPr dirty="0" sz="2400" spc="-10">
                <a:solidFill>
                  <a:srgbClr val="9933FF"/>
                </a:solidFill>
                <a:latin typeface="Times New Roman"/>
                <a:cs typeface="Times New Roman"/>
              </a:rPr>
              <a:t>3</a:t>
            </a:r>
            <a:r>
              <a:rPr dirty="0" sz="2400" spc="-10">
                <a:solidFill>
                  <a:srgbClr val="9933FF"/>
                </a:solidFill>
                <a:latin typeface="黑体"/>
                <a:cs typeface="黑体"/>
              </a:rPr>
              <a:t>位</a:t>
            </a:r>
            <a:r>
              <a:rPr dirty="0" sz="2400" spc="-30">
                <a:solidFill>
                  <a:srgbClr val="E14B04"/>
                </a:solidFill>
                <a:latin typeface="黑体"/>
                <a:cs typeface="黑体"/>
              </a:rPr>
              <a:t>编码</a:t>
            </a:r>
            <a:endParaRPr sz="2400">
              <a:latin typeface="黑体"/>
              <a:cs typeface="黑体"/>
            </a:endParaRPr>
          </a:p>
          <a:p>
            <a:pPr marL="165100">
              <a:lnSpc>
                <a:spcPct val="100000"/>
              </a:lnSpc>
              <a:spcBef>
                <a:spcPts val="1440"/>
              </a:spcBef>
            </a:pPr>
            <a:r>
              <a:rPr dirty="0" sz="2400" spc="-15">
                <a:solidFill>
                  <a:srgbClr val="E14B04"/>
                </a:solidFill>
                <a:latin typeface="黑体"/>
                <a:cs typeface="黑体"/>
              </a:rPr>
              <a:t>小很多。</a:t>
            </a:r>
            <a:endParaRPr sz="2400">
              <a:latin typeface="黑体"/>
              <a:cs typeface="黑体"/>
            </a:endParaRPr>
          </a:p>
        </p:txBody>
      </p:sp>
      <p:sp>
        <p:nvSpPr>
          <p:cNvPr id="7" name="object 7" descr=""/>
          <p:cNvSpPr txBox="1"/>
          <p:nvPr/>
        </p:nvSpPr>
        <p:spPr>
          <a:xfrm>
            <a:off x="5506192" y="2612004"/>
            <a:ext cx="2425700" cy="692150"/>
          </a:xfrm>
          <a:prstGeom prst="rect">
            <a:avLst/>
          </a:prstGeom>
        </p:spPr>
        <p:txBody>
          <a:bodyPr wrap="square" lIns="0" tIns="15240" rIns="0" bIns="0" rtlCol="0" vert="horz">
            <a:spAutoFit/>
          </a:bodyPr>
          <a:lstStyle/>
          <a:p>
            <a:pPr marL="38100">
              <a:lnSpc>
                <a:spcPct val="100000"/>
              </a:lnSpc>
              <a:spcBef>
                <a:spcPts val="120"/>
              </a:spcBef>
              <a:tabLst>
                <a:tab pos="1636395" algn="l"/>
              </a:tabLst>
            </a:pPr>
            <a:r>
              <a:rPr dirty="0" sz="2900" i="1">
                <a:latin typeface="Times New Roman"/>
                <a:cs typeface="Times New Roman"/>
              </a:rPr>
              <a:t>L</a:t>
            </a:r>
            <a:r>
              <a:rPr dirty="0" sz="2900" spc="-30" i="1">
                <a:latin typeface="Times New Roman"/>
                <a:cs typeface="Times New Roman"/>
              </a:rPr>
              <a:t> </a:t>
            </a:r>
            <a:r>
              <a:rPr dirty="0" sz="2900">
                <a:latin typeface="Symbol"/>
                <a:cs typeface="Symbol"/>
              </a:rPr>
              <a:t></a:t>
            </a:r>
            <a:r>
              <a:rPr dirty="0" sz="2900" spc="-80">
                <a:latin typeface="Times New Roman"/>
                <a:cs typeface="Times New Roman"/>
              </a:rPr>
              <a:t> </a:t>
            </a:r>
            <a:r>
              <a:rPr dirty="0" baseline="-8301" sz="6525">
                <a:latin typeface="Symbol"/>
                <a:cs typeface="Symbol"/>
              </a:rPr>
              <a:t></a:t>
            </a:r>
            <a:r>
              <a:rPr dirty="0" baseline="-8301" sz="6525" spc="-532">
                <a:latin typeface="Times New Roman"/>
                <a:cs typeface="Times New Roman"/>
              </a:rPr>
              <a:t> </a:t>
            </a:r>
            <a:r>
              <a:rPr dirty="0" sz="2900" spc="-20" i="1">
                <a:latin typeface="Times New Roman"/>
                <a:cs typeface="Times New Roman"/>
              </a:rPr>
              <a:t>p</a:t>
            </a:r>
            <a:r>
              <a:rPr dirty="0" baseline="-25252" sz="2475" spc="-30" i="1">
                <a:latin typeface="Times New Roman"/>
                <a:cs typeface="Times New Roman"/>
              </a:rPr>
              <a:t>i</a:t>
            </a:r>
            <a:r>
              <a:rPr dirty="0" sz="2900" spc="-20" i="1">
                <a:latin typeface="Times New Roman"/>
                <a:cs typeface="Times New Roman"/>
              </a:rPr>
              <a:t>l</a:t>
            </a:r>
            <a:r>
              <a:rPr dirty="0" baseline="-25252" sz="2475" spc="-30" i="1">
                <a:latin typeface="Times New Roman"/>
                <a:cs typeface="Times New Roman"/>
              </a:rPr>
              <a:t>i</a:t>
            </a:r>
            <a:r>
              <a:rPr dirty="0" baseline="-25252" sz="2475" i="1">
                <a:latin typeface="Times New Roman"/>
                <a:cs typeface="Times New Roman"/>
              </a:rPr>
              <a:t>	</a:t>
            </a:r>
            <a:r>
              <a:rPr dirty="0" sz="2900">
                <a:latin typeface="Symbol"/>
                <a:cs typeface="Symbol"/>
              </a:rPr>
              <a:t></a:t>
            </a:r>
            <a:r>
              <a:rPr dirty="0" sz="2900" spc="-55">
                <a:latin typeface="Times New Roman"/>
                <a:cs typeface="Times New Roman"/>
              </a:rPr>
              <a:t> </a:t>
            </a:r>
            <a:r>
              <a:rPr dirty="0" sz="2900" spc="-25">
                <a:latin typeface="Times New Roman"/>
                <a:cs typeface="Times New Roman"/>
              </a:rPr>
              <a:t>2.3</a:t>
            </a:r>
            <a:endParaRPr sz="2900">
              <a:latin typeface="Times New Roman"/>
              <a:cs typeface="Times New Roman"/>
            </a:endParaRPr>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t>	2.3.3</a:t>
            </a:r>
            <a:r>
              <a:rPr dirty="0" spc="-45"/>
              <a:t> </a:t>
            </a:r>
            <a:r>
              <a:rPr dirty="0">
                <a:latin typeface="微软雅黑"/>
                <a:cs typeface="微软雅黑"/>
              </a:rPr>
              <a:t>指令操作码的优</a:t>
            </a:r>
            <a:r>
              <a:rPr dirty="0" spc="-50">
                <a:latin typeface="微软雅黑"/>
                <a:cs typeface="微软雅黑"/>
              </a:rPr>
              <a:t>化</a:t>
            </a:r>
            <a:r>
              <a:rPr dirty="0">
                <a:latin typeface="微软雅黑"/>
                <a:cs typeface="微软雅黑"/>
              </a:rPr>
              <a:t>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1475994" y="993140"/>
            <a:ext cx="8705215" cy="391160"/>
          </a:xfrm>
          <a:prstGeom prst="rect">
            <a:avLst/>
          </a:prstGeom>
        </p:spPr>
        <p:txBody>
          <a:bodyPr wrap="square" lIns="0" tIns="12700" rIns="0" bIns="0" rtlCol="0" vert="horz">
            <a:spAutoFit/>
          </a:bodyPr>
          <a:lstStyle/>
          <a:p>
            <a:pPr marL="461645" indent="-448945">
              <a:lnSpc>
                <a:spcPct val="100000"/>
              </a:lnSpc>
              <a:spcBef>
                <a:spcPts val="100"/>
              </a:spcBef>
              <a:buClr>
                <a:srgbClr val="40458B"/>
              </a:buClr>
              <a:buFont typeface="Wingdings"/>
              <a:buChar char=""/>
              <a:tabLst>
                <a:tab pos="461645" algn="l"/>
              </a:tabLst>
            </a:pPr>
            <a:r>
              <a:rPr dirty="0" sz="2400">
                <a:solidFill>
                  <a:srgbClr val="E14B04"/>
                </a:solidFill>
                <a:latin typeface="黑体"/>
                <a:cs typeface="黑体"/>
              </a:rPr>
              <a:t>采用扩展编码，只保留两种2、4</a:t>
            </a:r>
            <a:r>
              <a:rPr dirty="0" sz="2400" spc="-5">
                <a:solidFill>
                  <a:srgbClr val="E14B04"/>
                </a:solidFill>
                <a:latin typeface="黑体"/>
                <a:cs typeface="黑体"/>
              </a:rPr>
              <a:t>两种长度，操作码长度如下：</a:t>
            </a:r>
            <a:endParaRPr sz="2400">
              <a:latin typeface="黑体"/>
              <a:cs typeface="黑体"/>
            </a:endParaRPr>
          </a:p>
        </p:txBody>
      </p:sp>
      <p:sp>
        <p:nvSpPr>
          <p:cNvPr id="4" name="object 4" descr=""/>
          <p:cNvSpPr txBox="1"/>
          <p:nvPr/>
        </p:nvSpPr>
        <p:spPr>
          <a:xfrm>
            <a:off x="2733294" y="2374138"/>
            <a:ext cx="1507490" cy="330835"/>
          </a:xfrm>
          <a:prstGeom prst="rect">
            <a:avLst/>
          </a:prstGeom>
        </p:spPr>
        <p:txBody>
          <a:bodyPr wrap="square" lIns="0" tIns="13335" rIns="0" bIns="0" rtlCol="0" vert="horz">
            <a:spAutoFit/>
          </a:bodyPr>
          <a:lstStyle/>
          <a:p>
            <a:pPr marL="469900" indent="-457200">
              <a:lnSpc>
                <a:spcPct val="100000"/>
              </a:lnSpc>
              <a:spcBef>
                <a:spcPts val="105"/>
              </a:spcBef>
              <a:buClr>
                <a:srgbClr val="4668F5"/>
              </a:buClr>
              <a:buSzPct val="60000"/>
              <a:buFont typeface="Wingdings"/>
              <a:buChar char=""/>
              <a:tabLst>
                <a:tab pos="469900" algn="l"/>
              </a:tabLst>
            </a:pPr>
            <a:r>
              <a:rPr dirty="0" sz="2000" spc="-20" b="1">
                <a:latin typeface="黑体"/>
                <a:cs typeface="黑体"/>
              </a:rPr>
              <a:t>平均长度</a:t>
            </a:r>
            <a:endParaRPr sz="2000">
              <a:latin typeface="黑体"/>
              <a:cs typeface="黑体"/>
            </a:endParaRPr>
          </a:p>
        </p:txBody>
      </p:sp>
      <p:sp>
        <p:nvSpPr>
          <p:cNvPr id="5" name="object 5" descr=""/>
          <p:cNvSpPr txBox="1"/>
          <p:nvPr/>
        </p:nvSpPr>
        <p:spPr>
          <a:xfrm>
            <a:off x="2707894" y="1429867"/>
            <a:ext cx="8042275" cy="1132205"/>
          </a:xfrm>
          <a:prstGeom prst="rect">
            <a:avLst/>
          </a:prstGeom>
        </p:spPr>
        <p:txBody>
          <a:bodyPr wrap="square" lIns="0" tIns="104140" rIns="0" bIns="0" rtlCol="0" vert="horz">
            <a:spAutoFit/>
          </a:bodyPr>
          <a:lstStyle/>
          <a:p>
            <a:pPr algn="r" marL="457200" marR="44450" indent="-457200">
              <a:lnSpc>
                <a:spcPct val="100000"/>
              </a:lnSpc>
              <a:spcBef>
                <a:spcPts val="820"/>
              </a:spcBef>
              <a:buClr>
                <a:srgbClr val="4668F5"/>
              </a:buClr>
              <a:buSzPct val="60000"/>
              <a:buFont typeface="Wingdings"/>
              <a:buChar char=""/>
              <a:tabLst>
                <a:tab pos="457200" algn="l"/>
              </a:tabLst>
            </a:pPr>
            <a:r>
              <a:rPr dirty="0" sz="2000">
                <a:latin typeface="黑体"/>
                <a:cs typeface="黑体"/>
              </a:rPr>
              <a:t>用两位的</a:t>
            </a:r>
            <a:r>
              <a:rPr dirty="0" sz="2000" spc="-10">
                <a:solidFill>
                  <a:srgbClr val="9933FF"/>
                </a:solidFill>
                <a:latin typeface="黑体"/>
                <a:cs typeface="黑体"/>
              </a:rPr>
              <a:t>00</a:t>
            </a:r>
            <a:r>
              <a:rPr dirty="0" sz="2000" spc="-15">
                <a:solidFill>
                  <a:srgbClr val="9933FF"/>
                </a:solidFill>
                <a:latin typeface="黑体"/>
                <a:cs typeface="黑体"/>
              </a:rPr>
              <a:t>、</a:t>
            </a:r>
            <a:r>
              <a:rPr dirty="0" sz="2000" spc="-10">
                <a:solidFill>
                  <a:srgbClr val="9933FF"/>
                </a:solidFill>
                <a:latin typeface="黑体"/>
                <a:cs typeface="黑体"/>
              </a:rPr>
              <a:t>01</a:t>
            </a:r>
            <a:r>
              <a:rPr dirty="0" sz="2000">
                <a:solidFill>
                  <a:srgbClr val="9933FF"/>
                </a:solidFill>
                <a:latin typeface="黑体"/>
                <a:cs typeface="黑体"/>
              </a:rPr>
              <a:t>、</a:t>
            </a:r>
            <a:r>
              <a:rPr dirty="0" sz="2000" spc="-10">
                <a:solidFill>
                  <a:srgbClr val="9933FF"/>
                </a:solidFill>
                <a:latin typeface="黑体"/>
                <a:cs typeface="黑体"/>
              </a:rPr>
              <a:t>10</a:t>
            </a:r>
            <a:r>
              <a:rPr dirty="0" sz="2000" spc="-15">
                <a:latin typeface="黑体"/>
                <a:cs typeface="黑体"/>
              </a:rPr>
              <a:t>分别用于表示使用频度高的</a:t>
            </a:r>
            <a:r>
              <a:rPr dirty="0" sz="2000" spc="-10">
                <a:solidFill>
                  <a:srgbClr val="9933FF"/>
                </a:solidFill>
                <a:latin typeface="黑体"/>
                <a:cs typeface="黑体"/>
              </a:rPr>
              <a:t>I</a:t>
            </a:r>
            <a:r>
              <a:rPr dirty="0" baseline="-21367" sz="1950" spc="-15">
                <a:solidFill>
                  <a:srgbClr val="9933FF"/>
                </a:solidFill>
                <a:latin typeface="黑体"/>
                <a:cs typeface="黑体"/>
              </a:rPr>
              <a:t>1</a:t>
            </a:r>
            <a:r>
              <a:rPr dirty="0" sz="2000">
                <a:solidFill>
                  <a:srgbClr val="9933FF"/>
                </a:solidFill>
                <a:latin typeface="黑体"/>
                <a:cs typeface="黑体"/>
              </a:rPr>
              <a:t>、</a:t>
            </a:r>
            <a:r>
              <a:rPr dirty="0" sz="2000" spc="-10">
                <a:solidFill>
                  <a:srgbClr val="9933FF"/>
                </a:solidFill>
                <a:latin typeface="黑体"/>
                <a:cs typeface="黑体"/>
              </a:rPr>
              <a:t>I</a:t>
            </a:r>
            <a:r>
              <a:rPr dirty="0" baseline="-21367" sz="1950" spc="-15">
                <a:solidFill>
                  <a:srgbClr val="9933FF"/>
                </a:solidFill>
                <a:latin typeface="黑体"/>
                <a:cs typeface="黑体"/>
              </a:rPr>
              <a:t>2</a:t>
            </a:r>
            <a:r>
              <a:rPr dirty="0" sz="2000">
                <a:solidFill>
                  <a:srgbClr val="9933FF"/>
                </a:solidFill>
                <a:latin typeface="黑体"/>
                <a:cs typeface="黑体"/>
              </a:rPr>
              <a:t>、</a:t>
            </a:r>
            <a:r>
              <a:rPr dirty="0" sz="2000" spc="-10">
                <a:solidFill>
                  <a:srgbClr val="9933FF"/>
                </a:solidFill>
                <a:latin typeface="黑体"/>
                <a:cs typeface="黑体"/>
              </a:rPr>
              <a:t>I</a:t>
            </a:r>
            <a:r>
              <a:rPr dirty="0" baseline="-21367" sz="1950" spc="-15">
                <a:solidFill>
                  <a:srgbClr val="9933FF"/>
                </a:solidFill>
                <a:latin typeface="黑体"/>
                <a:cs typeface="黑体"/>
              </a:rPr>
              <a:t>3</a:t>
            </a:r>
            <a:r>
              <a:rPr dirty="0" sz="2000" spc="-20">
                <a:latin typeface="黑体"/>
                <a:cs typeface="黑体"/>
              </a:rPr>
              <a:t>，然后用</a:t>
            </a:r>
            <a:endParaRPr sz="2000">
              <a:latin typeface="黑体"/>
              <a:cs typeface="黑体"/>
            </a:endParaRPr>
          </a:p>
          <a:p>
            <a:pPr algn="r" marR="43180">
              <a:lnSpc>
                <a:spcPct val="100000"/>
              </a:lnSpc>
              <a:spcBef>
                <a:spcPts val="720"/>
              </a:spcBef>
            </a:pPr>
            <a:r>
              <a:rPr dirty="0" sz="2000" spc="-10">
                <a:solidFill>
                  <a:srgbClr val="9933FF"/>
                </a:solidFill>
                <a:latin typeface="黑体"/>
                <a:cs typeface="黑体"/>
              </a:rPr>
              <a:t>11</a:t>
            </a:r>
            <a:r>
              <a:rPr dirty="0" sz="2000" spc="-10">
                <a:latin typeface="黑体"/>
                <a:cs typeface="黑体"/>
              </a:rPr>
              <a:t>作为高位扩展出</a:t>
            </a:r>
            <a:r>
              <a:rPr dirty="0" sz="2000" spc="-10">
                <a:solidFill>
                  <a:srgbClr val="9933FF"/>
                </a:solidFill>
                <a:latin typeface="黑体"/>
                <a:cs typeface="黑体"/>
              </a:rPr>
              <a:t>4</a:t>
            </a:r>
            <a:r>
              <a:rPr dirty="0" sz="2000">
                <a:latin typeface="黑体"/>
                <a:cs typeface="黑体"/>
              </a:rPr>
              <a:t>个</a:t>
            </a:r>
            <a:r>
              <a:rPr dirty="0" sz="2000" spc="-10">
                <a:solidFill>
                  <a:srgbClr val="9933FF"/>
                </a:solidFill>
                <a:latin typeface="黑体"/>
                <a:cs typeface="黑体"/>
              </a:rPr>
              <a:t>4</a:t>
            </a:r>
            <a:r>
              <a:rPr dirty="0" sz="2000" spc="-15">
                <a:latin typeface="黑体"/>
                <a:cs typeface="黑体"/>
              </a:rPr>
              <a:t>位的二进制编码，用于表示剩下的</a:t>
            </a:r>
            <a:r>
              <a:rPr dirty="0" sz="2000" spc="-10">
                <a:solidFill>
                  <a:srgbClr val="9933FF"/>
                </a:solidFill>
                <a:latin typeface="黑体"/>
                <a:cs typeface="黑体"/>
              </a:rPr>
              <a:t>4</a:t>
            </a:r>
            <a:r>
              <a:rPr dirty="0" sz="2000" spc="-15">
                <a:latin typeface="黑体"/>
                <a:cs typeface="黑体"/>
              </a:rPr>
              <a:t>条指令。</a:t>
            </a:r>
            <a:endParaRPr sz="2000">
              <a:latin typeface="黑体"/>
              <a:cs typeface="黑体"/>
            </a:endParaRPr>
          </a:p>
          <a:p>
            <a:pPr algn="ctr" marR="2135505">
              <a:lnSpc>
                <a:spcPct val="100000"/>
              </a:lnSpc>
              <a:spcBef>
                <a:spcPts val="480"/>
              </a:spcBef>
            </a:pPr>
            <a:r>
              <a:rPr dirty="0" sz="1650" spc="-50">
                <a:latin typeface="Times New Roman"/>
                <a:cs typeface="Times New Roman"/>
              </a:rPr>
              <a:t>7</a:t>
            </a:r>
            <a:endParaRPr sz="1650">
              <a:latin typeface="Times New Roman"/>
              <a:cs typeface="Times New Roman"/>
            </a:endParaRPr>
          </a:p>
        </p:txBody>
      </p:sp>
      <p:sp>
        <p:nvSpPr>
          <p:cNvPr id="6" name="object 6" descr=""/>
          <p:cNvSpPr txBox="1"/>
          <p:nvPr/>
        </p:nvSpPr>
        <p:spPr>
          <a:xfrm>
            <a:off x="6115799" y="2748596"/>
            <a:ext cx="255270" cy="283210"/>
          </a:xfrm>
          <a:prstGeom prst="rect">
            <a:avLst/>
          </a:prstGeom>
        </p:spPr>
        <p:txBody>
          <a:bodyPr wrap="square" lIns="0" tIns="17145" rIns="0" bIns="0" rtlCol="0" vert="horz">
            <a:spAutoFit/>
          </a:bodyPr>
          <a:lstStyle/>
          <a:p>
            <a:pPr marL="12700">
              <a:lnSpc>
                <a:spcPct val="100000"/>
              </a:lnSpc>
              <a:spcBef>
                <a:spcPts val="135"/>
              </a:spcBef>
            </a:pPr>
            <a:r>
              <a:rPr dirty="0" sz="1650" i="1">
                <a:latin typeface="Times New Roman"/>
                <a:cs typeface="Times New Roman"/>
              </a:rPr>
              <a:t>i</a:t>
            </a:r>
            <a:r>
              <a:rPr dirty="0" sz="1650" spc="445" i="1">
                <a:latin typeface="Times New Roman"/>
                <a:cs typeface="Times New Roman"/>
              </a:rPr>
              <a:t> </a:t>
            </a:r>
            <a:r>
              <a:rPr dirty="0" sz="1650" spc="-50" i="1">
                <a:latin typeface="Times New Roman"/>
                <a:cs typeface="Times New Roman"/>
              </a:rPr>
              <a:t>i</a:t>
            </a:r>
            <a:endParaRPr sz="1650">
              <a:latin typeface="Times New Roman"/>
              <a:cs typeface="Times New Roman"/>
            </a:endParaRPr>
          </a:p>
        </p:txBody>
      </p:sp>
      <p:sp>
        <p:nvSpPr>
          <p:cNvPr id="7" name="object 7" descr=""/>
          <p:cNvSpPr txBox="1"/>
          <p:nvPr/>
        </p:nvSpPr>
        <p:spPr>
          <a:xfrm>
            <a:off x="5508112" y="3003335"/>
            <a:ext cx="315595" cy="283210"/>
          </a:xfrm>
          <a:prstGeom prst="rect">
            <a:avLst/>
          </a:prstGeom>
        </p:spPr>
        <p:txBody>
          <a:bodyPr wrap="square" lIns="0" tIns="17145" rIns="0" bIns="0" rtlCol="0" vert="horz">
            <a:spAutoFit/>
          </a:bodyPr>
          <a:lstStyle/>
          <a:p>
            <a:pPr marL="12700">
              <a:lnSpc>
                <a:spcPct val="100000"/>
              </a:lnSpc>
              <a:spcBef>
                <a:spcPts val="135"/>
              </a:spcBef>
            </a:pPr>
            <a:r>
              <a:rPr dirty="0" sz="1650" spc="-25" i="1">
                <a:latin typeface="Times New Roman"/>
                <a:cs typeface="Times New Roman"/>
              </a:rPr>
              <a:t>i</a:t>
            </a:r>
            <a:r>
              <a:rPr dirty="0" sz="1650" spc="-25">
                <a:latin typeface="Symbol"/>
                <a:cs typeface="Symbol"/>
              </a:rPr>
              <a:t></a:t>
            </a:r>
            <a:r>
              <a:rPr dirty="0" sz="1650" spc="-25">
                <a:latin typeface="Times New Roman"/>
                <a:cs typeface="Times New Roman"/>
              </a:rPr>
              <a:t>1</a:t>
            </a:r>
            <a:endParaRPr sz="1650">
              <a:latin typeface="Times New Roman"/>
              <a:cs typeface="Times New Roman"/>
            </a:endParaRPr>
          </a:p>
        </p:txBody>
      </p:sp>
      <p:sp>
        <p:nvSpPr>
          <p:cNvPr id="8" name="object 8" descr=""/>
          <p:cNvSpPr txBox="1"/>
          <p:nvPr/>
        </p:nvSpPr>
        <p:spPr>
          <a:xfrm>
            <a:off x="5213653" y="2311903"/>
            <a:ext cx="2062480" cy="692785"/>
          </a:xfrm>
          <a:prstGeom prst="rect">
            <a:avLst/>
          </a:prstGeom>
        </p:spPr>
        <p:txBody>
          <a:bodyPr wrap="square" lIns="0" tIns="15875" rIns="0" bIns="0" rtlCol="0" vert="horz">
            <a:spAutoFit/>
          </a:bodyPr>
          <a:lstStyle/>
          <a:p>
            <a:pPr marL="38100">
              <a:lnSpc>
                <a:spcPct val="100000"/>
              </a:lnSpc>
              <a:spcBef>
                <a:spcPts val="125"/>
              </a:spcBef>
              <a:tabLst>
                <a:tab pos="1271905" algn="l"/>
              </a:tabLst>
            </a:pPr>
            <a:r>
              <a:rPr dirty="0" sz="2900">
                <a:latin typeface="Symbol"/>
                <a:cs typeface="Symbol"/>
              </a:rPr>
              <a:t></a:t>
            </a:r>
            <a:r>
              <a:rPr dirty="0" baseline="-8301" sz="6525">
                <a:latin typeface="Symbol"/>
                <a:cs typeface="Symbol"/>
              </a:rPr>
              <a:t></a:t>
            </a:r>
            <a:r>
              <a:rPr dirty="0" baseline="-8301" sz="6525" spc="-427">
                <a:latin typeface="Times New Roman"/>
                <a:cs typeface="Times New Roman"/>
              </a:rPr>
              <a:t> </a:t>
            </a:r>
            <a:r>
              <a:rPr dirty="0" sz="2900" spc="229" i="1">
                <a:latin typeface="Times New Roman"/>
                <a:cs typeface="Times New Roman"/>
              </a:rPr>
              <a:t>pl</a:t>
            </a:r>
            <a:r>
              <a:rPr dirty="0" sz="2900" i="1">
                <a:latin typeface="Times New Roman"/>
                <a:cs typeface="Times New Roman"/>
              </a:rPr>
              <a:t>	</a:t>
            </a:r>
            <a:r>
              <a:rPr dirty="0" sz="2900">
                <a:latin typeface="Symbol"/>
                <a:cs typeface="Symbol"/>
              </a:rPr>
              <a:t></a:t>
            </a:r>
            <a:r>
              <a:rPr dirty="0" sz="2900" spc="-55">
                <a:latin typeface="Times New Roman"/>
                <a:cs typeface="Times New Roman"/>
              </a:rPr>
              <a:t> </a:t>
            </a:r>
            <a:r>
              <a:rPr dirty="0" sz="2900" spc="-25">
                <a:latin typeface="Times New Roman"/>
                <a:cs typeface="Times New Roman"/>
              </a:rPr>
              <a:t>2.3</a:t>
            </a:r>
            <a:endParaRPr sz="2900">
              <a:latin typeface="Times New Roman"/>
              <a:cs typeface="Times New Roman"/>
            </a:endParaRPr>
          </a:p>
        </p:txBody>
      </p:sp>
      <p:sp>
        <p:nvSpPr>
          <p:cNvPr id="9" name="object 9" descr=""/>
          <p:cNvSpPr/>
          <p:nvPr/>
        </p:nvSpPr>
        <p:spPr>
          <a:xfrm>
            <a:off x="6933204" y="4583096"/>
            <a:ext cx="1229360" cy="0"/>
          </a:xfrm>
          <a:custGeom>
            <a:avLst/>
            <a:gdLst/>
            <a:ahLst/>
            <a:cxnLst/>
            <a:rect l="l" t="t" r="r" b="b"/>
            <a:pathLst>
              <a:path w="1229359" h="0">
                <a:moveTo>
                  <a:pt x="0" y="0"/>
                </a:moveTo>
                <a:lnTo>
                  <a:pt x="1228990" y="0"/>
                </a:lnTo>
              </a:path>
            </a:pathLst>
          </a:custGeom>
          <a:ln w="13232">
            <a:solidFill>
              <a:srgbClr val="000000"/>
            </a:solidFill>
          </a:ln>
        </p:spPr>
        <p:txBody>
          <a:bodyPr wrap="square" lIns="0" tIns="0" rIns="0" bIns="0" rtlCol="0"/>
          <a:lstStyle/>
          <a:p/>
        </p:txBody>
      </p:sp>
      <p:sp>
        <p:nvSpPr>
          <p:cNvPr id="10" name="object 10" descr=""/>
          <p:cNvSpPr txBox="1"/>
          <p:nvPr/>
        </p:nvSpPr>
        <p:spPr>
          <a:xfrm>
            <a:off x="6899109" y="4138889"/>
            <a:ext cx="2291080" cy="791210"/>
          </a:xfrm>
          <a:prstGeom prst="rect">
            <a:avLst/>
          </a:prstGeom>
        </p:spPr>
        <p:txBody>
          <a:bodyPr wrap="square" lIns="0" tIns="67945" rIns="0" bIns="0" rtlCol="0" vert="horz">
            <a:spAutoFit/>
          </a:bodyPr>
          <a:lstStyle/>
          <a:p>
            <a:pPr marL="50800">
              <a:lnSpc>
                <a:spcPct val="100000"/>
              </a:lnSpc>
              <a:spcBef>
                <a:spcPts val="535"/>
              </a:spcBef>
            </a:pPr>
            <a:r>
              <a:rPr dirty="0" sz="2150" spc="-10">
                <a:latin typeface="Times New Roman"/>
                <a:cs typeface="Times New Roman"/>
              </a:rPr>
              <a:t>2.30</a:t>
            </a:r>
            <a:r>
              <a:rPr dirty="0" sz="2150" spc="-10">
                <a:latin typeface="宋体"/>
                <a:cs typeface="宋体"/>
              </a:rPr>
              <a:t>－</a:t>
            </a:r>
            <a:r>
              <a:rPr dirty="0" sz="2150" spc="-10">
                <a:latin typeface="Times New Roman"/>
                <a:cs typeface="Times New Roman"/>
              </a:rPr>
              <a:t>2.17</a:t>
            </a:r>
            <a:r>
              <a:rPr dirty="0" sz="2150" spc="-100">
                <a:latin typeface="Times New Roman"/>
                <a:cs typeface="Times New Roman"/>
              </a:rPr>
              <a:t> </a:t>
            </a:r>
            <a:r>
              <a:rPr dirty="0" baseline="-34883" sz="3225">
                <a:latin typeface="Symbol"/>
                <a:cs typeface="Symbol"/>
              </a:rPr>
              <a:t></a:t>
            </a:r>
            <a:r>
              <a:rPr dirty="0" baseline="-34883" sz="3225" spc="-202">
                <a:latin typeface="Times New Roman"/>
                <a:cs typeface="Times New Roman"/>
              </a:rPr>
              <a:t> </a:t>
            </a:r>
            <a:r>
              <a:rPr dirty="0" baseline="-34883" sz="3225" spc="-15">
                <a:latin typeface="Times New Roman"/>
                <a:cs typeface="Times New Roman"/>
              </a:rPr>
              <a:t>5.56%</a:t>
            </a:r>
            <a:endParaRPr baseline="-34883" sz="3225">
              <a:latin typeface="Times New Roman"/>
              <a:cs typeface="Times New Roman"/>
            </a:endParaRPr>
          </a:p>
          <a:p>
            <a:pPr marL="415925">
              <a:lnSpc>
                <a:spcPct val="100000"/>
              </a:lnSpc>
              <a:spcBef>
                <a:spcPts val="430"/>
              </a:spcBef>
            </a:pPr>
            <a:r>
              <a:rPr dirty="0" sz="2150" spc="-20">
                <a:latin typeface="Times New Roman"/>
                <a:cs typeface="Times New Roman"/>
              </a:rPr>
              <a:t>2.30</a:t>
            </a:r>
            <a:endParaRPr sz="2150">
              <a:latin typeface="Times New Roman"/>
              <a:cs typeface="Times New Roman"/>
            </a:endParaRPr>
          </a:p>
        </p:txBody>
      </p:sp>
      <p:pic>
        <p:nvPicPr>
          <p:cNvPr id="11" name="object 11"/>
          <p:cNvPicPr/>
          <p:nvPr/>
        </p:nvPicPr>
        <p:blipFill>
          <a:blip r:embed="rId2" cstate="print"/>
          <a:stretch>
            <a:fillRect/>
          </a:stretch>
        </p:blipFill>
        <p:spPr>
          <a:xfrm>
            <a:off x="1680606" y="3478590"/>
            <a:ext cx="3958573" cy="1531020"/>
          </a:xfrm>
          <a:prstGeom prst="rect">
            <a:avLst/>
          </a:prstGeom>
        </p:spPr>
      </p:pic>
      <p:sp>
        <p:nvSpPr>
          <p:cNvPr id="12" name="object 12" descr=""/>
          <p:cNvSpPr txBox="1"/>
          <p:nvPr/>
        </p:nvSpPr>
        <p:spPr>
          <a:xfrm>
            <a:off x="2321941" y="5197173"/>
            <a:ext cx="8166734" cy="1544320"/>
          </a:xfrm>
          <a:prstGeom prst="rect">
            <a:avLst/>
          </a:prstGeom>
          <a:solidFill>
            <a:srgbClr val="ABADD9"/>
          </a:solidFill>
        </p:spPr>
        <p:txBody>
          <a:bodyPr wrap="square" lIns="0" tIns="98425" rIns="0" bIns="0" rtlCol="0" vert="horz">
            <a:spAutoFit/>
          </a:bodyPr>
          <a:lstStyle/>
          <a:p>
            <a:pPr marL="91440">
              <a:lnSpc>
                <a:spcPct val="100000"/>
              </a:lnSpc>
              <a:spcBef>
                <a:spcPts val="775"/>
              </a:spcBef>
            </a:pPr>
            <a:r>
              <a:rPr dirty="0" sz="2400" spc="-25" b="1">
                <a:solidFill>
                  <a:srgbClr val="FF0000"/>
                </a:solidFill>
                <a:latin typeface="宋体"/>
                <a:cs typeface="宋体"/>
              </a:rPr>
              <a:t>说明：采用扩展操作码编码，浪费了</a:t>
            </a:r>
            <a:r>
              <a:rPr dirty="0" sz="2400" spc="-10" b="1">
                <a:solidFill>
                  <a:srgbClr val="FF0000"/>
                </a:solidFill>
                <a:latin typeface="宋体"/>
                <a:cs typeface="宋体"/>
              </a:rPr>
              <a:t>5.56%</a:t>
            </a:r>
            <a:endParaRPr sz="2400">
              <a:latin typeface="宋体"/>
              <a:cs typeface="宋体"/>
            </a:endParaRPr>
          </a:p>
        </p:txBody>
      </p:sp>
      <p:sp>
        <p:nvSpPr>
          <p:cNvPr id="13" name="object 13" descr=""/>
          <p:cNvSpPr txBox="1"/>
          <p:nvPr/>
        </p:nvSpPr>
        <p:spPr>
          <a:xfrm>
            <a:off x="2413380" y="5895225"/>
            <a:ext cx="7670800" cy="304800"/>
          </a:xfrm>
          <a:prstGeom prst="rect">
            <a:avLst/>
          </a:prstGeom>
          <a:solidFill>
            <a:srgbClr val="FFFF00"/>
          </a:solidFill>
        </p:spPr>
        <p:txBody>
          <a:bodyPr wrap="square" lIns="0" tIns="0" rIns="0" bIns="0" rtlCol="0" vert="horz">
            <a:spAutoFit/>
          </a:bodyPr>
          <a:lstStyle/>
          <a:p>
            <a:pPr>
              <a:lnSpc>
                <a:spcPts val="2400"/>
              </a:lnSpc>
            </a:pPr>
            <a:r>
              <a:rPr dirty="0" sz="2400" spc="-25" b="1">
                <a:solidFill>
                  <a:srgbClr val="FF0000"/>
                </a:solidFill>
                <a:latin typeface="宋体"/>
                <a:cs typeface="宋体"/>
              </a:rPr>
              <a:t>比较三种冗余量：长度种类个数、长度大小、规整等方面</a:t>
            </a:r>
            <a:endParaRPr sz="2400">
              <a:latin typeface="宋体"/>
              <a:cs typeface="宋体"/>
            </a:endParaRPr>
          </a:p>
        </p:txBody>
      </p:sp>
      <p:sp>
        <p:nvSpPr>
          <p:cNvPr id="14" name="object 1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t>	2.3.3</a:t>
            </a:r>
            <a:r>
              <a:rPr dirty="0" spc="-45"/>
              <a:t> </a:t>
            </a:r>
            <a:r>
              <a:rPr dirty="0">
                <a:latin typeface="微软雅黑"/>
                <a:cs typeface="微软雅黑"/>
              </a:rPr>
              <a:t>指令操作码的优</a:t>
            </a:r>
            <a:r>
              <a:rPr dirty="0" spc="-50">
                <a:latin typeface="微软雅黑"/>
                <a:cs typeface="微软雅黑"/>
              </a:rPr>
              <a:t>化</a:t>
            </a:r>
            <a:r>
              <a:rPr dirty="0">
                <a:latin typeface="微软雅黑"/>
                <a:cs typeface="微软雅黑"/>
              </a:rPr>
              <a:t>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8" name="object 8" descr=""/>
          <p:cNvSpPr txBox="1"/>
          <p:nvPr/>
        </p:nvSpPr>
        <p:spPr>
          <a:xfrm>
            <a:off x="1852422" y="986981"/>
            <a:ext cx="8587740" cy="5095875"/>
          </a:xfrm>
          <a:prstGeom prst="rect">
            <a:avLst/>
          </a:prstGeom>
        </p:spPr>
        <p:txBody>
          <a:bodyPr wrap="square" lIns="0" tIns="245110" rIns="0" bIns="0" rtlCol="0" vert="horz">
            <a:spAutoFit/>
          </a:bodyPr>
          <a:lstStyle/>
          <a:p>
            <a:pPr marL="469900" indent="-457200">
              <a:lnSpc>
                <a:spcPct val="100000"/>
              </a:lnSpc>
              <a:spcBef>
                <a:spcPts val="1930"/>
              </a:spcBef>
              <a:buClr>
                <a:srgbClr val="40458B"/>
              </a:buClr>
              <a:buSzPct val="117857"/>
              <a:buFont typeface="Wingdings"/>
              <a:buChar char=""/>
              <a:tabLst>
                <a:tab pos="469900" algn="l"/>
              </a:tabLst>
            </a:pPr>
            <a:r>
              <a:rPr dirty="0" sz="2800" spc="-40">
                <a:solidFill>
                  <a:srgbClr val="D50092"/>
                </a:solidFill>
                <a:latin typeface="黑体"/>
                <a:cs typeface="黑体"/>
              </a:rPr>
              <a:t>哈夫曼编码总结</a:t>
            </a:r>
            <a:endParaRPr sz="2800">
              <a:latin typeface="黑体"/>
              <a:cs typeface="黑体"/>
            </a:endParaRPr>
          </a:p>
          <a:p>
            <a:pPr lvl="1" marL="1029335" indent="-457200">
              <a:lnSpc>
                <a:spcPct val="100000"/>
              </a:lnSpc>
              <a:spcBef>
                <a:spcPts val="1440"/>
              </a:spcBef>
              <a:buClr>
                <a:srgbClr val="006FC0"/>
              </a:buClr>
              <a:buSzPct val="88636"/>
              <a:buFont typeface="Wingdings"/>
              <a:buChar char=""/>
              <a:tabLst>
                <a:tab pos="1029335" algn="l"/>
              </a:tabLst>
            </a:pPr>
            <a:r>
              <a:rPr dirty="0" sz="2200" spc="-30">
                <a:solidFill>
                  <a:srgbClr val="D50092"/>
                </a:solidFill>
                <a:latin typeface="黑体"/>
                <a:cs typeface="黑体"/>
              </a:rPr>
              <a:t>优缺点：</a:t>
            </a:r>
            <a:r>
              <a:rPr dirty="0" sz="2200" spc="-35">
                <a:solidFill>
                  <a:srgbClr val="006FC0"/>
                </a:solidFill>
                <a:latin typeface="黑体"/>
                <a:cs typeface="黑体"/>
              </a:rPr>
              <a:t>可以减少操作码的平均位数，但所获得的编码是变长</a:t>
            </a:r>
            <a:endParaRPr sz="2200">
              <a:latin typeface="黑体"/>
              <a:cs typeface="黑体"/>
            </a:endParaRPr>
          </a:p>
          <a:p>
            <a:pPr marL="1029335">
              <a:lnSpc>
                <a:spcPct val="100000"/>
              </a:lnSpc>
              <a:spcBef>
                <a:spcPts val="795"/>
              </a:spcBef>
            </a:pPr>
            <a:r>
              <a:rPr dirty="0" sz="2200" spc="-35">
                <a:solidFill>
                  <a:srgbClr val="006FC0"/>
                </a:solidFill>
                <a:latin typeface="黑体"/>
                <a:cs typeface="黑体"/>
              </a:rPr>
              <a:t>度的，不规整，不利于硬件处理。</a:t>
            </a:r>
            <a:endParaRPr sz="2200">
              <a:latin typeface="黑体"/>
              <a:cs typeface="黑体"/>
            </a:endParaRPr>
          </a:p>
          <a:p>
            <a:pPr algn="just" marL="687705" indent="-457200">
              <a:lnSpc>
                <a:spcPct val="100000"/>
              </a:lnSpc>
              <a:spcBef>
                <a:spcPts val="1560"/>
              </a:spcBef>
              <a:buClr>
                <a:srgbClr val="40458B"/>
              </a:buClr>
              <a:buSzPct val="117857"/>
              <a:buFont typeface="Wingdings"/>
              <a:buChar char=""/>
              <a:tabLst>
                <a:tab pos="687705" algn="l"/>
              </a:tabLst>
            </a:pPr>
            <a:r>
              <a:rPr dirty="0" sz="2800" spc="-30">
                <a:solidFill>
                  <a:srgbClr val="FF0000"/>
                </a:solidFill>
                <a:latin typeface="黑体"/>
                <a:cs typeface="黑体"/>
              </a:rPr>
              <a:t>扩展操作码</a:t>
            </a:r>
            <a:endParaRPr sz="2800">
              <a:latin typeface="黑体"/>
              <a:cs typeface="黑体"/>
            </a:endParaRPr>
          </a:p>
          <a:p>
            <a:pPr algn="just" marL="624840" indent="-358140">
              <a:lnSpc>
                <a:spcPct val="100000"/>
              </a:lnSpc>
              <a:spcBef>
                <a:spcPts val="1440"/>
              </a:spcBef>
              <a:buSzPct val="88636"/>
              <a:buFont typeface="Wingdings"/>
              <a:buChar char=""/>
              <a:tabLst>
                <a:tab pos="624840" algn="l"/>
              </a:tabLst>
            </a:pPr>
            <a:r>
              <a:rPr dirty="0" sz="2200" spc="-35">
                <a:solidFill>
                  <a:srgbClr val="006FC0"/>
                </a:solidFill>
                <a:latin typeface="黑体"/>
                <a:cs typeface="黑体"/>
              </a:rPr>
              <a:t>位于定长二进制编码和哈夫曼编码之间的一种编码方案。</a:t>
            </a:r>
            <a:endParaRPr sz="2200">
              <a:latin typeface="黑体"/>
              <a:cs typeface="黑体"/>
            </a:endParaRPr>
          </a:p>
          <a:p>
            <a:pPr algn="just" lvl="1" marL="626745" marR="125095" indent="-273050">
              <a:lnSpc>
                <a:spcPct val="130100"/>
              </a:lnSpc>
              <a:spcBef>
                <a:spcPts val="525"/>
              </a:spcBef>
              <a:buSzPct val="88636"/>
              <a:buFont typeface="Wingdings"/>
              <a:buChar char=""/>
              <a:tabLst>
                <a:tab pos="626745" algn="l"/>
              </a:tabLst>
            </a:pPr>
            <a:r>
              <a:rPr dirty="0" sz="2200" spc="-30">
                <a:solidFill>
                  <a:srgbClr val="006FC0"/>
                </a:solidFill>
                <a:latin typeface="黑体"/>
                <a:cs typeface="黑体"/>
              </a:rPr>
              <a:t>采用有限几种固定长度的码长</a:t>
            </a:r>
            <a:r>
              <a:rPr dirty="0" sz="2200" spc="-25">
                <a:solidFill>
                  <a:srgbClr val="006FC0"/>
                </a:solidFill>
                <a:latin typeface="黑体"/>
                <a:cs typeface="黑体"/>
              </a:rPr>
              <a:t>（例如上页表中</a:t>
            </a:r>
            <a:r>
              <a:rPr dirty="0" sz="2200" spc="-30">
                <a:solidFill>
                  <a:srgbClr val="006FC0"/>
                </a:solidFill>
                <a:latin typeface="Times New Roman"/>
                <a:cs typeface="Times New Roman"/>
              </a:rPr>
              <a:t>2</a:t>
            </a:r>
            <a:r>
              <a:rPr dirty="0" sz="2200" spc="-20">
                <a:solidFill>
                  <a:srgbClr val="006FC0"/>
                </a:solidFill>
                <a:latin typeface="黑体"/>
                <a:cs typeface="黑体"/>
              </a:rPr>
              <a:t>、</a:t>
            </a:r>
            <a:r>
              <a:rPr dirty="0" sz="2200" spc="-20">
                <a:solidFill>
                  <a:srgbClr val="006FC0"/>
                </a:solidFill>
                <a:latin typeface="Times New Roman"/>
                <a:cs typeface="Times New Roman"/>
              </a:rPr>
              <a:t>4</a:t>
            </a:r>
            <a:r>
              <a:rPr dirty="0" sz="2200" spc="-20">
                <a:solidFill>
                  <a:srgbClr val="006FC0"/>
                </a:solidFill>
                <a:latin typeface="黑体"/>
                <a:cs typeface="黑体"/>
              </a:rPr>
              <a:t>）</a:t>
            </a:r>
            <a:r>
              <a:rPr dirty="0" sz="2200" spc="-35">
                <a:solidFill>
                  <a:srgbClr val="006FC0"/>
                </a:solidFill>
                <a:latin typeface="黑体"/>
                <a:cs typeface="黑体"/>
              </a:rPr>
              <a:t>，仍然采用高概率的用短码、低概率用长码的哈夫曼压缩思想，使操作码平</a:t>
            </a:r>
            <a:r>
              <a:rPr dirty="0" sz="2200" spc="-25">
                <a:solidFill>
                  <a:srgbClr val="006FC0"/>
                </a:solidFill>
                <a:latin typeface="黑体"/>
                <a:cs typeface="黑体"/>
              </a:rPr>
              <a:t>均长度缩短。</a:t>
            </a:r>
            <a:r>
              <a:rPr dirty="0" sz="2200" spc="-10">
                <a:solidFill>
                  <a:srgbClr val="006FC0"/>
                </a:solidFill>
                <a:latin typeface="Times New Roman"/>
                <a:cs typeface="Times New Roman"/>
              </a:rPr>
              <a:t>---</a:t>
            </a:r>
            <a:r>
              <a:rPr dirty="0" sz="2200" spc="-30">
                <a:solidFill>
                  <a:srgbClr val="FF0000"/>
                </a:solidFill>
                <a:latin typeface="黑体"/>
                <a:cs typeface="黑体"/>
              </a:rPr>
              <a:t>尽量规整（上表</a:t>
            </a:r>
            <a:r>
              <a:rPr dirty="0" sz="2200" spc="-50">
                <a:solidFill>
                  <a:srgbClr val="FF0000"/>
                </a:solidFill>
                <a:latin typeface="黑体"/>
                <a:cs typeface="黑体"/>
              </a:rPr>
              <a:t>）</a:t>
            </a:r>
            <a:endParaRPr sz="2200">
              <a:latin typeface="黑体"/>
              <a:cs typeface="黑体"/>
            </a:endParaRPr>
          </a:p>
          <a:p>
            <a:pPr algn="just" marL="624205" marR="35560" indent="-357505">
              <a:lnSpc>
                <a:spcPct val="130000"/>
              </a:lnSpc>
              <a:spcBef>
                <a:spcPts val="530"/>
              </a:spcBef>
              <a:buSzPct val="88636"/>
              <a:buFont typeface="Wingdings"/>
              <a:buChar char=""/>
              <a:tabLst>
                <a:tab pos="625475" algn="l"/>
              </a:tabLst>
            </a:pPr>
            <a:r>
              <a:rPr dirty="0" sz="2200" spc="-30">
                <a:solidFill>
                  <a:srgbClr val="006FC0"/>
                </a:solidFill>
                <a:latin typeface="黑体"/>
                <a:cs typeface="黑体"/>
              </a:rPr>
              <a:t>上表中的指令，采用</a:t>
            </a:r>
            <a:r>
              <a:rPr dirty="0" sz="2200" spc="-10">
                <a:solidFill>
                  <a:srgbClr val="9933FF"/>
                </a:solidFill>
                <a:latin typeface="Times New Roman"/>
                <a:cs typeface="Times New Roman"/>
              </a:rPr>
              <a:t>2-4</a:t>
            </a:r>
            <a:r>
              <a:rPr dirty="0" sz="2200" spc="-35">
                <a:solidFill>
                  <a:srgbClr val="006FC0"/>
                </a:solidFill>
                <a:latin typeface="黑体"/>
                <a:cs typeface="黑体"/>
              </a:rPr>
              <a:t>的扩展操作码，可以得到如表右边所示的</a:t>
            </a:r>
            <a:r>
              <a:rPr dirty="0" sz="2200" spc="-35">
                <a:solidFill>
                  <a:srgbClr val="006FC0"/>
                </a:solidFill>
                <a:latin typeface="黑体"/>
                <a:cs typeface="黑体"/>
              </a:rPr>
              <a:t>	</a:t>
            </a:r>
            <a:r>
              <a:rPr dirty="0" sz="2200" spc="-30">
                <a:solidFill>
                  <a:srgbClr val="006FC0"/>
                </a:solidFill>
                <a:latin typeface="黑体"/>
                <a:cs typeface="黑体"/>
              </a:rPr>
              <a:t>编码方案。</a:t>
            </a:r>
            <a:endParaRPr sz="2200">
              <a:latin typeface="黑体"/>
              <a:cs typeface="黑体"/>
            </a:endParaRPr>
          </a:p>
        </p:txBody>
      </p:sp>
      <p:sp>
        <p:nvSpPr>
          <p:cNvPr id="9" name="object 9"/>
          <p:cNvSpPr txBox="1">
            <a:spLocks noGrp="1"/>
          </p:cNvSpPr>
          <p:nvPr>
            <p:ph type="title"/>
          </p:nvPr>
        </p:nvSpPr>
        <p:spPr>
          <a:xfrm>
            <a:off x="2753995" y="233883"/>
            <a:ext cx="3936365" cy="452120"/>
          </a:xfrm>
          <a:prstGeom prst="rect"/>
        </p:spPr>
        <p:txBody>
          <a:bodyPr wrap="square" lIns="0" tIns="12065" rIns="0" bIns="0" rtlCol="0" vert="horz">
            <a:spAutoFit/>
          </a:bodyPr>
          <a:lstStyle/>
          <a:p>
            <a:pPr marL="12700">
              <a:lnSpc>
                <a:spcPct val="100000"/>
              </a:lnSpc>
              <a:spcBef>
                <a:spcPts val="95"/>
              </a:spcBef>
            </a:pPr>
            <a:r>
              <a:rPr dirty="0" u="none" sz="2800" b="0">
                <a:latin typeface="黑体"/>
                <a:cs typeface="黑体"/>
              </a:rPr>
              <a:t>2.3.3</a:t>
            </a:r>
            <a:r>
              <a:rPr dirty="0" u="none" sz="2800" spc="-40" b="0">
                <a:latin typeface="黑体"/>
                <a:cs typeface="黑体"/>
              </a:rPr>
              <a:t> 指令操作码的优化</a:t>
            </a:r>
            <a:endParaRPr sz="2800">
              <a:latin typeface="黑体"/>
              <a:cs typeface="黑体"/>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494790" algn="l"/>
                <a:tab pos="11028045" algn="l"/>
              </a:tabLst>
            </a:pPr>
            <a:r>
              <a:rPr dirty="0"/>
              <a:t>	2.3.3</a:t>
            </a:r>
            <a:r>
              <a:rPr dirty="0" spc="-45"/>
              <a:t> </a:t>
            </a:r>
            <a:r>
              <a:rPr dirty="0">
                <a:latin typeface="微软雅黑"/>
                <a:cs typeface="微软雅黑"/>
              </a:rPr>
              <a:t>指令操作码的优</a:t>
            </a:r>
            <a:r>
              <a:rPr dirty="0" spc="-50">
                <a:latin typeface="微软雅黑"/>
                <a:cs typeface="微软雅黑"/>
              </a:rPr>
              <a:t>化</a:t>
            </a:r>
            <a:r>
              <a:rPr dirty="0">
                <a:latin typeface="微软雅黑"/>
                <a:cs typeface="微软雅黑"/>
              </a:rPr>
              <a:t>	</a:t>
            </a:r>
          </a:p>
        </p:txBody>
      </p:sp>
      <p:sp>
        <p:nvSpPr>
          <p:cNvPr id="4" name="object 4" descr=""/>
          <p:cNvSpPr txBox="1"/>
          <p:nvPr/>
        </p:nvSpPr>
        <p:spPr>
          <a:xfrm>
            <a:off x="2088895" y="1086680"/>
            <a:ext cx="7863840" cy="5250815"/>
          </a:xfrm>
          <a:prstGeom prst="rect">
            <a:avLst/>
          </a:prstGeom>
        </p:spPr>
        <p:txBody>
          <a:bodyPr wrap="square" lIns="0" tIns="90805" rIns="0" bIns="0" rtlCol="0" vert="horz">
            <a:spAutoFit/>
          </a:bodyPr>
          <a:lstStyle/>
          <a:p>
            <a:pPr marL="349250" indent="-336550">
              <a:lnSpc>
                <a:spcPct val="100000"/>
              </a:lnSpc>
              <a:spcBef>
                <a:spcPts val="715"/>
              </a:spcBef>
              <a:buClr>
                <a:srgbClr val="40458B"/>
              </a:buClr>
              <a:buSzPct val="114285"/>
              <a:buFont typeface="Wingdings"/>
              <a:buChar char=""/>
              <a:tabLst>
                <a:tab pos="349250" algn="l"/>
              </a:tabLst>
            </a:pPr>
            <a:r>
              <a:rPr dirty="0" sz="2800" spc="-40">
                <a:solidFill>
                  <a:srgbClr val="172152"/>
                </a:solidFill>
                <a:latin typeface="黑体"/>
                <a:cs typeface="黑体"/>
              </a:rPr>
              <a:t>一个指令系统中</a:t>
            </a:r>
            <a:endParaRPr sz="2800">
              <a:latin typeface="黑体"/>
              <a:cs typeface="黑体"/>
            </a:endParaRPr>
          </a:p>
          <a:p>
            <a:pPr algn="just" lvl="1" marL="553720" marR="5029835" indent="-207645">
              <a:lnSpc>
                <a:spcPct val="110000"/>
              </a:lnSpc>
              <a:spcBef>
                <a:spcPts val="515"/>
              </a:spcBef>
              <a:buClr>
                <a:srgbClr val="006FC0"/>
              </a:buClr>
              <a:buSzPct val="84090"/>
              <a:buFont typeface="Wingdings"/>
              <a:buChar char=""/>
              <a:tabLst>
                <a:tab pos="553720" algn="l"/>
                <a:tab pos="593725" algn="l"/>
              </a:tabLst>
            </a:pPr>
            <a:r>
              <a:rPr dirty="0" sz="2200" spc="-35">
                <a:solidFill>
                  <a:srgbClr val="9933FF"/>
                </a:solidFill>
                <a:latin typeface="宋体"/>
                <a:cs typeface="宋体"/>
              </a:rPr>
              <a:t>	</a:t>
            </a:r>
            <a:r>
              <a:rPr dirty="0" sz="2200" spc="-35">
                <a:solidFill>
                  <a:srgbClr val="9933FF"/>
                </a:solidFill>
                <a:latin typeface="宋体"/>
                <a:cs typeface="宋体"/>
              </a:rPr>
              <a:t>若操作码长度固定</a:t>
            </a:r>
            <a:r>
              <a:rPr dirty="0" sz="2200" spc="-35">
                <a:solidFill>
                  <a:srgbClr val="006FC0"/>
                </a:solidFill>
                <a:latin typeface="宋体"/>
                <a:cs typeface="宋体"/>
              </a:rPr>
              <a:t>且指令格式不同，</a:t>
            </a:r>
            <a:r>
              <a:rPr dirty="0" sz="2200" spc="-40">
                <a:solidFill>
                  <a:srgbClr val="006FC0"/>
                </a:solidFill>
                <a:latin typeface="宋体"/>
                <a:cs typeface="宋体"/>
              </a:rPr>
              <a:t>指令格式如右：</a:t>
            </a:r>
            <a:endParaRPr sz="2200">
              <a:latin typeface="宋体"/>
              <a:cs typeface="宋体"/>
            </a:endParaRPr>
          </a:p>
          <a:p>
            <a:pPr lvl="1" marL="593725" indent="-247650">
              <a:lnSpc>
                <a:spcPct val="100000"/>
              </a:lnSpc>
              <a:spcBef>
                <a:spcPts val="790"/>
              </a:spcBef>
              <a:buSzPct val="84090"/>
              <a:buFont typeface="Wingdings"/>
              <a:buChar char=""/>
              <a:tabLst>
                <a:tab pos="593725" algn="l"/>
              </a:tabLst>
            </a:pPr>
            <a:r>
              <a:rPr dirty="0" sz="2200" spc="-35">
                <a:solidFill>
                  <a:srgbClr val="006FC0"/>
                </a:solidFill>
                <a:latin typeface="宋体"/>
                <a:cs typeface="宋体"/>
              </a:rPr>
              <a:t>操作码字段长度取决于指令系统中的指令总数目；</a:t>
            </a:r>
            <a:endParaRPr sz="2200">
              <a:latin typeface="宋体"/>
              <a:cs typeface="宋体"/>
            </a:endParaRPr>
          </a:p>
          <a:p>
            <a:pPr lvl="1" marL="593725" indent="-247650">
              <a:lnSpc>
                <a:spcPct val="100000"/>
              </a:lnSpc>
              <a:spcBef>
                <a:spcPts val="795"/>
              </a:spcBef>
              <a:buSzPct val="84090"/>
              <a:buFont typeface="Wingdings"/>
              <a:buChar char=""/>
              <a:tabLst>
                <a:tab pos="593725" algn="l"/>
              </a:tabLst>
            </a:pPr>
            <a:r>
              <a:rPr dirty="0" sz="2200" spc="-35">
                <a:solidFill>
                  <a:srgbClr val="006FC0"/>
                </a:solidFill>
                <a:latin typeface="宋体"/>
                <a:cs typeface="宋体"/>
              </a:rPr>
              <a:t>地址码较少的指令，编码浪费；</a:t>
            </a:r>
            <a:endParaRPr sz="2200">
              <a:latin typeface="宋体"/>
              <a:cs typeface="宋体"/>
            </a:endParaRPr>
          </a:p>
          <a:p>
            <a:pPr marL="348615" indent="-335915">
              <a:lnSpc>
                <a:spcPct val="100000"/>
              </a:lnSpc>
              <a:spcBef>
                <a:spcPts val="425"/>
              </a:spcBef>
              <a:buClr>
                <a:srgbClr val="40458B"/>
              </a:buClr>
              <a:buSzPct val="114285"/>
              <a:buFont typeface="Wingdings"/>
              <a:buChar char=""/>
              <a:tabLst>
                <a:tab pos="348615" algn="l"/>
              </a:tabLst>
            </a:pPr>
            <a:r>
              <a:rPr dirty="0" sz="2800" spc="-30">
                <a:solidFill>
                  <a:srgbClr val="172152"/>
                </a:solidFill>
                <a:latin typeface="黑体"/>
                <a:cs typeface="黑体"/>
              </a:rPr>
              <a:t>操作码扩展</a:t>
            </a:r>
            <a:r>
              <a:rPr dirty="0" sz="2800" spc="-25">
                <a:solidFill>
                  <a:srgbClr val="172152"/>
                </a:solidFill>
                <a:latin typeface="Tahoma"/>
                <a:cs typeface="Tahoma"/>
              </a:rPr>
              <a:t>(</a:t>
            </a:r>
            <a:r>
              <a:rPr dirty="0" sz="2800" spc="-35">
                <a:solidFill>
                  <a:srgbClr val="172152"/>
                </a:solidFill>
                <a:latin typeface="黑体"/>
                <a:cs typeface="黑体"/>
              </a:rPr>
              <a:t>扩展方式较多</a:t>
            </a:r>
            <a:r>
              <a:rPr dirty="0" sz="2800" spc="-50">
                <a:solidFill>
                  <a:srgbClr val="172152"/>
                </a:solidFill>
                <a:latin typeface="黑体"/>
                <a:cs typeface="黑体"/>
              </a:rPr>
              <a:t>）</a:t>
            </a:r>
            <a:endParaRPr sz="2800">
              <a:latin typeface="黑体"/>
              <a:cs typeface="黑体"/>
            </a:endParaRPr>
          </a:p>
          <a:p>
            <a:pPr lvl="1" marL="553720" marR="5080" indent="-207645">
              <a:lnSpc>
                <a:spcPct val="110000"/>
              </a:lnSpc>
              <a:spcBef>
                <a:spcPts val="509"/>
              </a:spcBef>
              <a:buSzPct val="84090"/>
              <a:buFont typeface="Wingdings"/>
              <a:buChar char=""/>
              <a:tabLst>
                <a:tab pos="553720" algn="l"/>
                <a:tab pos="593725" algn="l"/>
              </a:tabLst>
            </a:pPr>
            <a:r>
              <a:rPr dirty="0" sz="2200" spc="-35">
                <a:solidFill>
                  <a:srgbClr val="006FC0"/>
                </a:solidFill>
                <a:latin typeface="宋体"/>
                <a:cs typeface="宋体"/>
              </a:rPr>
              <a:t>	</a:t>
            </a:r>
            <a:r>
              <a:rPr dirty="0" sz="2200" spc="-35">
                <a:solidFill>
                  <a:srgbClr val="006FC0"/>
                </a:solidFill>
                <a:latin typeface="宋体"/>
                <a:cs typeface="宋体"/>
              </a:rPr>
              <a:t>对于地址码较少的指令，把它们的操作码扩充到不用的地址码字段；</a:t>
            </a:r>
            <a:endParaRPr sz="2200">
              <a:latin typeface="宋体"/>
              <a:cs typeface="宋体"/>
            </a:endParaRPr>
          </a:p>
          <a:p>
            <a:pPr lvl="1" marL="594360" indent="-248285">
              <a:lnSpc>
                <a:spcPct val="100000"/>
              </a:lnSpc>
              <a:spcBef>
                <a:spcPts val="795"/>
              </a:spcBef>
              <a:buSzPct val="84090"/>
              <a:buFont typeface="Wingdings"/>
              <a:buChar char=""/>
              <a:tabLst>
                <a:tab pos="594360" algn="l"/>
              </a:tabLst>
            </a:pPr>
            <a:r>
              <a:rPr dirty="0" sz="2200" spc="-40">
                <a:solidFill>
                  <a:srgbClr val="006FC0"/>
                </a:solidFill>
                <a:latin typeface="宋体"/>
                <a:cs typeface="宋体"/>
              </a:rPr>
              <a:t>既充分利用指令字的各字段，又在不增加指令长度的情况下</a:t>
            </a:r>
            <a:endParaRPr sz="2200">
              <a:latin typeface="宋体"/>
              <a:cs typeface="宋体"/>
            </a:endParaRPr>
          </a:p>
          <a:p>
            <a:pPr algn="r" marR="4791710">
              <a:lnSpc>
                <a:spcPct val="100000"/>
              </a:lnSpc>
              <a:spcBef>
                <a:spcPts val="265"/>
              </a:spcBef>
            </a:pPr>
            <a:r>
              <a:rPr dirty="0" sz="2200" spc="-35">
                <a:solidFill>
                  <a:srgbClr val="006FC0"/>
                </a:solidFill>
                <a:latin typeface="宋体"/>
                <a:cs typeface="宋体"/>
              </a:rPr>
              <a:t>扩展操作码的长度。</a:t>
            </a:r>
            <a:endParaRPr sz="2200">
              <a:latin typeface="宋体"/>
              <a:cs typeface="宋体"/>
            </a:endParaRPr>
          </a:p>
          <a:p>
            <a:pPr algn="r" lvl="1" marL="247650" marR="4750435" indent="-247650">
              <a:lnSpc>
                <a:spcPct val="100000"/>
              </a:lnSpc>
              <a:spcBef>
                <a:spcPts val="795"/>
              </a:spcBef>
              <a:buSzPct val="84090"/>
              <a:buFont typeface="Wingdings"/>
              <a:buChar char=""/>
              <a:tabLst>
                <a:tab pos="247650" algn="l"/>
              </a:tabLst>
            </a:pPr>
            <a:r>
              <a:rPr dirty="0" sz="2200" spc="-35">
                <a:solidFill>
                  <a:srgbClr val="006FC0"/>
                </a:solidFill>
                <a:latin typeface="宋体"/>
                <a:cs typeface="宋体"/>
              </a:rPr>
              <a:t>例如哈夫曼扩展编码</a:t>
            </a:r>
            <a:endParaRPr sz="2200">
              <a:latin typeface="宋体"/>
              <a:cs typeface="宋体"/>
            </a:endParaRPr>
          </a:p>
        </p:txBody>
      </p:sp>
      <p:graphicFrame>
        <p:nvGraphicFramePr>
          <p:cNvPr id="5" name="object 5" descr=""/>
          <p:cNvGraphicFramePr>
            <a:graphicFrameLocks noGrp="1"/>
          </p:cNvGraphicFramePr>
          <p:nvPr/>
        </p:nvGraphicFramePr>
        <p:xfrm>
          <a:off x="6359588" y="1038288"/>
          <a:ext cx="4219575" cy="1562100"/>
        </p:xfrm>
        <a:graphic>
          <a:graphicData uri="http://schemas.openxmlformats.org/drawingml/2006/table">
            <a:tbl>
              <a:tblPr firstRow="1" bandRow="1">
                <a:tableStyleId>{2D5ABB26-0587-4C30-8999-92F81FD0307C}</a:tableStyleId>
              </a:tblPr>
              <a:tblGrid>
                <a:gridCol w="1028700"/>
                <a:gridCol w="1028700"/>
                <a:gridCol w="1028700"/>
                <a:gridCol w="1028700"/>
              </a:tblGrid>
              <a:tr h="381000">
                <a:tc>
                  <a:txBody>
                    <a:bodyPr/>
                    <a:lstStyle/>
                    <a:p>
                      <a:pPr algn="ctr">
                        <a:lnSpc>
                          <a:spcPct val="100000"/>
                        </a:lnSpc>
                        <a:spcBef>
                          <a:spcPts val="509"/>
                        </a:spcBef>
                      </a:pPr>
                      <a:r>
                        <a:rPr dirty="0" sz="1600" spc="-25" b="1">
                          <a:solidFill>
                            <a:srgbClr val="CC0000"/>
                          </a:solidFill>
                          <a:latin typeface="Arial"/>
                          <a:cs typeface="Arial"/>
                        </a:rPr>
                        <a:t>OP</a:t>
                      </a:r>
                      <a:endParaRPr sz="1600">
                        <a:latin typeface="Arial"/>
                        <a:cs typeface="Arial"/>
                      </a:endParaRPr>
                    </a:p>
                  </a:txBody>
                  <a:tcPr marL="0" marR="0" marB="0" marT="64769">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a:lnSpc>
                          <a:spcPct val="100000"/>
                        </a:lnSpc>
                        <a:spcBef>
                          <a:spcPts val="509"/>
                        </a:spcBef>
                      </a:pPr>
                      <a:r>
                        <a:rPr dirty="0" sz="1600" spc="-25" b="1">
                          <a:solidFill>
                            <a:srgbClr val="CC0000"/>
                          </a:solidFill>
                          <a:latin typeface="Arial"/>
                          <a:cs typeface="Arial"/>
                        </a:rPr>
                        <a:t>A1</a:t>
                      </a:r>
                      <a:endParaRPr sz="1600">
                        <a:latin typeface="Arial"/>
                        <a:cs typeface="Arial"/>
                      </a:endParaRPr>
                    </a:p>
                  </a:txBody>
                  <a:tcPr marL="0" marR="0" marB="0" marT="64769">
                    <a:lnL w="12700">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a:lnSpc>
                          <a:spcPct val="100000"/>
                        </a:lnSpc>
                        <a:spcBef>
                          <a:spcPts val="509"/>
                        </a:spcBef>
                      </a:pPr>
                      <a:r>
                        <a:rPr dirty="0" sz="1600" spc="-25" b="1">
                          <a:solidFill>
                            <a:srgbClr val="CC0000"/>
                          </a:solidFill>
                          <a:latin typeface="Arial"/>
                          <a:cs typeface="Arial"/>
                        </a:rPr>
                        <a:t>A2</a:t>
                      </a:r>
                      <a:endParaRPr sz="1600">
                        <a:latin typeface="Arial"/>
                        <a:cs typeface="Arial"/>
                      </a:endParaRPr>
                    </a:p>
                  </a:txBody>
                  <a:tcPr marL="0" marR="0" marB="0" marT="64769">
                    <a:lnL w="12700">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a:lnSpc>
                          <a:spcPct val="100000"/>
                        </a:lnSpc>
                        <a:spcBef>
                          <a:spcPts val="509"/>
                        </a:spcBef>
                      </a:pPr>
                      <a:r>
                        <a:rPr dirty="0" sz="1600" spc="-25" b="1">
                          <a:solidFill>
                            <a:srgbClr val="CC0000"/>
                          </a:solidFill>
                          <a:latin typeface="Arial"/>
                          <a:cs typeface="Arial"/>
                        </a:rPr>
                        <a:t>A3</a:t>
                      </a:r>
                      <a:endParaRPr sz="1600">
                        <a:latin typeface="Arial"/>
                        <a:cs typeface="Arial"/>
                      </a:endParaRPr>
                    </a:p>
                  </a:txBody>
                  <a:tcPr marL="0" marR="0" marB="0" marT="64769">
                    <a:lnL w="12700">
                      <a:solidFill>
                        <a:srgbClr val="40458B"/>
                      </a:solidFill>
                      <a:prstDash val="solid"/>
                    </a:lnL>
                    <a:lnR w="28575">
                      <a:solidFill>
                        <a:srgbClr val="40458B"/>
                      </a:solidFill>
                      <a:prstDash val="solid"/>
                    </a:lnR>
                    <a:lnT w="28575">
                      <a:solidFill>
                        <a:srgbClr val="40458B"/>
                      </a:solidFill>
                      <a:prstDash val="solid"/>
                    </a:lnT>
                    <a:lnB w="28575">
                      <a:solidFill>
                        <a:srgbClr val="40458B"/>
                      </a:solidFill>
                      <a:prstDash val="solid"/>
                    </a:lnB>
                  </a:tcPr>
                </a:tc>
              </a:tr>
              <a:tr h="400050">
                <a:tc>
                  <a:txBody>
                    <a:bodyPr/>
                    <a:lstStyle/>
                    <a:p>
                      <a:pPr algn="ctr">
                        <a:lnSpc>
                          <a:spcPct val="100000"/>
                        </a:lnSpc>
                        <a:spcBef>
                          <a:spcPts val="660"/>
                        </a:spcBef>
                      </a:pPr>
                      <a:r>
                        <a:rPr dirty="0" sz="1600" spc="-25" b="1">
                          <a:solidFill>
                            <a:srgbClr val="CC0000"/>
                          </a:solidFill>
                          <a:latin typeface="Arial"/>
                          <a:cs typeface="Arial"/>
                        </a:rPr>
                        <a:t>OP</a:t>
                      </a:r>
                      <a:endParaRPr sz="1600">
                        <a:latin typeface="Arial"/>
                        <a:cs typeface="Arial"/>
                      </a:endParaRPr>
                    </a:p>
                  </a:txBody>
                  <a:tcPr marL="0" marR="0" marB="0" marT="8382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a:lnSpc>
                          <a:spcPct val="100000"/>
                        </a:lnSpc>
                        <a:spcBef>
                          <a:spcPts val="660"/>
                        </a:spcBef>
                      </a:pPr>
                      <a:r>
                        <a:rPr dirty="0" sz="1600" spc="-25" b="1">
                          <a:solidFill>
                            <a:srgbClr val="CC0000"/>
                          </a:solidFill>
                          <a:latin typeface="Arial"/>
                          <a:cs typeface="Arial"/>
                        </a:rPr>
                        <a:t>A1</a:t>
                      </a:r>
                      <a:endParaRPr sz="1600">
                        <a:latin typeface="Arial"/>
                        <a:cs typeface="Arial"/>
                      </a:endParaRPr>
                    </a:p>
                  </a:txBody>
                  <a:tcPr marL="0" marR="0" marB="0" marT="83820">
                    <a:lnL w="12700">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a:lnSpc>
                          <a:spcPct val="100000"/>
                        </a:lnSpc>
                        <a:spcBef>
                          <a:spcPts val="660"/>
                        </a:spcBef>
                      </a:pPr>
                      <a:r>
                        <a:rPr dirty="0" sz="1600" spc="-25" b="1">
                          <a:solidFill>
                            <a:srgbClr val="CC0000"/>
                          </a:solidFill>
                          <a:latin typeface="Arial"/>
                          <a:cs typeface="Arial"/>
                        </a:rPr>
                        <a:t>A2</a:t>
                      </a:r>
                      <a:endParaRPr sz="1600">
                        <a:latin typeface="Arial"/>
                        <a:cs typeface="Arial"/>
                      </a:endParaRPr>
                    </a:p>
                  </a:txBody>
                  <a:tcPr marL="0" marR="0" marB="0" marT="83820">
                    <a:lnL w="12700">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marL="33655">
                        <a:lnSpc>
                          <a:spcPct val="100000"/>
                        </a:lnSpc>
                        <a:spcBef>
                          <a:spcPts val="459"/>
                        </a:spcBef>
                      </a:pPr>
                      <a:r>
                        <a:rPr dirty="0" sz="1650" spc="-25" b="1">
                          <a:solidFill>
                            <a:srgbClr val="006600"/>
                          </a:solidFill>
                          <a:latin typeface="微软雅黑"/>
                          <a:cs typeface="微软雅黑"/>
                        </a:rPr>
                        <a:t>无用</a:t>
                      </a:r>
                      <a:endParaRPr sz="1650">
                        <a:latin typeface="微软雅黑"/>
                        <a:cs typeface="微软雅黑"/>
                      </a:endParaRPr>
                    </a:p>
                  </a:txBody>
                  <a:tcPr marL="0" marR="0" marB="0" marT="58419">
                    <a:lnL w="12700">
                      <a:solidFill>
                        <a:srgbClr val="40458B"/>
                      </a:solidFill>
                      <a:prstDash val="solid"/>
                    </a:lnL>
                    <a:lnR w="28575">
                      <a:solidFill>
                        <a:srgbClr val="40458B"/>
                      </a:solidFill>
                      <a:prstDash val="solid"/>
                    </a:lnR>
                    <a:lnT w="28575">
                      <a:solidFill>
                        <a:srgbClr val="40458B"/>
                      </a:solidFill>
                      <a:prstDash val="solid"/>
                    </a:lnT>
                    <a:lnB w="28575">
                      <a:solidFill>
                        <a:srgbClr val="40458B"/>
                      </a:solidFill>
                      <a:prstDash val="solid"/>
                    </a:lnB>
                  </a:tcPr>
                </a:tc>
              </a:tr>
              <a:tr h="400050">
                <a:tc>
                  <a:txBody>
                    <a:bodyPr/>
                    <a:lstStyle/>
                    <a:p>
                      <a:pPr algn="ctr">
                        <a:lnSpc>
                          <a:spcPct val="100000"/>
                        </a:lnSpc>
                        <a:spcBef>
                          <a:spcPts val="660"/>
                        </a:spcBef>
                      </a:pPr>
                      <a:r>
                        <a:rPr dirty="0" sz="1600" spc="-25" b="1">
                          <a:solidFill>
                            <a:srgbClr val="CC0000"/>
                          </a:solidFill>
                          <a:latin typeface="Arial"/>
                          <a:cs typeface="Arial"/>
                        </a:rPr>
                        <a:t>OP</a:t>
                      </a:r>
                      <a:endParaRPr sz="1600">
                        <a:latin typeface="Arial"/>
                        <a:cs typeface="Arial"/>
                      </a:endParaRPr>
                    </a:p>
                  </a:txBody>
                  <a:tcPr marL="0" marR="0" marB="0" marT="8382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a:lnSpc>
                          <a:spcPct val="100000"/>
                        </a:lnSpc>
                        <a:spcBef>
                          <a:spcPts val="660"/>
                        </a:spcBef>
                      </a:pPr>
                      <a:r>
                        <a:rPr dirty="0" sz="1600" spc="-25" b="1">
                          <a:solidFill>
                            <a:srgbClr val="CC0000"/>
                          </a:solidFill>
                          <a:latin typeface="Arial"/>
                          <a:cs typeface="Arial"/>
                        </a:rPr>
                        <a:t>A1</a:t>
                      </a:r>
                      <a:endParaRPr sz="1600">
                        <a:latin typeface="Arial"/>
                        <a:cs typeface="Arial"/>
                      </a:endParaRPr>
                    </a:p>
                  </a:txBody>
                  <a:tcPr marL="0" marR="0" marB="0" marT="83820">
                    <a:lnL w="12700">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marL="55880">
                        <a:lnSpc>
                          <a:spcPct val="100000"/>
                        </a:lnSpc>
                        <a:spcBef>
                          <a:spcPts val="459"/>
                        </a:spcBef>
                      </a:pPr>
                      <a:r>
                        <a:rPr dirty="0" sz="1650" spc="-25" b="1">
                          <a:solidFill>
                            <a:srgbClr val="006600"/>
                          </a:solidFill>
                          <a:latin typeface="微软雅黑"/>
                          <a:cs typeface="微软雅黑"/>
                        </a:rPr>
                        <a:t>无用</a:t>
                      </a:r>
                      <a:endParaRPr sz="1650">
                        <a:latin typeface="微软雅黑"/>
                        <a:cs typeface="微软雅黑"/>
                      </a:endParaRPr>
                    </a:p>
                  </a:txBody>
                  <a:tcPr marL="0" marR="0" marB="0" marT="58419">
                    <a:lnL w="12700">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marL="33655">
                        <a:lnSpc>
                          <a:spcPct val="100000"/>
                        </a:lnSpc>
                        <a:spcBef>
                          <a:spcPts val="459"/>
                        </a:spcBef>
                      </a:pPr>
                      <a:r>
                        <a:rPr dirty="0" sz="1650" spc="-25" b="1">
                          <a:solidFill>
                            <a:srgbClr val="006600"/>
                          </a:solidFill>
                          <a:latin typeface="微软雅黑"/>
                          <a:cs typeface="微软雅黑"/>
                        </a:rPr>
                        <a:t>无用</a:t>
                      </a:r>
                      <a:endParaRPr sz="1650">
                        <a:latin typeface="微软雅黑"/>
                        <a:cs typeface="微软雅黑"/>
                      </a:endParaRPr>
                    </a:p>
                  </a:txBody>
                  <a:tcPr marL="0" marR="0" marB="0" marT="58419">
                    <a:lnL w="12700">
                      <a:solidFill>
                        <a:srgbClr val="40458B"/>
                      </a:solidFill>
                      <a:prstDash val="solid"/>
                    </a:lnL>
                    <a:lnR w="28575">
                      <a:solidFill>
                        <a:srgbClr val="40458B"/>
                      </a:solidFill>
                      <a:prstDash val="solid"/>
                    </a:lnR>
                    <a:lnT w="28575">
                      <a:solidFill>
                        <a:srgbClr val="40458B"/>
                      </a:solidFill>
                      <a:prstDash val="solid"/>
                    </a:lnT>
                    <a:lnB w="28575">
                      <a:solidFill>
                        <a:srgbClr val="40458B"/>
                      </a:solidFill>
                      <a:prstDash val="solid"/>
                    </a:lnB>
                  </a:tcPr>
                </a:tc>
              </a:tr>
              <a:tr h="381000">
                <a:tc>
                  <a:txBody>
                    <a:bodyPr/>
                    <a:lstStyle/>
                    <a:p>
                      <a:pPr algn="ctr">
                        <a:lnSpc>
                          <a:spcPct val="100000"/>
                        </a:lnSpc>
                        <a:spcBef>
                          <a:spcPts val="660"/>
                        </a:spcBef>
                      </a:pPr>
                      <a:r>
                        <a:rPr dirty="0" sz="1600" spc="-25" b="1">
                          <a:solidFill>
                            <a:srgbClr val="CC0000"/>
                          </a:solidFill>
                          <a:latin typeface="Arial"/>
                          <a:cs typeface="Arial"/>
                        </a:rPr>
                        <a:t>OP</a:t>
                      </a:r>
                      <a:endParaRPr sz="1600">
                        <a:latin typeface="Arial"/>
                        <a:cs typeface="Arial"/>
                      </a:endParaRPr>
                    </a:p>
                  </a:txBody>
                  <a:tcPr marL="0" marR="0" marB="0" marT="8382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marL="33655">
                        <a:lnSpc>
                          <a:spcPct val="100000"/>
                        </a:lnSpc>
                        <a:spcBef>
                          <a:spcPts val="459"/>
                        </a:spcBef>
                      </a:pPr>
                      <a:r>
                        <a:rPr dirty="0" sz="1650" spc="-25" b="1">
                          <a:solidFill>
                            <a:srgbClr val="006600"/>
                          </a:solidFill>
                          <a:latin typeface="微软雅黑"/>
                          <a:cs typeface="微软雅黑"/>
                        </a:rPr>
                        <a:t>无用</a:t>
                      </a:r>
                      <a:endParaRPr sz="1650">
                        <a:latin typeface="微软雅黑"/>
                        <a:cs typeface="微软雅黑"/>
                      </a:endParaRPr>
                    </a:p>
                  </a:txBody>
                  <a:tcPr marL="0" marR="0" marB="0" marT="58419">
                    <a:lnL w="12700">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marL="33655">
                        <a:lnSpc>
                          <a:spcPct val="100000"/>
                        </a:lnSpc>
                        <a:spcBef>
                          <a:spcPts val="459"/>
                        </a:spcBef>
                      </a:pPr>
                      <a:r>
                        <a:rPr dirty="0" sz="1650" spc="-25" b="1">
                          <a:solidFill>
                            <a:srgbClr val="006600"/>
                          </a:solidFill>
                          <a:latin typeface="微软雅黑"/>
                          <a:cs typeface="微软雅黑"/>
                        </a:rPr>
                        <a:t>无用</a:t>
                      </a:r>
                      <a:endParaRPr sz="1650">
                        <a:latin typeface="微软雅黑"/>
                        <a:cs typeface="微软雅黑"/>
                      </a:endParaRPr>
                    </a:p>
                  </a:txBody>
                  <a:tcPr marL="0" marR="0" marB="0" marT="58419">
                    <a:lnL w="12700">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marL="8890">
                        <a:lnSpc>
                          <a:spcPct val="100000"/>
                        </a:lnSpc>
                        <a:spcBef>
                          <a:spcPts val="459"/>
                        </a:spcBef>
                      </a:pPr>
                      <a:r>
                        <a:rPr dirty="0" sz="1650" spc="-25" b="1">
                          <a:solidFill>
                            <a:srgbClr val="006600"/>
                          </a:solidFill>
                          <a:latin typeface="微软雅黑"/>
                          <a:cs typeface="微软雅黑"/>
                        </a:rPr>
                        <a:t>无用</a:t>
                      </a:r>
                      <a:endParaRPr sz="1650">
                        <a:latin typeface="微软雅黑"/>
                        <a:cs typeface="微软雅黑"/>
                      </a:endParaRPr>
                    </a:p>
                  </a:txBody>
                  <a:tcPr marL="0" marR="0" marB="0" marT="58419">
                    <a:lnL w="12700">
                      <a:solidFill>
                        <a:srgbClr val="40458B"/>
                      </a:solidFill>
                      <a:prstDash val="solid"/>
                    </a:lnL>
                    <a:lnR w="28575">
                      <a:solidFill>
                        <a:srgbClr val="40458B"/>
                      </a:solidFill>
                      <a:prstDash val="solid"/>
                    </a:lnR>
                    <a:lnT w="28575">
                      <a:solidFill>
                        <a:srgbClr val="40458B"/>
                      </a:solidFill>
                      <a:prstDash val="solid"/>
                    </a:lnT>
                    <a:lnB w="28575">
                      <a:solidFill>
                        <a:srgbClr val="40458B"/>
                      </a:solidFill>
                      <a:prstDash val="solid"/>
                    </a:lnB>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782317" y="697286"/>
            <a:ext cx="8814435" cy="4499610"/>
          </a:xfrm>
          <a:prstGeom prst="rect">
            <a:avLst/>
          </a:prstGeom>
        </p:spPr>
        <p:txBody>
          <a:bodyPr wrap="square" lIns="0" tIns="182245" rIns="0" bIns="0" rtlCol="0" vert="horz">
            <a:spAutoFit/>
          </a:bodyPr>
          <a:lstStyle/>
          <a:p>
            <a:pPr marL="469265" indent="-456565">
              <a:lnSpc>
                <a:spcPct val="100000"/>
              </a:lnSpc>
              <a:spcBef>
                <a:spcPts val="1435"/>
              </a:spcBef>
              <a:buClr>
                <a:srgbClr val="40458B"/>
              </a:buClr>
              <a:buSzPct val="117857"/>
              <a:buFont typeface="Tahoma"/>
              <a:buAutoNum type="arabicPeriod" startAt="2"/>
              <a:tabLst>
                <a:tab pos="469265" algn="l"/>
              </a:tabLst>
            </a:pPr>
            <a:r>
              <a:rPr dirty="0" sz="2800" spc="-30">
                <a:solidFill>
                  <a:srgbClr val="172152"/>
                </a:solidFill>
                <a:latin typeface="黑体"/>
                <a:cs typeface="黑体"/>
              </a:rPr>
              <a:t>扩展操作码</a:t>
            </a:r>
            <a:r>
              <a:rPr dirty="0" sz="2800" spc="-15">
                <a:solidFill>
                  <a:srgbClr val="172152"/>
                </a:solidFill>
                <a:latin typeface="Tahoma"/>
                <a:cs typeface="Tahoma"/>
              </a:rPr>
              <a:t>----</a:t>
            </a:r>
            <a:r>
              <a:rPr dirty="0" sz="2800" spc="-40">
                <a:solidFill>
                  <a:srgbClr val="172152"/>
                </a:solidFill>
                <a:latin typeface="黑体"/>
                <a:cs typeface="黑体"/>
              </a:rPr>
              <a:t>等长扩展码</a:t>
            </a:r>
            <a:endParaRPr sz="2800">
              <a:latin typeface="黑体"/>
              <a:cs typeface="黑体"/>
            </a:endParaRPr>
          </a:p>
          <a:p>
            <a:pPr lvl="1" marL="1099185" marR="440055" indent="-457200">
              <a:lnSpc>
                <a:spcPct val="130100"/>
              </a:lnSpc>
              <a:spcBef>
                <a:spcPts val="545"/>
              </a:spcBef>
              <a:buSzPct val="88636"/>
              <a:buFont typeface="Wingdings"/>
              <a:buChar char=""/>
              <a:tabLst>
                <a:tab pos="1099185" algn="l"/>
              </a:tabLst>
            </a:pPr>
            <a:r>
              <a:rPr dirty="0" sz="2200" spc="-30">
                <a:solidFill>
                  <a:srgbClr val="006FC0"/>
                </a:solidFill>
                <a:latin typeface="黑体"/>
                <a:cs typeface="黑体"/>
              </a:rPr>
              <a:t>为了便于分级译码，一般都采用</a:t>
            </a:r>
            <a:r>
              <a:rPr dirty="0" sz="2200" spc="-30">
                <a:solidFill>
                  <a:srgbClr val="FF0000"/>
                </a:solidFill>
                <a:latin typeface="黑体"/>
                <a:cs typeface="黑体"/>
              </a:rPr>
              <a:t>等长扩展码，</a:t>
            </a:r>
            <a:r>
              <a:rPr dirty="0" sz="2200" spc="-35">
                <a:latin typeface="黑体"/>
                <a:cs typeface="黑体"/>
              </a:rPr>
              <a:t>即展开结点的</a:t>
            </a:r>
            <a:r>
              <a:rPr dirty="0" sz="2200" spc="-70">
                <a:latin typeface="黑体"/>
                <a:cs typeface="黑体"/>
              </a:rPr>
              <a:t>层级数之间是等差数列 </a:t>
            </a:r>
            <a:r>
              <a:rPr dirty="0" sz="2200" spc="-50">
                <a:solidFill>
                  <a:srgbClr val="006FC0"/>
                </a:solidFill>
                <a:latin typeface="黑体"/>
                <a:cs typeface="黑体"/>
              </a:rPr>
              <a:t>。</a:t>
            </a:r>
            <a:endParaRPr sz="2200">
              <a:latin typeface="黑体"/>
              <a:cs typeface="黑体"/>
            </a:endParaRPr>
          </a:p>
          <a:p>
            <a:pPr lvl="1" marL="948055" marR="5080" indent="-306705">
              <a:lnSpc>
                <a:spcPct val="138400"/>
              </a:lnSpc>
              <a:spcBef>
                <a:spcPts val="305"/>
              </a:spcBef>
              <a:buFont typeface="Wingdings"/>
              <a:buChar char=""/>
              <a:tabLst>
                <a:tab pos="948055" algn="l"/>
                <a:tab pos="1099185" algn="l"/>
              </a:tabLst>
            </a:pPr>
            <a:r>
              <a:rPr dirty="0" sz="1950">
                <a:solidFill>
                  <a:srgbClr val="006FC0"/>
                </a:solidFill>
                <a:latin typeface="Times New Roman"/>
                <a:cs typeface="Times New Roman"/>
              </a:rPr>
              <a:t>	</a:t>
            </a:r>
            <a:r>
              <a:rPr dirty="0" sz="2200" spc="-30">
                <a:solidFill>
                  <a:srgbClr val="006FC0"/>
                </a:solidFill>
                <a:latin typeface="黑体"/>
                <a:cs typeface="黑体"/>
              </a:rPr>
              <a:t>每次扩展的</a:t>
            </a:r>
            <a:r>
              <a:rPr dirty="0" sz="2200" spc="-30">
                <a:solidFill>
                  <a:srgbClr val="FF0000"/>
                </a:solidFill>
                <a:latin typeface="黑体"/>
                <a:cs typeface="黑体"/>
              </a:rPr>
              <a:t>位数相等，</a:t>
            </a:r>
            <a:r>
              <a:rPr dirty="0" sz="2200" spc="-30">
                <a:solidFill>
                  <a:srgbClr val="006FC0"/>
                </a:solidFill>
                <a:latin typeface="黑体"/>
                <a:cs typeface="黑体"/>
              </a:rPr>
              <a:t>便于实现分级译码。例如操作码按</a:t>
            </a:r>
            <a:r>
              <a:rPr dirty="0" sz="2200" spc="-35">
                <a:solidFill>
                  <a:srgbClr val="006FC0"/>
                </a:solidFill>
                <a:latin typeface="Tahoma"/>
                <a:cs typeface="Tahoma"/>
              </a:rPr>
              <a:t>4</a:t>
            </a:r>
            <a:r>
              <a:rPr dirty="0" sz="2200" spc="-35">
                <a:solidFill>
                  <a:srgbClr val="006FC0"/>
                </a:solidFill>
                <a:latin typeface="黑体"/>
                <a:cs typeface="黑体"/>
              </a:rPr>
              <a:t>位、</a:t>
            </a:r>
            <a:r>
              <a:rPr dirty="0" sz="2200" spc="-50">
                <a:solidFill>
                  <a:srgbClr val="006FC0"/>
                </a:solidFill>
                <a:latin typeface="黑体"/>
                <a:cs typeface="黑体"/>
              </a:rPr>
              <a:t> </a:t>
            </a:r>
            <a:r>
              <a:rPr dirty="0" sz="2200" spc="-20">
                <a:solidFill>
                  <a:srgbClr val="006FC0"/>
                </a:solidFill>
                <a:latin typeface="Tahoma"/>
                <a:cs typeface="Tahoma"/>
              </a:rPr>
              <a:t>8</a:t>
            </a:r>
            <a:r>
              <a:rPr dirty="0" sz="2200" spc="-20">
                <a:solidFill>
                  <a:srgbClr val="006FC0"/>
                </a:solidFill>
                <a:latin typeface="黑体"/>
                <a:cs typeface="黑体"/>
              </a:rPr>
              <a:t>位、</a:t>
            </a:r>
            <a:r>
              <a:rPr dirty="0" sz="2200" spc="-25">
                <a:solidFill>
                  <a:srgbClr val="006FC0"/>
                </a:solidFill>
                <a:latin typeface="Tahoma"/>
                <a:cs typeface="Tahoma"/>
              </a:rPr>
              <a:t>12</a:t>
            </a:r>
            <a:r>
              <a:rPr dirty="0" sz="2200" spc="-30">
                <a:solidFill>
                  <a:srgbClr val="006FC0"/>
                </a:solidFill>
                <a:latin typeface="黑体"/>
                <a:cs typeface="黑体"/>
              </a:rPr>
              <a:t>位码长，每次</a:t>
            </a:r>
            <a:r>
              <a:rPr dirty="0" sz="2200" spc="-20">
                <a:solidFill>
                  <a:srgbClr val="FF0000"/>
                </a:solidFill>
                <a:latin typeface="黑体"/>
                <a:cs typeface="黑体"/>
              </a:rPr>
              <a:t>加长</a:t>
            </a:r>
            <a:r>
              <a:rPr dirty="0" sz="2200" spc="-35">
                <a:solidFill>
                  <a:srgbClr val="FF0000"/>
                </a:solidFill>
                <a:latin typeface="Tahoma"/>
                <a:cs typeface="Tahoma"/>
              </a:rPr>
              <a:t>4</a:t>
            </a:r>
            <a:r>
              <a:rPr dirty="0" sz="2200" spc="-30">
                <a:solidFill>
                  <a:srgbClr val="FF0000"/>
                </a:solidFill>
                <a:latin typeface="黑体"/>
                <a:cs typeface="黑体"/>
              </a:rPr>
              <a:t>位</a:t>
            </a:r>
            <a:r>
              <a:rPr dirty="0" sz="2200" spc="-30">
                <a:solidFill>
                  <a:srgbClr val="006FC0"/>
                </a:solidFill>
                <a:latin typeface="黑体"/>
                <a:cs typeface="黑体"/>
              </a:rPr>
              <a:t>扩展方法，称作</a:t>
            </a:r>
            <a:r>
              <a:rPr dirty="0" sz="2200" spc="-30">
                <a:solidFill>
                  <a:srgbClr val="006FC0"/>
                </a:solidFill>
                <a:latin typeface="Tahoma"/>
                <a:cs typeface="Tahoma"/>
              </a:rPr>
              <a:t>4-</a:t>
            </a:r>
            <a:r>
              <a:rPr dirty="0" sz="2200" spc="-15">
                <a:solidFill>
                  <a:srgbClr val="006FC0"/>
                </a:solidFill>
                <a:latin typeface="Tahoma"/>
                <a:cs typeface="Tahoma"/>
              </a:rPr>
              <a:t>8-</a:t>
            </a:r>
            <a:r>
              <a:rPr dirty="0" sz="2200" spc="-20">
                <a:solidFill>
                  <a:srgbClr val="006FC0"/>
                </a:solidFill>
                <a:latin typeface="Tahoma"/>
                <a:cs typeface="Tahoma"/>
              </a:rPr>
              <a:t>12</a:t>
            </a:r>
            <a:r>
              <a:rPr dirty="0" sz="2200" spc="-35">
                <a:solidFill>
                  <a:srgbClr val="006FC0"/>
                </a:solidFill>
                <a:latin typeface="黑体"/>
                <a:cs typeface="黑体"/>
              </a:rPr>
              <a:t>扩展法。</a:t>
            </a:r>
            <a:r>
              <a:rPr dirty="0" sz="2200" spc="-10">
                <a:solidFill>
                  <a:srgbClr val="006FC0"/>
                </a:solidFill>
                <a:latin typeface="黑体"/>
                <a:cs typeface="黑体"/>
              </a:rPr>
              <a:t> </a:t>
            </a:r>
            <a:r>
              <a:rPr dirty="0" sz="2000" spc="-10" b="1">
                <a:solidFill>
                  <a:srgbClr val="6F2F9F"/>
                </a:solidFill>
                <a:latin typeface="宋体"/>
                <a:cs typeface="宋体"/>
              </a:rPr>
              <a:t>例如：</a:t>
            </a:r>
            <a:r>
              <a:rPr dirty="0" sz="2000" spc="-10" b="1">
                <a:solidFill>
                  <a:srgbClr val="9933FF"/>
                </a:solidFill>
                <a:latin typeface="Times New Roman"/>
                <a:cs typeface="Times New Roman"/>
              </a:rPr>
              <a:t>15/15/15</a:t>
            </a:r>
            <a:r>
              <a:rPr dirty="0" sz="2000" spc="-20" b="1">
                <a:latin typeface="宋体"/>
                <a:cs typeface="宋体"/>
              </a:rPr>
              <a:t>法和</a:t>
            </a:r>
            <a:r>
              <a:rPr dirty="0" sz="2000" spc="-10" b="1">
                <a:solidFill>
                  <a:srgbClr val="9933FF"/>
                </a:solidFill>
                <a:latin typeface="Times New Roman"/>
                <a:cs typeface="Times New Roman"/>
              </a:rPr>
              <a:t>8/64/512</a:t>
            </a:r>
            <a:r>
              <a:rPr dirty="0" sz="2000" spc="-10" b="1">
                <a:latin typeface="宋体"/>
                <a:cs typeface="宋体"/>
              </a:rPr>
              <a:t>法</a:t>
            </a:r>
            <a:r>
              <a:rPr dirty="0" sz="2000" spc="-20" b="1">
                <a:latin typeface="宋体"/>
                <a:cs typeface="宋体"/>
              </a:rPr>
              <a:t>（</a:t>
            </a:r>
            <a:r>
              <a:rPr dirty="0" sz="2000" spc="-10" b="1">
                <a:latin typeface="宋体"/>
                <a:cs typeface="宋体"/>
              </a:rPr>
              <a:t>都是</a:t>
            </a:r>
            <a:r>
              <a:rPr dirty="0" sz="2000" spc="-10" b="1">
                <a:latin typeface="Times New Roman"/>
                <a:cs typeface="Times New Roman"/>
              </a:rPr>
              <a:t>4-8-12</a:t>
            </a:r>
            <a:r>
              <a:rPr dirty="0" sz="2000" spc="-10" b="1">
                <a:latin typeface="宋体"/>
                <a:cs typeface="宋体"/>
              </a:rPr>
              <a:t>扩展法</a:t>
            </a:r>
            <a:r>
              <a:rPr dirty="0" sz="2000" spc="-50" b="1">
                <a:latin typeface="宋体"/>
                <a:cs typeface="宋体"/>
              </a:rPr>
              <a:t>）</a:t>
            </a:r>
            <a:endParaRPr sz="2000">
              <a:latin typeface="宋体"/>
              <a:cs typeface="宋体"/>
            </a:endParaRPr>
          </a:p>
          <a:p>
            <a:pPr lvl="2" marL="1308100" indent="-360045">
              <a:lnSpc>
                <a:spcPct val="100000"/>
              </a:lnSpc>
              <a:spcBef>
                <a:spcPts val="1200"/>
              </a:spcBef>
              <a:buClr>
                <a:srgbClr val="4668F5"/>
              </a:buClr>
              <a:buSzPct val="72500"/>
              <a:buFont typeface="Wingdings"/>
              <a:buChar char=""/>
              <a:tabLst>
                <a:tab pos="1308100" algn="l"/>
              </a:tabLst>
            </a:pPr>
            <a:r>
              <a:rPr dirty="0" sz="2000" spc="-10" b="1">
                <a:solidFill>
                  <a:srgbClr val="6F2F9F"/>
                </a:solidFill>
                <a:latin typeface="黑体"/>
                <a:cs typeface="黑体"/>
              </a:rPr>
              <a:t>每次扩展</a:t>
            </a:r>
            <a:r>
              <a:rPr dirty="0" sz="2000" spc="-10" b="1">
                <a:solidFill>
                  <a:srgbClr val="6F2F9F"/>
                </a:solidFill>
                <a:latin typeface="Times New Roman"/>
                <a:cs typeface="Times New Roman"/>
              </a:rPr>
              <a:t>4</a:t>
            </a:r>
            <a:r>
              <a:rPr dirty="0" sz="2000" spc="-25" b="1">
                <a:solidFill>
                  <a:srgbClr val="6F2F9F"/>
                </a:solidFill>
                <a:latin typeface="黑体"/>
                <a:cs typeface="黑体"/>
              </a:rPr>
              <a:t>位编码</a:t>
            </a:r>
            <a:endParaRPr sz="2000">
              <a:latin typeface="黑体"/>
              <a:cs typeface="黑体"/>
            </a:endParaRPr>
          </a:p>
          <a:p>
            <a:pPr marL="696595" indent="-272415">
              <a:lnSpc>
                <a:spcPct val="100000"/>
              </a:lnSpc>
              <a:spcBef>
                <a:spcPts val="1290"/>
              </a:spcBef>
              <a:buSzPct val="88636"/>
              <a:buFont typeface="Wingdings"/>
              <a:buChar char=""/>
              <a:tabLst>
                <a:tab pos="696595" algn="l"/>
              </a:tabLst>
            </a:pPr>
            <a:r>
              <a:rPr dirty="0" sz="2200" spc="-25">
                <a:solidFill>
                  <a:srgbClr val="006FC0"/>
                </a:solidFill>
                <a:latin typeface="黑体"/>
                <a:cs typeface="黑体"/>
              </a:rPr>
              <a:t>假设指令字长</a:t>
            </a:r>
            <a:r>
              <a:rPr dirty="0" sz="2200" spc="-20">
                <a:solidFill>
                  <a:srgbClr val="FF0000"/>
                </a:solidFill>
                <a:latin typeface="Times New Roman"/>
                <a:cs typeface="Times New Roman"/>
              </a:rPr>
              <a:t>16</a:t>
            </a:r>
            <a:r>
              <a:rPr dirty="0" sz="2200" spc="-20">
                <a:solidFill>
                  <a:srgbClr val="FF0000"/>
                </a:solidFill>
                <a:latin typeface="黑体"/>
                <a:cs typeface="黑体"/>
              </a:rPr>
              <a:t>位</a:t>
            </a:r>
            <a:r>
              <a:rPr dirty="0" sz="2200" spc="-30">
                <a:solidFill>
                  <a:srgbClr val="006FC0"/>
                </a:solidFill>
                <a:latin typeface="黑体"/>
                <a:cs typeface="黑体"/>
              </a:rPr>
              <a:t>，最多三地址指令</a:t>
            </a:r>
            <a:r>
              <a:rPr dirty="0" sz="2200" spc="-10">
                <a:solidFill>
                  <a:srgbClr val="006FC0"/>
                </a:solidFill>
                <a:latin typeface="黑体"/>
                <a:cs typeface="黑体"/>
              </a:rPr>
              <a:t>（</a:t>
            </a:r>
            <a:r>
              <a:rPr dirty="0" sz="2200" spc="-40">
                <a:solidFill>
                  <a:srgbClr val="006FC0"/>
                </a:solidFill>
                <a:latin typeface="黑体"/>
                <a:cs typeface="黑体"/>
              </a:rPr>
              <a:t>分析</a:t>
            </a:r>
            <a:r>
              <a:rPr dirty="0" sz="2200" spc="-10">
                <a:solidFill>
                  <a:srgbClr val="006FC0"/>
                </a:solidFill>
                <a:latin typeface="Times New Roman"/>
                <a:cs typeface="Times New Roman"/>
              </a:rPr>
              <a:t>15/15/15</a:t>
            </a:r>
            <a:r>
              <a:rPr dirty="0" sz="2200" spc="-30">
                <a:solidFill>
                  <a:srgbClr val="006FC0"/>
                </a:solidFill>
                <a:latin typeface="黑体"/>
                <a:cs typeface="黑体"/>
              </a:rPr>
              <a:t>编码方法</a:t>
            </a:r>
            <a:r>
              <a:rPr dirty="0" sz="2200" spc="-50">
                <a:solidFill>
                  <a:srgbClr val="006FC0"/>
                </a:solidFill>
                <a:latin typeface="黑体"/>
                <a:cs typeface="黑体"/>
              </a:rPr>
              <a:t>）</a:t>
            </a:r>
            <a:endParaRPr sz="2200">
              <a:latin typeface="黑体"/>
              <a:cs typeface="黑体"/>
            </a:endParaRPr>
          </a:p>
          <a:p>
            <a:pPr marL="696595" indent="-272415">
              <a:lnSpc>
                <a:spcPct val="100000"/>
              </a:lnSpc>
              <a:spcBef>
                <a:spcPts val="1320"/>
              </a:spcBef>
              <a:buSzPct val="88636"/>
              <a:buFont typeface="Wingdings"/>
              <a:buChar char=""/>
              <a:tabLst>
                <a:tab pos="696595" algn="l"/>
              </a:tabLst>
            </a:pPr>
            <a:r>
              <a:rPr dirty="0" sz="2200" spc="-20">
                <a:solidFill>
                  <a:srgbClr val="006FC0"/>
                </a:solidFill>
                <a:latin typeface="黑体"/>
                <a:cs typeface="黑体"/>
              </a:rPr>
              <a:t>操作码</a:t>
            </a:r>
            <a:r>
              <a:rPr dirty="0" sz="2200" spc="-10">
                <a:solidFill>
                  <a:srgbClr val="FF0000"/>
                </a:solidFill>
                <a:latin typeface="Times New Roman"/>
                <a:cs typeface="Times New Roman"/>
              </a:rPr>
              <a:t>4</a:t>
            </a:r>
            <a:r>
              <a:rPr dirty="0" sz="2200" spc="-20">
                <a:solidFill>
                  <a:srgbClr val="FF0000"/>
                </a:solidFill>
                <a:latin typeface="黑体"/>
                <a:cs typeface="黑体"/>
              </a:rPr>
              <a:t>位</a:t>
            </a:r>
            <a:r>
              <a:rPr dirty="0" sz="2200" spc="-20">
                <a:solidFill>
                  <a:srgbClr val="006FC0"/>
                </a:solidFill>
                <a:latin typeface="黑体"/>
                <a:cs typeface="黑体"/>
              </a:rPr>
              <a:t>：</a:t>
            </a:r>
            <a:r>
              <a:rPr dirty="0" sz="2200" spc="-20">
                <a:solidFill>
                  <a:srgbClr val="006FC0"/>
                </a:solidFill>
                <a:latin typeface="Times New Roman"/>
                <a:cs typeface="Times New Roman"/>
              </a:rPr>
              <a:t>16</a:t>
            </a:r>
            <a:r>
              <a:rPr dirty="0" sz="2200" spc="-30">
                <a:solidFill>
                  <a:srgbClr val="006FC0"/>
                </a:solidFill>
                <a:latin typeface="黑体"/>
                <a:cs typeface="黑体"/>
              </a:rPr>
              <a:t>种状态；</a:t>
            </a:r>
            <a:r>
              <a:rPr dirty="0" sz="2200" spc="-20">
                <a:solidFill>
                  <a:srgbClr val="FF0000"/>
                </a:solidFill>
                <a:latin typeface="Times New Roman"/>
                <a:cs typeface="Times New Roman"/>
              </a:rPr>
              <a:t>8</a:t>
            </a:r>
            <a:r>
              <a:rPr dirty="0" sz="2200" spc="-30">
                <a:solidFill>
                  <a:srgbClr val="FF0000"/>
                </a:solidFill>
                <a:latin typeface="黑体"/>
                <a:cs typeface="黑体"/>
              </a:rPr>
              <a:t>位</a:t>
            </a:r>
            <a:r>
              <a:rPr dirty="0" sz="2200" spc="-20">
                <a:solidFill>
                  <a:srgbClr val="006FC0"/>
                </a:solidFill>
                <a:latin typeface="黑体"/>
                <a:cs typeface="黑体"/>
              </a:rPr>
              <a:t>：</a:t>
            </a:r>
            <a:r>
              <a:rPr dirty="0" sz="2200" spc="-20">
                <a:solidFill>
                  <a:srgbClr val="006FC0"/>
                </a:solidFill>
                <a:latin typeface="Times New Roman"/>
                <a:cs typeface="Times New Roman"/>
              </a:rPr>
              <a:t>256</a:t>
            </a:r>
            <a:r>
              <a:rPr dirty="0" sz="2200" spc="-30">
                <a:solidFill>
                  <a:srgbClr val="006FC0"/>
                </a:solidFill>
                <a:latin typeface="黑体"/>
                <a:cs typeface="黑体"/>
              </a:rPr>
              <a:t>种状态；</a:t>
            </a:r>
            <a:r>
              <a:rPr dirty="0" sz="2200" spc="-20">
                <a:solidFill>
                  <a:srgbClr val="FF0000"/>
                </a:solidFill>
                <a:latin typeface="Times New Roman"/>
                <a:cs typeface="Times New Roman"/>
              </a:rPr>
              <a:t>12</a:t>
            </a:r>
            <a:r>
              <a:rPr dirty="0" sz="2200" spc="-30">
                <a:solidFill>
                  <a:srgbClr val="FF0000"/>
                </a:solidFill>
                <a:latin typeface="黑体"/>
                <a:cs typeface="黑体"/>
              </a:rPr>
              <a:t>位</a:t>
            </a:r>
            <a:r>
              <a:rPr dirty="0" sz="2200" spc="-20">
                <a:solidFill>
                  <a:srgbClr val="006FC0"/>
                </a:solidFill>
                <a:latin typeface="黑体"/>
                <a:cs typeface="黑体"/>
              </a:rPr>
              <a:t>：</a:t>
            </a:r>
            <a:r>
              <a:rPr dirty="0" sz="2200" spc="-20">
                <a:solidFill>
                  <a:srgbClr val="006FC0"/>
                </a:solidFill>
                <a:latin typeface="Times New Roman"/>
                <a:cs typeface="Times New Roman"/>
              </a:rPr>
              <a:t>4096</a:t>
            </a:r>
            <a:r>
              <a:rPr dirty="0" sz="2200" spc="-40">
                <a:solidFill>
                  <a:srgbClr val="006FC0"/>
                </a:solidFill>
                <a:latin typeface="黑体"/>
                <a:cs typeface="黑体"/>
              </a:rPr>
              <a:t>种状态</a:t>
            </a:r>
            <a:endParaRPr sz="2200">
              <a:latin typeface="黑体"/>
              <a:cs typeface="黑体"/>
            </a:endParaRPr>
          </a:p>
        </p:txBody>
      </p:sp>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494790" algn="l"/>
                <a:tab pos="11028045" algn="l"/>
              </a:tabLst>
            </a:pPr>
            <a:r>
              <a:rPr dirty="0"/>
              <a:t>	2.3.3</a:t>
            </a:r>
            <a:r>
              <a:rPr dirty="0" spc="-45"/>
              <a:t> </a:t>
            </a:r>
            <a:r>
              <a:rPr dirty="0">
                <a:latin typeface="微软雅黑"/>
                <a:cs typeface="微软雅黑"/>
              </a:rPr>
              <a:t>指令操作码的优</a:t>
            </a:r>
            <a:r>
              <a:rPr dirty="0" spc="-50">
                <a:latin typeface="微软雅黑"/>
                <a:cs typeface="微软雅黑"/>
              </a:rPr>
              <a:t>化</a:t>
            </a:r>
            <a:r>
              <a:rPr dirty="0">
                <a:latin typeface="微软雅黑"/>
                <a:cs typeface="微软雅黑"/>
              </a:rPr>
              <a:t>	</a:t>
            </a:r>
          </a:p>
        </p:txBody>
      </p:sp>
      <p:graphicFrame>
        <p:nvGraphicFramePr>
          <p:cNvPr id="5" name="object 5" descr=""/>
          <p:cNvGraphicFramePr>
            <a:graphicFrameLocks noGrp="1"/>
          </p:cNvGraphicFramePr>
          <p:nvPr/>
        </p:nvGraphicFramePr>
        <p:xfrm>
          <a:off x="3136900" y="5415026"/>
          <a:ext cx="6184900" cy="369570"/>
        </p:xfrm>
        <a:graphic>
          <a:graphicData uri="http://schemas.openxmlformats.org/drawingml/2006/table">
            <a:tbl>
              <a:tblPr firstRow="1" bandRow="1">
                <a:tableStyleId>{2D5ABB26-0587-4C30-8999-92F81FD0307C}</a:tableStyleId>
              </a:tblPr>
              <a:tblGrid>
                <a:gridCol w="1524000"/>
                <a:gridCol w="1524000"/>
                <a:gridCol w="1524000"/>
                <a:gridCol w="1524000"/>
              </a:tblGrid>
              <a:tr h="369570">
                <a:tc>
                  <a:txBody>
                    <a:bodyPr/>
                    <a:lstStyle/>
                    <a:p>
                      <a:pPr marL="91440">
                        <a:lnSpc>
                          <a:spcPct val="100000"/>
                        </a:lnSpc>
                        <a:spcBef>
                          <a:spcPts val="365"/>
                        </a:spcBef>
                      </a:pPr>
                      <a:r>
                        <a:rPr dirty="0" sz="1800" spc="-20" b="1">
                          <a:solidFill>
                            <a:srgbClr val="40458B"/>
                          </a:solidFill>
                          <a:latin typeface="黑体"/>
                          <a:cs typeface="黑体"/>
                        </a:rPr>
                        <a:t>操作码</a:t>
                      </a:r>
                      <a:r>
                        <a:rPr dirty="0" sz="1800" spc="-20" b="1">
                          <a:solidFill>
                            <a:srgbClr val="40458B"/>
                          </a:solidFill>
                          <a:latin typeface="Tahoma"/>
                          <a:cs typeface="Tahoma"/>
                        </a:rPr>
                        <a:t>4</a:t>
                      </a:r>
                      <a:r>
                        <a:rPr dirty="0" sz="1800" spc="-50" b="1">
                          <a:solidFill>
                            <a:srgbClr val="40458B"/>
                          </a:solidFill>
                          <a:latin typeface="黑体"/>
                          <a:cs typeface="黑体"/>
                        </a:rPr>
                        <a:t>位</a:t>
                      </a:r>
                      <a:endParaRPr sz="1800">
                        <a:latin typeface="黑体"/>
                        <a:cs typeface="黑体"/>
                      </a:endParaRPr>
                    </a:p>
                  </a:txBody>
                  <a:tcPr marL="0" marR="0" marB="0" marT="46355">
                    <a:lnL w="12700">
                      <a:solidFill>
                        <a:srgbClr val="EBD782"/>
                      </a:solidFill>
                      <a:prstDash val="solid"/>
                    </a:lnL>
                    <a:lnR w="12700">
                      <a:solidFill>
                        <a:srgbClr val="EBD782"/>
                      </a:solidFill>
                      <a:prstDash val="solid"/>
                    </a:lnR>
                    <a:lnT w="12700">
                      <a:solidFill>
                        <a:srgbClr val="EBD782"/>
                      </a:solidFill>
                      <a:prstDash val="solid"/>
                    </a:lnT>
                    <a:lnB w="12700">
                      <a:solidFill>
                        <a:srgbClr val="EBD782"/>
                      </a:solidFill>
                      <a:prstDash val="solid"/>
                    </a:lnB>
                    <a:solidFill>
                      <a:srgbClr val="FAF8EC"/>
                    </a:solidFill>
                  </a:tcPr>
                </a:tc>
                <a:tc>
                  <a:txBody>
                    <a:bodyPr/>
                    <a:lstStyle/>
                    <a:p>
                      <a:pPr marL="224154">
                        <a:lnSpc>
                          <a:spcPct val="100000"/>
                        </a:lnSpc>
                        <a:spcBef>
                          <a:spcPts val="365"/>
                        </a:spcBef>
                      </a:pPr>
                      <a:r>
                        <a:rPr dirty="0" sz="1800" spc="-20" b="1">
                          <a:solidFill>
                            <a:srgbClr val="40458B"/>
                          </a:solidFill>
                          <a:latin typeface="黑体"/>
                          <a:cs typeface="黑体"/>
                        </a:rPr>
                        <a:t>地址</a:t>
                      </a:r>
                      <a:r>
                        <a:rPr dirty="0" sz="1800" spc="-20" b="1">
                          <a:solidFill>
                            <a:srgbClr val="40458B"/>
                          </a:solidFill>
                          <a:latin typeface="Tahoma"/>
                          <a:cs typeface="Tahoma"/>
                        </a:rPr>
                        <a:t>1—4</a:t>
                      </a:r>
                      <a:r>
                        <a:rPr dirty="0" sz="1800" spc="-50" b="1">
                          <a:solidFill>
                            <a:srgbClr val="40458B"/>
                          </a:solidFill>
                          <a:latin typeface="黑体"/>
                          <a:cs typeface="黑体"/>
                        </a:rPr>
                        <a:t>位</a:t>
                      </a:r>
                      <a:endParaRPr sz="1800">
                        <a:latin typeface="黑体"/>
                        <a:cs typeface="黑体"/>
                      </a:endParaRPr>
                    </a:p>
                  </a:txBody>
                  <a:tcPr marL="0" marR="0" marB="0" marT="46355">
                    <a:lnL w="12700">
                      <a:solidFill>
                        <a:srgbClr val="EBD782"/>
                      </a:solidFill>
                      <a:prstDash val="solid"/>
                    </a:lnL>
                    <a:lnR w="12700">
                      <a:solidFill>
                        <a:srgbClr val="EBD782"/>
                      </a:solidFill>
                      <a:prstDash val="solid"/>
                    </a:lnR>
                    <a:lnT w="12700">
                      <a:solidFill>
                        <a:srgbClr val="EBD782"/>
                      </a:solidFill>
                      <a:prstDash val="solid"/>
                    </a:lnT>
                    <a:lnB w="12700">
                      <a:solidFill>
                        <a:srgbClr val="EBD782"/>
                      </a:solidFill>
                      <a:prstDash val="solid"/>
                    </a:lnB>
                    <a:solidFill>
                      <a:srgbClr val="FAF8EC"/>
                    </a:solidFill>
                  </a:tcPr>
                </a:tc>
                <a:tc>
                  <a:txBody>
                    <a:bodyPr/>
                    <a:lstStyle/>
                    <a:p>
                      <a:pPr marL="92075">
                        <a:lnSpc>
                          <a:spcPct val="100000"/>
                        </a:lnSpc>
                        <a:spcBef>
                          <a:spcPts val="365"/>
                        </a:spcBef>
                      </a:pPr>
                      <a:r>
                        <a:rPr dirty="0" sz="1800" spc="-20" b="1">
                          <a:solidFill>
                            <a:srgbClr val="40458B"/>
                          </a:solidFill>
                          <a:latin typeface="黑体"/>
                          <a:cs typeface="黑体"/>
                        </a:rPr>
                        <a:t>地址</a:t>
                      </a:r>
                      <a:r>
                        <a:rPr dirty="0" sz="1800" spc="-10" b="1">
                          <a:solidFill>
                            <a:srgbClr val="40458B"/>
                          </a:solidFill>
                          <a:latin typeface="Tahoma"/>
                          <a:cs typeface="Tahoma"/>
                        </a:rPr>
                        <a:t>2</a:t>
                      </a:r>
                      <a:r>
                        <a:rPr dirty="0" sz="1800" spc="-5" b="1">
                          <a:solidFill>
                            <a:srgbClr val="40458B"/>
                          </a:solidFill>
                          <a:latin typeface="Tahoma"/>
                          <a:cs typeface="Tahoma"/>
                        </a:rPr>
                        <a:t>---</a:t>
                      </a:r>
                      <a:r>
                        <a:rPr dirty="0" sz="1800" spc="-20" b="1">
                          <a:solidFill>
                            <a:srgbClr val="40458B"/>
                          </a:solidFill>
                          <a:latin typeface="Tahoma"/>
                          <a:cs typeface="Tahoma"/>
                        </a:rPr>
                        <a:t>4</a:t>
                      </a:r>
                      <a:r>
                        <a:rPr dirty="0" sz="1800" spc="-50" b="1">
                          <a:solidFill>
                            <a:srgbClr val="40458B"/>
                          </a:solidFill>
                          <a:latin typeface="黑体"/>
                          <a:cs typeface="黑体"/>
                        </a:rPr>
                        <a:t>位</a:t>
                      </a:r>
                      <a:endParaRPr sz="1800">
                        <a:latin typeface="黑体"/>
                        <a:cs typeface="黑体"/>
                      </a:endParaRPr>
                    </a:p>
                  </a:txBody>
                  <a:tcPr marL="0" marR="0" marB="0" marT="46355">
                    <a:lnL w="12700">
                      <a:solidFill>
                        <a:srgbClr val="EBD782"/>
                      </a:solidFill>
                      <a:prstDash val="solid"/>
                    </a:lnL>
                    <a:lnR w="12700">
                      <a:solidFill>
                        <a:srgbClr val="EBD782"/>
                      </a:solidFill>
                      <a:prstDash val="solid"/>
                    </a:lnR>
                    <a:lnT w="12700">
                      <a:solidFill>
                        <a:srgbClr val="EBD782"/>
                      </a:solidFill>
                      <a:prstDash val="solid"/>
                    </a:lnT>
                    <a:lnB w="12700">
                      <a:solidFill>
                        <a:srgbClr val="EBD782"/>
                      </a:solidFill>
                      <a:prstDash val="solid"/>
                    </a:lnB>
                    <a:solidFill>
                      <a:srgbClr val="FAF8EC"/>
                    </a:solidFill>
                  </a:tcPr>
                </a:tc>
                <a:tc>
                  <a:txBody>
                    <a:bodyPr/>
                    <a:lstStyle/>
                    <a:p>
                      <a:pPr marL="92075">
                        <a:lnSpc>
                          <a:spcPct val="100000"/>
                        </a:lnSpc>
                        <a:spcBef>
                          <a:spcPts val="365"/>
                        </a:spcBef>
                      </a:pPr>
                      <a:r>
                        <a:rPr dirty="0" sz="1800" spc="-20" b="1">
                          <a:solidFill>
                            <a:srgbClr val="40458B"/>
                          </a:solidFill>
                          <a:latin typeface="黑体"/>
                          <a:cs typeface="黑体"/>
                        </a:rPr>
                        <a:t>地址</a:t>
                      </a:r>
                      <a:r>
                        <a:rPr dirty="0" sz="1800" spc="-10" b="1">
                          <a:solidFill>
                            <a:srgbClr val="40458B"/>
                          </a:solidFill>
                          <a:latin typeface="Tahoma"/>
                          <a:cs typeface="Tahoma"/>
                        </a:rPr>
                        <a:t>3</a:t>
                      </a:r>
                      <a:r>
                        <a:rPr dirty="0" sz="1800" spc="-5" b="1">
                          <a:solidFill>
                            <a:srgbClr val="40458B"/>
                          </a:solidFill>
                          <a:latin typeface="Tahoma"/>
                          <a:cs typeface="Tahoma"/>
                        </a:rPr>
                        <a:t>---</a:t>
                      </a:r>
                      <a:r>
                        <a:rPr dirty="0" sz="1800" spc="-20" b="1">
                          <a:solidFill>
                            <a:srgbClr val="40458B"/>
                          </a:solidFill>
                          <a:latin typeface="Tahoma"/>
                          <a:cs typeface="Tahoma"/>
                        </a:rPr>
                        <a:t>4</a:t>
                      </a:r>
                      <a:r>
                        <a:rPr dirty="0" sz="1800" spc="-50" b="1">
                          <a:solidFill>
                            <a:srgbClr val="40458B"/>
                          </a:solidFill>
                          <a:latin typeface="黑体"/>
                          <a:cs typeface="黑体"/>
                        </a:rPr>
                        <a:t>位</a:t>
                      </a:r>
                      <a:endParaRPr sz="1800">
                        <a:latin typeface="黑体"/>
                        <a:cs typeface="黑体"/>
                      </a:endParaRPr>
                    </a:p>
                  </a:txBody>
                  <a:tcPr marL="0" marR="0" marB="0" marT="46355">
                    <a:lnL w="12700">
                      <a:solidFill>
                        <a:srgbClr val="EBD782"/>
                      </a:solidFill>
                      <a:prstDash val="solid"/>
                    </a:lnL>
                    <a:lnR w="12700">
                      <a:solidFill>
                        <a:srgbClr val="EBD782"/>
                      </a:solidFill>
                      <a:prstDash val="solid"/>
                    </a:lnR>
                    <a:lnT w="12700">
                      <a:solidFill>
                        <a:srgbClr val="EBD782"/>
                      </a:solidFill>
                      <a:prstDash val="solid"/>
                    </a:lnT>
                    <a:lnB w="12700">
                      <a:solidFill>
                        <a:srgbClr val="EBD782"/>
                      </a:solidFill>
                      <a:prstDash val="solid"/>
                    </a:lnB>
                    <a:solidFill>
                      <a:srgbClr val="FAF8EC"/>
                    </a:solidFill>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sp>
        <p:nvSpPr>
          <p:cNvPr id="4" name="object 4" descr=""/>
          <p:cNvSpPr txBox="1"/>
          <p:nvPr/>
        </p:nvSpPr>
        <p:spPr>
          <a:xfrm>
            <a:off x="2005336" y="2070175"/>
            <a:ext cx="235585" cy="304165"/>
          </a:xfrm>
          <a:prstGeom prst="rect">
            <a:avLst/>
          </a:prstGeom>
        </p:spPr>
        <p:txBody>
          <a:bodyPr wrap="square" lIns="0" tIns="15875" rIns="0" bIns="0" rtlCol="0" vert="horz">
            <a:spAutoFit/>
          </a:bodyPr>
          <a:lstStyle/>
          <a:p>
            <a:pPr marL="12700">
              <a:lnSpc>
                <a:spcPct val="100000"/>
              </a:lnSpc>
              <a:spcBef>
                <a:spcPts val="125"/>
              </a:spcBef>
            </a:pPr>
            <a:r>
              <a:rPr dirty="0" sz="1800" spc="-55" b="1">
                <a:solidFill>
                  <a:srgbClr val="FF6600"/>
                </a:solidFill>
                <a:latin typeface="Times New Roman"/>
                <a:cs typeface="Times New Roman"/>
              </a:rPr>
              <a:t>15</a:t>
            </a:r>
            <a:endParaRPr sz="1800">
              <a:latin typeface="Times New Roman"/>
              <a:cs typeface="Times New Roman"/>
            </a:endParaRPr>
          </a:p>
        </p:txBody>
      </p:sp>
      <p:sp>
        <p:nvSpPr>
          <p:cNvPr id="5" name="object 5" descr=""/>
          <p:cNvSpPr/>
          <p:nvPr/>
        </p:nvSpPr>
        <p:spPr>
          <a:xfrm>
            <a:off x="2308780" y="1657550"/>
            <a:ext cx="142875" cy="1104265"/>
          </a:xfrm>
          <a:custGeom>
            <a:avLst/>
            <a:gdLst/>
            <a:ahLst/>
            <a:cxnLst/>
            <a:rect l="l" t="t" r="r" b="b"/>
            <a:pathLst>
              <a:path w="142875" h="1104264">
                <a:moveTo>
                  <a:pt x="142503" y="0"/>
                </a:moveTo>
                <a:lnTo>
                  <a:pt x="128257" y="5583"/>
                </a:lnTo>
                <a:lnTo>
                  <a:pt x="114011" y="10658"/>
                </a:lnTo>
                <a:lnTo>
                  <a:pt x="104875" y="15480"/>
                </a:lnTo>
                <a:lnTo>
                  <a:pt x="95186" y="31976"/>
                </a:lnTo>
                <a:lnTo>
                  <a:pt x="85497" y="41873"/>
                </a:lnTo>
                <a:lnTo>
                  <a:pt x="75808" y="58115"/>
                </a:lnTo>
                <a:lnTo>
                  <a:pt x="71251" y="73849"/>
                </a:lnTo>
                <a:lnTo>
                  <a:pt x="71251" y="94405"/>
                </a:lnTo>
                <a:lnTo>
                  <a:pt x="71251" y="462638"/>
                </a:lnTo>
                <a:lnTo>
                  <a:pt x="71251" y="478372"/>
                </a:lnTo>
                <a:lnTo>
                  <a:pt x="66694" y="499690"/>
                </a:lnTo>
                <a:lnTo>
                  <a:pt x="57005" y="515170"/>
                </a:lnTo>
                <a:lnTo>
                  <a:pt x="52426" y="525829"/>
                </a:lnTo>
                <a:lnTo>
                  <a:pt x="38180" y="536488"/>
                </a:lnTo>
                <a:lnTo>
                  <a:pt x="28491" y="546639"/>
                </a:lnTo>
                <a:lnTo>
                  <a:pt x="14245" y="552222"/>
                </a:lnTo>
                <a:lnTo>
                  <a:pt x="0" y="552222"/>
                </a:lnTo>
                <a:lnTo>
                  <a:pt x="14245" y="557044"/>
                </a:lnTo>
                <a:lnTo>
                  <a:pt x="28491" y="562881"/>
                </a:lnTo>
                <a:lnTo>
                  <a:pt x="38180" y="567702"/>
                </a:lnTo>
                <a:lnTo>
                  <a:pt x="52426" y="578361"/>
                </a:lnTo>
                <a:lnTo>
                  <a:pt x="57005" y="594095"/>
                </a:lnTo>
                <a:lnTo>
                  <a:pt x="66694" y="609830"/>
                </a:lnTo>
                <a:lnTo>
                  <a:pt x="71251" y="625310"/>
                </a:lnTo>
                <a:lnTo>
                  <a:pt x="71251" y="646628"/>
                </a:lnTo>
                <a:lnTo>
                  <a:pt x="71251" y="1014860"/>
                </a:lnTo>
                <a:lnTo>
                  <a:pt x="71251" y="1030595"/>
                </a:lnTo>
                <a:lnTo>
                  <a:pt x="75808" y="1051151"/>
                </a:lnTo>
                <a:lnTo>
                  <a:pt x="85497" y="1061809"/>
                </a:lnTo>
                <a:lnTo>
                  <a:pt x="95186" y="1077544"/>
                </a:lnTo>
                <a:lnTo>
                  <a:pt x="104875" y="1088202"/>
                </a:lnTo>
                <a:lnTo>
                  <a:pt x="114011" y="1098861"/>
                </a:lnTo>
                <a:lnTo>
                  <a:pt x="128257" y="1103683"/>
                </a:lnTo>
                <a:lnTo>
                  <a:pt x="142503" y="1103683"/>
                </a:lnTo>
              </a:path>
            </a:pathLst>
          </a:custGeom>
          <a:ln w="18843">
            <a:solidFill>
              <a:srgbClr val="000000"/>
            </a:solidFill>
          </a:ln>
        </p:spPr>
        <p:txBody>
          <a:bodyPr wrap="square" lIns="0" tIns="0" rIns="0" bIns="0" rtlCol="0"/>
          <a:lstStyle/>
          <a:p/>
        </p:txBody>
      </p:sp>
      <p:sp>
        <p:nvSpPr>
          <p:cNvPr id="6" name="object 6" descr=""/>
          <p:cNvSpPr txBox="1"/>
          <p:nvPr/>
        </p:nvSpPr>
        <p:spPr>
          <a:xfrm>
            <a:off x="2534368" y="2580017"/>
            <a:ext cx="426720" cy="304165"/>
          </a:xfrm>
          <a:prstGeom prst="rect">
            <a:avLst/>
          </a:prstGeom>
        </p:spPr>
        <p:txBody>
          <a:bodyPr wrap="square" lIns="0" tIns="15875" rIns="0" bIns="0" rtlCol="0" vert="horz">
            <a:spAutoFit/>
          </a:bodyPr>
          <a:lstStyle/>
          <a:p>
            <a:pPr marL="12700">
              <a:lnSpc>
                <a:spcPct val="100000"/>
              </a:lnSpc>
              <a:spcBef>
                <a:spcPts val="125"/>
              </a:spcBef>
            </a:pPr>
            <a:r>
              <a:rPr dirty="0" sz="1800" spc="-105">
                <a:latin typeface="Times New Roman"/>
                <a:cs typeface="Times New Roman"/>
              </a:rPr>
              <a:t>1110</a:t>
            </a:r>
            <a:endParaRPr sz="1800">
              <a:latin typeface="Times New Roman"/>
              <a:cs typeface="Times New Roman"/>
            </a:endParaRPr>
          </a:p>
        </p:txBody>
      </p:sp>
      <p:sp>
        <p:nvSpPr>
          <p:cNvPr id="7" name="object 7" descr=""/>
          <p:cNvSpPr txBox="1"/>
          <p:nvPr/>
        </p:nvSpPr>
        <p:spPr>
          <a:xfrm>
            <a:off x="2619200" y="2212553"/>
            <a:ext cx="269875" cy="294640"/>
          </a:xfrm>
          <a:prstGeom prst="rect">
            <a:avLst/>
          </a:prstGeom>
        </p:spPr>
        <p:txBody>
          <a:bodyPr wrap="square" lIns="0" tIns="0" rIns="0" bIns="0" rtlCol="0" vert="vert">
            <a:spAutoFit/>
          </a:bodyPr>
          <a:lstStyle/>
          <a:p>
            <a:pPr marL="12700">
              <a:lnSpc>
                <a:spcPts val="2120"/>
              </a:lnSpc>
            </a:pPr>
            <a:r>
              <a:rPr dirty="0" sz="1900" spc="155">
                <a:latin typeface="宋体"/>
                <a:cs typeface="宋体"/>
              </a:rPr>
              <a:t>…</a:t>
            </a:r>
            <a:endParaRPr sz="1900">
              <a:latin typeface="宋体"/>
              <a:cs typeface="宋体"/>
            </a:endParaRPr>
          </a:p>
        </p:txBody>
      </p:sp>
      <p:sp>
        <p:nvSpPr>
          <p:cNvPr id="8" name="object 8" descr=""/>
          <p:cNvSpPr txBox="1"/>
          <p:nvPr/>
        </p:nvSpPr>
        <p:spPr>
          <a:xfrm>
            <a:off x="2508968" y="1517953"/>
            <a:ext cx="2308225" cy="1019175"/>
          </a:xfrm>
          <a:prstGeom prst="rect">
            <a:avLst/>
          </a:prstGeom>
        </p:spPr>
        <p:txBody>
          <a:bodyPr wrap="square" lIns="0" tIns="15875" rIns="0" bIns="0" rtlCol="0" vert="horz">
            <a:spAutoFit/>
          </a:bodyPr>
          <a:lstStyle/>
          <a:p>
            <a:pPr marL="38100">
              <a:lnSpc>
                <a:spcPts val="2000"/>
              </a:lnSpc>
              <a:spcBef>
                <a:spcPts val="125"/>
              </a:spcBef>
              <a:tabLst>
                <a:tab pos="732155" algn="l"/>
              </a:tabLst>
            </a:pPr>
            <a:r>
              <a:rPr dirty="0" sz="1800" spc="-20">
                <a:latin typeface="Times New Roman"/>
                <a:cs typeface="Times New Roman"/>
              </a:rPr>
              <a:t>0000</a:t>
            </a:r>
            <a:r>
              <a:rPr dirty="0" sz="1800">
                <a:latin typeface="Times New Roman"/>
                <a:cs typeface="Times New Roman"/>
              </a:rPr>
              <a:t>	</a:t>
            </a:r>
            <a:r>
              <a:rPr dirty="0" sz="1600" spc="-25">
                <a:solidFill>
                  <a:srgbClr val="006FC0"/>
                </a:solidFill>
                <a:latin typeface="黑体"/>
                <a:cs typeface="黑体"/>
              </a:rPr>
              <a:t>可以理解为</a:t>
            </a:r>
            <a:r>
              <a:rPr dirty="0" sz="1600" spc="-40">
                <a:solidFill>
                  <a:srgbClr val="FF5CFF"/>
                </a:solidFill>
                <a:latin typeface="黑体"/>
                <a:cs typeface="黑体"/>
              </a:rPr>
              <a:t>：三</a:t>
            </a:r>
            <a:endParaRPr sz="1600">
              <a:latin typeface="黑体"/>
              <a:cs typeface="黑体"/>
            </a:endParaRPr>
          </a:p>
          <a:p>
            <a:pPr marL="38100">
              <a:lnSpc>
                <a:spcPts val="1980"/>
              </a:lnSpc>
              <a:tabLst>
                <a:tab pos="732155" algn="l"/>
              </a:tabLst>
            </a:pPr>
            <a:r>
              <a:rPr dirty="0" baseline="-20061" sz="2700" spc="-30">
                <a:latin typeface="Times New Roman"/>
                <a:cs typeface="Times New Roman"/>
              </a:rPr>
              <a:t>0001</a:t>
            </a:r>
            <a:r>
              <a:rPr dirty="0" baseline="-20061" sz="2700">
                <a:latin typeface="Times New Roman"/>
                <a:cs typeface="Times New Roman"/>
              </a:rPr>
              <a:t>	</a:t>
            </a:r>
            <a:r>
              <a:rPr dirty="0" sz="1600" spc="-10">
                <a:solidFill>
                  <a:srgbClr val="FF5CFF"/>
                </a:solidFill>
                <a:latin typeface="黑体"/>
                <a:cs typeface="黑体"/>
              </a:rPr>
              <a:t>地址指令</a:t>
            </a:r>
            <a:r>
              <a:rPr dirty="0" sz="1600" spc="-10">
                <a:solidFill>
                  <a:srgbClr val="FF5CFF"/>
                </a:solidFill>
                <a:latin typeface="Tahoma"/>
                <a:cs typeface="Tahoma"/>
              </a:rPr>
              <a:t>15</a:t>
            </a:r>
            <a:r>
              <a:rPr dirty="0" sz="1600" spc="-40">
                <a:solidFill>
                  <a:srgbClr val="FF5CFF"/>
                </a:solidFill>
                <a:latin typeface="黑体"/>
                <a:cs typeface="黑体"/>
              </a:rPr>
              <a:t>条：</a:t>
            </a:r>
            <a:endParaRPr sz="1600">
              <a:latin typeface="黑体"/>
              <a:cs typeface="黑体"/>
            </a:endParaRPr>
          </a:p>
          <a:p>
            <a:pPr marL="732155" marR="30480">
              <a:lnSpc>
                <a:spcPts val="1920"/>
              </a:lnSpc>
              <a:spcBef>
                <a:spcPts val="45"/>
              </a:spcBef>
            </a:pPr>
            <a:r>
              <a:rPr dirty="0" sz="1600" spc="-10">
                <a:solidFill>
                  <a:srgbClr val="FF5CFF"/>
                </a:solidFill>
                <a:latin typeface="黑体"/>
                <a:cs typeface="黑体"/>
              </a:rPr>
              <a:t>说明</a:t>
            </a:r>
            <a:r>
              <a:rPr dirty="0" sz="1600" spc="-10">
                <a:solidFill>
                  <a:srgbClr val="006FC0"/>
                </a:solidFill>
                <a:latin typeface="Tahoma"/>
                <a:cs typeface="Tahoma"/>
              </a:rPr>
              <a:t>4</a:t>
            </a:r>
            <a:r>
              <a:rPr dirty="0" sz="1600" spc="-25">
                <a:solidFill>
                  <a:srgbClr val="006FC0"/>
                </a:solidFill>
                <a:latin typeface="黑体"/>
                <a:cs typeface="黑体"/>
              </a:rPr>
              <a:t>位长度的操</a:t>
            </a:r>
            <a:r>
              <a:rPr dirty="0" sz="1600" spc="-10">
                <a:solidFill>
                  <a:srgbClr val="006FC0"/>
                </a:solidFill>
                <a:latin typeface="黑体"/>
                <a:cs typeface="黑体"/>
              </a:rPr>
              <a:t>作码</a:t>
            </a:r>
            <a:r>
              <a:rPr dirty="0" sz="1600" spc="-10">
                <a:solidFill>
                  <a:srgbClr val="006FC0"/>
                </a:solidFill>
                <a:latin typeface="Tahoma"/>
                <a:cs typeface="Tahoma"/>
              </a:rPr>
              <a:t>15</a:t>
            </a:r>
            <a:r>
              <a:rPr dirty="0" sz="1600" spc="-60">
                <a:solidFill>
                  <a:srgbClr val="006FC0"/>
                </a:solidFill>
                <a:latin typeface="黑体"/>
                <a:cs typeface="黑体"/>
              </a:rPr>
              <a:t>种</a:t>
            </a:r>
            <a:endParaRPr sz="1600">
              <a:latin typeface="黑体"/>
              <a:cs typeface="黑体"/>
            </a:endParaRPr>
          </a:p>
        </p:txBody>
      </p:sp>
      <p:sp>
        <p:nvSpPr>
          <p:cNvPr id="9" name="object 9" descr=""/>
          <p:cNvSpPr txBox="1"/>
          <p:nvPr/>
        </p:nvSpPr>
        <p:spPr>
          <a:xfrm>
            <a:off x="2005336" y="3447686"/>
            <a:ext cx="235585" cy="304165"/>
          </a:xfrm>
          <a:prstGeom prst="rect">
            <a:avLst/>
          </a:prstGeom>
        </p:spPr>
        <p:txBody>
          <a:bodyPr wrap="square" lIns="0" tIns="15875" rIns="0" bIns="0" rtlCol="0" vert="horz">
            <a:spAutoFit/>
          </a:bodyPr>
          <a:lstStyle/>
          <a:p>
            <a:pPr marL="12700">
              <a:lnSpc>
                <a:spcPct val="100000"/>
              </a:lnSpc>
              <a:spcBef>
                <a:spcPts val="125"/>
              </a:spcBef>
            </a:pPr>
            <a:r>
              <a:rPr dirty="0" sz="1800" spc="-55" b="1">
                <a:solidFill>
                  <a:srgbClr val="FF6600"/>
                </a:solidFill>
                <a:latin typeface="Times New Roman"/>
                <a:cs typeface="Times New Roman"/>
              </a:rPr>
              <a:t>15</a:t>
            </a:r>
            <a:endParaRPr sz="1800">
              <a:latin typeface="Times New Roman"/>
              <a:cs typeface="Times New Roman"/>
            </a:endParaRPr>
          </a:p>
        </p:txBody>
      </p:sp>
      <p:sp>
        <p:nvSpPr>
          <p:cNvPr id="10" name="object 10" descr=""/>
          <p:cNvSpPr txBox="1"/>
          <p:nvPr/>
        </p:nvSpPr>
        <p:spPr>
          <a:xfrm>
            <a:off x="2534368" y="2858370"/>
            <a:ext cx="416559" cy="656590"/>
          </a:xfrm>
          <a:prstGeom prst="rect">
            <a:avLst/>
          </a:prstGeom>
        </p:spPr>
        <p:txBody>
          <a:bodyPr wrap="square" lIns="0" tIns="52705" rIns="0" bIns="0" rtlCol="0" vert="horz">
            <a:spAutoFit/>
          </a:bodyPr>
          <a:lstStyle/>
          <a:p>
            <a:pPr marL="12700">
              <a:lnSpc>
                <a:spcPct val="100000"/>
              </a:lnSpc>
              <a:spcBef>
                <a:spcPts val="415"/>
              </a:spcBef>
            </a:pPr>
            <a:r>
              <a:rPr dirty="0" sz="1800" spc="-125">
                <a:latin typeface="Times New Roman"/>
                <a:cs typeface="Times New Roman"/>
              </a:rPr>
              <a:t>1111</a:t>
            </a:r>
            <a:endParaRPr sz="1800">
              <a:latin typeface="Times New Roman"/>
              <a:cs typeface="Times New Roman"/>
            </a:endParaRPr>
          </a:p>
          <a:p>
            <a:pPr marL="12700">
              <a:lnSpc>
                <a:spcPct val="100000"/>
              </a:lnSpc>
              <a:spcBef>
                <a:spcPts val="325"/>
              </a:spcBef>
            </a:pPr>
            <a:r>
              <a:rPr dirty="0" sz="1800" spc="-125">
                <a:latin typeface="Times New Roman"/>
                <a:cs typeface="Times New Roman"/>
              </a:rPr>
              <a:t>1111</a:t>
            </a:r>
            <a:endParaRPr sz="1800">
              <a:latin typeface="Times New Roman"/>
              <a:cs typeface="Times New Roman"/>
            </a:endParaRPr>
          </a:p>
        </p:txBody>
      </p:sp>
      <p:sp>
        <p:nvSpPr>
          <p:cNvPr id="11" name="object 11" descr=""/>
          <p:cNvSpPr/>
          <p:nvPr/>
        </p:nvSpPr>
        <p:spPr>
          <a:xfrm>
            <a:off x="2308780" y="3039882"/>
            <a:ext cx="142875" cy="1099185"/>
          </a:xfrm>
          <a:custGeom>
            <a:avLst/>
            <a:gdLst/>
            <a:ahLst/>
            <a:cxnLst/>
            <a:rect l="l" t="t" r="r" b="b"/>
            <a:pathLst>
              <a:path w="142875" h="1099185">
                <a:moveTo>
                  <a:pt x="142503" y="0"/>
                </a:moveTo>
                <a:lnTo>
                  <a:pt x="128257" y="0"/>
                </a:lnTo>
                <a:lnTo>
                  <a:pt x="114011" y="5583"/>
                </a:lnTo>
                <a:lnTo>
                  <a:pt x="104875" y="16241"/>
                </a:lnTo>
                <a:lnTo>
                  <a:pt x="95186" y="26392"/>
                </a:lnTo>
                <a:lnTo>
                  <a:pt x="85497" y="37051"/>
                </a:lnTo>
                <a:lnTo>
                  <a:pt x="75808" y="52785"/>
                </a:lnTo>
                <a:lnTo>
                  <a:pt x="71251" y="73849"/>
                </a:lnTo>
                <a:lnTo>
                  <a:pt x="71251" y="89583"/>
                </a:lnTo>
                <a:lnTo>
                  <a:pt x="71251" y="457816"/>
                </a:lnTo>
                <a:lnTo>
                  <a:pt x="71251" y="478372"/>
                </a:lnTo>
                <a:lnTo>
                  <a:pt x="66694" y="494614"/>
                </a:lnTo>
                <a:lnTo>
                  <a:pt x="57005" y="510348"/>
                </a:lnTo>
                <a:lnTo>
                  <a:pt x="52426" y="521007"/>
                </a:lnTo>
                <a:lnTo>
                  <a:pt x="38180" y="536741"/>
                </a:lnTo>
                <a:lnTo>
                  <a:pt x="28491" y="541563"/>
                </a:lnTo>
                <a:lnTo>
                  <a:pt x="14245" y="547400"/>
                </a:lnTo>
                <a:lnTo>
                  <a:pt x="0" y="552222"/>
                </a:lnTo>
                <a:lnTo>
                  <a:pt x="14245" y="552222"/>
                </a:lnTo>
                <a:lnTo>
                  <a:pt x="28491" y="557297"/>
                </a:lnTo>
                <a:lnTo>
                  <a:pt x="38180" y="567956"/>
                </a:lnTo>
                <a:lnTo>
                  <a:pt x="52426" y="578615"/>
                </a:lnTo>
                <a:lnTo>
                  <a:pt x="57005" y="589274"/>
                </a:lnTo>
                <a:lnTo>
                  <a:pt x="66694" y="605008"/>
                </a:lnTo>
                <a:lnTo>
                  <a:pt x="71251" y="620488"/>
                </a:lnTo>
                <a:lnTo>
                  <a:pt x="71251" y="641806"/>
                </a:lnTo>
                <a:lnTo>
                  <a:pt x="71251" y="1009988"/>
                </a:lnTo>
                <a:lnTo>
                  <a:pt x="71251" y="1025646"/>
                </a:lnTo>
                <a:lnTo>
                  <a:pt x="75808" y="1046304"/>
                </a:lnTo>
                <a:lnTo>
                  <a:pt x="85497" y="1061962"/>
                </a:lnTo>
                <a:lnTo>
                  <a:pt x="95186" y="1072620"/>
                </a:lnTo>
                <a:lnTo>
                  <a:pt x="104875" y="1083254"/>
                </a:lnTo>
                <a:lnTo>
                  <a:pt x="114011" y="1093887"/>
                </a:lnTo>
                <a:lnTo>
                  <a:pt x="128257" y="1098912"/>
                </a:lnTo>
                <a:lnTo>
                  <a:pt x="142503" y="1098912"/>
                </a:lnTo>
              </a:path>
            </a:pathLst>
          </a:custGeom>
          <a:ln w="18844">
            <a:solidFill>
              <a:srgbClr val="000000"/>
            </a:solidFill>
          </a:ln>
        </p:spPr>
        <p:txBody>
          <a:bodyPr wrap="square" lIns="0" tIns="0" rIns="0" bIns="0" rtlCol="0"/>
          <a:lstStyle/>
          <a:p/>
        </p:txBody>
      </p:sp>
      <p:sp>
        <p:nvSpPr>
          <p:cNvPr id="12" name="object 12" descr=""/>
          <p:cNvSpPr txBox="1"/>
          <p:nvPr/>
        </p:nvSpPr>
        <p:spPr>
          <a:xfrm>
            <a:off x="2534368" y="3957375"/>
            <a:ext cx="416559" cy="304165"/>
          </a:xfrm>
          <a:prstGeom prst="rect">
            <a:avLst/>
          </a:prstGeom>
        </p:spPr>
        <p:txBody>
          <a:bodyPr wrap="square" lIns="0" tIns="15875" rIns="0" bIns="0" rtlCol="0" vert="horz">
            <a:spAutoFit/>
          </a:bodyPr>
          <a:lstStyle/>
          <a:p>
            <a:pPr marL="12700">
              <a:lnSpc>
                <a:spcPct val="100000"/>
              </a:lnSpc>
              <a:spcBef>
                <a:spcPts val="125"/>
              </a:spcBef>
            </a:pPr>
            <a:r>
              <a:rPr dirty="0" sz="1800" spc="-125">
                <a:latin typeface="Times New Roman"/>
                <a:cs typeface="Times New Roman"/>
              </a:rPr>
              <a:t>1111</a:t>
            </a:r>
            <a:endParaRPr sz="1800">
              <a:latin typeface="Times New Roman"/>
              <a:cs typeface="Times New Roman"/>
            </a:endParaRPr>
          </a:p>
        </p:txBody>
      </p:sp>
      <p:sp>
        <p:nvSpPr>
          <p:cNvPr id="13" name="object 13" descr=""/>
          <p:cNvSpPr txBox="1"/>
          <p:nvPr/>
        </p:nvSpPr>
        <p:spPr>
          <a:xfrm>
            <a:off x="2927350" y="2924175"/>
            <a:ext cx="595630" cy="1400175"/>
          </a:xfrm>
          <a:prstGeom prst="rect">
            <a:avLst/>
          </a:prstGeom>
          <a:ln w="9525">
            <a:solidFill>
              <a:srgbClr val="FF09FF"/>
            </a:solidFill>
          </a:ln>
        </p:spPr>
        <p:txBody>
          <a:bodyPr wrap="square" lIns="0" tIns="0" rIns="0" bIns="0" rtlCol="0" vert="horz">
            <a:spAutoFit/>
          </a:bodyPr>
          <a:lstStyle/>
          <a:p>
            <a:pPr marL="62865">
              <a:lnSpc>
                <a:spcPts val="2060"/>
              </a:lnSpc>
            </a:pPr>
            <a:r>
              <a:rPr dirty="0" sz="1800" spc="-20">
                <a:latin typeface="Times New Roman"/>
                <a:cs typeface="Times New Roman"/>
              </a:rPr>
              <a:t>0000</a:t>
            </a:r>
            <a:endParaRPr sz="1800">
              <a:latin typeface="Times New Roman"/>
              <a:cs typeface="Times New Roman"/>
            </a:endParaRPr>
          </a:p>
          <a:p>
            <a:pPr marL="62865">
              <a:lnSpc>
                <a:spcPct val="100000"/>
              </a:lnSpc>
              <a:spcBef>
                <a:spcPts val="320"/>
              </a:spcBef>
            </a:pPr>
            <a:r>
              <a:rPr dirty="0" sz="1800" spc="-20">
                <a:latin typeface="Times New Roman"/>
                <a:cs typeface="Times New Roman"/>
              </a:rPr>
              <a:t>0001</a:t>
            </a:r>
            <a:endParaRPr sz="1800">
              <a:latin typeface="Times New Roman"/>
              <a:cs typeface="Times New Roman"/>
            </a:endParaRPr>
          </a:p>
          <a:p>
            <a:pPr>
              <a:lnSpc>
                <a:spcPct val="100000"/>
              </a:lnSpc>
              <a:spcBef>
                <a:spcPts val="1650"/>
              </a:spcBef>
            </a:pPr>
            <a:endParaRPr sz="1800">
              <a:latin typeface="Times New Roman"/>
              <a:cs typeface="Times New Roman"/>
            </a:endParaRPr>
          </a:p>
          <a:p>
            <a:pPr marL="62865">
              <a:lnSpc>
                <a:spcPct val="100000"/>
              </a:lnSpc>
            </a:pPr>
            <a:r>
              <a:rPr dirty="0" sz="1800" spc="-20">
                <a:latin typeface="Times New Roman"/>
                <a:cs typeface="Times New Roman"/>
              </a:rPr>
              <a:t>1110</a:t>
            </a:r>
            <a:endParaRPr sz="1800">
              <a:latin typeface="Times New Roman"/>
              <a:cs typeface="Times New Roman"/>
            </a:endParaRPr>
          </a:p>
        </p:txBody>
      </p:sp>
      <p:sp>
        <p:nvSpPr>
          <p:cNvPr id="14" name="object 14" descr=""/>
          <p:cNvSpPr txBox="1"/>
          <p:nvPr/>
        </p:nvSpPr>
        <p:spPr>
          <a:xfrm>
            <a:off x="2843220" y="3590063"/>
            <a:ext cx="269875" cy="294640"/>
          </a:xfrm>
          <a:prstGeom prst="rect">
            <a:avLst/>
          </a:prstGeom>
        </p:spPr>
        <p:txBody>
          <a:bodyPr wrap="square" lIns="0" tIns="0" rIns="0" bIns="0" rtlCol="0" vert="vert">
            <a:spAutoFit/>
          </a:bodyPr>
          <a:lstStyle/>
          <a:p>
            <a:pPr marL="12700">
              <a:lnSpc>
                <a:spcPts val="2120"/>
              </a:lnSpc>
            </a:pPr>
            <a:r>
              <a:rPr dirty="0" sz="1900" spc="155">
                <a:latin typeface="宋体"/>
                <a:cs typeface="宋体"/>
              </a:rPr>
              <a:t>…</a:t>
            </a:r>
            <a:endParaRPr sz="1900">
              <a:latin typeface="宋体"/>
              <a:cs typeface="宋体"/>
            </a:endParaRPr>
          </a:p>
        </p:txBody>
      </p:sp>
      <p:sp>
        <p:nvSpPr>
          <p:cNvPr id="15" name="object 15" descr=""/>
          <p:cNvSpPr/>
          <p:nvPr/>
        </p:nvSpPr>
        <p:spPr>
          <a:xfrm>
            <a:off x="2308780" y="4417418"/>
            <a:ext cx="142875" cy="1104265"/>
          </a:xfrm>
          <a:custGeom>
            <a:avLst/>
            <a:gdLst/>
            <a:ahLst/>
            <a:cxnLst/>
            <a:rect l="l" t="t" r="r" b="b"/>
            <a:pathLst>
              <a:path w="142875" h="1104264">
                <a:moveTo>
                  <a:pt x="142503" y="0"/>
                </a:moveTo>
                <a:lnTo>
                  <a:pt x="128257" y="0"/>
                </a:lnTo>
                <a:lnTo>
                  <a:pt x="114011" y="5633"/>
                </a:lnTo>
                <a:lnTo>
                  <a:pt x="85497" y="41949"/>
                </a:lnTo>
                <a:lnTo>
                  <a:pt x="71251" y="73874"/>
                </a:lnTo>
                <a:lnTo>
                  <a:pt x="71251" y="89533"/>
                </a:lnTo>
                <a:lnTo>
                  <a:pt x="71251" y="457689"/>
                </a:lnTo>
                <a:lnTo>
                  <a:pt x="71251" y="478347"/>
                </a:lnTo>
                <a:lnTo>
                  <a:pt x="66694" y="494639"/>
                </a:lnTo>
                <a:lnTo>
                  <a:pt x="57005" y="510272"/>
                </a:lnTo>
                <a:lnTo>
                  <a:pt x="52426" y="525930"/>
                </a:lnTo>
                <a:lnTo>
                  <a:pt x="38180" y="536589"/>
                </a:lnTo>
                <a:lnTo>
                  <a:pt x="28491" y="541589"/>
                </a:lnTo>
                <a:lnTo>
                  <a:pt x="14245" y="546588"/>
                </a:lnTo>
                <a:lnTo>
                  <a:pt x="0" y="552222"/>
                </a:lnTo>
                <a:lnTo>
                  <a:pt x="14245" y="552222"/>
                </a:lnTo>
                <a:lnTo>
                  <a:pt x="28491" y="557247"/>
                </a:lnTo>
                <a:lnTo>
                  <a:pt x="38180" y="567880"/>
                </a:lnTo>
                <a:lnTo>
                  <a:pt x="52426" y="578539"/>
                </a:lnTo>
                <a:lnTo>
                  <a:pt x="57005" y="589172"/>
                </a:lnTo>
                <a:lnTo>
                  <a:pt x="66694" y="604830"/>
                </a:lnTo>
                <a:lnTo>
                  <a:pt x="71251" y="625488"/>
                </a:lnTo>
                <a:lnTo>
                  <a:pt x="71251" y="1009303"/>
                </a:lnTo>
                <a:lnTo>
                  <a:pt x="85497" y="1061886"/>
                </a:lnTo>
                <a:lnTo>
                  <a:pt x="95186" y="1072544"/>
                </a:lnTo>
                <a:lnTo>
                  <a:pt x="104875" y="1088202"/>
                </a:lnTo>
                <a:lnTo>
                  <a:pt x="114011" y="1093836"/>
                </a:lnTo>
                <a:lnTo>
                  <a:pt x="128257" y="1098836"/>
                </a:lnTo>
                <a:lnTo>
                  <a:pt x="142503" y="1103835"/>
                </a:lnTo>
              </a:path>
            </a:pathLst>
          </a:custGeom>
          <a:ln w="18843">
            <a:solidFill>
              <a:srgbClr val="000000"/>
            </a:solidFill>
          </a:ln>
        </p:spPr>
        <p:txBody>
          <a:bodyPr wrap="square" lIns="0" tIns="0" rIns="0" bIns="0" rtlCol="0"/>
          <a:lstStyle/>
          <a:p/>
        </p:txBody>
      </p:sp>
      <p:sp>
        <p:nvSpPr>
          <p:cNvPr id="16" name="object 16" descr=""/>
          <p:cNvSpPr txBox="1"/>
          <p:nvPr/>
        </p:nvSpPr>
        <p:spPr>
          <a:xfrm>
            <a:off x="3057574" y="4972599"/>
            <a:ext cx="269875" cy="294640"/>
          </a:xfrm>
          <a:prstGeom prst="rect">
            <a:avLst/>
          </a:prstGeom>
        </p:spPr>
        <p:txBody>
          <a:bodyPr wrap="square" lIns="0" tIns="0" rIns="0" bIns="0" rtlCol="0" vert="vert">
            <a:spAutoFit/>
          </a:bodyPr>
          <a:lstStyle/>
          <a:p>
            <a:pPr marL="12700">
              <a:lnSpc>
                <a:spcPts val="2120"/>
              </a:lnSpc>
            </a:pPr>
            <a:r>
              <a:rPr dirty="0" sz="1900" spc="155">
                <a:latin typeface="宋体"/>
                <a:cs typeface="宋体"/>
              </a:rPr>
              <a:t>…</a:t>
            </a:r>
            <a:endParaRPr sz="1900">
              <a:latin typeface="宋体"/>
              <a:cs typeface="宋体"/>
            </a:endParaRPr>
          </a:p>
        </p:txBody>
      </p:sp>
      <p:sp>
        <p:nvSpPr>
          <p:cNvPr id="17" name="object 17" descr=""/>
          <p:cNvSpPr txBox="1"/>
          <p:nvPr/>
        </p:nvSpPr>
        <p:spPr>
          <a:xfrm>
            <a:off x="2005336" y="4235703"/>
            <a:ext cx="3070860" cy="1092835"/>
          </a:xfrm>
          <a:prstGeom prst="rect">
            <a:avLst/>
          </a:prstGeom>
        </p:spPr>
        <p:txBody>
          <a:bodyPr wrap="square" lIns="0" tIns="53340" rIns="0" bIns="0" rtlCol="0" vert="horz">
            <a:spAutoFit/>
          </a:bodyPr>
          <a:lstStyle/>
          <a:p>
            <a:pPr marL="541655">
              <a:lnSpc>
                <a:spcPct val="100000"/>
              </a:lnSpc>
              <a:spcBef>
                <a:spcPts val="420"/>
              </a:spcBef>
            </a:pPr>
            <a:r>
              <a:rPr dirty="0" sz="1800" spc="-140">
                <a:latin typeface="Times New Roman"/>
                <a:cs typeface="Times New Roman"/>
              </a:rPr>
              <a:t>1111</a:t>
            </a:r>
            <a:r>
              <a:rPr dirty="0" sz="1800" spc="-15">
                <a:latin typeface="Times New Roman"/>
                <a:cs typeface="Times New Roman"/>
              </a:rPr>
              <a:t> </a:t>
            </a:r>
            <a:r>
              <a:rPr dirty="0" sz="1800" spc="-140">
                <a:latin typeface="Times New Roman"/>
                <a:cs typeface="Times New Roman"/>
              </a:rPr>
              <a:t>1111</a:t>
            </a:r>
            <a:r>
              <a:rPr dirty="0" sz="1800" spc="-10">
                <a:latin typeface="Times New Roman"/>
                <a:cs typeface="Times New Roman"/>
              </a:rPr>
              <a:t> </a:t>
            </a:r>
            <a:r>
              <a:rPr dirty="0" sz="1800" spc="-20">
                <a:latin typeface="Times New Roman"/>
                <a:cs typeface="Times New Roman"/>
              </a:rPr>
              <a:t>0000</a:t>
            </a:r>
            <a:endParaRPr sz="1800">
              <a:latin typeface="Times New Roman"/>
              <a:cs typeface="Times New Roman"/>
            </a:endParaRPr>
          </a:p>
          <a:p>
            <a:pPr marL="541655">
              <a:lnSpc>
                <a:spcPts val="2010"/>
              </a:lnSpc>
              <a:spcBef>
                <a:spcPts val="325"/>
              </a:spcBef>
            </a:pPr>
            <a:r>
              <a:rPr dirty="0" sz="1800" spc="-140">
                <a:latin typeface="Times New Roman"/>
                <a:cs typeface="Times New Roman"/>
              </a:rPr>
              <a:t>1111</a:t>
            </a:r>
            <a:r>
              <a:rPr dirty="0" sz="1800" spc="-15">
                <a:latin typeface="Times New Roman"/>
                <a:cs typeface="Times New Roman"/>
              </a:rPr>
              <a:t> </a:t>
            </a:r>
            <a:r>
              <a:rPr dirty="0" sz="1800" spc="-140">
                <a:latin typeface="Times New Roman"/>
                <a:cs typeface="Times New Roman"/>
              </a:rPr>
              <a:t>1111</a:t>
            </a:r>
            <a:r>
              <a:rPr dirty="0" sz="1800" spc="-10">
                <a:latin typeface="Times New Roman"/>
                <a:cs typeface="Times New Roman"/>
              </a:rPr>
              <a:t> </a:t>
            </a:r>
            <a:r>
              <a:rPr dirty="0" sz="1800" spc="-20">
                <a:latin typeface="Times New Roman"/>
                <a:cs typeface="Times New Roman"/>
              </a:rPr>
              <a:t>0001</a:t>
            </a:r>
            <a:endParaRPr sz="1800">
              <a:latin typeface="Times New Roman"/>
              <a:cs typeface="Times New Roman"/>
            </a:endParaRPr>
          </a:p>
          <a:p>
            <a:pPr marL="12700">
              <a:lnSpc>
                <a:spcPts val="1714"/>
              </a:lnSpc>
            </a:pPr>
            <a:r>
              <a:rPr dirty="0" sz="1800" spc="-25" b="1">
                <a:solidFill>
                  <a:srgbClr val="FF6600"/>
                </a:solidFill>
                <a:latin typeface="Times New Roman"/>
                <a:cs typeface="Times New Roman"/>
              </a:rPr>
              <a:t>15</a:t>
            </a:r>
            <a:endParaRPr sz="1800">
              <a:latin typeface="Times New Roman"/>
              <a:cs typeface="Times New Roman"/>
            </a:endParaRPr>
          </a:p>
          <a:p>
            <a:pPr marL="2743200">
              <a:lnSpc>
                <a:spcPts val="1864"/>
              </a:lnSpc>
            </a:pPr>
            <a:r>
              <a:rPr dirty="0" sz="1800" spc="-65" b="1">
                <a:solidFill>
                  <a:srgbClr val="FF6600"/>
                </a:solidFill>
                <a:latin typeface="Times New Roman"/>
                <a:cs typeface="Times New Roman"/>
              </a:rPr>
              <a:t>512</a:t>
            </a:r>
            <a:endParaRPr sz="1800">
              <a:latin typeface="Times New Roman"/>
              <a:cs typeface="Times New Roman"/>
            </a:endParaRPr>
          </a:p>
        </p:txBody>
      </p:sp>
      <p:sp>
        <p:nvSpPr>
          <p:cNvPr id="18" name="object 18" descr=""/>
          <p:cNvSpPr txBox="1"/>
          <p:nvPr/>
        </p:nvSpPr>
        <p:spPr>
          <a:xfrm>
            <a:off x="1901444" y="5318043"/>
            <a:ext cx="2306955" cy="1169035"/>
          </a:xfrm>
          <a:prstGeom prst="rect">
            <a:avLst/>
          </a:prstGeom>
        </p:spPr>
        <p:txBody>
          <a:bodyPr wrap="square" lIns="0" tIns="37465" rIns="0" bIns="0" rtlCol="0" vert="horz">
            <a:spAutoFit/>
          </a:bodyPr>
          <a:lstStyle/>
          <a:p>
            <a:pPr marL="645160">
              <a:lnSpc>
                <a:spcPct val="100000"/>
              </a:lnSpc>
              <a:spcBef>
                <a:spcPts val="295"/>
              </a:spcBef>
            </a:pPr>
            <a:r>
              <a:rPr dirty="0" sz="1800" spc="-140">
                <a:latin typeface="Times New Roman"/>
                <a:cs typeface="Times New Roman"/>
              </a:rPr>
              <a:t>1111</a:t>
            </a:r>
            <a:r>
              <a:rPr dirty="0" sz="1800" spc="-15">
                <a:latin typeface="Times New Roman"/>
                <a:cs typeface="Times New Roman"/>
              </a:rPr>
              <a:t> </a:t>
            </a:r>
            <a:r>
              <a:rPr dirty="0" sz="1800" spc="-140">
                <a:latin typeface="Times New Roman"/>
                <a:cs typeface="Times New Roman"/>
              </a:rPr>
              <a:t>1111</a:t>
            </a:r>
            <a:r>
              <a:rPr dirty="0" sz="1800" spc="-10">
                <a:latin typeface="Times New Roman"/>
                <a:cs typeface="Times New Roman"/>
              </a:rPr>
              <a:t> </a:t>
            </a:r>
            <a:r>
              <a:rPr dirty="0" sz="1800" spc="-20">
                <a:latin typeface="Times New Roman"/>
                <a:cs typeface="Times New Roman"/>
              </a:rPr>
              <a:t>1110</a:t>
            </a:r>
            <a:endParaRPr sz="1800">
              <a:latin typeface="Times New Roman"/>
              <a:cs typeface="Times New Roman"/>
            </a:endParaRPr>
          </a:p>
          <a:p>
            <a:pPr marL="12700" marR="507365">
              <a:lnSpc>
                <a:spcPts val="1639"/>
              </a:lnSpc>
              <a:spcBef>
                <a:spcPts val="229"/>
              </a:spcBef>
            </a:pPr>
            <a:r>
              <a:rPr dirty="0" sz="1400" spc="-5">
                <a:solidFill>
                  <a:srgbClr val="006FC0"/>
                </a:solidFill>
                <a:latin typeface="黑体"/>
                <a:cs typeface="黑体"/>
              </a:rPr>
              <a:t>可以理解为</a:t>
            </a:r>
            <a:r>
              <a:rPr dirty="0" sz="1400" spc="-25">
                <a:solidFill>
                  <a:srgbClr val="FF5CFF"/>
                </a:solidFill>
                <a:latin typeface="黑体"/>
                <a:cs typeface="黑体"/>
              </a:rPr>
              <a:t>：一地址指</a:t>
            </a:r>
            <a:r>
              <a:rPr dirty="0" sz="1400">
                <a:solidFill>
                  <a:srgbClr val="FF5CFF"/>
                </a:solidFill>
                <a:latin typeface="黑体"/>
                <a:cs typeface="黑体"/>
              </a:rPr>
              <a:t>令</a:t>
            </a:r>
            <a:r>
              <a:rPr dirty="0" sz="1400">
                <a:solidFill>
                  <a:srgbClr val="FF5CFF"/>
                </a:solidFill>
                <a:latin typeface="Tahoma"/>
                <a:cs typeface="Tahoma"/>
              </a:rPr>
              <a:t>15</a:t>
            </a:r>
            <a:r>
              <a:rPr dirty="0" sz="1400" spc="-50">
                <a:solidFill>
                  <a:srgbClr val="FF5CFF"/>
                </a:solidFill>
                <a:latin typeface="黑体"/>
                <a:cs typeface="黑体"/>
              </a:rPr>
              <a:t>条</a:t>
            </a:r>
            <a:endParaRPr sz="1400">
              <a:latin typeface="黑体"/>
              <a:cs typeface="黑体"/>
            </a:endParaRPr>
          </a:p>
          <a:p>
            <a:pPr marL="526415">
              <a:lnSpc>
                <a:spcPct val="100000"/>
              </a:lnSpc>
              <a:spcBef>
                <a:spcPts val="615"/>
              </a:spcBef>
            </a:pPr>
            <a:r>
              <a:rPr dirty="0" sz="2100" spc="-105">
                <a:solidFill>
                  <a:srgbClr val="333399"/>
                </a:solidFill>
                <a:latin typeface="宋体"/>
                <a:cs typeface="宋体"/>
              </a:rPr>
              <a:t>15/15/15</a:t>
            </a:r>
            <a:r>
              <a:rPr dirty="0" sz="2100" spc="-240">
                <a:solidFill>
                  <a:srgbClr val="333399"/>
                </a:solidFill>
                <a:latin typeface="宋体"/>
                <a:cs typeface="宋体"/>
              </a:rPr>
              <a:t> 编码法</a:t>
            </a:r>
            <a:endParaRPr sz="2100">
              <a:latin typeface="宋体"/>
              <a:cs typeface="宋体"/>
            </a:endParaRPr>
          </a:p>
        </p:txBody>
      </p:sp>
      <p:sp>
        <p:nvSpPr>
          <p:cNvPr id="19" name="object 19" descr=""/>
          <p:cNvSpPr/>
          <p:nvPr/>
        </p:nvSpPr>
        <p:spPr>
          <a:xfrm>
            <a:off x="5115721" y="2646018"/>
            <a:ext cx="143510" cy="1572260"/>
          </a:xfrm>
          <a:custGeom>
            <a:avLst/>
            <a:gdLst/>
            <a:ahLst/>
            <a:cxnLst/>
            <a:rect l="l" t="t" r="r" b="b"/>
            <a:pathLst>
              <a:path w="143510" h="1572260">
                <a:moveTo>
                  <a:pt x="143147" y="0"/>
                </a:moveTo>
                <a:lnTo>
                  <a:pt x="133481" y="0"/>
                </a:lnTo>
                <a:lnTo>
                  <a:pt x="128879" y="0"/>
                </a:lnTo>
                <a:lnTo>
                  <a:pt x="114610" y="10151"/>
                </a:lnTo>
                <a:lnTo>
                  <a:pt x="81009" y="57607"/>
                </a:lnTo>
                <a:lnTo>
                  <a:pt x="71343" y="105318"/>
                </a:lnTo>
                <a:lnTo>
                  <a:pt x="71343" y="131711"/>
                </a:lnTo>
                <a:lnTo>
                  <a:pt x="71343" y="656779"/>
                </a:lnTo>
                <a:lnTo>
                  <a:pt x="66740" y="683172"/>
                </a:lnTo>
                <a:lnTo>
                  <a:pt x="66740" y="704489"/>
                </a:lnTo>
                <a:lnTo>
                  <a:pt x="57075" y="730882"/>
                </a:lnTo>
                <a:lnTo>
                  <a:pt x="47869" y="746363"/>
                </a:lnTo>
                <a:lnTo>
                  <a:pt x="38203" y="762097"/>
                </a:lnTo>
                <a:lnTo>
                  <a:pt x="23934" y="777831"/>
                </a:lnTo>
                <a:lnTo>
                  <a:pt x="14268" y="783414"/>
                </a:lnTo>
                <a:lnTo>
                  <a:pt x="4602" y="783414"/>
                </a:lnTo>
                <a:lnTo>
                  <a:pt x="0" y="788490"/>
                </a:lnTo>
                <a:lnTo>
                  <a:pt x="4602" y="788490"/>
                </a:lnTo>
                <a:lnTo>
                  <a:pt x="14268" y="788490"/>
                </a:lnTo>
                <a:lnTo>
                  <a:pt x="23934" y="794073"/>
                </a:lnTo>
                <a:lnTo>
                  <a:pt x="38203" y="809553"/>
                </a:lnTo>
                <a:lnTo>
                  <a:pt x="47869" y="825288"/>
                </a:lnTo>
                <a:lnTo>
                  <a:pt x="57075" y="846605"/>
                </a:lnTo>
                <a:lnTo>
                  <a:pt x="66740" y="867161"/>
                </a:lnTo>
                <a:lnTo>
                  <a:pt x="66740" y="888479"/>
                </a:lnTo>
                <a:lnTo>
                  <a:pt x="71343" y="919947"/>
                </a:lnTo>
                <a:lnTo>
                  <a:pt x="71343" y="1440168"/>
                </a:lnTo>
                <a:lnTo>
                  <a:pt x="76406" y="1492776"/>
                </a:lnTo>
                <a:lnTo>
                  <a:pt x="90675" y="1534726"/>
                </a:lnTo>
                <a:lnTo>
                  <a:pt x="114610" y="1561017"/>
                </a:lnTo>
                <a:lnTo>
                  <a:pt x="128879" y="1571651"/>
                </a:lnTo>
                <a:lnTo>
                  <a:pt x="133481" y="1571651"/>
                </a:lnTo>
                <a:lnTo>
                  <a:pt x="143147" y="1571651"/>
                </a:lnTo>
              </a:path>
            </a:pathLst>
          </a:custGeom>
          <a:ln w="18828">
            <a:solidFill>
              <a:srgbClr val="000000"/>
            </a:solidFill>
          </a:ln>
        </p:spPr>
        <p:txBody>
          <a:bodyPr wrap="square" lIns="0" tIns="0" rIns="0" bIns="0" rtlCol="0"/>
          <a:lstStyle/>
          <a:p/>
        </p:txBody>
      </p:sp>
      <p:sp>
        <p:nvSpPr>
          <p:cNvPr id="20" name="object 20" descr=""/>
          <p:cNvSpPr txBox="1"/>
          <p:nvPr/>
        </p:nvSpPr>
        <p:spPr>
          <a:xfrm>
            <a:off x="4931565" y="1633930"/>
            <a:ext cx="130810" cy="304165"/>
          </a:xfrm>
          <a:prstGeom prst="rect">
            <a:avLst/>
          </a:prstGeom>
        </p:spPr>
        <p:txBody>
          <a:bodyPr wrap="square" lIns="0" tIns="15875" rIns="0" bIns="0" rtlCol="0" vert="horz">
            <a:spAutoFit/>
          </a:bodyPr>
          <a:lstStyle/>
          <a:p>
            <a:pPr marL="12700">
              <a:lnSpc>
                <a:spcPct val="100000"/>
              </a:lnSpc>
              <a:spcBef>
                <a:spcPts val="125"/>
              </a:spcBef>
            </a:pPr>
            <a:r>
              <a:rPr dirty="0" sz="1800" spc="-50" b="1">
                <a:solidFill>
                  <a:srgbClr val="FF6600"/>
                </a:solidFill>
                <a:latin typeface="Times New Roman"/>
                <a:cs typeface="Times New Roman"/>
              </a:rPr>
              <a:t>8</a:t>
            </a:r>
            <a:endParaRPr sz="1800">
              <a:latin typeface="Times New Roman"/>
              <a:cs typeface="Times New Roman"/>
            </a:endParaRPr>
          </a:p>
        </p:txBody>
      </p:sp>
      <p:sp>
        <p:nvSpPr>
          <p:cNvPr id="21" name="object 21" descr=""/>
          <p:cNvSpPr txBox="1"/>
          <p:nvPr/>
        </p:nvSpPr>
        <p:spPr>
          <a:xfrm>
            <a:off x="5436495" y="912904"/>
            <a:ext cx="655320" cy="845819"/>
          </a:xfrm>
          <a:prstGeom prst="rect">
            <a:avLst/>
          </a:prstGeom>
        </p:spPr>
        <p:txBody>
          <a:bodyPr wrap="square" lIns="0" tIns="147320" rIns="0" bIns="0" rtlCol="0" vert="horz">
            <a:spAutoFit/>
          </a:bodyPr>
          <a:lstStyle/>
          <a:p>
            <a:pPr marL="12700">
              <a:lnSpc>
                <a:spcPct val="100000"/>
              </a:lnSpc>
              <a:spcBef>
                <a:spcPts val="1160"/>
              </a:spcBef>
              <a:tabLst>
                <a:tab pos="326390" algn="l"/>
              </a:tabLst>
            </a:pPr>
            <a:r>
              <a:rPr dirty="0" sz="1800" spc="-50">
                <a:latin typeface="Times New Roman"/>
                <a:cs typeface="Times New Roman"/>
              </a:rPr>
              <a:t>0</a:t>
            </a:r>
            <a:r>
              <a:rPr dirty="0" sz="1800">
                <a:latin typeface="Times New Roman"/>
                <a:cs typeface="Times New Roman"/>
              </a:rPr>
              <a:t>	</a:t>
            </a:r>
            <a:r>
              <a:rPr dirty="0" sz="1800" spc="-60">
                <a:latin typeface="Times New Roman"/>
                <a:cs typeface="Times New Roman"/>
              </a:rPr>
              <a:t>000</a:t>
            </a:r>
            <a:endParaRPr sz="1800">
              <a:latin typeface="Times New Roman"/>
              <a:cs typeface="Times New Roman"/>
            </a:endParaRPr>
          </a:p>
          <a:p>
            <a:pPr marL="12700">
              <a:lnSpc>
                <a:spcPct val="100000"/>
              </a:lnSpc>
              <a:spcBef>
                <a:spcPts val="1070"/>
              </a:spcBef>
              <a:tabLst>
                <a:tab pos="326390" algn="l"/>
              </a:tabLst>
            </a:pPr>
            <a:r>
              <a:rPr dirty="0" sz="1800" spc="-50">
                <a:latin typeface="Times New Roman"/>
                <a:cs typeface="Times New Roman"/>
              </a:rPr>
              <a:t>0</a:t>
            </a:r>
            <a:r>
              <a:rPr dirty="0" sz="1800">
                <a:latin typeface="Times New Roman"/>
                <a:cs typeface="Times New Roman"/>
              </a:rPr>
              <a:t>	</a:t>
            </a:r>
            <a:r>
              <a:rPr dirty="0" sz="1800" spc="-60">
                <a:latin typeface="Times New Roman"/>
                <a:cs typeface="Times New Roman"/>
              </a:rPr>
              <a:t>001</a:t>
            </a:r>
            <a:endParaRPr sz="1800">
              <a:latin typeface="Times New Roman"/>
              <a:cs typeface="Times New Roman"/>
            </a:endParaRPr>
          </a:p>
        </p:txBody>
      </p:sp>
      <p:sp>
        <p:nvSpPr>
          <p:cNvPr id="22" name="object 22" descr=""/>
          <p:cNvSpPr/>
          <p:nvPr/>
        </p:nvSpPr>
        <p:spPr>
          <a:xfrm>
            <a:off x="5368416" y="1047593"/>
            <a:ext cx="290830" cy="315595"/>
          </a:xfrm>
          <a:custGeom>
            <a:avLst/>
            <a:gdLst/>
            <a:ahLst/>
            <a:cxnLst/>
            <a:rect l="l" t="t" r="r" b="b"/>
            <a:pathLst>
              <a:path w="290829" h="315594">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23" name="object 23" descr=""/>
          <p:cNvSpPr/>
          <p:nvPr/>
        </p:nvSpPr>
        <p:spPr>
          <a:xfrm>
            <a:off x="5368416" y="1463409"/>
            <a:ext cx="290830" cy="314960"/>
          </a:xfrm>
          <a:custGeom>
            <a:avLst/>
            <a:gdLst/>
            <a:ahLst/>
            <a:cxnLst/>
            <a:rect l="l" t="t" r="r" b="b"/>
            <a:pathLst>
              <a:path w="290829" h="314960">
                <a:moveTo>
                  <a:pt x="0" y="314939"/>
                </a:moveTo>
                <a:lnTo>
                  <a:pt x="290737" y="314939"/>
                </a:lnTo>
                <a:lnTo>
                  <a:pt x="290737" y="0"/>
                </a:lnTo>
                <a:lnTo>
                  <a:pt x="0" y="0"/>
                </a:lnTo>
                <a:lnTo>
                  <a:pt x="0" y="314939"/>
                </a:lnTo>
                <a:close/>
              </a:path>
            </a:pathLst>
          </a:custGeom>
          <a:ln w="19701">
            <a:solidFill>
              <a:srgbClr val="000000"/>
            </a:solidFill>
          </a:ln>
        </p:spPr>
        <p:txBody>
          <a:bodyPr wrap="square" lIns="0" tIns="0" rIns="0" bIns="0" rtlCol="0"/>
          <a:lstStyle/>
          <a:p/>
        </p:txBody>
      </p:sp>
      <p:sp>
        <p:nvSpPr>
          <p:cNvPr id="24" name="object 24" descr=""/>
          <p:cNvSpPr txBox="1"/>
          <p:nvPr/>
        </p:nvSpPr>
        <p:spPr>
          <a:xfrm>
            <a:off x="5436495" y="2185391"/>
            <a:ext cx="635635" cy="304165"/>
          </a:xfrm>
          <a:prstGeom prst="rect">
            <a:avLst/>
          </a:prstGeom>
        </p:spPr>
        <p:txBody>
          <a:bodyPr wrap="square" lIns="0" tIns="15875" rIns="0" bIns="0" rtlCol="0" vert="horz">
            <a:spAutoFit/>
          </a:bodyPr>
          <a:lstStyle/>
          <a:p>
            <a:pPr marL="12700">
              <a:lnSpc>
                <a:spcPct val="100000"/>
              </a:lnSpc>
              <a:spcBef>
                <a:spcPts val="125"/>
              </a:spcBef>
              <a:tabLst>
                <a:tab pos="326390" algn="l"/>
              </a:tabLst>
            </a:pPr>
            <a:r>
              <a:rPr dirty="0" sz="1800" spc="-50">
                <a:latin typeface="Times New Roman"/>
                <a:cs typeface="Times New Roman"/>
              </a:rPr>
              <a:t>0</a:t>
            </a:r>
            <a:r>
              <a:rPr dirty="0" sz="1800">
                <a:latin typeface="Times New Roman"/>
                <a:cs typeface="Times New Roman"/>
              </a:rPr>
              <a:t>	</a:t>
            </a:r>
            <a:r>
              <a:rPr dirty="0" sz="1800" spc="-114">
                <a:latin typeface="Times New Roman"/>
                <a:cs typeface="Times New Roman"/>
              </a:rPr>
              <a:t>111</a:t>
            </a:r>
            <a:endParaRPr sz="1800">
              <a:latin typeface="Times New Roman"/>
              <a:cs typeface="Times New Roman"/>
            </a:endParaRPr>
          </a:p>
        </p:txBody>
      </p:sp>
      <p:sp>
        <p:nvSpPr>
          <p:cNvPr id="25" name="object 25" descr=""/>
          <p:cNvSpPr/>
          <p:nvPr/>
        </p:nvSpPr>
        <p:spPr>
          <a:xfrm>
            <a:off x="5368416" y="2194038"/>
            <a:ext cx="290830" cy="314960"/>
          </a:xfrm>
          <a:custGeom>
            <a:avLst/>
            <a:gdLst/>
            <a:ahLst/>
            <a:cxnLst/>
            <a:rect l="l" t="t" r="r" b="b"/>
            <a:pathLst>
              <a:path w="290829" h="314960">
                <a:moveTo>
                  <a:pt x="0" y="314939"/>
                </a:moveTo>
                <a:lnTo>
                  <a:pt x="290737" y="314939"/>
                </a:lnTo>
                <a:lnTo>
                  <a:pt x="290737" y="0"/>
                </a:lnTo>
                <a:lnTo>
                  <a:pt x="0" y="0"/>
                </a:lnTo>
                <a:lnTo>
                  <a:pt x="0" y="314939"/>
                </a:lnTo>
                <a:close/>
              </a:path>
            </a:pathLst>
          </a:custGeom>
          <a:ln w="19701">
            <a:solidFill>
              <a:srgbClr val="000000"/>
            </a:solidFill>
          </a:ln>
        </p:spPr>
        <p:txBody>
          <a:bodyPr wrap="square" lIns="0" tIns="0" rIns="0" bIns="0" rtlCol="0"/>
          <a:lstStyle/>
          <a:p/>
        </p:txBody>
      </p:sp>
      <p:sp>
        <p:nvSpPr>
          <p:cNvPr id="26" name="object 26" descr=""/>
          <p:cNvSpPr txBox="1"/>
          <p:nvPr/>
        </p:nvSpPr>
        <p:spPr>
          <a:xfrm>
            <a:off x="5621738" y="1818181"/>
            <a:ext cx="269875" cy="294640"/>
          </a:xfrm>
          <a:prstGeom prst="rect">
            <a:avLst/>
          </a:prstGeom>
        </p:spPr>
        <p:txBody>
          <a:bodyPr wrap="square" lIns="0" tIns="0" rIns="0" bIns="0" rtlCol="0" vert="vert">
            <a:spAutoFit/>
          </a:bodyPr>
          <a:lstStyle/>
          <a:p>
            <a:pPr marL="12700">
              <a:lnSpc>
                <a:spcPts val="2120"/>
              </a:lnSpc>
            </a:pPr>
            <a:r>
              <a:rPr dirty="0" sz="1900" spc="155">
                <a:latin typeface="宋体"/>
                <a:cs typeface="宋体"/>
              </a:rPr>
              <a:t>…</a:t>
            </a:r>
            <a:endParaRPr sz="1900">
              <a:latin typeface="宋体"/>
              <a:cs typeface="宋体"/>
            </a:endParaRPr>
          </a:p>
        </p:txBody>
      </p:sp>
      <p:sp>
        <p:nvSpPr>
          <p:cNvPr id="27" name="object 27" descr=""/>
          <p:cNvSpPr/>
          <p:nvPr/>
        </p:nvSpPr>
        <p:spPr>
          <a:xfrm>
            <a:off x="5115721" y="1069037"/>
            <a:ext cx="143510" cy="1419860"/>
          </a:xfrm>
          <a:custGeom>
            <a:avLst/>
            <a:gdLst/>
            <a:ahLst/>
            <a:cxnLst/>
            <a:rect l="l" t="t" r="r" b="b"/>
            <a:pathLst>
              <a:path w="143510" h="1419860">
                <a:moveTo>
                  <a:pt x="143147" y="0"/>
                </a:moveTo>
                <a:lnTo>
                  <a:pt x="128879" y="0"/>
                </a:lnTo>
                <a:lnTo>
                  <a:pt x="114610" y="10404"/>
                </a:lnTo>
                <a:lnTo>
                  <a:pt x="100341" y="20556"/>
                </a:lnTo>
                <a:lnTo>
                  <a:pt x="90675" y="36797"/>
                </a:lnTo>
                <a:lnTo>
                  <a:pt x="81009" y="52532"/>
                </a:lnTo>
                <a:lnTo>
                  <a:pt x="76406" y="73088"/>
                </a:lnTo>
                <a:lnTo>
                  <a:pt x="71343" y="94405"/>
                </a:lnTo>
                <a:lnTo>
                  <a:pt x="71343" y="120798"/>
                </a:lnTo>
                <a:lnTo>
                  <a:pt x="71343" y="588512"/>
                </a:lnTo>
                <a:lnTo>
                  <a:pt x="66740" y="614651"/>
                </a:lnTo>
                <a:lnTo>
                  <a:pt x="57075" y="656779"/>
                </a:lnTo>
                <a:lnTo>
                  <a:pt x="23934" y="699160"/>
                </a:lnTo>
                <a:lnTo>
                  <a:pt x="0" y="709311"/>
                </a:lnTo>
                <a:lnTo>
                  <a:pt x="14268" y="709311"/>
                </a:lnTo>
                <a:lnTo>
                  <a:pt x="23934" y="719970"/>
                </a:lnTo>
                <a:lnTo>
                  <a:pt x="38203" y="730628"/>
                </a:lnTo>
                <a:lnTo>
                  <a:pt x="47869" y="741287"/>
                </a:lnTo>
                <a:lnTo>
                  <a:pt x="57075" y="761843"/>
                </a:lnTo>
                <a:lnTo>
                  <a:pt x="66740" y="783160"/>
                </a:lnTo>
                <a:lnTo>
                  <a:pt x="66740" y="803717"/>
                </a:lnTo>
                <a:lnTo>
                  <a:pt x="71343" y="825034"/>
                </a:lnTo>
                <a:lnTo>
                  <a:pt x="71343" y="1298331"/>
                </a:lnTo>
                <a:lnTo>
                  <a:pt x="71343" y="1324724"/>
                </a:lnTo>
                <a:lnTo>
                  <a:pt x="76406" y="1345534"/>
                </a:lnTo>
                <a:lnTo>
                  <a:pt x="81009" y="1366598"/>
                </a:lnTo>
                <a:lnTo>
                  <a:pt x="90675" y="1382332"/>
                </a:lnTo>
                <a:lnTo>
                  <a:pt x="100341" y="1398066"/>
                </a:lnTo>
                <a:lnTo>
                  <a:pt x="114610" y="1408725"/>
                </a:lnTo>
                <a:lnTo>
                  <a:pt x="128879" y="1413547"/>
                </a:lnTo>
                <a:lnTo>
                  <a:pt x="143147" y="1419384"/>
                </a:lnTo>
              </a:path>
            </a:pathLst>
          </a:custGeom>
          <a:ln w="18831">
            <a:solidFill>
              <a:srgbClr val="000000"/>
            </a:solidFill>
          </a:ln>
        </p:spPr>
        <p:txBody>
          <a:bodyPr wrap="square" lIns="0" tIns="0" rIns="0" bIns="0" rtlCol="0"/>
          <a:lstStyle/>
          <a:p/>
        </p:txBody>
      </p:sp>
      <p:sp>
        <p:nvSpPr>
          <p:cNvPr id="28" name="object 28" descr=""/>
          <p:cNvSpPr txBox="1"/>
          <p:nvPr/>
        </p:nvSpPr>
        <p:spPr>
          <a:xfrm>
            <a:off x="4855159" y="3289836"/>
            <a:ext cx="235585" cy="304165"/>
          </a:xfrm>
          <a:prstGeom prst="rect">
            <a:avLst/>
          </a:prstGeom>
        </p:spPr>
        <p:txBody>
          <a:bodyPr wrap="square" lIns="0" tIns="15875" rIns="0" bIns="0" rtlCol="0" vert="horz">
            <a:spAutoFit/>
          </a:bodyPr>
          <a:lstStyle/>
          <a:p>
            <a:pPr marL="12700">
              <a:lnSpc>
                <a:spcPct val="100000"/>
              </a:lnSpc>
              <a:spcBef>
                <a:spcPts val="125"/>
              </a:spcBef>
            </a:pPr>
            <a:r>
              <a:rPr dirty="0" sz="1800" spc="-55" b="1">
                <a:solidFill>
                  <a:srgbClr val="FF6600"/>
                </a:solidFill>
                <a:latin typeface="Times New Roman"/>
                <a:cs typeface="Times New Roman"/>
              </a:rPr>
              <a:t>64</a:t>
            </a:r>
            <a:endParaRPr sz="1800">
              <a:latin typeface="Times New Roman"/>
              <a:cs typeface="Times New Roman"/>
            </a:endParaRPr>
          </a:p>
        </p:txBody>
      </p:sp>
      <p:sp>
        <p:nvSpPr>
          <p:cNvPr id="29" name="object 29" descr=""/>
          <p:cNvSpPr/>
          <p:nvPr/>
        </p:nvSpPr>
        <p:spPr>
          <a:xfrm>
            <a:off x="5368416" y="2624827"/>
            <a:ext cx="290830" cy="315595"/>
          </a:xfrm>
          <a:custGeom>
            <a:avLst/>
            <a:gdLst/>
            <a:ahLst/>
            <a:cxnLst/>
            <a:rect l="l" t="t" r="r" b="b"/>
            <a:pathLst>
              <a:path w="290829" h="315594">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30" name="object 30" descr=""/>
          <p:cNvSpPr/>
          <p:nvPr/>
        </p:nvSpPr>
        <p:spPr>
          <a:xfrm>
            <a:off x="5368416" y="3040009"/>
            <a:ext cx="290830" cy="315595"/>
          </a:xfrm>
          <a:custGeom>
            <a:avLst/>
            <a:gdLst/>
            <a:ahLst/>
            <a:cxnLst/>
            <a:rect l="l" t="t" r="r" b="b"/>
            <a:pathLst>
              <a:path w="290829" h="315595">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31" name="object 31" descr=""/>
          <p:cNvSpPr/>
          <p:nvPr/>
        </p:nvSpPr>
        <p:spPr>
          <a:xfrm>
            <a:off x="5368416" y="3923387"/>
            <a:ext cx="290830" cy="315595"/>
          </a:xfrm>
          <a:custGeom>
            <a:avLst/>
            <a:gdLst/>
            <a:ahLst/>
            <a:cxnLst/>
            <a:rect l="l" t="t" r="r" b="b"/>
            <a:pathLst>
              <a:path w="290829" h="315595">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32" name="object 32" descr=""/>
          <p:cNvSpPr txBox="1"/>
          <p:nvPr/>
        </p:nvSpPr>
        <p:spPr>
          <a:xfrm>
            <a:off x="5959815" y="3474340"/>
            <a:ext cx="269875" cy="294640"/>
          </a:xfrm>
          <a:prstGeom prst="rect">
            <a:avLst/>
          </a:prstGeom>
        </p:spPr>
        <p:txBody>
          <a:bodyPr wrap="square" lIns="0" tIns="0" rIns="0" bIns="0" rtlCol="0" vert="vert">
            <a:spAutoFit/>
          </a:bodyPr>
          <a:lstStyle/>
          <a:p>
            <a:pPr marL="12700">
              <a:lnSpc>
                <a:spcPts val="2120"/>
              </a:lnSpc>
            </a:pPr>
            <a:r>
              <a:rPr dirty="0" sz="1900" spc="155">
                <a:latin typeface="宋体"/>
                <a:cs typeface="宋体"/>
              </a:rPr>
              <a:t>…</a:t>
            </a:r>
            <a:endParaRPr sz="1900">
              <a:latin typeface="宋体"/>
              <a:cs typeface="宋体"/>
            </a:endParaRPr>
          </a:p>
        </p:txBody>
      </p:sp>
      <p:sp>
        <p:nvSpPr>
          <p:cNvPr id="33" name="object 33" descr=""/>
          <p:cNvSpPr/>
          <p:nvPr/>
        </p:nvSpPr>
        <p:spPr>
          <a:xfrm>
            <a:off x="6145372" y="2624827"/>
            <a:ext cx="290830" cy="315595"/>
          </a:xfrm>
          <a:custGeom>
            <a:avLst/>
            <a:gdLst/>
            <a:ahLst/>
            <a:cxnLst/>
            <a:rect l="l" t="t" r="r" b="b"/>
            <a:pathLst>
              <a:path w="290829" h="315594">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34" name="object 34" descr=""/>
          <p:cNvSpPr/>
          <p:nvPr/>
        </p:nvSpPr>
        <p:spPr>
          <a:xfrm>
            <a:off x="6145372" y="3040009"/>
            <a:ext cx="290830" cy="315595"/>
          </a:xfrm>
          <a:custGeom>
            <a:avLst/>
            <a:gdLst/>
            <a:ahLst/>
            <a:cxnLst/>
            <a:rect l="l" t="t" r="r" b="b"/>
            <a:pathLst>
              <a:path w="290829" h="315595">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35" name="object 35" descr=""/>
          <p:cNvSpPr/>
          <p:nvPr/>
        </p:nvSpPr>
        <p:spPr>
          <a:xfrm>
            <a:off x="6145372" y="3923387"/>
            <a:ext cx="290830" cy="315595"/>
          </a:xfrm>
          <a:custGeom>
            <a:avLst/>
            <a:gdLst/>
            <a:ahLst/>
            <a:cxnLst/>
            <a:rect l="l" t="t" r="r" b="b"/>
            <a:pathLst>
              <a:path w="290829" h="315595">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graphicFrame>
        <p:nvGraphicFramePr>
          <p:cNvPr id="36" name="object 36" descr=""/>
          <p:cNvGraphicFramePr>
            <a:graphicFrameLocks noGrp="1"/>
          </p:cNvGraphicFramePr>
          <p:nvPr/>
        </p:nvGraphicFramePr>
        <p:xfrm>
          <a:off x="5339962" y="2535142"/>
          <a:ext cx="1634489" cy="1707514"/>
        </p:xfrm>
        <a:graphic>
          <a:graphicData uri="http://schemas.openxmlformats.org/drawingml/2006/table">
            <a:tbl>
              <a:tblPr firstRow="1" bandRow="1">
                <a:tableStyleId>{2D5ABB26-0587-4C30-8999-92F81FD0307C}</a:tableStyleId>
              </a:tblPr>
              <a:tblGrid>
                <a:gridCol w="309245"/>
                <a:gridCol w="433070"/>
                <a:gridCol w="344170"/>
                <a:gridCol w="452119"/>
              </a:tblGrid>
              <a:tr h="426720">
                <a:tc>
                  <a:txBody>
                    <a:bodyPr/>
                    <a:lstStyle/>
                    <a:p>
                      <a:pPr algn="ctr">
                        <a:lnSpc>
                          <a:spcPct val="100000"/>
                        </a:lnSpc>
                        <a:spcBef>
                          <a:spcPts val="560"/>
                        </a:spcBef>
                      </a:pPr>
                      <a:r>
                        <a:rPr dirty="0" sz="1800" spc="-50">
                          <a:latin typeface="Times New Roman"/>
                          <a:cs typeface="Times New Roman"/>
                        </a:rPr>
                        <a:t>1</a:t>
                      </a:r>
                      <a:endParaRPr sz="1800">
                        <a:latin typeface="Times New Roman"/>
                        <a:cs typeface="Times New Roman"/>
                      </a:endParaRPr>
                    </a:p>
                  </a:txBody>
                  <a:tcPr marL="0" marR="0" marB="0" marT="71120">
                    <a:lnL w="19050">
                      <a:solidFill>
                        <a:srgbClr val="ED0000"/>
                      </a:solidFill>
                      <a:prstDash val="solid"/>
                    </a:lnL>
                    <a:lnT w="19050">
                      <a:solidFill>
                        <a:srgbClr val="ED0000"/>
                      </a:solidFill>
                      <a:prstDash val="solid"/>
                    </a:lnT>
                  </a:tcPr>
                </a:tc>
                <a:tc>
                  <a:txBody>
                    <a:bodyPr/>
                    <a:lstStyle/>
                    <a:p>
                      <a:pPr algn="ctr" marL="91440">
                        <a:lnSpc>
                          <a:spcPct val="100000"/>
                        </a:lnSpc>
                        <a:spcBef>
                          <a:spcPts val="560"/>
                        </a:spcBef>
                      </a:pPr>
                      <a:r>
                        <a:rPr dirty="0" sz="1800" spc="-20">
                          <a:latin typeface="Times New Roman"/>
                          <a:cs typeface="Times New Roman"/>
                        </a:rPr>
                        <a:t>000</a:t>
                      </a:r>
                      <a:endParaRPr sz="1800">
                        <a:latin typeface="Times New Roman"/>
                        <a:cs typeface="Times New Roman"/>
                      </a:endParaRPr>
                    </a:p>
                  </a:txBody>
                  <a:tcPr marL="0" marR="0" marB="0" marT="71120">
                    <a:lnR w="28575">
                      <a:solidFill>
                        <a:srgbClr val="FF0000"/>
                      </a:solidFill>
                      <a:prstDash val="solid"/>
                    </a:lnR>
                    <a:lnT w="19050">
                      <a:solidFill>
                        <a:srgbClr val="ED0000"/>
                      </a:solidFill>
                      <a:prstDash val="solid"/>
                    </a:lnT>
                  </a:tcPr>
                </a:tc>
                <a:tc>
                  <a:txBody>
                    <a:bodyPr/>
                    <a:lstStyle/>
                    <a:p>
                      <a:pPr algn="ctr" marL="29845">
                        <a:lnSpc>
                          <a:spcPct val="100000"/>
                        </a:lnSpc>
                        <a:spcBef>
                          <a:spcPts val="560"/>
                        </a:spcBef>
                      </a:pPr>
                      <a:r>
                        <a:rPr dirty="0" sz="1800" spc="-50">
                          <a:latin typeface="Times New Roman"/>
                          <a:cs typeface="Times New Roman"/>
                        </a:rPr>
                        <a:t>0</a:t>
                      </a:r>
                      <a:endParaRPr sz="1800">
                        <a:latin typeface="Times New Roman"/>
                        <a:cs typeface="Times New Roman"/>
                      </a:endParaRPr>
                    </a:p>
                  </a:txBody>
                  <a:tcPr marL="0" marR="0" marB="0" marT="71120">
                    <a:lnL w="28575">
                      <a:solidFill>
                        <a:srgbClr val="FF0000"/>
                      </a:solidFill>
                      <a:prstDash val="solid"/>
                    </a:lnL>
                    <a:lnT w="19050">
                      <a:solidFill>
                        <a:srgbClr val="FF0000"/>
                      </a:solidFill>
                      <a:prstDash val="solid"/>
                    </a:lnT>
                  </a:tcPr>
                </a:tc>
                <a:tc>
                  <a:txBody>
                    <a:bodyPr/>
                    <a:lstStyle/>
                    <a:p>
                      <a:pPr algn="ctr" marL="72390">
                        <a:lnSpc>
                          <a:spcPct val="100000"/>
                        </a:lnSpc>
                        <a:spcBef>
                          <a:spcPts val="560"/>
                        </a:spcBef>
                      </a:pPr>
                      <a:r>
                        <a:rPr dirty="0" sz="1800" spc="-25">
                          <a:latin typeface="Times New Roman"/>
                          <a:cs typeface="Times New Roman"/>
                        </a:rPr>
                        <a:t>000</a:t>
                      </a:r>
                      <a:endParaRPr sz="1800">
                        <a:latin typeface="Times New Roman"/>
                        <a:cs typeface="Times New Roman"/>
                      </a:endParaRPr>
                    </a:p>
                  </a:txBody>
                  <a:tcPr marL="0" marR="0" marB="0" marT="71120">
                    <a:lnR w="19050">
                      <a:solidFill>
                        <a:srgbClr val="FF0000"/>
                      </a:solidFill>
                      <a:prstDash val="solid"/>
                    </a:lnR>
                    <a:lnT w="19050">
                      <a:solidFill>
                        <a:srgbClr val="FF0000"/>
                      </a:solidFill>
                      <a:prstDash val="solid"/>
                    </a:lnT>
                  </a:tcPr>
                </a:tc>
              </a:tr>
              <a:tr h="648970">
                <a:tc>
                  <a:txBody>
                    <a:bodyPr/>
                    <a:lstStyle/>
                    <a:p>
                      <a:pPr algn="ctr">
                        <a:lnSpc>
                          <a:spcPct val="100000"/>
                        </a:lnSpc>
                        <a:spcBef>
                          <a:spcPts val="430"/>
                        </a:spcBef>
                      </a:pPr>
                      <a:r>
                        <a:rPr dirty="0" sz="1800" spc="-50">
                          <a:latin typeface="Times New Roman"/>
                          <a:cs typeface="Times New Roman"/>
                        </a:rPr>
                        <a:t>1</a:t>
                      </a:r>
                      <a:endParaRPr sz="1800">
                        <a:latin typeface="Times New Roman"/>
                        <a:cs typeface="Times New Roman"/>
                      </a:endParaRPr>
                    </a:p>
                  </a:txBody>
                  <a:tcPr marL="0" marR="0" marB="0" marT="54610">
                    <a:lnL w="19050">
                      <a:solidFill>
                        <a:srgbClr val="ED0000"/>
                      </a:solidFill>
                      <a:prstDash val="solid"/>
                    </a:lnL>
                  </a:tcPr>
                </a:tc>
                <a:tc>
                  <a:txBody>
                    <a:bodyPr/>
                    <a:lstStyle/>
                    <a:p>
                      <a:pPr algn="ctr" marL="91440">
                        <a:lnSpc>
                          <a:spcPct val="100000"/>
                        </a:lnSpc>
                        <a:spcBef>
                          <a:spcPts val="430"/>
                        </a:spcBef>
                      </a:pPr>
                      <a:r>
                        <a:rPr dirty="0" sz="1800" spc="-20">
                          <a:latin typeface="Times New Roman"/>
                          <a:cs typeface="Times New Roman"/>
                        </a:rPr>
                        <a:t>000</a:t>
                      </a:r>
                      <a:endParaRPr sz="1800">
                        <a:latin typeface="Times New Roman"/>
                        <a:cs typeface="Times New Roman"/>
                      </a:endParaRPr>
                    </a:p>
                  </a:txBody>
                  <a:tcPr marL="0" marR="0" marB="0" marT="54610">
                    <a:lnR w="28575">
                      <a:solidFill>
                        <a:srgbClr val="FF0000"/>
                      </a:solidFill>
                      <a:prstDash val="solid"/>
                    </a:lnR>
                  </a:tcPr>
                </a:tc>
                <a:tc>
                  <a:txBody>
                    <a:bodyPr/>
                    <a:lstStyle/>
                    <a:p>
                      <a:pPr algn="ctr" marL="29845">
                        <a:lnSpc>
                          <a:spcPct val="100000"/>
                        </a:lnSpc>
                        <a:spcBef>
                          <a:spcPts val="430"/>
                        </a:spcBef>
                      </a:pPr>
                      <a:r>
                        <a:rPr dirty="0" sz="1800" spc="-50">
                          <a:latin typeface="Times New Roman"/>
                          <a:cs typeface="Times New Roman"/>
                        </a:rPr>
                        <a:t>0</a:t>
                      </a:r>
                      <a:endParaRPr sz="1800">
                        <a:latin typeface="Times New Roman"/>
                        <a:cs typeface="Times New Roman"/>
                      </a:endParaRPr>
                    </a:p>
                  </a:txBody>
                  <a:tcPr marL="0" marR="0" marB="0" marT="54610">
                    <a:lnL w="28575">
                      <a:solidFill>
                        <a:srgbClr val="FF0000"/>
                      </a:solidFill>
                      <a:prstDash val="solid"/>
                    </a:lnL>
                  </a:tcPr>
                </a:tc>
                <a:tc>
                  <a:txBody>
                    <a:bodyPr/>
                    <a:lstStyle/>
                    <a:p>
                      <a:pPr algn="ctr" marL="72390">
                        <a:lnSpc>
                          <a:spcPct val="100000"/>
                        </a:lnSpc>
                        <a:spcBef>
                          <a:spcPts val="430"/>
                        </a:spcBef>
                      </a:pPr>
                      <a:r>
                        <a:rPr dirty="0" sz="1800" spc="-25">
                          <a:latin typeface="Times New Roman"/>
                          <a:cs typeface="Times New Roman"/>
                        </a:rPr>
                        <a:t>001</a:t>
                      </a:r>
                      <a:endParaRPr sz="1800">
                        <a:latin typeface="Times New Roman"/>
                        <a:cs typeface="Times New Roman"/>
                      </a:endParaRPr>
                    </a:p>
                  </a:txBody>
                  <a:tcPr marL="0" marR="0" marB="0" marT="54610">
                    <a:lnR w="19050">
                      <a:solidFill>
                        <a:srgbClr val="FF0000"/>
                      </a:solidFill>
                      <a:prstDash val="solid"/>
                    </a:lnR>
                  </a:tcPr>
                </a:tc>
              </a:tr>
              <a:tr h="631825">
                <a:tc>
                  <a:txBody>
                    <a:bodyPr/>
                    <a:lstStyle/>
                    <a:p>
                      <a:pPr>
                        <a:lnSpc>
                          <a:spcPct val="100000"/>
                        </a:lnSpc>
                        <a:spcBef>
                          <a:spcPts val="240"/>
                        </a:spcBef>
                      </a:pPr>
                      <a:endParaRPr sz="1800">
                        <a:latin typeface="Times New Roman"/>
                        <a:cs typeface="Times New Roman"/>
                      </a:endParaRPr>
                    </a:p>
                    <a:p>
                      <a:pPr algn="ctr">
                        <a:lnSpc>
                          <a:spcPct val="100000"/>
                        </a:lnSpc>
                        <a:spcBef>
                          <a:spcPts val="5"/>
                        </a:spcBef>
                      </a:pPr>
                      <a:r>
                        <a:rPr dirty="0" sz="1800" spc="-50">
                          <a:latin typeface="Times New Roman"/>
                          <a:cs typeface="Times New Roman"/>
                        </a:rPr>
                        <a:t>1</a:t>
                      </a:r>
                      <a:endParaRPr sz="1800">
                        <a:latin typeface="Times New Roman"/>
                        <a:cs typeface="Times New Roman"/>
                      </a:endParaRPr>
                    </a:p>
                  </a:txBody>
                  <a:tcPr marL="0" marR="0" marB="0" marT="30480">
                    <a:lnL w="19050">
                      <a:solidFill>
                        <a:srgbClr val="ED0000"/>
                      </a:solidFill>
                      <a:prstDash val="solid"/>
                    </a:lnL>
                    <a:lnB w="76200">
                      <a:solidFill>
                        <a:srgbClr val="ED0000"/>
                      </a:solidFill>
                      <a:prstDash val="solid"/>
                    </a:lnB>
                  </a:tcPr>
                </a:tc>
                <a:tc>
                  <a:txBody>
                    <a:bodyPr/>
                    <a:lstStyle/>
                    <a:p>
                      <a:pPr>
                        <a:lnSpc>
                          <a:spcPct val="100000"/>
                        </a:lnSpc>
                        <a:spcBef>
                          <a:spcPts val="240"/>
                        </a:spcBef>
                      </a:pPr>
                      <a:endParaRPr sz="1800">
                        <a:latin typeface="Times New Roman"/>
                        <a:cs typeface="Times New Roman"/>
                      </a:endParaRPr>
                    </a:p>
                    <a:p>
                      <a:pPr algn="ctr" marL="71755">
                        <a:lnSpc>
                          <a:spcPct val="100000"/>
                        </a:lnSpc>
                        <a:spcBef>
                          <a:spcPts val="5"/>
                        </a:spcBef>
                      </a:pPr>
                      <a:r>
                        <a:rPr dirty="0" sz="1800" spc="-25">
                          <a:latin typeface="Times New Roman"/>
                          <a:cs typeface="Times New Roman"/>
                        </a:rPr>
                        <a:t>111</a:t>
                      </a:r>
                      <a:endParaRPr sz="1800">
                        <a:latin typeface="Times New Roman"/>
                        <a:cs typeface="Times New Roman"/>
                      </a:endParaRPr>
                    </a:p>
                  </a:txBody>
                  <a:tcPr marL="0" marR="0" marB="0" marT="30480">
                    <a:lnR w="28575">
                      <a:solidFill>
                        <a:srgbClr val="FF0000"/>
                      </a:solidFill>
                      <a:prstDash val="solid"/>
                    </a:lnR>
                    <a:lnB w="76200">
                      <a:solidFill>
                        <a:srgbClr val="ED0000"/>
                      </a:solidFill>
                      <a:prstDash val="solid"/>
                    </a:lnB>
                  </a:tcPr>
                </a:tc>
                <a:tc>
                  <a:txBody>
                    <a:bodyPr/>
                    <a:lstStyle/>
                    <a:p>
                      <a:pPr>
                        <a:lnSpc>
                          <a:spcPct val="100000"/>
                        </a:lnSpc>
                        <a:spcBef>
                          <a:spcPts val="240"/>
                        </a:spcBef>
                      </a:pPr>
                      <a:endParaRPr sz="1800">
                        <a:latin typeface="Times New Roman"/>
                        <a:cs typeface="Times New Roman"/>
                      </a:endParaRPr>
                    </a:p>
                    <a:p>
                      <a:pPr algn="ctr" marL="29845">
                        <a:lnSpc>
                          <a:spcPct val="100000"/>
                        </a:lnSpc>
                        <a:spcBef>
                          <a:spcPts val="5"/>
                        </a:spcBef>
                      </a:pPr>
                      <a:r>
                        <a:rPr dirty="0" sz="1800" spc="-50">
                          <a:latin typeface="Times New Roman"/>
                          <a:cs typeface="Times New Roman"/>
                        </a:rPr>
                        <a:t>0</a:t>
                      </a:r>
                      <a:endParaRPr sz="1800">
                        <a:latin typeface="Times New Roman"/>
                        <a:cs typeface="Times New Roman"/>
                      </a:endParaRPr>
                    </a:p>
                  </a:txBody>
                  <a:tcPr marL="0" marR="0" marB="0" marT="30480">
                    <a:lnL w="28575">
                      <a:solidFill>
                        <a:srgbClr val="FF0000"/>
                      </a:solidFill>
                      <a:prstDash val="solid"/>
                    </a:lnL>
                    <a:lnB w="19050">
                      <a:solidFill>
                        <a:srgbClr val="FF0000"/>
                      </a:solidFill>
                      <a:prstDash val="solid"/>
                    </a:lnB>
                  </a:tcPr>
                </a:tc>
                <a:tc>
                  <a:txBody>
                    <a:bodyPr/>
                    <a:lstStyle/>
                    <a:p>
                      <a:pPr>
                        <a:lnSpc>
                          <a:spcPct val="100000"/>
                        </a:lnSpc>
                        <a:spcBef>
                          <a:spcPts val="240"/>
                        </a:spcBef>
                      </a:pPr>
                      <a:endParaRPr sz="1800">
                        <a:latin typeface="Times New Roman"/>
                        <a:cs typeface="Times New Roman"/>
                      </a:endParaRPr>
                    </a:p>
                    <a:p>
                      <a:pPr algn="ctr" marL="52705">
                        <a:lnSpc>
                          <a:spcPct val="100000"/>
                        </a:lnSpc>
                        <a:spcBef>
                          <a:spcPts val="5"/>
                        </a:spcBef>
                      </a:pPr>
                      <a:r>
                        <a:rPr dirty="0" sz="1800" spc="-25">
                          <a:latin typeface="Times New Roman"/>
                          <a:cs typeface="Times New Roman"/>
                        </a:rPr>
                        <a:t>111</a:t>
                      </a:r>
                      <a:endParaRPr sz="1800">
                        <a:latin typeface="Times New Roman"/>
                        <a:cs typeface="Times New Roman"/>
                      </a:endParaRPr>
                    </a:p>
                  </a:txBody>
                  <a:tcPr marL="0" marR="0" marB="0" marT="30480">
                    <a:lnR w="19050">
                      <a:solidFill>
                        <a:srgbClr val="FF0000"/>
                      </a:solidFill>
                      <a:prstDash val="solid"/>
                    </a:lnR>
                    <a:lnB w="19050">
                      <a:solidFill>
                        <a:srgbClr val="FF0000"/>
                      </a:solidFill>
                      <a:prstDash val="solid"/>
                    </a:lnB>
                  </a:tcPr>
                </a:tc>
              </a:tr>
            </a:tbl>
          </a:graphicData>
        </a:graphic>
      </p:graphicFrame>
      <p:sp>
        <p:nvSpPr>
          <p:cNvPr id="37" name="object 37" descr=""/>
          <p:cNvSpPr/>
          <p:nvPr/>
        </p:nvSpPr>
        <p:spPr>
          <a:xfrm>
            <a:off x="5115721" y="4375468"/>
            <a:ext cx="143510" cy="1577340"/>
          </a:xfrm>
          <a:custGeom>
            <a:avLst/>
            <a:gdLst/>
            <a:ahLst/>
            <a:cxnLst/>
            <a:rect l="l" t="t" r="r" b="b"/>
            <a:pathLst>
              <a:path w="143510" h="1577339">
                <a:moveTo>
                  <a:pt x="143147" y="0"/>
                </a:moveTo>
                <a:lnTo>
                  <a:pt x="133481" y="0"/>
                </a:lnTo>
                <a:lnTo>
                  <a:pt x="128879" y="4999"/>
                </a:lnTo>
                <a:lnTo>
                  <a:pt x="114610" y="10633"/>
                </a:lnTo>
                <a:lnTo>
                  <a:pt x="100341" y="26291"/>
                </a:lnTo>
                <a:lnTo>
                  <a:pt x="90675" y="41949"/>
                </a:lnTo>
                <a:lnTo>
                  <a:pt x="81009" y="57607"/>
                </a:lnTo>
                <a:lnTo>
                  <a:pt x="76406" y="83899"/>
                </a:lnTo>
                <a:lnTo>
                  <a:pt x="71343" y="105191"/>
                </a:lnTo>
                <a:lnTo>
                  <a:pt x="71343" y="131482"/>
                </a:lnTo>
                <a:lnTo>
                  <a:pt x="71343" y="657413"/>
                </a:lnTo>
                <a:lnTo>
                  <a:pt x="66740" y="683730"/>
                </a:lnTo>
                <a:lnTo>
                  <a:pt x="66740" y="710021"/>
                </a:lnTo>
                <a:lnTo>
                  <a:pt x="57075" y="730679"/>
                </a:lnTo>
                <a:lnTo>
                  <a:pt x="47869" y="751971"/>
                </a:lnTo>
                <a:lnTo>
                  <a:pt x="38203" y="767629"/>
                </a:lnTo>
                <a:lnTo>
                  <a:pt x="23934" y="778263"/>
                </a:lnTo>
                <a:lnTo>
                  <a:pt x="14268" y="788896"/>
                </a:lnTo>
                <a:lnTo>
                  <a:pt x="4602" y="788896"/>
                </a:lnTo>
                <a:lnTo>
                  <a:pt x="0" y="788896"/>
                </a:lnTo>
                <a:lnTo>
                  <a:pt x="4602" y="788896"/>
                </a:lnTo>
                <a:lnTo>
                  <a:pt x="14268" y="793921"/>
                </a:lnTo>
                <a:lnTo>
                  <a:pt x="23934" y="798920"/>
                </a:lnTo>
                <a:lnTo>
                  <a:pt x="38203" y="809579"/>
                </a:lnTo>
                <a:lnTo>
                  <a:pt x="47869" y="825212"/>
                </a:lnTo>
                <a:lnTo>
                  <a:pt x="57075" y="846504"/>
                </a:lnTo>
                <a:lnTo>
                  <a:pt x="66740" y="867161"/>
                </a:lnTo>
                <a:lnTo>
                  <a:pt x="66740" y="893478"/>
                </a:lnTo>
                <a:lnTo>
                  <a:pt x="71343" y="919769"/>
                </a:lnTo>
                <a:lnTo>
                  <a:pt x="71343" y="1445700"/>
                </a:lnTo>
                <a:lnTo>
                  <a:pt x="76406" y="1498309"/>
                </a:lnTo>
                <a:lnTo>
                  <a:pt x="90675" y="1540258"/>
                </a:lnTo>
                <a:lnTo>
                  <a:pt x="128879" y="1577183"/>
                </a:lnTo>
                <a:lnTo>
                  <a:pt x="133481" y="1577183"/>
                </a:lnTo>
                <a:lnTo>
                  <a:pt x="143147" y="1577183"/>
                </a:lnTo>
              </a:path>
            </a:pathLst>
          </a:custGeom>
          <a:ln w="18827">
            <a:solidFill>
              <a:srgbClr val="000000"/>
            </a:solidFill>
          </a:ln>
        </p:spPr>
        <p:txBody>
          <a:bodyPr wrap="square" lIns="0" tIns="0" rIns="0" bIns="0" rtlCol="0"/>
          <a:lstStyle/>
          <a:p/>
        </p:txBody>
      </p:sp>
      <p:sp>
        <p:nvSpPr>
          <p:cNvPr id="38" name="object 38" descr=""/>
          <p:cNvSpPr/>
          <p:nvPr/>
        </p:nvSpPr>
        <p:spPr>
          <a:xfrm>
            <a:off x="5368416" y="4359811"/>
            <a:ext cx="290830" cy="315595"/>
          </a:xfrm>
          <a:custGeom>
            <a:avLst/>
            <a:gdLst/>
            <a:ahLst/>
            <a:cxnLst/>
            <a:rect l="l" t="t" r="r" b="b"/>
            <a:pathLst>
              <a:path w="290829" h="315595">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39" name="object 39" descr=""/>
          <p:cNvSpPr/>
          <p:nvPr/>
        </p:nvSpPr>
        <p:spPr>
          <a:xfrm>
            <a:off x="5368416" y="4769917"/>
            <a:ext cx="290830" cy="315595"/>
          </a:xfrm>
          <a:custGeom>
            <a:avLst/>
            <a:gdLst/>
            <a:ahLst/>
            <a:cxnLst/>
            <a:rect l="l" t="t" r="r" b="b"/>
            <a:pathLst>
              <a:path w="290829" h="315595">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40" name="object 40" descr=""/>
          <p:cNvSpPr/>
          <p:nvPr/>
        </p:nvSpPr>
        <p:spPr>
          <a:xfrm>
            <a:off x="5368416" y="5658370"/>
            <a:ext cx="290830" cy="315595"/>
          </a:xfrm>
          <a:custGeom>
            <a:avLst/>
            <a:gdLst/>
            <a:ahLst/>
            <a:cxnLst/>
            <a:rect l="l" t="t" r="r" b="b"/>
            <a:pathLst>
              <a:path w="290829" h="315595">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41" name="object 41" descr=""/>
          <p:cNvSpPr txBox="1"/>
          <p:nvPr/>
        </p:nvSpPr>
        <p:spPr>
          <a:xfrm>
            <a:off x="6398695" y="5209273"/>
            <a:ext cx="269875" cy="294640"/>
          </a:xfrm>
          <a:prstGeom prst="rect">
            <a:avLst/>
          </a:prstGeom>
        </p:spPr>
        <p:txBody>
          <a:bodyPr wrap="square" lIns="0" tIns="0" rIns="0" bIns="0" rtlCol="0" vert="vert">
            <a:spAutoFit/>
          </a:bodyPr>
          <a:lstStyle/>
          <a:p>
            <a:pPr marL="12700">
              <a:lnSpc>
                <a:spcPts val="2120"/>
              </a:lnSpc>
            </a:pPr>
            <a:r>
              <a:rPr dirty="0" sz="1900" spc="155">
                <a:latin typeface="宋体"/>
                <a:cs typeface="宋体"/>
              </a:rPr>
              <a:t>…</a:t>
            </a:r>
            <a:endParaRPr sz="1900">
              <a:latin typeface="宋体"/>
              <a:cs typeface="宋体"/>
            </a:endParaRPr>
          </a:p>
        </p:txBody>
      </p:sp>
      <p:graphicFrame>
        <p:nvGraphicFramePr>
          <p:cNvPr id="42" name="object 42" descr=""/>
          <p:cNvGraphicFramePr>
            <a:graphicFrameLocks noGrp="1"/>
          </p:cNvGraphicFramePr>
          <p:nvPr/>
        </p:nvGraphicFramePr>
        <p:xfrm>
          <a:off x="5326777" y="4338101"/>
          <a:ext cx="5440045" cy="1659889"/>
        </p:xfrm>
        <a:graphic>
          <a:graphicData uri="http://schemas.openxmlformats.org/drawingml/2006/table">
            <a:tbl>
              <a:tblPr firstRow="1" bandRow="1">
                <a:tableStyleId>{2D5ABB26-0587-4C30-8999-92F81FD0307C}</a:tableStyleId>
              </a:tblPr>
              <a:tblGrid>
                <a:gridCol w="389255"/>
                <a:gridCol w="390525"/>
                <a:gridCol w="385445"/>
                <a:gridCol w="387984"/>
                <a:gridCol w="382904"/>
                <a:gridCol w="455294"/>
                <a:gridCol w="2968624"/>
              </a:tblGrid>
              <a:tr h="387350">
                <a:tc>
                  <a:txBody>
                    <a:bodyPr/>
                    <a:lstStyle/>
                    <a:p>
                      <a:pPr marL="121920">
                        <a:lnSpc>
                          <a:spcPct val="100000"/>
                        </a:lnSpc>
                        <a:spcBef>
                          <a:spcPts val="234"/>
                        </a:spcBef>
                      </a:pPr>
                      <a:r>
                        <a:rPr dirty="0" sz="1800" spc="-50">
                          <a:latin typeface="Times New Roman"/>
                          <a:cs typeface="Times New Roman"/>
                        </a:rPr>
                        <a:t>1</a:t>
                      </a:r>
                      <a:endParaRPr sz="1800">
                        <a:latin typeface="Times New Roman"/>
                        <a:cs typeface="Times New Roman"/>
                      </a:endParaRPr>
                    </a:p>
                  </a:txBody>
                  <a:tcPr marL="0" marR="0" marB="0" marT="29844"/>
                </a:tc>
                <a:tc>
                  <a:txBody>
                    <a:bodyPr/>
                    <a:lstStyle/>
                    <a:p>
                      <a:pPr algn="ctr" marL="18415">
                        <a:lnSpc>
                          <a:spcPct val="100000"/>
                        </a:lnSpc>
                        <a:spcBef>
                          <a:spcPts val="234"/>
                        </a:spcBef>
                      </a:pPr>
                      <a:r>
                        <a:rPr dirty="0" sz="1800" spc="-25">
                          <a:latin typeface="Times New Roman"/>
                          <a:cs typeface="Times New Roman"/>
                        </a:rPr>
                        <a:t>000</a:t>
                      </a:r>
                      <a:endParaRPr sz="1800">
                        <a:latin typeface="Times New Roman"/>
                        <a:cs typeface="Times New Roman"/>
                      </a:endParaRPr>
                    </a:p>
                  </a:txBody>
                  <a:tcPr marL="0" marR="0" marB="0" marT="29844"/>
                </a:tc>
                <a:tc>
                  <a:txBody>
                    <a:bodyPr/>
                    <a:lstStyle/>
                    <a:p>
                      <a:pPr algn="ctr" marR="34925">
                        <a:lnSpc>
                          <a:spcPct val="100000"/>
                        </a:lnSpc>
                        <a:spcBef>
                          <a:spcPts val="234"/>
                        </a:spcBef>
                      </a:pPr>
                      <a:r>
                        <a:rPr dirty="0" sz="1800" spc="-50">
                          <a:latin typeface="Times New Roman"/>
                          <a:cs typeface="Times New Roman"/>
                        </a:rPr>
                        <a:t>1</a:t>
                      </a:r>
                      <a:endParaRPr sz="1800">
                        <a:latin typeface="Times New Roman"/>
                        <a:cs typeface="Times New Roman"/>
                      </a:endParaRPr>
                    </a:p>
                  </a:txBody>
                  <a:tcPr marL="0" marR="0" marB="0" marT="29844"/>
                </a:tc>
                <a:tc>
                  <a:txBody>
                    <a:bodyPr/>
                    <a:lstStyle/>
                    <a:p>
                      <a:pPr algn="ctr" marL="21590">
                        <a:lnSpc>
                          <a:spcPct val="100000"/>
                        </a:lnSpc>
                        <a:spcBef>
                          <a:spcPts val="234"/>
                        </a:spcBef>
                      </a:pPr>
                      <a:r>
                        <a:rPr dirty="0" sz="1800" spc="-25">
                          <a:latin typeface="Times New Roman"/>
                          <a:cs typeface="Times New Roman"/>
                        </a:rPr>
                        <a:t>000</a:t>
                      </a:r>
                      <a:endParaRPr sz="1800">
                        <a:latin typeface="Times New Roman"/>
                        <a:cs typeface="Times New Roman"/>
                      </a:endParaRPr>
                    </a:p>
                  </a:txBody>
                  <a:tcPr marL="0" marR="0" marB="0" marT="29844"/>
                </a:tc>
                <a:tc>
                  <a:txBody>
                    <a:bodyPr/>
                    <a:lstStyle/>
                    <a:p>
                      <a:pPr algn="ctr" marR="37465">
                        <a:lnSpc>
                          <a:spcPct val="100000"/>
                        </a:lnSpc>
                        <a:spcBef>
                          <a:spcPts val="234"/>
                        </a:spcBef>
                      </a:pPr>
                      <a:r>
                        <a:rPr dirty="0" sz="1800" spc="-50">
                          <a:latin typeface="Times New Roman"/>
                          <a:cs typeface="Times New Roman"/>
                        </a:rPr>
                        <a:t>0</a:t>
                      </a:r>
                      <a:endParaRPr sz="1800">
                        <a:latin typeface="Times New Roman"/>
                        <a:cs typeface="Times New Roman"/>
                      </a:endParaRPr>
                    </a:p>
                  </a:txBody>
                  <a:tcPr marL="0" marR="0" marB="0" marT="29844"/>
                </a:tc>
                <a:tc>
                  <a:txBody>
                    <a:bodyPr/>
                    <a:lstStyle/>
                    <a:p>
                      <a:pPr algn="ctr" marR="38100">
                        <a:lnSpc>
                          <a:spcPct val="100000"/>
                        </a:lnSpc>
                        <a:spcBef>
                          <a:spcPts val="234"/>
                        </a:spcBef>
                      </a:pPr>
                      <a:r>
                        <a:rPr dirty="0" sz="1800" spc="-25">
                          <a:latin typeface="Times New Roman"/>
                          <a:cs typeface="Times New Roman"/>
                        </a:rPr>
                        <a:t>000</a:t>
                      </a:r>
                      <a:endParaRPr sz="1800">
                        <a:latin typeface="Times New Roman"/>
                        <a:cs typeface="Times New Roman"/>
                      </a:endParaRPr>
                    </a:p>
                  </a:txBody>
                  <a:tcPr marL="0" marR="0" marB="0" marT="29844"/>
                </a:tc>
                <a:tc>
                  <a:txBody>
                    <a:bodyPr/>
                    <a:lstStyle/>
                    <a:p>
                      <a:pPr>
                        <a:lnSpc>
                          <a:spcPct val="100000"/>
                        </a:lnSpc>
                      </a:pPr>
                      <a:endParaRPr sz="1800">
                        <a:latin typeface="Times New Roman"/>
                        <a:cs typeface="Times New Roman"/>
                      </a:endParaRPr>
                    </a:p>
                  </a:txBody>
                  <a:tcPr marL="0" marR="0" marB="0" marT="0"/>
                </a:tc>
              </a:tr>
              <a:tr h="394335">
                <a:tc>
                  <a:txBody>
                    <a:bodyPr/>
                    <a:lstStyle/>
                    <a:p>
                      <a:pPr marL="121920">
                        <a:lnSpc>
                          <a:spcPct val="100000"/>
                        </a:lnSpc>
                        <a:spcBef>
                          <a:spcPts val="450"/>
                        </a:spcBef>
                      </a:pPr>
                      <a:r>
                        <a:rPr dirty="0" sz="1800" spc="-50">
                          <a:latin typeface="Times New Roman"/>
                          <a:cs typeface="Times New Roman"/>
                        </a:rPr>
                        <a:t>1</a:t>
                      </a:r>
                      <a:endParaRPr sz="1800">
                        <a:latin typeface="Times New Roman"/>
                        <a:cs typeface="Times New Roman"/>
                      </a:endParaRPr>
                    </a:p>
                  </a:txBody>
                  <a:tcPr marL="0" marR="0" marB="0" marT="57150"/>
                </a:tc>
                <a:tc>
                  <a:txBody>
                    <a:bodyPr/>
                    <a:lstStyle/>
                    <a:p>
                      <a:pPr algn="ctr" marL="18415">
                        <a:lnSpc>
                          <a:spcPct val="100000"/>
                        </a:lnSpc>
                        <a:spcBef>
                          <a:spcPts val="450"/>
                        </a:spcBef>
                      </a:pPr>
                      <a:r>
                        <a:rPr dirty="0" sz="1800" spc="-25">
                          <a:latin typeface="Times New Roman"/>
                          <a:cs typeface="Times New Roman"/>
                        </a:rPr>
                        <a:t>000</a:t>
                      </a:r>
                      <a:endParaRPr sz="1800">
                        <a:latin typeface="Times New Roman"/>
                        <a:cs typeface="Times New Roman"/>
                      </a:endParaRPr>
                    </a:p>
                  </a:txBody>
                  <a:tcPr marL="0" marR="0" marB="0" marT="57150"/>
                </a:tc>
                <a:tc>
                  <a:txBody>
                    <a:bodyPr/>
                    <a:lstStyle/>
                    <a:p>
                      <a:pPr algn="ctr" marR="34925">
                        <a:lnSpc>
                          <a:spcPct val="100000"/>
                        </a:lnSpc>
                        <a:spcBef>
                          <a:spcPts val="450"/>
                        </a:spcBef>
                      </a:pPr>
                      <a:r>
                        <a:rPr dirty="0" sz="1800" spc="-50">
                          <a:latin typeface="Times New Roman"/>
                          <a:cs typeface="Times New Roman"/>
                        </a:rPr>
                        <a:t>1</a:t>
                      </a:r>
                      <a:endParaRPr sz="1800">
                        <a:latin typeface="Times New Roman"/>
                        <a:cs typeface="Times New Roman"/>
                      </a:endParaRPr>
                    </a:p>
                  </a:txBody>
                  <a:tcPr marL="0" marR="0" marB="0" marT="57150"/>
                </a:tc>
                <a:tc>
                  <a:txBody>
                    <a:bodyPr/>
                    <a:lstStyle/>
                    <a:p>
                      <a:pPr algn="ctr" marL="21590">
                        <a:lnSpc>
                          <a:spcPct val="100000"/>
                        </a:lnSpc>
                        <a:spcBef>
                          <a:spcPts val="450"/>
                        </a:spcBef>
                      </a:pPr>
                      <a:r>
                        <a:rPr dirty="0" sz="1800" spc="-25">
                          <a:latin typeface="Times New Roman"/>
                          <a:cs typeface="Times New Roman"/>
                        </a:rPr>
                        <a:t>000</a:t>
                      </a:r>
                      <a:endParaRPr sz="1800">
                        <a:latin typeface="Times New Roman"/>
                        <a:cs typeface="Times New Roman"/>
                      </a:endParaRPr>
                    </a:p>
                  </a:txBody>
                  <a:tcPr marL="0" marR="0" marB="0" marT="57150"/>
                </a:tc>
                <a:tc>
                  <a:txBody>
                    <a:bodyPr/>
                    <a:lstStyle/>
                    <a:p>
                      <a:pPr algn="ctr" marR="37465">
                        <a:lnSpc>
                          <a:spcPct val="100000"/>
                        </a:lnSpc>
                        <a:spcBef>
                          <a:spcPts val="450"/>
                        </a:spcBef>
                      </a:pPr>
                      <a:r>
                        <a:rPr dirty="0" sz="1800" spc="-50">
                          <a:latin typeface="Times New Roman"/>
                          <a:cs typeface="Times New Roman"/>
                        </a:rPr>
                        <a:t>0</a:t>
                      </a:r>
                      <a:endParaRPr sz="1800">
                        <a:latin typeface="Times New Roman"/>
                        <a:cs typeface="Times New Roman"/>
                      </a:endParaRPr>
                    </a:p>
                  </a:txBody>
                  <a:tcPr marL="0" marR="0" marB="0" marT="57150"/>
                </a:tc>
                <a:tc>
                  <a:txBody>
                    <a:bodyPr/>
                    <a:lstStyle/>
                    <a:p>
                      <a:pPr algn="ctr" marR="38100">
                        <a:lnSpc>
                          <a:spcPct val="100000"/>
                        </a:lnSpc>
                        <a:spcBef>
                          <a:spcPts val="450"/>
                        </a:spcBef>
                      </a:pPr>
                      <a:r>
                        <a:rPr dirty="0" sz="1800" spc="-25">
                          <a:latin typeface="Times New Roman"/>
                          <a:cs typeface="Times New Roman"/>
                        </a:rPr>
                        <a:t>001</a:t>
                      </a:r>
                      <a:endParaRPr sz="1800">
                        <a:latin typeface="Times New Roman"/>
                        <a:cs typeface="Times New Roman"/>
                      </a:endParaRPr>
                    </a:p>
                  </a:txBody>
                  <a:tcPr marL="0" marR="0" marB="0" marT="57150"/>
                </a:tc>
                <a:tc>
                  <a:txBody>
                    <a:bodyPr/>
                    <a:lstStyle/>
                    <a:p>
                      <a:pPr>
                        <a:lnSpc>
                          <a:spcPct val="100000"/>
                        </a:lnSpc>
                      </a:pPr>
                      <a:endParaRPr sz="1800">
                        <a:latin typeface="Times New Roman"/>
                        <a:cs typeface="Times New Roman"/>
                      </a:endParaRPr>
                    </a:p>
                  </a:txBody>
                  <a:tcPr marL="0" marR="0" marB="0" marT="0"/>
                </a:tc>
              </a:tr>
              <a:tr h="878205">
                <a:tc>
                  <a:txBody>
                    <a:bodyPr/>
                    <a:lstStyle/>
                    <a:p>
                      <a:pPr>
                        <a:lnSpc>
                          <a:spcPct val="100000"/>
                        </a:lnSpc>
                      </a:pPr>
                      <a:endParaRPr sz="1800">
                        <a:latin typeface="Times New Roman"/>
                        <a:cs typeface="Times New Roman"/>
                      </a:endParaRPr>
                    </a:p>
                    <a:p>
                      <a:pPr>
                        <a:lnSpc>
                          <a:spcPct val="100000"/>
                        </a:lnSpc>
                        <a:spcBef>
                          <a:spcPts val="155"/>
                        </a:spcBef>
                      </a:pPr>
                      <a:endParaRPr sz="1800">
                        <a:latin typeface="Times New Roman"/>
                        <a:cs typeface="Times New Roman"/>
                      </a:endParaRPr>
                    </a:p>
                    <a:p>
                      <a:pPr marL="121920">
                        <a:lnSpc>
                          <a:spcPct val="100000"/>
                        </a:lnSpc>
                      </a:pPr>
                      <a:r>
                        <a:rPr dirty="0" sz="1800" spc="-50">
                          <a:latin typeface="Times New Roman"/>
                          <a:cs typeface="Times New Roman"/>
                        </a:rPr>
                        <a:t>1</a:t>
                      </a:r>
                      <a:endParaRPr sz="1800">
                        <a:latin typeface="Times New Roman"/>
                        <a:cs typeface="Times New Roman"/>
                      </a:endParaRPr>
                    </a:p>
                  </a:txBody>
                  <a:tcPr marL="0" marR="0" marB="0" marT="0"/>
                </a:tc>
                <a:tc>
                  <a:txBody>
                    <a:bodyPr/>
                    <a:lstStyle/>
                    <a:p>
                      <a:pPr>
                        <a:lnSpc>
                          <a:spcPct val="100000"/>
                        </a:lnSpc>
                      </a:pPr>
                      <a:endParaRPr sz="1800">
                        <a:latin typeface="Times New Roman"/>
                        <a:cs typeface="Times New Roman"/>
                      </a:endParaRPr>
                    </a:p>
                    <a:p>
                      <a:pPr>
                        <a:lnSpc>
                          <a:spcPct val="100000"/>
                        </a:lnSpc>
                        <a:spcBef>
                          <a:spcPts val="155"/>
                        </a:spcBef>
                      </a:pPr>
                      <a:endParaRPr sz="1800">
                        <a:latin typeface="Times New Roman"/>
                        <a:cs typeface="Times New Roman"/>
                      </a:endParaRPr>
                    </a:p>
                    <a:p>
                      <a:pPr algn="ctr">
                        <a:lnSpc>
                          <a:spcPct val="100000"/>
                        </a:lnSpc>
                      </a:pPr>
                      <a:r>
                        <a:rPr dirty="0" sz="1800" spc="-25">
                          <a:latin typeface="Times New Roman"/>
                          <a:cs typeface="Times New Roman"/>
                        </a:rPr>
                        <a:t>111</a:t>
                      </a:r>
                      <a:endParaRPr sz="1800">
                        <a:latin typeface="Times New Roman"/>
                        <a:cs typeface="Times New Roman"/>
                      </a:endParaRPr>
                    </a:p>
                  </a:txBody>
                  <a:tcPr marL="0" marR="0" marB="0" marT="0"/>
                </a:tc>
                <a:tc>
                  <a:txBody>
                    <a:bodyPr/>
                    <a:lstStyle/>
                    <a:p>
                      <a:pPr>
                        <a:lnSpc>
                          <a:spcPct val="100000"/>
                        </a:lnSpc>
                      </a:pPr>
                      <a:endParaRPr sz="1800">
                        <a:latin typeface="Times New Roman"/>
                        <a:cs typeface="Times New Roman"/>
                      </a:endParaRPr>
                    </a:p>
                    <a:p>
                      <a:pPr>
                        <a:lnSpc>
                          <a:spcPct val="100000"/>
                        </a:lnSpc>
                        <a:spcBef>
                          <a:spcPts val="155"/>
                        </a:spcBef>
                      </a:pPr>
                      <a:endParaRPr sz="1800">
                        <a:latin typeface="Times New Roman"/>
                        <a:cs typeface="Times New Roman"/>
                      </a:endParaRPr>
                    </a:p>
                    <a:p>
                      <a:pPr algn="ctr" marR="34925">
                        <a:lnSpc>
                          <a:spcPct val="100000"/>
                        </a:lnSpc>
                      </a:pPr>
                      <a:r>
                        <a:rPr dirty="0" sz="1800" spc="-50">
                          <a:latin typeface="Times New Roman"/>
                          <a:cs typeface="Times New Roman"/>
                        </a:rPr>
                        <a:t>1</a:t>
                      </a:r>
                      <a:endParaRPr sz="1800">
                        <a:latin typeface="Times New Roman"/>
                        <a:cs typeface="Times New Roman"/>
                      </a:endParaRPr>
                    </a:p>
                  </a:txBody>
                  <a:tcPr marL="0" marR="0" marB="0" marT="0"/>
                </a:tc>
                <a:tc>
                  <a:txBody>
                    <a:bodyPr/>
                    <a:lstStyle/>
                    <a:p>
                      <a:pPr>
                        <a:lnSpc>
                          <a:spcPct val="100000"/>
                        </a:lnSpc>
                      </a:pPr>
                      <a:endParaRPr sz="1800">
                        <a:latin typeface="Times New Roman"/>
                        <a:cs typeface="Times New Roman"/>
                      </a:endParaRPr>
                    </a:p>
                    <a:p>
                      <a:pPr>
                        <a:lnSpc>
                          <a:spcPct val="100000"/>
                        </a:lnSpc>
                        <a:spcBef>
                          <a:spcPts val="155"/>
                        </a:spcBef>
                      </a:pPr>
                      <a:endParaRPr sz="1800">
                        <a:latin typeface="Times New Roman"/>
                        <a:cs typeface="Times New Roman"/>
                      </a:endParaRPr>
                    </a:p>
                    <a:p>
                      <a:pPr algn="ctr" marL="1905">
                        <a:lnSpc>
                          <a:spcPct val="100000"/>
                        </a:lnSpc>
                      </a:pPr>
                      <a:r>
                        <a:rPr dirty="0" sz="1800" spc="-25">
                          <a:latin typeface="Times New Roman"/>
                          <a:cs typeface="Times New Roman"/>
                        </a:rPr>
                        <a:t>111</a:t>
                      </a:r>
                      <a:endParaRPr sz="1800">
                        <a:latin typeface="Times New Roman"/>
                        <a:cs typeface="Times New Roman"/>
                      </a:endParaRPr>
                    </a:p>
                  </a:txBody>
                  <a:tcPr marL="0" marR="0" marB="0" marT="0"/>
                </a:tc>
                <a:tc>
                  <a:txBody>
                    <a:bodyPr/>
                    <a:lstStyle/>
                    <a:p>
                      <a:pPr>
                        <a:lnSpc>
                          <a:spcPct val="100000"/>
                        </a:lnSpc>
                      </a:pPr>
                      <a:endParaRPr sz="1800">
                        <a:latin typeface="Times New Roman"/>
                        <a:cs typeface="Times New Roman"/>
                      </a:endParaRPr>
                    </a:p>
                    <a:p>
                      <a:pPr>
                        <a:lnSpc>
                          <a:spcPct val="100000"/>
                        </a:lnSpc>
                        <a:spcBef>
                          <a:spcPts val="155"/>
                        </a:spcBef>
                      </a:pPr>
                      <a:endParaRPr sz="1800">
                        <a:latin typeface="Times New Roman"/>
                        <a:cs typeface="Times New Roman"/>
                      </a:endParaRPr>
                    </a:p>
                    <a:p>
                      <a:pPr algn="ctr" marR="37465">
                        <a:lnSpc>
                          <a:spcPct val="100000"/>
                        </a:lnSpc>
                      </a:pPr>
                      <a:r>
                        <a:rPr dirty="0" sz="1800" spc="-50">
                          <a:latin typeface="Times New Roman"/>
                          <a:cs typeface="Times New Roman"/>
                        </a:rPr>
                        <a:t>0</a:t>
                      </a:r>
                      <a:endParaRPr sz="1800">
                        <a:latin typeface="Times New Roman"/>
                        <a:cs typeface="Times New Roman"/>
                      </a:endParaRPr>
                    </a:p>
                  </a:txBody>
                  <a:tcPr marL="0" marR="0" marB="0" marT="0"/>
                </a:tc>
                <a:tc>
                  <a:txBody>
                    <a:bodyPr/>
                    <a:lstStyle/>
                    <a:p>
                      <a:pPr>
                        <a:lnSpc>
                          <a:spcPct val="100000"/>
                        </a:lnSpc>
                      </a:pPr>
                      <a:endParaRPr sz="1800">
                        <a:latin typeface="Times New Roman"/>
                        <a:cs typeface="Times New Roman"/>
                      </a:endParaRPr>
                    </a:p>
                    <a:p>
                      <a:pPr>
                        <a:lnSpc>
                          <a:spcPct val="100000"/>
                        </a:lnSpc>
                        <a:spcBef>
                          <a:spcPts val="155"/>
                        </a:spcBef>
                      </a:pPr>
                      <a:endParaRPr sz="1800">
                        <a:latin typeface="Times New Roman"/>
                        <a:cs typeface="Times New Roman"/>
                      </a:endParaRPr>
                    </a:p>
                    <a:p>
                      <a:pPr algn="ctr" marR="57785">
                        <a:lnSpc>
                          <a:spcPct val="100000"/>
                        </a:lnSpc>
                      </a:pPr>
                      <a:r>
                        <a:rPr dirty="0" sz="1800" spc="-25">
                          <a:latin typeface="Times New Roman"/>
                          <a:cs typeface="Times New Roman"/>
                        </a:rPr>
                        <a:t>111</a:t>
                      </a:r>
                      <a:endParaRPr sz="1800">
                        <a:latin typeface="Times New Roman"/>
                        <a:cs typeface="Times New Roman"/>
                      </a:endParaRPr>
                    </a:p>
                  </a:txBody>
                  <a:tcPr marL="0" marR="0" marB="0" marT="0"/>
                </a:tc>
                <a:tc>
                  <a:txBody>
                    <a:bodyPr/>
                    <a:lstStyle/>
                    <a:p>
                      <a:pPr marL="92710" marR="24130">
                        <a:lnSpc>
                          <a:spcPts val="3279"/>
                        </a:lnSpc>
                        <a:spcBef>
                          <a:spcPts val="235"/>
                        </a:spcBef>
                      </a:pPr>
                      <a:r>
                        <a:rPr dirty="0" sz="2800" spc="-40">
                          <a:solidFill>
                            <a:srgbClr val="FF5CFF"/>
                          </a:solidFill>
                          <a:latin typeface="黑体"/>
                          <a:cs typeface="黑体"/>
                        </a:rPr>
                        <a:t>到底哪种优化好？视场景使用而定</a:t>
                      </a:r>
                      <a:endParaRPr sz="2800">
                        <a:latin typeface="黑体"/>
                        <a:cs typeface="黑体"/>
                      </a:endParaRPr>
                    </a:p>
                  </a:txBody>
                  <a:tcPr marL="0" marR="0" marB="0" marT="29845"/>
                </a:tc>
              </a:tr>
            </a:tbl>
          </a:graphicData>
        </a:graphic>
      </p:graphicFrame>
      <p:sp>
        <p:nvSpPr>
          <p:cNvPr id="43" name="object 43" descr=""/>
          <p:cNvSpPr/>
          <p:nvPr/>
        </p:nvSpPr>
        <p:spPr>
          <a:xfrm>
            <a:off x="6145372" y="4359811"/>
            <a:ext cx="290830" cy="315595"/>
          </a:xfrm>
          <a:custGeom>
            <a:avLst/>
            <a:gdLst/>
            <a:ahLst/>
            <a:cxnLst/>
            <a:rect l="l" t="t" r="r" b="b"/>
            <a:pathLst>
              <a:path w="290829" h="315595">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44" name="object 44" descr=""/>
          <p:cNvSpPr/>
          <p:nvPr/>
        </p:nvSpPr>
        <p:spPr>
          <a:xfrm>
            <a:off x="6145372" y="4769917"/>
            <a:ext cx="290830" cy="315595"/>
          </a:xfrm>
          <a:custGeom>
            <a:avLst/>
            <a:gdLst/>
            <a:ahLst/>
            <a:cxnLst/>
            <a:rect l="l" t="t" r="r" b="b"/>
            <a:pathLst>
              <a:path w="290829" h="315595">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45" name="object 45" descr=""/>
          <p:cNvSpPr/>
          <p:nvPr/>
        </p:nvSpPr>
        <p:spPr>
          <a:xfrm>
            <a:off x="6145372" y="5658370"/>
            <a:ext cx="290830" cy="315595"/>
          </a:xfrm>
          <a:custGeom>
            <a:avLst/>
            <a:gdLst/>
            <a:ahLst/>
            <a:cxnLst/>
            <a:rect l="l" t="t" r="r" b="b"/>
            <a:pathLst>
              <a:path w="290829" h="315595">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46" name="object 46" descr=""/>
          <p:cNvSpPr/>
          <p:nvPr/>
        </p:nvSpPr>
        <p:spPr>
          <a:xfrm>
            <a:off x="6917266" y="4359811"/>
            <a:ext cx="290830" cy="315595"/>
          </a:xfrm>
          <a:custGeom>
            <a:avLst/>
            <a:gdLst/>
            <a:ahLst/>
            <a:cxnLst/>
            <a:rect l="l" t="t" r="r" b="b"/>
            <a:pathLst>
              <a:path w="290829" h="315595">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47" name="object 47" descr=""/>
          <p:cNvSpPr/>
          <p:nvPr/>
        </p:nvSpPr>
        <p:spPr>
          <a:xfrm>
            <a:off x="6917266" y="4769917"/>
            <a:ext cx="290830" cy="315595"/>
          </a:xfrm>
          <a:custGeom>
            <a:avLst/>
            <a:gdLst/>
            <a:ahLst/>
            <a:cxnLst/>
            <a:rect l="l" t="t" r="r" b="b"/>
            <a:pathLst>
              <a:path w="290829" h="315595">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48" name="object 48" descr=""/>
          <p:cNvSpPr/>
          <p:nvPr/>
        </p:nvSpPr>
        <p:spPr>
          <a:xfrm>
            <a:off x="6917266" y="5658370"/>
            <a:ext cx="290830" cy="315595"/>
          </a:xfrm>
          <a:custGeom>
            <a:avLst/>
            <a:gdLst/>
            <a:ahLst/>
            <a:cxnLst/>
            <a:rect l="l" t="t" r="r" b="b"/>
            <a:pathLst>
              <a:path w="290829" h="315595">
                <a:moveTo>
                  <a:pt x="0" y="315573"/>
                </a:moveTo>
                <a:lnTo>
                  <a:pt x="290737" y="315573"/>
                </a:lnTo>
                <a:lnTo>
                  <a:pt x="290737" y="0"/>
                </a:lnTo>
                <a:lnTo>
                  <a:pt x="0" y="0"/>
                </a:lnTo>
                <a:lnTo>
                  <a:pt x="0" y="315573"/>
                </a:lnTo>
                <a:close/>
              </a:path>
            </a:pathLst>
          </a:custGeom>
          <a:ln w="19699">
            <a:solidFill>
              <a:srgbClr val="000000"/>
            </a:solidFill>
          </a:ln>
        </p:spPr>
        <p:txBody>
          <a:bodyPr wrap="square" lIns="0" tIns="0" rIns="0" bIns="0" rtlCol="0"/>
          <a:lstStyle/>
          <a:p/>
        </p:txBody>
      </p:sp>
      <p:sp>
        <p:nvSpPr>
          <p:cNvPr id="49" name="object 49" descr=""/>
          <p:cNvSpPr txBox="1"/>
          <p:nvPr/>
        </p:nvSpPr>
        <p:spPr>
          <a:xfrm>
            <a:off x="5727394" y="6138618"/>
            <a:ext cx="1793239" cy="348615"/>
          </a:xfrm>
          <a:prstGeom prst="rect">
            <a:avLst/>
          </a:prstGeom>
        </p:spPr>
        <p:txBody>
          <a:bodyPr wrap="square" lIns="0" tIns="14604" rIns="0" bIns="0" rtlCol="0" vert="horz">
            <a:spAutoFit/>
          </a:bodyPr>
          <a:lstStyle/>
          <a:p>
            <a:pPr marL="12700">
              <a:lnSpc>
                <a:spcPct val="100000"/>
              </a:lnSpc>
              <a:spcBef>
                <a:spcPts val="114"/>
              </a:spcBef>
            </a:pPr>
            <a:r>
              <a:rPr dirty="0" sz="2100" spc="-105">
                <a:solidFill>
                  <a:srgbClr val="333399"/>
                </a:solidFill>
                <a:latin typeface="宋体"/>
                <a:cs typeface="宋体"/>
              </a:rPr>
              <a:t>8/64/512</a:t>
            </a:r>
            <a:r>
              <a:rPr dirty="0" sz="2100" spc="-240">
                <a:solidFill>
                  <a:srgbClr val="333399"/>
                </a:solidFill>
                <a:latin typeface="宋体"/>
                <a:cs typeface="宋体"/>
              </a:rPr>
              <a:t> 编码法</a:t>
            </a:r>
            <a:endParaRPr sz="2100">
              <a:latin typeface="宋体"/>
              <a:cs typeface="宋体"/>
            </a:endParaRPr>
          </a:p>
        </p:txBody>
      </p:sp>
      <p:sp>
        <p:nvSpPr>
          <p:cNvPr id="50" name="object 50" descr=""/>
          <p:cNvSpPr txBox="1"/>
          <p:nvPr/>
        </p:nvSpPr>
        <p:spPr>
          <a:xfrm>
            <a:off x="3633596" y="2768853"/>
            <a:ext cx="1397000" cy="386715"/>
          </a:xfrm>
          <a:prstGeom prst="rect">
            <a:avLst/>
          </a:prstGeom>
        </p:spPr>
        <p:txBody>
          <a:bodyPr wrap="square" lIns="0" tIns="22860" rIns="0" bIns="0" rtlCol="0" vert="horz">
            <a:spAutoFit/>
          </a:bodyPr>
          <a:lstStyle/>
          <a:p>
            <a:pPr marL="12700" marR="5080">
              <a:lnSpc>
                <a:spcPts val="1400"/>
              </a:lnSpc>
              <a:spcBef>
                <a:spcPts val="180"/>
              </a:spcBef>
            </a:pPr>
            <a:r>
              <a:rPr dirty="0" sz="1200">
                <a:solidFill>
                  <a:srgbClr val="006FC0"/>
                </a:solidFill>
                <a:latin typeface="黑体"/>
                <a:cs typeface="黑体"/>
              </a:rPr>
              <a:t>可以理解为：</a:t>
            </a:r>
            <a:r>
              <a:rPr dirty="0" sz="1200" spc="-20">
                <a:solidFill>
                  <a:srgbClr val="FF5CFF"/>
                </a:solidFill>
                <a:latin typeface="黑体"/>
                <a:cs typeface="黑体"/>
              </a:rPr>
              <a:t>二地址</a:t>
            </a:r>
            <a:r>
              <a:rPr dirty="0" sz="1200">
                <a:solidFill>
                  <a:srgbClr val="FF5CFF"/>
                </a:solidFill>
                <a:latin typeface="黑体"/>
                <a:cs typeface="黑体"/>
              </a:rPr>
              <a:t>指令</a:t>
            </a:r>
            <a:r>
              <a:rPr dirty="0" sz="1200">
                <a:solidFill>
                  <a:srgbClr val="FF5CFF"/>
                </a:solidFill>
                <a:latin typeface="Tahoma"/>
                <a:cs typeface="Tahoma"/>
              </a:rPr>
              <a:t>15</a:t>
            </a:r>
            <a:r>
              <a:rPr dirty="0" sz="1200" spc="-50">
                <a:solidFill>
                  <a:srgbClr val="FF5CFF"/>
                </a:solidFill>
                <a:latin typeface="黑体"/>
                <a:cs typeface="黑体"/>
              </a:rPr>
              <a:t>条</a:t>
            </a:r>
            <a:endParaRPr sz="1200">
              <a:latin typeface="黑体"/>
              <a:cs typeface="黑体"/>
            </a:endParaRPr>
          </a:p>
        </p:txBody>
      </p:sp>
      <p:sp>
        <p:nvSpPr>
          <p:cNvPr id="51" name="object 51" descr=""/>
          <p:cNvSpPr txBox="1"/>
          <p:nvPr/>
        </p:nvSpPr>
        <p:spPr>
          <a:xfrm>
            <a:off x="3670172" y="3547109"/>
            <a:ext cx="953769" cy="513080"/>
          </a:xfrm>
          <a:prstGeom prst="rect">
            <a:avLst/>
          </a:prstGeom>
        </p:spPr>
        <p:txBody>
          <a:bodyPr wrap="square" lIns="0" tIns="12065" rIns="0" bIns="0" rtlCol="0" vert="horz">
            <a:spAutoFit/>
          </a:bodyPr>
          <a:lstStyle/>
          <a:p>
            <a:pPr marL="12700" marR="5080">
              <a:lnSpc>
                <a:spcPct val="100000"/>
              </a:lnSpc>
              <a:spcBef>
                <a:spcPts val="95"/>
              </a:spcBef>
            </a:pPr>
            <a:r>
              <a:rPr dirty="0" sz="1600" spc="-10">
                <a:solidFill>
                  <a:srgbClr val="006FC0"/>
                </a:solidFill>
                <a:latin typeface="Tahoma"/>
                <a:cs typeface="Tahoma"/>
              </a:rPr>
              <a:t>4</a:t>
            </a:r>
            <a:r>
              <a:rPr dirty="0" sz="1600" spc="-20">
                <a:solidFill>
                  <a:srgbClr val="006FC0"/>
                </a:solidFill>
                <a:latin typeface="黑体"/>
                <a:cs typeface="黑体"/>
              </a:rPr>
              <a:t>位，扩展</a:t>
            </a:r>
            <a:r>
              <a:rPr dirty="0" sz="1600" spc="-10">
                <a:solidFill>
                  <a:srgbClr val="006FC0"/>
                </a:solidFill>
                <a:latin typeface="黑体"/>
                <a:cs typeface="黑体"/>
              </a:rPr>
              <a:t>的</a:t>
            </a:r>
            <a:r>
              <a:rPr dirty="0" sz="1600" spc="-10">
                <a:solidFill>
                  <a:srgbClr val="006FC0"/>
                </a:solidFill>
                <a:latin typeface="Tahoma"/>
                <a:cs typeface="Tahoma"/>
              </a:rPr>
              <a:t>15</a:t>
            </a:r>
            <a:r>
              <a:rPr dirty="0" sz="1600" spc="-50">
                <a:solidFill>
                  <a:srgbClr val="006FC0"/>
                </a:solidFill>
                <a:latin typeface="黑体"/>
                <a:cs typeface="黑体"/>
              </a:rPr>
              <a:t>条</a:t>
            </a:r>
            <a:endParaRPr sz="1600">
              <a:latin typeface="黑体"/>
              <a:cs typeface="黑体"/>
            </a:endParaRPr>
          </a:p>
        </p:txBody>
      </p:sp>
      <p:sp>
        <p:nvSpPr>
          <p:cNvPr id="52" name="object 52" descr=""/>
          <p:cNvSpPr txBox="1"/>
          <p:nvPr/>
        </p:nvSpPr>
        <p:spPr>
          <a:xfrm>
            <a:off x="1782317" y="904748"/>
            <a:ext cx="2513330" cy="452120"/>
          </a:xfrm>
          <a:prstGeom prst="rect">
            <a:avLst/>
          </a:prstGeom>
        </p:spPr>
        <p:txBody>
          <a:bodyPr wrap="square" lIns="0" tIns="12065" rIns="0" bIns="0" rtlCol="0" vert="horz">
            <a:spAutoFit/>
          </a:bodyPr>
          <a:lstStyle/>
          <a:p>
            <a:pPr marL="12700">
              <a:lnSpc>
                <a:spcPct val="100000"/>
              </a:lnSpc>
              <a:spcBef>
                <a:spcPts val="95"/>
              </a:spcBef>
            </a:pPr>
            <a:r>
              <a:rPr dirty="0" sz="2800" spc="-40">
                <a:solidFill>
                  <a:srgbClr val="FF0000"/>
                </a:solidFill>
                <a:latin typeface="黑体"/>
                <a:cs typeface="黑体"/>
              </a:rPr>
              <a:t>操作码等长扩展</a:t>
            </a:r>
            <a:endParaRPr sz="2800">
              <a:latin typeface="黑体"/>
              <a:cs typeface="黑体"/>
            </a:endParaRPr>
          </a:p>
        </p:txBody>
      </p:sp>
      <p:sp>
        <p:nvSpPr>
          <p:cNvPr id="53" name="object 53" descr=""/>
          <p:cNvSpPr txBox="1"/>
          <p:nvPr/>
        </p:nvSpPr>
        <p:spPr>
          <a:xfrm>
            <a:off x="6932803" y="1174750"/>
            <a:ext cx="3018790" cy="299720"/>
          </a:xfrm>
          <a:prstGeom prst="rect">
            <a:avLst/>
          </a:prstGeom>
        </p:spPr>
        <p:txBody>
          <a:bodyPr wrap="square" lIns="0" tIns="12700" rIns="0" bIns="0" rtlCol="0" vert="horz">
            <a:spAutoFit/>
          </a:bodyPr>
          <a:lstStyle/>
          <a:p>
            <a:pPr marL="12700">
              <a:lnSpc>
                <a:spcPct val="100000"/>
              </a:lnSpc>
              <a:spcBef>
                <a:spcPts val="100"/>
              </a:spcBef>
            </a:pPr>
            <a:r>
              <a:rPr dirty="0" sz="1800">
                <a:solidFill>
                  <a:srgbClr val="FF5CFF"/>
                </a:solidFill>
                <a:latin typeface="黑体"/>
                <a:cs typeface="黑体"/>
              </a:rPr>
              <a:t>最高位</a:t>
            </a:r>
            <a:r>
              <a:rPr dirty="0" sz="1800" spc="-10">
                <a:solidFill>
                  <a:srgbClr val="FF5CFF"/>
                </a:solidFill>
                <a:latin typeface="Tahoma"/>
                <a:cs typeface="Tahoma"/>
              </a:rPr>
              <a:t>0</a:t>
            </a:r>
            <a:r>
              <a:rPr dirty="0" sz="1800">
                <a:solidFill>
                  <a:srgbClr val="FF5CFF"/>
                </a:solidFill>
                <a:latin typeface="黑体"/>
                <a:cs typeface="黑体"/>
              </a:rPr>
              <a:t>不变，低三位扩展</a:t>
            </a:r>
            <a:r>
              <a:rPr dirty="0" sz="1800" spc="-10">
                <a:solidFill>
                  <a:srgbClr val="FF5CFF"/>
                </a:solidFill>
                <a:latin typeface="Tahoma"/>
                <a:cs typeface="Tahoma"/>
              </a:rPr>
              <a:t>8</a:t>
            </a:r>
            <a:r>
              <a:rPr dirty="0" sz="1800" spc="-50">
                <a:solidFill>
                  <a:srgbClr val="FF5CFF"/>
                </a:solidFill>
                <a:latin typeface="黑体"/>
                <a:cs typeface="黑体"/>
              </a:rPr>
              <a:t>种</a:t>
            </a:r>
            <a:endParaRPr sz="1800">
              <a:latin typeface="黑体"/>
              <a:cs typeface="黑体"/>
            </a:endParaRPr>
          </a:p>
        </p:txBody>
      </p:sp>
      <p:grpSp>
        <p:nvGrpSpPr>
          <p:cNvPr id="54" name="object 54" descr=""/>
          <p:cNvGrpSpPr/>
          <p:nvPr/>
        </p:nvGrpSpPr>
        <p:grpSpPr>
          <a:xfrm>
            <a:off x="8704960" y="1875242"/>
            <a:ext cx="1906905" cy="1746885"/>
            <a:chOff x="8704960" y="1875242"/>
            <a:chExt cx="1906905" cy="1746885"/>
          </a:xfrm>
        </p:grpSpPr>
        <p:pic>
          <p:nvPicPr>
            <p:cNvPr id="55" name="object 55" descr=""/>
            <p:cNvPicPr/>
            <p:nvPr/>
          </p:nvPicPr>
          <p:blipFill>
            <a:blip r:embed="rId2" cstate="print"/>
            <a:stretch>
              <a:fillRect/>
            </a:stretch>
          </p:blipFill>
          <p:spPr>
            <a:xfrm>
              <a:off x="9775824" y="1875242"/>
              <a:ext cx="835526" cy="1746409"/>
            </a:xfrm>
            <a:prstGeom prst="rect">
              <a:avLst/>
            </a:prstGeom>
          </p:spPr>
        </p:pic>
        <p:sp>
          <p:nvSpPr>
            <p:cNvPr id="56" name="object 56" descr=""/>
            <p:cNvSpPr/>
            <p:nvPr/>
          </p:nvSpPr>
          <p:spPr>
            <a:xfrm>
              <a:off x="8704960" y="1976500"/>
              <a:ext cx="1033144" cy="130175"/>
            </a:xfrm>
            <a:custGeom>
              <a:avLst/>
              <a:gdLst/>
              <a:ahLst/>
              <a:cxnLst/>
              <a:rect l="l" t="t" r="r" b="b"/>
              <a:pathLst>
                <a:path w="1033145" h="130175">
                  <a:moveTo>
                    <a:pt x="959993" y="53975"/>
                  </a:moveTo>
                  <a:lnTo>
                    <a:pt x="957746" y="80844"/>
                  </a:lnTo>
                  <a:lnTo>
                    <a:pt x="970407" y="81914"/>
                  </a:lnTo>
                  <a:lnTo>
                    <a:pt x="968593" y="103071"/>
                  </a:lnTo>
                  <a:lnTo>
                    <a:pt x="968502" y="104139"/>
                  </a:lnTo>
                  <a:lnTo>
                    <a:pt x="955798" y="104139"/>
                  </a:lnTo>
                  <a:lnTo>
                    <a:pt x="953643" y="129921"/>
                  </a:lnTo>
                  <a:lnTo>
                    <a:pt x="1018147" y="104139"/>
                  </a:lnTo>
                  <a:lnTo>
                    <a:pt x="968502" y="104139"/>
                  </a:lnTo>
                  <a:lnTo>
                    <a:pt x="955887" y="103071"/>
                  </a:lnTo>
                  <a:lnTo>
                    <a:pt x="1020820" y="103071"/>
                  </a:lnTo>
                  <a:lnTo>
                    <a:pt x="1032764" y="98298"/>
                  </a:lnTo>
                  <a:lnTo>
                    <a:pt x="959993" y="53975"/>
                  </a:lnTo>
                  <a:close/>
                </a:path>
                <a:path w="1033145" h="130175">
                  <a:moveTo>
                    <a:pt x="957746" y="80844"/>
                  </a:moveTo>
                  <a:lnTo>
                    <a:pt x="955887" y="103071"/>
                  </a:lnTo>
                  <a:lnTo>
                    <a:pt x="968502" y="104139"/>
                  </a:lnTo>
                  <a:lnTo>
                    <a:pt x="970407" y="81914"/>
                  </a:lnTo>
                  <a:lnTo>
                    <a:pt x="957746" y="80844"/>
                  </a:lnTo>
                  <a:close/>
                </a:path>
                <a:path w="1033145" h="130175">
                  <a:moveTo>
                    <a:pt x="1778" y="0"/>
                  </a:moveTo>
                  <a:lnTo>
                    <a:pt x="0" y="22098"/>
                  </a:lnTo>
                  <a:lnTo>
                    <a:pt x="955887" y="103071"/>
                  </a:lnTo>
                  <a:lnTo>
                    <a:pt x="957656" y="81914"/>
                  </a:lnTo>
                  <a:lnTo>
                    <a:pt x="957746" y="80844"/>
                  </a:lnTo>
                  <a:lnTo>
                    <a:pt x="1778" y="0"/>
                  </a:lnTo>
                  <a:close/>
                </a:path>
              </a:pathLst>
            </a:custGeom>
            <a:solidFill>
              <a:srgbClr val="FF09FF"/>
            </a:solidFill>
          </p:spPr>
          <p:txBody>
            <a:bodyPr wrap="square" lIns="0" tIns="0" rIns="0" bIns="0" rtlCol="0"/>
            <a:lstStyle/>
            <a:p/>
          </p:txBody>
        </p:sp>
      </p:grpSp>
      <p:sp>
        <p:nvSpPr>
          <p:cNvPr id="57" name="object 57" descr=""/>
          <p:cNvSpPr txBox="1"/>
          <p:nvPr/>
        </p:nvSpPr>
        <p:spPr>
          <a:xfrm>
            <a:off x="8979534" y="2108453"/>
            <a:ext cx="379095" cy="29972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40458B"/>
                </a:solidFill>
                <a:latin typeface="Tahoma"/>
                <a:cs typeface="Tahoma"/>
              </a:rPr>
              <a:t>8</a:t>
            </a:r>
            <a:r>
              <a:rPr dirty="0" sz="1800" spc="-50">
                <a:solidFill>
                  <a:srgbClr val="40458B"/>
                </a:solidFill>
                <a:latin typeface="黑体"/>
                <a:cs typeface="黑体"/>
              </a:rPr>
              <a:t>种</a:t>
            </a:r>
            <a:endParaRPr sz="1800">
              <a:latin typeface="黑体"/>
              <a:cs typeface="黑体"/>
            </a:endParaRPr>
          </a:p>
        </p:txBody>
      </p:sp>
      <p:sp>
        <p:nvSpPr>
          <p:cNvPr id="58" name="object 58" descr=""/>
          <p:cNvSpPr txBox="1"/>
          <p:nvPr/>
        </p:nvSpPr>
        <p:spPr>
          <a:xfrm>
            <a:off x="8815831" y="3171901"/>
            <a:ext cx="504825" cy="300355"/>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40458B"/>
                </a:solidFill>
                <a:latin typeface="Tahoma"/>
                <a:cs typeface="Tahoma"/>
              </a:rPr>
              <a:t>64</a:t>
            </a:r>
            <a:r>
              <a:rPr dirty="0" sz="1800" spc="-50">
                <a:solidFill>
                  <a:srgbClr val="40458B"/>
                </a:solidFill>
                <a:latin typeface="黑体"/>
                <a:cs typeface="黑体"/>
              </a:rPr>
              <a:t>种</a:t>
            </a:r>
            <a:endParaRPr sz="1800">
              <a:latin typeface="黑体"/>
              <a:cs typeface="黑体"/>
            </a:endParaRPr>
          </a:p>
        </p:txBody>
      </p:sp>
      <p:sp>
        <p:nvSpPr>
          <p:cNvPr id="59" name="object 59" descr=""/>
          <p:cNvSpPr/>
          <p:nvPr/>
        </p:nvSpPr>
        <p:spPr>
          <a:xfrm>
            <a:off x="3497071" y="3446653"/>
            <a:ext cx="617855" cy="137795"/>
          </a:xfrm>
          <a:custGeom>
            <a:avLst/>
            <a:gdLst/>
            <a:ahLst/>
            <a:cxnLst/>
            <a:rect l="l" t="t" r="r" b="b"/>
            <a:pathLst>
              <a:path w="617854" h="137795">
                <a:moveTo>
                  <a:pt x="540719" y="111095"/>
                </a:moveTo>
                <a:lnTo>
                  <a:pt x="536320" y="137668"/>
                </a:lnTo>
                <a:lnTo>
                  <a:pt x="615672" y="113157"/>
                </a:lnTo>
                <a:lnTo>
                  <a:pt x="553212" y="113157"/>
                </a:lnTo>
                <a:lnTo>
                  <a:pt x="540719" y="111095"/>
                </a:lnTo>
                <a:close/>
              </a:path>
              <a:path w="617854" h="137795">
                <a:moveTo>
                  <a:pt x="544357" y="89119"/>
                </a:moveTo>
                <a:lnTo>
                  <a:pt x="540719" y="111095"/>
                </a:lnTo>
                <a:lnTo>
                  <a:pt x="553212" y="113157"/>
                </a:lnTo>
                <a:lnTo>
                  <a:pt x="556894" y="91186"/>
                </a:lnTo>
                <a:lnTo>
                  <a:pt x="544357" y="89119"/>
                </a:lnTo>
                <a:close/>
              </a:path>
              <a:path w="617854" h="137795">
                <a:moveTo>
                  <a:pt x="548766" y="62484"/>
                </a:moveTo>
                <a:lnTo>
                  <a:pt x="544357" y="89119"/>
                </a:lnTo>
                <a:lnTo>
                  <a:pt x="556894" y="91186"/>
                </a:lnTo>
                <a:lnTo>
                  <a:pt x="553318" y="112522"/>
                </a:lnTo>
                <a:lnTo>
                  <a:pt x="553212" y="113157"/>
                </a:lnTo>
                <a:lnTo>
                  <a:pt x="615672" y="113157"/>
                </a:lnTo>
                <a:lnTo>
                  <a:pt x="617727" y="112522"/>
                </a:lnTo>
                <a:lnTo>
                  <a:pt x="548766" y="62484"/>
                </a:lnTo>
                <a:close/>
              </a:path>
              <a:path w="617854" h="137795">
                <a:moveTo>
                  <a:pt x="3555" y="0"/>
                </a:moveTo>
                <a:lnTo>
                  <a:pt x="0" y="21844"/>
                </a:lnTo>
                <a:lnTo>
                  <a:pt x="540719" y="111095"/>
                </a:lnTo>
                <a:lnTo>
                  <a:pt x="544357" y="89119"/>
                </a:lnTo>
                <a:lnTo>
                  <a:pt x="3555" y="0"/>
                </a:lnTo>
                <a:close/>
              </a:path>
            </a:pathLst>
          </a:custGeom>
          <a:solidFill>
            <a:srgbClr val="FF09FF"/>
          </a:solidFill>
        </p:spPr>
        <p:txBody>
          <a:bodyPr wrap="square" lIns="0" tIns="0" rIns="0" bIns="0" rtlCol="0"/>
          <a:lstStyle/>
          <a:p/>
        </p:txBody>
      </p:sp>
      <p:pic>
        <p:nvPicPr>
          <p:cNvPr id="60" name="object 60" descr=""/>
          <p:cNvPicPr/>
          <p:nvPr/>
        </p:nvPicPr>
        <p:blipFill>
          <a:blip r:embed="rId3" cstate="print"/>
          <a:stretch>
            <a:fillRect/>
          </a:stretch>
        </p:blipFill>
        <p:spPr>
          <a:xfrm>
            <a:off x="7655298" y="1782698"/>
            <a:ext cx="1021976" cy="188595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723821" y="1234273"/>
            <a:ext cx="8641675" cy="5144302"/>
          </a:xfrm>
          <a:prstGeom prst="rect">
            <a:avLst/>
          </a:prstGeom>
        </p:spPr>
      </p:pic>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t>	2.3.3</a:t>
            </a:r>
            <a:r>
              <a:rPr dirty="0" spc="-45"/>
              <a:t> </a:t>
            </a:r>
            <a:r>
              <a:rPr dirty="0">
                <a:latin typeface="微软雅黑"/>
                <a:cs typeface="微软雅黑"/>
              </a:rPr>
              <a:t>指令操作码的优</a:t>
            </a:r>
            <a:r>
              <a:rPr dirty="0" spc="-50">
                <a:latin typeface="微软雅黑"/>
                <a:cs typeface="微软雅黑"/>
              </a:rPr>
              <a:t>化</a:t>
            </a:r>
            <a:r>
              <a:rPr dirty="0">
                <a:latin typeface="微软雅黑"/>
                <a:cs typeface="微软雅黑"/>
              </a:rPr>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756917" y="706492"/>
            <a:ext cx="8468360" cy="3348354"/>
          </a:xfrm>
          <a:prstGeom prst="rect">
            <a:avLst/>
          </a:prstGeom>
        </p:spPr>
        <p:txBody>
          <a:bodyPr wrap="square" lIns="0" tIns="172720" rIns="0" bIns="0" rtlCol="0" vert="horz">
            <a:spAutoFit/>
          </a:bodyPr>
          <a:lstStyle/>
          <a:p>
            <a:pPr marL="494665" indent="-456565">
              <a:lnSpc>
                <a:spcPct val="100000"/>
              </a:lnSpc>
              <a:spcBef>
                <a:spcPts val="1360"/>
              </a:spcBef>
              <a:buClr>
                <a:srgbClr val="40458B"/>
              </a:buClr>
              <a:buSzPct val="117857"/>
              <a:buFont typeface="Tahoma"/>
              <a:buAutoNum type="arabicPeriod" startAt="2"/>
              <a:tabLst>
                <a:tab pos="494665" algn="l"/>
              </a:tabLst>
            </a:pPr>
            <a:r>
              <a:rPr dirty="0" sz="2800" spc="-30">
                <a:solidFill>
                  <a:srgbClr val="172152"/>
                </a:solidFill>
                <a:latin typeface="黑体"/>
                <a:cs typeface="黑体"/>
              </a:rPr>
              <a:t>扩展操作码</a:t>
            </a:r>
            <a:r>
              <a:rPr dirty="0" sz="2800" spc="-15">
                <a:solidFill>
                  <a:srgbClr val="172152"/>
                </a:solidFill>
                <a:latin typeface="Tahoma"/>
                <a:cs typeface="Tahoma"/>
              </a:rPr>
              <a:t>----</a:t>
            </a:r>
            <a:r>
              <a:rPr dirty="0" sz="2800" spc="-40">
                <a:solidFill>
                  <a:srgbClr val="172152"/>
                </a:solidFill>
                <a:latin typeface="黑体"/>
                <a:cs typeface="黑体"/>
              </a:rPr>
              <a:t>等长扩展码</a:t>
            </a:r>
            <a:endParaRPr sz="2800">
              <a:latin typeface="黑体"/>
              <a:cs typeface="黑体"/>
            </a:endParaRPr>
          </a:p>
          <a:p>
            <a:pPr lvl="1" marL="1124585" indent="-457200">
              <a:lnSpc>
                <a:spcPct val="100000"/>
              </a:lnSpc>
              <a:spcBef>
                <a:spcPts val="1420"/>
              </a:spcBef>
              <a:buSzPct val="89583"/>
              <a:buFont typeface="Wingdings"/>
              <a:buChar char=""/>
              <a:tabLst>
                <a:tab pos="1124585" algn="l"/>
              </a:tabLst>
            </a:pPr>
            <a:r>
              <a:rPr dirty="0" sz="2400" spc="-20" b="1">
                <a:solidFill>
                  <a:srgbClr val="006FC0"/>
                </a:solidFill>
                <a:latin typeface="宋体"/>
                <a:cs typeface="宋体"/>
              </a:rPr>
              <a:t>例如：</a:t>
            </a:r>
            <a:r>
              <a:rPr dirty="0" sz="2400" spc="-10" b="1">
                <a:solidFill>
                  <a:srgbClr val="9933FF"/>
                </a:solidFill>
                <a:latin typeface="Times New Roman"/>
                <a:cs typeface="Times New Roman"/>
              </a:rPr>
              <a:t>15/15/15</a:t>
            </a:r>
            <a:r>
              <a:rPr dirty="0" sz="2400" spc="-20" b="1">
                <a:latin typeface="宋体"/>
                <a:cs typeface="宋体"/>
              </a:rPr>
              <a:t>法和</a:t>
            </a:r>
            <a:r>
              <a:rPr dirty="0" sz="2400" b="1">
                <a:solidFill>
                  <a:srgbClr val="9933FF"/>
                </a:solidFill>
                <a:latin typeface="Times New Roman"/>
                <a:cs typeface="Times New Roman"/>
              </a:rPr>
              <a:t>8/64/512</a:t>
            </a:r>
            <a:r>
              <a:rPr dirty="0" sz="2400" spc="-20" b="1">
                <a:latin typeface="宋体"/>
                <a:cs typeface="宋体"/>
              </a:rPr>
              <a:t>法（</a:t>
            </a:r>
            <a:r>
              <a:rPr dirty="0" sz="2400" spc="-15" b="1">
                <a:latin typeface="宋体"/>
                <a:cs typeface="宋体"/>
              </a:rPr>
              <a:t>都是</a:t>
            </a:r>
            <a:r>
              <a:rPr dirty="0" sz="2400" spc="-10" b="1">
                <a:latin typeface="Times New Roman"/>
                <a:cs typeface="Times New Roman"/>
              </a:rPr>
              <a:t>4-8-</a:t>
            </a:r>
            <a:r>
              <a:rPr dirty="0" sz="2400" b="1">
                <a:latin typeface="Times New Roman"/>
                <a:cs typeface="Times New Roman"/>
              </a:rPr>
              <a:t>12</a:t>
            </a:r>
            <a:r>
              <a:rPr dirty="0" sz="2400">
                <a:latin typeface="宋体"/>
                <a:cs typeface="宋体"/>
              </a:rPr>
              <a:t>扩展法</a:t>
            </a:r>
            <a:r>
              <a:rPr dirty="0" sz="2400" spc="-50" b="1">
                <a:latin typeface="宋体"/>
                <a:cs typeface="宋体"/>
              </a:rPr>
              <a:t>）</a:t>
            </a:r>
            <a:endParaRPr sz="2400">
              <a:latin typeface="宋体"/>
              <a:cs typeface="宋体"/>
            </a:endParaRPr>
          </a:p>
          <a:p>
            <a:pPr lvl="2" marL="1333500" marR="30480" indent="-360045">
              <a:lnSpc>
                <a:spcPct val="130000"/>
              </a:lnSpc>
              <a:spcBef>
                <a:spcPts val="555"/>
              </a:spcBef>
              <a:buClr>
                <a:srgbClr val="4668F5"/>
              </a:buClr>
              <a:buSzPct val="72500"/>
              <a:buFont typeface="Wingdings"/>
              <a:buChar char=""/>
              <a:tabLst>
                <a:tab pos="1333500" algn="l"/>
              </a:tabLst>
            </a:pPr>
            <a:r>
              <a:rPr dirty="0" sz="2000" spc="-20" b="1">
                <a:solidFill>
                  <a:srgbClr val="6F2F9F"/>
                </a:solidFill>
                <a:latin typeface="黑体"/>
                <a:cs typeface="黑体"/>
              </a:rPr>
              <a:t>选用哪种编码法取决于指令使用频度</a:t>
            </a:r>
            <a:r>
              <a:rPr dirty="0" sz="2000" b="1">
                <a:solidFill>
                  <a:srgbClr val="9933FF"/>
                </a:solidFill>
                <a:latin typeface="Times New Roman"/>
                <a:cs typeface="Times New Roman"/>
              </a:rPr>
              <a:t>p</a:t>
            </a:r>
            <a:r>
              <a:rPr dirty="0" baseline="-21367" sz="1950" b="1">
                <a:solidFill>
                  <a:srgbClr val="9933FF"/>
                </a:solidFill>
                <a:latin typeface="Times New Roman"/>
                <a:cs typeface="Times New Roman"/>
              </a:rPr>
              <a:t>i</a:t>
            </a:r>
            <a:r>
              <a:rPr dirty="0" sz="2000" spc="-15" b="1">
                <a:solidFill>
                  <a:srgbClr val="6F2F9F"/>
                </a:solidFill>
                <a:latin typeface="黑体"/>
                <a:cs typeface="黑体"/>
              </a:rPr>
              <a:t>的分布。若在头</a:t>
            </a:r>
            <a:r>
              <a:rPr dirty="0" sz="2000" spc="-10" b="1">
                <a:solidFill>
                  <a:srgbClr val="9933FF"/>
                </a:solidFill>
                <a:latin typeface="Times New Roman"/>
                <a:cs typeface="Times New Roman"/>
              </a:rPr>
              <a:t>15</a:t>
            </a:r>
            <a:r>
              <a:rPr dirty="0" sz="2000" spc="-10" b="1">
                <a:solidFill>
                  <a:srgbClr val="9933FF"/>
                </a:solidFill>
                <a:latin typeface="黑体"/>
                <a:cs typeface="黑体"/>
              </a:rPr>
              <a:t>种</a:t>
            </a:r>
            <a:r>
              <a:rPr dirty="0" sz="2000" spc="-35" b="1">
                <a:solidFill>
                  <a:srgbClr val="6F2F9F"/>
                </a:solidFill>
                <a:latin typeface="黑体"/>
                <a:cs typeface="黑体"/>
              </a:rPr>
              <a:t>指令</a:t>
            </a:r>
            <a:r>
              <a:rPr dirty="0" sz="2000" b="1">
                <a:solidFill>
                  <a:srgbClr val="6F2F9F"/>
                </a:solidFill>
                <a:latin typeface="黑体"/>
                <a:cs typeface="黑体"/>
              </a:rPr>
              <a:t>中</a:t>
            </a:r>
            <a:r>
              <a:rPr dirty="0" sz="2000" b="1">
                <a:solidFill>
                  <a:srgbClr val="9933FF"/>
                </a:solidFill>
                <a:latin typeface="Times New Roman"/>
                <a:cs typeface="Times New Roman"/>
              </a:rPr>
              <a:t>p</a:t>
            </a:r>
            <a:r>
              <a:rPr dirty="0" baseline="-21367" sz="1950" b="1">
                <a:solidFill>
                  <a:srgbClr val="9933FF"/>
                </a:solidFill>
                <a:latin typeface="Times New Roman"/>
                <a:cs typeface="Times New Roman"/>
              </a:rPr>
              <a:t>i</a:t>
            </a:r>
            <a:r>
              <a:rPr dirty="0" baseline="-21367" sz="1950" spc="15" b="1">
                <a:solidFill>
                  <a:srgbClr val="9933FF"/>
                </a:solidFill>
                <a:latin typeface="Times New Roman"/>
                <a:cs typeface="Times New Roman"/>
              </a:rPr>
              <a:t> </a:t>
            </a:r>
            <a:r>
              <a:rPr dirty="0" sz="2000" spc="-20" b="1">
                <a:solidFill>
                  <a:srgbClr val="6F2F9F"/>
                </a:solidFill>
                <a:latin typeface="黑体"/>
                <a:cs typeface="黑体"/>
              </a:rPr>
              <a:t>的值都比较大，但在后</a:t>
            </a:r>
            <a:r>
              <a:rPr dirty="0" sz="2000" spc="-10" b="1">
                <a:solidFill>
                  <a:srgbClr val="9933FF"/>
                </a:solidFill>
                <a:latin typeface="Times New Roman"/>
                <a:cs typeface="Times New Roman"/>
              </a:rPr>
              <a:t>30</a:t>
            </a:r>
            <a:r>
              <a:rPr dirty="0" sz="2000" spc="-10" b="1">
                <a:solidFill>
                  <a:srgbClr val="9933FF"/>
                </a:solidFill>
                <a:latin typeface="黑体"/>
                <a:cs typeface="黑体"/>
              </a:rPr>
              <a:t>种</a:t>
            </a:r>
            <a:r>
              <a:rPr dirty="0" sz="2000" spc="-25" b="1">
                <a:solidFill>
                  <a:srgbClr val="6F2F9F"/>
                </a:solidFill>
                <a:latin typeface="黑体"/>
                <a:cs typeface="黑体"/>
              </a:rPr>
              <a:t>指令后急剧减少，则应选择</a:t>
            </a:r>
            <a:r>
              <a:rPr dirty="0" sz="2000" spc="-50" b="1">
                <a:solidFill>
                  <a:srgbClr val="6F2F9F"/>
                </a:solidFill>
                <a:latin typeface="黑体"/>
                <a:cs typeface="黑体"/>
              </a:rPr>
              <a:t> </a:t>
            </a:r>
            <a:r>
              <a:rPr dirty="0" sz="2000" spc="-10" b="1">
                <a:solidFill>
                  <a:srgbClr val="6F2F9F"/>
                </a:solidFill>
                <a:latin typeface="Times New Roman"/>
                <a:cs typeface="Times New Roman"/>
              </a:rPr>
              <a:t>15/15/15</a:t>
            </a:r>
            <a:r>
              <a:rPr dirty="0" sz="2000" spc="-10" b="1">
                <a:solidFill>
                  <a:srgbClr val="6F2F9F"/>
                </a:solidFill>
                <a:latin typeface="黑体"/>
                <a:cs typeface="黑体"/>
              </a:rPr>
              <a:t>法；若</a:t>
            </a:r>
            <a:r>
              <a:rPr dirty="0" sz="2000" b="1">
                <a:solidFill>
                  <a:srgbClr val="9933FF"/>
                </a:solidFill>
                <a:latin typeface="Times New Roman"/>
                <a:cs typeface="Times New Roman"/>
              </a:rPr>
              <a:t>p</a:t>
            </a:r>
            <a:r>
              <a:rPr dirty="0" baseline="-21367" sz="1950" b="1">
                <a:solidFill>
                  <a:srgbClr val="9933FF"/>
                </a:solidFill>
                <a:latin typeface="Times New Roman"/>
                <a:cs typeface="Times New Roman"/>
              </a:rPr>
              <a:t>i </a:t>
            </a:r>
            <a:r>
              <a:rPr dirty="0" sz="2000" spc="-10" b="1">
                <a:solidFill>
                  <a:srgbClr val="6F2F9F"/>
                </a:solidFill>
                <a:latin typeface="黑体"/>
                <a:cs typeface="黑体"/>
              </a:rPr>
              <a:t>的值在头</a:t>
            </a:r>
            <a:r>
              <a:rPr dirty="0" sz="2000" spc="-10" b="1">
                <a:solidFill>
                  <a:srgbClr val="9933FF"/>
                </a:solidFill>
                <a:latin typeface="Times New Roman"/>
                <a:cs typeface="Times New Roman"/>
              </a:rPr>
              <a:t>8</a:t>
            </a:r>
            <a:r>
              <a:rPr dirty="0" sz="2000" spc="-10" b="1">
                <a:solidFill>
                  <a:srgbClr val="9933FF"/>
                </a:solidFill>
                <a:latin typeface="黑体"/>
                <a:cs typeface="黑体"/>
              </a:rPr>
              <a:t>种</a:t>
            </a:r>
            <a:r>
              <a:rPr dirty="0" sz="2000" spc="-20" b="1">
                <a:solidFill>
                  <a:srgbClr val="6F2F9F"/>
                </a:solidFill>
                <a:latin typeface="黑体"/>
                <a:cs typeface="黑体"/>
              </a:rPr>
              <a:t>指令中较大，之后的</a:t>
            </a:r>
            <a:r>
              <a:rPr dirty="0" sz="2000" spc="-10" b="1">
                <a:solidFill>
                  <a:srgbClr val="9933FF"/>
                </a:solidFill>
                <a:latin typeface="Times New Roman"/>
                <a:cs typeface="Times New Roman"/>
              </a:rPr>
              <a:t>64</a:t>
            </a:r>
            <a:r>
              <a:rPr dirty="0" sz="2000" spc="-10" b="1">
                <a:solidFill>
                  <a:srgbClr val="9933FF"/>
                </a:solidFill>
                <a:latin typeface="黑体"/>
                <a:cs typeface="黑体"/>
              </a:rPr>
              <a:t>种</a:t>
            </a:r>
            <a:r>
              <a:rPr dirty="0" sz="2000" spc="-15" b="1">
                <a:solidFill>
                  <a:srgbClr val="6F2F9F"/>
                </a:solidFill>
                <a:latin typeface="黑体"/>
                <a:cs typeface="黑体"/>
              </a:rPr>
              <a:t>指令的</a:t>
            </a:r>
            <a:r>
              <a:rPr dirty="0" sz="2000" spc="-25" b="1">
                <a:solidFill>
                  <a:srgbClr val="9933FF"/>
                </a:solidFill>
                <a:latin typeface="Times New Roman"/>
                <a:cs typeface="Times New Roman"/>
              </a:rPr>
              <a:t>p</a:t>
            </a:r>
            <a:r>
              <a:rPr dirty="0" baseline="-21367" sz="1950" spc="-37" b="1">
                <a:solidFill>
                  <a:srgbClr val="9933FF"/>
                </a:solidFill>
                <a:latin typeface="Times New Roman"/>
                <a:cs typeface="Times New Roman"/>
              </a:rPr>
              <a:t>i</a:t>
            </a:r>
            <a:r>
              <a:rPr dirty="0" sz="2000" spc="-20" b="1">
                <a:solidFill>
                  <a:srgbClr val="6F2F9F"/>
                </a:solidFill>
                <a:latin typeface="黑体"/>
                <a:cs typeface="黑体"/>
              </a:rPr>
              <a:t>值也不太低，则应选择</a:t>
            </a:r>
            <a:r>
              <a:rPr dirty="0" sz="2000" spc="-10" b="1">
                <a:solidFill>
                  <a:srgbClr val="6F2F9F"/>
                </a:solidFill>
                <a:latin typeface="Times New Roman"/>
                <a:cs typeface="Times New Roman"/>
              </a:rPr>
              <a:t>8/64/512</a:t>
            </a:r>
            <a:r>
              <a:rPr dirty="0" sz="2000" spc="-35" b="1">
                <a:solidFill>
                  <a:srgbClr val="6F2F9F"/>
                </a:solidFill>
                <a:latin typeface="黑体"/>
                <a:cs typeface="黑体"/>
              </a:rPr>
              <a:t>法。</a:t>
            </a:r>
            <a:endParaRPr sz="2000">
              <a:latin typeface="黑体"/>
              <a:cs typeface="黑体"/>
            </a:endParaRPr>
          </a:p>
          <a:p>
            <a:pPr lvl="2" marL="1333500" indent="-360045">
              <a:lnSpc>
                <a:spcPct val="100000"/>
              </a:lnSpc>
              <a:spcBef>
                <a:spcPts val="1205"/>
              </a:spcBef>
              <a:buClr>
                <a:srgbClr val="4668F5"/>
              </a:buClr>
              <a:buSzPct val="72500"/>
              <a:buFont typeface="Wingdings"/>
              <a:buChar char=""/>
              <a:tabLst>
                <a:tab pos="1333500" algn="l"/>
              </a:tabLst>
            </a:pPr>
            <a:r>
              <a:rPr dirty="0" sz="2000" spc="-10" b="1">
                <a:solidFill>
                  <a:srgbClr val="D50092"/>
                </a:solidFill>
                <a:latin typeface="黑体"/>
                <a:cs typeface="黑体"/>
              </a:rPr>
              <a:t>衡量标准：</a:t>
            </a:r>
            <a:r>
              <a:rPr dirty="0" sz="2000" spc="-25" b="1">
                <a:solidFill>
                  <a:srgbClr val="6F2F9F"/>
                </a:solidFill>
                <a:latin typeface="黑体"/>
                <a:cs typeface="黑体"/>
              </a:rPr>
              <a:t>看哪种编码法能使平均码长度最短。</a:t>
            </a:r>
            <a:endParaRPr sz="2000">
              <a:latin typeface="黑体"/>
              <a:cs typeface="黑体"/>
            </a:endParaRPr>
          </a:p>
        </p:txBody>
      </p:sp>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494790" algn="l"/>
                <a:tab pos="11028045" algn="l"/>
              </a:tabLst>
            </a:pPr>
            <a:r>
              <a:rPr dirty="0"/>
              <a:t>	2.3.3</a:t>
            </a:r>
            <a:r>
              <a:rPr dirty="0" spc="-45"/>
              <a:t> </a:t>
            </a:r>
            <a:r>
              <a:rPr dirty="0">
                <a:latin typeface="微软雅黑"/>
                <a:cs typeface="微软雅黑"/>
              </a:rPr>
              <a:t>指令操作码的优</a:t>
            </a:r>
            <a:r>
              <a:rPr dirty="0" spc="-50">
                <a:latin typeface="微软雅黑"/>
                <a:cs typeface="微软雅黑"/>
              </a:rPr>
              <a:t>化</a:t>
            </a:r>
            <a:r>
              <a:rPr dirty="0">
                <a:latin typeface="微软雅黑"/>
                <a:cs typeface="微软雅黑"/>
              </a:rPr>
              <a: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366774" y="1295964"/>
            <a:ext cx="9359265" cy="3169920"/>
          </a:xfrm>
          <a:prstGeom prst="rect">
            <a:avLst/>
          </a:prstGeom>
        </p:spPr>
        <p:txBody>
          <a:bodyPr wrap="square" lIns="0" tIns="182245" rIns="0" bIns="0" rtlCol="0" vert="horz">
            <a:spAutoFit/>
          </a:bodyPr>
          <a:lstStyle/>
          <a:p>
            <a:pPr marL="469265" indent="-456565">
              <a:lnSpc>
                <a:spcPct val="100000"/>
              </a:lnSpc>
              <a:spcBef>
                <a:spcPts val="1435"/>
              </a:spcBef>
              <a:buClr>
                <a:srgbClr val="40458B"/>
              </a:buClr>
              <a:buSzPct val="117857"/>
              <a:buFont typeface="Tahoma"/>
              <a:buAutoNum type="arabicPeriod" startAt="3"/>
              <a:tabLst>
                <a:tab pos="469265" algn="l"/>
              </a:tabLst>
            </a:pPr>
            <a:r>
              <a:rPr dirty="0" sz="2800" spc="-40">
                <a:solidFill>
                  <a:srgbClr val="172152"/>
                </a:solidFill>
                <a:latin typeface="黑体"/>
                <a:cs typeface="黑体"/>
              </a:rPr>
              <a:t>定长操作码</a:t>
            </a:r>
            <a:endParaRPr sz="2800">
              <a:latin typeface="黑体"/>
              <a:cs typeface="黑体"/>
            </a:endParaRPr>
          </a:p>
          <a:p>
            <a:pPr lvl="1" marL="1099185" indent="-457200">
              <a:lnSpc>
                <a:spcPct val="100000"/>
              </a:lnSpc>
              <a:spcBef>
                <a:spcPts val="1340"/>
              </a:spcBef>
              <a:buClr>
                <a:srgbClr val="006FC0"/>
              </a:buClr>
              <a:buSzPct val="88636"/>
              <a:buFont typeface="Wingdings"/>
              <a:buChar char=""/>
              <a:tabLst>
                <a:tab pos="1099185" algn="l"/>
              </a:tabLst>
            </a:pPr>
            <a:r>
              <a:rPr dirty="0" sz="2200" spc="-30">
                <a:solidFill>
                  <a:srgbClr val="FF0000"/>
                </a:solidFill>
                <a:latin typeface="黑体"/>
                <a:cs typeface="黑体"/>
              </a:rPr>
              <a:t>固定长度的操作码</a:t>
            </a:r>
            <a:r>
              <a:rPr dirty="0" sz="2200" spc="-30">
                <a:solidFill>
                  <a:srgbClr val="006FC0"/>
                </a:solidFill>
                <a:latin typeface="黑体"/>
                <a:cs typeface="黑体"/>
              </a:rPr>
              <a:t>：所有指令的操作码都是同一的长度（</a:t>
            </a:r>
            <a:r>
              <a:rPr dirty="0" sz="2200">
                <a:solidFill>
                  <a:srgbClr val="006FC0"/>
                </a:solidFill>
                <a:latin typeface="黑体"/>
                <a:cs typeface="黑体"/>
              </a:rPr>
              <a:t>如</a:t>
            </a:r>
            <a:r>
              <a:rPr dirty="0" sz="2200" spc="-30">
                <a:solidFill>
                  <a:srgbClr val="9933FF"/>
                </a:solidFill>
                <a:latin typeface="Times New Roman"/>
                <a:cs typeface="Times New Roman"/>
              </a:rPr>
              <a:t>8</a:t>
            </a:r>
            <a:r>
              <a:rPr dirty="0" sz="2200" spc="-25">
                <a:solidFill>
                  <a:srgbClr val="006FC0"/>
                </a:solidFill>
                <a:latin typeface="黑体"/>
                <a:cs typeface="黑体"/>
              </a:rPr>
              <a:t>位</a:t>
            </a:r>
            <a:r>
              <a:rPr dirty="0" sz="2200" spc="-30">
                <a:solidFill>
                  <a:srgbClr val="006FC0"/>
                </a:solidFill>
                <a:latin typeface="黑体"/>
                <a:cs typeface="黑体"/>
              </a:rPr>
              <a:t>）</a:t>
            </a:r>
            <a:r>
              <a:rPr dirty="0" sz="2200" spc="-50">
                <a:solidFill>
                  <a:srgbClr val="006FC0"/>
                </a:solidFill>
                <a:latin typeface="黑体"/>
                <a:cs typeface="黑体"/>
              </a:rPr>
              <a:t>。</a:t>
            </a:r>
            <a:endParaRPr sz="2200">
              <a:latin typeface="黑体"/>
              <a:cs typeface="黑体"/>
            </a:endParaRPr>
          </a:p>
          <a:p>
            <a:pPr algn="r" marR="2681605">
              <a:lnSpc>
                <a:spcPct val="100000"/>
              </a:lnSpc>
              <a:spcBef>
                <a:spcPts val="1235"/>
              </a:spcBef>
            </a:pPr>
            <a:r>
              <a:rPr dirty="0" sz="2000" spc="-15" b="1">
                <a:solidFill>
                  <a:srgbClr val="6F2F9F"/>
                </a:solidFill>
                <a:latin typeface="黑体"/>
                <a:cs typeface="黑体"/>
              </a:rPr>
              <a:t>许多计算机都采用</a:t>
            </a:r>
            <a:r>
              <a:rPr dirty="0" sz="2000" spc="-10" b="1">
                <a:solidFill>
                  <a:srgbClr val="6F2F9F"/>
                </a:solidFill>
                <a:latin typeface="黑体"/>
                <a:cs typeface="黑体"/>
              </a:rPr>
              <a:t>（特别是</a:t>
            </a:r>
            <a:r>
              <a:rPr dirty="0" sz="2000" spc="-10" b="1">
                <a:solidFill>
                  <a:srgbClr val="9933FF"/>
                </a:solidFill>
                <a:latin typeface="Times New Roman"/>
                <a:cs typeface="Times New Roman"/>
              </a:rPr>
              <a:t>RISC</a:t>
            </a:r>
            <a:r>
              <a:rPr dirty="0" sz="2000" spc="-20" b="1">
                <a:solidFill>
                  <a:srgbClr val="6F2F9F"/>
                </a:solidFill>
                <a:latin typeface="黑体"/>
                <a:cs typeface="黑体"/>
              </a:rPr>
              <a:t>结构的计算机</a:t>
            </a:r>
            <a:r>
              <a:rPr dirty="0" sz="2000" spc="-50" b="1">
                <a:solidFill>
                  <a:srgbClr val="6F2F9F"/>
                </a:solidFill>
                <a:latin typeface="黑体"/>
                <a:cs typeface="黑体"/>
              </a:rPr>
              <a:t>）</a:t>
            </a:r>
            <a:endParaRPr sz="2000">
              <a:latin typeface="黑体"/>
              <a:cs typeface="黑体"/>
            </a:endParaRPr>
          </a:p>
          <a:p>
            <a:pPr algn="r" lvl="1" marL="456565" marR="2665095" indent="-456565">
              <a:lnSpc>
                <a:spcPct val="100000"/>
              </a:lnSpc>
              <a:spcBef>
                <a:spcPts val="1285"/>
              </a:spcBef>
              <a:buSzPct val="88636"/>
              <a:buFont typeface="Wingdings"/>
              <a:buChar char=""/>
              <a:tabLst>
                <a:tab pos="456565" algn="l"/>
              </a:tabLst>
            </a:pPr>
            <a:r>
              <a:rPr dirty="0" sz="2200" spc="-35">
                <a:solidFill>
                  <a:srgbClr val="006FC0"/>
                </a:solidFill>
                <a:latin typeface="黑体"/>
                <a:cs typeface="黑体"/>
              </a:rPr>
              <a:t>保证操作码的译码速度、减少译码的复杂度。</a:t>
            </a:r>
            <a:endParaRPr sz="2200">
              <a:latin typeface="黑体"/>
              <a:cs typeface="黑体"/>
            </a:endParaRPr>
          </a:p>
          <a:p>
            <a:pPr lvl="1" marL="1099185" indent="-457200">
              <a:lnSpc>
                <a:spcPct val="100000"/>
              </a:lnSpc>
              <a:spcBef>
                <a:spcPts val="1320"/>
              </a:spcBef>
              <a:buSzPct val="88636"/>
              <a:buFont typeface="Wingdings"/>
              <a:buChar char=""/>
              <a:tabLst>
                <a:tab pos="1099185" algn="l"/>
              </a:tabLst>
            </a:pPr>
            <a:r>
              <a:rPr dirty="0" sz="2200" spc="-35">
                <a:solidFill>
                  <a:srgbClr val="006FC0"/>
                </a:solidFill>
                <a:latin typeface="黑体"/>
                <a:cs typeface="黑体"/>
              </a:rPr>
              <a:t>以程序的存储空间为代价来换取硬件实现上的好处。</a:t>
            </a:r>
            <a:endParaRPr sz="2200">
              <a:latin typeface="黑体"/>
              <a:cs typeface="黑体"/>
            </a:endParaRPr>
          </a:p>
          <a:p>
            <a:pPr algn="r" lvl="1" marL="456565" marR="2664460" indent="-456565">
              <a:lnSpc>
                <a:spcPct val="100000"/>
              </a:lnSpc>
              <a:spcBef>
                <a:spcPts val="1325"/>
              </a:spcBef>
              <a:buClr>
                <a:srgbClr val="006FC0"/>
              </a:buClr>
              <a:buSzPct val="88636"/>
              <a:buFont typeface="Wingdings"/>
              <a:buChar char=""/>
              <a:tabLst>
                <a:tab pos="456565" algn="l"/>
              </a:tabLst>
            </a:pPr>
            <a:r>
              <a:rPr dirty="0" sz="2200" spc="-25">
                <a:solidFill>
                  <a:srgbClr val="FF09FF"/>
                </a:solidFill>
                <a:latin typeface="黑体"/>
                <a:cs typeface="黑体"/>
              </a:rPr>
              <a:t>但，</a:t>
            </a:r>
            <a:r>
              <a:rPr dirty="0" sz="2200" spc="-35">
                <a:solidFill>
                  <a:srgbClr val="006FC0"/>
                </a:solidFill>
                <a:latin typeface="黑体"/>
                <a:cs typeface="黑体"/>
              </a:rPr>
              <a:t>优化空间不大，因为操作码程度已固定。</a:t>
            </a:r>
            <a:endParaRPr sz="2200">
              <a:latin typeface="黑体"/>
              <a:cs typeface="黑体"/>
            </a:endParaRPr>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t>	2.3.3</a:t>
            </a:r>
            <a:r>
              <a:rPr dirty="0" spc="-45"/>
              <a:t> </a:t>
            </a:r>
            <a:r>
              <a:rPr dirty="0">
                <a:latin typeface="微软雅黑"/>
                <a:cs typeface="微软雅黑"/>
              </a:rPr>
              <a:t>指令操作码的优</a:t>
            </a:r>
            <a:r>
              <a:rPr dirty="0" spc="-50">
                <a:latin typeface="微软雅黑"/>
                <a:cs typeface="微软雅黑"/>
              </a:rPr>
              <a:t>化</a:t>
            </a:r>
            <a:r>
              <a:rPr dirty="0">
                <a:latin typeface="微软雅黑"/>
                <a:cs typeface="微软雅黑"/>
              </a:rPr>
              <a:t>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162814"/>
            <a:ext cx="11041380" cy="574040"/>
          </a:xfrm>
          <a:prstGeom prst="rect"/>
        </p:spPr>
        <p:txBody>
          <a:bodyPr wrap="square" lIns="0" tIns="12700" rIns="0" bIns="0" rtlCol="0" vert="horz">
            <a:spAutoFit/>
          </a:bodyPr>
          <a:lstStyle/>
          <a:p>
            <a:pPr marL="12700">
              <a:lnSpc>
                <a:spcPct val="100000"/>
              </a:lnSpc>
              <a:spcBef>
                <a:spcPts val="100"/>
              </a:spcBef>
              <a:tabLst>
                <a:tab pos="1602740" algn="l"/>
                <a:tab pos="11028045" algn="l"/>
              </a:tabLst>
            </a:pPr>
            <a:r>
              <a:rPr dirty="0" sz="3600"/>
              <a:t>	2.3.4</a:t>
            </a:r>
            <a:r>
              <a:rPr dirty="0" sz="3600" spc="20"/>
              <a:t> </a:t>
            </a:r>
            <a:r>
              <a:rPr dirty="0" sz="3600" spc="-35"/>
              <a:t>指令字格式的优</a:t>
            </a:r>
            <a:r>
              <a:rPr dirty="0" sz="3600" spc="-50"/>
              <a:t>化</a:t>
            </a:r>
            <a:r>
              <a:rPr dirty="0" sz="3600"/>
              <a:t>	</a:t>
            </a:r>
            <a:endParaRPr sz="3600"/>
          </a:p>
        </p:txBody>
      </p:sp>
      <p:sp>
        <p:nvSpPr>
          <p:cNvPr id="4" name="object 4" descr=""/>
          <p:cNvSpPr txBox="1"/>
          <p:nvPr/>
        </p:nvSpPr>
        <p:spPr>
          <a:xfrm>
            <a:off x="1566799" y="1164198"/>
            <a:ext cx="8474710" cy="3101975"/>
          </a:xfrm>
          <a:prstGeom prst="rect">
            <a:avLst/>
          </a:prstGeom>
        </p:spPr>
        <p:txBody>
          <a:bodyPr wrap="square" lIns="0" tIns="202565" rIns="0" bIns="0" rtlCol="0" vert="horz">
            <a:spAutoFit/>
          </a:bodyPr>
          <a:lstStyle/>
          <a:p>
            <a:pPr marL="469265" indent="-456565">
              <a:lnSpc>
                <a:spcPct val="100000"/>
              </a:lnSpc>
              <a:spcBef>
                <a:spcPts val="1595"/>
              </a:spcBef>
              <a:buClr>
                <a:srgbClr val="40458B"/>
              </a:buClr>
              <a:buFont typeface="Wingdings"/>
              <a:buChar char=""/>
              <a:tabLst>
                <a:tab pos="469265" algn="l"/>
              </a:tabLst>
            </a:pPr>
            <a:r>
              <a:rPr dirty="0" sz="2400" spc="-5">
                <a:solidFill>
                  <a:srgbClr val="006FC0"/>
                </a:solidFill>
                <a:latin typeface="黑体"/>
                <a:cs typeface="黑体"/>
              </a:rPr>
              <a:t>指令字格式的优化措施</a:t>
            </a:r>
            <a:endParaRPr sz="2400">
              <a:latin typeface="黑体"/>
              <a:cs typeface="黑体"/>
            </a:endParaRPr>
          </a:p>
          <a:p>
            <a:pPr lvl="1" marL="920750" indent="-457200">
              <a:lnSpc>
                <a:spcPct val="100000"/>
              </a:lnSpc>
              <a:spcBef>
                <a:spcPts val="1365"/>
              </a:spcBef>
              <a:buClr>
                <a:srgbClr val="40458B"/>
              </a:buClr>
              <a:buSzPct val="88636"/>
              <a:buFont typeface="Wingdings"/>
              <a:buChar char=""/>
              <a:tabLst>
                <a:tab pos="920750" algn="l"/>
              </a:tabLst>
            </a:pPr>
            <a:r>
              <a:rPr dirty="0" sz="2200" spc="-35">
                <a:solidFill>
                  <a:srgbClr val="9933FF"/>
                </a:solidFill>
                <a:latin typeface="黑体"/>
                <a:cs typeface="黑体"/>
              </a:rPr>
              <a:t>与操作码优化配合，采用扩展操作码方式</a:t>
            </a:r>
            <a:endParaRPr sz="2200">
              <a:latin typeface="黑体"/>
              <a:cs typeface="黑体"/>
            </a:endParaRPr>
          </a:p>
          <a:p>
            <a:pPr lvl="1" marL="918844" indent="-456565">
              <a:lnSpc>
                <a:spcPct val="100000"/>
              </a:lnSpc>
              <a:spcBef>
                <a:spcPts val="1320"/>
              </a:spcBef>
              <a:buClr>
                <a:srgbClr val="40458B"/>
              </a:buClr>
              <a:buFont typeface="Wingdings"/>
              <a:buChar char=""/>
              <a:tabLst>
                <a:tab pos="918844" algn="l"/>
              </a:tabLst>
            </a:pPr>
            <a:r>
              <a:rPr dirty="0" sz="2200" spc="-35">
                <a:solidFill>
                  <a:srgbClr val="9933FF"/>
                </a:solidFill>
                <a:latin typeface="黑体"/>
                <a:cs typeface="黑体"/>
              </a:rPr>
              <a:t>整数边界对齐等</a:t>
            </a:r>
            <a:endParaRPr sz="2200">
              <a:latin typeface="黑体"/>
              <a:cs typeface="黑体"/>
            </a:endParaRPr>
          </a:p>
          <a:p>
            <a:pPr lvl="1" marL="918844" indent="-456565">
              <a:lnSpc>
                <a:spcPct val="100000"/>
              </a:lnSpc>
              <a:spcBef>
                <a:spcPts val="1320"/>
              </a:spcBef>
              <a:buClr>
                <a:srgbClr val="40458B"/>
              </a:buClr>
              <a:buFont typeface="Wingdings"/>
              <a:buChar char=""/>
              <a:tabLst>
                <a:tab pos="918844" algn="l"/>
              </a:tabLst>
            </a:pPr>
            <a:r>
              <a:rPr dirty="0" sz="2200" spc="-30">
                <a:solidFill>
                  <a:srgbClr val="9933FF"/>
                </a:solidFill>
                <a:latin typeface="黑体"/>
                <a:cs typeface="黑体"/>
              </a:rPr>
              <a:t>指令格式中，操作码定长情况下对地址码的优化（见下两页</a:t>
            </a:r>
            <a:r>
              <a:rPr dirty="0" sz="2200" spc="-50">
                <a:solidFill>
                  <a:srgbClr val="9933FF"/>
                </a:solidFill>
                <a:latin typeface="黑体"/>
                <a:cs typeface="黑体"/>
              </a:rPr>
              <a:t>）</a:t>
            </a:r>
            <a:endParaRPr sz="2200">
              <a:latin typeface="黑体"/>
              <a:cs typeface="黑体"/>
            </a:endParaRPr>
          </a:p>
          <a:p>
            <a:pPr lvl="1" marL="918844" indent="-456565">
              <a:lnSpc>
                <a:spcPct val="100000"/>
              </a:lnSpc>
              <a:spcBef>
                <a:spcPts val="1320"/>
              </a:spcBef>
              <a:buClr>
                <a:srgbClr val="40458B"/>
              </a:buClr>
              <a:buFont typeface="Wingdings"/>
              <a:buChar char=""/>
              <a:tabLst>
                <a:tab pos="918844" algn="l"/>
              </a:tabLst>
            </a:pPr>
            <a:r>
              <a:rPr dirty="0" sz="2200" spc="-35">
                <a:solidFill>
                  <a:srgbClr val="9933FF"/>
                </a:solidFill>
                <a:latin typeface="黑体"/>
                <a:cs typeface="黑体"/>
              </a:rPr>
              <a:t>操作数寻址方式的优化</a:t>
            </a:r>
            <a:endParaRPr sz="2200">
              <a:latin typeface="黑体"/>
              <a:cs typeface="黑体"/>
            </a:endParaRPr>
          </a:p>
          <a:p>
            <a:pPr lvl="1" marL="918844" indent="-456565">
              <a:lnSpc>
                <a:spcPct val="100000"/>
              </a:lnSpc>
              <a:spcBef>
                <a:spcPts val="1320"/>
              </a:spcBef>
              <a:buClr>
                <a:srgbClr val="40458B"/>
              </a:buClr>
              <a:buFont typeface="Wingdings"/>
              <a:buChar char=""/>
              <a:tabLst>
                <a:tab pos="918844" algn="l"/>
              </a:tabLst>
            </a:pPr>
            <a:r>
              <a:rPr dirty="0" sz="2200" spc="-40">
                <a:solidFill>
                  <a:srgbClr val="9933FF"/>
                </a:solidFill>
                <a:latin typeface="黑体"/>
                <a:cs typeface="黑体"/>
              </a:rPr>
              <a:t>。。。</a:t>
            </a:r>
            <a:endParaRPr sz="2200">
              <a:latin typeface="黑体"/>
              <a:cs typeface="黑体"/>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1874266" y="1316254"/>
            <a:ext cx="8408035" cy="977265"/>
          </a:xfrm>
          <a:prstGeom prst="rect">
            <a:avLst/>
          </a:prstGeom>
        </p:spPr>
        <p:txBody>
          <a:bodyPr wrap="square" lIns="0" tIns="122555" rIns="0" bIns="0" rtlCol="0" vert="horz">
            <a:spAutoFit/>
          </a:bodyPr>
          <a:lstStyle/>
          <a:p>
            <a:pPr marL="12700">
              <a:lnSpc>
                <a:spcPct val="100000"/>
              </a:lnSpc>
              <a:spcBef>
                <a:spcPts val="965"/>
              </a:spcBef>
              <a:tabLst>
                <a:tab pos="469900" algn="l"/>
              </a:tabLst>
            </a:pPr>
            <a:r>
              <a:rPr dirty="0" sz="2400" spc="-25">
                <a:solidFill>
                  <a:srgbClr val="40458B"/>
                </a:solidFill>
                <a:latin typeface="Tahoma"/>
                <a:cs typeface="Tahoma"/>
              </a:rPr>
              <a:t>1.</a:t>
            </a:r>
            <a:r>
              <a:rPr dirty="0" sz="2400">
                <a:solidFill>
                  <a:srgbClr val="40458B"/>
                </a:solidFill>
                <a:latin typeface="Tahoma"/>
                <a:cs typeface="Tahoma"/>
              </a:rPr>
              <a:t>	</a:t>
            </a:r>
            <a:r>
              <a:rPr dirty="0" sz="2400" spc="-10">
                <a:solidFill>
                  <a:srgbClr val="FF5CFF"/>
                </a:solidFill>
                <a:latin typeface="黑体"/>
                <a:cs typeface="黑体"/>
              </a:rPr>
              <a:t>若指令字的宽度固定</a:t>
            </a:r>
            <a:r>
              <a:rPr dirty="0" sz="2400" spc="-15">
                <a:solidFill>
                  <a:srgbClr val="006FC0"/>
                </a:solidFill>
                <a:latin typeface="黑体"/>
                <a:cs typeface="黑体"/>
              </a:rPr>
              <a:t>，地址码的长度和个数固定，则操作码</a:t>
            </a:r>
            <a:endParaRPr sz="2400">
              <a:latin typeface="黑体"/>
              <a:cs typeface="黑体"/>
            </a:endParaRPr>
          </a:p>
          <a:p>
            <a:pPr marL="469900">
              <a:lnSpc>
                <a:spcPct val="100000"/>
              </a:lnSpc>
              <a:spcBef>
                <a:spcPts val="870"/>
              </a:spcBef>
            </a:pPr>
            <a:r>
              <a:rPr dirty="0" sz="2400" spc="-5">
                <a:solidFill>
                  <a:srgbClr val="006FC0"/>
                </a:solidFill>
                <a:latin typeface="黑体"/>
                <a:cs typeface="黑体"/>
              </a:rPr>
              <a:t>的缩短并不能带来好处，只是使指令字中出现空白浪费。</a:t>
            </a:r>
            <a:endParaRPr sz="2400">
              <a:latin typeface="黑体"/>
              <a:cs typeface="黑体"/>
            </a:endParaRPr>
          </a:p>
        </p:txBody>
      </p:sp>
      <p:graphicFrame>
        <p:nvGraphicFramePr>
          <p:cNvPr id="4" name="object 4" descr=""/>
          <p:cNvGraphicFramePr>
            <a:graphicFrameLocks noGrp="1"/>
          </p:cNvGraphicFramePr>
          <p:nvPr/>
        </p:nvGraphicFramePr>
        <p:xfrm>
          <a:off x="3099596" y="3094003"/>
          <a:ext cx="5697220" cy="1682114"/>
        </p:xfrm>
        <a:graphic>
          <a:graphicData uri="http://schemas.openxmlformats.org/drawingml/2006/table">
            <a:tbl>
              <a:tblPr firstRow="1" bandRow="1">
                <a:tableStyleId>{2D5ABB26-0587-4C30-8999-92F81FD0307C}</a:tableStyleId>
              </a:tblPr>
              <a:tblGrid>
                <a:gridCol w="1344295"/>
                <a:gridCol w="788034"/>
                <a:gridCol w="2125345"/>
                <a:gridCol w="1344295"/>
              </a:tblGrid>
              <a:tr h="325755">
                <a:tc gridSpan="4">
                  <a:txBody>
                    <a:bodyPr/>
                    <a:lstStyle/>
                    <a:p>
                      <a:pPr algn="ctr" marR="80645">
                        <a:lnSpc>
                          <a:spcPts val="1720"/>
                        </a:lnSpc>
                      </a:pPr>
                      <a:r>
                        <a:rPr dirty="0" sz="1500" spc="459">
                          <a:solidFill>
                            <a:srgbClr val="FF6600"/>
                          </a:solidFill>
                          <a:latin typeface="宋体"/>
                          <a:cs typeface="宋体"/>
                        </a:rPr>
                        <a:t>定长指令字长度</a:t>
                      </a:r>
                      <a:r>
                        <a:rPr dirty="0" sz="1500" spc="160">
                          <a:solidFill>
                            <a:srgbClr val="FF6600"/>
                          </a:solidFill>
                          <a:latin typeface="宋体"/>
                          <a:cs typeface="宋体"/>
                        </a:rPr>
                        <a:t>L</a:t>
                      </a:r>
                      <a:endParaRPr sz="1500">
                        <a:latin typeface="宋体"/>
                        <a:cs typeface="宋体"/>
                      </a:endParaRPr>
                    </a:p>
                  </a:txBody>
                  <a:tcPr marL="0" marR="0" marB="0" marT="0">
                    <a:lnL w="19050">
                      <a:solidFill>
                        <a:srgbClr val="000000"/>
                      </a:solidFill>
                      <a:prstDash val="solid"/>
                    </a:lnL>
                    <a:lnR w="19050">
                      <a:solidFill>
                        <a:srgbClr val="000000"/>
                      </a:solidFill>
                      <a:prstDash val="solid"/>
                    </a:lnR>
                    <a:lnB w="28575">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450215">
                <a:tc gridSpan="2">
                  <a:txBody>
                    <a:bodyPr/>
                    <a:lstStyle/>
                    <a:p>
                      <a:pPr marL="742950">
                        <a:lnSpc>
                          <a:spcPct val="100000"/>
                        </a:lnSpc>
                        <a:spcBef>
                          <a:spcPts val="980"/>
                        </a:spcBef>
                      </a:pPr>
                      <a:r>
                        <a:rPr dirty="0" sz="1500" spc="385">
                          <a:solidFill>
                            <a:srgbClr val="333399"/>
                          </a:solidFill>
                          <a:latin typeface="宋体"/>
                          <a:cs typeface="宋体"/>
                        </a:rPr>
                        <a:t>操作码</a:t>
                      </a:r>
                      <a:endParaRPr sz="1500">
                        <a:latin typeface="宋体"/>
                        <a:cs typeface="宋体"/>
                      </a:endParaRPr>
                    </a:p>
                  </a:txBody>
                  <a:tcPr marL="0" marR="0" marB="0" marT="124460">
                    <a:lnL w="19050">
                      <a:solidFill>
                        <a:srgbClr val="000000"/>
                      </a:solidFill>
                      <a:prstDash val="solid"/>
                    </a:lnL>
                    <a:lnR w="19050">
                      <a:solidFill>
                        <a:srgbClr val="000000"/>
                      </a:solidFill>
                      <a:prstDash val="solid"/>
                    </a:lnR>
                    <a:lnT w="19050">
                      <a:solidFill>
                        <a:srgbClr val="000000"/>
                      </a:solidFill>
                      <a:prstDash val="solid"/>
                    </a:lnT>
                    <a:lnB w="28575">
                      <a:solidFill>
                        <a:srgbClr val="000000"/>
                      </a:solidFill>
                      <a:prstDash val="solid"/>
                    </a:lnB>
                    <a:solidFill>
                      <a:srgbClr val="FFCC00"/>
                    </a:solidFill>
                  </a:tcPr>
                </a:tc>
                <a:tc hMerge="1">
                  <a:txBody>
                    <a:bodyPr/>
                    <a:lstStyle/>
                    <a:p>
                      <a:pPr/>
                    </a:p>
                  </a:txBody>
                  <a:tcPr marL="0" marR="0" marB="0" marT="0"/>
                </a:tc>
                <a:tc>
                  <a:txBody>
                    <a:bodyPr/>
                    <a:lstStyle/>
                    <a:p>
                      <a:pPr marL="499109">
                        <a:lnSpc>
                          <a:spcPct val="100000"/>
                        </a:lnSpc>
                        <a:spcBef>
                          <a:spcPts val="905"/>
                        </a:spcBef>
                      </a:pPr>
                      <a:r>
                        <a:rPr dirty="0" sz="1500" spc="390">
                          <a:latin typeface="宋体"/>
                          <a:cs typeface="宋体"/>
                        </a:rPr>
                        <a:t>空白浪费</a:t>
                      </a:r>
                      <a:endParaRPr sz="1500">
                        <a:latin typeface="宋体"/>
                        <a:cs typeface="宋体"/>
                      </a:endParaRPr>
                    </a:p>
                  </a:txBody>
                  <a:tcPr marL="0" marR="0" marB="0" marT="114935">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CCFFCC"/>
                    </a:solidFill>
                  </a:tcPr>
                </a:tc>
                <a:tc>
                  <a:txBody>
                    <a:bodyPr/>
                    <a:lstStyle/>
                    <a:p>
                      <a:pPr algn="ctr">
                        <a:lnSpc>
                          <a:spcPct val="100000"/>
                        </a:lnSpc>
                        <a:spcBef>
                          <a:spcPts val="980"/>
                        </a:spcBef>
                      </a:pPr>
                      <a:r>
                        <a:rPr dirty="0" sz="1500" spc="385">
                          <a:solidFill>
                            <a:srgbClr val="333399"/>
                          </a:solidFill>
                          <a:latin typeface="宋体"/>
                          <a:cs typeface="宋体"/>
                        </a:rPr>
                        <a:t>地址码</a:t>
                      </a:r>
                      <a:endParaRPr sz="1500">
                        <a:latin typeface="宋体"/>
                        <a:cs typeface="宋体"/>
                      </a:endParaRPr>
                    </a:p>
                  </a:txBody>
                  <a:tcPr marL="0" marR="0" marB="0" marT="124460">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FFCC00"/>
                    </a:solidFill>
                  </a:tcPr>
                </a:tc>
              </a:tr>
              <a:tr h="455930">
                <a:tc>
                  <a:txBody>
                    <a:bodyPr/>
                    <a:lstStyle/>
                    <a:p>
                      <a:pPr marL="320040">
                        <a:lnSpc>
                          <a:spcPct val="100000"/>
                        </a:lnSpc>
                        <a:spcBef>
                          <a:spcPts val="1065"/>
                        </a:spcBef>
                      </a:pPr>
                      <a:r>
                        <a:rPr dirty="0" sz="1500" spc="385">
                          <a:solidFill>
                            <a:srgbClr val="333399"/>
                          </a:solidFill>
                          <a:latin typeface="宋体"/>
                          <a:cs typeface="宋体"/>
                        </a:rPr>
                        <a:t>操作码</a:t>
                      </a:r>
                      <a:endParaRPr sz="1500">
                        <a:latin typeface="宋体"/>
                        <a:cs typeface="宋体"/>
                      </a:endParaRPr>
                    </a:p>
                  </a:txBody>
                  <a:tcPr marL="0" marR="0" marB="0" marT="13525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00"/>
                    </a:solidFill>
                  </a:tcPr>
                </a:tc>
                <a:tc gridSpan="2">
                  <a:txBody>
                    <a:bodyPr/>
                    <a:lstStyle/>
                    <a:p>
                      <a:pPr marL="870585">
                        <a:lnSpc>
                          <a:spcPct val="100000"/>
                        </a:lnSpc>
                        <a:spcBef>
                          <a:spcPts val="945"/>
                        </a:spcBef>
                      </a:pPr>
                      <a:r>
                        <a:rPr dirty="0" sz="1500" spc="390">
                          <a:latin typeface="宋体"/>
                          <a:cs typeface="宋体"/>
                        </a:rPr>
                        <a:t>空白浪费</a:t>
                      </a:r>
                      <a:endParaRPr sz="1500">
                        <a:latin typeface="宋体"/>
                        <a:cs typeface="宋体"/>
                      </a:endParaRPr>
                    </a:p>
                  </a:txBody>
                  <a:tcPr marL="0" marR="0" marB="0" marT="120015">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CCFFCC"/>
                    </a:solidFill>
                  </a:tcPr>
                </a:tc>
                <a:tc hMerge="1">
                  <a:txBody>
                    <a:bodyPr/>
                    <a:lstStyle/>
                    <a:p>
                      <a:pPr/>
                    </a:p>
                  </a:txBody>
                  <a:tcPr marL="0" marR="0" marB="0" marT="0"/>
                </a:tc>
                <a:tc>
                  <a:txBody>
                    <a:bodyPr/>
                    <a:lstStyle/>
                    <a:p>
                      <a:pPr algn="ctr">
                        <a:lnSpc>
                          <a:spcPct val="100000"/>
                        </a:lnSpc>
                        <a:spcBef>
                          <a:spcPts val="1025"/>
                        </a:spcBef>
                      </a:pPr>
                      <a:r>
                        <a:rPr dirty="0" sz="1500" spc="385">
                          <a:solidFill>
                            <a:srgbClr val="333399"/>
                          </a:solidFill>
                          <a:latin typeface="宋体"/>
                          <a:cs typeface="宋体"/>
                        </a:rPr>
                        <a:t>地址码</a:t>
                      </a:r>
                      <a:endParaRPr sz="1500">
                        <a:latin typeface="宋体"/>
                        <a:cs typeface="宋体"/>
                      </a:endParaRPr>
                    </a:p>
                  </a:txBody>
                  <a:tcPr marL="0" marR="0" marB="0" marT="130175">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FFCC00"/>
                    </a:solidFill>
                  </a:tcPr>
                </a:tc>
              </a:tr>
              <a:tr h="450215">
                <a:tc gridSpan="3">
                  <a:txBody>
                    <a:bodyPr/>
                    <a:lstStyle/>
                    <a:p>
                      <a:pPr algn="ctr" marL="57150">
                        <a:lnSpc>
                          <a:spcPct val="100000"/>
                        </a:lnSpc>
                        <a:spcBef>
                          <a:spcPts val="980"/>
                        </a:spcBef>
                      </a:pPr>
                      <a:r>
                        <a:rPr dirty="0" sz="1500" spc="385">
                          <a:solidFill>
                            <a:srgbClr val="333399"/>
                          </a:solidFill>
                          <a:latin typeface="宋体"/>
                          <a:cs typeface="宋体"/>
                        </a:rPr>
                        <a:t>操作码</a:t>
                      </a:r>
                      <a:endParaRPr sz="1500">
                        <a:latin typeface="宋体"/>
                        <a:cs typeface="宋体"/>
                      </a:endParaRPr>
                    </a:p>
                  </a:txBody>
                  <a:tcPr marL="0" marR="0" marB="0" marT="124460">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CC00"/>
                    </a:solidFill>
                  </a:tcPr>
                </a:tc>
                <a:tc hMerge="1">
                  <a:txBody>
                    <a:bodyPr/>
                    <a:lstStyle/>
                    <a:p>
                      <a:pPr/>
                    </a:p>
                  </a:txBody>
                  <a:tcPr marL="0" marR="0" marB="0" marT="0"/>
                </a:tc>
                <a:tc hMerge="1">
                  <a:txBody>
                    <a:bodyPr/>
                    <a:lstStyle/>
                    <a:p>
                      <a:pPr/>
                    </a:p>
                  </a:txBody>
                  <a:tcPr marL="0" marR="0" marB="0" marT="0"/>
                </a:tc>
                <a:tc>
                  <a:txBody>
                    <a:bodyPr/>
                    <a:lstStyle/>
                    <a:p>
                      <a:pPr algn="ctr">
                        <a:lnSpc>
                          <a:spcPct val="100000"/>
                        </a:lnSpc>
                        <a:spcBef>
                          <a:spcPts val="860"/>
                        </a:spcBef>
                      </a:pPr>
                      <a:r>
                        <a:rPr dirty="0" sz="1500" spc="385">
                          <a:solidFill>
                            <a:srgbClr val="333399"/>
                          </a:solidFill>
                          <a:latin typeface="宋体"/>
                          <a:cs typeface="宋体"/>
                        </a:rPr>
                        <a:t>地址码</a:t>
                      </a:r>
                      <a:endParaRPr sz="1500">
                        <a:latin typeface="宋体"/>
                        <a:cs typeface="宋体"/>
                      </a:endParaRPr>
                    </a:p>
                  </a:txBody>
                  <a:tcPr marL="0" marR="0" marB="0" marT="109220">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CC00"/>
                    </a:solidFill>
                  </a:tcPr>
                </a:tc>
              </a:tr>
            </a:tbl>
          </a:graphicData>
        </a:graphic>
      </p:graphicFrame>
      <p:grpSp>
        <p:nvGrpSpPr>
          <p:cNvPr id="5" name="object 5" descr=""/>
          <p:cNvGrpSpPr/>
          <p:nvPr/>
        </p:nvGrpSpPr>
        <p:grpSpPr>
          <a:xfrm>
            <a:off x="6849376" y="3192227"/>
            <a:ext cx="1868805" cy="90805"/>
            <a:chOff x="6849376" y="3192227"/>
            <a:chExt cx="1868805" cy="90805"/>
          </a:xfrm>
        </p:grpSpPr>
        <p:sp>
          <p:nvSpPr>
            <p:cNvPr id="6" name="object 6" descr=""/>
            <p:cNvSpPr/>
            <p:nvPr/>
          </p:nvSpPr>
          <p:spPr>
            <a:xfrm>
              <a:off x="6851948" y="3194901"/>
              <a:ext cx="1863725" cy="85090"/>
            </a:xfrm>
            <a:custGeom>
              <a:avLst/>
              <a:gdLst/>
              <a:ahLst/>
              <a:cxnLst/>
              <a:rect l="l" t="t" r="r" b="b"/>
              <a:pathLst>
                <a:path w="1863725" h="85089">
                  <a:moveTo>
                    <a:pt x="1594020" y="0"/>
                  </a:moveTo>
                  <a:lnTo>
                    <a:pt x="1702879" y="39951"/>
                  </a:lnTo>
                  <a:lnTo>
                    <a:pt x="1594020" y="85031"/>
                  </a:lnTo>
                  <a:lnTo>
                    <a:pt x="1802001" y="50188"/>
                  </a:lnTo>
                  <a:lnTo>
                    <a:pt x="1716187" y="50188"/>
                  </a:lnTo>
                  <a:lnTo>
                    <a:pt x="1716187" y="35341"/>
                  </a:lnTo>
                  <a:lnTo>
                    <a:pt x="1709533" y="30212"/>
                  </a:lnTo>
                  <a:lnTo>
                    <a:pt x="1797513" y="30212"/>
                  </a:lnTo>
                  <a:lnTo>
                    <a:pt x="1594020" y="0"/>
                  </a:lnTo>
                  <a:close/>
                </a:path>
                <a:path w="1863725" h="85089">
                  <a:moveTo>
                    <a:pt x="1676343" y="30212"/>
                  </a:moveTo>
                  <a:lnTo>
                    <a:pt x="6653" y="30212"/>
                  </a:lnTo>
                  <a:lnTo>
                    <a:pt x="6653" y="35341"/>
                  </a:lnTo>
                  <a:lnTo>
                    <a:pt x="0" y="35341"/>
                  </a:lnTo>
                  <a:lnTo>
                    <a:pt x="0" y="45080"/>
                  </a:lnTo>
                  <a:lnTo>
                    <a:pt x="6653" y="50188"/>
                  </a:lnTo>
                  <a:lnTo>
                    <a:pt x="1678159" y="50188"/>
                  </a:lnTo>
                  <a:lnTo>
                    <a:pt x="1702879" y="39951"/>
                  </a:lnTo>
                  <a:lnTo>
                    <a:pt x="1676343" y="30212"/>
                  </a:lnTo>
                  <a:close/>
                </a:path>
                <a:path w="1863725" h="85089">
                  <a:moveTo>
                    <a:pt x="1797513" y="30212"/>
                  </a:moveTo>
                  <a:lnTo>
                    <a:pt x="1709533" y="30212"/>
                  </a:lnTo>
                  <a:lnTo>
                    <a:pt x="1716187" y="35341"/>
                  </a:lnTo>
                  <a:lnTo>
                    <a:pt x="1716187" y="50188"/>
                  </a:lnTo>
                  <a:lnTo>
                    <a:pt x="1802001" y="50188"/>
                  </a:lnTo>
                  <a:lnTo>
                    <a:pt x="1863106" y="39951"/>
                  </a:lnTo>
                  <a:lnTo>
                    <a:pt x="1797513" y="30212"/>
                  </a:lnTo>
                  <a:close/>
                </a:path>
              </a:pathLst>
            </a:custGeom>
            <a:solidFill>
              <a:srgbClr val="000000"/>
            </a:solidFill>
          </p:spPr>
          <p:txBody>
            <a:bodyPr wrap="square" lIns="0" tIns="0" rIns="0" bIns="0" rtlCol="0"/>
            <a:lstStyle/>
            <a:p/>
          </p:txBody>
        </p:sp>
        <p:sp>
          <p:nvSpPr>
            <p:cNvPr id="7" name="object 7" descr=""/>
            <p:cNvSpPr/>
            <p:nvPr/>
          </p:nvSpPr>
          <p:spPr>
            <a:xfrm>
              <a:off x="6851948" y="3194901"/>
              <a:ext cx="1863725" cy="85090"/>
            </a:xfrm>
            <a:custGeom>
              <a:avLst/>
              <a:gdLst/>
              <a:ahLst/>
              <a:cxnLst/>
              <a:rect l="l" t="t" r="r" b="b"/>
              <a:pathLst>
                <a:path w="1863725" h="85089">
                  <a:moveTo>
                    <a:pt x="13041" y="30212"/>
                  </a:moveTo>
                  <a:lnTo>
                    <a:pt x="1702879" y="30212"/>
                  </a:lnTo>
                  <a:lnTo>
                    <a:pt x="1709533" y="30212"/>
                  </a:lnTo>
                  <a:lnTo>
                    <a:pt x="1716187" y="35341"/>
                  </a:lnTo>
                  <a:lnTo>
                    <a:pt x="1716187" y="39951"/>
                  </a:lnTo>
                  <a:lnTo>
                    <a:pt x="1716187" y="45080"/>
                  </a:lnTo>
                  <a:lnTo>
                    <a:pt x="1716187" y="50188"/>
                  </a:lnTo>
                  <a:lnTo>
                    <a:pt x="1709533" y="50188"/>
                  </a:lnTo>
                  <a:lnTo>
                    <a:pt x="1702879" y="50188"/>
                  </a:lnTo>
                  <a:lnTo>
                    <a:pt x="13041" y="50188"/>
                  </a:lnTo>
                  <a:lnTo>
                    <a:pt x="6653" y="50188"/>
                  </a:lnTo>
                  <a:lnTo>
                    <a:pt x="0" y="45080"/>
                  </a:lnTo>
                  <a:lnTo>
                    <a:pt x="0" y="39951"/>
                  </a:lnTo>
                  <a:lnTo>
                    <a:pt x="0" y="35341"/>
                  </a:lnTo>
                  <a:lnTo>
                    <a:pt x="6653" y="35341"/>
                  </a:lnTo>
                  <a:lnTo>
                    <a:pt x="6653" y="30212"/>
                  </a:lnTo>
                  <a:lnTo>
                    <a:pt x="13041" y="30212"/>
                  </a:lnTo>
                  <a:close/>
                </a:path>
                <a:path w="1863725" h="85089">
                  <a:moveTo>
                    <a:pt x="1702879" y="39951"/>
                  </a:moveTo>
                  <a:lnTo>
                    <a:pt x="1594020" y="0"/>
                  </a:lnTo>
                  <a:lnTo>
                    <a:pt x="1863106" y="39951"/>
                  </a:lnTo>
                  <a:lnTo>
                    <a:pt x="1594020" y="85031"/>
                  </a:lnTo>
                  <a:lnTo>
                    <a:pt x="1702879" y="39951"/>
                  </a:lnTo>
                  <a:close/>
                </a:path>
              </a:pathLst>
            </a:custGeom>
            <a:ln w="5868">
              <a:solidFill>
                <a:srgbClr val="000000"/>
              </a:solidFill>
            </a:ln>
          </p:spPr>
          <p:txBody>
            <a:bodyPr wrap="square" lIns="0" tIns="0" rIns="0" bIns="0" rtlCol="0"/>
            <a:lstStyle/>
            <a:p/>
          </p:txBody>
        </p:sp>
      </p:grpSp>
      <p:grpSp>
        <p:nvGrpSpPr>
          <p:cNvPr id="8" name="object 8" descr=""/>
          <p:cNvGrpSpPr/>
          <p:nvPr/>
        </p:nvGrpSpPr>
        <p:grpSpPr>
          <a:xfrm>
            <a:off x="3110310" y="3192100"/>
            <a:ext cx="1811655" cy="90805"/>
            <a:chOff x="3110310" y="3192100"/>
            <a:chExt cx="1811655" cy="90805"/>
          </a:xfrm>
        </p:grpSpPr>
        <p:sp>
          <p:nvSpPr>
            <p:cNvPr id="9" name="object 9" descr=""/>
            <p:cNvSpPr/>
            <p:nvPr/>
          </p:nvSpPr>
          <p:spPr>
            <a:xfrm>
              <a:off x="3113111" y="3194901"/>
              <a:ext cx="1805939" cy="85090"/>
            </a:xfrm>
            <a:custGeom>
              <a:avLst/>
              <a:gdLst/>
              <a:ahLst/>
              <a:cxnLst/>
              <a:rect l="l" t="t" r="r" b="b"/>
              <a:pathLst>
                <a:path w="1805939" h="85089">
                  <a:moveTo>
                    <a:pt x="160208" y="0"/>
                  </a:moveTo>
                  <a:lnTo>
                    <a:pt x="0" y="39951"/>
                  </a:lnTo>
                  <a:lnTo>
                    <a:pt x="160208" y="85031"/>
                  </a:lnTo>
                  <a:lnTo>
                    <a:pt x="120459" y="50188"/>
                  </a:lnTo>
                  <a:lnTo>
                    <a:pt x="96256" y="50188"/>
                  </a:lnTo>
                  <a:lnTo>
                    <a:pt x="96256" y="35341"/>
                  </a:lnTo>
                  <a:lnTo>
                    <a:pt x="102188" y="30212"/>
                  </a:lnTo>
                  <a:lnTo>
                    <a:pt x="121317" y="30212"/>
                  </a:lnTo>
                  <a:lnTo>
                    <a:pt x="160208" y="0"/>
                  </a:lnTo>
                  <a:close/>
                </a:path>
                <a:path w="1805939" h="85089">
                  <a:moveTo>
                    <a:pt x="121317" y="30212"/>
                  </a:moveTo>
                  <a:lnTo>
                    <a:pt x="102188" y="30212"/>
                  </a:lnTo>
                  <a:lnTo>
                    <a:pt x="96256" y="35341"/>
                  </a:lnTo>
                  <a:lnTo>
                    <a:pt x="96256" y="50188"/>
                  </a:lnTo>
                  <a:lnTo>
                    <a:pt x="120459" y="50188"/>
                  </a:lnTo>
                  <a:lnTo>
                    <a:pt x="108781" y="39951"/>
                  </a:lnTo>
                  <a:lnTo>
                    <a:pt x="121317" y="30212"/>
                  </a:lnTo>
                  <a:close/>
                </a:path>
                <a:path w="1805939" h="85089">
                  <a:moveTo>
                    <a:pt x="1799183" y="30212"/>
                  </a:moveTo>
                  <a:lnTo>
                    <a:pt x="121317" y="30212"/>
                  </a:lnTo>
                  <a:lnTo>
                    <a:pt x="108781" y="39951"/>
                  </a:lnTo>
                  <a:lnTo>
                    <a:pt x="120459" y="50188"/>
                  </a:lnTo>
                  <a:lnTo>
                    <a:pt x="1805784" y="50188"/>
                  </a:lnTo>
                  <a:lnTo>
                    <a:pt x="1805784" y="35341"/>
                  </a:lnTo>
                  <a:lnTo>
                    <a:pt x="1799183" y="30212"/>
                  </a:lnTo>
                  <a:close/>
                </a:path>
              </a:pathLst>
            </a:custGeom>
            <a:solidFill>
              <a:srgbClr val="000000"/>
            </a:solidFill>
          </p:spPr>
          <p:txBody>
            <a:bodyPr wrap="square" lIns="0" tIns="0" rIns="0" bIns="0" rtlCol="0"/>
            <a:lstStyle/>
            <a:p/>
          </p:txBody>
        </p:sp>
        <p:sp>
          <p:nvSpPr>
            <p:cNvPr id="10" name="object 10" descr=""/>
            <p:cNvSpPr/>
            <p:nvPr/>
          </p:nvSpPr>
          <p:spPr>
            <a:xfrm>
              <a:off x="3113111" y="3194901"/>
              <a:ext cx="1805939" cy="85090"/>
            </a:xfrm>
            <a:custGeom>
              <a:avLst/>
              <a:gdLst/>
              <a:ahLst/>
              <a:cxnLst/>
              <a:rect l="l" t="t" r="r" b="b"/>
              <a:pathLst>
                <a:path w="1805939" h="85089">
                  <a:moveTo>
                    <a:pt x="1792582" y="50188"/>
                  </a:moveTo>
                  <a:lnTo>
                    <a:pt x="108781" y="50188"/>
                  </a:lnTo>
                  <a:lnTo>
                    <a:pt x="102188" y="50188"/>
                  </a:lnTo>
                  <a:lnTo>
                    <a:pt x="96256" y="50188"/>
                  </a:lnTo>
                  <a:lnTo>
                    <a:pt x="96256" y="45080"/>
                  </a:lnTo>
                  <a:lnTo>
                    <a:pt x="96256" y="39951"/>
                  </a:lnTo>
                  <a:lnTo>
                    <a:pt x="96256" y="35341"/>
                  </a:lnTo>
                  <a:lnTo>
                    <a:pt x="102188" y="30212"/>
                  </a:lnTo>
                  <a:lnTo>
                    <a:pt x="108781" y="30212"/>
                  </a:lnTo>
                  <a:lnTo>
                    <a:pt x="1792582" y="30212"/>
                  </a:lnTo>
                  <a:lnTo>
                    <a:pt x="1799183" y="30212"/>
                  </a:lnTo>
                  <a:lnTo>
                    <a:pt x="1805784" y="35341"/>
                  </a:lnTo>
                  <a:lnTo>
                    <a:pt x="1805784" y="39951"/>
                  </a:lnTo>
                  <a:lnTo>
                    <a:pt x="1805784" y="45080"/>
                  </a:lnTo>
                  <a:lnTo>
                    <a:pt x="1805784" y="50188"/>
                  </a:lnTo>
                  <a:lnTo>
                    <a:pt x="1799183" y="50188"/>
                  </a:lnTo>
                  <a:lnTo>
                    <a:pt x="1792582" y="50188"/>
                  </a:lnTo>
                  <a:close/>
                </a:path>
                <a:path w="1805939" h="85089">
                  <a:moveTo>
                    <a:pt x="108781" y="39951"/>
                  </a:moveTo>
                  <a:lnTo>
                    <a:pt x="160208" y="85031"/>
                  </a:lnTo>
                  <a:lnTo>
                    <a:pt x="0" y="39951"/>
                  </a:lnTo>
                  <a:lnTo>
                    <a:pt x="160208" y="0"/>
                  </a:lnTo>
                  <a:lnTo>
                    <a:pt x="108781" y="39951"/>
                  </a:lnTo>
                  <a:close/>
                </a:path>
              </a:pathLst>
            </a:custGeom>
            <a:ln w="5868">
              <a:solidFill>
                <a:srgbClr val="000000"/>
              </a:solidFill>
            </a:ln>
          </p:spPr>
          <p:txBody>
            <a:bodyPr wrap="square" lIns="0" tIns="0" rIns="0" bIns="0" rtlCol="0"/>
            <a:lstStyle/>
            <a:p/>
          </p:txBody>
        </p:sp>
      </p:grpSp>
      <p:sp>
        <p:nvSpPr>
          <p:cNvPr id="11" name="object 11"/>
          <p:cNvSpPr txBox="1">
            <a:spLocks noGrp="1"/>
          </p:cNvSpPr>
          <p:nvPr>
            <p:ph type="title"/>
          </p:nvPr>
        </p:nvSpPr>
        <p:spPr>
          <a:xfrm>
            <a:off x="1163637" y="162814"/>
            <a:ext cx="11041380" cy="574040"/>
          </a:xfrm>
          <a:prstGeom prst="rect"/>
        </p:spPr>
        <p:txBody>
          <a:bodyPr wrap="square" lIns="0" tIns="12700" rIns="0" bIns="0" rtlCol="0" vert="horz">
            <a:spAutoFit/>
          </a:bodyPr>
          <a:lstStyle/>
          <a:p>
            <a:pPr marL="12700">
              <a:lnSpc>
                <a:spcPct val="100000"/>
              </a:lnSpc>
              <a:spcBef>
                <a:spcPts val="100"/>
              </a:spcBef>
              <a:tabLst>
                <a:tab pos="1602740" algn="l"/>
                <a:tab pos="11028045" algn="l"/>
              </a:tabLst>
            </a:pPr>
            <a:r>
              <a:rPr dirty="0" sz="3600"/>
              <a:t>	2.3.4</a:t>
            </a:r>
            <a:r>
              <a:rPr dirty="0" sz="3600" spc="20"/>
              <a:t> </a:t>
            </a:r>
            <a:r>
              <a:rPr dirty="0" sz="3600" spc="-35"/>
              <a:t>指令字格式的优</a:t>
            </a:r>
            <a:r>
              <a:rPr dirty="0" sz="3600" spc="-50"/>
              <a:t>化</a:t>
            </a:r>
            <a:r>
              <a:rPr dirty="0" sz="3600"/>
              <a:t>	</a:t>
            </a:r>
            <a:endParaRPr sz="3600"/>
          </a:p>
        </p:txBody>
      </p:sp>
      <p:sp>
        <p:nvSpPr>
          <p:cNvPr id="12" name="object 12" descr=""/>
          <p:cNvSpPr txBox="1"/>
          <p:nvPr/>
        </p:nvSpPr>
        <p:spPr>
          <a:xfrm>
            <a:off x="1181811" y="4890008"/>
            <a:ext cx="9169400" cy="1452245"/>
          </a:xfrm>
          <a:prstGeom prst="rect">
            <a:avLst/>
          </a:prstGeom>
        </p:spPr>
        <p:txBody>
          <a:bodyPr wrap="square" lIns="0" tIns="12700" rIns="0" bIns="0" rtlCol="0" vert="horz">
            <a:spAutoFit/>
          </a:bodyPr>
          <a:lstStyle/>
          <a:p>
            <a:pPr algn="just" marL="12700" marR="5080">
              <a:lnSpc>
                <a:spcPct val="130000"/>
              </a:lnSpc>
              <a:spcBef>
                <a:spcPts val="100"/>
              </a:spcBef>
            </a:pPr>
            <a:r>
              <a:rPr dirty="0" sz="2400" spc="-5">
                <a:solidFill>
                  <a:srgbClr val="006FC0"/>
                </a:solidFill>
                <a:latin typeface="黑体"/>
                <a:cs typeface="黑体"/>
              </a:rPr>
              <a:t>根据哈夫曼编码，频度高操作码长度短，反之长；如果指令字的宽度固定，地址码的长度和个数固定，则操作码的缩短使指令字中出现空</a:t>
            </a:r>
            <a:r>
              <a:rPr dirty="0" sz="2400">
                <a:solidFill>
                  <a:srgbClr val="006FC0"/>
                </a:solidFill>
                <a:latin typeface="黑体"/>
                <a:cs typeface="黑体"/>
              </a:rPr>
              <a:t>白浪费。</a:t>
            </a:r>
            <a:r>
              <a:rPr dirty="0" sz="2400">
                <a:solidFill>
                  <a:srgbClr val="FF0000"/>
                </a:solidFill>
                <a:latin typeface="黑体"/>
                <a:cs typeface="黑体"/>
              </a:rPr>
              <a:t>（定长情况下浪费怎么办</a:t>
            </a:r>
            <a:r>
              <a:rPr dirty="0" sz="2400" spc="-10">
                <a:solidFill>
                  <a:srgbClr val="FF0000"/>
                </a:solidFill>
                <a:latin typeface="Tahoma"/>
                <a:cs typeface="Tahoma"/>
              </a:rPr>
              <a:t>---</a:t>
            </a:r>
            <a:r>
              <a:rPr dirty="0" sz="2400" spc="-50">
                <a:solidFill>
                  <a:srgbClr val="FF0000"/>
                </a:solidFill>
                <a:latin typeface="黑体"/>
                <a:cs typeface="黑体"/>
              </a:rPr>
              <a:t>）</a:t>
            </a:r>
            <a:endParaRPr sz="2400">
              <a:latin typeface="黑体"/>
              <a:cs typeface="黑体"/>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graphicFrame>
        <p:nvGraphicFramePr>
          <p:cNvPr id="3" name="object 3" descr=""/>
          <p:cNvGraphicFramePr>
            <a:graphicFrameLocks noGrp="1"/>
          </p:cNvGraphicFramePr>
          <p:nvPr/>
        </p:nvGraphicFramePr>
        <p:xfrm>
          <a:off x="3376284" y="3786389"/>
          <a:ext cx="5191760" cy="1247775"/>
        </p:xfrm>
        <a:graphic>
          <a:graphicData uri="http://schemas.openxmlformats.org/drawingml/2006/table">
            <a:tbl>
              <a:tblPr firstRow="1" bandRow="1">
                <a:tableStyleId>{2D5ABB26-0587-4C30-8999-92F81FD0307C}</a:tableStyleId>
              </a:tblPr>
              <a:tblGrid>
                <a:gridCol w="1356995"/>
                <a:gridCol w="1470025"/>
                <a:gridCol w="1130934"/>
                <a:gridCol w="1123950"/>
              </a:tblGrid>
              <a:tr h="499109">
                <a:tc gridSpan="2">
                  <a:txBody>
                    <a:bodyPr/>
                    <a:lstStyle/>
                    <a:p>
                      <a:pPr algn="ctr">
                        <a:lnSpc>
                          <a:spcPct val="100000"/>
                        </a:lnSpc>
                        <a:spcBef>
                          <a:spcPts val="950"/>
                        </a:spcBef>
                      </a:pPr>
                      <a:r>
                        <a:rPr dirty="0" sz="1900" spc="-20">
                          <a:solidFill>
                            <a:srgbClr val="000080"/>
                          </a:solidFill>
                          <a:latin typeface="宋体"/>
                          <a:cs typeface="宋体"/>
                        </a:rPr>
                        <a:t>操作码</a:t>
                      </a:r>
                      <a:endParaRPr sz="1900">
                        <a:latin typeface="宋体"/>
                        <a:cs typeface="宋体"/>
                      </a:endParaRPr>
                    </a:p>
                  </a:txBody>
                  <a:tcPr marL="0" marR="0" marB="0" marT="12065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CC00"/>
                    </a:solidFill>
                  </a:tcPr>
                </a:tc>
                <a:tc hMerge="1">
                  <a:txBody>
                    <a:bodyPr/>
                    <a:lstStyle/>
                    <a:p>
                      <a:pPr/>
                    </a:p>
                  </a:txBody>
                  <a:tcPr marL="0" marR="0" marB="0" marT="0"/>
                </a:tc>
                <a:tc gridSpan="2">
                  <a:txBody>
                    <a:bodyPr/>
                    <a:lstStyle/>
                    <a:p>
                      <a:pPr marL="635000">
                        <a:lnSpc>
                          <a:spcPct val="100000"/>
                        </a:lnSpc>
                        <a:spcBef>
                          <a:spcPts val="1175"/>
                        </a:spcBef>
                      </a:pPr>
                      <a:r>
                        <a:rPr dirty="0" sz="1900" spc="-20">
                          <a:latin typeface="宋体"/>
                          <a:cs typeface="宋体"/>
                        </a:rPr>
                        <a:t>地址码</a:t>
                      </a:r>
                      <a:endParaRPr sz="1900">
                        <a:latin typeface="宋体"/>
                        <a:cs typeface="宋体"/>
                      </a:endParaRPr>
                    </a:p>
                  </a:txBody>
                  <a:tcPr marL="0" marR="0" marB="0" marT="149225">
                    <a:lnL w="28575">
                      <a:solidFill>
                        <a:srgbClr val="000000"/>
                      </a:solidFill>
                      <a:prstDash val="solid"/>
                    </a:lnL>
                    <a:lnR w="38100">
                      <a:solidFill>
                        <a:srgbClr val="000000"/>
                      </a:solidFill>
                      <a:prstDash val="solid"/>
                    </a:lnR>
                    <a:lnT w="38100">
                      <a:solidFill>
                        <a:srgbClr val="000000"/>
                      </a:solidFill>
                      <a:prstDash val="solid"/>
                    </a:lnT>
                    <a:lnB w="28575">
                      <a:solidFill>
                        <a:srgbClr val="000000"/>
                      </a:solidFill>
                      <a:prstDash val="solid"/>
                    </a:lnB>
                    <a:solidFill>
                      <a:srgbClr val="FFCCFF"/>
                    </a:solidFill>
                  </a:tcPr>
                </a:tc>
                <a:tc hMerge="1">
                  <a:txBody>
                    <a:bodyPr/>
                    <a:lstStyle/>
                    <a:p>
                      <a:pPr/>
                    </a:p>
                  </a:txBody>
                  <a:tcPr marL="0" marR="0" marB="0" marT="0"/>
                </a:tc>
              </a:tr>
              <a:tr h="249554">
                <a:tc gridSpan="4">
                  <a:txBody>
                    <a:bodyPr/>
                    <a:lstStyle/>
                    <a:p>
                      <a:pPr>
                        <a:lnSpc>
                          <a:spcPct val="100000"/>
                        </a:lnSpc>
                      </a:pPr>
                      <a:endParaRPr sz="1500">
                        <a:latin typeface="Times New Roman"/>
                        <a:cs typeface="Times New Roman"/>
                      </a:endParaRPr>
                    </a:p>
                  </a:txBody>
                  <a:tcPr marL="0" marR="0" marB="0" marT="0">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499109">
                <a:tc>
                  <a:txBody>
                    <a:bodyPr/>
                    <a:lstStyle/>
                    <a:p>
                      <a:pPr marL="335915">
                        <a:lnSpc>
                          <a:spcPct val="100000"/>
                        </a:lnSpc>
                        <a:spcBef>
                          <a:spcPts val="890"/>
                        </a:spcBef>
                      </a:pPr>
                      <a:r>
                        <a:rPr dirty="0" sz="1900" spc="-20">
                          <a:solidFill>
                            <a:srgbClr val="000080"/>
                          </a:solidFill>
                          <a:latin typeface="宋体"/>
                          <a:cs typeface="宋体"/>
                        </a:rPr>
                        <a:t>操作码</a:t>
                      </a:r>
                      <a:endParaRPr sz="1900">
                        <a:latin typeface="宋体"/>
                        <a:cs typeface="宋体"/>
                      </a:endParaRPr>
                    </a:p>
                  </a:txBody>
                  <a:tcPr marL="0" marR="0" marB="0" marT="11303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CC00"/>
                    </a:solidFill>
                  </a:tcPr>
                </a:tc>
                <a:tc gridSpan="2">
                  <a:txBody>
                    <a:bodyPr/>
                    <a:lstStyle/>
                    <a:p>
                      <a:pPr marL="789940">
                        <a:lnSpc>
                          <a:spcPct val="100000"/>
                        </a:lnSpc>
                        <a:spcBef>
                          <a:spcPts val="805"/>
                        </a:spcBef>
                      </a:pPr>
                      <a:r>
                        <a:rPr dirty="0" sz="1900" spc="-15">
                          <a:latin typeface="宋体"/>
                          <a:cs typeface="宋体"/>
                        </a:rPr>
                        <a:t>访存地址</a:t>
                      </a:r>
                      <a:endParaRPr sz="1900">
                        <a:latin typeface="宋体"/>
                        <a:cs typeface="宋体"/>
                      </a:endParaRPr>
                    </a:p>
                  </a:txBody>
                  <a:tcPr marL="0" marR="0" marB="0" marT="102235">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CFFCC"/>
                    </a:solidFill>
                  </a:tcPr>
                </a:tc>
                <a:tc hMerge="1">
                  <a:txBody>
                    <a:bodyPr/>
                    <a:lstStyle/>
                    <a:p>
                      <a:pPr/>
                    </a:p>
                  </a:txBody>
                  <a:tcPr marL="0" marR="0" marB="0" marT="0"/>
                </a:tc>
                <a:tc>
                  <a:txBody>
                    <a:bodyPr/>
                    <a:lstStyle/>
                    <a:p>
                      <a:pPr algn="ctr" marL="12065">
                        <a:lnSpc>
                          <a:spcPct val="100000"/>
                        </a:lnSpc>
                        <a:spcBef>
                          <a:spcPts val="935"/>
                        </a:spcBef>
                      </a:pPr>
                      <a:r>
                        <a:rPr dirty="0" sz="1900" spc="-50" b="1">
                          <a:latin typeface="Times New Roman"/>
                          <a:cs typeface="Times New Roman"/>
                        </a:rPr>
                        <a:t>R</a:t>
                      </a:r>
                      <a:endParaRPr sz="1900">
                        <a:latin typeface="Times New Roman"/>
                        <a:cs typeface="Times New Roman"/>
                      </a:endParaRPr>
                    </a:p>
                  </a:txBody>
                  <a:tcPr marL="0" marR="0" marB="0" marT="118745">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CCFF"/>
                    </a:solidFill>
                  </a:tcPr>
                </a:tc>
              </a:tr>
            </a:tbl>
          </a:graphicData>
        </a:graphic>
      </p:graphicFrame>
      <p:graphicFrame>
        <p:nvGraphicFramePr>
          <p:cNvPr id="4" name="object 4" descr=""/>
          <p:cNvGraphicFramePr>
            <a:graphicFrameLocks noGrp="1"/>
          </p:cNvGraphicFramePr>
          <p:nvPr/>
        </p:nvGraphicFramePr>
        <p:xfrm>
          <a:off x="3383024" y="5314675"/>
          <a:ext cx="5184775" cy="499109"/>
        </p:xfrm>
        <a:graphic>
          <a:graphicData uri="http://schemas.openxmlformats.org/drawingml/2006/table">
            <a:tbl>
              <a:tblPr firstRow="1" bandRow="1">
                <a:tableStyleId>{2D5ABB26-0587-4C30-8999-92F81FD0307C}</a:tableStyleId>
              </a:tblPr>
              <a:tblGrid>
                <a:gridCol w="1384935"/>
                <a:gridCol w="1441450"/>
                <a:gridCol w="1130300"/>
                <a:gridCol w="1130300"/>
              </a:tblGrid>
              <a:tr h="499109">
                <a:tc>
                  <a:txBody>
                    <a:bodyPr/>
                    <a:lstStyle/>
                    <a:p>
                      <a:pPr marL="335915">
                        <a:lnSpc>
                          <a:spcPct val="100000"/>
                        </a:lnSpc>
                        <a:spcBef>
                          <a:spcPts val="890"/>
                        </a:spcBef>
                      </a:pPr>
                      <a:r>
                        <a:rPr dirty="0" sz="1900" spc="-20">
                          <a:solidFill>
                            <a:srgbClr val="000080"/>
                          </a:solidFill>
                          <a:latin typeface="宋体"/>
                          <a:cs typeface="宋体"/>
                        </a:rPr>
                        <a:t>操作码</a:t>
                      </a:r>
                      <a:endParaRPr sz="1900">
                        <a:latin typeface="宋体"/>
                        <a:cs typeface="宋体"/>
                      </a:endParaRPr>
                    </a:p>
                  </a:txBody>
                  <a:tcPr marL="0" marR="0" marB="0" marT="11303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FFCC00"/>
                    </a:solidFill>
                  </a:tcPr>
                </a:tc>
                <a:tc>
                  <a:txBody>
                    <a:bodyPr/>
                    <a:lstStyle/>
                    <a:p>
                      <a:pPr marL="109220">
                        <a:lnSpc>
                          <a:spcPct val="100000"/>
                        </a:lnSpc>
                        <a:spcBef>
                          <a:spcPts val="980"/>
                        </a:spcBef>
                      </a:pPr>
                      <a:r>
                        <a:rPr dirty="0" sz="1900" spc="-25">
                          <a:latin typeface="宋体"/>
                          <a:cs typeface="宋体"/>
                        </a:rPr>
                        <a:t>立即操作数</a:t>
                      </a:r>
                      <a:endParaRPr sz="1900">
                        <a:latin typeface="宋体"/>
                        <a:cs typeface="宋体"/>
                      </a:endParaRPr>
                    </a:p>
                  </a:txBody>
                  <a:tcPr marL="0" marR="0" marB="0" marT="12446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CCFFCC"/>
                    </a:solidFill>
                  </a:tcPr>
                </a:tc>
                <a:tc>
                  <a:txBody>
                    <a:bodyPr/>
                    <a:lstStyle/>
                    <a:p>
                      <a:pPr algn="ctr" marL="27305">
                        <a:lnSpc>
                          <a:spcPct val="100000"/>
                        </a:lnSpc>
                        <a:spcBef>
                          <a:spcPts val="935"/>
                        </a:spcBef>
                      </a:pPr>
                      <a:r>
                        <a:rPr dirty="0" sz="1900" spc="-50" b="1">
                          <a:latin typeface="Times New Roman"/>
                          <a:cs typeface="Times New Roman"/>
                        </a:rPr>
                        <a:t>R</a:t>
                      </a:r>
                      <a:endParaRPr sz="1900">
                        <a:latin typeface="Times New Roman"/>
                        <a:cs typeface="Times New Roman"/>
                      </a:endParaRPr>
                    </a:p>
                  </a:txBody>
                  <a:tcPr marL="0" marR="0" marB="0" marT="118745">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FCCFF"/>
                    </a:solidFill>
                  </a:tcPr>
                </a:tc>
                <a:tc>
                  <a:txBody>
                    <a:bodyPr/>
                    <a:lstStyle/>
                    <a:p>
                      <a:pPr algn="ctr" marL="5080">
                        <a:lnSpc>
                          <a:spcPct val="100000"/>
                        </a:lnSpc>
                        <a:spcBef>
                          <a:spcPts val="935"/>
                        </a:spcBef>
                      </a:pPr>
                      <a:r>
                        <a:rPr dirty="0" sz="1900" spc="-50" b="1">
                          <a:latin typeface="Times New Roman"/>
                          <a:cs typeface="Times New Roman"/>
                        </a:rPr>
                        <a:t>R</a:t>
                      </a:r>
                      <a:endParaRPr sz="1900">
                        <a:latin typeface="Times New Roman"/>
                        <a:cs typeface="Times New Roman"/>
                      </a:endParaRPr>
                    </a:p>
                  </a:txBody>
                  <a:tcPr marL="0" marR="0" marB="0" marT="118745">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FCCFF"/>
                    </a:solidFill>
                  </a:tcPr>
                </a:tc>
              </a:tr>
            </a:tbl>
          </a:graphicData>
        </a:graphic>
      </p:graphicFrame>
      <p:sp>
        <p:nvSpPr>
          <p:cNvPr id="5" name="object 5" descr=""/>
          <p:cNvSpPr txBox="1"/>
          <p:nvPr/>
        </p:nvSpPr>
        <p:spPr>
          <a:xfrm>
            <a:off x="1572894" y="821562"/>
            <a:ext cx="8829040" cy="5123180"/>
          </a:xfrm>
          <a:prstGeom prst="rect">
            <a:avLst/>
          </a:prstGeom>
        </p:spPr>
        <p:txBody>
          <a:bodyPr wrap="square" lIns="0" tIns="195580" rIns="0" bIns="0" rtlCol="0" vert="horz">
            <a:spAutoFit/>
          </a:bodyPr>
          <a:lstStyle/>
          <a:p>
            <a:pPr marL="469265" indent="-456565">
              <a:lnSpc>
                <a:spcPct val="100000"/>
              </a:lnSpc>
              <a:spcBef>
                <a:spcPts val="1540"/>
              </a:spcBef>
              <a:buClr>
                <a:srgbClr val="40458B"/>
              </a:buClr>
              <a:buFont typeface="Tahoma"/>
              <a:buAutoNum type="arabicPeriod" startAt="2"/>
              <a:tabLst>
                <a:tab pos="469265" algn="l"/>
              </a:tabLst>
            </a:pPr>
            <a:r>
              <a:rPr dirty="0" sz="2400">
                <a:solidFill>
                  <a:srgbClr val="FF5CFF"/>
                </a:solidFill>
                <a:latin typeface="黑体"/>
                <a:cs typeface="黑体"/>
              </a:rPr>
              <a:t>若指令字长度固定</a:t>
            </a:r>
            <a:r>
              <a:rPr dirty="0" sz="2400">
                <a:solidFill>
                  <a:srgbClr val="E14B04"/>
                </a:solidFill>
                <a:latin typeface="黑体"/>
                <a:cs typeface="黑体"/>
              </a:rPr>
              <a:t>，采用地址个数可变</a:t>
            </a:r>
            <a:r>
              <a:rPr dirty="0" sz="2400" spc="-10">
                <a:solidFill>
                  <a:srgbClr val="E14B04"/>
                </a:solidFill>
                <a:latin typeface="Tahoma"/>
                <a:cs typeface="Tahoma"/>
              </a:rPr>
              <a:t>/</a:t>
            </a:r>
            <a:r>
              <a:rPr dirty="0" sz="2400" spc="-5">
                <a:solidFill>
                  <a:srgbClr val="E14B04"/>
                </a:solidFill>
                <a:latin typeface="黑体"/>
                <a:cs typeface="黑体"/>
              </a:rPr>
              <a:t>地址码长度可变的方案</a:t>
            </a:r>
            <a:endParaRPr sz="2400">
              <a:latin typeface="黑体"/>
              <a:cs typeface="黑体"/>
            </a:endParaRPr>
          </a:p>
          <a:p>
            <a:pPr lvl="1" marL="1099185" indent="-457200">
              <a:lnSpc>
                <a:spcPct val="100000"/>
              </a:lnSpc>
              <a:spcBef>
                <a:spcPts val="1440"/>
              </a:spcBef>
              <a:buSzPct val="89583"/>
              <a:buFont typeface="Wingdings"/>
              <a:buChar char=""/>
              <a:tabLst>
                <a:tab pos="1099185" algn="l"/>
              </a:tabLst>
            </a:pPr>
            <a:r>
              <a:rPr dirty="0" sz="2400">
                <a:solidFill>
                  <a:srgbClr val="40458B"/>
                </a:solidFill>
                <a:latin typeface="黑体"/>
                <a:cs typeface="黑体"/>
              </a:rPr>
              <a:t>利用操作码缩短，浪费的空间如何优化（两个方案</a:t>
            </a:r>
            <a:r>
              <a:rPr dirty="0" sz="2400" spc="-50">
                <a:solidFill>
                  <a:srgbClr val="40458B"/>
                </a:solidFill>
                <a:latin typeface="黑体"/>
                <a:cs typeface="黑体"/>
              </a:rPr>
              <a:t>）</a:t>
            </a:r>
            <a:endParaRPr sz="2400">
              <a:latin typeface="黑体"/>
              <a:cs typeface="黑体"/>
            </a:endParaRPr>
          </a:p>
          <a:p>
            <a:pPr lvl="1" marL="1099185" indent="-457200">
              <a:lnSpc>
                <a:spcPct val="100000"/>
              </a:lnSpc>
              <a:spcBef>
                <a:spcPts val="1440"/>
              </a:spcBef>
              <a:buSzPct val="89583"/>
              <a:buFont typeface="Wingdings"/>
              <a:buChar char=""/>
              <a:tabLst>
                <a:tab pos="1099185" algn="l"/>
              </a:tabLst>
            </a:pPr>
            <a:r>
              <a:rPr dirty="0" sz="2400" spc="-15">
                <a:solidFill>
                  <a:srgbClr val="40458B"/>
                </a:solidFill>
                <a:latin typeface="黑体"/>
                <a:cs typeface="黑体"/>
              </a:rPr>
              <a:t>最常用的操作码最短，其地址字段个数最多。</a:t>
            </a:r>
            <a:endParaRPr sz="2400">
              <a:latin typeface="黑体"/>
              <a:cs typeface="黑体"/>
            </a:endParaRPr>
          </a:p>
          <a:p>
            <a:pPr algn="ctr" marL="141605">
              <a:lnSpc>
                <a:spcPct val="100000"/>
              </a:lnSpc>
              <a:spcBef>
                <a:spcPts val="1275"/>
              </a:spcBef>
            </a:pPr>
            <a:r>
              <a:rPr dirty="0" sz="2000" spc="-40" b="1">
                <a:latin typeface="宋体"/>
                <a:cs typeface="宋体"/>
              </a:rPr>
              <a:t>能够使指令的功能增强，从总体上减少所需的指令条数 </a:t>
            </a:r>
            <a:r>
              <a:rPr dirty="0" sz="1800" spc="-50" b="1">
                <a:latin typeface="宋体"/>
                <a:cs typeface="宋体"/>
              </a:rPr>
              <a:t>。</a:t>
            </a:r>
            <a:endParaRPr sz="1800">
              <a:latin typeface="宋体"/>
              <a:cs typeface="宋体"/>
            </a:endParaRPr>
          </a:p>
          <a:p>
            <a:pPr marL="2652395">
              <a:lnSpc>
                <a:spcPct val="100000"/>
              </a:lnSpc>
              <a:spcBef>
                <a:spcPts val="2225"/>
              </a:spcBef>
            </a:pPr>
            <a:r>
              <a:rPr dirty="0" sz="2600" spc="-10">
                <a:solidFill>
                  <a:srgbClr val="40458B"/>
                </a:solidFill>
                <a:latin typeface="Tahoma"/>
                <a:cs typeface="Tahoma"/>
              </a:rPr>
              <a:t>a</a:t>
            </a:r>
            <a:r>
              <a:rPr dirty="0" sz="2600" spc="-25">
                <a:solidFill>
                  <a:srgbClr val="40458B"/>
                </a:solidFill>
                <a:latin typeface="黑体"/>
                <a:cs typeface="黑体"/>
              </a:rPr>
              <a:t>、定长指令字下采用多种地址方法</a:t>
            </a:r>
            <a:endParaRPr sz="2600">
              <a:latin typeface="黑体"/>
              <a:cs typeface="黑体"/>
            </a:endParaRPr>
          </a:p>
          <a:p>
            <a:pPr algn="r" marR="662305">
              <a:lnSpc>
                <a:spcPct val="100000"/>
              </a:lnSpc>
              <a:spcBef>
                <a:spcPts val="1710"/>
              </a:spcBef>
            </a:pPr>
            <a:r>
              <a:rPr dirty="0" sz="2600" spc="-25">
                <a:solidFill>
                  <a:srgbClr val="40458B"/>
                </a:solidFill>
                <a:latin typeface="黑体"/>
                <a:cs typeface="黑体"/>
              </a:rPr>
              <a:t>一地址</a:t>
            </a:r>
            <a:endParaRPr sz="2600">
              <a:latin typeface="黑体"/>
              <a:cs typeface="黑体"/>
            </a:endParaRPr>
          </a:p>
          <a:p>
            <a:pPr algn="r" marR="660400">
              <a:lnSpc>
                <a:spcPct val="100000"/>
              </a:lnSpc>
              <a:spcBef>
                <a:spcPts val="2965"/>
              </a:spcBef>
            </a:pPr>
            <a:r>
              <a:rPr dirty="0" sz="2600" spc="-25">
                <a:solidFill>
                  <a:srgbClr val="40458B"/>
                </a:solidFill>
                <a:latin typeface="黑体"/>
                <a:cs typeface="黑体"/>
              </a:rPr>
              <a:t>二地址</a:t>
            </a:r>
            <a:endParaRPr sz="2600">
              <a:latin typeface="黑体"/>
              <a:cs typeface="黑体"/>
            </a:endParaRPr>
          </a:p>
          <a:p>
            <a:pPr>
              <a:lnSpc>
                <a:spcPct val="100000"/>
              </a:lnSpc>
              <a:spcBef>
                <a:spcPts val="740"/>
              </a:spcBef>
            </a:pPr>
            <a:endParaRPr sz="2600">
              <a:latin typeface="黑体"/>
              <a:cs typeface="黑体"/>
            </a:endParaRPr>
          </a:p>
          <a:p>
            <a:pPr algn="r" marR="640080">
              <a:lnSpc>
                <a:spcPct val="100000"/>
              </a:lnSpc>
              <a:spcBef>
                <a:spcPts val="5"/>
              </a:spcBef>
            </a:pPr>
            <a:r>
              <a:rPr dirty="0" sz="2600" spc="-20">
                <a:solidFill>
                  <a:srgbClr val="40458B"/>
                </a:solidFill>
                <a:latin typeface="黑体"/>
                <a:cs typeface="黑体"/>
              </a:rPr>
              <a:t>三地址</a:t>
            </a:r>
            <a:endParaRPr sz="2600">
              <a:latin typeface="黑体"/>
              <a:cs typeface="黑体"/>
            </a:endParaRPr>
          </a:p>
        </p:txBody>
      </p:sp>
      <p:sp>
        <p:nvSpPr>
          <p:cNvPr id="6" name="object 6"/>
          <p:cNvSpPr txBox="1">
            <a:spLocks noGrp="1"/>
          </p:cNvSpPr>
          <p:nvPr>
            <p:ph type="title"/>
          </p:nvPr>
        </p:nvSpPr>
        <p:spPr>
          <a:xfrm>
            <a:off x="1163637" y="162814"/>
            <a:ext cx="11041380" cy="574040"/>
          </a:xfrm>
          <a:prstGeom prst="rect"/>
        </p:spPr>
        <p:txBody>
          <a:bodyPr wrap="square" lIns="0" tIns="12700" rIns="0" bIns="0" rtlCol="0" vert="horz">
            <a:spAutoFit/>
          </a:bodyPr>
          <a:lstStyle/>
          <a:p>
            <a:pPr marL="12700">
              <a:lnSpc>
                <a:spcPct val="100000"/>
              </a:lnSpc>
              <a:spcBef>
                <a:spcPts val="100"/>
              </a:spcBef>
              <a:tabLst>
                <a:tab pos="1602740" algn="l"/>
                <a:tab pos="11028045" algn="l"/>
              </a:tabLst>
            </a:pPr>
            <a:r>
              <a:rPr dirty="0" sz="3600"/>
              <a:t>	2.3.4</a:t>
            </a:r>
            <a:r>
              <a:rPr dirty="0" sz="3600" spc="20"/>
              <a:t> </a:t>
            </a:r>
            <a:r>
              <a:rPr dirty="0" sz="3600" spc="-35"/>
              <a:t>指令字格式的优</a:t>
            </a:r>
            <a:r>
              <a:rPr dirty="0" sz="3600" spc="-50"/>
              <a:t>化</a:t>
            </a:r>
            <a:r>
              <a:rPr dirty="0" sz="3600"/>
              <a:t>	</a:t>
            </a:r>
            <a:endParaRPr sz="360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1572894" y="821562"/>
            <a:ext cx="9133840" cy="2679700"/>
          </a:xfrm>
          <a:prstGeom prst="rect">
            <a:avLst/>
          </a:prstGeom>
        </p:spPr>
        <p:txBody>
          <a:bodyPr wrap="square" lIns="0" tIns="195580" rIns="0" bIns="0" rtlCol="0" vert="horz">
            <a:spAutoFit/>
          </a:bodyPr>
          <a:lstStyle/>
          <a:p>
            <a:pPr marL="469265" indent="-456565">
              <a:lnSpc>
                <a:spcPct val="100000"/>
              </a:lnSpc>
              <a:spcBef>
                <a:spcPts val="1540"/>
              </a:spcBef>
              <a:buClr>
                <a:srgbClr val="40458B"/>
              </a:buClr>
              <a:buFont typeface="Tahoma"/>
              <a:buAutoNum type="arabicPeriod" startAt="2"/>
              <a:tabLst>
                <a:tab pos="469265" algn="l"/>
              </a:tabLst>
            </a:pPr>
            <a:r>
              <a:rPr dirty="0" sz="2400">
                <a:solidFill>
                  <a:srgbClr val="FF5CFF"/>
                </a:solidFill>
                <a:latin typeface="黑体"/>
                <a:cs typeface="黑体"/>
              </a:rPr>
              <a:t>在定长指令字中</a:t>
            </a:r>
            <a:r>
              <a:rPr dirty="0" sz="2400">
                <a:solidFill>
                  <a:srgbClr val="E14B04"/>
                </a:solidFill>
                <a:latin typeface="黑体"/>
                <a:cs typeface="黑体"/>
              </a:rPr>
              <a:t>，采用地址个数可变和</a:t>
            </a:r>
            <a:r>
              <a:rPr dirty="0" sz="2400" spc="-10">
                <a:solidFill>
                  <a:srgbClr val="E14B04"/>
                </a:solidFill>
                <a:latin typeface="Tahoma"/>
                <a:cs typeface="Tahoma"/>
              </a:rPr>
              <a:t>/</a:t>
            </a:r>
            <a:r>
              <a:rPr dirty="0" sz="2400" spc="-5">
                <a:solidFill>
                  <a:srgbClr val="E14B04"/>
                </a:solidFill>
                <a:latin typeface="黑体"/>
                <a:cs typeface="黑体"/>
              </a:rPr>
              <a:t>或地址码长度可变的方案</a:t>
            </a:r>
            <a:endParaRPr sz="2400">
              <a:latin typeface="黑体"/>
              <a:cs typeface="黑体"/>
            </a:endParaRPr>
          </a:p>
          <a:p>
            <a:pPr lvl="1" marL="1099185" indent="-457200">
              <a:lnSpc>
                <a:spcPct val="100000"/>
              </a:lnSpc>
              <a:spcBef>
                <a:spcPts val="1440"/>
              </a:spcBef>
              <a:buSzPct val="89583"/>
              <a:buFont typeface="Wingdings"/>
              <a:buChar char=""/>
              <a:tabLst>
                <a:tab pos="1099185" algn="l"/>
              </a:tabLst>
            </a:pPr>
            <a:r>
              <a:rPr dirty="0" sz="2400">
                <a:solidFill>
                  <a:srgbClr val="40458B"/>
                </a:solidFill>
                <a:latin typeface="黑体"/>
                <a:cs typeface="黑体"/>
              </a:rPr>
              <a:t>利用操作码缩短，浪费的空间如何优化（两个方案</a:t>
            </a:r>
            <a:r>
              <a:rPr dirty="0" sz="2400" spc="-50">
                <a:solidFill>
                  <a:srgbClr val="40458B"/>
                </a:solidFill>
                <a:latin typeface="黑体"/>
                <a:cs typeface="黑体"/>
              </a:rPr>
              <a:t>）</a:t>
            </a:r>
            <a:endParaRPr sz="2400">
              <a:latin typeface="黑体"/>
              <a:cs typeface="黑体"/>
            </a:endParaRPr>
          </a:p>
          <a:p>
            <a:pPr lvl="1" marL="1099185" indent="-457200">
              <a:lnSpc>
                <a:spcPct val="100000"/>
              </a:lnSpc>
              <a:spcBef>
                <a:spcPts val="1440"/>
              </a:spcBef>
              <a:buSzPct val="89583"/>
              <a:buFont typeface="Wingdings"/>
              <a:buChar char=""/>
              <a:tabLst>
                <a:tab pos="1099185" algn="l"/>
              </a:tabLst>
            </a:pPr>
            <a:r>
              <a:rPr dirty="0" sz="2400" spc="-15">
                <a:solidFill>
                  <a:srgbClr val="40458B"/>
                </a:solidFill>
                <a:latin typeface="黑体"/>
                <a:cs typeface="黑体"/>
              </a:rPr>
              <a:t>最常用的操作码最短，其地址字段个数最多。</a:t>
            </a:r>
            <a:endParaRPr sz="2400">
              <a:latin typeface="黑体"/>
              <a:cs typeface="黑体"/>
            </a:endParaRPr>
          </a:p>
          <a:p>
            <a:pPr algn="ctr" marR="154940">
              <a:lnSpc>
                <a:spcPct val="100000"/>
              </a:lnSpc>
              <a:spcBef>
                <a:spcPts val="1275"/>
              </a:spcBef>
            </a:pPr>
            <a:r>
              <a:rPr dirty="0" sz="2000" spc="-40" b="1">
                <a:latin typeface="宋体"/>
                <a:cs typeface="宋体"/>
              </a:rPr>
              <a:t>能够使指令的功能增强，从总体上减少所需的指令条数 </a:t>
            </a:r>
            <a:r>
              <a:rPr dirty="0" sz="1800" spc="-50" b="1">
                <a:latin typeface="宋体"/>
                <a:cs typeface="宋体"/>
              </a:rPr>
              <a:t>。</a:t>
            </a:r>
            <a:endParaRPr sz="1800">
              <a:latin typeface="宋体"/>
              <a:cs typeface="宋体"/>
            </a:endParaRPr>
          </a:p>
          <a:p>
            <a:pPr algn="ctr" marL="339725">
              <a:lnSpc>
                <a:spcPct val="100000"/>
              </a:lnSpc>
              <a:spcBef>
                <a:spcPts val="1140"/>
              </a:spcBef>
            </a:pPr>
            <a:r>
              <a:rPr dirty="0" sz="2600">
                <a:solidFill>
                  <a:srgbClr val="40458B"/>
                </a:solidFill>
                <a:latin typeface="Tahoma"/>
                <a:cs typeface="Tahoma"/>
              </a:rPr>
              <a:t>b</a:t>
            </a:r>
            <a:r>
              <a:rPr dirty="0" sz="2600" spc="-20">
                <a:solidFill>
                  <a:srgbClr val="40458B"/>
                </a:solidFill>
                <a:latin typeface="黑体"/>
                <a:cs typeface="黑体"/>
              </a:rPr>
              <a:t>、同种地址下多种地址形式和变化</a:t>
            </a:r>
            <a:endParaRPr sz="2600">
              <a:latin typeface="黑体"/>
              <a:cs typeface="黑体"/>
            </a:endParaRPr>
          </a:p>
        </p:txBody>
      </p:sp>
      <p:graphicFrame>
        <p:nvGraphicFramePr>
          <p:cNvPr id="4" name="object 4" descr=""/>
          <p:cNvGraphicFramePr>
            <a:graphicFrameLocks noGrp="1"/>
          </p:cNvGraphicFramePr>
          <p:nvPr/>
        </p:nvGraphicFramePr>
        <p:xfrm>
          <a:off x="4030724" y="4537448"/>
          <a:ext cx="5184775" cy="499109"/>
        </p:xfrm>
        <a:graphic>
          <a:graphicData uri="http://schemas.openxmlformats.org/drawingml/2006/table">
            <a:tbl>
              <a:tblPr firstRow="1" bandRow="1">
                <a:tableStyleId>{2D5ABB26-0587-4C30-8999-92F81FD0307C}</a:tableStyleId>
              </a:tblPr>
              <a:tblGrid>
                <a:gridCol w="1356995"/>
                <a:gridCol w="2600960"/>
                <a:gridCol w="1130935"/>
              </a:tblGrid>
              <a:tr h="499109">
                <a:tc>
                  <a:txBody>
                    <a:bodyPr/>
                    <a:lstStyle/>
                    <a:p>
                      <a:pPr marL="335915">
                        <a:lnSpc>
                          <a:spcPct val="100000"/>
                        </a:lnSpc>
                        <a:spcBef>
                          <a:spcPts val="890"/>
                        </a:spcBef>
                      </a:pPr>
                      <a:r>
                        <a:rPr dirty="0" sz="1900" spc="-20">
                          <a:solidFill>
                            <a:srgbClr val="000080"/>
                          </a:solidFill>
                          <a:latin typeface="宋体"/>
                          <a:cs typeface="宋体"/>
                        </a:rPr>
                        <a:t>操作码</a:t>
                      </a:r>
                      <a:endParaRPr sz="1900">
                        <a:latin typeface="宋体"/>
                        <a:cs typeface="宋体"/>
                      </a:endParaRPr>
                    </a:p>
                  </a:txBody>
                  <a:tcPr marL="0" marR="0" marB="0" marT="11303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CC00"/>
                    </a:solidFill>
                  </a:tcPr>
                </a:tc>
                <a:tc>
                  <a:txBody>
                    <a:bodyPr/>
                    <a:lstStyle/>
                    <a:p>
                      <a:pPr marL="789940">
                        <a:lnSpc>
                          <a:spcPct val="100000"/>
                        </a:lnSpc>
                        <a:spcBef>
                          <a:spcPts val="805"/>
                        </a:spcBef>
                      </a:pPr>
                      <a:r>
                        <a:rPr dirty="0" sz="1900" spc="-15">
                          <a:latin typeface="宋体"/>
                          <a:cs typeface="宋体"/>
                        </a:rPr>
                        <a:t>访存地址</a:t>
                      </a:r>
                      <a:endParaRPr sz="1900">
                        <a:latin typeface="宋体"/>
                        <a:cs typeface="宋体"/>
                      </a:endParaRPr>
                    </a:p>
                  </a:txBody>
                  <a:tcPr marL="0" marR="0" marB="0" marT="102235">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CFFCC"/>
                    </a:solidFill>
                  </a:tcPr>
                </a:tc>
                <a:tc>
                  <a:txBody>
                    <a:bodyPr/>
                    <a:lstStyle/>
                    <a:p>
                      <a:pPr algn="ctr" marL="5080">
                        <a:lnSpc>
                          <a:spcPct val="100000"/>
                        </a:lnSpc>
                        <a:spcBef>
                          <a:spcPts val="935"/>
                        </a:spcBef>
                      </a:pPr>
                      <a:r>
                        <a:rPr dirty="0" sz="1900" spc="-50" b="1">
                          <a:latin typeface="Times New Roman"/>
                          <a:cs typeface="Times New Roman"/>
                        </a:rPr>
                        <a:t>R</a:t>
                      </a:r>
                      <a:endParaRPr sz="1900">
                        <a:latin typeface="Times New Roman"/>
                        <a:cs typeface="Times New Roman"/>
                      </a:endParaRPr>
                    </a:p>
                  </a:txBody>
                  <a:tcPr marL="0" marR="0" marB="0" marT="118745">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CCFF"/>
                    </a:solidFill>
                  </a:tcPr>
                </a:tc>
              </a:tr>
            </a:tbl>
          </a:graphicData>
        </a:graphic>
      </p:graphicFrame>
      <p:sp>
        <p:nvSpPr>
          <p:cNvPr id="5" name="object 5" descr=""/>
          <p:cNvSpPr/>
          <p:nvPr/>
        </p:nvSpPr>
        <p:spPr>
          <a:xfrm>
            <a:off x="6377618" y="3770281"/>
            <a:ext cx="2886075" cy="659130"/>
          </a:xfrm>
          <a:custGeom>
            <a:avLst/>
            <a:gdLst/>
            <a:ahLst/>
            <a:cxnLst/>
            <a:rect l="l" t="t" r="r" b="b"/>
            <a:pathLst>
              <a:path w="2886075" h="659129">
                <a:moveTo>
                  <a:pt x="2885507" y="0"/>
                </a:moveTo>
                <a:lnTo>
                  <a:pt x="0" y="0"/>
                </a:lnTo>
                <a:lnTo>
                  <a:pt x="0" y="659107"/>
                </a:lnTo>
                <a:lnTo>
                  <a:pt x="2885507" y="659107"/>
                </a:lnTo>
              </a:path>
            </a:pathLst>
          </a:custGeom>
          <a:ln w="20138">
            <a:solidFill>
              <a:srgbClr val="000000"/>
            </a:solidFill>
          </a:ln>
        </p:spPr>
        <p:txBody>
          <a:bodyPr wrap="square" lIns="0" tIns="0" rIns="0" bIns="0" rtlCol="0"/>
          <a:lstStyle/>
          <a:p/>
        </p:txBody>
      </p:sp>
      <p:sp>
        <p:nvSpPr>
          <p:cNvPr id="6" name="object 6" descr=""/>
          <p:cNvSpPr txBox="1"/>
          <p:nvPr/>
        </p:nvSpPr>
        <p:spPr>
          <a:xfrm>
            <a:off x="6583302" y="3938373"/>
            <a:ext cx="95250" cy="315595"/>
          </a:xfrm>
          <a:prstGeom prst="rect">
            <a:avLst/>
          </a:prstGeom>
        </p:spPr>
        <p:txBody>
          <a:bodyPr wrap="square" lIns="0" tIns="0" rIns="0" bIns="0" rtlCol="0" vert="horz">
            <a:spAutoFit/>
          </a:bodyPr>
          <a:lstStyle/>
          <a:p>
            <a:pPr>
              <a:lnSpc>
                <a:spcPts val="2445"/>
              </a:lnSpc>
            </a:pPr>
            <a:r>
              <a:rPr dirty="0" sz="2250" spc="-50">
                <a:latin typeface="Times New Roman"/>
                <a:cs typeface="Times New Roman"/>
              </a:rPr>
              <a:t>[</a:t>
            </a:r>
            <a:endParaRPr sz="2250">
              <a:latin typeface="Times New Roman"/>
              <a:cs typeface="Times New Roman"/>
            </a:endParaRPr>
          </a:p>
        </p:txBody>
      </p:sp>
      <p:sp>
        <p:nvSpPr>
          <p:cNvPr id="7" name="object 7" descr=""/>
          <p:cNvSpPr txBox="1"/>
          <p:nvPr/>
        </p:nvSpPr>
        <p:spPr>
          <a:xfrm>
            <a:off x="6694758" y="3947404"/>
            <a:ext cx="1181735" cy="285115"/>
          </a:xfrm>
          <a:prstGeom prst="rect">
            <a:avLst/>
          </a:prstGeom>
        </p:spPr>
        <p:txBody>
          <a:bodyPr wrap="square" lIns="0" tIns="0" rIns="0" bIns="0" rtlCol="0" vert="horz">
            <a:spAutoFit/>
          </a:bodyPr>
          <a:lstStyle/>
          <a:p>
            <a:pPr>
              <a:lnSpc>
                <a:spcPts val="2240"/>
              </a:lnSpc>
            </a:pPr>
            <a:r>
              <a:rPr dirty="0" sz="2250" spc="40">
                <a:latin typeface="宋体"/>
                <a:cs typeface="宋体"/>
              </a:rPr>
              <a:t>使用文档</a:t>
            </a:r>
            <a:endParaRPr sz="2250">
              <a:latin typeface="宋体"/>
              <a:cs typeface="宋体"/>
            </a:endParaRPr>
          </a:p>
        </p:txBody>
      </p:sp>
      <p:graphicFrame>
        <p:nvGraphicFramePr>
          <p:cNvPr id="8" name="object 8" descr=""/>
          <p:cNvGraphicFramePr>
            <a:graphicFrameLocks noGrp="1"/>
          </p:cNvGraphicFramePr>
          <p:nvPr/>
        </p:nvGraphicFramePr>
        <p:xfrm>
          <a:off x="4030724" y="5314675"/>
          <a:ext cx="5184775" cy="499109"/>
        </p:xfrm>
        <a:graphic>
          <a:graphicData uri="http://schemas.openxmlformats.org/drawingml/2006/table">
            <a:tbl>
              <a:tblPr firstRow="1" bandRow="1">
                <a:tableStyleId>{2D5ABB26-0587-4C30-8999-92F81FD0307C}</a:tableStyleId>
              </a:tblPr>
              <a:tblGrid>
                <a:gridCol w="1384935"/>
                <a:gridCol w="1441450"/>
                <a:gridCol w="1130300"/>
                <a:gridCol w="1130300"/>
              </a:tblGrid>
              <a:tr h="499109">
                <a:tc>
                  <a:txBody>
                    <a:bodyPr/>
                    <a:lstStyle/>
                    <a:p>
                      <a:pPr marL="335915">
                        <a:lnSpc>
                          <a:spcPct val="100000"/>
                        </a:lnSpc>
                        <a:spcBef>
                          <a:spcPts val="890"/>
                        </a:spcBef>
                      </a:pPr>
                      <a:r>
                        <a:rPr dirty="0" sz="1900" spc="-20">
                          <a:solidFill>
                            <a:srgbClr val="000080"/>
                          </a:solidFill>
                          <a:latin typeface="宋体"/>
                          <a:cs typeface="宋体"/>
                        </a:rPr>
                        <a:t>操作码</a:t>
                      </a:r>
                      <a:endParaRPr sz="1900">
                        <a:latin typeface="宋体"/>
                        <a:cs typeface="宋体"/>
                      </a:endParaRPr>
                    </a:p>
                  </a:txBody>
                  <a:tcPr marL="0" marR="0" marB="0" marT="11303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FFCC00"/>
                    </a:solidFill>
                  </a:tcPr>
                </a:tc>
                <a:tc>
                  <a:txBody>
                    <a:bodyPr/>
                    <a:lstStyle/>
                    <a:p>
                      <a:pPr marL="109220">
                        <a:lnSpc>
                          <a:spcPct val="100000"/>
                        </a:lnSpc>
                        <a:spcBef>
                          <a:spcPts val="980"/>
                        </a:spcBef>
                      </a:pPr>
                      <a:r>
                        <a:rPr dirty="0" sz="1900" spc="-25">
                          <a:latin typeface="宋体"/>
                          <a:cs typeface="宋体"/>
                        </a:rPr>
                        <a:t>立即操作数</a:t>
                      </a:r>
                      <a:endParaRPr sz="1900">
                        <a:latin typeface="宋体"/>
                        <a:cs typeface="宋体"/>
                      </a:endParaRPr>
                    </a:p>
                  </a:txBody>
                  <a:tcPr marL="0" marR="0" marB="0" marT="124460">
                    <a:lnL w="28575">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solidFill>
                      <a:srgbClr val="CCFFCC"/>
                    </a:solidFill>
                  </a:tcPr>
                </a:tc>
                <a:tc>
                  <a:txBody>
                    <a:bodyPr/>
                    <a:lstStyle/>
                    <a:p>
                      <a:pPr algn="ctr" marL="27305">
                        <a:lnSpc>
                          <a:spcPct val="100000"/>
                        </a:lnSpc>
                        <a:spcBef>
                          <a:spcPts val="935"/>
                        </a:spcBef>
                      </a:pPr>
                      <a:r>
                        <a:rPr dirty="0" sz="1900" spc="-50" b="1">
                          <a:latin typeface="Times New Roman"/>
                          <a:cs typeface="Times New Roman"/>
                        </a:rPr>
                        <a:t>R</a:t>
                      </a:r>
                      <a:endParaRPr sz="1900">
                        <a:latin typeface="Times New Roman"/>
                        <a:cs typeface="Times New Roman"/>
                      </a:endParaRPr>
                    </a:p>
                  </a:txBody>
                  <a:tcPr marL="0" marR="0" marB="0" marT="118745">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FCCFF"/>
                    </a:solidFill>
                  </a:tcPr>
                </a:tc>
                <a:tc>
                  <a:txBody>
                    <a:bodyPr/>
                    <a:lstStyle/>
                    <a:p>
                      <a:pPr algn="ctr" marL="5080">
                        <a:lnSpc>
                          <a:spcPct val="100000"/>
                        </a:lnSpc>
                        <a:spcBef>
                          <a:spcPts val="935"/>
                        </a:spcBef>
                      </a:pPr>
                      <a:r>
                        <a:rPr dirty="0" sz="1900" spc="-50" b="1">
                          <a:latin typeface="Times New Roman"/>
                          <a:cs typeface="Times New Roman"/>
                        </a:rPr>
                        <a:t>R</a:t>
                      </a:r>
                      <a:endParaRPr sz="1900">
                        <a:latin typeface="Times New Roman"/>
                        <a:cs typeface="Times New Roman"/>
                      </a:endParaRPr>
                    </a:p>
                  </a:txBody>
                  <a:tcPr marL="0" marR="0" marB="0" marT="118745">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solidFill>
                      <a:srgbClr val="FFCCFF"/>
                    </a:solidFill>
                  </a:tcPr>
                </a:tc>
              </a:tr>
            </a:tbl>
          </a:graphicData>
        </a:graphic>
      </p:graphicFrame>
      <p:grpSp>
        <p:nvGrpSpPr>
          <p:cNvPr id="9" name="object 9" descr=""/>
          <p:cNvGrpSpPr/>
          <p:nvPr/>
        </p:nvGrpSpPr>
        <p:grpSpPr>
          <a:xfrm>
            <a:off x="4030636" y="3790996"/>
            <a:ext cx="5108575" cy="520065"/>
            <a:chOff x="4030636" y="3790996"/>
            <a:chExt cx="5108575" cy="520065"/>
          </a:xfrm>
        </p:grpSpPr>
        <p:sp>
          <p:nvSpPr>
            <p:cNvPr id="10" name="object 10" descr=""/>
            <p:cNvSpPr/>
            <p:nvPr/>
          </p:nvSpPr>
          <p:spPr>
            <a:xfrm>
              <a:off x="6867597" y="3810553"/>
              <a:ext cx="1130935" cy="490220"/>
            </a:xfrm>
            <a:custGeom>
              <a:avLst/>
              <a:gdLst/>
              <a:ahLst/>
              <a:cxnLst/>
              <a:rect l="l" t="t" r="r" b="b"/>
              <a:pathLst>
                <a:path w="1130934" h="490220">
                  <a:moveTo>
                    <a:pt x="1130720" y="0"/>
                  </a:moveTo>
                  <a:lnTo>
                    <a:pt x="0" y="0"/>
                  </a:lnTo>
                  <a:lnTo>
                    <a:pt x="0" y="489968"/>
                  </a:lnTo>
                  <a:lnTo>
                    <a:pt x="1130720" y="489968"/>
                  </a:lnTo>
                  <a:lnTo>
                    <a:pt x="1130720" y="0"/>
                  </a:lnTo>
                  <a:close/>
                </a:path>
              </a:pathLst>
            </a:custGeom>
            <a:solidFill>
              <a:srgbClr val="FFCCFF"/>
            </a:solidFill>
          </p:spPr>
          <p:txBody>
            <a:bodyPr wrap="square" lIns="0" tIns="0" rIns="0" bIns="0" rtlCol="0"/>
            <a:lstStyle/>
            <a:p/>
          </p:txBody>
        </p:sp>
        <p:sp>
          <p:nvSpPr>
            <p:cNvPr id="11" name="object 11" descr=""/>
            <p:cNvSpPr/>
            <p:nvPr/>
          </p:nvSpPr>
          <p:spPr>
            <a:xfrm>
              <a:off x="4040796" y="3801156"/>
              <a:ext cx="5088255" cy="499745"/>
            </a:xfrm>
            <a:custGeom>
              <a:avLst/>
              <a:gdLst/>
              <a:ahLst/>
              <a:cxnLst/>
              <a:rect l="l" t="t" r="r" b="b"/>
              <a:pathLst>
                <a:path w="5088255" h="499745">
                  <a:moveTo>
                    <a:pt x="2826800" y="499364"/>
                  </a:moveTo>
                  <a:lnTo>
                    <a:pt x="3957520" y="499364"/>
                  </a:lnTo>
                  <a:lnTo>
                    <a:pt x="3957520" y="9396"/>
                  </a:lnTo>
                  <a:lnTo>
                    <a:pt x="2826800" y="9396"/>
                  </a:lnTo>
                  <a:lnTo>
                    <a:pt x="2826800" y="499364"/>
                  </a:lnTo>
                  <a:close/>
                </a:path>
                <a:path w="5088255" h="499745">
                  <a:moveTo>
                    <a:pt x="0" y="499364"/>
                  </a:moveTo>
                  <a:lnTo>
                    <a:pt x="5088240" y="499364"/>
                  </a:lnTo>
                  <a:lnTo>
                    <a:pt x="5088240" y="0"/>
                  </a:lnTo>
                  <a:lnTo>
                    <a:pt x="0" y="0"/>
                  </a:lnTo>
                  <a:lnTo>
                    <a:pt x="0" y="499364"/>
                  </a:lnTo>
                  <a:close/>
                </a:path>
              </a:pathLst>
            </a:custGeom>
            <a:ln w="20163">
              <a:solidFill>
                <a:srgbClr val="000000"/>
              </a:solidFill>
            </a:ln>
          </p:spPr>
          <p:txBody>
            <a:bodyPr wrap="square" lIns="0" tIns="0" rIns="0" bIns="0" rtlCol="0"/>
            <a:lstStyle/>
            <a:p/>
          </p:txBody>
        </p:sp>
      </p:grpSp>
      <p:sp>
        <p:nvSpPr>
          <p:cNvPr id="12" name="object 12" descr=""/>
          <p:cNvSpPr txBox="1"/>
          <p:nvPr/>
        </p:nvSpPr>
        <p:spPr>
          <a:xfrm>
            <a:off x="1901080" y="3894708"/>
            <a:ext cx="1976120" cy="320040"/>
          </a:xfrm>
          <a:prstGeom prst="rect">
            <a:avLst/>
          </a:prstGeom>
        </p:spPr>
        <p:txBody>
          <a:bodyPr wrap="square" lIns="0" tIns="16510" rIns="0" bIns="0" rtlCol="0" vert="horz">
            <a:spAutoFit/>
          </a:bodyPr>
          <a:lstStyle/>
          <a:p>
            <a:pPr marL="12700">
              <a:lnSpc>
                <a:spcPct val="100000"/>
              </a:lnSpc>
              <a:spcBef>
                <a:spcPts val="130"/>
              </a:spcBef>
            </a:pPr>
            <a:r>
              <a:rPr dirty="0" sz="1900" spc="-25">
                <a:solidFill>
                  <a:srgbClr val="FF6600"/>
                </a:solidFill>
                <a:latin typeface="宋体"/>
                <a:cs typeface="宋体"/>
              </a:rPr>
              <a:t>寄存器－寄存器型</a:t>
            </a:r>
            <a:endParaRPr sz="1900">
              <a:latin typeface="宋体"/>
              <a:cs typeface="宋体"/>
            </a:endParaRPr>
          </a:p>
        </p:txBody>
      </p:sp>
      <p:sp>
        <p:nvSpPr>
          <p:cNvPr id="13" name="object 13" descr=""/>
          <p:cNvSpPr txBox="1"/>
          <p:nvPr/>
        </p:nvSpPr>
        <p:spPr>
          <a:xfrm>
            <a:off x="4040797" y="3801156"/>
            <a:ext cx="2827020" cy="499745"/>
          </a:xfrm>
          <a:prstGeom prst="rect">
            <a:avLst/>
          </a:prstGeom>
          <a:solidFill>
            <a:srgbClr val="FFCC00"/>
          </a:solidFill>
          <a:ln w="20191">
            <a:solidFill>
              <a:srgbClr val="000000"/>
            </a:solidFill>
          </a:ln>
        </p:spPr>
        <p:txBody>
          <a:bodyPr wrap="square" lIns="0" tIns="120650" rIns="0" bIns="0" rtlCol="0" vert="horz">
            <a:spAutoFit/>
          </a:bodyPr>
          <a:lstStyle/>
          <a:p>
            <a:pPr algn="ctr">
              <a:lnSpc>
                <a:spcPct val="100000"/>
              </a:lnSpc>
              <a:spcBef>
                <a:spcPts val="950"/>
              </a:spcBef>
            </a:pPr>
            <a:r>
              <a:rPr dirty="0" sz="1900" spc="-20">
                <a:solidFill>
                  <a:srgbClr val="000080"/>
                </a:solidFill>
                <a:latin typeface="宋体"/>
                <a:cs typeface="宋体"/>
              </a:rPr>
              <a:t>操作码</a:t>
            </a:r>
            <a:endParaRPr sz="1900">
              <a:latin typeface="宋体"/>
              <a:cs typeface="宋体"/>
            </a:endParaRPr>
          </a:p>
        </p:txBody>
      </p:sp>
      <p:sp>
        <p:nvSpPr>
          <p:cNvPr id="14" name="object 14" descr=""/>
          <p:cNvSpPr txBox="1"/>
          <p:nvPr/>
        </p:nvSpPr>
        <p:spPr>
          <a:xfrm>
            <a:off x="7345414" y="3900239"/>
            <a:ext cx="203200" cy="320040"/>
          </a:xfrm>
          <a:prstGeom prst="rect">
            <a:avLst/>
          </a:prstGeom>
        </p:spPr>
        <p:txBody>
          <a:bodyPr wrap="square" lIns="0" tIns="16510" rIns="0" bIns="0" rtlCol="0" vert="horz">
            <a:spAutoFit/>
          </a:bodyPr>
          <a:lstStyle/>
          <a:p>
            <a:pPr marL="12700">
              <a:lnSpc>
                <a:spcPct val="100000"/>
              </a:lnSpc>
              <a:spcBef>
                <a:spcPts val="130"/>
              </a:spcBef>
            </a:pPr>
            <a:r>
              <a:rPr dirty="0" sz="1900" spc="-50" b="1">
                <a:latin typeface="Times New Roman"/>
                <a:cs typeface="Times New Roman"/>
              </a:rPr>
              <a:t>R</a:t>
            </a:r>
            <a:endParaRPr sz="1900">
              <a:latin typeface="Times New Roman"/>
              <a:cs typeface="Times New Roman"/>
            </a:endParaRPr>
          </a:p>
        </p:txBody>
      </p:sp>
      <p:sp>
        <p:nvSpPr>
          <p:cNvPr id="15" name="object 15" descr=""/>
          <p:cNvSpPr/>
          <p:nvPr/>
        </p:nvSpPr>
        <p:spPr>
          <a:xfrm>
            <a:off x="6867597" y="3801156"/>
            <a:ext cx="1130935" cy="499745"/>
          </a:xfrm>
          <a:custGeom>
            <a:avLst/>
            <a:gdLst/>
            <a:ahLst/>
            <a:cxnLst/>
            <a:rect l="l" t="t" r="r" b="b"/>
            <a:pathLst>
              <a:path w="1130934" h="499745">
                <a:moveTo>
                  <a:pt x="1130720" y="0"/>
                </a:moveTo>
                <a:lnTo>
                  <a:pt x="1130720" y="499364"/>
                </a:lnTo>
              </a:path>
              <a:path w="1130934" h="499745">
                <a:moveTo>
                  <a:pt x="0" y="0"/>
                </a:moveTo>
                <a:lnTo>
                  <a:pt x="0" y="499364"/>
                </a:lnTo>
              </a:path>
            </a:pathLst>
          </a:custGeom>
          <a:ln w="20163">
            <a:solidFill>
              <a:srgbClr val="000000"/>
            </a:solidFill>
          </a:ln>
        </p:spPr>
        <p:txBody>
          <a:bodyPr wrap="square" lIns="0" tIns="0" rIns="0" bIns="0" rtlCol="0"/>
          <a:lstStyle/>
          <a:p/>
        </p:txBody>
      </p:sp>
      <p:sp>
        <p:nvSpPr>
          <p:cNvPr id="16" name="object 16" descr=""/>
          <p:cNvSpPr txBox="1"/>
          <p:nvPr/>
        </p:nvSpPr>
        <p:spPr>
          <a:xfrm>
            <a:off x="7852998" y="3894692"/>
            <a:ext cx="1257935" cy="367030"/>
          </a:xfrm>
          <a:prstGeom prst="rect">
            <a:avLst/>
          </a:prstGeom>
        </p:spPr>
        <p:txBody>
          <a:bodyPr wrap="square" lIns="0" tIns="11430" rIns="0" bIns="0" rtlCol="0" vert="horz">
            <a:spAutoFit/>
          </a:bodyPr>
          <a:lstStyle/>
          <a:p>
            <a:pPr marL="38100">
              <a:lnSpc>
                <a:spcPct val="100000"/>
              </a:lnSpc>
              <a:spcBef>
                <a:spcPts val="90"/>
              </a:spcBef>
            </a:pPr>
            <a:r>
              <a:rPr dirty="0" sz="2250" spc="30">
                <a:latin typeface="宋体"/>
                <a:cs typeface="宋体"/>
              </a:rPr>
              <a:t>中的</a:t>
            </a:r>
            <a:r>
              <a:rPr dirty="0" baseline="7309" sz="2850" spc="-1979" b="1">
                <a:latin typeface="Times New Roman"/>
                <a:cs typeface="Times New Roman"/>
              </a:rPr>
              <a:t>R</a:t>
            </a:r>
            <a:r>
              <a:rPr dirty="0" sz="2250" spc="20">
                <a:latin typeface="宋体"/>
                <a:cs typeface="宋体"/>
              </a:rPr>
              <a:t>独特</a:t>
            </a:r>
            <a:endParaRPr sz="2250">
              <a:latin typeface="宋体"/>
              <a:cs typeface="宋体"/>
            </a:endParaRPr>
          </a:p>
        </p:txBody>
      </p:sp>
      <p:sp>
        <p:nvSpPr>
          <p:cNvPr id="17" name="object 17" descr=""/>
          <p:cNvSpPr txBox="1"/>
          <p:nvPr/>
        </p:nvSpPr>
        <p:spPr>
          <a:xfrm>
            <a:off x="1901080" y="4647057"/>
            <a:ext cx="1976120" cy="320040"/>
          </a:xfrm>
          <a:prstGeom prst="rect">
            <a:avLst/>
          </a:prstGeom>
        </p:spPr>
        <p:txBody>
          <a:bodyPr wrap="square" lIns="0" tIns="16510" rIns="0" bIns="0" rtlCol="0" vert="horz">
            <a:spAutoFit/>
          </a:bodyPr>
          <a:lstStyle/>
          <a:p>
            <a:pPr marL="12700">
              <a:lnSpc>
                <a:spcPct val="100000"/>
              </a:lnSpc>
              <a:spcBef>
                <a:spcPts val="130"/>
              </a:spcBef>
            </a:pPr>
            <a:r>
              <a:rPr dirty="0" sz="1900" spc="-25">
                <a:solidFill>
                  <a:srgbClr val="FF6600"/>
                </a:solidFill>
                <a:latin typeface="宋体"/>
                <a:cs typeface="宋体"/>
              </a:rPr>
              <a:t>寄存器－存储器型</a:t>
            </a:r>
            <a:endParaRPr sz="1900">
              <a:latin typeface="宋体"/>
              <a:cs typeface="宋体"/>
            </a:endParaRPr>
          </a:p>
        </p:txBody>
      </p:sp>
      <p:sp>
        <p:nvSpPr>
          <p:cNvPr id="18" name="object 18" descr=""/>
          <p:cNvSpPr txBox="1"/>
          <p:nvPr/>
        </p:nvSpPr>
        <p:spPr>
          <a:xfrm>
            <a:off x="2329970" y="5427167"/>
            <a:ext cx="1491615" cy="320040"/>
          </a:xfrm>
          <a:prstGeom prst="rect">
            <a:avLst/>
          </a:prstGeom>
        </p:spPr>
        <p:txBody>
          <a:bodyPr wrap="square" lIns="0" tIns="16510" rIns="0" bIns="0" rtlCol="0" vert="horz">
            <a:spAutoFit/>
          </a:bodyPr>
          <a:lstStyle/>
          <a:p>
            <a:pPr marL="12700">
              <a:lnSpc>
                <a:spcPct val="100000"/>
              </a:lnSpc>
              <a:spcBef>
                <a:spcPts val="130"/>
              </a:spcBef>
            </a:pPr>
            <a:r>
              <a:rPr dirty="0" sz="1900" spc="-25">
                <a:solidFill>
                  <a:srgbClr val="FF6600"/>
                </a:solidFill>
                <a:latin typeface="宋体"/>
                <a:cs typeface="宋体"/>
              </a:rPr>
              <a:t>带立即操作数</a:t>
            </a:r>
            <a:endParaRPr sz="1900">
              <a:latin typeface="宋体"/>
              <a:cs typeface="宋体"/>
            </a:endParaRPr>
          </a:p>
        </p:txBody>
      </p:sp>
      <p:sp>
        <p:nvSpPr>
          <p:cNvPr id="19" name="object 19"/>
          <p:cNvSpPr txBox="1">
            <a:spLocks noGrp="1"/>
          </p:cNvSpPr>
          <p:nvPr>
            <p:ph type="title"/>
          </p:nvPr>
        </p:nvSpPr>
        <p:spPr>
          <a:xfrm>
            <a:off x="1163637" y="162814"/>
            <a:ext cx="11041380" cy="574040"/>
          </a:xfrm>
          <a:prstGeom prst="rect"/>
        </p:spPr>
        <p:txBody>
          <a:bodyPr wrap="square" lIns="0" tIns="12700" rIns="0" bIns="0" rtlCol="0" vert="horz">
            <a:spAutoFit/>
          </a:bodyPr>
          <a:lstStyle/>
          <a:p>
            <a:pPr marL="12700">
              <a:lnSpc>
                <a:spcPct val="100000"/>
              </a:lnSpc>
              <a:spcBef>
                <a:spcPts val="100"/>
              </a:spcBef>
              <a:tabLst>
                <a:tab pos="1602740" algn="l"/>
                <a:tab pos="11028045" algn="l"/>
              </a:tabLst>
            </a:pPr>
            <a:r>
              <a:rPr dirty="0" sz="3600"/>
              <a:t>	2.3.4</a:t>
            </a:r>
            <a:r>
              <a:rPr dirty="0" sz="3600" spc="20"/>
              <a:t> </a:t>
            </a:r>
            <a:r>
              <a:rPr dirty="0" sz="3600" spc="-35"/>
              <a:t>指令字格式的优</a:t>
            </a:r>
            <a:r>
              <a:rPr dirty="0" sz="3600" spc="-50"/>
              <a:t>化</a:t>
            </a:r>
            <a:r>
              <a:rPr dirty="0" sz="3600"/>
              <a:t>	</a:t>
            </a:r>
            <a:endParaRPr sz="3600"/>
          </a:p>
        </p:txBody>
      </p:sp>
      <p:sp>
        <p:nvSpPr>
          <p:cNvPr id="20" name="object 20" descr=""/>
          <p:cNvSpPr txBox="1"/>
          <p:nvPr/>
        </p:nvSpPr>
        <p:spPr>
          <a:xfrm>
            <a:off x="9436734" y="5522467"/>
            <a:ext cx="1017905" cy="422275"/>
          </a:xfrm>
          <a:prstGeom prst="rect">
            <a:avLst/>
          </a:prstGeom>
        </p:spPr>
        <p:txBody>
          <a:bodyPr wrap="square" lIns="0" tIns="12700" rIns="0" bIns="0" rtlCol="0" vert="horz">
            <a:spAutoFit/>
          </a:bodyPr>
          <a:lstStyle/>
          <a:p>
            <a:pPr marL="12700">
              <a:lnSpc>
                <a:spcPct val="100000"/>
              </a:lnSpc>
              <a:spcBef>
                <a:spcPts val="100"/>
              </a:spcBef>
            </a:pPr>
            <a:r>
              <a:rPr dirty="0" sz="2600" spc="-20">
                <a:solidFill>
                  <a:srgbClr val="40458B"/>
                </a:solidFill>
                <a:latin typeface="黑体"/>
                <a:cs typeface="黑体"/>
              </a:rPr>
              <a:t>二地址</a:t>
            </a:r>
            <a:endParaRPr sz="2600">
              <a:latin typeface="黑体"/>
              <a:cs typeface="黑体"/>
            </a:endParaRPr>
          </a:p>
        </p:txBody>
      </p:sp>
      <p:sp>
        <p:nvSpPr>
          <p:cNvPr id="21" name="object 21" descr=""/>
          <p:cNvSpPr txBox="1"/>
          <p:nvPr/>
        </p:nvSpPr>
        <p:spPr>
          <a:xfrm>
            <a:off x="9416033" y="4602556"/>
            <a:ext cx="1017905" cy="422909"/>
          </a:xfrm>
          <a:prstGeom prst="rect">
            <a:avLst/>
          </a:prstGeom>
        </p:spPr>
        <p:txBody>
          <a:bodyPr wrap="square" lIns="0" tIns="13335" rIns="0" bIns="0" rtlCol="0" vert="horz">
            <a:spAutoFit/>
          </a:bodyPr>
          <a:lstStyle/>
          <a:p>
            <a:pPr marL="12700">
              <a:lnSpc>
                <a:spcPct val="100000"/>
              </a:lnSpc>
              <a:spcBef>
                <a:spcPts val="105"/>
              </a:spcBef>
            </a:pPr>
            <a:r>
              <a:rPr dirty="0" sz="2600" spc="-25">
                <a:solidFill>
                  <a:srgbClr val="40458B"/>
                </a:solidFill>
                <a:latin typeface="黑体"/>
                <a:cs typeface="黑体"/>
              </a:rPr>
              <a:t>二地址</a:t>
            </a:r>
            <a:endParaRPr sz="2600">
              <a:latin typeface="黑体"/>
              <a:cs typeface="黑体"/>
            </a:endParaRPr>
          </a:p>
        </p:txBody>
      </p:sp>
      <p:sp>
        <p:nvSpPr>
          <p:cNvPr id="22" name="object 22" descr=""/>
          <p:cNvSpPr txBox="1"/>
          <p:nvPr/>
        </p:nvSpPr>
        <p:spPr>
          <a:xfrm>
            <a:off x="9414509" y="3829253"/>
            <a:ext cx="1017905" cy="422909"/>
          </a:xfrm>
          <a:prstGeom prst="rect">
            <a:avLst/>
          </a:prstGeom>
        </p:spPr>
        <p:txBody>
          <a:bodyPr wrap="square" lIns="0" tIns="13335" rIns="0" bIns="0" rtlCol="0" vert="horz">
            <a:spAutoFit/>
          </a:bodyPr>
          <a:lstStyle/>
          <a:p>
            <a:pPr marL="12700">
              <a:lnSpc>
                <a:spcPct val="100000"/>
              </a:lnSpc>
              <a:spcBef>
                <a:spcPts val="105"/>
              </a:spcBef>
            </a:pPr>
            <a:r>
              <a:rPr dirty="0" sz="2600" spc="-25">
                <a:solidFill>
                  <a:srgbClr val="40458B"/>
                </a:solidFill>
                <a:latin typeface="黑体"/>
                <a:cs typeface="黑体"/>
              </a:rPr>
              <a:t>二地址</a:t>
            </a:r>
            <a:endParaRPr sz="2600">
              <a:latin typeface="黑体"/>
              <a:cs typeface="黑体"/>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853945" y="1313129"/>
            <a:ext cx="7237730" cy="452120"/>
          </a:xfrm>
          <a:prstGeom prst="rect">
            <a:avLst/>
          </a:prstGeom>
        </p:spPr>
        <p:txBody>
          <a:bodyPr wrap="square" lIns="0" tIns="0" rIns="0" bIns="0" rtlCol="0" vert="horz">
            <a:spAutoFit/>
          </a:bodyPr>
          <a:lstStyle/>
          <a:p>
            <a:pPr marL="12700">
              <a:lnSpc>
                <a:spcPts val="3560"/>
              </a:lnSpc>
            </a:pPr>
            <a:r>
              <a:rPr dirty="0" sz="3300">
                <a:solidFill>
                  <a:srgbClr val="40458B"/>
                </a:solidFill>
                <a:latin typeface="Tahoma"/>
                <a:cs typeface="Tahoma"/>
              </a:rPr>
              <a:t>3.</a:t>
            </a:r>
            <a:r>
              <a:rPr dirty="0" sz="3300" spc="-120">
                <a:solidFill>
                  <a:srgbClr val="40458B"/>
                </a:solidFill>
                <a:latin typeface="Tahoma"/>
                <a:cs typeface="Tahoma"/>
              </a:rPr>
              <a:t> </a:t>
            </a:r>
            <a:r>
              <a:rPr dirty="0" sz="2800" spc="-35">
                <a:solidFill>
                  <a:srgbClr val="172152"/>
                </a:solidFill>
                <a:latin typeface="黑体"/>
                <a:cs typeface="黑体"/>
              </a:rPr>
              <a:t>寻址方式的优化（多种寻址方式</a:t>
            </a:r>
            <a:r>
              <a:rPr dirty="0" sz="2800" spc="-25">
                <a:solidFill>
                  <a:srgbClr val="172152"/>
                </a:solidFill>
                <a:latin typeface="黑体"/>
                <a:cs typeface="黑体"/>
              </a:rPr>
              <a:t>）</a:t>
            </a:r>
            <a:r>
              <a:rPr dirty="0" sz="2800" spc="-40">
                <a:solidFill>
                  <a:srgbClr val="FF0000"/>
                </a:solidFill>
                <a:latin typeface="黑体"/>
                <a:cs typeface="黑体"/>
              </a:rPr>
              <a:t>补充内容</a:t>
            </a:r>
            <a:endParaRPr sz="2800">
              <a:latin typeface="黑体"/>
              <a:cs typeface="黑体"/>
            </a:endParaRPr>
          </a:p>
        </p:txBody>
      </p:sp>
      <p:sp>
        <p:nvSpPr>
          <p:cNvPr id="4" name="object 4"/>
          <p:cNvSpPr txBox="1">
            <a:spLocks noGrp="1"/>
          </p:cNvSpPr>
          <p:nvPr>
            <p:ph type="title"/>
          </p:nvPr>
        </p:nvSpPr>
        <p:spPr>
          <a:xfrm>
            <a:off x="1163637" y="162814"/>
            <a:ext cx="11041380" cy="574040"/>
          </a:xfrm>
          <a:prstGeom prst="rect"/>
        </p:spPr>
        <p:txBody>
          <a:bodyPr wrap="square" lIns="0" tIns="12700" rIns="0" bIns="0" rtlCol="0" vert="horz">
            <a:spAutoFit/>
          </a:bodyPr>
          <a:lstStyle/>
          <a:p>
            <a:pPr marL="12700">
              <a:lnSpc>
                <a:spcPct val="100000"/>
              </a:lnSpc>
              <a:spcBef>
                <a:spcPts val="100"/>
              </a:spcBef>
              <a:tabLst>
                <a:tab pos="1602740" algn="l"/>
                <a:tab pos="11028045" algn="l"/>
              </a:tabLst>
            </a:pPr>
            <a:r>
              <a:rPr dirty="0" sz="3600"/>
              <a:t>	2.3.4</a:t>
            </a:r>
            <a:r>
              <a:rPr dirty="0" sz="3600" spc="20"/>
              <a:t> </a:t>
            </a:r>
            <a:r>
              <a:rPr dirty="0" sz="3600" spc="-35"/>
              <a:t>指令字格式的优</a:t>
            </a:r>
            <a:r>
              <a:rPr dirty="0" sz="3600" spc="-50"/>
              <a:t>化</a:t>
            </a:r>
            <a:r>
              <a:rPr dirty="0" sz="3600"/>
              <a:t>	</a:t>
            </a:r>
            <a:endParaRPr sz="3600"/>
          </a:p>
        </p:txBody>
      </p:sp>
      <p:pic>
        <p:nvPicPr>
          <p:cNvPr id="5" name="object 5" descr=""/>
          <p:cNvPicPr/>
          <p:nvPr/>
        </p:nvPicPr>
        <p:blipFill>
          <a:blip r:embed="rId2" cstate="print"/>
          <a:stretch>
            <a:fillRect/>
          </a:stretch>
        </p:blipFill>
        <p:spPr>
          <a:xfrm>
            <a:off x="1743651" y="2398691"/>
            <a:ext cx="3968896" cy="2230453"/>
          </a:xfrm>
          <a:prstGeom prst="rect">
            <a:avLst/>
          </a:prstGeom>
        </p:spPr>
      </p:pic>
      <p:sp>
        <p:nvSpPr>
          <p:cNvPr id="6" name="object 6" descr=""/>
          <p:cNvSpPr txBox="1"/>
          <p:nvPr/>
        </p:nvSpPr>
        <p:spPr>
          <a:xfrm>
            <a:off x="6022975" y="1960626"/>
            <a:ext cx="4537075" cy="4294505"/>
          </a:xfrm>
          <a:prstGeom prst="rect">
            <a:avLst/>
          </a:prstGeom>
          <a:ln w="12700">
            <a:solidFill>
              <a:srgbClr val="FF0000"/>
            </a:solidFill>
          </a:ln>
        </p:spPr>
        <p:txBody>
          <a:bodyPr wrap="square" lIns="0" tIns="162560" rIns="0" bIns="0" rtlCol="0" vert="horz">
            <a:spAutoFit/>
          </a:bodyPr>
          <a:lstStyle/>
          <a:p>
            <a:pPr marL="92075">
              <a:lnSpc>
                <a:spcPct val="100000"/>
              </a:lnSpc>
              <a:spcBef>
                <a:spcPts val="1280"/>
              </a:spcBef>
            </a:pPr>
            <a:r>
              <a:rPr dirty="0" sz="2600" spc="-15">
                <a:solidFill>
                  <a:srgbClr val="40458B"/>
                </a:solidFill>
                <a:latin typeface="黑体"/>
                <a:cs typeface="黑体"/>
              </a:rPr>
              <a:t>以基址寻址为例优化设计：</a:t>
            </a:r>
            <a:endParaRPr sz="2600">
              <a:latin typeface="黑体"/>
              <a:cs typeface="黑体"/>
            </a:endParaRPr>
          </a:p>
          <a:p>
            <a:pPr algn="just" marL="92075" marR="83820">
              <a:lnSpc>
                <a:spcPct val="150000"/>
              </a:lnSpc>
            </a:pPr>
            <a:r>
              <a:rPr dirty="0" sz="2600">
                <a:solidFill>
                  <a:srgbClr val="40458B"/>
                </a:solidFill>
                <a:latin typeface="黑体"/>
                <a:cs typeface="黑体"/>
              </a:rPr>
              <a:t>若内存</a:t>
            </a:r>
            <a:r>
              <a:rPr dirty="0" sz="2600" spc="-20">
                <a:solidFill>
                  <a:srgbClr val="40458B"/>
                </a:solidFill>
                <a:latin typeface="Tahoma"/>
                <a:cs typeface="Tahoma"/>
              </a:rPr>
              <a:t>4GB</a:t>
            </a:r>
            <a:r>
              <a:rPr dirty="0" sz="2600" spc="-15">
                <a:solidFill>
                  <a:srgbClr val="40458B"/>
                </a:solidFill>
                <a:latin typeface="黑体"/>
                <a:cs typeface="黑体"/>
              </a:rPr>
              <a:t>，需地址</a:t>
            </a:r>
            <a:r>
              <a:rPr dirty="0" sz="2600" spc="-30">
                <a:solidFill>
                  <a:srgbClr val="40458B"/>
                </a:solidFill>
                <a:latin typeface="Tahoma"/>
                <a:cs typeface="Tahoma"/>
              </a:rPr>
              <a:t>32</a:t>
            </a:r>
            <a:r>
              <a:rPr dirty="0" sz="2600" spc="-20">
                <a:solidFill>
                  <a:srgbClr val="40458B"/>
                </a:solidFill>
                <a:latin typeface="黑体"/>
                <a:cs typeface="黑体"/>
              </a:rPr>
              <a:t>位，以</a:t>
            </a:r>
            <a:r>
              <a:rPr dirty="0" sz="2600" spc="-10">
                <a:solidFill>
                  <a:srgbClr val="40458B"/>
                </a:solidFill>
                <a:latin typeface="黑体"/>
                <a:cs typeface="黑体"/>
              </a:rPr>
              <a:t>左图为例，若指令字</a:t>
            </a:r>
            <a:r>
              <a:rPr dirty="0" sz="2600" spc="-30">
                <a:solidFill>
                  <a:srgbClr val="40458B"/>
                </a:solidFill>
                <a:latin typeface="Tahoma"/>
                <a:cs typeface="Tahoma"/>
              </a:rPr>
              <a:t>32</a:t>
            </a:r>
            <a:r>
              <a:rPr dirty="0" sz="2600" spc="-20">
                <a:solidFill>
                  <a:srgbClr val="40458B"/>
                </a:solidFill>
                <a:latin typeface="黑体"/>
                <a:cs typeface="黑体"/>
              </a:rPr>
              <a:t>位，借</a:t>
            </a:r>
            <a:r>
              <a:rPr dirty="0" sz="2600">
                <a:solidFill>
                  <a:srgbClr val="40458B"/>
                </a:solidFill>
                <a:latin typeface="黑体"/>
                <a:cs typeface="黑体"/>
              </a:rPr>
              <a:t>助</a:t>
            </a:r>
            <a:r>
              <a:rPr dirty="0" sz="2600" spc="-10">
                <a:solidFill>
                  <a:srgbClr val="40458B"/>
                </a:solidFill>
                <a:latin typeface="Tahoma"/>
                <a:cs typeface="Tahoma"/>
              </a:rPr>
              <a:t>R0</a:t>
            </a:r>
            <a:r>
              <a:rPr dirty="0" sz="2600" spc="-20">
                <a:solidFill>
                  <a:srgbClr val="40458B"/>
                </a:solidFill>
                <a:latin typeface="黑体"/>
                <a:cs typeface="黑体"/>
              </a:rPr>
              <a:t>作为基址寄存器，其位数</a:t>
            </a:r>
            <a:r>
              <a:rPr dirty="0" sz="2600">
                <a:solidFill>
                  <a:srgbClr val="40458B"/>
                </a:solidFill>
                <a:latin typeface="黑体"/>
                <a:cs typeface="黑体"/>
              </a:rPr>
              <a:t>位</a:t>
            </a:r>
            <a:r>
              <a:rPr dirty="0" sz="2600" spc="-30">
                <a:solidFill>
                  <a:srgbClr val="40458B"/>
                </a:solidFill>
                <a:latin typeface="Tahoma"/>
                <a:cs typeface="Tahoma"/>
              </a:rPr>
              <a:t>32</a:t>
            </a:r>
            <a:r>
              <a:rPr dirty="0" sz="2600" spc="-15">
                <a:solidFill>
                  <a:srgbClr val="40458B"/>
                </a:solidFill>
                <a:latin typeface="黑体"/>
                <a:cs typeface="黑体"/>
              </a:rPr>
              <a:t>位，则可满足条件</a:t>
            </a:r>
            <a:endParaRPr sz="2600">
              <a:latin typeface="黑体"/>
              <a:cs typeface="黑体"/>
            </a:endParaRPr>
          </a:p>
          <a:p>
            <a:pPr marL="92075">
              <a:lnSpc>
                <a:spcPct val="100000"/>
              </a:lnSpc>
              <a:spcBef>
                <a:spcPts val="1560"/>
              </a:spcBef>
            </a:pPr>
            <a:r>
              <a:rPr dirty="0" sz="2600" spc="-10">
                <a:solidFill>
                  <a:srgbClr val="FF0000"/>
                </a:solidFill>
                <a:latin typeface="黑体"/>
                <a:cs typeface="黑体"/>
              </a:rPr>
              <a:t>联系：</a:t>
            </a:r>
            <a:r>
              <a:rPr dirty="0" sz="2600" spc="-25">
                <a:solidFill>
                  <a:srgbClr val="40458B"/>
                </a:solidFill>
                <a:latin typeface="黑体"/>
                <a:cs typeface="黑体"/>
              </a:rPr>
              <a:t>段地址的引入</a:t>
            </a:r>
            <a:endParaRPr sz="2600">
              <a:latin typeface="黑体"/>
              <a:cs typeface="黑体"/>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549146" y="623649"/>
            <a:ext cx="9025255" cy="3082290"/>
          </a:xfrm>
          <a:prstGeom prst="rect">
            <a:avLst/>
          </a:prstGeom>
        </p:spPr>
        <p:txBody>
          <a:bodyPr wrap="square" lIns="0" tIns="246380" rIns="0" bIns="0" rtlCol="0" vert="horz">
            <a:spAutoFit/>
          </a:bodyPr>
          <a:lstStyle/>
          <a:p>
            <a:pPr marL="424815" indent="-412115">
              <a:lnSpc>
                <a:spcPct val="100000"/>
              </a:lnSpc>
              <a:spcBef>
                <a:spcPts val="1940"/>
              </a:spcBef>
              <a:buClr>
                <a:srgbClr val="172152"/>
              </a:buClr>
              <a:buFont typeface="Tahoma"/>
              <a:buAutoNum type="arabicPeriod" startAt="4"/>
              <a:tabLst>
                <a:tab pos="424815" algn="l"/>
              </a:tabLst>
            </a:pPr>
            <a:r>
              <a:rPr dirty="0" sz="2800" spc="-40">
                <a:solidFill>
                  <a:srgbClr val="172152"/>
                </a:solidFill>
                <a:latin typeface="黑体"/>
                <a:cs typeface="黑体"/>
              </a:rPr>
              <a:t>指令格式优化考虑因素</a:t>
            </a:r>
            <a:endParaRPr sz="2800">
              <a:latin typeface="黑体"/>
              <a:cs typeface="黑体"/>
            </a:endParaRPr>
          </a:p>
          <a:p>
            <a:pPr lvl="1" marL="998219" indent="-543560">
              <a:lnSpc>
                <a:spcPct val="100000"/>
              </a:lnSpc>
              <a:spcBef>
                <a:spcPts val="1440"/>
              </a:spcBef>
              <a:buSzPct val="88636"/>
              <a:buFont typeface="Wingdings"/>
              <a:buChar char=""/>
              <a:tabLst>
                <a:tab pos="998219" algn="l"/>
              </a:tabLst>
            </a:pPr>
            <a:r>
              <a:rPr dirty="0" sz="2200" spc="-20">
                <a:solidFill>
                  <a:srgbClr val="006FC0"/>
                </a:solidFill>
                <a:latin typeface="黑体"/>
                <a:cs typeface="黑体"/>
              </a:rPr>
              <a:t>指令字长度</a:t>
            </a:r>
            <a:r>
              <a:rPr dirty="0" sz="2200" spc="-25">
                <a:solidFill>
                  <a:srgbClr val="006FC0"/>
                </a:solidFill>
                <a:latin typeface="Tahoma"/>
                <a:cs typeface="Tahoma"/>
              </a:rPr>
              <a:t>---</a:t>
            </a:r>
            <a:r>
              <a:rPr dirty="0" sz="2200" spc="-35">
                <a:solidFill>
                  <a:srgbClr val="006FC0"/>
                </a:solidFill>
                <a:latin typeface="黑体"/>
                <a:cs typeface="黑体"/>
              </a:rPr>
              <a:t>程序平均长度</a:t>
            </a:r>
            <a:endParaRPr sz="2200">
              <a:latin typeface="黑体"/>
              <a:cs typeface="黑体"/>
            </a:endParaRPr>
          </a:p>
          <a:p>
            <a:pPr lvl="1" marL="911860" marR="5080" indent="-457200">
              <a:lnSpc>
                <a:spcPct val="130000"/>
              </a:lnSpc>
              <a:spcBef>
                <a:spcPts val="530"/>
              </a:spcBef>
              <a:buSzPct val="88636"/>
              <a:buFont typeface="Wingdings"/>
              <a:buChar char=""/>
              <a:tabLst>
                <a:tab pos="911860" algn="l"/>
              </a:tabLst>
            </a:pPr>
            <a:r>
              <a:rPr dirty="0" sz="2200" spc="-35">
                <a:solidFill>
                  <a:srgbClr val="006FC0"/>
                </a:solidFill>
                <a:latin typeface="黑体"/>
                <a:cs typeface="黑体"/>
              </a:rPr>
              <a:t>在指令系统的设计中，要在指令字长与寄存器的个数以及寻址方式的个数之间进行折中。</a:t>
            </a:r>
            <a:endParaRPr sz="2200">
              <a:latin typeface="黑体"/>
              <a:cs typeface="黑体"/>
            </a:endParaRPr>
          </a:p>
          <a:p>
            <a:pPr lvl="1" marL="911860" marR="5080" indent="-457200">
              <a:lnSpc>
                <a:spcPct val="130000"/>
              </a:lnSpc>
              <a:spcBef>
                <a:spcPts val="530"/>
              </a:spcBef>
              <a:buSzPct val="88636"/>
              <a:buFont typeface="Wingdings"/>
              <a:buChar char=""/>
              <a:tabLst>
                <a:tab pos="911860" algn="l"/>
              </a:tabLst>
            </a:pPr>
            <a:r>
              <a:rPr dirty="0" sz="2200" spc="-35">
                <a:solidFill>
                  <a:srgbClr val="006FC0"/>
                </a:solidFill>
                <a:latin typeface="黑体"/>
                <a:cs typeface="黑体"/>
              </a:rPr>
              <a:t>计算机中寄存器的个数和寻址方式的数目对机器的指令字长有很大的影响；</a:t>
            </a:r>
            <a:endParaRPr sz="2200">
              <a:latin typeface="黑体"/>
              <a:cs typeface="黑体"/>
            </a:endParaRPr>
          </a:p>
        </p:txBody>
      </p:sp>
      <p:sp>
        <p:nvSpPr>
          <p:cNvPr id="4" name="object 4"/>
          <p:cNvSpPr txBox="1">
            <a:spLocks noGrp="1"/>
          </p:cNvSpPr>
          <p:nvPr>
            <p:ph type="title"/>
          </p:nvPr>
        </p:nvSpPr>
        <p:spPr>
          <a:xfrm>
            <a:off x="1163637" y="162814"/>
            <a:ext cx="11041380" cy="574040"/>
          </a:xfrm>
          <a:prstGeom prst="rect"/>
        </p:spPr>
        <p:txBody>
          <a:bodyPr wrap="square" lIns="0" tIns="12700" rIns="0" bIns="0" rtlCol="0" vert="horz">
            <a:spAutoFit/>
          </a:bodyPr>
          <a:lstStyle/>
          <a:p>
            <a:pPr marL="12700">
              <a:lnSpc>
                <a:spcPct val="100000"/>
              </a:lnSpc>
              <a:spcBef>
                <a:spcPts val="100"/>
              </a:spcBef>
              <a:tabLst>
                <a:tab pos="1602740" algn="l"/>
                <a:tab pos="11028045" algn="l"/>
              </a:tabLst>
            </a:pPr>
            <a:r>
              <a:rPr dirty="0" sz="3600"/>
              <a:t>	2.3.4</a:t>
            </a:r>
            <a:r>
              <a:rPr dirty="0" sz="3600" spc="20"/>
              <a:t> </a:t>
            </a:r>
            <a:r>
              <a:rPr dirty="0" sz="3600" spc="-35"/>
              <a:t>指令字格式的优</a:t>
            </a:r>
            <a:r>
              <a:rPr dirty="0" sz="3600" spc="-50"/>
              <a:t>化</a:t>
            </a:r>
            <a:r>
              <a:rPr dirty="0" sz="3600"/>
              <a:t>	</a:t>
            </a:r>
            <a:endParaRPr sz="360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1891029" y="552887"/>
            <a:ext cx="8522335" cy="3789045"/>
          </a:xfrm>
          <a:prstGeom prst="rect">
            <a:avLst/>
          </a:prstGeom>
        </p:spPr>
        <p:txBody>
          <a:bodyPr wrap="square" lIns="0" tIns="245745" rIns="0" bIns="0" rtlCol="0" vert="horz">
            <a:spAutoFit/>
          </a:bodyPr>
          <a:lstStyle/>
          <a:p>
            <a:pPr marL="469265" indent="-456565">
              <a:lnSpc>
                <a:spcPct val="100000"/>
              </a:lnSpc>
              <a:spcBef>
                <a:spcPts val="1935"/>
              </a:spcBef>
              <a:buClr>
                <a:srgbClr val="40458B"/>
              </a:buClr>
              <a:buSzPct val="117857"/>
              <a:buFont typeface="Wingdings"/>
              <a:buChar char=""/>
              <a:tabLst>
                <a:tab pos="469265" algn="l"/>
              </a:tabLst>
            </a:pPr>
            <a:r>
              <a:rPr dirty="0" sz="2800" spc="-10">
                <a:solidFill>
                  <a:srgbClr val="FF0000"/>
                </a:solidFill>
                <a:latin typeface="Tahoma"/>
                <a:cs typeface="Tahoma"/>
              </a:rPr>
              <a:t>5</a:t>
            </a:r>
            <a:r>
              <a:rPr dirty="0" sz="2800" spc="-30">
                <a:solidFill>
                  <a:srgbClr val="FF0000"/>
                </a:solidFill>
                <a:latin typeface="黑体"/>
                <a:cs typeface="黑体"/>
              </a:rPr>
              <a:t>、指令系统的</a:t>
            </a:r>
            <a:r>
              <a:rPr dirty="0" sz="2800" spc="-10">
                <a:solidFill>
                  <a:srgbClr val="FF0000"/>
                </a:solidFill>
                <a:latin typeface="Tahoma"/>
                <a:cs typeface="Tahoma"/>
              </a:rPr>
              <a:t>3</a:t>
            </a:r>
            <a:r>
              <a:rPr dirty="0" sz="2800" spc="-40">
                <a:solidFill>
                  <a:srgbClr val="FF0000"/>
                </a:solidFill>
                <a:latin typeface="黑体"/>
                <a:cs typeface="黑体"/>
              </a:rPr>
              <a:t>种编码格式</a:t>
            </a:r>
            <a:endParaRPr sz="2800">
              <a:latin typeface="黑体"/>
              <a:cs typeface="黑体"/>
            </a:endParaRPr>
          </a:p>
          <a:p>
            <a:pPr marL="494665" indent="-358775">
              <a:lnSpc>
                <a:spcPct val="100000"/>
              </a:lnSpc>
              <a:spcBef>
                <a:spcPts val="1440"/>
              </a:spcBef>
              <a:buSzPct val="88636"/>
              <a:buFont typeface="Wingdings"/>
              <a:buChar char=""/>
              <a:tabLst>
                <a:tab pos="494665" algn="l"/>
              </a:tabLst>
            </a:pPr>
            <a:r>
              <a:rPr dirty="0" sz="2200" spc="-35">
                <a:solidFill>
                  <a:srgbClr val="006FC0"/>
                </a:solidFill>
                <a:latin typeface="黑体"/>
                <a:cs typeface="黑体"/>
              </a:rPr>
              <a:t>可变长度编码格式、固定长度编码格式、混合型编码格式</a:t>
            </a:r>
            <a:endParaRPr sz="2200">
              <a:latin typeface="黑体"/>
              <a:cs typeface="黑体"/>
            </a:endParaRPr>
          </a:p>
          <a:p>
            <a:pPr marL="469265" indent="-456565">
              <a:lnSpc>
                <a:spcPct val="100000"/>
              </a:lnSpc>
              <a:spcBef>
                <a:spcPts val="1560"/>
              </a:spcBef>
              <a:buClr>
                <a:srgbClr val="40458B"/>
              </a:buClr>
              <a:buSzPct val="117857"/>
              <a:buFont typeface="Wingdings"/>
              <a:buChar char=""/>
              <a:tabLst>
                <a:tab pos="469265" algn="l"/>
              </a:tabLst>
            </a:pPr>
            <a:r>
              <a:rPr dirty="0" sz="2800" spc="-35">
                <a:solidFill>
                  <a:srgbClr val="172152"/>
                </a:solidFill>
                <a:latin typeface="黑体"/>
                <a:cs typeface="黑体"/>
              </a:rPr>
              <a:t>可变长度编码格式</a:t>
            </a:r>
            <a:r>
              <a:rPr dirty="0" sz="2800" spc="-30">
                <a:solidFill>
                  <a:srgbClr val="172152"/>
                </a:solidFill>
                <a:latin typeface="黑体"/>
                <a:cs typeface="黑体"/>
              </a:rPr>
              <a:t>（</a:t>
            </a:r>
            <a:r>
              <a:rPr dirty="0" sz="2800" spc="-35">
                <a:solidFill>
                  <a:srgbClr val="172152"/>
                </a:solidFill>
                <a:latin typeface="黑体"/>
                <a:cs typeface="黑体"/>
              </a:rPr>
              <a:t>侧重代码长度的选择</a:t>
            </a:r>
            <a:r>
              <a:rPr dirty="0" sz="2800" spc="-50">
                <a:solidFill>
                  <a:srgbClr val="172152"/>
                </a:solidFill>
                <a:latin typeface="黑体"/>
                <a:cs typeface="黑体"/>
              </a:rPr>
              <a:t>）</a:t>
            </a:r>
            <a:endParaRPr sz="2800">
              <a:latin typeface="黑体"/>
              <a:cs typeface="黑体"/>
            </a:endParaRPr>
          </a:p>
          <a:p>
            <a:pPr lvl="1" marL="408305" marR="5080" indent="-273050">
              <a:lnSpc>
                <a:spcPct val="130000"/>
              </a:lnSpc>
              <a:spcBef>
                <a:spcPts val="650"/>
              </a:spcBef>
              <a:buSzPct val="88636"/>
              <a:buFont typeface="Wingdings"/>
              <a:buChar char=""/>
              <a:tabLst>
                <a:tab pos="408305" algn="l"/>
              </a:tabLst>
            </a:pPr>
            <a:r>
              <a:rPr dirty="0" sz="2200" spc="-35">
                <a:solidFill>
                  <a:srgbClr val="006FC0"/>
                </a:solidFill>
                <a:latin typeface="黑体"/>
                <a:cs typeface="黑体"/>
              </a:rPr>
              <a:t>当指令系统的寻址方式和操作种类很多时，允许所有的操作使用所有的寻址方式，这种编码格式是最好的。</a:t>
            </a:r>
            <a:endParaRPr sz="2200">
              <a:latin typeface="黑体"/>
              <a:cs typeface="黑体"/>
            </a:endParaRPr>
          </a:p>
          <a:p>
            <a:pPr lvl="1" marL="408305" indent="-272415">
              <a:lnSpc>
                <a:spcPct val="100000"/>
              </a:lnSpc>
              <a:spcBef>
                <a:spcPts val="1320"/>
              </a:spcBef>
              <a:buSzPct val="88636"/>
              <a:buFont typeface="Wingdings"/>
              <a:buChar char=""/>
              <a:tabLst>
                <a:tab pos="408305" algn="l"/>
              </a:tabLst>
            </a:pPr>
            <a:r>
              <a:rPr dirty="0" sz="2200" spc="-35">
                <a:solidFill>
                  <a:srgbClr val="006FC0"/>
                </a:solidFill>
                <a:latin typeface="黑体"/>
                <a:cs typeface="黑体"/>
              </a:rPr>
              <a:t>用最少的二进制位来表示目标代码，代码量最小。</a:t>
            </a:r>
            <a:endParaRPr sz="2200">
              <a:latin typeface="黑体"/>
              <a:cs typeface="黑体"/>
            </a:endParaRPr>
          </a:p>
          <a:p>
            <a:pPr lvl="1" marL="408305" indent="-272415">
              <a:lnSpc>
                <a:spcPct val="100000"/>
              </a:lnSpc>
              <a:spcBef>
                <a:spcPts val="1320"/>
              </a:spcBef>
              <a:buSzPct val="88636"/>
              <a:buFont typeface="Wingdings"/>
              <a:buChar char=""/>
              <a:tabLst>
                <a:tab pos="408305" algn="l"/>
              </a:tabLst>
            </a:pPr>
            <a:r>
              <a:rPr dirty="0" sz="2200" spc="-35">
                <a:solidFill>
                  <a:srgbClr val="006FC0"/>
                </a:solidFill>
                <a:latin typeface="黑体"/>
                <a:cs typeface="黑体"/>
              </a:rPr>
              <a:t>可能会使各条指令的字长和执行时间相差很大。</a:t>
            </a:r>
            <a:endParaRPr sz="2200">
              <a:latin typeface="黑体"/>
              <a:cs typeface="黑体"/>
            </a:endParaRPr>
          </a:p>
        </p:txBody>
      </p:sp>
      <p:sp>
        <p:nvSpPr>
          <p:cNvPr id="4" name="object 4"/>
          <p:cNvSpPr txBox="1">
            <a:spLocks noGrp="1"/>
          </p:cNvSpPr>
          <p:nvPr>
            <p:ph type="title"/>
          </p:nvPr>
        </p:nvSpPr>
        <p:spPr>
          <a:xfrm>
            <a:off x="1163637" y="162814"/>
            <a:ext cx="11041380" cy="574040"/>
          </a:xfrm>
          <a:prstGeom prst="rect"/>
        </p:spPr>
        <p:txBody>
          <a:bodyPr wrap="square" lIns="0" tIns="12700" rIns="0" bIns="0" rtlCol="0" vert="horz">
            <a:spAutoFit/>
          </a:bodyPr>
          <a:lstStyle/>
          <a:p>
            <a:pPr marL="12700">
              <a:lnSpc>
                <a:spcPct val="100000"/>
              </a:lnSpc>
              <a:spcBef>
                <a:spcPts val="100"/>
              </a:spcBef>
              <a:tabLst>
                <a:tab pos="1494790" algn="l"/>
                <a:tab pos="11028045" algn="l"/>
              </a:tabLst>
            </a:pPr>
            <a:r>
              <a:rPr dirty="0" sz="3600"/>
              <a:t>	2.3.4</a:t>
            </a:r>
            <a:r>
              <a:rPr dirty="0" sz="3600" spc="20"/>
              <a:t> </a:t>
            </a:r>
            <a:r>
              <a:rPr dirty="0" sz="3600" spc="-35"/>
              <a:t>指令字格式的优</a:t>
            </a:r>
            <a:r>
              <a:rPr dirty="0" sz="3600" spc="-50"/>
              <a:t>化</a:t>
            </a:r>
            <a:r>
              <a:rPr dirty="0" sz="3600"/>
              <a:t>	</a:t>
            </a:r>
            <a:endParaRPr sz="3600"/>
          </a:p>
        </p:txBody>
      </p:sp>
      <p:sp>
        <p:nvSpPr>
          <p:cNvPr id="5" name="object 5" descr=""/>
          <p:cNvSpPr/>
          <p:nvPr/>
        </p:nvSpPr>
        <p:spPr>
          <a:xfrm>
            <a:off x="1998726" y="5259387"/>
            <a:ext cx="8676005" cy="649605"/>
          </a:xfrm>
          <a:custGeom>
            <a:avLst/>
            <a:gdLst/>
            <a:ahLst/>
            <a:cxnLst/>
            <a:rect l="l" t="t" r="r" b="b"/>
            <a:pathLst>
              <a:path w="8676005" h="649604">
                <a:moveTo>
                  <a:pt x="8675624" y="0"/>
                </a:moveTo>
                <a:lnTo>
                  <a:pt x="0" y="0"/>
                </a:lnTo>
                <a:lnTo>
                  <a:pt x="0" y="649287"/>
                </a:lnTo>
                <a:lnTo>
                  <a:pt x="8675624" y="649287"/>
                </a:lnTo>
                <a:lnTo>
                  <a:pt x="8675624" y="0"/>
                </a:lnTo>
                <a:close/>
              </a:path>
            </a:pathLst>
          </a:custGeom>
          <a:solidFill>
            <a:srgbClr val="FFFFCC"/>
          </a:solidFill>
        </p:spPr>
        <p:txBody>
          <a:bodyPr wrap="square" lIns="0" tIns="0" rIns="0" bIns="0" rtlCol="0"/>
          <a:lstStyle/>
          <a:p/>
        </p:txBody>
      </p:sp>
      <p:graphicFrame>
        <p:nvGraphicFramePr>
          <p:cNvPr id="6" name="object 6" descr=""/>
          <p:cNvGraphicFramePr>
            <a:graphicFrameLocks noGrp="1"/>
          </p:cNvGraphicFramePr>
          <p:nvPr/>
        </p:nvGraphicFramePr>
        <p:xfrm>
          <a:off x="2134348" y="5329213"/>
          <a:ext cx="8495665" cy="485140"/>
        </p:xfrm>
        <a:graphic>
          <a:graphicData uri="http://schemas.openxmlformats.org/drawingml/2006/table">
            <a:tbl>
              <a:tblPr firstRow="1" bandRow="1">
                <a:tableStyleId>{2D5ABB26-0587-4C30-8999-92F81FD0307C}</a:tableStyleId>
              </a:tblPr>
              <a:tblGrid>
                <a:gridCol w="1098550"/>
                <a:gridCol w="1480820"/>
                <a:gridCol w="1814195"/>
                <a:gridCol w="712470"/>
                <a:gridCol w="1483994"/>
                <a:gridCol w="1811020"/>
              </a:tblGrid>
              <a:tr h="485140">
                <a:tc>
                  <a:txBody>
                    <a:bodyPr/>
                    <a:lstStyle/>
                    <a:p>
                      <a:pPr marL="228600">
                        <a:lnSpc>
                          <a:spcPct val="100000"/>
                        </a:lnSpc>
                        <a:spcBef>
                          <a:spcPts val="810"/>
                        </a:spcBef>
                      </a:pPr>
                      <a:r>
                        <a:rPr dirty="0" sz="1850" spc="-25">
                          <a:solidFill>
                            <a:srgbClr val="993300"/>
                          </a:solidFill>
                          <a:latin typeface="宋体"/>
                          <a:cs typeface="宋体"/>
                        </a:rPr>
                        <a:t>操作码</a:t>
                      </a:r>
                      <a:endParaRPr sz="1850">
                        <a:latin typeface="宋体"/>
                        <a:cs typeface="宋体"/>
                      </a:endParaRPr>
                    </a:p>
                  </a:txBody>
                  <a:tcPr marL="0" marR="0" marB="0" marT="10287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62230">
                        <a:lnSpc>
                          <a:spcPct val="100000"/>
                        </a:lnSpc>
                        <a:spcBef>
                          <a:spcPts val="885"/>
                        </a:spcBef>
                      </a:pPr>
                      <a:r>
                        <a:rPr dirty="0" sz="1850" spc="-85">
                          <a:solidFill>
                            <a:srgbClr val="008000"/>
                          </a:solidFill>
                          <a:latin typeface="宋体"/>
                          <a:cs typeface="宋体"/>
                        </a:rPr>
                        <a:t>地址描述符 </a:t>
                      </a:r>
                      <a:r>
                        <a:rPr dirty="0" sz="1850" spc="-50" b="1">
                          <a:solidFill>
                            <a:srgbClr val="008000"/>
                          </a:solidFill>
                          <a:latin typeface="Times New Roman"/>
                          <a:cs typeface="Times New Roman"/>
                        </a:rPr>
                        <a:t>1</a:t>
                      </a:r>
                      <a:endParaRPr sz="1850">
                        <a:latin typeface="Times New Roman"/>
                        <a:cs typeface="Times New Roman"/>
                      </a:endParaRPr>
                    </a:p>
                  </a:txBody>
                  <a:tcPr marL="0" marR="0" marB="0" marT="11239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495934">
                        <a:lnSpc>
                          <a:spcPct val="100000"/>
                        </a:lnSpc>
                        <a:spcBef>
                          <a:spcPts val="885"/>
                        </a:spcBef>
                      </a:pPr>
                      <a:r>
                        <a:rPr dirty="0" sz="1850" spc="-120">
                          <a:latin typeface="宋体"/>
                          <a:cs typeface="宋体"/>
                        </a:rPr>
                        <a:t>地址码 </a:t>
                      </a:r>
                      <a:r>
                        <a:rPr dirty="0" sz="1850" spc="-50" b="1">
                          <a:latin typeface="Times New Roman"/>
                          <a:cs typeface="Times New Roman"/>
                        </a:rPr>
                        <a:t>1</a:t>
                      </a:r>
                      <a:endParaRPr sz="1850">
                        <a:latin typeface="Times New Roman"/>
                        <a:cs typeface="Times New Roman"/>
                      </a:endParaRPr>
                    </a:p>
                  </a:txBody>
                  <a:tcPr marL="0" marR="0" marB="0" marT="11239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133985">
                        <a:lnSpc>
                          <a:spcPct val="100000"/>
                        </a:lnSpc>
                        <a:spcBef>
                          <a:spcPts val="735"/>
                        </a:spcBef>
                      </a:pPr>
                      <a:r>
                        <a:rPr dirty="0" sz="2150" spc="-50">
                          <a:latin typeface="宋体"/>
                          <a:cs typeface="宋体"/>
                        </a:rPr>
                        <a:t>…</a:t>
                      </a:r>
                      <a:endParaRPr sz="2150">
                        <a:latin typeface="宋体"/>
                        <a:cs typeface="宋体"/>
                      </a:endParaRPr>
                    </a:p>
                  </a:txBody>
                  <a:tcPr marL="0" marR="0" marB="0" marT="933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66040">
                        <a:lnSpc>
                          <a:spcPct val="100000"/>
                        </a:lnSpc>
                        <a:spcBef>
                          <a:spcPts val="860"/>
                        </a:spcBef>
                      </a:pPr>
                      <a:r>
                        <a:rPr dirty="0" sz="1850" spc="-85">
                          <a:solidFill>
                            <a:srgbClr val="008000"/>
                          </a:solidFill>
                          <a:latin typeface="宋体"/>
                          <a:cs typeface="宋体"/>
                        </a:rPr>
                        <a:t>地址描述符 </a:t>
                      </a:r>
                      <a:r>
                        <a:rPr dirty="0" sz="1850" spc="-50" b="1">
                          <a:solidFill>
                            <a:srgbClr val="008000"/>
                          </a:solidFill>
                          <a:latin typeface="Times New Roman"/>
                          <a:cs typeface="Times New Roman"/>
                        </a:rPr>
                        <a:t>n</a:t>
                      </a:r>
                      <a:endParaRPr sz="1850">
                        <a:latin typeface="Times New Roman"/>
                        <a:cs typeface="Times New Roman"/>
                      </a:endParaRPr>
                    </a:p>
                  </a:txBody>
                  <a:tcPr marL="0" marR="0" marB="0" marT="10922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407670">
                        <a:lnSpc>
                          <a:spcPct val="100000"/>
                        </a:lnSpc>
                        <a:spcBef>
                          <a:spcPts val="935"/>
                        </a:spcBef>
                      </a:pPr>
                      <a:r>
                        <a:rPr dirty="0" sz="1850" spc="-114">
                          <a:latin typeface="宋体"/>
                          <a:cs typeface="宋体"/>
                        </a:rPr>
                        <a:t>地址码 </a:t>
                      </a:r>
                      <a:r>
                        <a:rPr dirty="0" sz="1850" spc="-50" b="1">
                          <a:latin typeface="Times New Roman"/>
                          <a:cs typeface="Times New Roman"/>
                        </a:rPr>
                        <a:t>n</a:t>
                      </a:r>
                      <a:endParaRPr sz="1850">
                        <a:latin typeface="Times New Roman"/>
                        <a:cs typeface="Times New Roman"/>
                      </a:endParaRPr>
                    </a:p>
                  </a:txBody>
                  <a:tcPr marL="0" marR="0" marB="0" marT="1187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930351" y="571183"/>
            <a:ext cx="10800080" cy="4794250"/>
          </a:xfrm>
          <a:prstGeom prst="rect">
            <a:avLst/>
          </a:prstGeom>
        </p:spPr>
        <p:txBody>
          <a:bodyPr wrap="square" lIns="0" tIns="181610" rIns="0" bIns="0" rtlCol="0" vert="horz">
            <a:spAutoFit/>
          </a:bodyPr>
          <a:lstStyle/>
          <a:p>
            <a:pPr marL="355600" indent="-342900">
              <a:lnSpc>
                <a:spcPct val="100000"/>
              </a:lnSpc>
              <a:spcBef>
                <a:spcPts val="1430"/>
              </a:spcBef>
              <a:buClr>
                <a:srgbClr val="40458B"/>
              </a:buClr>
              <a:buSzPct val="114285"/>
              <a:buFont typeface="Wingdings"/>
              <a:buChar char=""/>
              <a:tabLst>
                <a:tab pos="355600" algn="l"/>
              </a:tabLst>
            </a:pPr>
            <a:r>
              <a:rPr dirty="0" sz="2800" spc="-80">
                <a:solidFill>
                  <a:srgbClr val="172152"/>
                </a:solidFill>
                <a:latin typeface="黑体"/>
                <a:cs typeface="黑体"/>
              </a:rPr>
              <a:t>固定长度编码格式 </a:t>
            </a:r>
            <a:r>
              <a:rPr dirty="0" sz="2800" spc="-25">
                <a:solidFill>
                  <a:srgbClr val="172152"/>
                </a:solidFill>
                <a:latin typeface="黑体"/>
                <a:cs typeface="黑体"/>
              </a:rPr>
              <a:t>（</a:t>
            </a:r>
            <a:r>
              <a:rPr dirty="0" sz="2800" spc="-35">
                <a:solidFill>
                  <a:srgbClr val="172152"/>
                </a:solidFill>
                <a:latin typeface="黑体"/>
                <a:cs typeface="黑体"/>
              </a:rPr>
              <a:t>侧重性能的选择</a:t>
            </a:r>
            <a:r>
              <a:rPr dirty="0" sz="2800" spc="-50">
                <a:solidFill>
                  <a:srgbClr val="172152"/>
                </a:solidFill>
                <a:latin typeface="黑体"/>
                <a:cs typeface="黑体"/>
              </a:rPr>
              <a:t>）</a:t>
            </a:r>
            <a:endParaRPr sz="2800">
              <a:latin typeface="黑体"/>
              <a:cs typeface="黑体"/>
            </a:endParaRPr>
          </a:p>
          <a:p>
            <a:pPr lvl="1" marL="696595" indent="-272415">
              <a:lnSpc>
                <a:spcPct val="100000"/>
              </a:lnSpc>
              <a:spcBef>
                <a:spcPts val="1340"/>
              </a:spcBef>
              <a:buSzPct val="88636"/>
              <a:buFont typeface="Wingdings"/>
              <a:buChar char=""/>
              <a:tabLst>
                <a:tab pos="696595" algn="l"/>
              </a:tabLst>
            </a:pPr>
            <a:r>
              <a:rPr dirty="0" sz="2200" spc="-35">
                <a:solidFill>
                  <a:srgbClr val="006FC0"/>
                </a:solidFill>
                <a:latin typeface="黑体"/>
                <a:cs typeface="黑体"/>
              </a:rPr>
              <a:t>操作类型和寻址方式一起编码到操作码中，通常所有的指令长度都相同。</a:t>
            </a:r>
            <a:endParaRPr sz="2200">
              <a:latin typeface="黑体"/>
              <a:cs typeface="黑体"/>
            </a:endParaRPr>
          </a:p>
          <a:p>
            <a:pPr lvl="1" marL="696595" indent="-272415">
              <a:lnSpc>
                <a:spcPct val="100000"/>
              </a:lnSpc>
              <a:spcBef>
                <a:spcPts val="1320"/>
              </a:spcBef>
              <a:buSzPct val="88636"/>
              <a:buFont typeface="Wingdings"/>
              <a:buChar char=""/>
              <a:tabLst>
                <a:tab pos="696595" algn="l"/>
              </a:tabLst>
            </a:pPr>
            <a:r>
              <a:rPr dirty="0" sz="2200" spc="-35">
                <a:solidFill>
                  <a:srgbClr val="006FC0"/>
                </a:solidFill>
                <a:latin typeface="黑体"/>
                <a:cs typeface="黑体"/>
              </a:rPr>
              <a:t>当寻址方式和操作类型非常少时，这种编码格式非常好。</a:t>
            </a:r>
            <a:endParaRPr sz="2200">
              <a:latin typeface="黑体"/>
              <a:cs typeface="黑体"/>
            </a:endParaRPr>
          </a:p>
          <a:p>
            <a:pPr lvl="1" marL="696595" indent="-272415">
              <a:lnSpc>
                <a:spcPct val="100000"/>
              </a:lnSpc>
              <a:spcBef>
                <a:spcPts val="1320"/>
              </a:spcBef>
              <a:buSzPct val="88636"/>
              <a:buFont typeface="Wingdings"/>
              <a:buChar char=""/>
              <a:tabLst>
                <a:tab pos="696595" algn="l"/>
              </a:tabLst>
            </a:pPr>
            <a:r>
              <a:rPr dirty="0" sz="2200" spc="-35">
                <a:solidFill>
                  <a:srgbClr val="006FC0"/>
                </a:solidFill>
                <a:latin typeface="黑体"/>
                <a:cs typeface="黑体"/>
              </a:rPr>
              <a:t>可以有效地降低译码的复杂度，提高译码的速度。</a:t>
            </a:r>
            <a:endParaRPr sz="2200">
              <a:latin typeface="黑体"/>
              <a:cs typeface="黑体"/>
            </a:endParaRPr>
          </a:p>
          <a:p>
            <a:pPr lvl="1" marL="696595" indent="-272415">
              <a:lnSpc>
                <a:spcPct val="100000"/>
              </a:lnSpc>
              <a:spcBef>
                <a:spcPts val="1325"/>
              </a:spcBef>
              <a:buSzPct val="88636"/>
              <a:buFont typeface="Wingdings"/>
              <a:buChar char=""/>
              <a:tabLst>
                <a:tab pos="696595" algn="l"/>
              </a:tabLst>
            </a:pPr>
            <a:r>
              <a:rPr dirty="0" sz="2200" spc="-25">
                <a:solidFill>
                  <a:srgbClr val="006FC0"/>
                </a:solidFill>
                <a:latin typeface="黑体"/>
                <a:cs typeface="黑体"/>
              </a:rPr>
              <a:t>大部分</a:t>
            </a:r>
            <a:r>
              <a:rPr dirty="0" sz="2200" spc="-20">
                <a:solidFill>
                  <a:srgbClr val="006FC0"/>
                </a:solidFill>
                <a:latin typeface="Tahoma"/>
                <a:cs typeface="Tahoma"/>
              </a:rPr>
              <a:t>RISC</a:t>
            </a:r>
            <a:r>
              <a:rPr dirty="0" sz="2200" spc="-35">
                <a:solidFill>
                  <a:srgbClr val="006FC0"/>
                </a:solidFill>
                <a:latin typeface="黑体"/>
                <a:cs typeface="黑体"/>
              </a:rPr>
              <a:t>的指令系统均采用这种编码格式。</a:t>
            </a:r>
            <a:endParaRPr sz="2200">
              <a:latin typeface="黑体"/>
              <a:cs typeface="黑体"/>
            </a:endParaRPr>
          </a:p>
          <a:p>
            <a:pPr lvl="1" marL="696595" indent="-272415">
              <a:lnSpc>
                <a:spcPct val="100000"/>
              </a:lnSpc>
              <a:spcBef>
                <a:spcPts val="1320"/>
              </a:spcBef>
              <a:buSzPct val="88636"/>
              <a:buFont typeface="Wingdings"/>
              <a:buChar char=""/>
              <a:tabLst>
                <a:tab pos="696595" algn="l"/>
              </a:tabLst>
            </a:pPr>
            <a:r>
              <a:rPr dirty="0" sz="2200" spc="-35">
                <a:solidFill>
                  <a:srgbClr val="006FC0"/>
                </a:solidFill>
                <a:latin typeface="黑体"/>
                <a:cs typeface="黑体"/>
              </a:rPr>
              <a:t>代码量大</a:t>
            </a:r>
            <a:endParaRPr sz="2200">
              <a:latin typeface="黑体"/>
              <a:cs typeface="黑体"/>
            </a:endParaRPr>
          </a:p>
          <a:p>
            <a:pPr marL="354965" indent="-342265">
              <a:lnSpc>
                <a:spcPct val="100000"/>
              </a:lnSpc>
              <a:spcBef>
                <a:spcPts val="1060"/>
              </a:spcBef>
              <a:buClr>
                <a:srgbClr val="40458B"/>
              </a:buClr>
              <a:buSzPct val="114285"/>
              <a:buFont typeface="Wingdings"/>
              <a:buChar char=""/>
              <a:tabLst>
                <a:tab pos="354965" algn="l"/>
              </a:tabLst>
            </a:pPr>
            <a:r>
              <a:rPr dirty="0" sz="2800" spc="-35">
                <a:solidFill>
                  <a:srgbClr val="172152"/>
                </a:solidFill>
                <a:latin typeface="黑体"/>
                <a:cs typeface="黑体"/>
              </a:rPr>
              <a:t>固定长度编码格式</a:t>
            </a:r>
            <a:r>
              <a:rPr dirty="0" sz="2800" spc="-10">
                <a:solidFill>
                  <a:srgbClr val="172152"/>
                </a:solidFill>
                <a:latin typeface="Tahoma"/>
                <a:cs typeface="Tahoma"/>
              </a:rPr>
              <a:t>--</a:t>
            </a:r>
            <a:r>
              <a:rPr dirty="0" sz="2800" spc="-40">
                <a:solidFill>
                  <a:srgbClr val="172152"/>
                </a:solidFill>
                <a:latin typeface="黑体"/>
                <a:cs typeface="黑体"/>
              </a:rPr>
              <a:t>好处</a:t>
            </a:r>
            <a:endParaRPr sz="2800">
              <a:latin typeface="黑体"/>
              <a:cs typeface="黑体"/>
            </a:endParaRPr>
          </a:p>
          <a:p>
            <a:pPr lvl="1" marL="696595" marR="5080" indent="-273050">
              <a:lnSpc>
                <a:spcPct val="130000"/>
              </a:lnSpc>
              <a:spcBef>
                <a:spcPts val="550"/>
              </a:spcBef>
              <a:buSzPct val="88636"/>
              <a:buFont typeface="Wingdings"/>
              <a:buChar char=""/>
              <a:tabLst>
                <a:tab pos="696595" algn="l"/>
              </a:tabLst>
            </a:pPr>
            <a:r>
              <a:rPr dirty="0" sz="2200" spc="-20">
                <a:solidFill>
                  <a:srgbClr val="006FC0"/>
                </a:solidFill>
                <a:latin typeface="黑体"/>
                <a:cs typeface="黑体"/>
              </a:rPr>
              <a:t>若操作码短</a:t>
            </a:r>
            <a:r>
              <a:rPr dirty="0" sz="2200" spc="-30">
                <a:solidFill>
                  <a:srgbClr val="006FC0"/>
                </a:solidFill>
                <a:latin typeface="黑体"/>
                <a:cs typeface="黑体"/>
              </a:rPr>
              <a:t>（例如使用频度高的指令</a:t>
            </a:r>
            <a:r>
              <a:rPr dirty="0" sz="2200" spc="-20">
                <a:solidFill>
                  <a:srgbClr val="006FC0"/>
                </a:solidFill>
                <a:latin typeface="黑体"/>
                <a:cs typeface="黑体"/>
              </a:rPr>
              <a:t>）</a:t>
            </a:r>
            <a:r>
              <a:rPr dirty="0" sz="2200" spc="-35">
                <a:solidFill>
                  <a:srgbClr val="006FC0"/>
                </a:solidFill>
                <a:latin typeface="黑体"/>
                <a:cs typeface="黑体"/>
              </a:rPr>
              <a:t>，地址个数可变或地址码长度可变</a:t>
            </a:r>
            <a:r>
              <a:rPr dirty="0" sz="2200" spc="-25">
                <a:solidFill>
                  <a:srgbClr val="006FC0"/>
                </a:solidFill>
                <a:latin typeface="Tahoma"/>
                <a:cs typeface="Tahoma"/>
              </a:rPr>
              <a:t>---</a:t>
            </a:r>
            <a:r>
              <a:rPr dirty="0" sz="2200" spc="-30">
                <a:solidFill>
                  <a:srgbClr val="006FC0"/>
                </a:solidFill>
                <a:latin typeface="黑体"/>
                <a:cs typeface="黑体"/>
              </a:rPr>
              <a:t>指令功</a:t>
            </a:r>
            <a:r>
              <a:rPr dirty="0" sz="2200" spc="-35">
                <a:solidFill>
                  <a:srgbClr val="006FC0"/>
                </a:solidFill>
                <a:latin typeface="黑体"/>
                <a:cs typeface="黑体"/>
              </a:rPr>
              <a:t>能增强，减少指令条数。</a:t>
            </a:r>
            <a:endParaRPr sz="2200">
              <a:latin typeface="黑体"/>
              <a:cs typeface="黑体"/>
            </a:endParaRPr>
          </a:p>
        </p:txBody>
      </p:sp>
      <p:sp>
        <p:nvSpPr>
          <p:cNvPr id="4" name="object 4"/>
          <p:cNvSpPr txBox="1">
            <a:spLocks noGrp="1"/>
          </p:cNvSpPr>
          <p:nvPr>
            <p:ph type="title"/>
          </p:nvPr>
        </p:nvSpPr>
        <p:spPr>
          <a:xfrm>
            <a:off x="1163637" y="162814"/>
            <a:ext cx="11041380" cy="574040"/>
          </a:xfrm>
          <a:prstGeom prst="rect"/>
        </p:spPr>
        <p:txBody>
          <a:bodyPr wrap="square" lIns="0" tIns="12700" rIns="0" bIns="0" rtlCol="0" vert="horz">
            <a:spAutoFit/>
          </a:bodyPr>
          <a:lstStyle/>
          <a:p>
            <a:pPr marL="12700">
              <a:lnSpc>
                <a:spcPct val="100000"/>
              </a:lnSpc>
              <a:spcBef>
                <a:spcPts val="100"/>
              </a:spcBef>
              <a:tabLst>
                <a:tab pos="1494790" algn="l"/>
                <a:tab pos="11028045" algn="l"/>
              </a:tabLst>
            </a:pPr>
            <a:r>
              <a:rPr dirty="0" sz="3600"/>
              <a:t>	2.3.4</a:t>
            </a:r>
            <a:r>
              <a:rPr dirty="0" sz="3600" spc="20"/>
              <a:t> </a:t>
            </a:r>
            <a:r>
              <a:rPr dirty="0" sz="3600" spc="-35"/>
              <a:t>指令字格式的优</a:t>
            </a:r>
            <a:r>
              <a:rPr dirty="0" sz="3600" spc="-50"/>
              <a:t>化</a:t>
            </a:r>
            <a:r>
              <a:rPr dirty="0" sz="3600"/>
              <a:t>	</a:t>
            </a:r>
            <a:endParaRPr sz="3600"/>
          </a:p>
        </p:txBody>
      </p:sp>
      <p:graphicFrame>
        <p:nvGraphicFramePr>
          <p:cNvPr id="5" name="object 5" descr=""/>
          <p:cNvGraphicFramePr>
            <a:graphicFrameLocks noGrp="1"/>
          </p:cNvGraphicFramePr>
          <p:nvPr/>
        </p:nvGraphicFramePr>
        <p:xfrm>
          <a:off x="2846223" y="5759222"/>
          <a:ext cx="7372984" cy="636270"/>
        </p:xfrm>
        <a:graphic>
          <a:graphicData uri="http://schemas.openxmlformats.org/drawingml/2006/table">
            <a:tbl>
              <a:tblPr firstRow="1" bandRow="1">
                <a:tableStyleId>{2D5ABB26-0587-4C30-8999-92F81FD0307C}</a:tableStyleId>
              </a:tblPr>
              <a:tblGrid>
                <a:gridCol w="403225"/>
                <a:gridCol w="1155065"/>
                <a:gridCol w="1904364"/>
                <a:gridCol w="1907539"/>
                <a:gridCol w="1904999"/>
              </a:tblGrid>
              <a:tr h="125095">
                <a:tc gridSpan="5">
                  <a:txBody>
                    <a:bodyPr/>
                    <a:lstStyle/>
                    <a:p>
                      <a:pPr>
                        <a:lnSpc>
                          <a:spcPct val="100000"/>
                        </a:lnSpc>
                      </a:pPr>
                      <a:endParaRPr sz="600">
                        <a:latin typeface="Times New Roman"/>
                        <a:cs typeface="Times New Roman"/>
                      </a:endParaRPr>
                    </a:p>
                  </a:txBody>
                  <a:tcPr marL="0" marR="0" marB="0" marT="0">
                    <a:solidFill>
                      <a:srgbClr val="FFFFCC"/>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511175">
                <a:tc>
                  <a:txBody>
                    <a:bodyPr/>
                    <a:lstStyle/>
                    <a:p>
                      <a:pPr>
                        <a:lnSpc>
                          <a:spcPct val="100000"/>
                        </a:lnSpc>
                      </a:pPr>
                      <a:endParaRPr sz="2300">
                        <a:latin typeface="Times New Roman"/>
                        <a:cs typeface="Times New Roman"/>
                      </a:endParaRPr>
                    </a:p>
                  </a:txBody>
                  <a:tcPr marL="0" marR="0" marB="0" marT="0">
                    <a:lnR w="28575">
                      <a:solidFill>
                        <a:srgbClr val="000000"/>
                      </a:solidFill>
                      <a:prstDash val="solid"/>
                    </a:lnR>
                    <a:solidFill>
                      <a:srgbClr val="FFFFCC"/>
                    </a:solidFill>
                  </a:tcPr>
                </a:tc>
                <a:tc>
                  <a:txBody>
                    <a:bodyPr/>
                    <a:lstStyle/>
                    <a:p>
                      <a:pPr marL="227329">
                        <a:lnSpc>
                          <a:spcPct val="100000"/>
                        </a:lnSpc>
                        <a:spcBef>
                          <a:spcPts val="905"/>
                        </a:spcBef>
                      </a:pPr>
                      <a:r>
                        <a:rPr dirty="0" sz="1950" spc="-30">
                          <a:solidFill>
                            <a:srgbClr val="993300"/>
                          </a:solidFill>
                          <a:latin typeface="宋体"/>
                          <a:cs typeface="宋体"/>
                        </a:rPr>
                        <a:t>操作码</a:t>
                      </a:r>
                      <a:endParaRPr sz="1950">
                        <a:latin typeface="宋体"/>
                        <a:cs typeface="宋体"/>
                      </a:endParaRPr>
                    </a:p>
                  </a:txBody>
                  <a:tcPr marL="0" marR="0" marB="0" marT="114935">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CC"/>
                    </a:solidFill>
                  </a:tcPr>
                </a:tc>
                <a:tc>
                  <a:txBody>
                    <a:bodyPr/>
                    <a:lstStyle/>
                    <a:p>
                      <a:pPr marL="461645">
                        <a:lnSpc>
                          <a:spcPct val="100000"/>
                        </a:lnSpc>
                        <a:spcBef>
                          <a:spcPts val="905"/>
                        </a:spcBef>
                      </a:pPr>
                      <a:r>
                        <a:rPr dirty="0" sz="1950" spc="-125">
                          <a:latin typeface="宋体"/>
                          <a:cs typeface="宋体"/>
                        </a:rPr>
                        <a:t>地址码 </a:t>
                      </a:r>
                      <a:r>
                        <a:rPr dirty="0" sz="1950" spc="-50" b="1">
                          <a:latin typeface="Times New Roman"/>
                          <a:cs typeface="Times New Roman"/>
                        </a:rPr>
                        <a:t>1</a:t>
                      </a:r>
                      <a:endParaRPr sz="1950">
                        <a:latin typeface="Times New Roman"/>
                        <a:cs typeface="Times New Roman"/>
                      </a:endParaRPr>
                    </a:p>
                  </a:txBody>
                  <a:tcPr marL="0" marR="0" marB="0" marT="114935">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CC"/>
                    </a:solidFill>
                  </a:tcPr>
                </a:tc>
                <a:tc>
                  <a:txBody>
                    <a:bodyPr/>
                    <a:lstStyle/>
                    <a:p>
                      <a:pPr marL="547370">
                        <a:lnSpc>
                          <a:spcPct val="100000"/>
                        </a:lnSpc>
                        <a:spcBef>
                          <a:spcPts val="855"/>
                        </a:spcBef>
                      </a:pPr>
                      <a:r>
                        <a:rPr dirty="0" sz="1950" spc="-125">
                          <a:latin typeface="宋体"/>
                          <a:cs typeface="宋体"/>
                        </a:rPr>
                        <a:t>地址码 </a:t>
                      </a:r>
                      <a:r>
                        <a:rPr dirty="0" sz="1950" spc="-50" b="1">
                          <a:latin typeface="Times New Roman"/>
                          <a:cs typeface="Times New Roman"/>
                        </a:rPr>
                        <a:t>2</a:t>
                      </a:r>
                      <a:endParaRPr sz="1950">
                        <a:latin typeface="Times New Roman"/>
                        <a:cs typeface="Times New Roman"/>
                      </a:endParaRPr>
                    </a:p>
                  </a:txBody>
                  <a:tcPr marL="0" marR="0" marB="0" marT="108585">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CC"/>
                    </a:solidFill>
                  </a:tcPr>
                </a:tc>
                <a:tc>
                  <a:txBody>
                    <a:bodyPr/>
                    <a:lstStyle/>
                    <a:p>
                      <a:pPr marL="488315">
                        <a:lnSpc>
                          <a:spcPct val="100000"/>
                        </a:lnSpc>
                        <a:spcBef>
                          <a:spcPts val="880"/>
                        </a:spcBef>
                      </a:pPr>
                      <a:r>
                        <a:rPr dirty="0" sz="1950" spc="-125">
                          <a:latin typeface="宋体"/>
                          <a:cs typeface="宋体"/>
                        </a:rPr>
                        <a:t>地址码 </a:t>
                      </a:r>
                      <a:r>
                        <a:rPr dirty="0" sz="1950" spc="-50" b="1">
                          <a:latin typeface="Times New Roman"/>
                          <a:cs typeface="Times New Roman"/>
                        </a:rPr>
                        <a:t>3</a:t>
                      </a:r>
                      <a:endParaRPr sz="1950">
                        <a:latin typeface="Times New Roman"/>
                        <a:cs typeface="Times New Roman"/>
                      </a:endParaRPr>
                    </a:p>
                  </a:txBody>
                  <a:tcPr marL="0" marR="0" marB="0" marT="11176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CC"/>
                    </a:solidFill>
                  </a:tcPr>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p:nvPr/>
        </p:nvSpPr>
        <p:spPr>
          <a:xfrm>
            <a:off x="3143250" y="3517900"/>
            <a:ext cx="6409055" cy="2159000"/>
          </a:xfrm>
          <a:custGeom>
            <a:avLst/>
            <a:gdLst/>
            <a:ahLst/>
            <a:cxnLst/>
            <a:rect l="l" t="t" r="r" b="b"/>
            <a:pathLst>
              <a:path w="6409055" h="2159000">
                <a:moveTo>
                  <a:pt x="6408801" y="0"/>
                </a:moveTo>
                <a:lnTo>
                  <a:pt x="0" y="0"/>
                </a:lnTo>
                <a:lnTo>
                  <a:pt x="0" y="2159000"/>
                </a:lnTo>
                <a:lnTo>
                  <a:pt x="6408801" y="2159000"/>
                </a:lnTo>
                <a:lnTo>
                  <a:pt x="6408801" y="0"/>
                </a:lnTo>
                <a:close/>
              </a:path>
            </a:pathLst>
          </a:custGeom>
          <a:solidFill>
            <a:srgbClr val="FFFFCC"/>
          </a:solidFill>
        </p:spPr>
        <p:txBody>
          <a:bodyPr wrap="square" lIns="0" tIns="0" rIns="0" bIns="0" rtlCol="0"/>
          <a:lstStyle/>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2.3</a:t>
            </a:r>
            <a:r>
              <a:rPr dirty="0" spc="-35">
                <a:solidFill>
                  <a:srgbClr val="4F55AC"/>
                </a:solidFill>
              </a:rPr>
              <a:t> </a:t>
            </a:r>
            <a:r>
              <a:rPr dirty="0">
                <a:solidFill>
                  <a:srgbClr val="4F55AC"/>
                </a:solidFill>
                <a:latin typeface="微软雅黑"/>
                <a:cs typeface="微软雅黑"/>
              </a:rPr>
              <a:t>指令系统的设计与优</a:t>
            </a:r>
            <a:r>
              <a:rPr dirty="0" spc="-50">
                <a:solidFill>
                  <a:srgbClr val="4F55AC"/>
                </a:solidFill>
                <a:latin typeface="微软雅黑"/>
                <a:cs typeface="微软雅黑"/>
              </a:rPr>
              <a:t>化</a:t>
            </a:r>
            <a:r>
              <a:rPr dirty="0">
                <a:solidFill>
                  <a:srgbClr val="4F55AC"/>
                </a:solidFill>
                <a:latin typeface="微软雅黑"/>
                <a:cs typeface="微软雅黑"/>
              </a:rPr>
              <a:t>	</a:t>
            </a:r>
          </a:p>
        </p:txBody>
      </p:sp>
      <p:graphicFrame>
        <p:nvGraphicFramePr>
          <p:cNvPr id="5" name="object 5" descr=""/>
          <p:cNvGraphicFramePr>
            <a:graphicFrameLocks noGrp="1"/>
          </p:cNvGraphicFramePr>
          <p:nvPr/>
        </p:nvGraphicFramePr>
        <p:xfrm>
          <a:off x="3242227" y="3618250"/>
          <a:ext cx="4427220" cy="476250"/>
        </p:xfrm>
        <a:graphic>
          <a:graphicData uri="http://schemas.openxmlformats.org/drawingml/2006/table">
            <a:tbl>
              <a:tblPr firstRow="1" bandRow="1">
                <a:tableStyleId>{2D5ABB26-0587-4C30-8999-92F81FD0307C}</a:tableStyleId>
              </a:tblPr>
              <a:tblGrid>
                <a:gridCol w="1083310"/>
                <a:gridCol w="1459865"/>
                <a:gridCol w="1788160"/>
              </a:tblGrid>
              <a:tr h="476250">
                <a:tc>
                  <a:txBody>
                    <a:bodyPr/>
                    <a:lstStyle/>
                    <a:p>
                      <a:pPr marL="213360">
                        <a:lnSpc>
                          <a:spcPct val="100000"/>
                        </a:lnSpc>
                        <a:spcBef>
                          <a:spcPts val="890"/>
                        </a:spcBef>
                      </a:pPr>
                      <a:r>
                        <a:rPr dirty="0" sz="1800" spc="-20">
                          <a:solidFill>
                            <a:srgbClr val="993300"/>
                          </a:solidFill>
                          <a:latin typeface="宋体"/>
                          <a:cs typeface="宋体"/>
                        </a:rPr>
                        <a:t>操作码</a:t>
                      </a:r>
                      <a:endParaRPr sz="1800">
                        <a:latin typeface="宋体"/>
                        <a:cs typeface="宋体"/>
                      </a:endParaRPr>
                    </a:p>
                  </a:txBody>
                  <a:tcPr marL="0" marR="0" marB="0" marT="1130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116839">
                        <a:lnSpc>
                          <a:spcPct val="100000"/>
                        </a:lnSpc>
                        <a:spcBef>
                          <a:spcPts val="910"/>
                        </a:spcBef>
                      </a:pPr>
                      <a:r>
                        <a:rPr dirty="0" sz="1800" spc="-10">
                          <a:solidFill>
                            <a:srgbClr val="008000"/>
                          </a:solidFill>
                          <a:latin typeface="宋体"/>
                          <a:cs typeface="宋体"/>
                        </a:rPr>
                        <a:t>地址描述符</a:t>
                      </a:r>
                      <a:endParaRPr sz="1800">
                        <a:latin typeface="宋体"/>
                        <a:cs typeface="宋体"/>
                      </a:endParaRPr>
                    </a:p>
                  </a:txBody>
                  <a:tcPr marL="0" marR="0" marB="0" marT="11557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544195">
                        <a:lnSpc>
                          <a:spcPct val="100000"/>
                        </a:lnSpc>
                        <a:spcBef>
                          <a:spcPts val="980"/>
                        </a:spcBef>
                      </a:pPr>
                      <a:r>
                        <a:rPr dirty="0" sz="1800" spc="-20">
                          <a:latin typeface="宋体"/>
                          <a:cs typeface="宋体"/>
                        </a:rPr>
                        <a:t>地址码</a:t>
                      </a:r>
                      <a:endParaRPr sz="1800">
                        <a:latin typeface="宋体"/>
                        <a:cs typeface="宋体"/>
                      </a:endParaRPr>
                    </a:p>
                  </a:txBody>
                  <a:tcPr marL="0" marR="0" marB="0" marT="1244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r>
            </a:tbl>
          </a:graphicData>
        </a:graphic>
      </p:graphicFrame>
      <p:graphicFrame>
        <p:nvGraphicFramePr>
          <p:cNvPr id="6" name="object 6" descr=""/>
          <p:cNvGraphicFramePr>
            <a:graphicFrameLocks noGrp="1"/>
          </p:cNvGraphicFramePr>
          <p:nvPr/>
        </p:nvGraphicFramePr>
        <p:xfrm>
          <a:off x="3242227" y="4334848"/>
          <a:ext cx="5888355" cy="476250"/>
        </p:xfrm>
        <a:graphic>
          <a:graphicData uri="http://schemas.openxmlformats.org/drawingml/2006/table">
            <a:tbl>
              <a:tblPr firstRow="1" bandRow="1">
                <a:tableStyleId>{2D5ABB26-0587-4C30-8999-92F81FD0307C}</a:tableStyleId>
              </a:tblPr>
              <a:tblGrid>
                <a:gridCol w="1083310"/>
                <a:gridCol w="1459865"/>
                <a:gridCol w="1463675"/>
                <a:gridCol w="1784985"/>
              </a:tblGrid>
              <a:tr h="476250">
                <a:tc>
                  <a:txBody>
                    <a:bodyPr/>
                    <a:lstStyle/>
                    <a:p>
                      <a:pPr marL="213360">
                        <a:lnSpc>
                          <a:spcPct val="100000"/>
                        </a:lnSpc>
                        <a:spcBef>
                          <a:spcPts val="865"/>
                        </a:spcBef>
                      </a:pPr>
                      <a:r>
                        <a:rPr dirty="0" sz="1800" spc="-20">
                          <a:solidFill>
                            <a:srgbClr val="993300"/>
                          </a:solidFill>
                          <a:latin typeface="宋体"/>
                          <a:cs typeface="宋体"/>
                        </a:rPr>
                        <a:t>操作码</a:t>
                      </a:r>
                      <a:endParaRPr sz="1800">
                        <a:latin typeface="宋体"/>
                        <a:cs typeface="宋体"/>
                      </a:endParaRPr>
                    </a:p>
                  </a:txBody>
                  <a:tcPr marL="0" marR="0" marB="0" marT="10985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76835">
                        <a:lnSpc>
                          <a:spcPct val="100000"/>
                        </a:lnSpc>
                        <a:spcBef>
                          <a:spcPts val="915"/>
                        </a:spcBef>
                      </a:pPr>
                      <a:r>
                        <a:rPr dirty="0" sz="1800" spc="-60">
                          <a:solidFill>
                            <a:srgbClr val="008000"/>
                          </a:solidFill>
                          <a:latin typeface="宋体"/>
                          <a:cs typeface="宋体"/>
                        </a:rPr>
                        <a:t>地址描述符 </a:t>
                      </a:r>
                      <a:r>
                        <a:rPr dirty="0" sz="1800" spc="-50" b="1">
                          <a:solidFill>
                            <a:srgbClr val="008000"/>
                          </a:solidFill>
                          <a:latin typeface="Times New Roman"/>
                          <a:cs typeface="Times New Roman"/>
                        </a:rPr>
                        <a:t>1</a:t>
                      </a:r>
                      <a:endParaRPr sz="1800">
                        <a:latin typeface="Times New Roman"/>
                        <a:cs typeface="Times New Roman"/>
                      </a:endParaRPr>
                    </a:p>
                  </a:txBody>
                  <a:tcPr marL="0" marR="0" marB="0" marT="1162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80645">
                        <a:lnSpc>
                          <a:spcPct val="100000"/>
                        </a:lnSpc>
                        <a:spcBef>
                          <a:spcPts val="890"/>
                        </a:spcBef>
                      </a:pPr>
                      <a:r>
                        <a:rPr dirty="0" sz="1800" spc="-60">
                          <a:solidFill>
                            <a:srgbClr val="008000"/>
                          </a:solidFill>
                          <a:latin typeface="宋体"/>
                          <a:cs typeface="宋体"/>
                        </a:rPr>
                        <a:t>地址描述符 </a:t>
                      </a:r>
                      <a:r>
                        <a:rPr dirty="0" sz="1800" spc="-50" b="1">
                          <a:solidFill>
                            <a:srgbClr val="008000"/>
                          </a:solidFill>
                          <a:latin typeface="Times New Roman"/>
                          <a:cs typeface="Times New Roman"/>
                        </a:rPr>
                        <a:t>2</a:t>
                      </a:r>
                      <a:endParaRPr sz="1800">
                        <a:latin typeface="Times New Roman"/>
                        <a:cs typeface="Times New Roman"/>
                      </a:endParaRPr>
                    </a:p>
                  </a:txBody>
                  <a:tcPr marL="0" marR="0" marB="0" marT="1130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408305">
                        <a:lnSpc>
                          <a:spcPct val="100000"/>
                        </a:lnSpc>
                        <a:spcBef>
                          <a:spcPts val="865"/>
                        </a:spcBef>
                      </a:pPr>
                      <a:r>
                        <a:rPr dirty="0" sz="1800" spc="-20">
                          <a:latin typeface="宋体"/>
                          <a:cs typeface="宋体"/>
                        </a:rPr>
                        <a:t>地址码</a:t>
                      </a:r>
                      <a:endParaRPr sz="1800">
                        <a:latin typeface="宋体"/>
                        <a:cs typeface="宋体"/>
                      </a:endParaRPr>
                    </a:p>
                  </a:txBody>
                  <a:tcPr marL="0" marR="0" marB="0" marT="10985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r>
            </a:tbl>
          </a:graphicData>
        </a:graphic>
      </p:graphicFrame>
      <p:graphicFrame>
        <p:nvGraphicFramePr>
          <p:cNvPr id="7" name="object 7" descr=""/>
          <p:cNvGraphicFramePr>
            <a:graphicFrameLocks noGrp="1"/>
          </p:cNvGraphicFramePr>
          <p:nvPr/>
        </p:nvGraphicFramePr>
        <p:xfrm>
          <a:off x="3242227" y="5042587"/>
          <a:ext cx="6213475" cy="476250"/>
        </p:xfrm>
        <a:graphic>
          <a:graphicData uri="http://schemas.openxmlformats.org/drawingml/2006/table">
            <a:tbl>
              <a:tblPr firstRow="1" bandRow="1">
                <a:tableStyleId>{2D5ABB26-0587-4C30-8999-92F81FD0307C}</a:tableStyleId>
              </a:tblPr>
              <a:tblGrid>
                <a:gridCol w="1083310"/>
                <a:gridCol w="1459865"/>
                <a:gridCol w="1788160"/>
                <a:gridCol w="1785619"/>
              </a:tblGrid>
              <a:tr h="476250">
                <a:tc>
                  <a:txBody>
                    <a:bodyPr/>
                    <a:lstStyle/>
                    <a:p>
                      <a:pPr marL="213360">
                        <a:lnSpc>
                          <a:spcPct val="100000"/>
                        </a:lnSpc>
                        <a:spcBef>
                          <a:spcPts val="865"/>
                        </a:spcBef>
                      </a:pPr>
                      <a:r>
                        <a:rPr dirty="0" sz="1800" spc="-20">
                          <a:solidFill>
                            <a:srgbClr val="993300"/>
                          </a:solidFill>
                          <a:latin typeface="宋体"/>
                          <a:cs typeface="宋体"/>
                        </a:rPr>
                        <a:t>操作码</a:t>
                      </a:r>
                      <a:endParaRPr sz="1800">
                        <a:latin typeface="宋体"/>
                        <a:cs typeface="宋体"/>
                      </a:endParaRPr>
                    </a:p>
                  </a:txBody>
                  <a:tcPr marL="0" marR="0" marB="0" marT="10985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132715">
                        <a:lnSpc>
                          <a:spcPct val="100000"/>
                        </a:lnSpc>
                        <a:spcBef>
                          <a:spcPts val="890"/>
                        </a:spcBef>
                      </a:pPr>
                      <a:r>
                        <a:rPr dirty="0" sz="1800" spc="-10">
                          <a:solidFill>
                            <a:srgbClr val="008000"/>
                          </a:solidFill>
                          <a:latin typeface="宋体"/>
                          <a:cs typeface="宋体"/>
                        </a:rPr>
                        <a:t>地址描述符</a:t>
                      </a:r>
                      <a:endParaRPr sz="1800">
                        <a:latin typeface="宋体"/>
                        <a:cs typeface="宋体"/>
                      </a:endParaRPr>
                    </a:p>
                  </a:txBody>
                  <a:tcPr marL="0" marR="0" marB="0" marT="1130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488950">
                        <a:lnSpc>
                          <a:spcPct val="100000"/>
                        </a:lnSpc>
                        <a:spcBef>
                          <a:spcPts val="940"/>
                        </a:spcBef>
                      </a:pPr>
                      <a:r>
                        <a:rPr dirty="0" sz="1800" spc="-100">
                          <a:latin typeface="宋体"/>
                          <a:cs typeface="宋体"/>
                        </a:rPr>
                        <a:t>地址码 </a:t>
                      </a:r>
                      <a:r>
                        <a:rPr dirty="0" sz="1800" spc="-60" b="1">
                          <a:latin typeface="Times New Roman"/>
                          <a:cs typeface="Times New Roman"/>
                        </a:rPr>
                        <a:t>1</a:t>
                      </a:r>
                      <a:endParaRPr sz="1800">
                        <a:latin typeface="Times New Roman"/>
                        <a:cs typeface="Times New Roman"/>
                      </a:endParaRPr>
                    </a:p>
                  </a:txBody>
                  <a:tcPr marL="0" marR="0" marB="0" marT="11938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488950">
                        <a:lnSpc>
                          <a:spcPct val="100000"/>
                        </a:lnSpc>
                        <a:spcBef>
                          <a:spcPts val="890"/>
                        </a:spcBef>
                      </a:pPr>
                      <a:r>
                        <a:rPr dirty="0" sz="1800" spc="-100">
                          <a:latin typeface="宋体"/>
                          <a:cs typeface="宋体"/>
                        </a:rPr>
                        <a:t>地址码 </a:t>
                      </a:r>
                      <a:r>
                        <a:rPr dirty="0" sz="1800" spc="-50" b="1">
                          <a:latin typeface="Times New Roman"/>
                          <a:cs typeface="Times New Roman"/>
                        </a:rPr>
                        <a:t>2</a:t>
                      </a:r>
                      <a:endParaRPr sz="1800">
                        <a:latin typeface="Times New Roman"/>
                        <a:cs typeface="Times New Roman"/>
                      </a:endParaRPr>
                    </a:p>
                  </a:txBody>
                  <a:tcPr marL="0" marR="0" marB="0" marT="1130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r>
            </a:tbl>
          </a:graphicData>
        </a:graphic>
      </p:graphicFrame>
      <p:sp>
        <p:nvSpPr>
          <p:cNvPr id="8" name="object 8" descr=""/>
          <p:cNvSpPr txBox="1"/>
          <p:nvPr/>
        </p:nvSpPr>
        <p:spPr>
          <a:xfrm>
            <a:off x="1422019" y="749829"/>
            <a:ext cx="8531225" cy="1592580"/>
          </a:xfrm>
          <a:prstGeom prst="rect">
            <a:avLst/>
          </a:prstGeom>
        </p:spPr>
        <p:txBody>
          <a:bodyPr wrap="square" lIns="0" tIns="201930" rIns="0" bIns="0" rtlCol="0" vert="horz">
            <a:spAutoFit/>
          </a:bodyPr>
          <a:lstStyle/>
          <a:p>
            <a:pPr marL="354965" indent="-342265">
              <a:lnSpc>
                <a:spcPct val="100000"/>
              </a:lnSpc>
              <a:spcBef>
                <a:spcPts val="1590"/>
              </a:spcBef>
              <a:buClr>
                <a:srgbClr val="40458B"/>
              </a:buClr>
              <a:buSzPct val="89583"/>
              <a:buFont typeface="Wingdings"/>
              <a:buChar char=""/>
              <a:tabLst>
                <a:tab pos="354965" algn="l"/>
              </a:tabLst>
            </a:pPr>
            <a:r>
              <a:rPr dirty="0" sz="2400">
                <a:solidFill>
                  <a:srgbClr val="006FC0"/>
                </a:solidFill>
                <a:latin typeface="黑体"/>
                <a:cs typeface="黑体"/>
              </a:rPr>
              <a:t>混合型编码格式（结合上述两种方案</a:t>
            </a:r>
            <a:r>
              <a:rPr dirty="0" sz="2400" spc="-50">
                <a:solidFill>
                  <a:srgbClr val="006FC0"/>
                </a:solidFill>
                <a:latin typeface="黑体"/>
                <a:cs typeface="黑体"/>
              </a:rPr>
              <a:t>）</a:t>
            </a:r>
            <a:endParaRPr sz="2400">
              <a:latin typeface="黑体"/>
              <a:cs typeface="黑体"/>
            </a:endParaRPr>
          </a:p>
          <a:p>
            <a:pPr lvl="1" marL="696595" indent="-272415">
              <a:lnSpc>
                <a:spcPct val="100000"/>
              </a:lnSpc>
              <a:spcBef>
                <a:spcPts val="1365"/>
              </a:spcBef>
              <a:buSzPct val="88636"/>
              <a:buFont typeface="Wingdings"/>
              <a:buChar char=""/>
              <a:tabLst>
                <a:tab pos="696595" algn="l"/>
              </a:tabLst>
            </a:pPr>
            <a:r>
              <a:rPr dirty="0" sz="2200" spc="-35">
                <a:solidFill>
                  <a:srgbClr val="006FC0"/>
                </a:solidFill>
                <a:latin typeface="黑体"/>
                <a:cs typeface="黑体"/>
              </a:rPr>
              <a:t>提供若干种固定的指令字长。多种指令长度以减少代码长度。</a:t>
            </a:r>
            <a:endParaRPr sz="2200">
              <a:latin typeface="黑体"/>
              <a:cs typeface="黑体"/>
            </a:endParaRPr>
          </a:p>
          <a:p>
            <a:pPr lvl="1" marL="696595" indent="-272415">
              <a:lnSpc>
                <a:spcPct val="100000"/>
              </a:lnSpc>
              <a:spcBef>
                <a:spcPts val="1320"/>
              </a:spcBef>
              <a:buSzPct val="88636"/>
              <a:buFont typeface="Wingdings"/>
              <a:buChar char=""/>
              <a:tabLst>
                <a:tab pos="696595" algn="l"/>
              </a:tabLst>
            </a:pPr>
            <a:r>
              <a:rPr dirty="0" sz="2200" spc="-35">
                <a:solidFill>
                  <a:srgbClr val="006FC0"/>
                </a:solidFill>
                <a:latin typeface="黑体"/>
                <a:cs typeface="黑体"/>
              </a:rPr>
              <a:t>以期达到既能够减少目标代码长度又能降低译码复杂度的目标。</a:t>
            </a:r>
            <a:endParaRPr sz="2200">
              <a:latin typeface="黑体"/>
              <a:cs typeface="黑体"/>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txBox="1"/>
          <p:nvPr/>
        </p:nvSpPr>
        <p:spPr>
          <a:xfrm>
            <a:off x="1602994" y="715328"/>
            <a:ext cx="8809990" cy="3788410"/>
          </a:xfrm>
          <a:prstGeom prst="rect">
            <a:avLst/>
          </a:prstGeom>
        </p:spPr>
        <p:txBody>
          <a:bodyPr wrap="square" lIns="0" tIns="181610" rIns="0" bIns="0" rtlCol="0" vert="horz">
            <a:spAutoFit/>
          </a:bodyPr>
          <a:lstStyle/>
          <a:p>
            <a:pPr marL="354965" indent="-342265">
              <a:lnSpc>
                <a:spcPct val="100000"/>
              </a:lnSpc>
              <a:spcBef>
                <a:spcPts val="1430"/>
              </a:spcBef>
              <a:buClr>
                <a:srgbClr val="40458B"/>
              </a:buClr>
              <a:buSzPct val="114285"/>
              <a:buFont typeface="Wingdings"/>
              <a:buChar char=""/>
              <a:tabLst>
                <a:tab pos="354965" algn="l"/>
              </a:tabLst>
            </a:pPr>
            <a:r>
              <a:rPr dirty="0" sz="2800" spc="-40">
                <a:solidFill>
                  <a:srgbClr val="172152"/>
                </a:solidFill>
                <a:latin typeface="黑体"/>
                <a:cs typeface="黑体"/>
              </a:rPr>
              <a:t>可变长度编码和固定长度编码的区别</a:t>
            </a:r>
            <a:endParaRPr sz="2800">
              <a:latin typeface="黑体"/>
              <a:cs typeface="黑体"/>
            </a:endParaRPr>
          </a:p>
          <a:p>
            <a:pPr lvl="1" marL="696595" indent="-272415">
              <a:lnSpc>
                <a:spcPct val="100000"/>
              </a:lnSpc>
              <a:spcBef>
                <a:spcPts val="1340"/>
              </a:spcBef>
              <a:buSzPct val="88636"/>
              <a:buFont typeface="Wingdings"/>
              <a:buChar char=""/>
              <a:tabLst>
                <a:tab pos="696595" algn="l"/>
              </a:tabLst>
            </a:pPr>
            <a:r>
              <a:rPr dirty="0" sz="2200" spc="-35">
                <a:solidFill>
                  <a:srgbClr val="006FC0"/>
                </a:solidFill>
                <a:latin typeface="黑体"/>
                <a:cs typeface="黑体"/>
              </a:rPr>
              <a:t>两者之间的取舍实质上是程序大小和处理器译码难度之间的取舍</a:t>
            </a:r>
            <a:endParaRPr sz="2200">
              <a:latin typeface="黑体"/>
              <a:cs typeface="黑体"/>
            </a:endParaRPr>
          </a:p>
          <a:p>
            <a:pPr lvl="1" marL="696595" marR="5080" indent="-273050">
              <a:lnSpc>
                <a:spcPct val="130000"/>
              </a:lnSpc>
              <a:spcBef>
                <a:spcPts val="530"/>
              </a:spcBef>
              <a:buSzPct val="88636"/>
              <a:buFont typeface="Wingdings"/>
              <a:buChar char=""/>
              <a:tabLst>
                <a:tab pos="696595" algn="l"/>
              </a:tabLst>
            </a:pPr>
            <a:r>
              <a:rPr dirty="0" sz="2200" spc="-35">
                <a:solidFill>
                  <a:srgbClr val="006FC0"/>
                </a:solidFill>
                <a:latin typeface="黑体"/>
                <a:cs typeface="黑体"/>
              </a:rPr>
              <a:t>变长编码总是试图用最少的位数来表示程序，但是每条指令在指令长度机器可操作上有很大的差别。</a:t>
            </a:r>
            <a:endParaRPr sz="2200">
              <a:latin typeface="黑体"/>
              <a:cs typeface="黑体"/>
            </a:endParaRPr>
          </a:p>
          <a:p>
            <a:pPr marL="354965" indent="-342265">
              <a:lnSpc>
                <a:spcPct val="100000"/>
              </a:lnSpc>
              <a:spcBef>
                <a:spcPts val="1060"/>
              </a:spcBef>
              <a:buClr>
                <a:srgbClr val="40458B"/>
              </a:buClr>
              <a:buSzPct val="114285"/>
              <a:buFont typeface="Wingdings"/>
              <a:buChar char=""/>
              <a:tabLst>
                <a:tab pos="354965" algn="l"/>
              </a:tabLst>
            </a:pPr>
            <a:r>
              <a:rPr dirty="0" sz="2800" spc="-40">
                <a:solidFill>
                  <a:srgbClr val="172152"/>
                </a:solidFill>
                <a:latin typeface="黑体"/>
                <a:cs typeface="黑体"/>
              </a:rPr>
              <a:t>指令系统编码总结</a:t>
            </a:r>
            <a:endParaRPr sz="2800">
              <a:latin typeface="黑体"/>
              <a:cs typeface="黑体"/>
            </a:endParaRPr>
          </a:p>
          <a:p>
            <a:pPr lvl="1" marL="696595" indent="-272415">
              <a:lnSpc>
                <a:spcPct val="100000"/>
              </a:lnSpc>
              <a:spcBef>
                <a:spcPts val="1340"/>
              </a:spcBef>
              <a:buSzPct val="88636"/>
              <a:buFont typeface="Wingdings"/>
              <a:buChar char=""/>
              <a:tabLst>
                <a:tab pos="696595" algn="l"/>
              </a:tabLst>
            </a:pPr>
            <a:r>
              <a:rPr dirty="0" sz="2200" spc="-30">
                <a:solidFill>
                  <a:srgbClr val="006FC0"/>
                </a:solidFill>
                <a:latin typeface="黑体"/>
                <a:cs typeface="黑体"/>
              </a:rPr>
              <a:t>关注生成代码量的大小</a:t>
            </a:r>
            <a:r>
              <a:rPr dirty="0" sz="2200" spc="-25">
                <a:solidFill>
                  <a:srgbClr val="006FC0"/>
                </a:solidFill>
                <a:latin typeface="Tahoma"/>
                <a:cs typeface="Tahoma"/>
              </a:rPr>
              <a:t>---</a:t>
            </a:r>
            <a:r>
              <a:rPr dirty="0" sz="2200" spc="-30">
                <a:solidFill>
                  <a:srgbClr val="006FC0"/>
                </a:solidFill>
                <a:latin typeface="黑体"/>
                <a:cs typeface="黑体"/>
              </a:rPr>
              <a:t>选择变长编码方法（代码量最小）</a:t>
            </a:r>
            <a:r>
              <a:rPr dirty="0" sz="2200" spc="-50">
                <a:solidFill>
                  <a:srgbClr val="006FC0"/>
                </a:solidFill>
                <a:latin typeface="黑体"/>
                <a:cs typeface="黑体"/>
              </a:rPr>
              <a:t>。</a:t>
            </a:r>
            <a:endParaRPr sz="2200">
              <a:latin typeface="黑体"/>
              <a:cs typeface="黑体"/>
            </a:endParaRPr>
          </a:p>
          <a:p>
            <a:pPr lvl="1" marL="696595" indent="-272415">
              <a:lnSpc>
                <a:spcPct val="100000"/>
              </a:lnSpc>
              <a:spcBef>
                <a:spcPts val="1320"/>
              </a:spcBef>
              <a:buSzPct val="88636"/>
              <a:buFont typeface="Wingdings"/>
              <a:buChar char=""/>
              <a:tabLst>
                <a:tab pos="696595" algn="l"/>
                <a:tab pos="3368675" algn="l"/>
              </a:tabLst>
            </a:pPr>
            <a:r>
              <a:rPr dirty="0" sz="2200" spc="-25">
                <a:solidFill>
                  <a:srgbClr val="006FC0"/>
                </a:solidFill>
                <a:latin typeface="黑体"/>
                <a:cs typeface="黑体"/>
              </a:rPr>
              <a:t>关注程序运</a:t>
            </a:r>
            <a:r>
              <a:rPr dirty="0" sz="2200" spc="-30">
                <a:solidFill>
                  <a:srgbClr val="006FC0"/>
                </a:solidFill>
                <a:latin typeface="黑体"/>
                <a:cs typeface="黑体"/>
              </a:rPr>
              <a:t>行性</a:t>
            </a:r>
            <a:r>
              <a:rPr dirty="0" sz="2200" spc="-50">
                <a:solidFill>
                  <a:srgbClr val="006FC0"/>
                </a:solidFill>
                <a:latin typeface="黑体"/>
                <a:cs typeface="黑体"/>
              </a:rPr>
              <a:t>能</a:t>
            </a:r>
            <a:r>
              <a:rPr dirty="0" sz="2200">
                <a:solidFill>
                  <a:srgbClr val="006FC0"/>
                </a:solidFill>
                <a:latin typeface="黑体"/>
                <a:cs typeface="黑体"/>
              </a:rPr>
              <a:t>	</a:t>
            </a:r>
            <a:r>
              <a:rPr dirty="0" sz="2200" spc="-25">
                <a:solidFill>
                  <a:srgbClr val="006FC0"/>
                </a:solidFill>
                <a:latin typeface="Tahoma"/>
                <a:cs typeface="Tahoma"/>
              </a:rPr>
              <a:t>----</a:t>
            </a:r>
            <a:r>
              <a:rPr dirty="0" sz="2200" spc="-25">
                <a:solidFill>
                  <a:srgbClr val="006FC0"/>
                </a:solidFill>
                <a:latin typeface="黑体"/>
                <a:cs typeface="黑体"/>
              </a:rPr>
              <a:t>选择定长编码方法</a:t>
            </a:r>
            <a:r>
              <a:rPr dirty="0" sz="2200" spc="-50">
                <a:solidFill>
                  <a:srgbClr val="006FC0"/>
                </a:solidFill>
                <a:latin typeface="黑体"/>
                <a:cs typeface="黑体"/>
              </a:rPr>
              <a:t>。</a:t>
            </a:r>
            <a:endParaRPr sz="2200">
              <a:latin typeface="黑体"/>
              <a:cs typeface="黑体"/>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2707894" y="1958720"/>
            <a:ext cx="7634605" cy="169163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2.4.1</a:t>
            </a:r>
            <a:r>
              <a:rPr dirty="0" sz="2600" spc="5">
                <a:solidFill>
                  <a:srgbClr val="0000CC"/>
                </a:solidFill>
                <a:latin typeface="黑体"/>
                <a:cs typeface="黑体"/>
              </a:rPr>
              <a:t> 沿</a:t>
            </a:r>
            <a:r>
              <a:rPr dirty="0" sz="2600" spc="-10">
                <a:solidFill>
                  <a:srgbClr val="0000CC"/>
                </a:solidFill>
                <a:latin typeface="黑体"/>
                <a:cs typeface="黑体"/>
              </a:rPr>
              <a:t>CISC方向发展和改进指令系统</a:t>
            </a:r>
            <a:r>
              <a:rPr dirty="0" sz="2600" spc="-10">
                <a:solidFill>
                  <a:srgbClr val="FF0000"/>
                </a:solidFill>
                <a:latin typeface="黑体"/>
                <a:cs typeface="黑体"/>
              </a:rPr>
              <a:t>(关注功能</a:t>
            </a:r>
            <a:r>
              <a:rPr dirty="0" sz="2600" spc="-50">
                <a:solidFill>
                  <a:srgbClr val="FF0000"/>
                </a:solidFill>
                <a:latin typeface="黑体"/>
                <a:cs typeface="黑体"/>
              </a:rPr>
              <a:t>）</a:t>
            </a:r>
            <a:endParaRPr sz="2600">
              <a:latin typeface="黑体"/>
              <a:cs typeface="黑体"/>
            </a:endParaRPr>
          </a:p>
          <a:p>
            <a:pPr>
              <a:lnSpc>
                <a:spcPct val="100000"/>
              </a:lnSpc>
            </a:pPr>
            <a:endParaRPr sz="2600">
              <a:latin typeface="黑体"/>
              <a:cs typeface="黑体"/>
            </a:endParaRPr>
          </a:p>
          <a:p>
            <a:pPr>
              <a:lnSpc>
                <a:spcPct val="100000"/>
              </a:lnSpc>
              <a:spcBef>
                <a:spcPts val="110"/>
              </a:spcBef>
            </a:pPr>
            <a:endParaRPr sz="2600">
              <a:latin typeface="黑体"/>
              <a:cs typeface="黑体"/>
            </a:endParaRPr>
          </a:p>
          <a:p>
            <a:pPr marL="23495">
              <a:lnSpc>
                <a:spcPct val="100000"/>
              </a:lnSpc>
            </a:pPr>
            <a:r>
              <a:rPr dirty="0" sz="2600">
                <a:solidFill>
                  <a:srgbClr val="0000CC"/>
                </a:solidFill>
                <a:latin typeface="黑体"/>
                <a:cs typeface="黑体"/>
              </a:rPr>
              <a:t>2.4.1</a:t>
            </a:r>
            <a:r>
              <a:rPr dirty="0" sz="2600" spc="5">
                <a:solidFill>
                  <a:srgbClr val="0000CC"/>
                </a:solidFill>
                <a:latin typeface="黑体"/>
                <a:cs typeface="黑体"/>
              </a:rPr>
              <a:t> 沿</a:t>
            </a:r>
            <a:r>
              <a:rPr dirty="0" sz="2600" spc="-10">
                <a:solidFill>
                  <a:srgbClr val="0000CC"/>
                </a:solidFill>
                <a:latin typeface="黑体"/>
                <a:cs typeface="黑体"/>
              </a:rPr>
              <a:t>RISC</a:t>
            </a:r>
            <a:r>
              <a:rPr dirty="0" sz="2600" spc="-5">
                <a:solidFill>
                  <a:srgbClr val="0000CC"/>
                </a:solidFill>
                <a:latin typeface="黑体"/>
                <a:cs typeface="黑体"/>
              </a:rPr>
              <a:t>方向发展和改进指令系统</a:t>
            </a:r>
            <a:r>
              <a:rPr dirty="0" sz="2600">
                <a:solidFill>
                  <a:srgbClr val="FF0000"/>
                </a:solidFill>
                <a:latin typeface="黑体"/>
                <a:cs typeface="黑体"/>
              </a:rPr>
              <a:t>（</a:t>
            </a:r>
            <a:r>
              <a:rPr dirty="0" sz="2600" spc="-5">
                <a:solidFill>
                  <a:srgbClr val="FF0000"/>
                </a:solidFill>
                <a:latin typeface="黑体"/>
                <a:cs typeface="黑体"/>
              </a:rPr>
              <a:t>关注速度</a:t>
            </a:r>
            <a:r>
              <a:rPr dirty="0" sz="2600" spc="-50">
                <a:solidFill>
                  <a:srgbClr val="FF0000"/>
                </a:solidFill>
                <a:latin typeface="黑体"/>
                <a:cs typeface="黑体"/>
              </a:rPr>
              <a:t>）</a:t>
            </a:r>
            <a:endParaRPr sz="2600">
              <a:latin typeface="黑体"/>
              <a:cs typeface="黑体"/>
            </a:endParaRPr>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567815" algn="l"/>
                <a:tab pos="11028045" algn="l"/>
              </a:tabLst>
            </a:pPr>
            <a:r>
              <a:rPr dirty="0">
                <a:solidFill>
                  <a:srgbClr val="001F5F"/>
                </a:solidFill>
              </a:rPr>
              <a:t>	2.4</a:t>
            </a:r>
            <a:r>
              <a:rPr dirty="0" spc="10">
                <a:solidFill>
                  <a:srgbClr val="001F5F"/>
                </a:solidFill>
              </a:rPr>
              <a:t> </a:t>
            </a:r>
            <a:r>
              <a:rPr dirty="0" spc="-10">
                <a:solidFill>
                  <a:srgbClr val="001F5F"/>
                </a:solidFill>
                <a:latin typeface="微软雅黑"/>
                <a:cs typeface="微软雅黑"/>
              </a:rPr>
              <a:t>指令系统的发展和改</a:t>
            </a:r>
            <a:r>
              <a:rPr dirty="0" spc="-50">
                <a:solidFill>
                  <a:srgbClr val="001F5F"/>
                </a:solidFill>
                <a:latin typeface="微软雅黑"/>
                <a:cs typeface="微软雅黑"/>
              </a:rPr>
              <a:t>进</a:t>
            </a:r>
            <a:r>
              <a:rPr dirty="0">
                <a:solidFill>
                  <a:srgbClr val="001F5F"/>
                </a:solidFill>
                <a:latin typeface="微软雅黑"/>
                <a:cs typeface="微软雅黑"/>
              </a:rPr>
              <a:t>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567815" algn="l"/>
                <a:tab pos="11028045" algn="l"/>
              </a:tabLst>
            </a:pPr>
            <a:r>
              <a:rPr dirty="0">
                <a:solidFill>
                  <a:srgbClr val="001F5F"/>
                </a:solidFill>
              </a:rPr>
              <a:t>	2.4</a:t>
            </a:r>
            <a:r>
              <a:rPr dirty="0" spc="10">
                <a:solidFill>
                  <a:srgbClr val="001F5F"/>
                </a:solidFill>
              </a:rPr>
              <a:t> </a:t>
            </a:r>
            <a:r>
              <a:rPr dirty="0" spc="-10">
                <a:solidFill>
                  <a:srgbClr val="001F5F"/>
                </a:solidFill>
                <a:latin typeface="微软雅黑"/>
                <a:cs typeface="微软雅黑"/>
              </a:rPr>
              <a:t>指令系统的发展和改</a:t>
            </a:r>
            <a:r>
              <a:rPr dirty="0" spc="-50">
                <a:solidFill>
                  <a:srgbClr val="001F5F"/>
                </a:solidFill>
                <a:latin typeface="微软雅黑"/>
                <a:cs typeface="微软雅黑"/>
              </a:rPr>
              <a:t>进</a:t>
            </a:r>
            <a:r>
              <a:rPr dirty="0">
                <a:solidFill>
                  <a:srgbClr val="001F5F"/>
                </a:solidFill>
                <a:latin typeface="微软雅黑"/>
                <a:cs typeface="微软雅黑"/>
              </a:rPr>
              <a:t>	</a:t>
            </a:r>
          </a:p>
        </p:txBody>
      </p:sp>
      <p:sp>
        <p:nvSpPr>
          <p:cNvPr id="4" name="object 4" descr=""/>
          <p:cNvSpPr txBox="1"/>
          <p:nvPr/>
        </p:nvSpPr>
        <p:spPr>
          <a:xfrm>
            <a:off x="1833498" y="590177"/>
            <a:ext cx="8830945" cy="5688330"/>
          </a:xfrm>
          <a:prstGeom prst="rect">
            <a:avLst/>
          </a:prstGeom>
        </p:spPr>
        <p:txBody>
          <a:bodyPr wrap="square" lIns="0" tIns="201930" rIns="0" bIns="0" rtlCol="0" vert="horz">
            <a:spAutoFit/>
          </a:bodyPr>
          <a:lstStyle/>
          <a:p>
            <a:pPr marL="3201670">
              <a:lnSpc>
                <a:spcPct val="100000"/>
              </a:lnSpc>
              <a:spcBef>
                <a:spcPts val="1590"/>
              </a:spcBef>
            </a:pPr>
            <a:r>
              <a:rPr dirty="0" sz="2600">
                <a:solidFill>
                  <a:srgbClr val="0000CC"/>
                </a:solidFill>
                <a:latin typeface="黑体"/>
                <a:cs typeface="黑体"/>
              </a:rPr>
              <a:t>2.4.1</a:t>
            </a:r>
            <a:r>
              <a:rPr dirty="0" sz="2600" spc="10">
                <a:solidFill>
                  <a:srgbClr val="0000CC"/>
                </a:solidFill>
                <a:latin typeface="黑体"/>
                <a:cs typeface="黑体"/>
              </a:rPr>
              <a:t> 沿</a:t>
            </a:r>
            <a:r>
              <a:rPr dirty="0" sz="2600" spc="-10">
                <a:solidFill>
                  <a:srgbClr val="0000CC"/>
                </a:solidFill>
                <a:latin typeface="黑体"/>
                <a:cs typeface="黑体"/>
              </a:rPr>
              <a:t>CISC</a:t>
            </a:r>
            <a:r>
              <a:rPr dirty="0" sz="2600" spc="-15">
                <a:solidFill>
                  <a:srgbClr val="0000CC"/>
                </a:solidFill>
                <a:latin typeface="黑体"/>
                <a:cs typeface="黑体"/>
              </a:rPr>
              <a:t>方向发展和改进指令系统</a:t>
            </a:r>
            <a:endParaRPr sz="2600">
              <a:latin typeface="黑体"/>
              <a:cs typeface="黑体"/>
            </a:endParaRPr>
          </a:p>
          <a:p>
            <a:pPr marL="633730" indent="-456565">
              <a:lnSpc>
                <a:spcPct val="100000"/>
              </a:lnSpc>
              <a:spcBef>
                <a:spcPts val="2445"/>
              </a:spcBef>
              <a:buClr>
                <a:srgbClr val="40458B"/>
              </a:buClr>
              <a:buSzPct val="117857"/>
              <a:buFont typeface="Wingdings"/>
              <a:buChar char=""/>
              <a:tabLst>
                <a:tab pos="633730" algn="l"/>
              </a:tabLst>
            </a:pPr>
            <a:r>
              <a:rPr dirty="0" sz="2800" spc="-15">
                <a:solidFill>
                  <a:srgbClr val="172152"/>
                </a:solidFill>
                <a:latin typeface="Tahoma"/>
                <a:cs typeface="Tahoma"/>
              </a:rPr>
              <a:t>CISC</a:t>
            </a:r>
            <a:r>
              <a:rPr dirty="0" sz="2800" spc="-25">
                <a:solidFill>
                  <a:srgbClr val="172152"/>
                </a:solidFill>
                <a:latin typeface="黑体"/>
                <a:cs typeface="黑体"/>
              </a:rPr>
              <a:t>指令系统的</a:t>
            </a:r>
            <a:r>
              <a:rPr dirty="0" sz="2800" spc="-35">
                <a:solidFill>
                  <a:srgbClr val="D50092"/>
                </a:solidFill>
                <a:latin typeface="黑体"/>
                <a:cs typeface="黑体"/>
              </a:rPr>
              <a:t>一大特点</a:t>
            </a:r>
            <a:endParaRPr sz="2800">
              <a:latin typeface="黑体"/>
              <a:cs typeface="黑体"/>
            </a:endParaRPr>
          </a:p>
          <a:p>
            <a:pPr marL="1242695">
              <a:lnSpc>
                <a:spcPct val="100000"/>
              </a:lnSpc>
              <a:spcBef>
                <a:spcPts val="1440"/>
              </a:spcBef>
            </a:pPr>
            <a:r>
              <a:rPr dirty="0" sz="2200" spc="-35">
                <a:solidFill>
                  <a:srgbClr val="006FC0"/>
                </a:solidFill>
                <a:latin typeface="黑体"/>
                <a:cs typeface="黑体"/>
              </a:rPr>
              <a:t>指令数量多、功能多样</a:t>
            </a:r>
            <a:endParaRPr sz="2200">
              <a:latin typeface="黑体"/>
              <a:cs typeface="黑体"/>
            </a:endParaRPr>
          </a:p>
          <a:p>
            <a:pPr marL="177165">
              <a:lnSpc>
                <a:spcPct val="100000"/>
              </a:lnSpc>
              <a:spcBef>
                <a:spcPts val="1560"/>
              </a:spcBef>
            </a:pPr>
            <a:r>
              <a:rPr dirty="0" sz="2800" spc="-30">
                <a:solidFill>
                  <a:srgbClr val="172152"/>
                </a:solidFill>
                <a:latin typeface="黑体"/>
                <a:cs typeface="黑体"/>
              </a:rPr>
              <a:t>主要是从以下</a:t>
            </a:r>
            <a:r>
              <a:rPr dirty="0" sz="2800" spc="-10">
                <a:solidFill>
                  <a:srgbClr val="FF0000"/>
                </a:solidFill>
                <a:latin typeface="Tahoma"/>
                <a:cs typeface="Tahoma"/>
              </a:rPr>
              <a:t>3</a:t>
            </a:r>
            <a:r>
              <a:rPr dirty="0" sz="2800" spc="-35">
                <a:solidFill>
                  <a:srgbClr val="FF0000"/>
                </a:solidFill>
                <a:latin typeface="黑体"/>
                <a:cs typeface="黑体"/>
              </a:rPr>
              <a:t>个方面</a:t>
            </a:r>
            <a:r>
              <a:rPr dirty="0" sz="2800" spc="-40">
                <a:solidFill>
                  <a:srgbClr val="172152"/>
                </a:solidFill>
                <a:latin typeface="黑体"/>
                <a:cs typeface="黑体"/>
              </a:rPr>
              <a:t>着手改进：</a:t>
            </a:r>
            <a:endParaRPr sz="2800">
              <a:latin typeface="黑体"/>
              <a:cs typeface="黑体"/>
            </a:endParaRPr>
          </a:p>
          <a:p>
            <a:pPr lvl="1" marL="1920875" indent="-741045">
              <a:lnSpc>
                <a:spcPct val="100000"/>
              </a:lnSpc>
              <a:spcBef>
                <a:spcPts val="1350"/>
              </a:spcBef>
              <a:buAutoNum type="arabicPlain"/>
              <a:tabLst>
                <a:tab pos="1920875" algn="l"/>
              </a:tabLst>
            </a:pPr>
            <a:r>
              <a:rPr dirty="0" sz="2000" spc="-15" b="1">
                <a:latin typeface="宋体"/>
                <a:cs typeface="宋体"/>
              </a:rPr>
              <a:t>面向目标程序增强指令功能</a:t>
            </a:r>
            <a:endParaRPr sz="2000">
              <a:latin typeface="宋体"/>
              <a:cs typeface="宋体"/>
            </a:endParaRPr>
          </a:p>
          <a:p>
            <a:pPr lvl="1" marL="1924050" indent="-669290">
              <a:lnSpc>
                <a:spcPct val="100000"/>
              </a:lnSpc>
              <a:spcBef>
                <a:spcPts val="1205"/>
              </a:spcBef>
              <a:buAutoNum type="arabicPlain"/>
              <a:tabLst>
                <a:tab pos="1924050" algn="l"/>
              </a:tabLst>
            </a:pPr>
            <a:r>
              <a:rPr dirty="0" sz="2000" spc="-25" b="1">
                <a:latin typeface="宋体"/>
                <a:cs typeface="宋体"/>
              </a:rPr>
              <a:t>面向高级语言的优化实现来改进指令系统</a:t>
            </a:r>
            <a:endParaRPr sz="2000">
              <a:latin typeface="宋体"/>
              <a:cs typeface="宋体"/>
            </a:endParaRPr>
          </a:p>
          <a:p>
            <a:pPr lvl="1" marL="1924050" indent="-669290">
              <a:lnSpc>
                <a:spcPct val="100000"/>
              </a:lnSpc>
              <a:spcBef>
                <a:spcPts val="1200"/>
              </a:spcBef>
              <a:buAutoNum type="arabicPlain"/>
              <a:tabLst>
                <a:tab pos="1924050" algn="l"/>
              </a:tabLst>
            </a:pPr>
            <a:r>
              <a:rPr dirty="0" sz="2000" spc="-25" b="1">
                <a:latin typeface="宋体"/>
                <a:cs typeface="宋体"/>
              </a:rPr>
              <a:t>面向操作系统的优化实现改进指令系统</a:t>
            </a:r>
            <a:endParaRPr sz="2000">
              <a:latin typeface="宋体"/>
              <a:cs typeface="宋体"/>
            </a:endParaRPr>
          </a:p>
          <a:p>
            <a:pPr>
              <a:lnSpc>
                <a:spcPct val="100000"/>
              </a:lnSpc>
              <a:spcBef>
                <a:spcPts val="900"/>
              </a:spcBef>
            </a:pPr>
            <a:endParaRPr sz="2000">
              <a:latin typeface="宋体"/>
              <a:cs typeface="宋体"/>
            </a:endParaRPr>
          </a:p>
          <a:p>
            <a:pPr marL="283210" indent="-270510">
              <a:lnSpc>
                <a:spcPct val="100000"/>
              </a:lnSpc>
              <a:spcBef>
                <a:spcPts val="5"/>
              </a:spcBef>
              <a:buClr>
                <a:srgbClr val="006FC0"/>
              </a:buClr>
              <a:buSzPct val="89285"/>
              <a:buFont typeface="Wingdings"/>
              <a:buChar char=""/>
              <a:tabLst>
                <a:tab pos="283210" algn="l"/>
              </a:tabLst>
            </a:pPr>
            <a:r>
              <a:rPr dirty="0" sz="2800" spc="-25">
                <a:solidFill>
                  <a:srgbClr val="172152"/>
                </a:solidFill>
                <a:latin typeface="黑体"/>
                <a:cs typeface="黑体"/>
              </a:rPr>
              <a:t>（</a:t>
            </a:r>
            <a:r>
              <a:rPr dirty="0" sz="2800" spc="-25">
                <a:solidFill>
                  <a:srgbClr val="172152"/>
                </a:solidFill>
                <a:latin typeface="Tahoma"/>
                <a:cs typeface="Tahoma"/>
              </a:rPr>
              <a:t>1</a:t>
            </a:r>
            <a:r>
              <a:rPr dirty="0" sz="2800" spc="-25">
                <a:solidFill>
                  <a:srgbClr val="172152"/>
                </a:solidFill>
                <a:latin typeface="黑体"/>
                <a:cs typeface="黑体"/>
              </a:rPr>
              <a:t>）</a:t>
            </a:r>
            <a:r>
              <a:rPr dirty="0" sz="2800" spc="-40">
                <a:solidFill>
                  <a:srgbClr val="172152"/>
                </a:solidFill>
                <a:latin typeface="黑体"/>
                <a:cs typeface="黑体"/>
              </a:rPr>
              <a:t>面向目标程序增强指令功能</a:t>
            </a:r>
            <a:endParaRPr sz="2800">
              <a:latin typeface="黑体"/>
              <a:cs typeface="黑体"/>
            </a:endParaRPr>
          </a:p>
          <a:p>
            <a:pPr lvl="1" marL="895985" indent="-357505">
              <a:lnSpc>
                <a:spcPct val="100000"/>
              </a:lnSpc>
              <a:spcBef>
                <a:spcPts val="1350"/>
              </a:spcBef>
              <a:buClr>
                <a:srgbClr val="4668F5"/>
              </a:buClr>
              <a:buSzPct val="72500"/>
              <a:buFont typeface="Wingdings"/>
              <a:buChar char=""/>
              <a:tabLst>
                <a:tab pos="895985" algn="l"/>
              </a:tabLst>
            </a:pPr>
            <a:r>
              <a:rPr dirty="0" sz="2000" spc="-25" b="1">
                <a:solidFill>
                  <a:srgbClr val="6F2F9F"/>
                </a:solidFill>
                <a:latin typeface="黑体"/>
                <a:cs typeface="黑体"/>
              </a:rPr>
              <a:t>提高系统性能最直接的方法</a:t>
            </a:r>
            <a:endParaRPr sz="2000">
              <a:latin typeface="黑体"/>
              <a:cs typeface="黑体"/>
            </a:endParaRPr>
          </a:p>
          <a:p>
            <a:pPr lvl="1" marL="895985" indent="-357505">
              <a:lnSpc>
                <a:spcPct val="100000"/>
              </a:lnSpc>
              <a:spcBef>
                <a:spcPts val="1200"/>
              </a:spcBef>
              <a:buClr>
                <a:srgbClr val="4668F5"/>
              </a:buClr>
              <a:buSzPct val="72500"/>
              <a:buFont typeface="Wingdings"/>
              <a:buChar char=""/>
              <a:tabLst>
                <a:tab pos="895985" algn="l"/>
              </a:tabLst>
            </a:pPr>
            <a:r>
              <a:rPr dirty="0" sz="2000" spc="-15" b="1">
                <a:solidFill>
                  <a:srgbClr val="FF0000"/>
                </a:solidFill>
                <a:latin typeface="黑体"/>
                <a:cs typeface="黑体"/>
              </a:rPr>
              <a:t>目的：</a:t>
            </a:r>
            <a:r>
              <a:rPr dirty="0" sz="2000" spc="-25" b="1">
                <a:solidFill>
                  <a:srgbClr val="6F2F9F"/>
                </a:solidFill>
                <a:latin typeface="黑体"/>
                <a:cs typeface="黑体"/>
              </a:rPr>
              <a:t>既能减少目标程序的执行时间，也能有效地缩短程序的长度。</a:t>
            </a:r>
            <a:endParaRPr sz="2000">
              <a:latin typeface="黑体"/>
              <a:cs typeface="黑体"/>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906651" y="1091344"/>
            <a:ext cx="8398510" cy="3338829"/>
          </a:xfrm>
          <a:prstGeom prst="rect">
            <a:avLst/>
          </a:prstGeom>
        </p:spPr>
        <p:txBody>
          <a:bodyPr wrap="square" lIns="0" tIns="203200" rIns="0" bIns="0" rtlCol="0" vert="horz">
            <a:spAutoFit/>
          </a:bodyPr>
          <a:lstStyle/>
          <a:p>
            <a:pPr marL="459105" indent="-446405">
              <a:lnSpc>
                <a:spcPct val="100000"/>
              </a:lnSpc>
              <a:spcBef>
                <a:spcPts val="1600"/>
              </a:spcBef>
              <a:buClr>
                <a:srgbClr val="006FC0"/>
              </a:buClr>
              <a:buSzPct val="81250"/>
              <a:buFont typeface="Wingdings"/>
              <a:buChar char=""/>
              <a:tabLst>
                <a:tab pos="459105" algn="l"/>
              </a:tabLst>
            </a:pPr>
            <a:r>
              <a:rPr dirty="0" sz="2400" spc="-10">
                <a:solidFill>
                  <a:srgbClr val="172152"/>
                </a:solidFill>
                <a:latin typeface="黑体"/>
                <a:cs typeface="黑体"/>
              </a:rPr>
              <a:t>（</a:t>
            </a:r>
            <a:r>
              <a:rPr dirty="0" sz="2400" spc="-10">
                <a:solidFill>
                  <a:srgbClr val="172152"/>
                </a:solidFill>
                <a:latin typeface="Tahoma"/>
                <a:cs typeface="Tahoma"/>
              </a:rPr>
              <a:t>1</a:t>
            </a:r>
            <a:r>
              <a:rPr dirty="0" sz="2400" spc="-10">
                <a:solidFill>
                  <a:srgbClr val="172152"/>
                </a:solidFill>
                <a:latin typeface="黑体"/>
                <a:cs typeface="黑体"/>
              </a:rPr>
              <a:t>）</a:t>
            </a:r>
            <a:r>
              <a:rPr dirty="0" sz="2400" spc="-15">
                <a:solidFill>
                  <a:srgbClr val="172152"/>
                </a:solidFill>
                <a:latin typeface="黑体"/>
                <a:cs typeface="黑体"/>
              </a:rPr>
              <a:t>面向目标程序增强指令功能</a:t>
            </a:r>
            <a:endParaRPr sz="2400">
              <a:latin typeface="黑体"/>
              <a:cs typeface="黑体"/>
            </a:endParaRPr>
          </a:p>
          <a:p>
            <a:pPr algn="just" marL="285115" marR="5080" indent="-273050">
              <a:lnSpc>
                <a:spcPct val="130000"/>
              </a:lnSpc>
              <a:spcBef>
                <a:spcPts val="575"/>
              </a:spcBef>
              <a:buSzPct val="88636"/>
              <a:buFont typeface="Wingdings"/>
              <a:buChar char=""/>
              <a:tabLst>
                <a:tab pos="285115" algn="l"/>
                <a:tab pos="459740" algn="l"/>
              </a:tabLst>
            </a:pPr>
            <a:r>
              <a:rPr dirty="0" sz="2200">
                <a:solidFill>
                  <a:srgbClr val="006FC0"/>
                </a:solidFill>
                <a:latin typeface="黑体"/>
                <a:cs typeface="黑体"/>
              </a:rPr>
              <a:t>	</a:t>
            </a:r>
            <a:r>
              <a:rPr dirty="0" sz="2200" spc="-70">
                <a:solidFill>
                  <a:srgbClr val="006FC0"/>
                </a:solidFill>
                <a:latin typeface="黑体"/>
                <a:cs typeface="黑体"/>
              </a:rPr>
              <a:t>途径： 根据执行情况统计，对频度进行分析</a:t>
            </a:r>
            <a:r>
              <a:rPr dirty="0" sz="2200" spc="-20">
                <a:solidFill>
                  <a:srgbClr val="006FC0"/>
                </a:solidFill>
                <a:latin typeface="黑体"/>
                <a:cs typeface="黑体"/>
              </a:rPr>
              <a:t>（</a:t>
            </a:r>
            <a:r>
              <a:rPr dirty="0" sz="2200" spc="-25">
                <a:solidFill>
                  <a:srgbClr val="006FC0"/>
                </a:solidFill>
                <a:latin typeface="黑体"/>
                <a:cs typeface="黑体"/>
              </a:rPr>
              <a:t>例如操作优化），分析哪些功能仍用基本指令串实现，哪些功能可改用新指令，哪些可提高机器语言目标程序的实现效率等</a:t>
            </a:r>
            <a:endParaRPr sz="2200">
              <a:latin typeface="黑体"/>
              <a:cs typeface="黑体"/>
            </a:endParaRPr>
          </a:p>
          <a:p>
            <a:pPr algn="just" lvl="1" marL="895350" indent="-358775">
              <a:lnSpc>
                <a:spcPct val="100000"/>
              </a:lnSpc>
              <a:spcBef>
                <a:spcPts val="1235"/>
              </a:spcBef>
              <a:buClr>
                <a:srgbClr val="4668F5"/>
              </a:buClr>
              <a:buSzPct val="72500"/>
              <a:buFont typeface="Wingdings"/>
              <a:buChar char=""/>
              <a:tabLst>
                <a:tab pos="895350" algn="l"/>
              </a:tabLst>
            </a:pPr>
            <a:r>
              <a:rPr dirty="0" sz="2000" spc="-25" b="1">
                <a:solidFill>
                  <a:srgbClr val="6F2F9F"/>
                </a:solidFill>
                <a:latin typeface="黑体"/>
                <a:cs typeface="黑体"/>
              </a:rPr>
              <a:t>使用频度高的指令：硬件实现加快其执行</a:t>
            </a:r>
            <a:endParaRPr sz="2000">
              <a:latin typeface="黑体"/>
              <a:cs typeface="黑体"/>
            </a:endParaRPr>
          </a:p>
          <a:p>
            <a:pPr algn="just" lvl="1" marL="895350" indent="-358775">
              <a:lnSpc>
                <a:spcPct val="100000"/>
              </a:lnSpc>
              <a:spcBef>
                <a:spcPts val="1200"/>
              </a:spcBef>
              <a:buClr>
                <a:srgbClr val="4668F5"/>
              </a:buClr>
              <a:buSzPct val="72500"/>
              <a:buFont typeface="Wingdings"/>
              <a:buChar char=""/>
              <a:tabLst>
                <a:tab pos="895350" algn="l"/>
              </a:tabLst>
            </a:pPr>
            <a:r>
              <a:rPr dirty="0" sz="2000" spc="-25" b="1">
                <a:solidFill>
                  <a:srgbClr val="6F2F9F"/>
                </a:solidFill>
                <a:latin typeface="黑体"/>
                <a:cs typeface="黑体"/>
              </a:rPr>
              <a:t>高频使用的指令串：用一条指令来实现</a:t>
            </a:r>
            <a:endParaRPr sz="2000">
              <a:latin typeface="黑体"/>
              <a:cs typeface="黑体"/>
            </a:endParaRPr>
          </a:p>
          <a:p>
            <a:pPr marL="536575">
              <a:lnSpc>
                <a:spcPct val="100000"/>
              </a:lnSpc>
              <a:spcBef>
                <a:spcPts val="1200"/>
              </a:spcBef>
            </a:pPr>
            <a:r>
              <a:rPr dirty="0" sz="2000" spc="-25" b="1">
                <a:solidFill>
                  <a:srgbClr val="6F2F9F"/>
                </a:solidFill>
                <a:latin typeface="黑体"/>
                <a:cs typeface="黑体"/>
              </a:rPr>
              <a:t>既能减少目标程序的执行时间，又能有效缩短程序的长度</a:t>
            </a:r>
            <a:endParaRPr sz="2000">
              <a:latin typeface="黑体"/>
              <a:cs typeface="黑体"/>
            </a:endParaRPr>
          </a:p>
        </p:txBody>
      </p:sp>
      <p:sp>
        <p:nvSpPr>
          <p:cNvPr id="4" name="object 4"/>
          <p:cNvSpPr txBox="1">
            <a:spLocks noGrp="1"/>
          </p:cNvSpPr>
          <p:nvPr>
            <p:ph type="title"/>
          </p:nvPr>
        </p:nvSpPr>
        <p:spPr>
          <a:xfrm>
            <a:off x="1163637" y="248234"/>
            <a:ext cx="11041380" cy="514350"/>
          </a:xfrm>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t>	2.4.1</a:t>
            </a:r>
            <a:r>
              <a:rPr dirty="0" spc="40"/>
              <a:t> </a:t>
            </a:r>
            <a:r>
              <a:rPr dirty="0" spc="-30"/>
              <a:t>沿</a:t>
            </a:r>
            <a:r>
              <a:rPr dirty="0" spc="-10"/>
              <a:t>CISC</a:t>
            </a:r>
            <a:r>
              <a:rPr dirty="0" spc="-40"/>
              <a:t>方</a:t>
            </a:r>
            <a:r>
              <a:rPr dirty="0" spc="-25"/>
              <a:t>向</a:t>
            </a:r>
            <a:r>
              <a:rPr dirty="0" spc="-40"/>
              <a:t>发展</a:t>
            </a:r>
            <a:r>
              <a:rPr dirty="0" spc="-30"/>
              <a:t>和</a:t>
            </a:r>
            <a:r>
              <a:rPr dirty="0" spc="-40"/>
              <a:t>改进</a:t>
            </a:r>
            <a:r>
              <a:rPr dirty="0" spc="-30"/>
              <a:t>指</a:t>
            </a:r>
            <a:r>
              <a:rPr dirty="0" spc="-40"/>
              <a:t>令系</a:t>
            </a:r>
            <a:r>
              <a:rPr dirty="0" spc="-50"/>
              <a:t>统</a:t>
            </a:r>
            <a:r>
              <a:rPr dirty="0"/>
              <a:t>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906651" y="1091344"/>
            <a:ext cx="8679180" cy="3305175"/>
          </a:xfrm>
          <a:prstGeom prst="rect">
            <a:avLst/>
          </a:prstGeom>
        </p:spPr>
        <p:txBody>
          <a:bodyPr wrap="square" lIns="0" tIns="203200" rIns="0" bIns="0" rtlCol="0" vert="horz">
            <a:spAutoFit/>
          </a:bodyPr>
          <a:lstStyle/>
          <a:p>
            <a:pPr marL="459105" indent="-446405">
              <a:lnSpc>
                <a:spcPct val="100000"/>
              </a:lnSpc>
              <a:spcBef>
                <a:spcPts val="1600"/>
              </a:spcBef>
              <a:buClr>
                <a:srgbClr val="006FC0"/>
              </a:buClr>
              <a:buSzPct val="81250"/>
              <a:buFont typeface="Wingdings"/>
              <a:buChar char=""/>
              <a:tabLst>
                <a:tab pos="459105" algn="l"/>
              </a:tabLst>
            </a:pPr>
            <a:r>
              <a:rPr dirty="0" sz="2400" spc="-10">
                <a:solidFill>
                  <a:srgbClr val="172152"/>
                </a:solidFill>
                <a:latin typeface="黑体"/>
                <a:cs typeface="黑体"/>
              </a:rPr>
              <a:t>（</a:t>
            </a:r>
            <a:r>
              <a:rPr dirty="0" sz="2400" spc="-10">
                <a:solidFill>
                  <a:srgbClr val="172152"/>
                </a:solidFill>
                <a:latin typeface="Tahoma"/>
                <a:cs typeface="Tahoma"/>
              </a:rPr>
              <a:t>1</a:t>
            </a:r>
            <a:r>
              <a:rPr dirty="0" sz="2400" spc="-10">
                <a:solidFill>
                  <a:srgbClr val="172152"/>
                </a:solidFill>
                <a:latin typeface="黑体"/>
                <a:cs typeface="黑体"/>
              </a:rPr>
              <a:t>）</a:t>
            </a:r>
            <a:r>
              <a:rPr dirty="0" sz="2400" spc="-15">
                <a:solidFill>
                  <a:srgbClr val="172152"/>
                </a:solidFill>
                <a:latin typeface="黑体"/>
                <a:cs typeface="黑体"/>
              </a:rPr>
              <a:t>面向目标程序增强指令功能</a:t>
            </a:r>
            <a:endParaRPr sz="2400">
              <a:latin typeface="黑体"/>
              <a:cs typeface="黑体"/>
            </a:endParaRPr>
          </a:p>
          <a:p>
            <a:pPr marL="371475" indent="-358775">
              <a:lnSpc>
                <a:spcPct val="100000"/>
              </a:lnSpc>
              <a:spcBef>
                <a:spcPts val="1365"/>
              </a:spcBef>
              <a:buSzPct val="88636"/>
              <a:buFont typeface="Wingdings"/>
              <a:buChar char=""/>
              <a:tabLst>
                <a:tab pos="371475" algn="l"/>
              </a:tabLst>
            </a:pPr>
            <a:r>
              <a:rPr dirty="0" sz="2200" spc="-20">
                <a:solidFill>
                  <a:srgbClr val="006FC0"/>
                </a:solidFill>
                <a:latin typeface="黑体"/>
                <a:cs typeface="黑体"/>
              </a:rPr>
              <a:t>可以从以下</a:t>
            </a:r>
            <a:r>
              <a:rPr dirty="0" sz="2200" spc="-20">
                <a:solidFill>
                  <a:srgbClr val="006FC0"/>
                </a:solidFill>
                <a:latin typeface="Tahoma"/>
                <a:cs typeface="Tahoma"/>
              </a:rPr>
              <a:t>3</a:t>
            </a:r>
            <a:r>
              <a:rPr dirty="0" sz="2200" spc="-35">
                <a:solidFill>
                  <a:srgbClr val="006FC0"/>
                </a:solidFill>
                <a:latin typeface="黑体"/>
                <a:cs typeface="黑体"/>
              </a:rPr>
              <a:t>个方面来改进：</a:t>
            </a:r>
            <a:endParaRPr sz="2200">
              <a:latin typeface="黑体"/>
              <a:cs typeface="黑体"/>
            </a:endParaRPr>
          </a:p>
          <a:p>
            <a:pPr lvl="1" marL="1257300" marR="5080" indent="-381000">
              <a:lnSpc>
                <a:spcPct val="110000"/>
              </a:lnSpc>
              <a:spcBef>
                <a:spcPts val="635"/>
              </a:spcBef>
              <a:buClr>
                <a:srgbClr val="64CD80"/>
              </a:buClr>
              <a:buSzPct val="65000"/>
              <a:buFont typeface="Wingdings"/>
              <a:buChar char=""/>
              <a:tabLst>
                <a:tab pos="1257300" algn="l"/>
              </a:tabLst>
            </a:pPr>
            <a:r>
              <a:rPr dirty="0" sz="2000" spc="-20" b="1">
                <a:solidFill>
                  <a:srgbClr val="FF0000"/>
                </a:solidFill>
                <a:latin typeface="宋体"/>
                <a:cs typeface="宋体"/>
              </a:rPr>
              <a:t>增强运算型指令的功能</a:t>
            </a:r>
            <a:r>
              <a:rPr dirty="0" sz="2000" spc="-20" b="1">
                <a:solidFill>
                  <a:srgbClr val="40458B"/>
                </a:solidFill>
                <a:latin typeface="宋体"/>
                <a:cs typeface="宋体"/>
              </a:rPr>
              <a:t>（利用微程序实现代替宏指令或子程序</a:t>
            </a:r>
            <a:r>
              <a:rPr dirty="0" sz="2000" spc="-25" b="1">
                <a:solidFill>
                  <a:srgbClr val="40458B"/>
                </a:solidFill>
                <a:latin typeface="宋体"/>
                <a:cs typeface="宋体"/>
              </a:rPr>
              <a:t>），</a:t>
            </a:r>
            <a:r>
              <a:rPr dirty="0" sz="2000" spc="-10" b="1">
                <a:solidFill>
                  <a:srgbClr val="40458B"/>
                </a:solidFill>
                <a:latin typeface="宋体"/>
                <a:cs typeface="宋体"/>
              </a:rPr>
              <a:t>再例如一条多项式指令实现</a:t>
            </a:r>
            <a:r>
              <a:rPr dirty="0" sz="2000" spc="-10" b="1">
                <a:solidFill>
                  <a:srgbClr val="40458B"/>
                </a:solidFill>
                <a:latin typeface="Tahoma"/>
                <a:cs typeface="Tahoma"/>
              </a:rPr>
              <a:t>a*b+c</a:t>
            </a:r>
            <a:endParaRPr sz="2000">
              <a:latin typeface="Tahoma"/>
              <a:cs typeface="Tahoma"/>
            </a:endParaRPr>
          </a:p>
          <a:p>
            <a:pPr lvl="1" marL="1257300" marR="255904" indent="-381000">
              <a:lnSpc>
                <a:spcPct val="110000"/>
              </a:lnSpc>
              <a:spcBef>
                <a:spcPts val="480"/>
              </a:spcBef>
              <a:buClr>
                <a:srgbClr val="64CD80"/>
              </a:buClr>
              <a:buSzPct val="65000"/>
              <a:buFont typeface="Wingdings"/>
              <a:buChar char=""/>
              <a:tabLst>
                <a:tab pos="1257300" algn="l"/>
              </a:tabLst>
            </a:pPr>
            <a:r>
              <a:rPr dirty="0" sz="2000" spc="-10" b="1">
                <a:solidFill>
                  <a:srgbClr val="FF0000"/>
                </a:solidFill>
                <a:latin typeface="宋体"/>
                <a:cs typeface="宋体"/>
              </a:rPr>
              <a:t>增强数据传送指令的功能</a:t>
            </a:r>
            <a:r>
              <a:rPr dirty="0" sz="2000" spc="-10" b="1">
                <a:solidFill>
                  <a:srgbClr val="40458B"/>
                </a:solidFill>
                <a:latin typeface="宋体"/>
                <a:cs typeface="宋体"/>
              </a:rPr>
              <a:t>（</a:t>
            </a:r>
            <a:r>
              <a:rPr dirty="0" sz="2000" spc="-20" b="1">
                <a:solidFill>
                  <a:srgbClr val="40458B"/>
                </a:solidFill>
                <a:latin typeface="宋体"/>
                <a:cs typeface="宋体"/>
              </a:rPr>
              <a:t>高频指令串合并</a:t>
            </a:r>
            <a:r>
              <a:rPr dirty="0" sz="2000" spc="-10" b="1">
                <a:solidFill>
                  <a:srgbClr val="40458B"/>
                </a:solidFill>
                <a:latin typeface="宋体"/>
                <a:cs typeface="宋体"/>
              </a:rPr>
              <a:t>），</a:t>
            </a:r>
            <a:r>
              <a:rPr dirty="0" sz="2000" spc="-25" b="1">
                <a:solidFill>
                  <a:srgbClr val="40458B"/>
                </a:solidFill>
                <a:latin typeface="宋体"/>
                <a:cs typeface="宋体"/>
              </a:rPr>
              <a:t>例如实现成组传</a:t>
            </a:r>
            <a:r>
              <a:rPr dirty="0" sz="2000" spc="-10" b="1">
                <a:solidFill>
                  <a:srgbClr val="40458B"/>
                </a:solidFill>
                <a:latin typeface="宋体"/>
                <a:cs typeface="宋体"/>
              </a:rPr>
              <a:t>输，如</a:t>
            </a:r>
            <a:r>
              <a:rPr dirty="0" sz="2000" spc="-10" b="1">
                <a:solidFill>
                  <a:srgbClr val="40458B"/>
                </a:solidFill>
                <a:latin typeface="Tahoma"/>
                <a:cs typeface="Tahoma"/>
              </a:rPr>
              <a:t>cache</a:t>
            </a:r>
            <a:r>
              <a:rPr dirty="0" sz="2000" spc="-25" b="1">
                <a:solidFill>
                  <a:srgbClr val="40458B"/>
                </a:solidFill>
                <a:latin typeface="宋体"/>
                <a:cs typeface="宋体"/>
              </a:rPr>
              <a:t>的使用</a:t>
            </a:r>
            <a:endParaRPr sz="2000">
              <a:latin typeface="宋体"/>
              <a:cs typeface="宋体"/>
            </a:endParaRPr>
          </a:p>
          <a:p>
            <a:pPr lvl="1" marL="1257300" indent="-381000">
              <a:lnSpc>
                <a:spcPct val="100000"/>
              </a:lnSpc>
              <a:spcBef>
                <a:spcPts val="720"/>
              </a:spcBef>
              <a:buClr>
                <a:srgbClr val="64CD80"/>
              </a:buClr>
              <a:buSzPct val="65000"/>
              <a:buFont typeface="Wingdings"/>
              <a:buChar char=""/>
              <a:tabLst>
                <a:tab pos="1257300" algn="l"/>
              </a:tabLst>
            </a:pPr>
            <a:r>
              <a:rPr dirty="0" sz="2000" spc="-10" b="1">
                <a:solidFill>
                  <a:srgbClr val="FF0000"/>
                </a:solidFill>
                <a:latin typeface="宋体"/>
                <a:cs typeface="宋体"/>
              </a:rPr>
              <a:t>增强程序控制指令的功能</a:t>
            </a:r>
            <a:r>
              <a:rPr dirty="0" sz="2000" spc="-25" b="1">
                <a:solidFill>
                  <a:srgbClr val="40458B"/>
                </a:solidFill>
                <a:latin typeface="宋体"/>
                <a:cs typeface="宋体"/>
              </a:rPr>
              <a:t>，例如设置多种条件下的转移指令和子</a:t>
            </a:r>
            <a:endParaRPr sz="2000">
              <a:latin typeface="宋体"/>
              <a:cs typeface="宋体"/>
            </a:endParaRPr>
          </a:p>
          <a:p>
            <a:pPr marL="1257300">
              <a:lnSpc>
                <a:spcPct val="100000"/>
              </a:lnSpc>
              <a:spcBef>
                <a:spcPts val="240"/>
              </a:spcBef>
            </a:pPr>
            <a:r>
              <a:rPr dirty="0" sz="2000" spc="-25" b="1">
                <a:solidFill>
                  <a:srgbClr val="40458B"/>
                </a:solidFill>
                <a:latin typeface="宋体"/>
                <a:cs typeface="宋体"/>
              </a:rPr>
              <a:t>程序控制指令</a:t>
            </a:r>
            <a:endParaRPr sz="2000">
              <a:latin typeface="宋体"/>
              <a:cs typeface="宋体"/>
            </a:endParaRPr>
          </a:p>
        </p:txBody>
      </p:sp>
      <p:sp>
        <p:nvSpPr>
          <p:cNvPr id="4" name="object 4"/>
          <p:cNvSpPr txBox="1">
            <a:spLocks noGrp="1"/>
          </p:cNvSpPr>
          <p:nvPr>
            <p:ph type="title"/>
          </p:nvPr>
        </p:nvSpPr>
        <p:spPr>
          <a:xfrm>
            <a:off x="1163637" y="248234"/>
            <a:ext cx="11041380" cy="514350"/>
          </a:xfrm>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t>	2.4.1</a:t>
            </a:r>
            <a:r>
              <a:rPr dirty="0" spc="40"/>
              <a:t> </a:t>
            </a:r>
            <a:r>
              <a:rPr dirty="0" spc="-30"/>
              <a:t>沿</a:t>
            </a:r>
            <a:r>
              <a:rPr dirty="0" spc="-10"/>
              <a:t>CISC</a:t>
            </a:r>
            <a:r>
              <a:rPr dirty="0" spc="-40"/>
              <a:t>方</a:t>
            </a:r>
            <a:r>
              <a:rPr dirty="0" spc="-25"/>
              <a:t>向</a:t>
            </a:r>
            <a:r>
              <a:rPr dirty="0" spc="-40"/>
              <a:t>发展</a:t>
            </a:r>
            <a:r>
              <a:rPr dirty="0" spc="-30"/>
              <a:t>和</a:t>
            </a:r>
            <a:r>
              <a:rPr dirty="0" spc="-40"/>
              <a:t>改进</a:t>
            </a:r>
            <a:r>
              <a:rPr dirty="0" spc="-30"/>
              <a:t>指</a:t>
            </a:r>
            <a:r>
              <a:rPr dirty="0" spc="-40"/>
              <a:t>令系</a:t>
            </a:r>
            <a:r>
              <a:rPr dirty="0" spc="-50"/>
              <a:t>统</a:t>
            </a:r>
            <a:r>
              <a:rPr dirty="0"/>
              <a:t>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2790570" y="211023"/>
            <a:ext cx="4916170" cy="514350"/>
          </a:xfrm>
          <a:prstGeom prst="rect"/>
        </p:spPr>
        <p:txBody>
          <a:bodyPr wrap="square" lIns="0" tIns="13335" rIns="0" bIns="0" rtlCol="0" vert="horz">
            <a:spAutoFit/>
          </a:bodyPr>
          <a:lstStyle/>
          <a:p>
            <a:pPr marL="12700">
              <a:lnSpc>
                <a:spcPct val="100000"/>
              </a:lnSpc>
              <a:spcBef>
                <a:spcPts val="105"/>
              </a:spcBef>
            </a:pPr>
            <a:r>
              <a:rPr dirty="0" u="none">
                <a:solidFill>
                  <a:srgbClr val="4F55AC"/>
                </a:solidFill>
              </a:rPr>
              <a:t>2.4</a:t>
            </a:r>
            <a:r>
              <a:rPr dirty="0" u="none" spc="-35">
                <a:solidFill>
                  <a:srgbClr val="4F55AC"/>
                </a:solidFill>
              </a:rPr>
              <a:t> </a:t>
            </a:r>
            <a:r>
              <a:rPr dirty="0" u="none" spc="-5">
                <a:solidFill>
                  <a:srgbClr val="4F55AC"/>
                </a:solidFill>
                <a:latin typeface="微软雅黑"/>
                <a:cs typeface="微软雅黑"/>
              </a:rPr>
              <a:t>指令系统的发展和改进</a:t>
            </a:r>
          </a:p>
        </p:txBody>
      </p:sp>
      <p:sp>
        <p:nvSpPr>
          <p:cNvPr id="9" name="object 9" descr=""/>
          <p:cNvSpPr txBox="1"/>
          <p:nvPr/>
        </p:nvSpPr>
        <p:spPr>
          <a:xfrm>
            <a:off x="1853945" y="892555"/>
            <a:ext cx="5052060" cy="2531745"/>
          </a:xfrm>
          <a:prstGeom prst="rect">
            <a:avLst/>
          </a:prstGeom>
        </p:spPr>
        <p:txBody>
          <a:bodyPr wrap="square" lIns="0" tIns="12700" rIns="0" bIns="0" rtlCol="0" vert="horz">
            <a:spAutoFit/>
          </a:bodyPr>
          <a:lstStyle/>
          <a:p>
            <a:pPr algn="r" marL="12700" marR="459105">
              <a:lnSpc>
                <a:spcPct val="140000"/>
              </a:lnSpc>
              <a:spcBef>
                <a:spcPts val="100"/>
              </a:spcBef>
            </a:pPr>
            <a:r>
              <a:rPr dirty="0" sz="2400" spc="-5">
                <a:solidFill>
                  <a:srgbClr val="E14B04"/>
                </a:solidFill>
                <a:latin typeface="黑体"/>
                <a:cs typeface="黑体"/>
              </a:rPr>
              <a:t>其中：增强程序控制指令的功能：</a:t>
            </a:r>
            <a:r>
              <a:rPr dirty="0" sz="2400">
                <a:solidFill>
                  <a:srgbClr val="E14B04"/>
                </a:solidFill>
                <a:latin typeface="黑体"/>
                <a:cs typeface="黑体"/>
              </a:rPr>
              <a:t>例如：</a:t>
            </a:r>
            <a:r>
              <a:rPr dirty="0" sz="2400" spc="-5">
                <a:latin typeface="黑体"/>
                <a:cs typeface="黑体"/>
              </a:rPr>
              <a:t>循环在程序中占有相当大的比例，所以在指令上提供专</a:t>
            </a:r>
            <a:endParaRPr sz="2400">
              <a:latin typeface="黑体"/>
              <a:cs typeface="黑体"/>
            </a:endParaRPr>
          </a:p>
          <a:p>
            <a:pPr marL="868680">
              <a:lnSpc>
                <a:spcPct val="100000"/>
              </a:lnSpc>
              <a:spcBef>
                <a:spcPts val="1150"/>
              </a:spcBef>
            </a:pPr>
            <a:r>
              <a:rPr dirty="0" sz="2400" spc="-10">
                <a:latin typeface="黑体"/>
                <a:cs typeface="黑体"/>
              </a:rPr>
              <a:t>门的支持。</a:t>
            </a:r>
            <a:endParaRPr sz="2400">
              <a:latin typeface="黑体"/>
              <a:cs typeface="黑体"/>
            </a:endParaRPr>
          </a:p>
          <a:p>
            <a:pPr marL="1099185" indent="-457200">
              <a:lnSpc>
                <a:spcPct val="100000"/>
              </a:lnSpc>
              <a:spcBef>
                <a:spcPts val="1205"/>
              </a:spcBef>
              <a:buSzPct val="90000"/>
              <a:buFont typeface="Wingdings"/>
              <a:buChar char=""/>
              <a:tabLst>
                <a:tab pos="1099185" algn="l"/>
              </a:tabLst>
            </a:pPr>
            <a:r>
              <a:rPr dirty="0" sz="2000" spc="-10">
                <a:solidFill>
                  <a:srgbClr val="40458B"/>
                </a:solidFill>
                <a:latin typeface="黑体"/>
                <a:cs typeface="黑体"/>
              </a:rPr>
              <a:t>循环控制部分通常用</a:t>
            </a:r>
            <a:r>
              <a:rPr dirty="0" sz="2000" spc="-10">
                <a:solidFill>
                  <a:srgbClr val="9933FF"/>
                </a:solidFill>
                <a:latin typeface="黑体"/>
                <a:cs typeface="黑体"/>
              </a:rPr>
              <a:t>3</a:t>
            </a:r>
            <a:r>
              <a:rPr dirty="0" sz="2000" spc="-20">
                <a:solidFill>
                  <a:srgbClr val="40458B"/>
                </a:solidFill>
                <a:latin typeface="黑体"/>
                <a:cs typeface="黑体"/>
              </a:rPr>
              <a:t>条指令完成：</a:t>
            </a:r>
            <a:endParaRPr sz="2000">
              <a:latin typeface="黑体"/>
              <a:cs typeface="黑体"/>
            </a:endParaRPr>
          </a:p>
        </p:txBody>
      </p:sp>
      <p:sp>
        <p:nvSpPr>
          <p:cNvPr id="10" name="object 10" descr=""/>
          <p:cNvSpPr txBox="1"/>
          <p:nvPr/>
        </p:nvSpPr>
        <p:spPr>
          <a:xfrm>
            <a:off x="3111245" y="3404742"/>
            <a:ext cx="3244215" cy="1259840"/>
          </a:xfrm>
          <a:prstGeom prst="rect">
            <a:avLst/>
          </a:prstGeom>
        </p:spPr>
        <p:txBody>
          <a:bodyPr wrap="square" lIns="0" tIns="149860" rIns="0" bIns="0" rtlCol="0" vert="horz">
            <a:spAutoFit/>
          </a:bodyPr>
          <a:lstStyle/>
          <a:p>
            <a:pPr marL="469265" indent="-456565">
              <a:lnSpc>
                <a:spcPct val="100000"/>
              </a:lnSpc>
              <a:spcBef>
                <a:spcPts val="1180"/>
              </a:spcBef>
              <a:buClr>
                <a:srgbClr val="4668F5"/>
              </a:buClr>
              <a:buSzPct val="58333"/>
              <a:buFont typeface="Wingdings"/>
              <a:buChar char=""/>
              <a:tabLst>
                <a:tab pos="469265" algn="l"/>
              </a:tabLst>
            </a:pPr>
            <a:r>
              <a:rPr dirty="0" sz="1800" spc="-20" b="1">
                <a:latin typeface="宋体"/>
                <a:cs typeface="宋体"/>
              </a:rPr>
              <a:t>一条加法指令</a:t>
            </a:r>
            <a:endParaRPr sz="1800">
              <a:latin typeface="宋体"/>
              <a:cs typeface="宋体"/>
            </a:endParaRPr>
          </a:p>
          <a:p>
            <a:pPr marL="469265" indent="-456565">
              <a:lnSpc>
                <a:spcPct val="100000"/>
              </a:lnSpc>
              <a:spcBef>
                <a:spcPts val="1080"/>
              </a:spcBef>
              <a:buClr>
                <a:srgbClr val="4668F5"/>
              </a:buClr>
              <a:buSzPct val="58333"/>
              <a:buFont typeface="Wingdings"/>
              <a:buChar char=""/>
              <a:tabLst>
                <a:tab pos="469265" algn="l"/>
              </a:tabLst>
            </a:pPr>
            <a:r>
              <a:rPr dirty="0" sz="1800" spc="-10" b="1">
                <a:latin typeface="宋体"/>
                <a:cs typeface="宋体"/>
              </a:rPr>
              <a:t>一条比较指令（例如大于</a:t>
            </a:r>
            <a:r>
              <a:rPr dirty="0" sz="1800" spc="-50" b="1">
                <a:latin typeface="宋体"/>
                <a:cs typeface="宋体"/>
              </a:rPr>
              <a:t>）</a:t>
            </a:r>
            <a:endParaRPr sz="1800">
              <a:latin typeface="宋体"/>
              <a:cs typeface="宋体"/>
            </a:endParaRPr>
          </a:p>
          <a:p>
            <a:pPr marL="469265" indent="-456565">
              <a:lnSpc>
                <a:spcPct val="100000"/>
              </a:lnSpc>
              <a:spcBef>
                <a:spcPts val="1080"/>
              </a:spcBef>
              <a:buClr>
                <a:srgbClr val="4668F5"/>
              </a:buClr>
              <a:buSzPct val="58333"/>
              <a:buFont typeface="Wingdings"/>
              <a:buChar char=""/>
              <a:tabLst>
                <a:tab pos="469265" algn="l"/>
              </a:tabLst>
            </a:pPr>
            <a:r>
              <a:rPr dirty="0" sz="1800" spc="-20" b="1">
                <a:latin typeface="宋体"/>
                <a:cs typeface="宋体"/>
              </a:rPr>
              <a:t>一条分支指令</a:t>
            </a:r>
            <a:endParaRPr sz="1800">
              <a:latin typeface="宋体"/>
              <a:cs typeface="宋体"/>
            </a:endParaRPr>
          </a:p>
        </p:txBody>
      </p:sp>
      <p:sp>
        <p:nvSpPr>
          <p:cNvPr id="11" name="object 11" descr=""/>
          <p:cNvSpPr txBox="1"/>
          <p:nvPr/>
        </p:nvSpPr>
        <p:spPr>
          <a:xfrm>
            <a:off x="2483357" y="4696243"/>
            <a:ext cx="7645400" cy="1526540"/>
          </a:xfrm>
          <a:prstGeom prst="rect">
            <a:avLst/>
          </a:prstGeom>
        </p:spPr>
        <p:txBody>
          <a:bodyPr wrap="square" lIns="0" tIns="173990" rIns="0" bIns="0" rtlCol="0" vert="horz">
            <a:spAutoFit/>
          </a:bodyPr>
          <a:lstStyle/>
          <a:p>
            <a:pPr marL="469265" indent="-456565">
              <a:lnSpc>
                <a:spcPct val="100000"/>
              </a:lnSpc>
              <a:spcBef>
                <a:spcPts val="1370"/>
              </a:spcBef>
              <a:buSzPct val="90000"/>
              <a:buFont typeface="Wingdings"/>
              <a:buChar char=""/>
              <a:tabLst>
                <a:tab pos="469265" algn="l"/>
              </a:tabLst>
            </a:pPr>
            <a:r>
              <a:rPr dirty="0" sz="2000" spc="-15">
                <a:solidFill>
                  <a:srgbClr val="40458B"/>
                </a:solidFill>
                <a:latin typeface="黑体"/>
                <a:cs typeface="黑体"/>
              </a:rPr>
              <a:t>设置循环控制指令，用一条指令完成上述</a:t>
            </a:r>
            <a:r>
              <a:rPr dirty="0" sz="2000" spc="-10">
                <a:solidFill>
                  <a:srgbClr val="9933FF"/>
                </a:solidFill>
                <a:latin typeface="黑体"/>
                <a:cs typeface="黑体"/>
              </a:rPr>
              <a:t>3</a:t>
            </a:r>
            <a:r>
              <a:rPr dirty="0" sz="2000" spc="-20">
                <a:solidFill>
                  <a:srgbClr val="40458B"/>
                </a:solidFill>
                <a:latin typeface="黑体"/>
                <a:cs typeface="黑体"/>
              </a:rPr>
              <a:t>条指令的功能。</a:t>
            </a:r>
            <a:endParaRPr sz="2000">
              <a:latin typeface="黑体"/>
              <a:cs typeface="黑体"/>
            </a:endParaRPr>
          </a:p>
          <a:p>
            <a:pPr marL="469900" marR="5080" indent="-457200">
              <a:lnSpc>
                <a:spcPct val="130000"/>
              </a:lnSpc>
              <a:spcBef>
                <a:spcPts val="655"/>
              </a:spcBef>
            </a:pPr>
            <a:r>
              <a:rPr dirty="0" sz="2400" spc="-5">
                <a:solidFill>
                  <a:srgbClr val="FF0000"/>
                </a:solidFill>
                <a:latin typeface="黑体"/>
                <a:cs typeface="黑体"/>
              </a:rPr>
              <a:t>上述三个方面对改进目标程序已获得较好的成果，但增加</a:t>
            </a:r>
            <a:r>
              <a:rPr dirty="0" sz="2400" spc="-15">
                <a:solidFill>
                  <a:srgbClr val="FF0000"/>
                </a:solidFill>
                <a:latin typeface="黑体"/>
                <a:cs typeface="黑体"/>
              </a:rPr>
              <a:t>了硬件的成本及复杂度</a:t>
            </a:r>
            <a:endParaRPr sz="2400">
              <a:latin typeface="黑体"/>
              <a:cs typeface="黑体"/>
            </a:endParaRPr>
          </a:p>
        </p:txBody>
      </p:sp>
      <p:grpSp>
        <p:nvGrpSpPr>
          <p:cNvPr id="12" name="object 12" descr=""/>
          <p:cNvGrpSpPr/>
          <p:nvPr/>
        </p:nvGrpSpPr>
        <p:grpSpPr>
          <a:xfrm>
            <a:off x="7970001" y="770496"/>
            <a:ext cx="2388235" cy="3277870"/>
            <a:chOff x="7970001" y="770496"/>
            <a:chExt cx="2388235" cy="3277870"/>
          </a:xfrm>
        </p:grpSpPr>
        <p:sp>
          <p:nvSpPr>
            <p:cNvPr id="13" name="object 13" descr=""/>
            <p:cNvSpPr/>
            <p:nvPr/>
          </p:nvSpPr>
          <p:spPr>
            <a:xfrm>
              <a:off x="7981729" y="1898400"/>
              <a:ext cx="2365375" cy="2137410"/>
            </a:xfrm>
            <a:custGeom>
              <a:avLst/>
              <a:gdLst/>
              <a:ahLst/>
              <a:cxnLst/>
              <a:rect l="l" t="t" r="r" b="b"/>
              <a:pathLst>
                <a:path w="2365375" h="2137410">
                  <a:moveTo>
                    <a:pt x="2365380" y="0"/>
                  </a:moveTo>
                  <a:lnTo>
                    <a:pt x="0" y="0"/>
                  </a:lnTo>
                  <a:lnTo>
                    <a:pt x="0" y="2137145"/>
                  </a:lnTo>
                  <a:lnTo>
                    <a:pt x="2365380" y="2137145"/>
                  </a:lnTo>
                  <a:lnTo>
                    <a:pt x="2365380" y="0"/>
                  </a:lnTo>
                  <a:close/>
                </a:path>
              </a:pathLst>
            </a:custGeom>
            <a:solidFill>
              <a:srgbClr val="CCFFFF"/>
            </a:solidFill>
          </p:spPr>
          <p:txBody>
            <a:bodyPr wrap="square" lIns="0" tIns="0" rIns="0" bIns="0" rtlCol="0"/>
            <a:lstStyle/>
            <a:p/>
          </p:txBody>
        </p:sp>
        <p:sp>
          <p:nvSpPr>
            <p:cNvPr id="14" name="object 14" descr=""/>
            <p:cNvSpPr/>
            <p:nvPr/>
          </p:nvSpPr>
          <p:spPr>
            <a:xfrm>
              <a:off x="7971906" y="1888596"/>
              <a:ext cx="2384425" cy="2157095"/>
            </a:xfrm>
            <a:custGeom>
              <a:avLst/>
              <a:gdLst/>
              <a:ahLst/>
              <a:cxnLst/>
              <a:rect l="l" t="t" r="r" b="b"/>
              <a:pathLst>
                <a:path w="2384425" h="2157095">
                  <a:moveTo>
                    <a:pt x="2375206" y="9809"/>
                  </a:moveTo>
                  <a:lnTo>
                    <a:pt x="2365388" y="9809"/>
                  </a:lnTo>
                  <a:lnTo>
                    <a:pt x="2365388" y="21431"/>
                  </a:lnTo>
                  <a:lnTo>
                    <a:pt x="2384410" y="21431"/>
                  </a:lnTo>
                  <a:lnTo>
                    <a:pt x="2384410" y="18979"/>
                  </a:lnTo>
                  <a:lnTo>
                    <a:pt x="2375206" y="18979"/>
                  </a:lnTo>
                  <a:lnTo>
                    <a:pt x="2375206" y="9809"/>
                  </a:lnTo>
                  <a:close/>
                </a:path>
                <a:path w="2384425" h="2157095">
                  <a:moveTo>
                    <a:pt x="2375206" y="0"/>
                  </a:moveTo>
                  <a:lnTo>
                    <a:pt x="2298452" y="0"/>
                  </a:lnTo>
                  <a:lnTo>
                    <a:pt x="2298452" y="18979"/>
                  </a:lnTo>
                  <a:lnTo>
                    <a:pt x="2365388" y="18979"/>
                  </a:lnTo>
                  <a:lnTo>
                    <a:pt x="2365388" y="9809"/>
                  </a:lnTo>
                  <a:lnTo>
                    <a:pt x="2375206" y="9809"/>
                  </a:lnTo>
                  <a:lnTo>
                    <a:pt x="2375206" y="0"/>
                  </a:lnTo>
                  <a:close/>
                </a:path>
                <a:path w="2384425" h="2157095">
                  <a:moveTo>
                    <a:pt x="2384410" y="9809"/>
                  </a:moveTo>
                  <a:lnTo>
                    <a:pt x="2375206" y="9809"/>
                  </a:lnTo>
                  <a:lnTo>
                    <a:pt x="2375206" y="18979"/>
                  </a:lnTo>
                  <a:lnTo>
                    <a:pt x="2384410" y="18979"/>
                  </a:lnTo>
                  <a:lnTo>
                    <a:pt x="2384410" y="9809"/>
                  </a:lnTo>
                  <a:close/>
                </a:path>
                <a:path w="2384425" h="2157095">
                  <a:moveTo>
                    <a:pt x="2240746" y="0"/>
                  </a:moveTo>
                  <a:lnTo>
                    <a:pt x="2164018" y="0"/>
                  </a:lnTo>
                  <a:lnTo>
                    <a:pt x="2164018" y="18979"/>
                  </a:lnTo>
                  <a:lnTo>
                    <a:pt x="2240746" y="18979"/>
                  </a:lnTo>
                  <a:lnTo>
                    <a:pt x="2240746" y="0"/>
                  </a:lnTo>
                  <a:close/>
                </a:path>
                <a:path w="2384425" h="2157095">
                  <a:moveTo>
                    <a:pt x="2106312" y="0"/>
                  </a:moveTo>
                  <a:lnTo>
                    <a:pt x="2029584" y="0"/>
                  </a:lnTo>
                  <a:lnTo>
                    <a:pt x="2029584" y="18979"/>
                  </a:lnTo>
                  <a:lnTo>
                    <a:pt x="2106312" y="18979"/>
                  </a:lnTo>
                  <a:lnTo>
                    <a:pt x="2106312" y="0"/>
                  </a:lnTo>
                  <a:close/>
                </a:path>
                <a:path w="2384425" h="2157095">
                  <a:moveTo>
                    <a:pt x="1971852" y="0"/>
                  </a:moveTo>
                  <a:lnTo>
                    <a:pt x="1895124" y="0"/>
                  </a:lnTo>
                  <a:lnTo>
                    <a:pt x="1895124" y="18979"/>
                  </a:lnTo>
                  <a:lnTo>
                    <a:pt x="1971852" y="18979"/>
                  </a:lnTo>
                  <a:lnTo>
                    <a:pt x="1971852" y="0"/>
                  </a:lnTo>
                  <a:close/>
                </a:path>
                <a:path w="2384425" h="2157095">
                  <a:moveTo>
                    <a:pt x="1837418" y="0"/>
                  </a:moveTo>
                  <a:lnTo>
                    <a:pt x="1760690" y="0"/>
                  </a:lnTo>
                  <a:lnTo>
                    <a:pt x="1760690" y="18979"/>
                  </a:lnTo>
                  <a:lnTo>
                    <a:pt x="1837418" y="18979"/>
                  </a:lnTo>
                  <a:lnTo>
                    <a:pt x="1837418" y="0"/>
                  </a:lnTo>
                  <a:close/>
                </a:path>
                <a:path w="2384425" h="2157095">
                  <a:moveTo>
                    <a:pt x="1702984" y="0"/>
                  </a:moveTo>
                  <a:lnTo>
                    <a:pt x="1626230" y="0"/>
                  </a:lnTo>
                  <a:lnTo>
                    <a:pt x="1626230" y="18979"/>
                  </a:lnTo>
                  <a:lnTo>
                    <a:pt x="1702984" y="18979"/>
                  </a:lnTo>
                  <a:lnTo>
                    <a:pt x="1702984" y="0"/>
                  </a:lnTo>
                  <a:close/>
                </a:path>
                <a:path w="2384425" h="2157095">
                  <a:moveTo>
                    <a:pt x="1568524" y="0"/>
                  </a:moveTo>
                  <a:lnTo>
                    <a:pt x="1491796" y="0"/>
                  </a:lnTo>
                  <a:lnTo>
                    <a:pt x="1491796" y="18979"/>
                  </a:lnTo>
                  <a:lnTo>
                    <a:pt x="1568524" y="18979"/>
                  </a:lnTo>
                  <a:lnTo>
                    <a:pt x="1568524" y="0"/>
                  </a:lnTo>
                  <a:close/>
                </a:path>
                <a:path w="2384425" h="2157095">
                  <a:moveTo>
                    <a:pt x="1434090" y="0"/>
                  </a:moveTo>
                  <a:lnTo>
                    <a:pt x="1357337" y="0"/>
                  </a:lnTo>
                  <a:lnTo>
                    <a:pt x="1357337" y="18979"/>
                  </a:lnTo>
                  <a:lnTo>
                    <a:pt x="1434090" y="18979"/>
                  </a:lnTo>
                  <a:lnTo>
                    <a:pt x="1434090" y="0"/>
                  </a:lnTo>
                  <a:close/>
                </a:path>
                <a:path w="2384425" h="2157095">
                  <a:moveTo>
                    <a:pt x="1299631" y="0"/>
                  </a:moveTo>
                  <a:lnTo>
                    <a:pt x="1222902" y="0"/>
                  </a:lnTo>
                  <a:lnTo>
                    <a:pt x="1222902" y="18979"/>
                  </a:lnTo>
                  <a:lnTo>
                    <a:pt x="1299631" y="18979"/>
                  </a:lnTo>
                  <a:lnTo>
                    <a:pt x="1299631" y="0"/>
                  </a:lnTo>
                  <a:close/>
                </a:path>
                <a:path w="2384425" h="2157095">
                  <a:moveTo>
                    <a:pt x="1165197" y="0"/>
                  </a:moveTo>
                  <a:lnTo>
                    <a:pt x="1088443" y="0"/>
                  </a:lnTo>
                  <a:lnTo>
                    <a:pt x="1088443" y="18979"/>
                  </a:lnTo>
                  <a:lnTo>
                    <a:pt x="1165197" y="18979"/>
                  </a:lnTo>
                  <a:lnTo>
                    <a:pt x="1165197" y="0"/>
                  </a:lnTo>
                  <a:close/>
                </a:path>
                <a:path w="2384425" h="2157095">
                  <a:moveTo>
                    <a:pt x="1031350" y="0"/>
                  </a:moveTo>
                  <a:lnTo>
                    <a:pt x="954009" y="0"/>
                  </a:lnTo>
                  <a:lnTo>
                    <a:pt x="954009" y="18979"/>
                  </a:lnTo>
                  <a:lnTo>
                    <a:pt x="1031350" y="18979"/>
                  </a:lnTo>
                  <a:lnTo>
                    <a:pt x="1031350" y="0"/>
                  </a:lnTo>
                  <a:close/>
                </a:path>
                <a:path w="2384425" h="2157095">
                  <a:moveTo>
                    <a:pt x="896916" y="0"/>
                  </a:moveTo>
                  <a:lnTo>
                    <a:pt x="819575" y="0"/>
                  </a:lnTo>
                  <a:lnTo>
                    <a:pt x="819575" y="18979"/>
                  </a:lnTo>
                  <a:lnTo>
                    <a:pt x="896916" y="18979"/>
                  </a:lnTo>
                  <a:lnTo>
                    <a:pt x="896916" y="0"/>
                  </a:lnTo>
                  <a:close/>
                </a:path>
                <a:path w="2384425" h="2157095">
                  <a:moveTo>
                    <a:pt x="762482" y="0"/>
                  </a:moveTo>
                  <a:lnTo>
                    <a:pt x="685729" y="0"/>
                  </a:lnTo>
                  <a:lnTo>
                    <a:pt x="685729" y="18979"/>
                  </a:lnTo>
                  <a:lnTo>
                    <a:pt x="762482" y="18979"/>
                  </a:lnTo>
                  <a:lnTo>
                    <a:pt x="762482" y="0"/>
                  </a:lnTo>
                  <a:close/>
                </a:path>
                <a:path w="2384425" h="2157095">
                  <a:moveTo>
                    <a:pt x="628023" y="0"/>
                  </a:moveTo>
                  <a:lnTo>
                    <a:pt x="551294" y="0"/>
                  </a:lnTo>
                  <a:lnTo>
                    <a:pt x="551294" y="18979"/>
                  </a:lnTo>
                  <a:lnTo>
                    <a:pt x="628023" y="18979"/>
                  </a:lnTo>
                  <a:lnTo>
                    <a:pt x="628023" y="0"/>
                  </a:lnTo>
                  <a:close/>
                </a:path>
                <a:path w="2384425" h="2157095">
                  <a:moveTo>
                    <a:pt x="493588" y="0"/>
                  </a:moveTo>
                  <a:lnTo>
                    <a:pt x="416835" y="0"/>
                  </a:lnTo>
                  <a:lnTo>
                    <a:pt x="416835" y="18979"/>
                  </a:lnTo>
                  <a:lnTo>
                    <a:pt x="493588" y="18979"/>
                  </a:lnTo>
                  <a:lnTo>
                    <a:pt x="493588" y="0"/>
                  </a:lnTo>
                  <a:close/>
                </a:path>
                <a:path w="2384425" h="2157095">
                  <a:moveTo>
                    <a:pt x="359129" y="0"/>
                  </a:moveTo>
                  <a:lnTo>
                    <a:pt x="282401" y="0"/>
                  </a:lnTo>
                  <a:lnTo>
                    <a:pt x="282401" y="18979"/>
                  </a:lnTo>
                  <a:lnTo>
                    <a:pt x="359129" y="18979"/>
                  </a:lnTo>
                  <a:lnTo>
                    <a:pt x="359129" y="0"/>
                  </a:lnTo>
                  <a:close/>
                </a:path>
                <a:path w="2384425" h="2157095">
                  <a:moveTo>
                    <a:pt x="224695" y="0"/>
                  </a:moveTo>
                  <a:lnTo>
                    <a:pt x="147951" y="0"/>
                  </a:lnTo>
                  <a:lnTo>
                    <a:pt x="147951" y="18979"/>
                  </a:lnTo>
                  <a:lnTo>
                    <a:pt x="224695" y="18979"/>
                  </a:lnTo>
                  <a:lnTo>
                    <a:pt x="224695" y="0"/>
                  </a:lnTo>
                  <a:close/>
                </a:path>
                <a:path w="2384425" h="2157095">
                  <a:moveTo>
                    <a:pt x="90245" y="0"/>
                  </a:moveTo>
                  <a:lnTo>
                    <a:pt x="13507" y="0"/>
                  </a:lnTo>
                  <a:lnTo>
                    <a:pt x="13507" y="18979"/>
                  </a:lnTo>
                  <a:lnTo>
                    <a:pt x="90245" y="18979"/>
                  </a:lnTo>
                  <a:lnTo>
                    <a:pt x="90245" y="0"/>
                  </a:lnTo>
                  <a:close/>
                </a:path>
                <a:path w="2384425" h="2157095">
                  <a:moveTo>
                    <a:pt x="19032" y="63069"/>
                  </a:moveTo>
                  <a:lnTo>
                    <a:pt x="0" y="63069"/>
                  </a:lnTo>
                  <a:lnTo>
                    <a:pt x="0" y="139574"/>
                  </a:lnTo>
                  <a:lnTo>
                    <a:pt x="19032" y="139574"/>
                  </a:lnTo>
                  <a:lnTo>
                    <a:pt x="19032" y="63069"/>
                  </a:lnTo>
                  <a:close/>
                </a:path>
                <a:path w="2384425" h="2157095">
                  <a:moveTo>
                    <a:pt x="19032" y="197126"/>
                  </a:moveTo>
                  <a:lnTo>
                    <a:pt x="0" y="197126"/>
                  </a:lnTo>
                  <a:lnTo>
                    <a:pt x="0" y="273656"/>
                  </a:lnTo>
                  <a:lnTo>
                    <a:pt x="19032" y="273656"/>
                  </a:lnTo>
                  <a:lnTo>
                    <a:pt x="19032" y="197126"/>
                  </a:lnTo>
                  <a:close/>
                </a:path>
                <a:path w="2384425" h="2157095">
                  <a:moveTo>
                    <a:pt x="19032" y="331208"/>
                  </a:moveTo>
                  <a:lnTo>
                    <a:pt x="0" y="331208"/>
                  </a:lnTo>
                  <a:lnTo>
                    <a:pt x="0" y="407713"/>
                  </a:lnTo>
                  <a:lnTo>
                    <a:pt x="19032" y="407713"/>
                  </a:lnTo>
                  <a:lnTo>
                    <a:pt x="19032" y="331208"/>
                  </a:lnTo>
                  <a:close/>
                </a:path>
                <a:path w="2384425" h="2157095">
                  <a:moveTo>
                    <a:pt x="19032" y="465265"/>
                  </a:moveTo>
                  <a:lnTo>
                    <a:pt x="0" y="465265"/>
                  </a:lnTo>
                  <a:lnTo>
                    <a:pt x="0" y="541796"/>
                  </a:lnTo>
                  <a:lnTo>
                    <a:pt x="19032" y="541796"/>
                  </a:lnTo>
                  <a:lnTo>
                    <a:pt x="19032" y="465265"/>
                  </a:lnTo>
                  <a:close/>
                </a:path>
                <a:path w="2384425" h="2157095">
                  <a:moveTo>
                    <a:pt x="19032" y="599347"/>
                  </a:moveTo>
                  <a:lnTo>
                    <a:pt x="0" y="599347"/>
                  </a:lnTo>
                  <a:lnTo>
                    <a:pt x="0" y="675853"/>
                  </a:lnTo>
                  <a:lnTo>
                    <a:pt x="19032" y="675853"/>
                  </a:lnTo>
                  <a:lnTo>
                    <a:pt x="19032" y="599347"/>
                  </a:lnTo>
                  <a:close/>
                </a:path>
                <a:path w="2384425" h="2157095">
                  <a:moveTo>
                    <a:pt x="19032" y="733404"/>
                  </a:moveTo>
                  <a:lnTo>
                    <a:pt x="0" y="733404"/>
                  </a:lnTo>
                  <a:lnTo>
                    <a:pt x="0" y="809935"/>
                  </a:lnTo>
                  <a:lnTo>
                    <a:pt x="19032" y="809935"/>
                  </a:lnTo>
                  <a:lnTo>
                    <a:pt x="19032" y="733404"/>
                  </a:lnTo>
                  <a:close/>
                </a:path>
                <a:path w="2384425" h="2157095">
                  <a:moveTo>
                    <a:pt x="19032" y="867487"/>
                  </a:moveTo>
                  <a:lnTo>
                    <a:pt x="0" y="867487"/>
                  </a:lnTo>
                  <a:lnTo>
                    <a:pt x="0" y="943992"/>
                  </a:lnTo>
                  <a:lnTo>
                    <a:pt x="19032" y="943992"/>
                  </a:lnTo>
                  <a:lnTo>
                    <a:pt x="19032" y="867487"/>
                  </a:lnTo>
                  <a:close/>
                </a:path>
                <a:path w="2384425" h="2157095">
                  <a:moveTo>
                    <a:pt x="19032" y="1001544"/>
                  </a:moveTo>
                  <a:lnTo>
                    <a:pt x="0" y="1001544"/>
                  </a:lnTo>
                  <a:lnTo>
                    <a:pt x="0" y="1078075"/>
                  </a:lnTo>
                  <a:lnTo>
                    <a:pt x="19032" y="1078075"/>
                  </a:lnTo>
                  <a:lnTo>
                    <a:pt x="19032" y="1001544"/>
                  </a:lnTo>
                  <a:close/>
                </a:path>
                <a:path w="2384425" h="2157095">
                  <a:moveTo>
                    <a:pt x="19032" y="1135626"/>
                  </a:moveTo>
                  <a:lnTo>
                    <a:pt x="0" y="1135626"/>
                  </a:lnTo>
                  <a:lnTo>
                    <a:pt x="0" y="1212132"/>
                  </a:lnTo>
                  <a:lnTo>
                    <a:pt x="19032" y="1212132"/>
                  </a:lnTo>
                  <a:lnTo>
                    <a:pt x="19032" y="1135626"/>
                  </a:lnTo>
                  <a:close/>
                </a:path>
                <a:path w="2384425" h="2157095">
                  <a:moveTo>
                    <a:pt x="19032" y="1269683"/>
                  </a:moveTo>
                  <a:lnTo>
                    <a:pt x="0" y="1269683"/>
                  </a:lnTo>
                  <a:lnTo>
                    <a:pt x="0" y="1346214"/>
                  </a:lnTo>
                  <a:lnTo>
                    <a:pt x="19032" y="1346214"/>
                  </a:lnTo>
                  <a:lnTo>
                    <a:pt x="19032" y="1269683"/>
                  </a:lnTo>
                  <a:close/>
                </a:path>
                <a:path w="2384425" h="2157095">
                  <a:moveTo>
                    <a:pt x="19032" y="1403766"/>
                  </a:moveTo>
                  <a:lnTo>
                    <a:pt x="0" y="1403766"/>
                  </a:lnTo>
                  <a:lnTo>
                    <a:pt x="0" y="1480271"/>
                  </a:lnTo>
                  <a:lnTo>
                    <a:pt x="19032" y="1480271"/>
                  </a:lnTo>
                  <a:lnTo>
                    <a:pt x="19032" y="1403766"/>
                  </a:lnTo>
                  <a:close/>
                </a:path>
                <a:path w="2384425" h="2157095">
                  <a:moveTo>
                    <a:pt x="19032" y="1537822"/>
                  </a:moveTo>
                  <a:lnTo>
                    <a:pt x="0" y="1537822"/>
                  </a:lnTo>
                  <a:lnTo>
                    <a:pt x="0" y="1614353"/>
                  </a:lnTo>
                  <a:lnTo>
                    <a:pt x="19032" y="1614353"/>
                  </a:lnTo>
                  <a:lnTo>
                    <a:pt x="19032" y="1537822"/>
                  </a:lnTo>
                  <a:close/>
                </a:path>
                <a:path w="2384425" h="2157095">
                  <a:moveTo>
                    <a:pt x="19032" y="1671879"/>
                  </a:moveTo>
                  <a:lnTo>
                    <a:pt x="0" y="1671879"/>
                  </a:lnTo>
                  <a:lnTo>
                    <a:pt x="0" y="1748410"/>
                  </a:lnTo>
                  <a:lnTo>
                    <a:pt x="19032" y="1748410"/>
                  </a:lnTo>
                  <a:lnTo>
                    <a:pt x="19032" y="1671879"/>
                  </a:lnTo>
                  <a:close/>
                </a:path>
                <a:path w="2384425" h="2157095">
                  <a:moveTo>
                    <a:pt x="19032" y="1805962"/>
                  </a:moveTo>
                  <a:lnTo>
                    <a:pt x="0" y="1805962"/>
                  </a:lnTo>
                  <a:lnTo>
                    <a:pt x="0" y="1882493"/>
                  </a:lnTo>
                  <a:lnTo>
                    <a:pt x="19032" y="1882493"/>
                  </a:lnTo>
                  <a:lnTo>
                    <a:pt x="19032" y="1805962"/>
                  </a:lnTo>
                  <a:close/>
                </a:path>
                <a:path w="2384425" h="2157095">
                  <a:moveTo>
                    <a:pt x="19032" y="1940019"/>
                  </a:moveTo>
                  <a:lnTo>
                    <a:pt x="0" y="1940019"/>
                  </a:lnTo>
                  <a:lnTo>
                    <a:pt x="0" y="2016550"/>
                  </a:lnTo>
                  <a:lnTo>
                    <a:pt x="19032" y="2016550"/>
                  </a:lnTo>
                  <a:lnTo>
                    <a:pt x="19032" y="1940019"/>
                  </a:lnTo>
                  <a:close/>
                </a:path>
                <a:path w="2384425" h="2157095">
                  <a:moveTo>
                    <a:pt x="19032" y="2074099"/>
                  </a:moveTo>
                  <a:lnTo>
                    <a:pt x="0" y="2074099"/>
                  </a:lnTo>
                  <a:lnTo>
                    <a:pt x="0" y="2156745"/>
                  </a:lnTo>
                  <a:lnTo>
                    <a:pt x="13507" y="2156745"/>
                  </a:lnTo>
                  <a:lnTo>
                    <a:pt x="13507" y="2141073"/>
                  </a:lnTo>
                  <a:lnTo>
                    <a:pt x="9823" y="2137155"/>
                  </a:lnTo>
                  <a:lnTo>
                    <a:pt x="19032" y="2137155"/>
                  </a:lnTo>
                  <a:lnTo>
                    <a:pt x="19032" y="2074099"/>
                  </a:lnTo>
                  <a:close/>
                </a:path>
                <a:path w="2384425" h="2157095">
                  <a:moveTo>
                    <a:pt x="19032" y="2137155"/>
                  </a:moveTo>
                  <a:lnTo>
                    <a:pt x="13507" y="2137155"/>
                  </a:lnTo>
                  <a:lnTo>
                    <a:pt x="13507" y="2141073"/>
                  </a:lnTo>
                  <a:lnTo>
                    <a:pt x="19032" y="2146949"/>
                  </a:lnTo>
                  <a:lnTo>
                    <a:pt x="19032" y="2137155"/>
                  </a:lnTo>
                  <a:close/>
                </a:path>
                <a:path w="2384425" h="2157095">
                  <a:moveTo>
                    <a:pt x="13507" y="2137155"/>
                  </a:moveTo>
                  <a:lnTo>
                    <a:pt x="9823" y="2137155"/>
                  </a:lnTo>
                  <a:lnTo>
                    <a:pt x="13507" y="2141073"/>
                  </a:lnTo>
                  <a:lnTo>
                    <a:pt x="13507" y="2137155"/>
                  </a:lnTo>
                  <a:close/>
                </a:path>
                <a:path w="2384425" h="2157095">
                  <a:moveTo>
                    <a:pt x="147951" y="2137155"/>
                  </a:moveTo>
                  <a:lnTo>
                    <a:pt x="71213" y="2137155"/>
                  </a:lnTo>
                  <a:lnTo>
                    <a:pt x="71213" y="2156745"/>
                  </a:lnTo>
                  <a:lnTo>
                    <a:pt x="147951" y="2156745"/>
                  </a:lnTo>
                  <a:lnTo>
                    <a:pt x="147951" y="2137155"/>
                  </a:lnTo>
                  <a:close/>
                </a:path>
                <a:path w="2384425" h="2157095">
                  <a:moveTo>
                    <a:pt x="282401" y="2137155"/>
                  </a:moveTo>
                  <a:lnTo>
                    <a:pt x="205647" y="2137155"/>
                  </a:lnTo>
                  <a:lnTo>
                    <a:pt x="205647" y="2156745"/>
                  </a:lnTo>
                  <a:lnTo>
                    <a:pt x="282401" y="2156745"/>
                  </a:lnTo>
                  <a:lnTo>
                    <a:pt x="282401" y="2137155"/>
                  </a:lnTo>
                  <a:close/>
                </a:path>
                <a:path w="2384425" h="2157095">
                  <a:moveTo>
                    <a:pt x="416835" y="2137155"/>
                  </a:moveTo>
                  <a:lnTo>
                    <a:pt x="340107" y="2137155"/>
                  </a:lnTo>
                  <a:lnTo>
                    <a:pt x="340107" y="2156745"/>
                  </a:lnTo>
                  <a:lnTo>
                    <a:pt x="416835" y="2156745"/>
                  </a:lnTo>
                  <a:lnTo>
                    <a:pt x="416835" y="2137155"/>
                  </a:lnTo>
                  <a:close/>
                </a:path>
                <a:path w="2384425" h="2157095">
                  <a:moveTo>
                    <a:pt x="551294" y="2137155"/>
                  </a:moveTo>
                  <a:lnTo>
                    <a:pt x="474541" y="2137155"/>
                  </a:lnTo>
                  <a:lnTo>
                    <a:pt x="474541" y="2156745"/>
                  </a:lnTo>
                  <a:lnTo>
                    <a:pt x="551294" y="2156745"/>
                  </a:lnTo>
                  <a:lnTo>
                    <a:pt x="551294" y="2137155"/>
                  </a:lnTo>
                  <a:close/>
                </a:path>
                <a:path w="2384425" h="2157095">
                  <a:moveTo>
                    <a:pt x="685729" y="2137155"/>
                  </a:moveTo>
                  <a:lnTo>
                    <a:pt x="608387" y="2137155"/>
                  </a:lnTo>
                  <a:lnTo>
                    <a:pt x="608387" y="2156745"/>
                  </a:lnTo>
                  <a:lnTo>
                    <a:pt x="685729" y="2156745"/>
                  </a:lnTo>
                  <a:lnTo>
                    <a:pt x="685729" y="2137155"/>
                  </a:lnTo>
                  <a:close/>
                </a:path>
                <a:path w="2384425" h="2157095">
                  <a:moveTo>
                    <a:pt x="819575" y="2137155"/>
                  </a:moveTo>
                  <a:lnTo>
                    <a:pt x="742821" y="2137155"/>
                  </a:lnTo>
                  <a:lnTo>
                    <a:pt x="742821" y="2156745"/>
                  </a:lnTo>
                  <a:lnTo>
                    <a:pt x="819575" y="2156745"/>
                  </a:lnTo>
                  <a:lnTo>
                    <a:pt x="819575" y="2137155"/>
                  </a:lnTo>
                  <a:close/>
                </a:path>
                <a:path w="2384425" h="2157095">
                  <a:moveTo>
                    <a:pt x="954009" y="2137155"/>
                  </a:moveTo>
                  <a:lnTo>
                    <a:pt x="877281" y="2137155"/>
                  </a:lnTo>
                  <a:lnTo>
                    <a:pt x="877281" y="2156745"/>
                  </a:lnTo>
                  <a:lnTo>
                    <a:pt x="954009" y="2156745"/>
                  </a:lnTo>
                  <a:lnTo>
                    <a:pt x="954009" y="2137155"/>
                  </a:lnTo>
                  <a:close/>
                </a:path>
                <a:path w="2384425" h="2157095">
                  <a:moveTo>
                    <a:pt x="1088443" y="2137155"/>
                  </a:moveTo>
                  <a:lnTo>
                    <a:pt x="1011715" y="2137155"/>
                  </a:lnTo>
                  <a:lnTo>
                    <a:pt x="1011715" y="2156745"/>
                  </a:lnTo>
                  <a:lnTo>
                    <a:pt x="1088443" y="2156745"/>
                  </a:lnTo>
                  <a:lnTo>
                    <a:pt x="1088443" y="2137155"/>
                  </a:lnTo>
                  <a:close/>
                </a:path>
                <a:path w="2384425" h="2157095">
                  <a:moveTo>
                    <a:pt x="1222902" y="2137155"/>
                  </a:moveTo>
                  <a:lnTo>
                    <a:pt x="1146174" y="2137155"/>
                  </a:lnTo>
                  <a:lnTo>
                    <a:pt x="1146174" y="2156745"/>
                  </a:lnTo>
                  <a:lnTo>
                    <a:pt x="1222902" y="2156745"/>
                  </a:lnTo>
                  <a:lnTo>
                    <a:pt x="1222902" y="2137155"/>
                  </a:lnTo>
                  <a:close/>
                </a:path>
                <a:path w="2384425" h="2157095">
                  <a:moveTo>
                    <a:pt x="1357337" y="2137155"/>
                  </a:moveTo>
                  <a:lnTo>
                    <a:pt x="1280608" y="2137155"/>
                  </a:lnTo>
                  <a:lnTo>
                    <a:pt x="1280608" y="2156745"/>
                  </a:lnTo>
                  <a:lnTo>
                    <a:pt x="1357337" y="2156745"/>
                  </a:lnTo>
                  <a:lnTo>
                    <a:pt x="1357337" y="2137155"/>
                  </a:lnTo>
                  <a:close/>
                </a:path>
                <a:path w="2384425" h="2157095">
                  <a:moveTo>
                    <a:pt x="1491796" y="2137155"/>
                  </a:moveTo>
                  <a:lnTo>
                    <a:pt x="1415043" y="2137155"/>
                  </a:lnTo>
                  <a:lnTo>
                    <a:pt x="1415043" y="2156745"/>
                  </a:lnTo>
                  <a:lnTo>
                    <a:pt x="1491796" y="2156745"/>
                  </a:lnTo>
                  <a:lnTo>
                    <a:pt x="1491796" y="2137155"/>
                  </a:lnTo>
                  <a:close/>
                </a:path>
                <a:path w="2384425" h="2157095">
                  <a:moveTo>
                    <a:pt x="1626230" y="2137155"/>
                  </a:moveTo>
                  <a:lnTo>
                    <a:pt x="1549502" y="2137155"/>
                  </a:lnTo>
                  <a:lnTo>
                    <a:pt x="1549502" y="2156745"/>
                  </a:lnTo>
                  <a:lnTo>
                    <a:pt x="1626230" y="2156745"/>
                  </a:lnTo>
                  <a:lnTo>
                    <a:pt x="1626230" y="2137155"/>
                  </a:lnTo>
                  <a:close/>
                </a:path>
                <a:path w="2384425" h="2157095">
                  <a:moveTo>
                    <a:pt x="1760690" y="2137155"/>
                  </a:moveTo>
                  <a:lnTo>
                    <a:pt x="1683936" y="2137155"/>
                  </a:lnTo>
                  <a:lnTo>
                    <a:pt x="1683936" y="2156745"/>
                  </a:lnTo>
                  <a:lnTo>
                    <a:pt x="1760690" y="2156745"/>
                  </a:lnTo>
                  <a:lnTo>
                    <a:pt x="1760690" y="2137155"/>
                  </a:lnTo>
                  <a:close/>
                </a:path>
                <a:path w="2384425" h="2157095">
                  <a:moveTo>
                    <a:pt x="1895124" y="2137155"/>
                  </a:moveTo>
                  <a:lnTo>
                    <a:pt x="1818396" y="2137155"/>
                  </a:lnTo>
                  <a:lnTo>
                    <a:pt x="1818396" y="2156745"/>
                  </a:lnTo>
                  <a:lnTo>
                    <a:pt x="1895124" y="2156745"/>
                  </a:lnTo>
                  <a:lnTo>
                    <a:pt x="1895124" y="2137155"/>
                  </a:lnTo>
                  <a:close/>
                </a:path>
                <a:path w="2384425" h="2157095">
                  <a:moveTo>
                    <a:pt x="2029584" y="2137155"/>
                  </a:moveTo>
                  <a:lnTo>
                    <a:pt x="1952830" y="2137155"/>
                  </a:lnTo>
                  <a:lnTo>
                    <a:pt x="1952830" y="2156745"/>
                  </a:lnTo>
                  <a:lnTo>
                    <a:pt x="2029584" y="2156745"/>
                  </a:lnTo>
                  <a:lnTo>
                    <a:pt x="2029584" y="2137155"/>
                  </a:lnTo>
                  <a:close/>
                </a:path>
                <a:path w="2384425" h="2157095">
                  <a:moveTo>
                    <a:pt x="2164018" y="2137155"/>
                  </a:moveTo>
                  <a:lnTo>
                    <a:pt x="2087290" y="2137155"/>
                  </a:lnTo>
                  <a:lnTo>
                    <a:pt x="2087290" y="2156745"/>
                  </a:lnTo>
                  <a:lnTo>
                    <a:pt x="2164018" y="2156745"/>
                  </a:lnTo>
                  <a:lnTo>
                    <a:pt x="2164018" y="2137155"/>
                  </a:lnTo>
                  <a:close/>
                </a:path>
                <a:path w="2384425" h="2157095">
                  <a:moveTo>
                    <a:pt x="2298452" y="2137155"/>
                  </a:moveTo>
                  <a:lnTo>
                    <a:pt x="2221724" y="2137155"/>
                  </a:lnTo>
                  <a:lnTo>
                    <a:pt x="2221724" y="2156745"/>
                  </a:lnTo>
                  <a:lnTo>
                    <a:pt x="2298452" y="2156745"/>
                  </a:lnTo>
                  <a:lnTo>
                    <a:pt x="2298452" y="2137155"/>
                  </a:lnTo>
                  <a:close/>
                </a:path>
                <a:path w="2384425" h="2157095">
                  <a:moveTo>
                    <a:pt x="2365388" y="2137155"/>
                  </a:moveTo>
                  <a:lnTo>
                    <a:pt x="2355544" y="2137155"/>
                  </a:lnTo>
                  <a:lnTo>
                    <a:pt x="2355544" y="2156745"/>
                  </a:lnTo>
                  <a:lnTo>
                    <a:pt x="2384410" y="2156745"/>
                  </a:lnTo>
                  <a:lnTo>
                    <a:pt x="2384410" y="2146949"/>
                  </a:lnTo>
                  <a:lnTo>
                    <a:pt x="2365388" y="2146949"/>
                  </a:lnTo>
                  <a:lnTo>
                    <a:pt x="2365388" y="2137155"/>
                  </a:lnTo>
                  <a:close/>
                </a:path>
                <a:path w="2384425" h="2157095">
                  <a:moveTo>
                    <a:pt x="2384410" y="2089405"/>
                  </a:moveTo>
                  <a:lnTo>
                    <a:pt x="2365388" y="2089405"/>
                  </a:lnTo>
                  <a:lnTo>
                    <a:pt x="2365388" y="2146949"/>
                  </a:lnTo>
                  <a:lnTo>
                    <a:pt x="2375206" y="2137155"/>
                  </a:lnTo>
                  <a:lnTo>
                    <a:pt x="2384410" y="2137155"/>
                  </a:lnTo>
                  <a:lnTo>
                    <a:pt x="2384410" y="2089405"/>
                  </a:lnTo>
                  <a:close/>
                </a:path>
                <a:path w="2384425" h="2157095">
                  <a:moveTo>
                    <a:pt x="2384410" y="2137155"/>
                  </a:moveTo>
                  <a:lnTo>
                    <a:pt x="2375206" y="2137155"/>
                  </a:lnTo>
                  <a:lnTo>
                    <a:pt x="2365388" y="2146949"/>
                  </a:lnTo>
                  <a:lnTo>
                    <a:pt x="2384410" y="2146949"/>
                  </a:lnTo>
                  <a:lnTo>
                    <a:pt x="2384410" y="2137155"/>
                  </a:lnTo>
                  <a:close/>
                </a:path>
                <a:path w="2384425" h="2157095">
                  <a:moveTo>
                    <a:pt x="2384410" y="1955346"/>
                  </a:moveTo>
                  <a:lnTo>
                    <a:pt x="2365388" y="1955346"/>
                  </a:lnTo>
                  <a:lnTo>
                    <a:pt x="2365388" y="2031859"/>
                  </a:lnTo>
                  <a:lnTo>
                    <a:pt x="2384410" y="2031859"/>
                  </a:lnTo>
                  <a:lnTo>
                    <a:pt x="2384410" y="1955346"/>
                  </a:lnTo>
                  <a:close/>
                </a:path>
                <a:path w="2384425" h="2157095">
                  <a:moveTo>
                    <a:pt x="2384410" y="1821263"/>
                  </a:moveTo>
                  <a:lnTo>
                    <a:pt x="2365388" y="1821263"/>
                  </a:lnTo>
                  <a:lnTo>
                    <a:pt x="2365388" y="1897794"/>
                  </a:lnTo>
                  <a:lnTo>
                    <a:pt x="2384410" y="1897794"/>
                  </a:lnTo>
                  <a:lnTo>
                    <a:pt x="2384410" y="1821263"/>
                  </a:lnTo>
                  <a:close/>
                </a:path>
                <a:path w="2384425" h="2157095">
                  <a:moveTo>
                    <a:pt x="2384410" y="1687206"/>
                  </a:moveTo>
                  <a:lnTo>
                    <a:pt x="2365388" y="1687206"/>
                  </a:lnTo>
                  <a:lnTo>
                    <a:pt x="2365388" y="1763712"/>
                  </a:lnTo>
                  <a:lnTo>
                    <a:pt x="2384410" y="1763712"/>
                  </a:lnTo>
                  <a:lnTo>
                    <a:pt x="2384410" y="1687206"/>
                  </a:lnTo>
                  <a:close/>
                </a:path>
                <a:path w="2384425" h="2157095">
                  <a:moveTo>
                    <a:pt x="2384410" y="1553124"/>
                  </a:moveTo>
                  <a:lnTo>
                    <a:pt x="2365388" y="1553124"/>
                  </a:lnTo>
                  <a:lnTo>
                    <a:pt x="2365388" y="1629655"/>
                  </a:lnTo>
                  <a:lnTo>
                    <a:pt x="2384410" y="1629655"/>
                  </a:lnTo>
                  <a:lnTo>
                    <a:pt x="2384410" y="1553124"/>
                  </a:lnTo>
                  <a:close/>
                </a:path>
                <a:path w="2384425" h="2157095">
                  <a:moveTo>
                    <a:pt x="2384410" y="1419067"/>
                  </a:moveTo>
                  <a:lnTo>
                    <a:pt x="2365388" y="1419067"/>
                  </a:lnTo>
                  <a:lnTo>
                    <a:pt x="2365388" y="1495572"/>
                  </a:lnTo>
                  <a:lnTo>
                    <a:pt x="2384410" y="1495572"/>
                  </a:lnTo>
                  <a:lnTo>
                    <a:pt x="2384410" y="1419067"/>
                  </a:lnTo>
                  <a:close/>
                </a:path>
                <a:path w="2384425" h="2157095">
                  <a:moveTo>
                    <a:pt x="2384410" y="1284984"/>
                  </a:moveTo>
                  <a:lnTo>
                    <a:pt x="2365388" y="1284984"/>
                  </a:lnTo>
                  <a:lnTo>
                    <a:pt x="2365388" y="1361515"/>
                  </a:lnTo>
                  <a:lnTo>
                    <a:pt x="2384410" y="1361515"/>
                  </a:lnTo>
                  <a:lnTo>
                    <a:pt x="2384410" y="1284984"/>
                  </a:lnTo>
                  <a:close/>
                </a:path>
                <a:path w="2384425" h="2157095">
                  <a:moveTo>
                    <a:pt x="2384410" y="1150927"/>
                  </a:moveTo>
                  <a:lnTo>
                    <a:pt x="2365388" y="1150927"/>
                  </a:lnTo>
                  <a:lnTo>
                    <a:pt x="2365388" y="1227433"/>
                  </a:lnTo>
                  <a:lnTo>
                    <a:pt x="2384410" y="1227433"/>
                  </a:lnTo>
                  <a:lnTo>
                    <a:pt x="2384410" y="1150927"/>
                  </a:lnTo>
                  <a:close/>
                </a:path>
                <a:path w="2384425" h="2157095">
                  <a:moveTo>
                    <a:pt x="2384410" y="1016845"/>
                  </a:moveTo>
                  <a:lnTo>
                    <a:pt x="2365388" y="1016845"/>
                  </a:lnTo>
                  <a:lnTo>
                    <a:pt x="2365388" y="1093376"/>
                  </a:lnTo>
                  <a:lnTo>
                    <a:pt x="2384410" y="1093376"/>
                  </a:lnTo>
                  <a:lnTo>
                    <a:pt x="2384410" y="1016845"/>
                  </a:lnTo>
                  <a:close/>
                </a:path>
                <a:path w="2384425" h="2157095">
                  <a:moveTo>
                    <a:pt x="2384410" y="882788"/>
                  </a:moveTo>
                  <a:lnTo>
                    <a:pt x="2365388" y="882788"/>
                  </a:lnTo>
                  <a:lnTo>
                    <a:pt x="2365388" y="959293"/>
                  </a:lnTo>
                  <a:lnTo>
                    <a:pt x="2384410" y="959293"/>
                  </a:lnTo>
                  <a:lnTo>
                    <a:pt x="2384410" y="882788"/>
                  </a:lnTo>
                  <a:close/>
                </a:path>
                <a:path w="2384425" h="2157095">
                  <a:moveTo>
                    <a:pt x="2384410" y="748706"/>
                  </a:moveTo>
                  <a:lnTo>
                    <a:pt x="2365388" y="748706"/>
                  </a:lnTo>
                  <a:lnTo>
                    <a:pt x="2365388" y="825236"/>
                  </a:lnTo>
                  <a:lnTo>
                    <a:pt x="2384410" y="825237"/>
                  </a:lnTo>
                  <a:lnTo>
                    <a:pt x="2384410" y="748706"/>
                  </a:lnTo>
                  <a:close/>
                </a:path>
                <a:path w="2384425" h="2157095">
                  <a:moveTo>
                    <a:pt x="2384410" y="614649"/>
                  </a:moveTo>
                  <a:lnTo>
                    <a:pt x="2365388" y="614649"/>
                  </a:lnTo>
                  <a:lnTo>
                    <a:pt x="2365388" y="691180"/>
                  </a:lnTo>
                  <a:lnTo>
                    <a:pt x="2384410" y="691180"/>
                  </a:lnTo>
                  <a:lnTo>
                    <a:pt x="2384410" y="614649"/>
                  </a:lnTo>
                  <a:close/>
                </a:path>
                <a:path w="2384425" h="2157095">
                  <a:moveTo>
                    <a:pt x="2384410" y="480566"/>
                  </a:moveTo>
                  <a:lnTo>
                    <a:pt x="2365388" y="480566"/>
                  </a:lnTo>
                  <a:lnTo>
                    <a:pt x="2365388" y="557097"/>
                  </a:lnTo>
                  <a:lnTo>
                    <a:pt x="2384410" y="557097"/>
                  </a:lnTo>
                  <a:lnTo>
                    <a:pt x="2384410" y="480566"/>
                  </a:lnTo>
                  <a:close/>
                </a:path>
                <a:path w="2384425" h="2157095">
                  <a:moveTo>
                    <a:pt x="2384410" y="346509"/>
                  </a:moveTo>
                  <a:lnTo>
                    <a:pt x="2365388" y="346509"/>
                  </a:lnTo>
                  <a:lnTo>
                    <a:pt x="2365388" y="423040"/>
                  </a:lnTo>
                  <a:lnTo>
                    <a:pt x="2384410" y="423040"/>
                  </a:lnTo>
                  <a:lnTo>
                    <a:pt x="2384410" y="346509"/>
                  </a:lnTo>
                  <a:close/>
                </a:path>
                <a:path w="2384425" h="2157095">
                  <a:moveTo>
                    <a:pt x="2384410" y="212427"/>
                  </a:moveTo>
                  <a:lnTo>
                    <a:pt x="2365388" y="212427"/>
                  </a:lnTo>
                  <a:lnTo>
                    <a:pt x="2365388" y="288958"/>
                  </a:lnTo>
                  <a:lnTo>
                    <a:pt x="2384410" y="288958"/>
                  </a:lnTo>
                  <a:lnTo>
                    <a:pt x="2384410" y="212427"/>
                  </a:lnTo>
                  <a:close/>
                </a:path>
                <a:path w="2384425" h="2157095">
                  <a:moveTo>
                    <a:pt x="2384410" y="78370"/>
                  </a:moveTo>
                  <a:lnTo>
                    <a:pt x="2365388" y="78370"/>
                  </a:lnTo>
                  <a:lnTo>
                    <a:pt x="2365388" y="155514"/>
                  </a:lnTo>
                  <a:lnTo>
                    <a:pt x="2384410" y="155514"/>
                  </a:lnTo>
                  <a:lnTo>
                    <a:pt x="2384410" y="78370"/>
                  </a:lnTo>
                  <a:close/>
                </a:path>
              </a:pathLst>
            </a:custGeom>
            <a:solidFill>
              <a:srgbClr val="800080"/>
            </a:solidFill>
          </p:spPr>
          <p:txBody>
            <a:bodyPr wrap="square" lIns="0" tIns="0" rIns="0" bIns="0" rtlCol="0"/>
            <a:lstStyle/>
            <a:p/>
          </p:txBody>
        </p:sp>
        <p:sp>
          <p:nvSpPr>
            <p:cNvPr id="15" name="object 15" descr=""/>
            <p:cNvSpPr/>
            <p:nvPr/>
          </p:nvSpPr>
          <p:spPr>
            <a:xfrm>
              <a:off x="7971906" y="1888596"/>
              <a:ext cx="2384425" cy="2157095"/>
            </a:xfrm>
            <a:custGeom>
              <a:avLst/>
              <a:gdLst/>
              <a:ahLst/>
              <a:cxnLst/>
              <a:rect l="l" t="t" r="r" b="b"/>
              <a:pathLst>
                <a:path w="2384425" h="2157095">
                  <a:moveTo>
                    <a:pt x="2375206" y="18979"/>
                  </a:moveTo>
                  <a:lnTo>
                    <a:pt x="2298452" y="18979"/>
                  </a:lnTo>
                  <a:lnTo>
                    <a:pt x="2298452" y="0"/>
                  </a:lnTo>
                  <a:lnTo>
                    <a:pt x="2375206" y="0"/>
                  </a:lnTo>
                  <a:lnTo>
                    <a:pt x="2375206" y="18979"/>
                  </a:lnTo>
                  <a:close/>
                </a:path>
                <a:path w="2384425" h="2157095">
                  <a:moveTo>
                    <a:pt x="2240746" y="18979"/>
                  </a:moveTo>
                  <a:lnTo>
                    <a:pt x="2164018" y="18979"/>
                  </a:lnTo>
                  <a:lnTo>
                    <a:pt x="2164018" y="0"/>
                  </a:lnTo>
                  <a:lnTo>
                    <a:pt x="2240746" y="0"/>
                  </a:lnTo>
                  <a:lnTo>
                    <a:pt x="2240746" y="18979"/>
                  </a:lnTo>
                  <a:close/>
                </a:path>
                <a:path w="2384425" h="2157095">
                  <a:moveTo>
                    <a:pt x="2106312" y="18979"/>
                  </a:moveTo>
                  <a:lnTo>
                    <a:pt x="2029584" y="18979"/>
                  </a:lnTo>
                  <a:lnTo>
                    <a:pt x="2029584" y="0"/>
                  </a:lnTo>
                  <a:lnTo>
                    <a:pt x="2106312" y="0"/>
                  </a:lnTo>
                  <a:lnTo>
                    <a:pt x="2106312" y="18979"/>
                  </a:lnTo>
                  <a:close/>
                </a:path>
                <a:path w="2384425" h="2157095">
                  <a:moveTo>
                    <a:pt x="1971852" y="18979"/>
                  </a:moveTo>
                  <a:lnTo>
                    <a:pt x="1895124" y="18979"/>
                  </a:lnTo>
                  <a:lnTo>
                    <a:pt x="1895124" y="0"/>
                  </a:lnTo>
                  <a:lnTo>
                    <a:pt x="1971852" y="0"/>
                  </a:lnTo>
                  <a:lnTo>
                    <a:pt x="1971852" y="18979"/>
                  </a:lnTo>
                  <a:close/>
                </a:path>
                <a:path w="2384425" h="2157095">
                  <a:moveTo>
                    <a:pt x="1837418" y="18979"/>
                  </a:moveTo>
                  <a:lnTo>
                    <a:pt x="1760690" y="18979"/>
                  </a:lnTo>
                  <a:lnTo>
                    <a:pt x="1760690" y="0"/>
                  </a:lnTo>
                  <a:lnTo>
                    <a:pt x="1837418" y="0"/>
                  </a:lnTo>
                  <a:lnTo>
                    <a:pt x="1837418" y="18979"/>
                  </a:lnTo>
                  <a:close/>
                </a:path>
                <a:path w="2384425" h="2157095">
                  <a:moveTo>
                    <a:pt x="1702984" y="18979"/>
                  </a:moveTo>
                  <a:lnTo>
                    <a:pt x="1626230" y="18979"/>
                  </a:lnTo>
                  <a:lnTo>
                    <a:pt x="1626230" y="0"/>
                  </a:lnTo>
                  <a:lnTo>
                    <a:pt x="1702984" y="0"/>
                  </a:lnTo>
                  <a:lnTo>
                    <a:pt x="1702984" y="18979"/>
                  </a:lnTo>
                  <a:close/>
                </a:path>
                <a:path w="2384425" h="2157095">
                  <a:moveTo>
                    <a:pt x="1568524" y="18979"/>
                  </a:moveTo>
                  <a:lnTo>
                    <a:pt x="1491796" y="18979"/>
                  </a:lnTo>
                  <a:lnTo>
                    <a:pt x="1491796" y="0"/>
                  </a:lnTo>
                  <a:lnTo>
                    <a:pt x="1568524" y="0"/>
                  </a:lnTo>
                  <a:lnTo>
                    <a:pt x="1568524" y="18979"/>
                  </a:lnTo>
                  <a:close/>
                </a:path>
                <a:path w="2384425" h="2157095">
                  <a:moveTo>
                    <a:pt x="1434090" y="18979"/>
                  </a:moveTo>
                  <a:lnTo>
                    <a:pt x="1357337" y="18979"/>
                  </a:lnTo>
                  <a:lnTo>
                    <a:pt x="1357337" y="0"/>
                  </a:lnTo>
                  <a:lnTo>
                    <a:pt x="1434090" y="0"/>
                  </a:lnTo>
                  <a:lnTo>
                    <a:pt x="1434090" y="18979"/>
                  </a:lnTo>
                  <a:close/>
                </a:path>
                <a:path w="2384425" h="2157095">
                  <a:moveTo>
                    <a:pt x="1299631" y="18979"/>
                  </a:moveTo>
                  <a:lnTo>
                    <a:pt x="1222902" y="18979"/>
                  </a:lnTo>
                  <a:lnTo>
                    <a:pt x="1222902" y="0"/>
                  </a:lnTo>
                  <a:lnTo>
                    <a:pt x="1299631" y="0"/>
                  </a:lnTo>
                  <a:lnTo>
                    <a:pt x="1299631" y="18979"/>
                  </a:lnTo>
                  <a:close/>
                </a:path>
                <a:path w="2384425" h="2157095">
                  <a:moveTo>
                    <a:pt x="1165197" y="18979"/>
                  </a:moveTo>
                  <a:lnTo>
                    <a:pt x="1088443" y="18979"/>
                  </a:lnTo>
                  <a:lnTo>
                    <a:pt x="1088443" y="0"/>
                  </a:lnTo>
                  <a:lnTo>
                    <a:pt x="1165197" y="0"/>
                  </a:lnTo>
                  <a:lnTo>
                    <a:pt x="1165197" y="18979"/>
                  </a:lnTo>
                  <a:close/>
                </a:path>
                <a:path w="2384425" h="2157095">
                  <a:moveTo>
                    <a:pt x="1031351" y="18979"/>
                  </a:moveTo>
                  <a:lnTo>
                    <a:pt x="954009" y="18979"/>
                  </a:lnTo>
                  <a:lnTo>
                    <a:pt x="954009" y="0"/>
                  </a:lnTo>
                  <a:lnTo>
                    <a:pt x="1031351" y="0"/>
                  </a:lnTo>
                  <a:lnTo>
                    <a:pt x="1031351" y="18979"/>
                  </a:lnTo>
                  <a:close/>
                </a:path>
                <a:path w="2384425" h="2157095">
                  <a:moveTo>
                    <a:pt x="896916" y="18979"/>
                  </a:moveTo>
                  <a:lnTo>
                    <a:pt x="819575" y="18979"/>
                  </a:lnTo>
                  <a:lnTo>
                    <a:pt x="819575" y="0"/>
                  </a:lnTo>
                  <a:lnTo>
                    <a:pt x="896916" y="0"/>
                  </a:lnTo>
                  <a:lnTo>
                    <a:pt x="896916" y="18979"/>
                  </a:lnTo>
                  <a:close/>
                </a:path>
                <a:path w="2384425" h="2157095">
                  <a:moveTo>
                    <a:pt x="762482" y="18979"/>
                  </a:moveTo>
                  <a:lnTo>
                    <a:pt x="685729" y="18979"/>
                  </a:lnTo>
                  <a:lnTo>
                    <a:pt x="685729" y="0"/>
                  </a:lnTo>
                  <a:lnTo>
                    <a:pt x="762482" y="0"/>
                  </a:lnTo>
                  <a:lnTo>
                    <a:pt x="762482" y="18979"/>
                  </a:lnTo>
                  <a:close/>
                </a:path>
                <a:path w="2384425" h="2157095">
                  <a:moveTo>
                    <a:pt x="628023" y="18979"/>
                  </a:moveTo>
                  <a:lnTo>
                    <a:pt x="551294" y="18979"/>
                  </a:lnTo>
                  <a:lnTo>
                    <a:pt x="551294" y="0"/>
                  </a:lnTo>
                  <a:lnTo>
                    <a:pt x="628023" y="0"/>
                  </a:lnTo>
                  <a:lnTo>
                    <a:pt x="628023" y="18979"/>
                  </a:lnTo>
                  <a:close/>
                </a:path>
                <a:path w="2384425" h="2157095">
                  <a:moveTo>
                    <a:pt x="493588" y="18979"/>
                  </a:moveTo>
                  <a:lnTo>
                    <a:pt x="416835" y="18979"/>
                  </a:lnTo>
                  <a:lnTo>
                    <a:pt x="416835" y="0"/>
                  </a:lnTo>
                  <a:lnTo>
                    <a:pt x="493588" y="0"/>
                  </a:lnTo>
                  <a:lnTo>
                    <a:pt x="493588" y="18979"/>
                  </a:lnTo>
                  <a:close/>
                </a:path>
                <a:path w="2384425" h="2157095">
                  <a:moveTo>
                    <a:pt x="359129" y="18979"/>
                  </a:moveTo>
                  <a:lnTo>
                    <a:pt x="282401" y="18979"/>
                  </a:lnTo>
                  <a:lnTo>
                    <a:pt x="282401" y="0"/>
                  </a:lnTo>
                  <a:lnTo>
                    <a:pt x="359129" y="0"/>
                  </a:lnTo>
                  <a:lnTo>
                    <a:pt x="359129" y="18979"/>
                  </a:lnTo>
                  <a:close/>
                </a:path>
                <a:path w="2384425" h="2157095">
                  <a:moveTo>
                    <a:pt x="224695" y="18979"/>
                  </a:moveTo>
                  <a:lnTo>
                    <a:pt x="147951" y="18979"/>
                  </a:lnTo>
                  <a:lnTo>
                    <a:pt x="147951" y="0"/>
                  </a:lnTo>
                  <a:lnTo>
                    <a:pt x="224695" y="0"/>
                  </a:lnTo>
                  <a:lnTo>
                    <a:pt x="224695" y="18979"/>
                  </a:lnTo>
                  <a:close/>
                </a:path>
                <a:path w="2384425" h="2157095">
                  <a:moveTo>
                    <a:pt x="90245" y="18979"/>
                  </a:moveTo>
                  <a:lnTo>
                    <a:pt x="13507" y="18979"/>
                  </a:lnTo>
                  <a:lnTo>
                    <a:pt x="13507" y="0"/>
                  </a:lnTo>
                  <a:lnTo>
                    <a:pt x="90245" y="0"/>
                  </a:lnTo>
                  <a:lnTo>
                    <a:pt x="90245" y="18979"/>
                  </a:lnTo>
                  <a:close/>
                </a:path>
                <a:path w="2384425" h="2157095">
                  <a:moveTo>
                    <a:pt x="19032" y="63069"/>
                  </a:moveTo>
                  <a:lnTo>
                    <a:pt x="19032" y="139574"/>
                  </a:lnTo>
                  <a:lnTo>
                    <a:pt x="0" y="139574"/>
                  </a:lnTo>
                  <a:lnTo>
                    <a:pt x="0" y="63069"/>
                  </a:lnTo>
                  <a:lnTo>
                    <a:pt x="19032" y="63069"/>
                  </a:lnTo>
                  <a:close/>
                </a:path>
                <a:path w="2384425" h="2157095">
                  <a:moveTo>
                    <a:pt x="19032" y="197126"/>
                  </a:moveTo>
                  <a:lnTo>
                    <a:pt x="19032" y="273656"/>
                  </a:lnTo>
                  <a:lnTo>
                    <a:pt x="0" y="273656"/>
                  </a:lnTo>
                  <a:lnTo>
                    <a:pt x="0" y="197126"/>
                  </a:lnTo>
                  <a:lnTo>
                    <a:pt x="19032" y="197126"/>
                  </a:lnTo>
                  <a:close/>
                </a:path>
                <a:path w="2384425" h="2157095">
                  <a:moveTo>
                    <a:pt x="19032" y="331208"/>
                  </a:moveTo>
                  <a:lnTo>
                    <a:pt x="19032" y="407713"/>
                  </a:lnTo>
                  <a:lnTo>
                    <a:pt x="0" y="407713"/>
                  </a:lnTo>
                  <a:lnTo>
                    <a:pt x="0" y="331208"/>
                  </a:lnTo>
                  <a:lnTo>
                    <a:pt x="19032" y="331208"/>
                  </a:lnTo>
                  <a:close/>
                </a:path>
                <a:path w="2384425" h="2157095">
                  <a:moveTo>
                    <a:pt x="19032" y="465265"/>
                  </a:moveTo>
                  <a:lnTo>
                    <a:pt x="19032" y="541796"/>
                  </a:lnTo>
                  <a:lnTo>
                    <a:pt x="0" y="541796"/>
                  </a:lnTo>
                  <a:lnTo>
                    <a:pt x="0" y="465265"/>
                  </a:lnTo>
                  <a:lnTo>
                    <a:pt x="19032" y="465265"/>
                  </a:lnTo>
                  <a:close/>
                </a:path>
                <a:path w="2384425" h="2157095">
                  <a:moveTo>
                    <a:pt x="19032" y="599347"/>
                  </a:moveTo>
                  <a:lnTo>
                    <a:pt x="19032" y="675853"/>
                  </a:lnTo>
                  <a:lnTo>
                    <a:pt x="0" y="675853"/>
                  </a:lnTo>
                  <a:lnTo>
                    <a:pt x="0" y="599347"/>
                  </a:lnTo>
                  <a:lnTo>
                    <a:pt x="19032" y="599347"/>
                  </a:lnTo>
                  <a:close/>
                </a:path>
                <a:path w="2384425" h="2157095">
                  <a:moveTo>
                    <a:pt x="19032" y="733404"/>
                  </a:moveTo>
                  <a:lnTo>
                    <a:pt x="19032" y="809935"/>
                  </a:lnTo>
                  <a:lnTo>
                    <a:pt x="0" y="809935"/>
                  </a:lnTo>
                  <a:lnTo>
                    <a:pt x="0" y="733404"/>
                  </a:lnTo>
                  <a:lnTo>
                    <a:pt x="19032" y="733404"/>
                  </a:lnTo>
                  <a:close/>
                </a:path>
                <a:path w="2384425" h="2157095">
                  <a:moveTo>
                    <a:pt x="19032" y="867487"/>
                  </a:moveTo>
                  <a:lnTo>
                    <a:pt x="19032" y="943992"/>
                  </a:lnTo>
                  <a:lnTo>
                    <a:pt x="0" y="943992"/>
                  </a:lnTo>
                  <a:lnTo>
                    <a:pt x="0" y="867487"/>
                  </a:lnTo>
                  <a:lnTo>
                    <a:pt x="19032" y="867487"/>
                  </a:lnTo>
                  <a:close/>
                </a:path>
                <a:path w="2384425" h="2157095">
                  <a:moveTo>
                    <a:pt x="19032" y="1001544"/>
                  </a:moveTo>
                  <a:lnTo>
                    <a:pt x="19032" y="1078075"/>
                  </a:lnTo>
                  <a:lnTo>
                    <a:pt x="0" y="1078075"/>
                  </a:lnTo>
                  <a:lnTo>
                    <a:pt x="0" y="1001544"/>
                  </a:lnTo>
                  <a:lnTo>
                    <a:pt x="19032" y="1001544"/>
                  </a:lnTo>
                  <a:close/>
                </a:path>
                <a:path w="2384425" h="2157095">
                  <a:moveTo>
                    <a:pt x="19032" y="1135626"/>
                  </a:moveTo>
                  <a:lnTo>
                    <a:pt x="19032" y="1212132"/>
                  </a:lnTo>
                  <a:lnTo>
                    <a:pt x="0" y="1212132"/>
                  </a:lnTo>
                  <a:lnTo>
                    <a:pt x="0" y="1135626"/>
                  </a:lnTo>
                  <a:lnTo>
                    <a:pt x="19032" y="1135626"/>
                  </a:lnTo>
                  <a:close/>
                </a:path>
                <a:path w="2384425" h="2157095">
                  <a:moveTo>
                    <a:pt x="19032" y="1269683"/>
                  </a:moveTo>
                  <a:lnTo>
                    <a:pt x="19032" y="1346214"/>
                  </a:lnTo>
                  <a:lnTo>
                    <a:pt x="0" y="1346214"/>
                  </a:lnTo>
                  <a:lnTo>
                    <a:pt x="0" y="1269683"/>
                  </a:lnTo>
                  <a:lnTo>
                    <a:pt x="19032" y="1269683"/>
                  </a:lnTo>
                  <a:close/>
                </a:path>
                <a:path w="2384425" h="2157095">
                  <a:moveTo>
                    <a:pt x="19032" y="1403766"/>
                  </a:moveTo>
                  <a:lnTo>
                    <a:pt x="19032" y="1480271"/>
                  </a:lnTo>
                  <a:lnTo>
                    <a:pt x="0" y="1480271"/>
                  </a:lnTo>
                  <a:lnTo>
                    <a:pt x="0" y="1403766"/>
                  </a:lnTo>
                  <a:lnTo>
                    <a:pt x="19032" y="1403766"/>
                  </a:lnTo>
                  <a:close/>
                </a:path>
                <a:path w="2384425" h="2157095">
                  <a:moveTo>
                    <a:pt x="19032" y="1537822"/>
                  </a:moveTo>
                  <a:lnTo>
                    <a:pt x="19032" y="1614353"/>
                  </a:lnTo>
                  <a:lnTo>
                    <a:pt x="0" y="1614353"/>
                  </a:lnTo>
                  <a:lnTo>
                    <a:pt x="0" y="1537822"/>
                  </a:lnTo>
                  <a:lnTo>
                    <a:pt x="19032" y="1537822"/>
                  </a:lnTo>
                  <a:close/>
                </a:path>
                <a:path w="2384425" h="2157095">
                  <a:moveTo>
                    <a:pt x="19032" y="1671879"/>
                  </a:moveTo>
                  <a:lnTo>
                    <a:pt x="19032" y="1748410"/>
                  </a:lnTo>
                  <a:lnTo>
                    <a:pt x="0" y="1748410"/>
                  </a:lnTo>
                  <a:lnTo>
                    <a:pt x="0" y="1671879"/>
                  </a:lnTo>
                  <a:lnTo>
                    <a:pt x="19032" y="1671879"/>
                  </a:lnTo>
                  <a:close/>
                </a:path>
                <a:path w="2384425" h="2157095">
                  <a:moveTo>
                    <a:pt x="19032" y="1805962"/>
                  </a:moveTo>
                  <a:lnTo>
                    <a:pt x="19032" y="1882493"/>
                  </a:lnTo>
                  <a:lnTo>
                    <a:pt x="0" y="1882493"/>
                  </a:lnTo>
                  <a:lnTo>
                    <a:pt x="0" y="1805962"/>
                  </a:lnTo>
                  <a:lnTo>
                    <a:pt x="19032" y="1805962"/>
                  </a:lnTo>
                  <a:close/>
                </a:path>
                <a:path w="2384425" h="2157095">
                  <a:moveTo>
                    <a:pt x="19032" y="1940019"/>
                  </a:moveTo>
                  <a:lnTo>
                    <a:pt x="19032" y="2016550"/>
                  </a:lnTo>
                  <a:lnTo>
                    <a:pt x="0" y="2016550"/>
                  </a:lnTo>
                  <a:lnTo>
                    <a:pt x="0" y="1940019"/>
                  </a:lnTo>
                  <a:lnTo>
                    <a:pt x="19032" y="1940019"/>
                  </a:lnTo>
                  <a:close/>
                </a:path>
                <a:path w="2384425" h="2157095">
                  <a:moveTo>
                    <a:pt x="19032" y="2074099"/>
                  </a:moveTo>
                  <a:lnTo>
                    <a:pt x="19032" y="2146949"/>
                  </a:lnTo>
                  <a:lnTo>
                    <a:pt x="9823" y="2137155"/>
                  </a:lnTo>
                  <a:lnTo>
                    <a:pt x="13507" y="2137155"/>
                  </a:lnTo>
                  <a:lnTo>
                    <a:pt x="13507" y="2156745"/>
                  </a:lnTo>
                  <a:lnTo>
                    <a:pt x="0" y="2156745"/>
                  </a:lnTo>
                  <a:lnTo>
                    <a:pt x="0" y="2074099"/>
                  </a:lnTo>
                  <a:lnTo>
                    <a:pt x="19032" y="2074099"/>
                  </a:lnTo>
                  <a:close/>
                </a:path>
                <a:path w="2384425" h="2157095">
                  <a:moveTo>
                    <a:pt x="71213" y="2137155"/>
                  </a:moveTo>
                  <a:lnTo>
                    <a:pt x="147951" y="2137155"/>
                  </a:lnTo>
                  <a:lnTo>
                    <a:pt x="147951" y="2156745"/>
                  </a:lnTo>
                  <a:lnTo>
                    <a:pt x="71213" y="2156745"/>
                  </a:lnTo>
                  <a:lnTo>
                    <a:pt x="71213" y="2137155"/>
                  </a:lnTo>
                  <a:close/>
                </a:path>
                <a:path w="2384425" h="2157095">
                  <a:moveTo>
                    <a:pt x="205647" y="2137155"/>
                  </a:moveTo>
                  <a:lnTo>
                    <a:pt x="282401" y="2137155"/>
                  </a:lnTo>
                  <a:lnTo>
                    <a:pt x="282401" y="2156745"/>
                  </a:lnTo>
                  <a:lnTo>
                    <a:pt x="205647" y="2156745"/>
                  </a:lnTo>
                  <a:lnTo>
                    <a:pt x="205647" y="2137155"/>
                  </a:lnTo>
                  <a:close/>
                </a:path>
                <a:path w="2384425" h="2157095">
                  <a:moveTo>
                    <a:pt x="340107" y="2137155"/>
                  </a:moveTo>
                  <a:lnTo>
                    <a:pt x="416835" y="2137155"/>
                  </a:lnTo>
                  <a:lnTo>
                    <a:pt x="416835" y="2156745"/>
                  </a:lnTo>
                  <a:lnTo>
                    <a:pt x="340107" y="2156745"/>
                  </a:lnTo>
                  <a:lnTo>
                    <a:pt x="340107" y="2137155"/>
                  </a:lnTo>
                  <a:close/>
                </a:path>
                <a:path w="2384425" h="2157095">
                  <a:moveTo>
                    <a:pt x="474541" y="2137155"/>
                  </a:moveTo>
                  <a:lnTo>
                    <a:pt x="551294" y="2137155"/>
                  </a:lnTo>
                  <a:lnTo>
                    <a:pt x="551294" y="2156745"/>
                  </a:lnTo>
                  <a:lnTo>
                    <a:pt x="474541" y="2156745"/>
                  </a:lnTo>
                  <a:lnTo>
                    <a:pt x="474541" y="2137155"/>
                  </a:lnTo>
                  <a:close/>
                </a:path>
                <a:path w="2384425" h="2157095">
                  <a:moveTo>
                    <a:pt x="608387" y="2137155"/>
                  </a:moveTo>
                  <a:lnTo>
                    <a:pt x="685729" y="2137155"/>
                  </a:lnTo>
                  <a:lnTo>
                    <a:pt x="685729" y="2156745"/>
                  </a:lnTo>
                  <a:lnTo>
                    <a:pt x="608387" y="2156745"/>
                  </a:lnTo>
                  <a:lnTo>
                    <a:pt x="608387" y="2137155"/>
                  </a:lnTo>
                  <a:close/>
                </a:path>
                <a:path w="2384425" h="2157095">
                  <a:moveTo>
                    <a:pt x="742821" y="2137155"/>
                  </a:moveTo>
                  <a:lnTo>
                    <a:pt x="819575" y="2137155"/>
                  </a:lnTo>
                  <a:lnTo>
                    <a:pt x="819575" y="2156745"/>
                  </a:lnTo>
                  <a:lnTo>
                    <a:pt x="742821" y="2156745"/>
                  </a:lnTo>
                  <a:lnTo>
                    <a:pt x="742821" y="2137155"/>
                  </a:lnTo>
                  <a:close/>
                </a:path>
                <a:path w="2384425" h="2157095">
                  <a:moveTo>
                    <a:pt x="877281" y="2137155"/>
                  </a:moveTo>
                  <a:lnTo>
                    <a:pt x="954009" y="2137155"/>
                  </a:lnTo>
                  <a:lnTo>
                    <a:pt x="954009" y="2156745"/>
                  </a:lnTo>
                  <a:lnTo>
                    <a:pt x="877281" y="2156745"/>
                  </a:lnTo>
                  <a:lnTo>
                    <a:pt x="877281" y="2137155"/>
                  </a:lnTo>
                  <a:close/>
                </a:path>
                <a:path w="2384425" h="2157095">
                  <a:moveTo>
                    <a:pt x="1011715" y="2137155"/>
                  </a:moveTo>
                  <a:lnTo>
                    <a:pt x="1088443" y="2137155"/>
                  </a:lnTo>
                  <a:lnTo>
                    <a:pt x="1088443" y="2156745"/>
                  </a:lnTo>
                  <a:lnTo>
                    <a:pt x="1011715" y="2156745"/>
                  </a:lnTo>
                  <a:lnTo>
                    <a:pt x="1011715" y="2137155"/>
                  </a:lnTo>
                  <a:close/>
                </a:path>
                <a:path w="2384425" h="2157095">
                  <a:moveTo>
                    <a:pt x="1146174" y="2137155"/>
                  </a:moveTo>
                  <a:lnTo>
                    <a:pt x="1222902" y="2137155"/>
                  </a:lnTo>
                  <a:lnTo>
                    <a:pt x="1222902" y="2156745"/>
                  </a:lnTo>
                  <a:lnTo>
                    <a:pt x="1146174" y="2156745"/>
                  </a:lnTo>
                  <a:lnTo>
                    <a:pt x="1146174" y="2137155"/>
                  </a:lnTo>
                  <a:close/>
                </a:path>
                <a:path w="2384425" h="2157095">
                  <a:moveTo>
                    <a:pt x="1280608" y="2137155"/>
                  </a:moveTo>
                  <a:lnTo>
                    <a:pt x="1357337" y="2137155"/>
                  </a:lnTo>
                  <a:lnTo>
                    <a:pt x="1357337" y="2156745"/>
                  </a:lnTo>
                  <a:lnTo>
                    <a:pt x="1280608" y="2156745"/>
                  </a:lnTo>
                  <a:lnTo>
                    <a:pt x="1280608" y="2137155"/>
                  </a:lnTo>
                  <a:close/>
                </a:path>
                <a:path w="2384425" h="2157095">
                  <a:moveTo>
                    <a:pt x="1415043" y="2137155"/>
                  </a:moveTo>
                  <a:lnTo>
                    <a:pt x="1491796" y="2137155"/>
                  </a:lnTo>
                  <a:lnTo>
                    <a:pt x="1491796" y="2156745"/>
                  </a:lnTo>
                  <a:lnTo>
                    <a:pt x="1415043" y="2156745"/>
                  </a:lnTo>
                  <a:lnTo>
                    <a:pt x="1415043" y="2137155"/>
                  </a:lnTo>
                  <a:close/>
                </a:path>
                <a:path w="2384425" h="2157095">
                  <a:moveTo>
                    <a:pt x="1549502" y="2137155"/>
                  </a:moveTo>
                  <a:lnTo>
                    <a:pt x="1626230" y="2137155"/>
                  </a:lnTo>
                  <a:lnTo>
                    <a:pt x="1626230" y="2156745"/>
                  </a:lnTo>
                  <a:lnTo>
                    <a:pt x="1549502" y="2156745"/>
                  </a:lnTo>
                  <a:lnTo>
                    <a:pt x="1549502" y="2137155"/>
                  </a:lnTo>
                  <a:close/>
                </a:path>
                <a:path w="2384425" h="2157095">
                  <a:moveTo>
                    <a:pt x="1683936" y="2137155"/>
                  </a:moveTo>
                  <a:lnTo>
                    <a:pt x="1760690" y="2137155"/>
                  </a:lnTo>
                  <a:lnTo>
                    <a:pt x="1760690" y="2156745"/>
                  </a:lnTo>
                  <a:lnTo>
                    <a:pt x="1683936" y="2156745"/>
                  </a:lnTo>
                  <a:lnTo>
                    <a:pt x="1683936" y="2137155"/>
                  </a:lnTo>
                  <a:close/>
                </a:path>
                <a:path w="2384425" h="2157095">
                  <a:moveTo>
                    <a:pt x="1818396" y="2137155"/>
                  </a:moveTo>
                  <a:lnTo>
                    <a:pt x="1895124" y="2137155"/>
                  </a:lnTo>
                  <a:lnTo>
                    <a:pt x="1895124" y="2156745"/>
                  </a:lnTo>
                  <a:lnTo>
                    <a:pt x="1818396" y="2156745"/>
                  </a:lnTo>
                  <a:lnTo>
                    <a:pt x="1818396" y="2137155"/>
                  </a:lnTo>
                  <a:close/>
                </a:path>
                <a:path w="2384425" h="2157095">
                  <a:moveTo>
                    <a:pt x="1952830" y="2137155"/>
                  </a:moveTo>
                  <a:lnTo>
                    <a:pt x="2029584" y="2137155"/>
                  </a:lnTo>
                  <a:lnTo>
                    <a:pt x="2029584" y="2156745"/>
                  </a:lnTo>
                  <a:lnTo>
                    <a:pt x="1952830" y="2156745"/>
                  </a:lnTo>
                  <a:lnTo>
                    <a:pt x="1952830" y="2137155"/>
                  </a:lnTo>
                  <a:close/>
                </a:path>
                <a:path w="2384425" h="2157095">
                  <a:moveTo>
                    <a:pt x="2087290" y="2137155"/>
                  </a:moveTo>
                  <a:lnTo>
                    <a:pt x="2164018" y="2137155"/>
                  </a:lnTo>
                  <a:lnTo>
                    <a:pt x="2164018" y="2156745"/>
                  </a:lnTo>
                  <a:lnTo>
                    <a:pt x="2087290" y="2156745"/>
                  </a:lnTo>
                  <a:lnTo>
                    <a:pt x="2087290" y="2137155"/>
                  </a:lnTo>
                  <a:close/>
                </a:path>
                <a:path w="2384425" h="2157095">
                  <a:moveTo>
                    <a:pt x="2221724" y="2137155"/>
                  </a:moveTo>
                  <a:lnTo>
                    <a:pt x="2298452" y="2137155"/>
                  </a:lnTo>
                  <a:lnTo>
                    <a:pt x="2298452" y="2156745"/>
                  </a:lnTo>
                  <a:lnTo>
                    <a:pt x="2221724" y="2156745"/>
                  </a:lnTo>
                  <a:lnTo>
                    <a:pt x="2221724" y="2137155"/>
                  </a:lnTo>
                  <a:close/>
                </a:path>
                <a:path w="2384425" h="2157095">
                  <a:moveTo>
                    <a:pt x="2355544" y="2137155"/>
                  </a:moveTo>
                  <a:lnTo>
                    <a:pt x="2375206" y="2137155"/>
                  </a:lnTo>
                  <a:lnTo>
                    <a:pt x="2365388" y="2146949"/>
                  </a:lnTo>
                  <a:lnTo>
                    <a:pt x="2365388" y="2089405"/>
                  </a:lnTo>
                  <a:lnTo>
                    <a:pt x="2384410" y="2089405"/>
                  </a:lnTo>
                  <a:lnTo>
                    <a:pt x="2384410" y="2156745"/>
                  </a:lnTo>
                  <a:lnTo>
                    <a:pt x="2355544" y="2156745"/>
                  </a:lnTo>
                  <a:lnTo>
                    <a:pt x="2355544" y="2137155"/>
                  </a:lnTo>
                  <a:close/>
                </a:path>
                <a:path w="2384425" h="2157095">
                  <a:moveTo>
                    <a:pt x="2365388" y="2031859"/>
                  </a:moveTo>
                  <a:lnTo>
                    <a:pt x="2365388" y="1955346"/>
                  </a:lnTo>
                  <a:lnTo>
                    <a:pt x="2384410" y="1955346"/>
                  </a:lnTo>
                  <a:lnTo>
                    <a:pt x="2384410" y="2031859"/>
                  </a:lnTo>
                  <a:lnTo>
                    <a:pt x="2365388" y="2031859"/>
                  </a:lnTo>
                  <a:close/>
                </a:path>
                <a:path w="2384425" h="2157095">
                  <a:moveTo>
                    <a:pt x="2365388" y="1897794"/>
                  </a:moveTo>
                  <a:lnTo>
                    <a:pt x="2365388" y="1821263"/>
                  </a:lnTo>
                  <a:lnTo>
                    <a:pt x="2384410" y="1821263"/>
                  </a:lnTo>
                  <a:lnTo>
                    <a:pt x="2384410" y="1897794"/>
                  </a:lnTo>
                  <a:lnTo>
                    <a:pt x="2365388" y="1897794"/>
                  </a:lnTo>
                  <a:close/>
                </a:path>
                <a:path w="2384425" h="2157095">
                  <a:moveTo>
                    <a:pt x="2365388" y="1763712"/>
                  </a:moveTo>
                  <a:lnTo>
                    <a:pt x="2365388" y="1687206"/>
                  </a:lnTo>
                  <a:lnTo>
                    <a:pt x="2384410" y="1687206"/>
                  </a:lnTo>
                  <a:lnTo>
                    <a:pt x="2384410" y="1763712"/>
                  </a:lnTo>
                  <a:lnTo>
                    <a:pt x="2365388" y="1763712"/>
                  </a:lnTo>
                  <a:close/>
                </a:path>
                <a:path w="2384425" h="2157095">
                  <a:moveTo>
                    <a:pt x="2365388" y="1629655"/>
                  </a:moveTo>
                  <a:lnTo>
                    <a:pt x="2365388" y="1553124"/>
                  </a:lnTo>
                  <a:lnTo>
                    <a:pt x="2384410" y="1553124"/>
                  </a:lnTo>
                  <a:lnTo>
                    <a:pt x="2384410" y="1629655"/>
                  </a:lnTo>
                  <a:lnTo>
                    <a:pt x="2365388" y="1629655"/>
                  </a:lnTo>
                  <a:close/>
                </a:path>
                <a:path w="2384425" h="2157095">
                  <a:moveTo>
                    <a:pt x="2365388" y="1495572"/>
                  </a:moveTo>
                  <a:lnTo>
                    <a:pt x="2365388" y="1419067"/>
                  </a:lnTo>
                  <a:lnTo>
                    <a:pt x="2384410" y="1419067"/>
                  </a:lnTo>
                  <a:lnTo>
                    <a:pt x="2384410" y="1495572"/>
                  </a:lnTo>
                  <a:lnTo>
                    <a:pt x="2365388" y="1495572"/>
                  </a:lnTo>
                  <a:close/>
                </a:path>
                <a:path w="2384425" h="2157095">
                  <a:moveTo>
                    <a:pt x="2365388" y="1361515"/>
                  </a:moveTo>
                  <a:lnTo>
                    <a:pt x="2365388" y="1284984"/>
                  </a:lnTo>
                  <a:lnTo>
                    <a:pt x="2384410" y="1284984"/>
                  </a:lnTo>
                  <a:lnTo>
                    <a:pt x="2384410" y="1361515"/>
                  </a:lnTo>
                  <a:lnTo>
                    <a:pt x="2365388" y="1361515"/>
                  </a:lnTo>
                  <a:close/>
                </a:path>
                <a:path w="2384425" h="2157095">
                  <a:moveTo>
                    <a:pt x="2365388" y="1227433"/>
                  </a:moveTo>
                  <a:lnTo>
                    <a:pt x="2365388" y="1150927"/>
                  </a:lnTo>
                  <a:lnTo>
                    <a:pt x="2384410" y="1150927"/>
                  </a:lnTo>
                  <a:lnTo>
                    <a:pt x="2384410" y="1227433"/>
                  </a:lnTo>
                  <a:lnTo>
                    <a:pt x="2365388" y="1227433"/>
                  </a:lnTo>
                  <a:close/>
                </a:path>
                <a:path w="2384425" h="2157095">
                  <a:moveTo>
                    <a:pt x="2365388" y="1093376"/>
                  </a:moveTo>
                  <a:lnTo>
                    <a:pt x="2365388" y="1016845"/>
                  </a:lnTo>
                  <a:lnTo>
                    <a:pt x="2384410" y="1016845"/>
                  </a:lnTo>
                  <a:lnTo>
                    <a:pt x="2384410" y="1093376"/>
                  </a:lnTo>
                  <a:lnTo>
                    <a:pt x="2365388" y="1093376"/>
                  </a:lnTo>
                  <a:close/>
                </a:path>
                <a:path w="2384425" h="2157095">
                  <a:moveTo>
                    <a:pt x="2365388" y="959293"/>
                  </a:moveTo>
                  <a:lnTo>
                    <a:pt x="2365388" y="882788"/>
                  </a:lnTo>
                  <a:lnTo>
                    <a:pt x="2384410" y="882788"/>
                  </a:lnTo>
                  <a:lnTo>
                    <a:pt x="2384410" y="959293"/>
                  </a:lnTo>
                  <a:lnTo>
                    <a:pt x="2365388" y="959293"/>
                  </a:lnTo>
                  <a:close/>
                </a:path>
                <a:path w="2384425" h="2157095">
                  <a:moveTo>
                    <a:pt x="2365388" y="825237"/>
                  </a:moveTo>
                  <a:lnTo>
                    <a:pt x="2365388" y="748706"/>
                  </a:lnTo>
                  <a:lnTo>
                    <a:pt x="2384410" y="748706"/>
                  </a:lnTo>
                  <a:lnTo>
                    <a:pt x="2384410" y="825237"/>
                  </a:lnTo>
                  <a:lnTo>
                    <a:pt x="2365388" y="825237"/>
                  </a:lnTo>
                  <a:close/>
                </a:path>
                <a:path w="2384425" h="2157095">
                  <a:moveTo>
                    <a:pt x="2365388" y="691180"/>
                  </a:moveTo>
                  <a:lnTo>
                    <a:pt x="2365388" y="614649"/>
                  </a:lnTo>
                  <a:lnTo>
                    <a:pt x="2384410" y="614649"/>
                  </a:lnTo>
                  <a:lnTo>
                    <a:pt x="2384410" y="691180"/>
                  </a:lnTo>
                  <a:lnTo>
                    <a:pt x="2365388" y="691180"/>
                  </a:lnTo>
                  <a:close/>
                </a:path>
                <a:path w="2384425" h="2157095">
                  <a:moveTo>
                    <a:pt x="2365388" y="557097"/>
                  </a:moveTo>
                  <a:lnTo>
                    <a:pt x="2365388" y="480566"/>
                  </a:lnTo>
                  <a:lnTo>
                    <a:pt x="2384410" y="480566"/>
                  </a:lnTo>
                  <a:lnTo>
                    <a:pt x="2384410" y="557097"/>
                  </a:lnTo>
                  <a:lnTo>
                    <a:pt x="2365388" y="557097"/>
                  </a:lnTo>
                  <a:close/>
                </a:path>
                <a:path w="2384425" h="2157095">
                  <a:moveTo>
                    <a:pt x="2365388" y="423040"/>
                  </a:moveTo>
                  <a:lnTo>
                    <a:pt x="2365388" y="346509"/>
                  </a:lnTo>
                  <a:lnTo>
                    <a:pt x="2384410" y="346509"/>
                  </a:lnTo>
                  <a:lnTo>
                    <a:pt x="2384410" y="423040"/>
                  </a:lnTo>
                  <a:lnTo>
                    <a:pt x="2365388" y="423040"/>
                  </a:lnTo>
                  <a:close/>
                </a:path>
                <a:path w="2384425" h="2157095">
                  <a:moveTo>
                    <a:pt x="2365388" y="288958"/>
                  </a:moveTo>
                  <a:lnTo>
                    <a:pt x="2365388" y="212427"/>
                  </a:lnTo>
                  <a:lnTo>
                    <a:pt x="2384410" y="212427"/>
                  </a:lnTo>
                  <a:lnTo>
                    <a:pt x="2384410" y="288958"/>
                  </a:lnTo>
                  <a:lnTo>
                    <a:pt x="2365388" y="288958"/>
                  </a:lnTo>
                  <a:close/>
                </a:path>
                <a:path w="2384425" h="2157095">
                  <a:moveTo>
                    <a:pt x="2365388" y="155514"/>
                  </a:moveTo>
                  <a:lnTo>
                    <a:pt x="2365388" y="78370"/>
                  </a:lnTo>
                  <a:lnTo>
                    <a:pt x="2384410" y="78370"/>
                  </a:lnTo>
                  <a:lnTo>
                    <a:pt x="2384410" y="155514"/>
                  </a:lnTo>
                  <a:lnTo>
                    <a:pt x="2365388" y="155514"/>
                  </a:lnTo>
                  <a:close/>
                </a:path>
                <a:path w="2384425" h="2157095">
                  <a:moveTo>
                    <a:pt x="2365388" y="21431"/>
                  </a:moveTo>
                  <a:lnTo>
                    <a:pt x="2365388" y="9809"/>
                  </a:lnTo>
                  <a:lnTo>
                    <a:pt x="2384410" y="9809"/>
                  </a:lnTo>
                  <a:lnTo>
                    <a:pt x="2384410" y="21431"/>
                  </a:lnTo>
                  <a:lnTo>
                    <a:pt x="2365388" y="21431"/>
                  </a:lnTo>
                  <a:close/>
                </a:path>
              </a:pathLst>
            </a:custGeom>
            <a:ln w="3577">
              <a:solidFill>
                <a:srgbClr val="800080"/>
              </a:solidFill>
            </a:ln>
          </p:spPr>
          <p:txBody>
            <a:bodyPr wrap="square" lIns="0" tIns="0" rIns="0" bIns="0" rtlCol="0"/>
            <a:lstStyle/>
            <a:p/>
          </p:txBody>
        </p:sp>
        <p:sp>
          <p:nvSpPr>
            <p:cNvPr id="16" name="object 16" descr=""/>
            <p:cNvSpPr/>
            <p:nvPr/>
          </p:nvSpPr>
          <p:spPr>
            <a:xfrm>
              <a:off x="9274605" y="1648019"/>
              <a:ext cx="102235" cy="488315"/>
            </a:xfrm>
            <a:custGeom>
              <a:avLst/>
              <a:gdLst/>
              <a:ahLst/>
              <a:cxnLst/>
              <a:rect l="l" t="t" r="r" b="b"/>
              <a:pathLst>
                <a:path w="102234" h="488314">
                  <a:moveTo>
                    <a:pt x="0" y="334248"/>
                  </a:moveTo>
                  <a:lnTo>
                    <a:pt x="50956" y="487897"/>
                  </a:lnTo>
                  <a:lnTo>
                    <a:pt x="80597" y="398517"/>
                  </a:lnTo>
                  <a:lnTo>
                    <a:pt x="44206" y="398517"/>
                  </a:lnTo>
                  <a:lnTo>
                    <a:pt x="38070" y="392412"/>
                  </a:lnTo>
                  <a:lnTo>
                    <a:pt x="38070" y="372665"/>
                  </a:lnTo>
                  <a:lnTo>
                    <a:pt x="0" y="334248"/>
                  </a:lnTo>
                  <a:close/>
                </a:path>
                <a:path w="102234" h="488314">
                  <a:moveTo>
                    <a:pt x="38070" y="372665"/>
                  </a:moveTo>
                  <a:lnTo>
                    <a:pt x="38070" y="392412"/>
                  </a:lnTo>
                  <a:lnTo>
                    <a:pt x="44206" y="398517"/>
                  </a:lnTo>
                  <a:lnTo>
                    <a:pt x="58319" y="398517"/>
                  </a:lnTo>
                  <a:lnTo>
                    <a:pt x="63842" y="392412"/>
                  </a:lnTo>
                  <a:lnTo>
                    <a:pt x="63842" y="385669"/>
                  </a:lnTo>
                  <a:lnTo>
                    <a:pt x="50956" y="385669"/>
                  </a:lnTo>
                  <a:lnTo>
                    <a:pt x="38070" y="372665"/>
                  </a:lnTo>
                  <a:close/>
                </a:path>
                <a:path w="102234" h="488314">
                  <a:moveTo>
                    <a:pt x="101912" y="334248"/>
                  </a:moveTo>
                  <a:lnTo>
                    <a:pt x="63842" y="372665"/>
                  </a:lnTo>
                  <a:lnTo>
                    <a:pt x="63842" y="392412"/>
                  </a:lnTo>
                  <a:lnTo>
                    <a:pt x="58319" y="398517"/>
                  </a:lnTo>
                  <a:lnTo>
                    <a:pt x="80597" y="398517"/>
                  </a:lnTo>
                  <a:lnTo>
                    <a:pt x="101912" y="334248"/>
                  </a:lnTo>
                  <a:close/>
                </a:path>
                <a:path w="102234" h="488314">
                  <a:moveTo>
                    <a:pt x="58319" y="0"/>
                  </a:moveTo>
                  <a:lnTo>
                    <a:pt x="44206" y="0"/>
                  </a:lnTo>
                  <a:lnTo>
                    <a:pt x="38070" y="6105"/>
                  </a:lnTo>
                  <a:lnTo>
                    <a:pt x="38070" y="372665"/>
                  </a:lnTo>
                  <a:lnTo>
                    <a:pt x="50956" y="385669"/>
                  </a:lnTo>
                  <a:lnTo>
                    <a:pt x="63842" y="372665"/>
                  </a:lnTo>
                  <a:lnTo>
                    <a:pt x="63842" y="6105"/>
                  </a:lnTo>
                  <a:lnTo>
                    <a:pt x="58319" y="0"/>
                  </a:lnTo>
                  <a:close/>
                </a:path>
                <a:path w="102234" h="488314">
                  <a:moveTo>
                    <a:pt x="63842" y="372665"/>
                  </a:moveTo>
                  <a:lnTo>
                    <a:pt x="50956" y="385669"/>
                  </a:lnTo>
                  <a:lnTo>
                    <a:pt x="63842" y="385669"/>
                  </a:lnTo>
                  <a:lnTo>
                    <a:pt x="63842" y="372665"/>
                  </a:lnTo>
                  <a:close/>
                </a:path>
              </a:pathLst>
            </a:custGeom>
            <a:solidFill>
              <a:srgbClr val="000000"/>
            </a:solidFill>
          </p:spPr>
          <p:txBody>
            <a:bodyPr wrap="square" lIns="0" tIns="0" rIns="0" bIns="0" rtlCol="0"/>
            <a:lstStyle/>
            <a:p/>
          </p:txBody>
        </p:sp>
        <p:sp>
          <p:nvSpPr>
            <p:cNvPr id="17" name="object 17" descr=""/>
            <p:cNvSpPr/>
            <p:nvPr/>
          </p:nvSpPr>
          <p:spPr>
            <a:xfrm>
              <a:off x="9274605" y="1648019"/>
              <a:ext cx="102235" cy="488315"/>
            </a:xfrm>
            <a:custGeom>
              <a:avLst/>
              <a:gdLst/>
              <a:ahLst/>
              <a:cxnLst/>
              <a:rect l="l" t="t" r="r" b="b"/>
              <a:pathLst>
                <a:path w="102234" h="488314">
                  <a:moveTo>
                    <a:pt x="63842" y="12848"/>
                  </a:moveTo>
                  <a:lnTo>
                    <a:pt x="63842" y="385669"/>
                  </a:lnTo>
                  <a:lnTo>
                    <a:pt x="63842" y="392412"/>
                  </a:lnTo>
                  <a:lnTo>
                    <a:pt x="58319" y="398517"/>
                  </a:lnTo>
                  <a:lnTo>
                    <a:pt x="50956" y="398517"/>
                  </a:lnTo>
                  <a:lnTo>
                    <a:pt x="44206" y="398517"/>
                  </a:lnTo>
                  <a:lnTo>
                    <a:pt x="38070" y="392412"/>
                  </a:lnTo>
                  <a:lnTo>
                    <a:pt x="38070" y="385669"/>
                  </a:lnTo>
                  <a:lnTo>
                    <a:pt x="38070" y="12848"/>
                  </a:lnTo>
                  <a:lnTo>
                    <a:pt x="38070" y="6105"/>
                  </a:lnTo>
                  <a:lnTo>
                    <a:pt x="44206" y="0"/>
                  </a:lnTo>
                  <a:lnTo>
                    <a:pt x="50956" y="0"/>
                  </a:lnTo>
                  <a:lnTo>
                    <a:pt x="58319" y="0"/>
                  </a:lnTo>
                  <a:lnTo>
                    <a:pt x="63842" y="6105"/>
                  </a:lnTo>
                  <a:lnTo>
                    <a:pt x="63842" y="12848"/>
                  </a:lnTo>
                  <a:close/>
                </a:path>
                <a:path w="102234" h="488314">
                  <a:moveTo>
                    <a:pt x="50956" y="385669"/>
                  </a:moveTo>
                  <a:lnTo>
                    <a:pt x="101912" y="334248"/>
                  </a:lnTo>
                  <a:lnTo>
                    <a:pt x="50956" y="487897"/>
                  </a:lnTo>
                  <a:lnTo>
                    <a:pt x="0" y="334248"/>
                  </a:lnTo>
                  <a:lnTo>
                    <a:pt x="50956" y="385669"/>
                  </a:lnTo>
                  <a:close/>
                </a:path>
              </a:pathLst>
            </a:custGeom>
            <a:ln w="3577">
              <a:solidFill>
                <a:srgbClr val="000000"/>
              </a:solidFill>
            </a:ln>
          </p:spPr>
          <p:txBody>
            <a:bodyPr wrap="square" lIns="0" tIns="0" rIns="0" bIns="0" rtlCol="0"/>
            <a:lstStyle/>
            <a:p/>
          </p:txBody>
        </p:sp>
        <p:sp>
          <p:nvSpPr>
            <p:cNvPr id="18" name="object 18" descr=""/>
            <p:cNvSpPr/>
            <p:nvPr/>
          </p:nvSpPr>
          <p:spPr>
            <a:xfrm>
              <a:off x="8775501" y="1106835"/>
              <a:ext cx="1129030" cy="554355"/>
            </a:xfrm>
            <a:custGeom>
              <a:avLst/>
              <a:gdLst/>
              <a:ahLst/>
              <a:cxnLst/>
              <a:rect l="l" t="t" r="r" b="b"/>
              <a:pathLst>
                <a:path w="1129029" h="554355">
                  <a:moveTo>
                    <a:pt x="1128960" y="0"/>
                  </a:moveTo>
                  <a:lnTo>
                    <a:pt x="0" y="0"/>
                  </a:lnTo>
                  <a:lnTo>
                    <a:pt x="0" y="554032"/>
                  </a:lnTo>
                  <a:lnTo>
                    <a:pt x="1128960" y="554032"/>
                  </a:lnTo>
                  <a:lnTo>
                    <a:pt x="1128960" y="0"/>
                  </a:lnTo>
                  <a:close/>
                </a:path>
              </a:pathLst>
            </a:custGeom>
            <a:solidFill>
              <a:srgbClr val="FFFF99"/>
            </a:solidFill>
          </p:spPr>
          <p:txBody>
            <a:bodyPr wrap="square" lIns="0" tIns="0" rIns="0" bIns="0" rtlCol="0"/>
            <a:lstStyle/>
            <a:p/>
          </p:txBody>
        </p:sp>
        <p:sp>
          <p:nvSpPr>
            <p:cNvPr id="19" name="object 19" descr=""/>
            <p:cNvSpPr/>
            <p:nvPr/>
          </p:nvSpPr>
          <p:spPr>
            <a:xfrm>
              <a:off x="8775501" y="1106835"/>
              <a:ext cx="1129030" cy="554355"/>
            </a:xfrm>
            <a:custGeom>
              <a:avLst/>
              <a:gdLst/>
              <a:ahLst/>
              <a:cxnLst/>
              <a:rect l="l" t="t" r="r" b="b"/>
              <a:pathLst>
                <a:path w="1129029" h="554355">
                  <a:moveTo>
                    <a:pt x="0" y="554032"/>
                  </a:moveTo>
                  <a:lnTo>
                    <a:pt x="1128960" y="554032"/>
                  </a:lnTo>
                  <a:lnTo>
                    <a:pt x="1128960" y="0"/>
                  </a:lnTo>
                  <a:lnTo>
                    <a:pt x="0" y="0"/>
                  </a:lnTo>
                  <a:lnTo>
                    <a:pt x="0" y="554032"/>
                  </a:lnTo>
                  <a:close/>
                </a:path>
              </a:pathLst>
            </a:custGeom>
            <a:ln w="19017">
              <a:solidFill>
                <a:srgbClr val="000000"/>
              </a:solidFill>
            </a:ln>
          </p:spPr>
          <p:txBody>
            <a:bodyPr wrap="square" lIns="0" tIns="0" rIns="0" bIns="0" rtlCol="0"/>
            <a:lstStyle/>
            <a:p/>
          </p:txBody>
        </p:sp>
        <p:sp>
          <p:nvSpPr>
            <p:cNvPr id="20" name="object 20" descr=""/>
            <p:cNvSpPr/>
            <p:nvPr/>
          </p:nvSpPr>
          <p:spPr>
            <a:xfrm>
              <a:off x="9274605" y="3637007"/>
              <a:ext cx="102235" cy="409575"/>
            </a:xfrm>
            <a:custGeom>
              <a:avLst/>
              <a:gdLst/>
              <a:ahLst/>
              <a:cxnLst/>
              <a:rect l="l" t="t" r="r" b="b"/>
              <a:pathLst>
                <a:path w="102234" h="409575">
                  <a:moveTo>
                    <a:pt x="0" y="255903"/>
                  </a:moveTo>
                  <a:lnTo>
                    <a:pt x="50956" y="408947"/>
                  </a:lnTo>
                  <a:lnTo>
                    <a:pt x="80715" y="319567"/>
                  </a:lnTo>
                  <a:lnTo>
                    <a:pt x="44206" y="319567"/>
                  </a:lnTo>
                  <a:lnTo>
                    <a:pt x="38070" y="313444"/>
                  </a:lnTo>
                  <a:lnTo>
                    <a:pt x="38070" y="293862"/>
                  </a:lnTo>
                  <a:lnTo>
                    <a:pt x="0" y="255903"/>
                  </a:lnTo>
                  <a:close/>
                </a:path>
                <a:path w="102234" h="409575">
                  <a:moveTo>
                    <a:pt x="38070" y="293862"/>
                  </a:moveTo>
                  <a:lnTo>
                    <a:pt x="38070" y="313444"/>
                  </a:lnTo>
                  <a:lnTo>
                    <a:pt x="44206" y="319567"/>
                  </a:lnTo>
                  <a:lnTo>
                    <a:pt x="58319" y="319567"/>
                  </a:lnTo>
                  <a:lnTo>
                    <a:pt x="63842" y="313444"/>
                  </a:lnTo>
                  <a:lnTo>
                    <a:pt x="63842" y="306711"/>
                  </a:lnTo>
                  <a:lnTo>
                    <a:pt x="50956" y="306711"/>
                  </a:lnTo>
                  <a:lnTo>
                    <a:pt x="38070" y="293862"/>
                  </a:lnTo>
                  <a:close/>
                </a:path>
                <a:path w="102234" h="409575">
                  <a:moveTo>
                    <a:pt x="101912" y="255903"/>
                  </a:moveTo>
                  <a:lnTo>
                    <a:pt x="63842" y="293862"/>
                  </a:lnTo>
                  <a:lnTo>
                    <a:pt x="63842" y="313444"/>
                  </a:lnTo>
                  <a:lnTo>
                    <a:pt x="58319" y="319567"/>
                  </a:lnTo>
                  <a:lnTo>
                    <a:pt x="80715" y="319567"/>
                  </a:lnTo>
                  <a:lnTo>
                    <a:pt x="101912" y="255903"/>
                  </a:lnTo>
                  <a:close/>
                </a:path>
                <a:path w="102234" h="409575">
                  <a:moveTo>
                    <a:pt x="58319" y="0"/>
                  </a:moveTo>
                  <a:lnTo>
                    <a:pt x="44206" y="0"/>
                  </a:lnTo>
                  <a:lnTo>
                    <a:pt x="38070" y="6130"/>
                  </a:lnTo>
                  <a:lnTo>
                    <a:pt x="38070" y="293862"/>
                  </a:lnTo>
                  <a:lnTo>
                    <a:pt x="50956" y="306711"/>
                  </a:lnTo>
                  <a:lnTo>
                    <a:pt x="63842" y="293862"/>
                  </a:lnTo>
                  <a:lnTo>
                    <a:pt x="63842" y="6130"/>
                  </a:lnTo>
                  <a:lnTo>
                    <a:pt x="58319" y="0"/>
                  </a:lnTo>
                  <a:close/>
                </a:path>
                <a:path w="102234" h="409575">
                  <a:moveTo>
                    <a:pt x="63842" y="293862"/>
                  </a:moveTo>
                  <a:lnTo>
                    <a:pt x="50956" y="306711"/>
                  </a:lnTo>
                  <a:lnTo>
                    <a:pt x="63842" y="306711"/>
                  </a:lnTo>
                  <a:lnTo>
                    <a:pt x="63842" y="293862"/>
                  </a:lnTo>
                  <a:close/>
                </a:path>
              </a:pathLst>
            </a:custGeom>
            <a:solidFill>
              <a:srgbClr val="000000"/>
            </a:solidFill>
          </p:spPr>
          <p:txBody>
            <a:bodyPr wrap="square" lIns="0" tIns="0" rIns="0" bIns="0" rtlCol="0"/>
            <a:lstStyle/>
            <a:p/>
          </p:txBody>
        </p:sp>
        <p:sp>
          <p:nvSpPr>
            <p:cNvPr id="21" name="object 21" descr=""/>
            <p:cNvSpPr/>
            <p:nvPr/>
          </p:nvSpPr>
          <p:spPr>
            <a:xfrm>
              <a:off x="9274605" y="3637007"/>
              <a:ext cx="102235" cy="409575"/>
            </a:xfrm>
            <a:custGeom>
              <a:avLst/>
              <a:gdLst/>
              <a:ahLst/>
              <a:cxnLst/>
              <a:rect l="l" t="t" r="r" b="b"/>
              <a:pathLst>
                <a:path w="102234" h="409575">
                  <a:moveTo>
                    <a:pt x="63842" y="12848"/>
                  </a:moveTo>
                  <a:lnTo>
                    <a:pt x="63842" y="306711"/>
                  </a:lnTo>
                  <a:lnTo>
                    <a:pt x="63842" y="313444"/>
                  </a:lnTo>
                  <a:lnTo>
                    <a:pt x="58319" y="319567"/>
                  </a:lnTo>
                  <a:lnTo>
                    <a:pt x="50956" y="319567"/>
                  </a:lnTo>
                  <a:lnTo>
                    <a:pt x="44206" y="319567"/>
                  </a:lnTo>
                  <a:lnTo>
                    <a:pt x="38070" y="313444"/>
                  </a:lnTo>
                  <a:lnTo>
                    <a:pt x="38070" y="306711"/>
                  </a:lnTo>
                  <a:lnTo>
                    <a:pt x="38070" y="12848"/>
                  </a:lnTo>
                  <a:lnTo>
                    <a:pt x="38070" y="6130"/>
                  </a:lnTo>
                  <a:lnTo>
                    <a:pt x="44206" y="0"/>
                  </a:lnTo>
                  <a:lnTo>
                    <a:pt x="50956" y="0"/>
                  </a:lnTo>
                  <a:lnTo>
                    <a:pt x="58319" y="0"/>
                  </a:lnTo>
                  <a:lnTo>
                    <a:pt x="63842" y="6130"/>
                  </a:lnTo>
                  <a:lnTo>
                    <a:pt x="63842" y="12848"/>
                  </a:lnTo>
                  <a:close/>
                </a:path>
                <a:path w="102234" h="409575">
                  <a:moveTo>
                    <a:pt x="50956" y="306711"/>
                  </a:moveTo>
                  <a:lnTo>
                    <a:pt x="101912" y="255903"/>
                  </a:lnTo>
                  <a:lnTo>
                    <a:pt x="50956" y="408947"/>
                  </a:lnTo>
                  <a:lnTo>
                    <a:pt x="0" y="255903"/>
                  </a:lnTo>
                  <a:lnTo>
                    <a:pt x="50956" y="306711"/>
                  </a:lnTo>
                  <a:close/>
                </a:path>
              </a:pathLst>
            </a:custGeom>
            <a:ln w="3577">
              <a:solidFill>
                <a:srgbClr val="000000"/>
              </a:solidFill>
            </a:ln>
          </p:spPr>
          <p:txBody>
            <a:bodyPr wrap="square" lIns="0" tIns="0" rIns="0" bIns="0" rtlCol="0"/>
            <a:lstStyle/>
            <a:p/>
          </p:txBody>
        </p:sp>
        <p:sp>
          <p:nvSpPr>
            <p:cNvPr id="22" name="object 22" descr=""/>
            <p:cNvSpPr/>
            <p:nvPr/>
          </p:nvSpPr>
          <p:spPr>
            <a:xfrm>
              <a:off x="8775501" y="2135942"/>
              <a:ext cx="1129030" cy="474980"/>
            </a:xfrm>
            <a:custGeom>
              <a:avLst/>
              <a:gdLst/>
              <a:ahLst/>
              <a:cxnLst/>
              <a:rect l="l" t="t" r="r" b="b"/>
              <a:pathLst>
                <a:path w="1129029" h="474980">
                  <a:moveTo>
                    <a:pt x="1128960" y="0"/>
                  </a:moveTo>
                  <a:lnTo>
                    <a:pt x="0" y="0"/>
                  </a:lnTo>
                  <a:lnTo>
                    <a:pt x="0" y="474435"/>
                  </a:lnTo>
                  <a:lnTo>
                    <a:pt x="1128960" y="474435"/>
                  </a:lnTo>
                  <a:lnTo>
                    <a:pt x="1128960" y="0"/>
                  </a:lnTo>
                  <a:close/>
                </a:path>
              </a:pathLst>
            </a:custGeom>
            <a:solidFill>
              <a:srgbClr val="FFFF99"/>
            </a:solidFill>
          </p:spPr>
          <p:txBody>
            <a:bodyPr wrap="square" lIns="0" tIns="0" rIns="0" bIns="0" rtlCol="0"/>
            <a:lstStyle/>
            <a:p/>
          </p:txBody>
        </p:sp>
        <p:sp>
          <p:nvSpPr>
            <p:cNvPr id="23" name="object 23" descr=""/>
            <p:cNvSpPr/>
            <p:nvPr/>
          </p:nvSpPr>
          <p:spPr>
            <a:xfrm>
              <a:off x="8775501" y="2135942"/>
              <a:ext cx="1129030" cy="474980"/>
            </a:xfrm>
            <a:custGeom>
              <a:avLst/>
              <a:gdLst/>
              <a:ahLst/>
              <a:cxnLst/>
              <a:rect l="l" t="t" r="r" b="b"/>
              <a:pathLst>
                <a:path w="1129029" h="474980">
                  <a:moveTo>
                    <a:pt x="0" y="474435"/>
                  </a:moveTo>
                  <a:lnTo>
                    <a:pt x="1128960" y="474435"/>
                  </a:lnTo>
                  <a:lnTo>
                    <a:pt x="1128960" y="0"/>
                  </a:lnTo>
                  <a:lnTo>
                    <a:pt x="0" y="0"/>
                  </a:lnTo>
                  <a:lnTo>
                    <a:pt x="0" y="474435"/>
                  </a:lnTo>
                  <a:close/>
                </a:path>
              </a:pathLst>
            </a:custGeom>
            <a:ln w="19016">
              <a:solidFill>
                <a:srgbClr val="000000"/>
              </a:solidFill>
            </a:ln>
          </p:spPr>
          <p:txBody>
            <a:bodyPr wrap="square" lIns="0" tIns="0" rIns="0" bIns="0" rtlCol="0"/>
            <a:lstStyle/>
            <a:p/>
          </p:txBody>
        </p:sp>
        <p:sp>
          <p:nvSpPr>
            <p:cNvPr id="24" name="object 24" descr=""/>
            <p:cNvSpPr/>
            <p:nvPr/>
          </p:nvSpPr>
          <p:spPr>
            <a:xfrm>
              <a:off x="8518905" y="2947692"/>
              <a:ext cx="1666875" cy="713105"/>
            </a:xfrm>
            <a:custGeom>
              <a:avLst/>
              <a:gdLst/>
              <a:ahLst/>
              <a:cxnLst/>
              <a:rect l="l" t="t" r="r" b="b"/>
              <a:pathLst>
                <a:path w="1666875" h="713104">
                  <a:moveTo>
                    <a:pt x="833680" y="0"/>
                  </a:moveTo>
                  <a:lnTo>
                    <a:pt x="0" y="356292"/>
                  </a:lnTo>
                  <a:lnTo>
                    <a:pt x="833680" y="712586"/>
                  </a:lnTo>
                  <a:lnTo>
                    <a:pt x="1666747" y="356293"/>
                  </a:lnTo>
                  <a:lnTo>
                    <a:pt x="833680" y="0"/>
                  </a:lnTo>
                  <a:close/>
                </a:path>
              </a:pathLst>
            </a:custGeom>
            <a:solidFill>
              <a:srgbClr val="FFFF99"/>
            </a:solidFill>
          </p:spPr>
          <p:txBody>
            <a:bodyPr wrap="square" lIns="0" tIns="0" rIns="0" bIns="0" rtlCol="0"/>
            <a:lstStyle/>
            <a:p/>
          </p:txBody>
        </p:sp>
        <p:sp>
          <p:nvSpPr>
            <p:cNvPr id="25" name="object 25" descr=""/>
            <p:cNvSpPr/>
            <p:nvPr/>
          </p:nvSpPr>
          <p:spPr>
            <a:xfrm>
              <a:off x="8130294" y="780021"/>
              <a:ext cx="2055495" cy="2880360"/>
            </a:xfrm>
            <a:custGeom>
              <a:avLst/>
              <a:gdLst/>
              <a:ahLst/>
              <a:cxnLst/>
              <a:rect l="l" t="t" r="r" b="b"/>
              <a:pathLst>
                <a:path w="2055495" h="2880360">
                  <a:moveTo>
                    <a:pt x="1222291" y="2167670"/>
                  </a:moveTo>
                  <a:lnTo>
                    <a:pt x="388611" y="2523963"/>
                  </a:lnTo>
                  <a:lnTo>
                    <a:pt x="1222291" y="2880257"/>
                  </a:lnTo>
                  <a:lnTo>
                    <a:pt x="2055359" y="2523964"/>
                  </a:lnTo>
                  <a:lnTo>
                    <a:pt x="1222291" y="2167670"/>
                  </a:lnTo>
                  <a:close/>
                </a:path>
                <a:path w="2055495" h="2880360">
                  <a:moveTo>
                    <a:pt x="0" y="2533134"/>
                  </a:moveTo>
                  <a:lnTo>
                    <a:pt x="376313" y="2533134"/>
                  </a:lnTo>
                </a:path>
                <a:path w="2055495" h="2880360">
                  <a:moveTo>
                    <a:pt x="0" y="2533134"/>
                  </a:moveTo>
                  <a:lnTo>
                    <a:pt x="0" y="0"/>
                  </a:lnTo>
                </a:path>
              </a:pathLst>
            </a:custGeom>
            <a:ln w="19022">
              <a:solidFill>
                <a:srgbClr val="000000"/>
              </a:solidFill>
            </a:ln>
          </p:spPr>
          <p:txBody>
            <a:bodyPr wrap="square" lIns="0" tIns="0" rIns="0" bIns="0" rtlCol="0"/>
            <a:lstStyle/>
            <a:p/>
          </p:txBody>
        </p:sp>
      </p:grpSp>
      <p:sp>
        <p:nvSpPr>
          <p:cNvPr id="26" name="object 26" descr=""/>
          <p:cNvSpPr txBox="1"/>
          <p:nvPr/>
        </p:nvSpPr>
        <p:spPr>
          <a:xfrm>
            <a:off x="8775501" y="136634"/>
            <a:ext cx="1129030" cy="475615"/>
          </a:xfrm>
          <a:prstGeom prst="rect">
            <a:avLst/>
          </a:prstGeom>
          <a:solidFill>
            <a:srgbClr val="FFFF99"/>
          </a:solidFill>
          <a:ln w="19016">
            <a:solidFill>
              <a:srgbClr val="000000"/>
            </a:solidFill>
          </a:ln>
        </p:spPr>
        <p:txBody>
          <a:bodyPr wrap="square" lIns="0" tIns="80645" rIns="0" bIns="0" rtlCol="0" vert="horz">
            <a:spAutoFit/>
          </a:bodyPr>
          <a:lstStyle/>
          <a:p>
            <a:pPr marL="252095">
              <a:lnSpc>
                <a:spcPct val="100000"/>
              </a:lnSpc>
              <a:spcBef>
                <a:spcPts val="635"/>
              </a:spcBef>
            </a:pPr>
            <a:r>
              <a:rPr dirty="0" sz="2100">
                <a:latin typeface="Times New Roman"/>
                <a:cs typeface="Times New Roman"/>
              </a:rPr>
              <a:t>I</a:t>
            </a:r>
            <a:r>
              <a:rPr dirty="0" sz="2100" spc="-25">
                <a:latin typeface="Times New Roman"/>
                <a:cs typeface="Times New Roman"/>
              </a:rPr>
              <a:t> </a:t>
            </a:r>
            <a:r>
              <a:rPr dirty="0" sz="2100">
                <a:latin typeface="Times New Roman"/>
                <a:cs typeface="Times New Roman"/>
              </a:rPr>
              <a:t>=</a:t>
            </a:r>
            <a:r>
              <a:rPr dirty="0" sz="2100" spc="20">
                <a:latin typeface="Times New Roman"/>
                <a:cs typeface="Times New Roman"/>
              </a:rPr>
              <a:t> </a:t>
            </a:r>
            <a:r>
              <a:rPr dirty="0" sz="2100" spc="-25">
                <a:latin typeface="Times New Roman"/>
                <a:cs typeface="Times New Roman"/>
              </a:rPr>
              <a:t>m</a:t>
            </a:r>
            <a:r>
              <a:rPr dirty="0" baseline="-11904" sz="2100" spc="-37">
                <a:latin typeface="Times New Roman"/>
                <a:cs typeface="Times New Roman"/>
              </a:rPr>
              <a:t>1</a:t>
            </a:r>
            <a:endParaRPr baseline="-11904" sz="2100">
              <a:latin typeface="Times New Roman"/>
              <a:cs typeface="Times New Roman"/>
            </a:endParaRPr>
          </a:p>
        </p:txBody>
      </p:sp>
      <p:sp>
        <p:nvSpPr>
          <p:cNvPr id="27" name="object 27" descr=""/>
          <p:cNvSpPr txBox="1"/>
          <p:nvPr/>
        </p:nvSpPr>
        <p:spPr>
          <a:xfrm>
            <a:off x="8939998" y="2199237"/>
            <a:ext cx="853440" cy="349250"/>
          </a:xfrm>
          <a:prstGeom prst="rect">
            <a:avLst/>
          </a:prstGeom>
        </p:spPr>
        <p:txBody>
          <a:bodyPr wrap="square" lIns="0" tIns="15875" rIns="0" bIns="0" rtlCol="0" vert="horz">
            <a:spAutoFit/>
          </a:bodyPr>
          <a:lstStyle/>
          <a:p>
            <a:pPr marL="38100">
              <a:lnSpc>
                <a:spcPct val="100000"/>
              </a:lnSpc>
              <a:spcBef>
                <a:spcPts val="125"/>
              </a:spcBef>
            </a:pPr>
            <a:r>
              <a:rPr dirty="0" sz="2100" spc="-10">
                <a:latin typeface="Times New Roman"/>
                <a:cs typeface="Times New Roman"/>
              </a:rPr>
              <a:t>I=I+m</a:t>
            </a:r>
            <a:r>
              <a:rPr dirty="0" baseline="-11904" sz="2100" spc="-15">
                <a:latin typeface="Times New Roman"/>
                <a:cs typeface="Times New Roman"/>
              </a:rPr>
              <a:t>3</a:t>
            </a:r>
            <a:endParaRPr baseline="-11904" sz="2100">
              <a:latin typeface="Times New Roman"/>
              <a:cs typeface="Times New Roman"/>
            </a:endParaRPr>
          </a:p>
        </p:txBody>
      </p:sp>
      <p:sp>
        <p:nvSpPr>
          <p:cNvPr id="28" name="object 28" descr=""/>
          <p:cNvSpPr txBox="1"/>
          <p:nvPr/>
        </p:nvSpPr>
        <p:spPr>
          <a:xfrm>
            <a:off x="8993624" y="1225224"/>
            <a:ext cx="718820" cy="301625"/>
          </a:xfrm>
          <a:prstGeom prst="rect">
            <a:avLst/>
          </a:prstGeom>
        </p:spPr>
        <p:txBody>
          <a:bodyPr wrap="square" lIns="0" tIns="13970" rIns="0" bIns="0" rtlCol="0" vert="horz">
            <a:spAutoFit/>
          </a:bodyPr>
          <a:lstStyle/>
          <a:p>
            <a:pPr marL="12700">
              <a:lnSpc>
                <a:spcPct val="100000"/>
              </a:lnSpc>
              <a:spcBef>
                <a:spcPts val="110"/>
              </a:spcBef>
            </a:pPr>
            <a:r>
              <a:rPr dirty="0" sz="1800" spc="-20">
                <a:latin typeface="宋体"/>
                <a:cs typeface="宋体"/>
              </a:rPr>
              <a:t>循环体</a:t>
            </a:r>
            <a:endParaRPr sz="1800">
              <a:latin typeface="宋体"/>
              <a:cs typeface="宋体"/>
            </a:endParaRPr>
          </a:p>
        </p:txBody>
      </p:sp>
      <p:grpSp>
        <p:nvGrpSpPr>
          <p:cNvPr id="29" name="object 29" descr=""/>
          <p:cNvGrpSpPr/>
          <p:nvPr/>
        </p:nvGrpSpPr>
        <p:grpSpPr>
          <a:xfrm>
            <a:off x="8128506" y="613470"/>
            <a:ext cx="1271270" cy="2326005"/>
            <a:chOff x="8128506" y="613470"/>
            <a:chExt cx="1271270" cy="2326005"/>
          </a:xfrm>
        </p:grpSpPr>
        <p:sp>
          <p:nvSpPr>
            <p:cNvPr id="30" name="object 30" descr=""/>
            <p:cNvSpPr/>
            <p:nvPr/>
          </p:nvSpPr>
          <p:spPr>
            <a:xfrm>
              <a:off x="9274605" y="615259"/>
              <a:ext cx="102235" cy="488315"/>
            </a:xfrm>
            <a:custGeom>
              <a:avLst/>
              <a:gdLst/>
              <a:ahLst/>
              <a:cxnLst/>
              <a:rect l="l" t="t" r="r" b="b"/>
              <a:pathLst>
                <a:path w="102234" h="488315">
                  <a:moveTo>
                    <a:pt x="0" y="334375"/>
                  </a:moveTo>
                  <a:lnTo>
                    <a:pt x="50956" y="487897"/>
                  </a:lnTo>
                  <a:lnTo>
                    <a:pt x="80631" y="398492"/>
                  </a:lnTo>
                  <a:lnTo>
                    <a:pt x="44206" y="398492"/>
                  </a:lnTo>
                  <a:lnTo>
                    <a:pt x="38070" y="392361"/>
                  </a:lnTo>
                  <a:lnTo>
                    <a:pt x="38070" y="372735"/>
                  </a:lnTo>
                  <a:lnTo>
                    <a:pt x="0" y="334375"/>
                  </a:lnTo>
                  <a:close/>
                </a:path>
                <a:path w="102234" h="488315">
                  <a:moveTo>
                    <a:pt x="38070" y="372735"/>
                  </a:moveTo>
                  <a:lnTo>
                    <a:pt x="38070" y="392361"/>
                  </a:lnTo>
                  <a:lnTo>
                    <a:pt x="44206" y="398492"/>
                  </a:lnTo>
                  <a:lnTo>
                    <a:pt x="58319" y="398492"/>
                  </a:lnTo>
                  <a:lnTo>
                    <a:pt x="63842" y="392361"/>
                  </a:lnTo>
                  <a:lnTo>
                    <a:pt x="63842" y="385720"/>
                  </a:lnTo>
                  <a:lnTo>
                    <a:pt x="50956" y="385720"/>
                  </a:lnTo>
                  <a:lnTo>
                    <a:pt x="38070" y="372735"/>
                  </a:lnTo>
                  <a:close/>
                </a:path>
                <a:path w="102234" h="488315">
                  <a:moveTo>
                    <a:pt x="101912" y="334375"/>
                  </a:moveTo>
                  <a:lnTo>
                    <a:pt x="63842" y="372736"/>
                  </a:lnTo>
                  <a:lnTo>
                    <a:pt x="63842" y="392361"/>
                  </a:lnTo>
                  <a:lnTo>
                    <a:pt x="58319" y="398492"/>
                  </a:lnTo>
                  <a:lnTo>
                    <a:pt x="80631" y="398492"/>
                  </a:lnTo>
                  <a:lnTo>
                    <a:pt x="101912" y="334375"/>
                  </a:lnTo>
                  <a:close/>
                </a:path>
                <a:path w="102234" h="488315">
                  <a:moveTo>
                    <a:pt x="58319" y="0"/>
                  </a:moveTo>
                  <a:lnTo>
                    <a:pt x="44206" y="0"/>
                  </a:lnTo>
                  <a:lnTo>
                    <a:pt x="38070" y="5619"/>
                  </a:lnTo>
                  <a:lnTo>
                    <a:pt x="38070" y="372735"/>
                  </a:lnTo>
                  <a:lnTo>
                    <a:pt x="50956" y="385720"/>
                  </a:lnTo>
                  <a:lnTo>
                    <a:pt x="63842" y="372736"/>
                  </a:lnTo>
                  <a:lnTo>
                    <a:pt x="63842" y="5619"/>
                  </a:lnTo>
                  <a:lnTo>
                    <a:pt x="58319" y="0"/>
                  </a:lnTo>
                  <a:close/>
                </a:path>
                <a:path w="102234" h="488315">
                  <a:moveTo>
                    <a:pt x="63842" y="372736"/>
                  </a:moveTo>
                  <a:lnTo>
                    <a:pt x="50956" y="385720"/>
                  </a:lnTo>
                  <a:lnTo>
                    <a:pt x="63842" y="385720"/>
                  </a:lnTo>
                  <a:lnTo>
                    <a:pt x="63842" y="372736"/>
                  </a:lnTo>
                  <a:close/>
                </a:path>
              </a:pathLst>
            </a:custGeom>
            <a:solidFill>
              <a:srgbClr val="000000"/>
            </a:solidFill>
          </p:spPr>
          <p:txBody>
            <a:bodyPr wrap="square" lIns="0" tIns="0" rIns="0" bIns="0" rtlCol="0"/>
            <a:lstStyle/>
            <a:p/>
          </p:txBody>
        </p:sp>
        <p:sp>
          <p:nvSpPr>
            <p:cNvPr id="31" name="object 31" descr=""/>
            <p:cNvSpPr/>
            <p:nvPr/>
          </p:nvSpPr>
          <p:spPr>
            <a:xfrm>
              <a:off x="9274605" y="615259"/>
              <a:ext cx="102235" cy="488315"/>
            </a:xfrm>
            <a:custGeom>
              <a:avLst/>
              <a:gdLst/>
              <a:ahLst/>
              <a:cxnLst/>
              <a:rect l="l" t="t" r="r" b="b"/>
              <a:pathLst>
                <a:path w="102234" h="488315">
                  <a:moveTo>
                    <a:pt x="63842" y="12772"/>
                  </a:moveTo>
                  <a:lnTo>
                    <a:pt x="63842" y="385720"/>
                  </a:lnTo>
                  <a:lnTo>
                    <a:pt x="63842" y="392361"/>
                  </a:lnTo>
                  <a:lnTo>
                    <a:pt x="58319" y="398492"/>
                  </a:lnTo>
                  <a:lnTo>
                    <a:pt x="50956" y="398492"/>
                  </a:lnTo>
                  <a:lnTo>
                    <a:pt x="44206" y="398492"/>
                  </a:lnTo>
                  <a:lnTo>
                    <a:pt x="38070" y="392361"/>
                  </a:lnTo>
                  <a:lnTo>
                    <a:pt x="38070" y="385720"/>
                  </a:lnTo>
                  <a:lnTo>
                    <a:pt x="38070" y="12772"/>
                  </a:lnTo>
                  <a:lnTo>
                    <a:pt x="38070" y="5619"/>
                  </a:lnTo>
                  <a:lnTo>
                    <a:pt x="44206" y="0"/>
                  </a:lnTo>
                  <a:lnTo>
                    <a:pt x="50956" y="0"/>
                  </a:lnTo>
                  <a:lnTo>
                    <a:pt x="58319" y="0"/>
                  </a:lnTo>
                  <a:lnTo>
                    <a:pt x="63842" y="5619"/>
                  </a:lnTo>
                  <a:lnTo>
                    <a:pt x="63842" y="12772"/>
                  </a:lnTo>
                  <a:close/>
                </a:path>
                <a:path w="102234" h="488315">
                  <a:moveTo>
                    <a:pt x="50956" y="385720"/>
                  </a:moveTo>
                  <a:lnTo>
                    <a:pt x="101912" y="334375"/>
                  </a:lnTo>
                  <a:lnTo>
                    <a:pt x="50956" y="487897"/>
                  </a:lnTo>
                  <a:lnTo>
                    <a:pt x="0" y="334375"/>
                  </a:lnTo>
                  <a:lnTo>
                    <a:pt x="50956" y="385720"/>
                  </a:lnTo>
                  <a:close/>
                </a:path>
              </a:pathLst>
            </a:custGeom>
            <a:ln w="3577">
              <a:solidFill>
                <a:srgbClr val="000000"/>
              </a:solidFill>
            </a:ln>
          </p:spPr>
          <p:txBody>
            <a:bodyPr wrap="square" lIns="0" tIns="0" rIns="0" bIns="0" rtlCol="0"/>
            <a:lstStyle/>
            <a:p/>
          </p:txBody>
        </p:sp>
        <p:sp>
          <p:nvSpPr>
            <p:cNvPr id="32" name="object 32" descr=""/>
            <p:cNvSpPr/>
            <p:nvPr/>
          </p:nvSpPr>
          <p:spPr>
            <a:xfrm>
              <a:off x="9294880" y="2607926"/>
              <a:ext cx="102870" cy="329565"/>
            </a:xfrm>
            <a:custGeom>
              <a:avLst/>
              <a:gdLst/>
              <a:ahLst/>
              <a:cxnLst/>
              <a:rect l="l" t="t" r="r" b="b"/>
              <a:pathLst>
                <a:path w="102870" h="329564">
                  <a:moveTo>
                    <a:pt x="0" y="176307"/>
                  </a:moveTo>
                  <a:lnTo>
                    <a:pt x="50956" y="329343"/>
                  </a:lnTo>
                  <a:lnTo>
                    <a:pt x="81075" y="239963"/>
                  </a:lnTo>
                  <a:lnTo>
                    <a:pt x="44206" y="239963"/>
                  </a:lnTo>
                  <a:lnTo>
                    <a:pt x="38044" y="234471"/>
                  </a:lnTo>
                  <a:lnTo>
                    <a:pt x="38044" y="214698"/>
                  </a:lnTo>
                  <a:lnTo>
                    <a:pt x="0" y="176307"/>
                  </a:lnTo>
                  <a:close/>
                </a:path>
                <a:path w="102870" h="329564">
                  <a:moveTo>
                    <a:pt x="38044" y="214698"/>
                  </a:moveTo>
                  <a:lnTo>
                    <a:pt x="38044" y="234471"/>
                  </a:lnTo>
                  <a:lnTo>
                    <a:pt x="44206" y="239963"/>
                  </a:lnTo>
                  <a:lnTo>
                    <a:pt x="58319" y="239963"/>
                  </a:lnTo>
                  <a:lnTo>
                    <a:pt x="63842" y="234471"/>
                  </a:lnTo>
                  <a:lnTo>
                    <a:pt x="63842" y="227728"/>
                  </a:lnTo>
                  <a:lnTo>
                    <a:pt x="50956" y="227728"/>
                  </a:lnTo>
                  <a:lnTo>
                    <a:pt x="38044" y="214698"/>
                  </a:lnTo>
                  <a:close/>
                </a:path>
                <a:path w="102870" h="329564">
                  <a:moveTo>
                    <a:pt x="102525" y="176307"/>
                  </a:moveTo>
                  <a:lnTo>
                    <a:pt x="63842" y="214879"/>
                  </a:lnTo>
                  <a:lnTo>
                    <a:pt x="63842" y="234471"/>
                  </a:lnTo>
                  <a:lnTo>
                    <a:pt x="58319" y="239963"/>
                  </a:lnTo>
                  <a:lnTo>
                    <a:pt x="81075" y="239963"/>
                  </a:lnTo>
                  <a:lnTo>
                    <a:pt x="102525" y="176307"/>
                  </a:lnTo>
                  <a:close/>
                </a:path>
                <a:path w="102870" h="329564">
                  <a:moveTo>
                    <a:pt x="58319" y="0"/>
                  </a:moveTo>
                  <a:lnTo>
                    <a:pt x="44206" y="0"/>
                  </a:lnTo>
                  <a:lnTo>
                    <a:pt x="38044" y="6130"/>
                  </a:lnTo>
                  <a:lnTo>
                    <a:pt x="38044" y="214698"/>
                  </a:lnTo>
                  <a:lnTo>
                    <a:pt x="50956" y="227728"/>
                  </a:lnTo>
                  <a:lnTo>
                    <a:pt x="63842" y="214879"/>
                  </a:lnTo>
                  <a:lnTo>
                    <a:pt x="63842" y="6130"/>
                  </a:lnTo>
                  <a:lnTo>
                    <a:pt x="58319" y="0"/>
                  </a:lnTo>
                  <a:close/>
                </a:path>
                <a:path w="102870" h="329564">
                  <a:moveTo>
                    <a:pt x="63842" y="214879"/>
                  </a:moveTo>
                  <a:lnTo>
                    <a:pt x="50956" y="227728"/>
                  </a:lnTo>
                  <a:lnTo>
                    <a:pt x="63842" y="227728"/>
                  </a:lnTo>
                  <a:lnTo>
                    <a:pt x="63842" y="214879"/>
                  </a:lnTo>
                  <a:close/>
                </a:path>
              </a:pathLst>
            </a:custGeom>
            <a:solidFill>
              <a:srgbClr val="000000"/>
            </a:solidFill>
          </p:spPr>
          <p:txBody>
            <a:bodyPr wrap="square" lIns="0" tIns="0" rIns="0" bIns="0" rtlCol="0"/>
            <a:lstStyle/>
            <a:p/>
          </p:txBody>
        </p:sp>
        <p:pic>
          <p:nvPicPr>
            <p:cNvPr id="33" name="object 33" descr=""/>
            <p:cNvPicPr/>
            <p:nvPr/>
          </p:nvPicPr>
          <p:blipFill>
            <a:blip r:embed="rId2" cstate="print"/>
            <a:stretch>
              <a:fillRect/>
            </a:stretch>
          </p:blipFill>
          <p:spPr>
            <a:xfrm>
              <a:off x="9293091" y="2606136"/>
              <a:ext cx="106104" cy="332922"/>
            </a:xfrm>
            <a:prstGeom prst="rect">
              <a:avLst/>
            </a:prstGeom>
          </p:spPr>
        </p:pic>
        <p:sp>
          <p:nvSpPr>
            <p:cNvPr id="34" name="object 34" descr=""/>
            <p:cNvSpPr/>
            <p:nvPr/>
          </p:nvSpPr>
          <p:spPr>
            <a:xfrm>
              <a:off x="8130294" y="729187"/>
              <a:ext cx="1195705" cy="102235"/>
            </a:xfrm>
            <a:custGeom>
              <a:avLst/>
              <a:gdLst/>
              <a:ahLst/>
              <a:cxnLst/>
              <a:rect l="l" t="t" r="r" b="b"/>
              <a:pathLst>
                <a:path w="1195704" h="102234">
                  <a:moveTo>
                    <a:pt x="1041785" y="0"/>
                  </a:moveTo>
                  <a:lnTo>
                    <a:pt x="1092741" y="50833"/>
                  </a:lnTo>
                  <a:lnTo>
                    <a:pt x="1041785" y="101666"/>
                  </a:lnTo>
                  <a:lnTo>
                    <a:pt x="1156703" y="63605"/>
                  </a:lnTo>
                  <a:lnTo>
                    <a:pt x="1100130" y="63605"/>
                  </a:lnTo>
                  <a:lnTo>
                    <a:pt x="1105652" y="57474"/>
                  </a:lnTo>
                  <a:lnTo>
                    <a:pt x="1105652" y="43936"/>
                  </a:lnTo>
                  <a:lnTo>
                    <a:pt x="1100130" y="37805"/>
                  </a:lnTo>
                  <a:lnTo>
                    <a:pt x="1155932" y="37805"/>
                  </a:lnTo>
                  <a:lnTo>
                    <a:pt x="1041785" y="0"/>
                  </a:lnTo>
                  <a:close/>
                </a:path>
                <a:path w="1195704" h="102234">
                  <a:moveTo>
                    <a:pt x="1079682" y="37805"/>
                  </a:moveTo>
                  <a:lnTo>
                    <a:pt x="5532" y="37805"/>
                  </a:lnTo>
                  <a:lnTo>
                    <a:pt x="0" y="43936"/>
                  </a:lnTo>
                  <a:lnTo>
                    <a:pt x="0" y="57474"/>
                  </a:lnTo>
                  <a:lnTo>
                    <a:pt x="5532" y="63605"/>
                  </a:lnTo>
                  <a:lnTo>
                    <a:pt x="1079938" y="63605"/>
                  </a:lnTo>
                  <a:lnTo>
                    <a:pt x="1092741" y="50833"/>
                  </a:lnTo>
                  <a:lnTo>
                    <a:pt x="1079682" y="37805"/>
                  </a:lnTo>
                  <a:close/>
                </a:path>
                <a:path w="1195704" h="102234">
                  <a:moveTo>
                    <a:pt x="1155932" y="37805"/>
                  </a:moveTo>
                  <a:lnTo>
                    <a:pt x="1100130" y="37805"/>
                  </a:lnTo>
                  <a:lnTo>
                    <a:pt x="1105652" y="43936"/>
                  </a:lnTo>
                  <a:lnTo>
                    <a:pt x="1105652" y="57474"/>
                  </a:lnTo>
                  <a:lnTo>
                    <a:pt x="1100130" y="63605"/>
                  </a:lnTo>
                  <a:lnTo>
                    <a:pt x="1156703" y="63605"/>
                  </a:lnTo>
                  <a:lnTo>
                    <a:pt x="1195267" y="50833"/>
                  </a:lnTo>
                  <a:lnTo>
                    <a:pt x="1155932" y="37805"/>
                  </a:lnTo>
                  <a:close/>
                </a:path>
              </a:pathLst>
            </a:custGeom>
            <a:solidFill>
              <a:srgbClr val="000000"/>
            </a:solidFill>
          </p:spPr>
          <p:txBody>
            <a:bodyPr wrap="square" lIns="0" tIns="0" rIns="0" bIns="0" rtlCol="0"/>
            <a:lstStyle/>
            <a:p/>
          </p:txBody>
        </p:sp>
        <p:sp>
          <p:nvSpPr>
            <p:cNvPr id="35" name="object 35" descr=""/>
            <p:cNvSpPr/>
            <p:nvPr/>
          </p:nvSpPr>
          <p:spPr>
            <a:xfrm>
              <a:off x="8130294" y="729187"/>
              <a:ext cx="1195705" cy="102235"/>
            </a:xfrm>
            <a:custGeom>
              <a:avLst/>
              <a:gdLst/>
              <a:ahLst/>
              <a:cxnLst/>
              <a:rect l="l" t="t" r="r" b="b"/>
              <a:pathLst>
                <a:path w="1195704" h="102234">
                  <a:moveTo>
                    <a:pt x="12282" y="37805"/>
                  </a:moveTo>
                  <a:lnTo>
                    <a:pt x="1092741" y="37805"/>
                  </a:lnTo>
                  <a:lnTo>
                    <a:pt x="1100130" y="37805"/>
                  </a:lnTo>
                  <a:lnTo>
                    <a:pt x="1105652" y="43936"/>
                  </a:lnTo>
                  <a:lnTo>
                    <a:pt x="1105652" y="50833"/>
                  </a:lnTo>
                  <a:lnTo>
                    <a:pt x="1105652" y="57474"/>
                  </a:lnTo>
                  <a:lnTo>
                    <a:pt x="1100130" y="63605"/>
                  </a:lnTo>
                  <a:lnTo>
                    <a:pt x="1092741" y="63605"/>
                  </a:lnTo>
                  <a:lnTo>
                    <a:pt x="12282" y="63605"/>
                  </a:lnTo>
                  <a:lnTo>
                    <a:pt x="5532" y="63605"/>
                  </a:lnTo>
                  <a:lnTo>
                    <a:pt x="0" y="57474"/>
                  </a:lnTo>
                  <a:lnTo>
                    <a:pt x="0" y="50833"/>
                  </a:lnTo>
                  <a:lnTo>
                    <a:pt x="0" y="43936"/>
                  </a:lnTo>
                  <a:lnTo>
                    <a:pt x="5532" y="37805"/>
                  </a:lnTo>
                  <a:lnTo>
                    <a:pt x="12282" y="37805"/>
                  </a:lnTo>
                  <a:close/>
                </a:path>
                <a:path w="1195704" h="102234">
                  <a:moveTo>
                    <a:pt x="1092741" y="50833"/>
                  </a:moveTo>
                  <a:lnTo>
                    <a:pt x="1041785" y="0"/>
                  </a:lnTo>
                  <a:lnTo>
                    <a:pt x="1195267" y="50833"/>
                  </a:lnTo>
                  <a:lnTo>
                    <a:pt x="1041785" y="101666"/>
                  </a:lnTo>
                  <a:lnTo>
                    <a:pt x="1092741" y="50833"/>
                  </a:lnTo>
                  <a:close/>
                </a:path>
              </a:pathLst>
            </a:custGeom>
            <a:ln w="3577">
              <a:solidFill>
                <a:srgbClr val="000000"/>
              </a:solidFill>
            </a:ln>
          </p:spPr>
          <p:txBody>
            <a:bodyPr wrap="square" lIns="0" tIns="0" rIns="0" bIns="0" rtlCol="0"/>
            <a:lstStyle/>
            <a:p/>
          </p:txBody>
        </p:sp>
      </p:grpSp>
      <p:sp>
        <p:nvSpPr>
          <p:cNvPr id="36" name="object 36" descr=""/>
          <p:cNvSpPr txBox="1"/>
          <p:nvPr/>
        </p:nvSpPr>
        <p:spPr>
          <a:xfrm>
            <a:off x="8262470" y="2981069"/>
            <a:ext cx="191770" cy="301625"/>
          </a:xfrm>
          <a:prstGeom prst="rect">
            <a:avLst/>
          </a:prstGeom>
        </p:spPr>
        <p:txBody>
          <a:bodyPr wrap="square" lIns="0" tIns="13970" rIns="0" bIns="0" rtlCol="0" vert="horz">
            <a:spAutoFit/>
          </a:bodyPr>
          <a:lstStyle/>
          <a:p>
            <a:pPr marL="12700">
              <a:lnSpc>
                <a:spcPct val="100000"/>
              </a:lnSpc>
              <a:spcBef>
                <a:spcPts val="110"/>
              </a:spcBef>
            </a:pPr>
            <a:r>
              <a:rPr dirty="0" sz="1800" spc="-50" b="1">
                <a:latin typeface="Times New Roman"/>
                <a:cs typeface="Times New Roman"/>
              </a:rPr>
              <a:t>N</a:t>
            </a:r>
            <a:endParaRPr sz="1800">
              <a:latin typeface="Times New Roman"/>
              <a:cs typeface="Times New Roman"/>
            </a:endParaRPr>
          </a:p>
        </p:txBody>
      </p:sp>
      <p:sp>
        <p:nvSpPr>
          <p:cNvPr id="37" name="object 37" descr=""/>
          <p:cNvSpPr txBox="1"/>
          <p:nvPr/>
        </p:nvSpPr>
        <p:spPr>
          <a:xfrm>
            <a:off x="8986659" y="3100366"/>
            <a:ext cx="755015" cy="853440"/>
          </a:xfrm>
          <a:prstGeom prst="rect">
            <a:avLst/>
          </a:prstGeom>
        </p:spPr>
        <p:txBody>
          <a:bodyPr wrap="square" lIns="0" tIns="15875" rIns="0" bIns="0" rtlCol="0" vert="horz">
            <a:spAutoFit/>
          </a:bodyPr>
          <a:lstStyle/>
          <a:p>
            <a:pPr marL="62230">
              <a:lnSpc>
                <a:spcPct val="100000"/>
              </a:lnSpc>
              <a:spcBef>
                <a:spcPts val="125"/>
              </a:spcBef>
            </a:pPr>
            <a:r>
              <a:rPr dirty="0" sz="2100" spc="-20">
                <a:latin typeface="Times New Roman"/>
                <a:cs typeface="Times New Roman"/>
              </a:rPr>
              <a:t>I</a:t>
            </a:r>
            <a:r>
              <a:rPr dirty="0" sz="2100" spc="-20">
                <a:latin typeface="宋体"/>
                <a:cs typeface="宋体"/>
              </a:rPr>
              <a:t>＞</a:t>
            </a:r>
            <a:r>
              <a:rPr dirty="0" sz="2100" spc="-20">
                <a:latin typeface="Times New Roman"/>
                <a:cs typeface="Times New Roman"/>
              </a:rPr>
              <a:t>m</a:t>
            </a:r>
            <a:r>
              <a:rPr dirty="0" baseline="-11904" sz="2100" spc="-30">
                <a:latin typeface="Times New Roman"/>
                <a:cs typeface="Times New Roman"/>
              </a:rPr>
              <a:t>2</a:t>
            </a:r>
            <a:endParaRPr baseline="-11904" sz="2100">
              <a:latin typeface="Times New Roman"/>
              <a:cs typeface="Times New Roman"/>
            </a:endParaRPr>
          </a:p>
          <a:p>
            <a:pPr marL="38100">
              <a:lnSpc>
                <a:spcPct val="100000"/>
              </a:lnSpc>
              <a:spcBef>
                <a:spcPts val="1810"/>
              </a:spcBef>
            </a:pPr>
            <a:r>
              <a:rPr dirty="0" sz="1800" spc="-50" b="1">
                <a:latin typeface="Times New Roman"/>
                <a:cs typeface="Times New Roman"/>
              </a:rPr>
              <a:t>Y</a:t>
            </a:r>
            <a:endParaRPr sz="1800">
              <a:latin typeface="Times New Roman"/>
              <a:cs typeface="Times New Roman"/>
            </a:endParaRPr>
          </a:p>
        </p:txBody>
      </p:sp>
      <p:sp>
        <p:nvSpPr>
          <p:cNvPr id="38" name="object 38" descr=""/>
          <p:cNvSpPr txBox="1"/>
          <p:nvPr/>
        </p:nvSpPr>
        <p:spPr>
          <a:xfrm>
            <a:off x="8047481" y="4223384"/>
            <a:ext cx="2329815" cy="330835"/>
          </a:xfrm>
          <a:prstGeom prst="rect">
            <a:avLst/>
          </a:prstGeom>
        </p:spPr>
        <p:txBody>
          <a:bodyPr wrap="square" lIns="0" tIns="12700" rIns="0" bIns="0" rtlCol="0" vert="horz">
            <a:spAutoFit/>
          </a:bodyPr>
          <a:lstStyle/>
          <a:p>
            <a:pPr marL="12700">
              <a:lnSpc>
                <a:spcPct val="100000"/>
              </a:lnSpc>
              <a:spcBef>
                <a:spcPts val="100"/>
              </a:spcBef>
            </a:pPr>
            <a:r>
              <a:rPr dirty="0" sz="2000" spc="-15" b="1">
                <a:solidFill>
                  <a:srgbClr val="40458B"/>
                </a:solidFill>
                <a:latin typeface="宋体"/>
                <a:cs typeface="宋体"/>
              </a:rPr>
              <a:t>一般循环程序的结构</a:t>
            </a:r>
            <a:endParaRPr sz="2000">
              <a:latin typeface="宋体"/>
              <a:cs typeface="宋体"/>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2.4</a:t>
            </a:r>
            <a:r>
              <a:rPr dirty="0" spc="-35">
                <a:solidFill>
                  <a:srgbClr val="4F55AC"/>
                </a:solidFill>
              </a:rPr>
              <a:t> </a:t>
            </a:r>
            <a:r>
              <a:rPr dirty="0">
                <a:solidFill>
                  <a:srgbClr val="4F55AC"/>
                </a:solidFill>
                <a:latin typeface="微软雅黑"/>
                <a:cs typeface="微软雅黑"/>
              </a:rPr>
              <a:t>指令系统的发展和改</a:t>
            </a:r>
            <a:r>
              <a:rPr dirty="0" spc="-50">
                <a:solidFill>
                  <a:srgbClr val="4F55AC"/>
                </a:solidFill>
                <a:latin typeface="微软雅黑"/>
                <a:cs typeface="微软雅黑"/>
              </a:rPr>
              <a:t>进</a:t>
            </a:r>
            <a:r>
              <a:rPr dirty="0">
                <a:solidFill>
                  <a:srgbClr val="4F55AC"/>
                </a:solidFill>
                <a:latin typeface="微软雅黑"/>
                <a:cs typeface="微软雅黑"/>
              </a:rPr>
              <a:t>	</a:t>
            </a:r>
          </a:p>
        </p:txBody>
      </p:sp>
      <p:sp>
        <p:nvSpPr>
          <p:cNvPr id="4" name="object 4" descr=""/>
          <p:cNvSpPr txBox="1"/>
          <p:nvPr/>
        </p:nvSpPr>
        <p:spPr>
          <a:xfrm>
            <a:off x="1447291" y="624745"/>
            <a:ext cx="9203690" cy="4991100"/>
          </a:xfrm>
          <a:prstGeom prst="rect">
            <a:avLst/>
          </a:prstGeom>
        </p:spPr>
        <p:txBody>
          <a:bodyPr wrap="square" lIns="0" tIns="182880" rIns="0" bIns="0" rtlCol="0" vert="horz">
            <a:spAutoFit/>
          </a:bodyPr>
          <a:lstStyle/>
          <a:p>
            <a:pPr marL="354965" indent="-342265">
              <a:lnSpc>
                <a:spcPct val="100000"/>
              </a:lnSpc>
              <a:spcBef>
                <a:spcPts val="1440"/>
              </a:spcBef>
              <a:buClr>
                <a:srgbClr val="40458B"/>
              </a:buClr>
              <a:buSzPct val="114285"/>
              <a:buFont typeface="Wingdings"/>
              <a:buChar char=""/>
              <a:tabLst>
                <a:tab pos="354965" algn="l"/>
              </a:tabLst>
            </a:pPr>
            <a:r>
              <a:rPr dirty="0" sz="2800" spc="-25">
                <a:solidFill>
                  <a:srgbClr val="172152"/>
                </a:solidFill>
                <a:latin typeface="黑体"/>
                <a:cs typeface="黑体"/>
              </a:rPr>
              <a:t>（</a:t>
            </a:r>
            <a:r>
              <a:rPr dirty="0" sz="2800" spc="-25">
                <a:solidFill>
                  <a:srgbClr val="172152"/>
                </a:solidFill>
                <a:latin typeface="Tahoma"/>
                <a:cs typeface="Tahoma"/>
              </a:rPr>
              <a:t>2</a:t>
            </a:r>
            <a:r>
              <a:rPr dirty="0" sz="2800" spc="-25">
                <a:solidFill>
                  <a:srgbClr val="172152"/>
                </a:solidFill>
                <a:latin typeface="黑体"/>
                <a:cs typeface="黑体"/>
              </a:rPr>
              <a:t>）</a:t>
            </a:r>
            <a:r>
              <a:rPr dirty="0" sz="2800" spc="-40">
                <a:solidFill>
                  <a:srgbClr val="172152"/>
                </a:solidFill>
                <a:latin typeface="黑体"/>
                <a:cs typeface="黑体"/>
              </a:rPr>
              <a:t>面向高级语言的优化实现来改进指令系统</a:t>
            </a:r>
            <a:endParaRPr sz="2800">
              <a:latin typeface="黑体"/>
              <a:cs typeface="黑体"/>
            </a:endParaRPr>
          </a:p>
          <a:p>
            <a:pPr lvl="1" marL="696595" marR="117475" indent="-273050">
              <a:lnSpc>
                <a:spcPct val="130000"/>
              </a:lnSpc>
              <a:spcBef>
                <a:spcPts val="550"/>
              </a:spcBef>
              <a:buClr>
                <a:srgbClr val="006FC0"/>
              </a:buClr>
              <a:buSzPct val="88636"/>
              <a:buFont typeface="Wingdings"/>
              <a:buChar char=""/>
              <a:tabLst>
                <a:tab pos="696595" algn="l"/>
              </a:tabLst>
            </a:pPr>
            <a:r>
              <a:rPr dirty="0" sz="2200" spc="-30">
                <a:solidFill>
                  <a:srgbClr val="FF0000"/>
                </a:solidFill>
                <a:latin typeface="黑体"/>
                <a:cs typeface="黑体"/>
              </a:rPr>
              <a:t>目标：</a:t>
            </a:r>
            <a:r>
              <a:rPr dirty="0" sz="2200" spc="-35">
                <a:solidFill>
                  <a:srgbClr val="001F5F"/>
                </a:solidFill>
                <a:latin typeface="黑体"/>
                <a:cs typeface="黑体"/>
              </a:rPr>
              <a:t>缩小高级语言与机器语言的语义差距，缩短编译程序长度和编译时间</a:t>
            </a:r>
            <a:endParaRPr sz="2200">
              <a:latin typeface="黑体"/>
              <a:cs typeface="黑体"/>
            </a:endParaRPr>
          </a:p>
          <a:p>
            <a:pPr lvl="1" marL="696595" indent="-272415">
              <a:lnSpc>
                <a:spcPct val="100000"/>
              </a:lnSpc>
              <a:spcBef>
                <a:spcPts val="1320"/>
              </a:spcBef>
              <a:buClr>
                <a:srgbClr val="006FC0"/>
              </a:buClr>
              <a:buSzPct val="88636"/>
              <a:buFont typeface="Wingdings"/>
              <a:buChar char=""/>
              <a:tabLst>
                <a:tab pos="696595" algn="l"/>
              </a:tabLst>
            </a:pPr>
            <a:r>
              <a:rPr dirty="0" sz="2200" spc="-35">
                <a:solidFill>
                  <a:srgbClr val="FF0000"/>
                </a:solidFill>
                <a:latin typeface="黑体"/>
                <a:cs typeface="黑体"/>
              </a:rPr>
              <a:t>实现途径</a:t>
            </a:r>
            <a:endParaRPr sz="2200">
              <a:latin typeface="黑体"/>
              <a:cs typeface="黑体"/>
            </a:endParaRPr>
          </a:p>
          <a:p>
            <a:pPr lvl="2" marL="1669414" indent="-381000">
              <a:lnSpc>
                <a:spcPct val="100000"/>
              </a:lnSpc>
              <a:spcBef>
                <a:spcPts val="875"/>
              </a:spcBef>
              <a:buClr>
                <a:srgbClr val="64CD80"/>
              </a:buClr>
              <a:buSzPct val="65000"/>
              <a:buFont typeface="Wingdings"/>
              <a:buChar char=""/>
              <a:tabLst>
                <a:tab pos="1669414" algn="l"/>
              </a:tabLst>
            </a:pPr>
            <a:r>
              <a:rPr dirty="0" sz="2000" spc="-20" b="1">
                <a:solidFill>
                  <a:srgbClr val="40458B"/>
                </a:solidFill>
                <a:latin typeface="宋体"/>
                <a:cs typeface="宋体"/>
              </a:rPr>
              <a:t>增强对高级语言和编译器的支持</a:t>
            </a:r>
            <a:endParaRPr sz="2000">
              <a:latin typeface="宋体"/>
              <a:cs typeface="宋体"/>
            </a:endParaRPr>
          </a:p>
          <a:p>
            <a:pPr lvl="3" marL="2028825" indent="-381000">
              <a:lnSpc>
                <a:spcPct val="100000"/>
              </a:lnSpc>
              <a:spcBef>
                <a:spcPts val="900"/>
              </a:spcBef>
              <a:buClr>
                <a:srgbClr val="4668F5"/>
              </a:buClr>
              <a:buSzPct val="60000"/>
              <a:buFont typeface="Wingdings"/>
              <a:buChar char=""/>
              <a:tabLst>
                <a:tab pos="2028825" algn="l"/>
              </a:tabLst>
            </a:pPr>
            <a:r>
              <a:rPr dirty="0" sz="2000" spc="-25" b="1">
                <a:solidFill>
                  <a:srgbClr val="40458B"/>
                </a:solidFill>
                <a:latin typeface="宋体"/>
                <a:cs typeface="宋体"/>
              </a:rPr>
              <a:t>对高级语言中使用频度高、执行时间长的语句，增强有关指令的</a:t>
            </a:r>
            <a:endParaRPr sz="2000">
              <a:latin typeface="宋体"/>
              <a:cs typeface="宋体"/>
            </a:endParaRPr>
          </a:p>
          <a:p>
            <a:pPr marL="2028825">
              <a:lnSpc>
                <a:spcPct val="100000"/>
              </a:lnSpc>
              <a:spcBef>
                <a:spcPts val="480"/>
              </a:spcBef>
            </a:pPr>
            <a:r>
              <a:rPr dirty="0" sz="2000" spc="-25" b="1">
                <a:solidFill>
                  <a:srgbClr val="40458B"/>
                </a:solidFill>
                <a:latin typeface="宋体"/>
                <a:cs typeface="宋体"/>
              </a:rPr>
              <a:t>功能，加快这些指令的执行速度，</a:t>
            </a:r>
            <a:endParaRPr sz="2000">
              <a:latin typeface="宋体"/>
              <a:cs typeface="宋体"/>
            </a:endParaRPr>
          </a:p>
          <a:p>
            <a:pPr lvl="3" marL="2028825" indent="-381000">
              <a:lnSpc>
                <a:spcPct val="100000"/>
              </a:lnSpc>
              <a:spcBef>
                <a:spcPts val="965"/>
              </a:spcBef>
              <a:buClr>
                <a:srgbClr val="4668F5"/>
              </a:buClr>
              <a:buSzPct val="60000"/>
              <a:buFont typeface="Wingdings"/>
              <a:buChar char=""/>
              <a:tabLst>
                <a:tab pos="2028825" algn="l"/>
              </a:tabLst>
            </a:pPr>
            <a:r>
              <a:rPr dirty="0" sz="2000" spc="-20" b="1">
                <a:solidFill>
                  <a:srgbClr val="40458B"/>
                </a:solidFill>
                <a:latin typeface="宋体"/>
                <a:cs typeface="宋体"/>
              </a:rPr>
              <a:t>一元赋值语句、条件转移和无条件转移语句占比比较大</a:t>
            </a:r>
            <a:r>
              <a:rPr dirty="0" sz="2000" spc="-25" b="1">
                <a:solidFill>
                  <a:srgbClr val="FF0000"/>
                </a:solidFill>
                <a:latin typeface="宋体"/>
                <a:cs typeface="宋体"/>
              </a:rPr>
              <a:t>---优化</a:t>
            </a:r>
            <a:endParaRPr sz="2000">
              <a:latin typeface="宋体"/>
              <a:cs typeface="宋体"/>
            </a:endParaRPr>
          </a:p>
          <a:p>
            <a:pPr lvl="3" marL="2028825" marR="5080" indent="-381000">
              <a:lnSpc>
                <a:spcPct val="120000"/>
              </a:lnSpc>
              <a:spcBef>
                <a:spcPts val="480"/>
              </a:spcBef>
              <a:buClr>
                <a:srgbClr val="4668F5"/>
              </a:buClr>
              <a:buSzPct val="60000"/>
              <a:buFont typeface="Wingdings"/>
              <a:buChar char=""/>
              <a:tabLst>
                <a:tab pos="2028825" algn="l"/>
              </a:tabLst>
            </a:pPr>
            <a:r>
              <a:rPr dirty="0" sz="2000" spc="-25" b="1">
                <a:solidFill>
                  <a:srgbClr val="40458B"/>
                </a:solidFill>
                <a:latin typeface="宋体"/>
                <a:cs typeface="宋体"/>
              </a:rPr>
              <a:t>或者增加专门的指令，可以达到减少目标程序的执行时间和减少目标程序长度的目的。例如科学运算中的矩阵、向量处理等</a:t>
            </a:r>
            <a:endParaRPr sz="2000">
              <a:latin typeface="宋体"/>
              <a:cs typeface="宋体"/>
            </a:endParaRPr>
          </a:p>
          <a:p>
            <a:pPr lvl="3" marL="2028825" indent="-381000">
              <a:lnSpc>
                <a:spcPct val="100000"/>
              </a:lnSpc>
              <a:spcBef>
                <a:spcPts val="960"/>
              </a:spcBef>
              <a:buClr>
                <a:srgbClr val="4668F5"/>
              </a:buClr>
              <a:buSzPct val="60000"/>
              <a:buFont typeface="Wingdings"/>
              <a:buChar char=""/>
              <a:tabLst>
                <a:tab pos="2028825" algn="l"/>
              </a:tabLst>
            </a:pPr>
            <a:r>
              <a:rPr dirty="0" sz="2000" spc="-25" b="1">
                <a:solidFill>
                  <a:srgbClr val="40458B"/>
                </a:solidFill>
                <a:latin typeface="宋体"/>
                <a:cs typeface="宋体"/>
              </a:rPr>
              <a:t>增强系统结构的规整性，减少系统结构中的各种例外情况。</a:t>
            </a:r>
            <a:endParaRPr sz="2000">
              <a:latin typeface="宋体"/>
              <a:cs typeface="宋体"/>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1634744" y="919773"/>
            <a:ext cx="8944610" cy="5234305"/>
          </a:xfrm>
          <a:prstGeom prst="rect">
            <a:avLst/>
          </a:prstGeom>
        </p:spPr>
        <p:txBody>
          <a:bodyPr wrap="square" lIns="0" tIns="92075" rIns="0" bIns="0" rtlCol="0" vert="horz">
            <a:spAutoFit/>
          </a:bodyPr>
          <a:lstStyle/>
          <a:p>
            <a:pPr algn="just" marL="836294" indent="-456565">
              <a:lnSpc>
                <a:spcPct val="100000"/>
              </a:lnSpc>
              <a:spcBef>
                <a:spcPts val="725"/>
              </a:spcBef>
              <a:buClr>
                <a:srgbClr val="FF0000"/>
              </a:buClr>
              <a:buFont typeface="Wingdings"/>
              <a:buChar char=""/>
              <a:tabLst>
                <a:tab pos="836294" algn="l"/>
              </a:tabLst>
            </a:pPr>
            <a:r>
              <a:rPr dirty="0" sz="2600" spc="-10">
                <a:solidFill>
                  <a:srgbClr val="FF0000"/>
                </a:solidFill>
                <a:latin typeface="黑体"/>
                <a:cs typeface="黑体"/>
              </a:rPr>
              <a:t>（</a:t>
            </a:r>
            <a:r>
              <a:rPr dirty="0" sz="2600" spc="-10">
                <a:solidFill>
                  <a:srgbClr val="FF0000"/>
                </a:solidFill>
                <a:latin typeface="Tahoma"/>
                <a:cs typeface="Tahoma"/>
              </a:rPr>
              <a:t>2</a:t>
            </a:r>
            <a:r>
              <a:rPr dirty="0" sz="2600" spc="-10">
                <a:solidFill>
                  <a:srgbClr val="FF0000"/>
                </a:solidFill>
                <a:latin typeface="黑体"/>
                <a:cs typeface="黑体"/>
              </a:rPr>
              <a:t>）</a:t>
            </a:r>
            <a:r>
              <a:rPr dirty="0" sz="2600" spc="-25">
                <a:solidFill>
                  <a:srgbClr val="FF0000"/>
                </a:solidFill>
                <a:latin typeface="黑体"/>
                <a:cs typeface="黑体"/>
              </a:rPr>
              <a:t>面向高级语言的优化实现来改进指令系统</a:t>
            </a:r>
            <a:endParaRPr sz="2600">
              <a:latin typeface="黑体"/>
              <a:cs typeface="黑体"/>
            </a:endParaRPr>
          </a:p>
          <a:p>
            <a:pPr algn="just" lvl="1" marL="1293495" indent="-456565">
              <a:lnSpc>
                <a:spcPct val="100000"/>
              </a:lnSpc>
              <a:spcBef>
                <a:spcPts val="625"/>
              </a:spcBef>
              <a:buClr>
                <a:srgbClr val="006FC0"/>
              </a:buClr>
              <a:buFont typeface="Wingdings"/>
              <a:buChar char=""/>
              <a:tabLst>
                <a:tab pos="1293495" algn="l"/>
              </a:tabLst>
            </a:pPr>
            <a:r>
              <a:rPr dirty="0" sz="2600">
                <a:solidFill>
                  <a:srgbClr val="FF0000"/>
                </a:solidFill>
                <a:latin typeface="黑体"/>
                <a:cs typeface="黑体"/>
              </a:rPr>
              <a:t>其他途径</a:t>
            </a:r>
            <a:r>
              <a:rPr dirty="0" sz="2600" spc="-20">
                <a:solidFill>
                  <a:srgbClr val="001F5F"/>
                </a:solidFill>
                <a:latin typeface="黑体"/>
                <a:cs typeface="黑体"/>
              </a:rPr>
              <a:t>：面向高级语言的计算机</a:t>
            </a:r>
            <a:endParaRPr sz="2600">
              <a:latin typeface="黑体"/>
              <a:cs typeface="黑体"/>
            </a:endParaRPr>
          </a:p>
          <a:p>
            <a:pPr algn="just" lvl="2" marL="1751330" marR="241300" indent="-457200">
              <a:lnSpc>
                <a:spcPct val="120000"/>
              </a:lnSpc>
              <a:buFont typeface="Wingdings"/>
              <a:buChar char=""/>
              <a:tabLst>
                <a:tab pos="1751330" algn="l"/>
              </a:tabLst>
            </a:pPr>
            <a:r>
              <a:rPr dirty="0" sz="2600">
                <a:solidFill>
                  <a:srgbClr val="001F5F"/>
                </a:solidFill>
                <a:latin typeface="黑体"/>
                <a:cs typeface="黑体"/>
              </a:rPr>
              <a:t>间接执行高级语言机器（</a:t>
            </a:r>
            <a:r>
              <a:rPr dirty="0" sz="2600" spc="-10">
                <a:solidFill>
                  <a:srgbClr val="001F5F"/>
                </a:solidFill>
                <a:latin typeface="黑体"/>
                <a:cs typeface="黑体"/>
              </a:rPr>
              <a:t>高级语言称为机器的汇编语言，二者一一对应</a:t>
            </a:r>
            <a:r>
              <a:rPr dirty="0" sz="2600" spc="-50">
                <a:solidFill>
                  <a:srgbClr val="001F5F"/>
                </a:solidFill>
                <a:latin typeface="黑体"/>
                <a:cs typeface="黑体"/>
              </a:rPr>
              <a:t>）</a:t>
            </a:r>
            <a:endParaRPr sz="2600">
              <a:latin typeface="黑体"/>
              <a:cs typeface="黑体"/>
            </a:endParaRPr>
          </a:p>
          <a:p>
            <a:pPr algn="just" lvl="2" marL="1751330" marR="241300" indent="-457200">
              <a:lnSpc>
                <a:spcPct val="120000"/>
              </a:lnSpc>
              <a:spcBef>
                <a:spcPts val="5"/>
              </a:spcBef>
              <a:buFont typeface="Wingdings"/>
              <a:buChar char=""/>
              <a:tabLst>
                <a:tab pos="1751330" algn="l"/>
              </a:tabLst>
            </a:pPr>
            <a:r>
              <a:rPr dirty="0" sz="2600" spc="-10">
                <a:solidFill>
                  <a:srgbClr val="001F5F"/>
                </a:solidFill>
                <a:latin typeface="黑体"/>
                <a:cs typeface="黑体"/>
              </a:rPr>
              <a:t>直接执行高级语言的机器</a:t>
            </a:r>
            <a:r>
              <a:rPr dirty="0" sz="2600" spc="-10">
                <a:solidFill>
                  <a:srgbClr val="001F5F"/>
                </a:solidFill>
                <a:latin typeface="Tahoma"/>
                <a:cs typeface="Tahoma"/>
              </a:rPr>
              <a:t>--</a:t>
            </a:r>
            <a:r>
              <a:rPr dirty="0" sz="2600" spc="-15">
                <a:solidFill>
                  <a:srgbClr val="001F5F"/>
                </a:solidFill>
                <a:latin typeface="黑体"/>
                <a:cs typeface="黑体"/>
              </a:rPr>
              <a:t>直接把高级语言作为</a:t>
            </a:r>
            <a:r>
              <a:rPr dirty="0" sz="2600" spc="-10">
                <a:solidFill>
                  <a:srgbClr val="001F5F"/>
                </a:solidFill>
                <a:latin typeface="黑体"/>
                <a:cs typeface="黑体"/>
              </a:rPr>
              <a:t>机器语言，直接用固件或硬件对高级语言程序的</a:t>
            </a:r>
            <a:r>
              <a:rPr dirty="0" sz="2600" spc="-20">
                <a:solidFill>
                  <a:srgbClr val="001F5F"/>
                </a:solidFill>
                <a:latin typeface="黑体"/>
                <a:cs typeface="黑体"/>
              </a:rPr>
              <a:t>语句逐条进行解释执行，这时既不用编辑也不用</a:t>
            </a:r>
            <a:r>
              <a:rPr dirty="0" sz="2600" spc="-160">
                <a:solidFill>
                  <a:srgbClr val="001F5F"/>
                </a:solidFill>
                <a:latin typeface="黑体"/>
                <a:cs typeface="黑体"/>
              </a:rPr>
              <a:t>汇编 </a:t>
            </a:r>
            <a:r>
              <a:rPr dirty="0" sz="2600">
                <a:solidFill>
                  <a:srgbClr val="FF0000"/>
                </a:solidFill>
                <a:latin typeface="黑体"/>
                <a:cs typeface="黑体"/>
              </a:rPr>
              <a:t>（</a:t>
            </a:r>
            <a:r>
              <a:rPr dirty="0" sz="2600" spc="-5">
                <a:solidFill>
                  <a:srgbClr val="FF0000"/>
                </a:solidFill>
                <a:latin typeface="黑体"/>
                <a:cs typeface="黑体"/>
              </a:rPr>
              <a:t>但这可能吗</a:t>
            </a:r>
            <a:r>
              <a:rPr dirty="0" sz="2600" spc="-10">
                <a:solidFill>
                  <a:srgbClr val="FF0000"/>
                </a:solidFill>
                <a:latin typeface="Tahoma"/>
                <a:cs typeface="Tahoma"/>
              </a:rPr>
              <a:t>—</a:t>
            </a:r>
            <a:r>
              <a:rPr dirty="0" sz="2600" spc="-15">
                <a:solidFill>
                  <a:srgbClr val="FF0000"/>
                </a:solidFill>
                <a:latin typeface="黑体"/>
                <a:cs typeface="黑体"/>
              </a:rPr>
              <a:t>太激进，结构太复杂等</a:t>
            </a:r>
            <a:r>
              <a:rPr dirty="0" sz="2600" spc="-50">
                <a:solidFill>
                  <a:srgbClr val="FF0000"/>
                </a:solidFill>
                <a:latin typeface="黑体"/>
                <a:cs typeface="黑体"/>
              </a:rPr>
              <a:t>）</a:t>
            </a:r>
            <a:endParaRPr sz="2600">
              <a:latin typeface="黑体"/>
              <a:cs typeface="黑体"/>
            </a:endParaRPr>
          </a:p>
          <a:p>
            <a:pPr>
              <a:lnSpc>
                <a:spcPct val="100000"/>
              </a:lnSpc>
              <a:spcBef>
                <a:spcPts val="1495"/>
              </a:spcBef>
            </a:pPr>
            <a:endParaRPr sz="2600">
              <a:latin typeface="黑体"/>
              <a:cs typeface="黑体"/>
            </a:endParaRPr>
          </a:p>
          <a:p>
            <a:pPr marL="12700">
              <a:lnSpc>
                <a:spcPts val="3085"/>
              </a:lnSpc>
              <a:spcBef>
                <a:spcPts val="5"/>
              </a:spcBef>
            </a:pPr>
            <a:r>
              <a:rPr dirty="0" sz="2600" spc="-20">
                <a:solidFill>
                  <a:srgbClr val="40458B"/>
                </a:solidFill>
                <a:latin typeface="黑体"/>
                <a:cs typeface="黑体"/>
              </a:rPr>
              <a:t>极力做好各种优化，可能进入两个极端，希望计算机优化性能</a:t>
            </a:r>
            <a:endParaRPr sz="2600">
              <a:latin typeface="黑体"/>
              <a:cs typeface="黑体"/>
            </a:endParaRPr>
          </a:p>
          <a:p>
            <a:pPr marL="12700">
              <a:lnSpc>
                <a:spcPts val="3085"/>
              </a:lnSpc>
            </a:pPr>
            <a:r>
              <a:rPr dirty="0" sz="2600" spc="-20">
                <a:solidFill>
                  <a:srgbClr val="40458B"/>
                </a:solidFill>
                <a:latin typeface="黑体"/>
                <a:cs typeface="黑体"/>
              </a:rPr>
              <a:t>、尽量能做到各种支持，这时我们的计算机称为上述两种机器</a:t>
            </a:r>
            <a:endParaRPr sz="2600">
              <a:latin typeface="黑体"/>
              <a:cs typeface="黑体"/>
            </a:endParaRPr>
          </a:p>
        </p:txBody>
      </p:sp>
      <p:sp>
        <p:nvSpPr>
          <p:cNvPr id="4" name="object 4"/>
          <p:cNvSpPr txBox="1">
            <a:spLocks noGrp="1"/>
          </p:cNvSpPr>
          <p:nvPr>
            <p:ph type="title"/>
          </p:nvPr>
        </p:nvSpPr>
        <p:spPr>
          <a:xfrm>
            <a:off x="1163637" y="162814"/>
            <a:ext cx="11041380" cy="574040"/>
          </a:xfrm>
          <a:prstGeom prst="rect"/>
        </p:spPr>
        <p:txBody>
          <a:bodyPr wrap="square" lIns="0" tIns="12700" rIns="0" bIns="0" rtlCol="0" vert="horz">
            <a:spAutoFit/>
          </a:bodyPr>
          <a:lstStyle/>
          <a:p>
            <a:pPr marL="12700">
              <a:lnSpc>
                <a:spcPct val="100000"/>
              </a:lnSpc>
              <a:spcBef>
                <a:spcPts val="100"/>
              </a:spcBef>
              <a:tabLst>
                <a:tab pos="1576705" algn="l"/>
                <a:tab pos="11028045" algn="l"/>
              </a:tabLst>
            </a:pPr>
            <a:r>
              <a:rPr dirty="0" sz="3600" b="0">
                <a:solidFill>
                  <a:srgbClr val="4F55AC"/>
                </a:solidFill>
                <a:latin typeface="黑体"/>
                <a:cs typeface="黑体"/>
              </a:rPr>
              <a:t>	2.4</a:t>
            </a:r>
            <a:r>
              <a:rPr dirty="0" sz="3600" spc="-5" b="0">
                <a:solidFill>
                  <a:srgbClr val="4F55AC"/>
                </a:solidFill>
                <a:latin typeface="黑体"/>
                <a:cs typeface="黑体"/>
              </a:rPr>
              <a:t> </a:t>
            </a:r>
            <a:r>
              <a:rPr dirty="0" sz="3600" b="0">
                <a:solidFill>
                  <a:srgbClr val="4F55AC"/>
                </a:solidFill>
                <a:latin typeface="黑体"/>
                <a:cs typeface="黑体"/>
              </a:rPr>
              <a:t>指令系统的发展和改</a:t>
            </a:r>
            <a:r>
              <a:rPr dirty="0" sz="3600" spc="-50" b="0">
                <a:solidFill>
                  <a:srgbClr val="4F55AC"/>
                </a:solidFill>
                <a:latin typeface="黑体"/>
                <a:cs typeface="黑体"/>
              </a:rPr>
              <a:t>进</a:t>
            </a:r>
            <a:r>
              <a:rPr dirty="0" sz="3600" b="0">
                <a:solidFill>
                  <a:srgbClr val="4F55AC"/>
                </a:solidFill>
                <a:latin typeface="黑体"/>
                <a:cs typeface="黑体"/>
              </a:rPr>
              <a:t>	</a:t>
            </a:r>
            <a:endParaRPr sz="3600">
              <a:latin typeface="黑体"/>
              <a:cs typeface="黑体"/>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grpSp>
        <p:nvGrpSpPr>
          <p:cNvPr id="3" name="object 3" descr=""/>
          <p:cNvGrpSpPr/>
          <p:nvPr/>
        </p:nvGrpSpPr>
        <p:grpSpPr>
          <a:xfrm>
            <a:off x="2938526" y="1462024"/>
            <a:ext cx="6610350" cy="3933825"/>
            <a:chOff x="2938526" y="1462024"/>
            <a:chExt cx="6610350" cy="3933825"/>
          </a:xfrm>
        </p:grpSpPr>
        <p:pic>
          <p:nvPicPr>
            <p:cNvPr id="4" name="object 4" descr=""/>
            <p:cNvPicPr/>
            <p:nvPr/>
          </p:nvPicPr>
          <p:blipFill>
            <a:blip r:embed="rId2" cstate="print"/>
            <a:stretch>
              <a:fillRect/>
            </a:stretch>
          </p:blipFill>
          <p:spPr>
            <a:xfrm>
              <a:off x="2938526" y="1462024"/>
              <a:ext cx="6610350" cy="3933825"/>
            </a:xfrm>
            <a:prstGeom prst="rect">
              <a:avLst/>
            </a:prstGeom>
          </p:spPr>
        </p:pic>
        <p:sp>
          <p:nvSpPr>
            <p:cNvPr id="5" name="object 5" descr=""/>
            <p:cNvSpPr/>
            <p:nvPr/>
          </p:nvSpPr>
          <p:spPr>
            <a:xfrm>
              <a:off x="3279140" y="2848610"/>
              <a:ext cx="391160" cy="796290"/>
            </a:xfrm>
            <a:custGeom>
              <a:avLst/>
              <a:gdLst/>
              <a:ahLst/>
              <a:cxnLst/>
              <a:rect l="l" t="t" r="r" b="b"/>
              <a:pathLst>
                <a:path w="391160" h="796289">
                  <a:moveTo>
                    <a:pt x="347923" y="731730"/>
                  </a:moveTo>
                  <a:lnTo>
                    <a:pt x="322199" y="744092"/>
                  </a:lnTo>
                  <a:lnTo>
                    <a:pt x="389509" y="796289"/>
                  </a:lnTo>
                  <a:lnTo>
                    <a:pt x="390364" y="744092"/>
                  </a:lnTo>
                  <a:lnTo>
                    <a:pt x="390379" y="743203"/>
                  </a:lnTo>
                  <a:lnTo>
                    <a:pt x="353440" y="743203"/>
                  </a:lnTo>
                  <a:lnTo>
                    <a:pt x="347923" y="731730"/>
                  </a:lnTo>
                  <a:close/>
                </a:path>
                <a:path w="391160" h="796289">
                  <a:moveTo>
                    <a:pt x="365074" y="723487"/>
                  </a:moveTo>
                  <a:lnTo>
                    <a:pt x="347923" y="731730"/>
                  </a:lnTo>
                  <a:lnTo>
                    <a:pt x="353440" y="743203"/>
                  </a:lnTo>
                  <a:lnTo>
                    <a:pt x="370586" y="734949"/>
                  </a:lnTo>
                  <a:lnTo>
                    <a:pt x="365074" y="723487"/>
                  </a:lnTo>
                  <a:close/>
                </a:path>
                <a:path w="391160" h="796289">
                  <a:moveTo>
                    <a:pt x="390906" y="711073"/>
                  </a:moveTo>
                  <a:lnTo>
                    <a:pt x="365074" y="723487"/>
                  </a:lnTo>
                  <a:lnTo>
                    <a:pt x="370586" y="734949"/>
                  </a:lnTo>
                  <a:lnTo>
                    <a:pt x="353440" y="743203"/>
                  </a:lnTo>
                  <a:lnTo>
                    <a:pt x="390379" y="743203"/>
                  </a:lnTo>
                  <a:lnTo>
                    <a:pt x="390906" y="711073"/>
                  </a:lnTo>
                  <a:close/>
                </a:path>
                <a:path w="391160" h="796289">
                  <a:moveTo>
                    <a:pt x="17145" y="0"/>
                  </a:moveTo>
                  <a:lnTo>
                    <a:pt x="0" y="8254"/>
                  </a:lnTo>
                  <a:lnTo>
                    <a:pt x="347923" y="731730"/>
                  </a:lnTo>
                  <a:lnTo>
                    <a:pt x="365074" y="723487"/>
                  </a:lnTo>
                  <a:lnTo>
                    <a:pt x="17145" y="0"/>
                  </a:lnTo>
                  <a:close/>
                </a:path>
              </a:pathLst>
            </a:custGeom>
            <a:solidFill>
              <a:srgbClr val="FF0000"/>
            </a:solidFill>
          </p:spPr>
          <p:txBody>
            <a:bodyPr wrap="square" lIns="0" tIns="0" rIns="0" bIns="0" rtlCol="0"/>
            <a:lstStyle/>
            <a:p/>
          </p:txBody>
        </p:sp>
      </p:grpSp>
      <p:sp>
        <p:nvSpPr>
          <p:cNvPr id="6" name="object 6"/>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23670" algn="l"/>
                <a:tab pos="11028045" algn="l"/>
              </a:tabLst>
            </a:pPr>
            <a:r>
              <a:rPr dirty="0">
                <a:solidFill>
                  <a:srgbClr val="4F55AC"/>
                </a:solidFill>
              </a:rPr>
              <a:t>	2.4</a:t>
            </a:r>
            <a:r>
              <a:rPr dirty="0" spc="10">
                <a:solidFill>
                  <a:srgbClr val="4F55AC"/>
                </a:solidFill>
              </a:rPr>
              <a:t> </a:t>
            </a:r>
            <a:r>
              <a:rPr dirty="0" spc="-10">
                <a:solidFill>
                  <a:srgbClr val="4F55AC"/>
                </a:solidFill>
                <a:latin typeface="微软雅黑"/>
                <a:cs typeface="微软雅黑"/>
              </a:rPr>
              <a:t>指令系统的发展和改</a:t>
            </a:r>
            <a:r>
              <a:rPr dirty="0" spc="-50">
                <a:solidFill>
                  <a:srgbClr val="4F55AC"/>
                </a:solidFill>
                <a:latin typeface="微软雅黑"/>
                <a:cs typeface="微软雅黑"/>
              </a:rPr>
              <a:t>进</a:t>
            </a:r>
            <a:r>
              <a:rPr dirty="0">
                <a:solidFill>
                  <a:srgbClr val="4F55AC"/>
                </a:solidFill>
                <a:latin typeface="微软雅黑"/>
                <a:cs typeface="微软雅黑"/>
              </a:rPr>
              <a:t>	</a:t>
            </a:r>
          </a:p>
        </p:txBody>
      </p:sp>
      <p:sp>
        <p:nvSpPr>
          <p:cNvPr id="7" name="object 7" descr=""/>
          <p:cNvSpPr txBox="1"/>
          <p:nvPr/>
        </p:nvSpPr>
        <p:spPr>
          <a:xfrm>
            <a:off x="3079495" y="3281934"/>
            <a:ext cx="206375" cy="422275"/>
          </a:xfrm>
          <a:prstGeom prst="rect">
            <a:avLst/>
          </a:prstGeom>
        </p:spPr>
        <p:txBody>
          <a:bodyPr wrap="square" lIns="0" tIns="13335" rIns="0" bIns="0" rtlCol="0" vert="horz">
            <a:spAutoFit/>
          </a:bodyPr>
          <a:lstStyle/>
          <a:p>
            <a:pPr marL="12700">
              <a:lnSpc>
                <a:spcPct val="100000"/>
              </a:lnSpc>
              <a:spcBef>
                <a:spcPts val="105"/>
              </a:spcBef>
            </a:pPr>
            <a:r>
              <a:rPr dirty="0" sz="2600" spc="-50">
                <a:solidFill>
                  <a:srgbClr val="FF0000"/>
                </a:solidFill>
                <a:latin typeface="Tahoma"/>
                <a:cs typeface="Tahoma"/>
              </a:rPr>
              <a:t>1</a:t>
            </a:r>
            <a:endParaRPr sz="2600">
              <a:latin typeface="Tahoma"/>
              <a:cs typeface="Tahoma"/>
            </a:endParaRPr>
          </a:p>
        </p:txBody>
      </p:sp>
      <p:sp>
        <p:nvSpPr>
          <p:cNvPr id="8" name="object 8" descr=""/>
          <p:cNvSpPr txBox="1"/>
          <p:nvPr/>
        </p:nvSpPr>
        <p:spPr>
          <a:xfrm>
            <a:off x="7204329" y="3305378"/>
            <a:ext cx="206375" cy="422909"/>
          </a:xfrm>
          <a:prstGeom prst="rect">
            <a:avLst/>
          </a:prstGeom>
        </p:spPr>
        <p:txBody>
          <a:bodyPr wrap="square" lIns="0" tIns="13335" rIns="0" bIns="0" rtlCol="0" vert="horz">
            <a:spAutoFit/>
          </a:bodyPr>
          <a:lstStyle/>
          <a:p>
            <a:pPr marL="12700">
              <a:lnSpc>
                <a:spcPct val="100000"/>
              </a:lnSpc>
              <a:spcBef>
                <a:spcPts val="105"/>
              </a:spcBef>
            </a:pPr>
            <a:r>
              <a:rPr dirty="0" sz="2600" spc="-50">
                <a:solidFill>
                  <a:srgbClr val="FF0000"/>
                </a:solidFill>
                <a:latin typeface="Tahoma"/>
                <a:cs typeface="Tahoma"/>
              </a:rPr>
              <a:t>2</a:t>
            </a:r>
            <a:endParaRPr sz="2600">
              <a:latin typeface="Tahoma"/>
              <a:cs typeface="Tahoma"/>
            </a:endParaRPr>
          </a:p>
        </p:txBody>
      </p:sp>
      <p:sp>
        <p:nvSpPr>
          <p:cNvPr id="9" name="object 9" descr=""/>
          <p:cNvSpPr txBox="1"/>
          <p:nvPr/>
        </p:nvSpPr>
        <p:spPr>
          <a:xfrm>
            <a:off x="2395220" y="2066670"/>
            <a:ext cx="2311400" cy="702310"/>
          </a:xfrm>
          <a:prstGeom prst="rect">
            <a:avLst/>
          </a:prstGeom>
        </p:spPr>
        <p:txBody>
          <a:bodyPr wrap="square" lIns="0" tIns="12700" rIns="0" bIns="0" rtlCol="0" vert="horz">
            <a:spAutoFit/>
          </a:bodyPr>
          <a:lstStyle/>
          <a:p>
            <a:pPr marL="333375" marR="5080" indent="-320675">
              <a:lnSpc>
                <a:spcPct val="123300"/>
              </a:lnSpc>
              <a:spcBef>
                <a:spcPts val="100"/>
              </a:spcBef>
            </a:pPr>
            <a:r>
              <a:rPr dirty="0" sz="1800" spc="-5">
                <a:solidFill>
                  <a:srgbClr val="40458B"/>
                </a:solidFill>
                <a:latin typeface="黑体"/>
                <a:cs typeface="黑体"/>
              </a:rPr>
              <a:t>间接执行高级语言机器</a:t>
            </a:r>
            <a:r>
              <a:rPr dirty="0" sz="1800" spc="-10">
                <a:solidFill>
                  <a:srgbClr val="40458B"/>
                </a:solidFill>
                <a:latin typeface="黑体"/>
                <a:cs typeface="黑体"/>
              </a:rPr>
              <a:t>传统的方式</a:t>
            </a:r>
            <a:endParaRPr sz="1800">
              <a:latin typeface="黑体"/>
              <a:cs typeface="黑体"/>
            </a:endParaRPr>
          </a:p>
        </p:txBody>
      </p:sp>
      <p:sp>
        <p:nvSpPr>
          <p:cNvPr id="10" name="object 10" descr=""/>
          <p:cNvSpPr txBox="1"/>
          <p:nvPr/>
        </p:nvSpPr>
        <p:spPr>
          <a:xfrm>
            <a:off x="2430272" y="5544108"/>
            <a:ext cx="8120380" cy="848994"/>
          </a:xfrm>
          <a:prstGeom prst="rect">
            <a:avLst/>
          </a:prstGeom>
        </p:spPr>
        <p:txBody>
          <a:bodyPr wrap="square" lIns="0" tIns="12700" rIns="0" bIns="0" rtlCol="0" vert="horz">
            <a:spAutoFit/>
          </a:bodyPr>
          <a:lstStyle/>
          <a:p>
            <a:pPr marL="12700" marR="5080">
              <a:lnSpc>
                <a:spcPct val="100099"/>
              </a:lnSpc>
              <a:spcBef>
                <a:spcPts val="100"/>
              </a:spcBef>
            </a:pPr>
            <a:r>
              <a:rPr dirty="0" sz="1800" spc="-10">
                <a:solidFill>
                  <a:srgbClr val="40458B"/>
                </a:solidFill>
                <a:latin typeface="Tahoma"/>
                <a:cs typeface="Tahoma"/>
              </a:rPr>
              <a:t>1</a:t>
            </a:r>
            <a:r>
              <a:rPr dirty="0" sz="1800" spc="-10">
                <a:solidFill>
                  <a:srgbClr val="40458B"/>
                </a:solidFill>
                <a:latin typeface="黑体"/>
                <a:cs typeface="黑体"/>
              </a:rPr>
              <a:t>和</a:t>
            </a:r>
            <a:r>
              <a:rPr dirty="0" sz="1800" spc="-10">
                <a:solidFill>
                  <a:srgbClr val="40458B"/>
                </a:solidFill>
                <a:latin typeface="Tahoma"/>
                <a:cs typeface="Tahoma"/>
              </a:rPr>
              <a:t>2</a:t>
            </a:r>
            <a:r>
              <a:rPr dirty="0" sz="1800" spc="-25">
                <a:solidFill>
                  <a:srgbClr val="40458B"/>
                </a:solidFill>
                <a:latin typeface="黑体"/>
                <a:cs typeface="黑体"/>
              </a:rPr>
              <a:t>，这两种方法，编译器和解释器工作复杂，语义鸿沟较大，因而提出 面向高</a:t>
            </a:r>
            <a:r>
              <a:rPr dirty="0" sz="1800">
                <a:solidFill>
                  <a:srgbClr val="40458B"/>
                </a:solidFill>
                <a:latin typeface="黑体"/>
                <a:cs typeface="黑体"/>
              </a:rPr>
              <a:t>级语言机器（虚拟机）或间接执行高级语言机器。（</a:t>
            </a:r>
            <a:r>
              <a:rPr dirty="0" sz="1800" spc="-5">
                <a:solidFill>
                  <a:srgbClr val="40458B"/>
                </a:solidFill>
                <a:latin typeface="黑体"/>
                <a:cs typeface="黑体"/>
              </a:rPr>
              <a:t>具体实现如何统计分析结果</a:t>
            </a:r>
            <a:r>
              <a:rPr dirty="0" sz="1800">
                <a:solidFill>
                  <a:srgbClr val="40458B"/>
                </a:solidFill>
                <a:latin typeface="黑体"/>
                <a:cs typeface="黑体"/>
              </a:rPr>
              <a:t>例如哈夫曼编码等、设计指令减少防存等</a:t>
            </a:r>
            <a:r>
              <a:rPr dirty="0" sz="1800" spc="-50">
                <a:solidFill>
                  <a:srgbClr val="40458B"/>
                </a:solidFill>
                <a:latin typeface="黑体"/>
                <a:cs typeface="黑体"/>
              </a:rPr>
              <a:t>）</a:t>
            </a:r>
            <a:endParaRPr sz="1800">
              <a:latin typeface="黑体"/>
              <a:cs typeface="黑体"/>
            </a:endParaRPr>
          </a:p>
        </p:txBody>
      </p:sp>
      <p:sp>
        <p:nvSpPr>
          <p:cNvPr id="11" name="object 11" descr=""/>
          <p:cNvSpPr txBox="1"/>
          <p:nvPr/>
        </p:nvSpPr>
        <p:spPr>
          <a:xfrm>
            <a:off x="1782317" y="973073"/>
            <a:ext cx="7898765" cy="299720"/>
          </a:xfrm>
          <a:prstGeom prst="rect">
            <a:avLst/>
          </a:prstGeom>
        </p:spPr>
        <p:txBody>
          <a:bodyPr wrap="square" lIns="0" tIns="12700" rIns="0" bIns="0" rtlCol="0" vert="horz">
            <a:spAutoFit/>
          </a:bodyPr>
          <a:lstStyle/>
          <a:p>
            <a:pPr marL="12700">
              <a:lnSpc>
                <a:spcPct val="100000"/>
              </a:lnSpc>
              <a:spcBef>
                <a:spcPts val="100"/>
              </a:spcBef>
            </a:pPr>
            <a:r>
              <a:rPr dirty="0" sz="1800">
                <a:solidFill>
                  <a:srgbClr val="FF0000"/>
                </a:solidFill>
                <a:latin typeface="黑体"/>
                <a:cs typeface="黑体"/>
              </a:rPr>
              <a:t>其他途径</a:t>
            </a:r>
            <a:r>
              <a:rPr dirty="0" sz="1800" spc="-10">
                <a:solidFill>
                  <a:srgbClr val="FF0000"/>
                </a:solidFill>
                <a:latin typeface="Tahoma"/>
                <a:cs typeface="Tahoma"/>
              </a:rPr>
              <a:t>----</a:t>
            </a:r>
            <a:r>
              <a:rPr dirty="0" sz="1800" spc="-5">
                <a:solidFill>
                  <a:srgbClr val="FF0000"/>
                </a:solidFill>
                <a:latin typeface="黑体"/>
                <a:cs typeface="黑体"/>
              </a:rPr>
              <a:t>构建高级语言计算机：机器语言和高级语言语义差距变小的计算机</a:t>
            </a:r>
            <a:endParaRPr sz="1800">
              <a:latin typeface="黑体"/>
              <a:cs typeface="黑体"/>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2.4</a:t>
            </a:r>
            <a:r>
              <a:rPr dirty="0" spc="-35">
                <a:solidFill>
                  <a:srgbClr val="4F55AC"/>
                </a:solidFill>
              </a:rPr>
              <a:t> </a:t>
            </a:r>
            <a:r>
              <a:rPr dirty="0">
                <a:solidFill>
                  <a:srgbClr val="4F55AC"/>
                </a:solidFill>
                <a:latin typeface="微软雅黑"/>
                <a:cs typeface="微软雅黑"/>
              </a:rPr>
              <a:t>指令系统的发展和改</a:t>
            </a:r>
            <a:r>
              <a:rPr dirty="0" spc="-50">
                <a:solidFill>
                  <a:srgbClr val="4F55AC"/>
                </a:solidFill>
                <a:latin typeface="微软雅黑"/>
                <a:cs typeface="微软雅黑"/>
              </a:rPr>
              <a:t>进</a:t>
            </a:r>
            <a:r>
              <a:rPr dirty="0">
                <a:solidFill>
                  <a:srgbClr val="4F55AC"/>
                </a:solidFill>
                <a:latin typeface="微软雅黑"/>
                <a:cs typeface="微软雅黑"/>
              </a:rPr>
              <a:t>	</a:t>
            </a:r>
          </a:p>
        </p:txBody>
      </p:sp>
      <p:sp>
        <p:nvSpPr>
          <p:cNvPr id="4" name="object 4" descr=""/>
          <p:cNvSpPr txBox="1"/>
          <p:nvPr/>
        </p:nvSpPr>
        <p:spPr>
          <a:xfrm>
            <a:off x="1906651" y="864071"/>
            <a:ext cx="8956675" cy="5280660"/>
          </a:xfrm>
          <a:prstGeom prst="rect">
            <a:avLst/>
          </a:prstGeom>
        </p:spPr>
        <p:txBody>
          <a:bodyPr wrap="square" lIns="0" tIns="182245" rIns="0" bIns="0" rtlCol="0" vert="horz">
            <a:spAutoFit/>
          </a:bodyPr>
          <a:lstStyle/>
          <a:p>
            <a:pPr marL="283845" indent="-271145">
              <a:lnSpc>
                <a:spcPct val="100000"/>
              </a:lnSpc>
              <a:spcBef>
                <a:spcPts val="1435"/>
              </a:spcBef>
              <a:buSzPct val="88636"/>
              <a:buFont typeface="Wingdings"/>
              <a:buChar char=""/>
              <a:tabLst>
                <a:tab pos="283845" algn="l"/>
              </a:tabLst>
            </a:pPr>
            <a:r>
              <a:rPr dirty="0" sz="2200" spc="-20">
                <a:solidFill>
                  <a:srgbClr val="006FC0"/>
                </a:solidFill>
                <a:latin typeface="黑体"/>
                <a:cs typeface="黑体"/>
              </a:rPr>
              <a:t>（</a:t>
            </a:r>
            <a:r>
              <a:rPr dirty="0" sz="2200" spc="-20">
                <a:solidFill>
                  <a:srgbClr val="006FC0"/>
                </a:solidFill>
                <a:latin typeface="Tahoma"/>
                <a:cs typeface="Tahoma"/>
              </a:rPr>
              <a:t>3</a:t>
            </a:r>
            <a:r>
              <a:rPr dirty="0" sz="2200" spc="-20">
                <a:solidFill>
                  <a:srgbClr val="006FC0"/>
                </a:solidFill>
                <a:latin typeface="黑体"/>
                <a:cs typeface="黑体"/>
              </a:rPr>
              <a:t>）</a:t>
            </a:r>
            <a:r>
              <a:rPr dirty="0" sz="2200" spc="-35">
                <a:solidFill>
                  <a:srgbClr val="006FC0"/>
                </a:solidFill>
                <a:latin typeface="黑体"/>
                <a:cs typeface="黑体"/>
              </a:rPr>
              <a:t>面向操作系统的优化实现改进指令系统</a:t>
            </a:r>
            <a:endParaRPr sz="2200">
              <a:latin typeface="黑体"/>
              <a:cs typeface="黑体"/>
            </a:endParaRPr>
          </a:p>
          <a:p>
            <a:pPr lvl="1" marL="895985" indent="-357505">
              <a:lnSpc>
                <a:spcPct val="100000"/>
              </a:lnSpc>
              <a:spcBef>
                <a:spcPts val="1235"/>
              </a:spcBef>
              <a:buClr>
                <a:srgbClr val="4668F5"/>
              </a:buClr>
              <a:buSzPct val="72500"/>
              <a:buFont typeface="Wingdings"/>
              <a:buChar char=""/>
              <a:tabLst>
                <a:tab pos="895985" algn="l"/>
              </a:tabLst>
            </a:pPr>
            <a:r>
              <a:rPr dirty="0" sz="2000" spc="-25" b="1">
                <a:solidFill>
                  <a:srgbClr val="6F2F9F"/>
                </a:solidFill>
                <a:latin typeface="黑体"/>
                <a:cs typeface="黑体"/>
              </a:rPr>
              <a:t>操作系统和计算机系统结构是紧密联系的，操作系</a:t>
            </a:r>
            <a:endParaRPr sz="2000">
              <a:latin typeface="黑体"/>
              <a:cs typeface="黑体"/>
            </a:endParaRPr>
          </a:p>
          <a:p>
            <a:pPr marL="1309370">
              <a:lnSpc>
                <a:spcPct val="100000"/>
              </a:lnSpc>
              <a:spcBef>
                <a:spcPts val="1200"/>
              </a:spcBef>
            </a:pPr>
            <a:r>
              <a:rPr dirty="0" sz="2000" spc="-25" b="1">
                <a:solidFill>
                  <a:srgbClr val="6F2F9F"/>
                </a:solidFill>
                <a:latin typeface="黑体"/>
                <a:cs typeface="黑体"/>
              </a:rPr>
              <a:t>统的实现在很大程度上取决于系统结构的支持。</a:t>
            </a:r>
            <a:endParaRPr sz="2000">
              <a:latin typeface="黑体"/>
              <a:cs typeface="黑体"/>
            </a:endParaRPr>
          </a:p>
          <a:p>
            <a:pPr lvl="1" marL="895985" indent="-357505">
              <a:lnSpc>
                <a:spcPct val="100000"/>
              </a:lnSpc>
              <a:spcBef>
                <a:spcPts val="1200"/>
              </a:spcBef>
              <a:buClr>
                <a:srgbClr val="4668F5"/>
              </a:buClr>
              <a:buSzPct val="72500"/>
              <a:buFont typeface="Wingdings"/>
              <a:buChar char=""/>
              <a:tabLst>
                <a:tab pos="895985" algn="l"/>
              </a:tabLst>
            </a:pPr>
            <a:r>
              <a:rPr dirty="0" sz="2000" spc="-25" b="1">
                <a:solidFill>
                  <a:srgbClr val="6F2F9F"/>
                </a:solidFill>
                <a:latin typeface="黑体"/>
                <a:cs typeface="黑体"/>
              </a:rPr>
              <a:t>指令系统对操作系统的支持主要有：</a:t>
            </a:r>
            <a:endParaRPr sz="2000">
              <a:latin typeface="黑体"/>
              <a:cs typeface="黑体"/>
            </a:endParaRPr>
          </a:p>
          <a:p>
            <a:pPr lvl="2" marL="1257300" indent="-381000">
              <a:lnSpc>
                <a:spcPct val="100000"/>
              </a:lnSpc>
              <a:spcBef>
                <a:spcPts val="840"/>
              </a:spcBef>
              <a:buClr>
                <a:srgbClr val="64CD80"/>
              </a:buClr>
              <a:buSzPct val="65000"/>
              <a:buFont typeface="Wingdings"/>
              <a:buChar char=""/>
              <a:tabLst>
                <a:tab pos="1257300" algn="l"/>
              </a:tabLst>
            </a:pPr>
            <a:r>
              <a:rPr dirty="0" sz="2000" spc="-20" b="1">
                <a:solidFill>
                  <a:srgbClr val="40458B"/>
                </a:solidFill>
                <a:latin typeface="宋体"/>
                <a:cs typeface="宋体"/>
              </a:rPr>
              <a:t>处理机工作状态和访问方式的切换；</a:t>
            </a:r>
            <a:r>
              <a:rPr dirty="0" sz="2000" spc="-15" b="1">
                <a:solidFill>
                  <a:srgbClr val="40458B"/>
                </a:solidFill>
                <a:latin typeface="Tahoma"/>
                <a:cs typeface="Tahoma"/>
              </a:rPr>
              <a:t>--</a:t>
            </a:r>
            <a:r>
              <a:rPr dirty="0" sz="2000" spc="-30" b="1">
                <a:solidFill>
                  <a:srgbClr val="40458B"/>
                </a:solidFill>
                <a:latin typeface="宋体"/>
                <a:cs typeface="宋体"/>
              </a:rPr>
              <a:t>硬件状态位</a:t>
            </a:r>
            <a:endParaRPr sz="2000">
              <a:latin typeface="宋体"/>
              <a:cs typeface="宋体"/>
            </a:endParaRPr>
          </a:p>
          <a:p>
            <a:pPr lvl="2" marL="1257300" indent="-381000">
              <a:lnSpc>
                <a:spcPct val="100000"/>
              </a:lnSpc>
              <a:spcBef>
                <a:spcPts val="725"/>
              </a:spcBef>
              <a:buClr>
                <a:srgbClr val="64CD80"/>
              </a:buClr>
              <a:buSzPct val="65000"/>
              <a:buFont typeface="Wingdings"/>
              <a:buChar char=""/>
              <a:tabLst>
                <a:tab pos="1257300" algn="l"/>
              </a:tabLst>
            </a:pPr>
            <a:r>
              <a:rPr dirty="0" sz="2000" spc="-10" b="1">
                <a:solidFill>
                  <a:srgbClr val="40458B"/>
                </a:solidFill>
                <a:latin typeface="宋体"/>
                <a:cs typeface="宋体"/>
              </a:rPr>
              <a:t>进程的管理和切换；</a:t>
            </a:r>
            <a:r>
              <a:rPr dirty="0" sz="2000" spc="-5" b="1">
                <a:solidFill>
                  <a:srgbClr val="40458B"/>
                </a:solidFill>
                <a:latin typeface="Tahoma"/>
                <a:cs typeface="Tahoma"/>
              </a:rPr>
              <a:t>---</a:t>
            </a:r>
            <a:r>
              <a:rPr dirty="0" sz="2000" spc="-25" b="1">
                <a:solidFill>
                  <a:srgbClr val="40458B"/>
                </a:solidFill>
                <a:latin typeface="宋体"/>
                <a:cs typeface="宋体"/>
              </a:rPr>
              <a:t>现场保护</a:t>
            </a:r>
            <a:endParaRPr sz="2000">
              <a:latin typeface="宋体"/>
              <a:cs typeface="宋体"/>
            </a:endParaRPr>
          </a:p>
          <a:p>
            <a:pPr lvl="2" marL="1257300" indent="-381000">
              <a:lnSpc>
                <a:spcPct val="100000"/>
              </a:lnSpc>
              <a:spcBef>
                <a:spcPts val="720"/>
              </a:spcBef>
              <a:buClr>
                <a:srgbClr val="64CD80"/>
              </a:buClr>
              <a:buSzPct val="65000"/>
              <a:buFont typeface="Wingdings"/>
              <a:buChar char=""/>
              <a:tabLst>
                <a:tab pos="1257300" algn="l"/>
              </a:tabLst>
            </a:pPr>
            <a:r>
              <a:rPr dirty="0" sz="2000" spc="-10" b="1">
                <a:solidFill>
                  <a:srgbClr val="40458B"/>
                </a:solidFill>
                <a:latin typeface="宋体"/>
                <a:cs typeface="宋体"/>
              </a:rPr>
              <a:t>存储管理和信息保护；</a:t>
            </a:r>
            <a:r>
              <a:rPr dirty="0" sz="2000" spc="-5" b="1">
                <a:solidFill>
                  <a:srgbClr val="40458B"/>
                </a:solidFill>
                <a:latin typeface="Tahoma"/>
                <a:cs typeface="Tahoma"/>
              </a:rPr>
              <a:t>---</a:t>
            </a:r>
            <a:r>
              <a:rPr dirty="0" sz="2000" spc="-25" b="1">
                <a:solidFill>
                  <a:srgbClr val="40458B"/>
                </a:solidFill>
                <a:latin typeface="宋体"/>
                <a:cs typeface="宋体"/>
              </a:rPr>
              <a:t>多用户共用存储器</a:t>
            </a:r>
            <a:endParaRPr sz="2000">
              <a:latin typeface="宋体"/>
              <a:cs typeface="宋体"/>
            </a:endParaRPr>
          </a:p>
          <a:p>
            <a:pPr lvl="2" marL="1257300" indent="-381000">
              <a:lnSpc>
                <a:spcPct val="100000"/>
              </a:lnSpc>
              <a:spcBef>
                <a:spcPts val="720"/>
              </a:spcBef>
              <a:buClr>
                <a:srgbClr val="64CD80"/>
              </a:buClr>
              <a:buSzPct val="65000"/>
              <a:buFont typeface="Wingdings"/>
              <a:buChar char=""/>
              <a:tabLst>
                <a:tab pos="1257300" algn="l"/>
              </a:tabLst>
            </a:pPr>
            <a:r>
              <a:rPr dirty="0" sz="2000" spc="-25" b="1">
                <a:solidFill>
                  <a:srgbClr val="40458B"/>
                </a:solidFill>
                <a:latin typeface="宋体"/>
                <a:cs typeface="宋体"/>
              </a:rPr>
              <a:t>进程的同步与互斥，信号灯的管理等。</a:t>
            </a:r>
            <a:endParaRPr sz="2000">
              <a:latin typeface="宋体"/>
              <a:cs typeface="宋体"/>
            </a:endParaRPr>
          </a:p>
          <a:p>
            <a:pPr marL="896619" marR="358775" indent="542290">
              <a:lnSpc>
                <a:spcPct val="130000"/>
              </a:lnSpc>
              <a:spcBef>
                <a:spcPts val="360"/>
              </a:spcBef>
            </a:pPr>
            <a:r>
              <a:rPr dirty="0" sz="2000" spc="-20" b="1">
                <a:solidFill>
                  <a:srgbClr val="6F2F9F"/>
                </a:solidFill>
                <a:latin typeface="黑体"/>
                <a:cs typeface="黑体"/>
              </a:rPr>
              <a:t>上述这些</a:t>
            </a:r>
            <a:r>
              <a:rPr dirty="0" sz="2000" spc="-25" b="1">
                <a:solidFill>
                  <a:srgbClr val="E14B04"/>
                </a:solidFill>
                <a:latin typeface="黑体"/>
                <a:cs typeface="黑体"/>
              </a:rPr>
              <a:t>支持操作系统的有些指令属于特权指令，一般用户程序是不能使用的。</a:t>
            </a:r>
            <a:endParaRPr sz="2000">
              <a:latin typeface="黑体"/>
              <a:cs typeface="黑体"/>
            </a:endParaRPr>
          </a:p>
          <a:p>
            <a:pPr marL="283845" marR="5080" indent="-271780">
              <a:lnSpc>
                <a:spcPct val="130100"/>
              </a:lnSpc>
              <a:spcBef>
                <a:spcPts val="495"/>
              </a:spcBef>
              <a:buClr>
                <a:srgbClr val="006FC0"/>
              </a:buClr>
              <a:buSzPct val="88636"/>
              <a:buFont typeface="Wingdings"/>
              <a:buChar char=""/>
              <a:tabLst>
                <a:tab pos="283845" algn="l"/>
              </a:tabLst>
            </a:pPr>
            <a:r>
              <a:rPr dirty="0" sz="2200" spc="-30">
                <a:solidFill>
                  <a:srgbClr val="E14B04"/>
                </a:solidFill>
                <a:latin typeface="黑体"/>
                <a:cs typeface="黑体"/>
              </a:rPr>
              <a:t>途径：</a:t>
            </a:r>
            <a:r>
              <a:rPr dirty="0" sz="2200" spc="-35">
                <a:solidFill>
                  <a:srgbClr val="006FC0"/>
                </a:solidFill>
                <a:latin typeface="黑体"/>
                <a:cs typeface="黑体"/>
              </a:rPr>
              <a:t>改进指令系统，使它与各种语言间的语义差距都有同等的缩小，</a:t>
            </a:r>
            <a:r>
              <a:rPr dirty="0" sz="2200" spc="-20">
                <a:solidFill>
                  <a:srgbClr val="006FC0"/>
                </a:solidFill>
                <a:latin typeface="黑体"/>
                <a:cs typeface="黑体"/>
              </a:rPr>
              <a:t>减少</a:t>
            </a:r>
            <a:r>
              <a:rPr dirty="0" sz="2200" spc="-25">
                <a:solidFill>
                  <a:srgbClr val="006FC0"/>
                </a:solidFill>
                <a:latin typeface="Tahoma"/>
                <a:cs typeface="Tahoma"/>
              </a:rPr>
              <a:t>OS</a:t>
            </a:r>
            <a:r>
              <a:rPr dirty="0" sz="2200" spc="-30">
                <a:solidFill>
                  <a:srgbClr val="006FC0"/>
                </a:solidFill>
                <a:latin typeface="黑体"/>
                <a:cs typeface="黑体"/>
              </a:rPr>
              <a:t>辅助操作时间，节省</a:t>
            </a:r>
            <a:r>
              <a:rPr dirty="0" sz="2200" spc="-25">
                <a:solidFill>
                  <a:srgbClr val="006FC0"/>
                </a:solidFill>
                <a:latin typeface="Tahoma"/>
                <a:cs typeface="Tahoma"/>
              </a:rPr>
              <a:t>OS</a:t>
            </a:r>
            <a:r>
              <a:rPr dirty="0" sz="2200" spc="-35">
                <a:solidFill>
                  <a:srgbClr val="006FC0"/>
                </a:solidFill>
                <a:latin typeface="黑体"/>
                <a:cs typeface="黑体"/>
              </a:rPr>
              <a:t>占用空间</a:t>
            </a:r>
            <a:endParaRPr sz="2200">
              <a:latin typeface="黑体"/>
              <a:cs typeface="黑体"/>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2.4</a:t>
            </a:r>
            <a:r>
              <a:rPr dirty="0" spc="-35">
                <a:solidFill>
                  <a:srgbClr val="4F55AC"/>
                </a:solidFill>
              </a:rPr>
              <a:t> </a:t>
            </a:r>
            <a:r>
              <a:rPr dirty="0">
                <a:solidFill>
                  <a:srgbClr val="4F55AC"/>
                </a:solidFill>
                <a:latin typeface="微软雅黑"/>
                <a:cs typeface="微软雅黑"/>
              </a:rPr>
              <a:t>指令系统的发展和改</a:t>
            </a:r>
            <a:r>
              <a:rPr dirty="0" spc="-50">
                <a:solidFill>
                  <a:srgbClr val="4F55AC"/>
                </a:solidFill>
                <a:latin typeface="微软雅黑"/>
                <a:cs typeface="微软雅黑"/>
              </a:rPr>
              <a:t>进</a:t>
            </a:r>
            <a:r>
              <a:rPr dirty="0">
                <a:solidFill>
                  <a:srgbClr val="4F55AC"/>
                </a:solidFill>
                <a:latin typeface="微软雅黑"/>
                <a:cs typeface="微软雅黑"/>
              </a:rPr>
              <a:t>	</a:t>
            </a:r>
          </a:p>
        </p:txBody>
      </p:sp>
      <p:sp>
        <p:nvSpPr>
          <p:cNvPr id="4" name="object 4" descr=""/>
          <p:cNvSpPr txBox="1"/>
          <p:nvPr/>
        </p:nvSpPr>
        <p:spPr>
          <a:xfrm>
            <a:off x="1745742" y="724290"/>
            <a:ext cx="8982075" cy="5118735"/>
          </a:xfrm>
          <a:prstGeom prst="rect">
            <a:avLst/>
          </a:prstGeom>
        </p:spPr>
        <p:txBody>
          <a:bodyPr wrap="square" lIns="0" tIns="166370" rIns="0" bIns="0" rtlCol="0" vert="horz">
            <a:spAutoFit/>
          </a:bodyPr>
          <a:lstStyle/>
          <a:p>
            <a:pPr marL="3002280">
              <a:lnSpc>
                <a:spcPct val="100000"/>
              </a:lnSpc>
              <a:spcBef>
                <a:spcPts val="1310"/>
              </a:spcBef>
            </a:pPr>
            <a:r>
              <a:rPr dirty="0" sz="2600">
                <a:solidFill>
                  <a:srgbClr val="0000CC"/>
                </a:solidFill>
                <a:latin typeface="黑体"/>
                <a:cs typeface="黑体"/>
              </a:rPr>
              <a:t>2.4.2</a:t>
            </a:r>
            <a:r>
              <a:rPr dirty="0" sz="2600" spc="5">
                <a:solidFill>
                  <a:srgbClr val="0000CC"/>
                </a:solidFill>
                <a:latin typeface="黑体"/>
                <a:cs typeface="黑体"/>
              </a:rPr>
              <a:t> 沿</a:t>
            </a:r>
            <a:r>
              <a:rPr dirty="0" sz="2600" spc="-10">
                <a:solidFill>
                  <a:srgbClr val="0000CC"/>
                </a:solidFill>
                <a:latin typeface="黑体"/>
                <a:cs typeface="黑体"/>
              </a:rPr>
              <a:t>RISC</a:t>
            </a:r>
            <a:r>
              <a:rPr dirty="0" sz="2600" spc="-15">
                <a:solidFill>
                  <a:srgbClr val="0000CC"/>
                </a:solidFill>
                <a:latin typeface="黑体"/>
                <a:cs typeface="黑体"/>
              </a:rPr>
              <a:t>方向发展和改进指令系统</a:t>
            </a:r>
            <a:endParaRPr sz="2600">
              <a:latin typeface="黑体"/>
              <a:cs typeface="黑体"/>
            </a:endParaRPr>
          </a:p>
          <a:p>
            <a:pPr marL="469900" indent="-457200">
              <a:lnSpc>
                <a:spcPct val="100000"/>
              </a:lnSpc>
              <a:spcBef>
                <a:spcPts val="2080"/>
              </a:spcBef>
              <a:buClr>
                <a:srgbClr val="40458B"/>
              </a:buClr>
              <a:buSzPct val="117857"/>
              <a:buFont typeface="Wingdings"/>
              <a:buChar char=""/>
              <a:tabLst>
                <a:tab pos="469900" algn="l"/>
              </a:tabLst>
            </a:pPr>
            <a:r>
              <a:rPr dirty="0" sz="2800" spc="-10">
                <a:solidFill>
                  <a:srgbClr val="172152"/>
                </a:solidFill>
                <a:latin typeface="黑体"/>
                <a:cs typeface="黑体"/>
              </a:rPr>
              <a:t>CISC</a:t>
            </a:r>
            <a:r>
              <a:rPr dirty="0" sz="2800" spc="-40">
                <a:solidFill>
                  <a:srgbClr val="172152"/>
                </a:solidFill>
                <a:latin typeface="黑体"/>
                <a:cs typeface="黑体"/>
              </a:rPr>
              <a:t>指令系统结构存在的问题</a:t>
            </a:r>
            <a:endParaRPr sz="2800">
              <a:latin typeface="黑体"/>
              <a:cs typeface="黑体"/>
            </a:endParaRPr>
          </a:p>
          <a:p>
            <a:pPr marL="469900">
              <a:lnSpc>
                <a:spcPct val="100000"/>
              </a:lnSpc>
              <a:spcBef>
                <a:spcPts val="1345"/>
              </a:spcBef>
            </a:pPr>
            <a:r>
              <a:rPr dirty="0" sz="2800" spc="-40">
                <a:solidFill>
                  <a:srgbClr val="172152"/>
                </a:solidFill>
                <a:latin typeface="黑体"/>
                <a:cs typeface="黑体"/>
              </a:rPr>
              <a:t>各种指令的使用频度相差悬殊，许多指令很少用；</a:t>
            </a:r>
            <a:endParaRPr sz="2800">
              <a:latin typeface="黑体"/>
              <a:cs typeface="黑体"/>
            </a:endParaRPr>
          </a:p>
          <a:p>
            <a:pPr lvl="1" marL="1308100" marR="244475" indent="-360045">
              <a:lnSpc>
                <a:spcPct val="140000"/>
              </a:lnSpc>
              <a:spcBef>
                <a:spcPts val="660"/>
              </a:spcBef>
              <a:buClr>
                <a:srgbClr val="4668F5"/>
              </a:buClr>
              <a:buSzPct val="72500"/>
              <a:buFont typeface="Wingdings"/>
              <a:buChar char=""/>
              <a:tabLst>
                <a:tab pos="1308100" algn="l"/>
              </a:tabLst>
            </a:pPr>
            <a:r>
              <a:rPr dirty="0" sz="2000" spc="-10" b="1">
                <a:solidFill>
                  <a:srgbClr val="6F2F9F"/>
                </a:solidFill>
                <a:latin typeface="黑体"/>
                <a:cs typeface="黑体"/>
              </a:rPr>
              <a:t>据统计：只有</a:t>
            </a:r>
            <a:r>
              <a:rPr dirty="0" sz="2000" spc="-10" b="1">
                <a:solidFill>
                  <a:srgbClr val="9933FF"/>
                </a:solidFill>
                <a:latin typeface="宋体"/>
                <a:cs typeface="宋体"/>
              </a:rPr>
              <a:t>20</a:t>
            </a:r>
            <a:r>
              <a:rPr dirty="0" sz="2000" spc="-10" b="1">
                <a:solidFill>
                  <a:srgbClr val="9933FF"/>
                </a:solidFill>
                <a:latin typeface="黑体"/>
                <a:cs typeface="黑体"/>
              </a:rPr>
              <a:t>％</a:t>
            </a:r>
            <a:r>
              <a:rPr dirty="0" sz="2000" spc="-20" b="1">
                <a:solidFill>
                  <a:srgbClr val="6F2F9F"/>
                </a:solidFill>
                <a:latin typeface="黑体"/>
                <a:cs typeface="黑体"/>
              </a:rPr>
              <a:t>的指令使用频度比较高，占运行时间的</a:t>
            </a:r>
            <a:r>
              <a:rPr dirty="0" sz="2000" spc="-20" b="1">
                <a:solidFill>
                  <a:srgbClr val="9933FF"/>
                </a:solidFill>
                <a:latin typeface="宋体"/>
                <a:cs typeface="宋体"/>
              </a:rPr>
              <a:t>80</a:t>
            </a:r>
            <a:r>
              <a:rPr dirty="0" sz="2000" spc="-20" b="1">
                <a:solidFill>
                  <a:srgbClr val="9933FF"/>
                </a:solidFill>
                <a:latin typeface="黑体"/>
                <a:cs typeface="黑体"/>
              </a:rPr>
              <a:t>％</a:t>
            </a:r>
            <a:r>
              <a:rPr dirty="0" sz="2000" spc="-30" b="1">
                <a:solidFill>
                  <a:srgbClr val="6F2F9F"/>
                </a:solidFill>
                <a:latin typeface="黑体"/>
                <a:cs typeface="黑体"/>
              </a:rPr>
              <a:t>。而</a:t>
            </a:r>
            <a:r>
              <a:rPr dirty="0" sz="2000" b="1">
                <a:solidFill>
                  <a:srgbClr val="6F2F9F"/>
                </a:solidFill>
                <a:latin typeface="黑体"/>
                <a:cs typeface="黑体"/>
              </a:rPr>
              <a:t>其余</a:t>
            </a:r>
            <a:r>
              <a:rPr dirty="0" sz="2000" spc="-10" b="1">
                <a:solidFill>
                  <a:srgbClr val="9933FF"/>
                </a:solidFill>
                <a:latin typeface="宋体"/>
                <a:cs typeface="宋体"/>
              </a:rPr>
              <a:t>80</a:t>
            </a:r>
            <a:r>
              <a:rPr dirty="0" sz="2000" spc="-10" b="1">
                <a:solidFill>
                  <a:srgbClr val="9933FF"/>
                </a:solidFill>
                <a:latin typeface="黑体"/>
                <a:cs typeface="黑体"/>
              </a:rPr>
              <a:t>％</a:t>
            </a:r>
            <a:r>
              <a:rPr dirty="0" sz="2000" spc="-25" b="1">
                <a:solidFill>
                  <a:srgbClr val="6F2F9F"/>
                </a:solidFill>
                <a:latin typeface="黑体"/>
                <a:cs typeface="黑体"/>
              </a:rPr>
              <a:t>的指令只在</a:t>
            </a:r>
            <a:r>
              <a:rPr dirty="0" sz="2000" spc="-10" b="1">
                <a:solidFill>
                  <a:srgbClr val="9933FF"/>
                </a:solidFill>
                <a:latin typeface="宋体"/>
                <a:cs typeface="宋体"/>
              </a:rPr>
              <a:t>20</a:t>
            </a:r>
            <a:r>
              <a:rPr dirty="0" sz="2000" spc="-10" b="1">
                <a:solidFill>
                  <a:srgbClr val="9933FF"/>
                </a:solidFill>
                <a:latin typeface="黑体"/>
                <a:cs typeface="黑体"/>
              </a:rPr>
              <a:t>％</a:t>
            </a:r>
            <a:r>
              <a:rPr dirty="0" sz="2000" spc="-25" b="1">
                <a:solidFill>
                  <a:srgbClr val="6F2F9F"/>
                </a:solidFill>
                <a:latin typeface="黑体"/>
                <a:cs typeface="黑体"/>
              </a:rPr>
              <a:t>的运行时间内才会用到。</a:t>
            </a:r>
            <a:endParaRPr sz="2000">
              <a:latin typeface="黑体"/>
              <a:cs typeface="黑体"/>
            </a:endParaRPr>
          </a:p>
          <a:p>
            <a:pPr lvl="1" marL="1308100" indent="-360045">
              <a:lnSpc>
                <a:spcPct val="100000"/>
              </a:lnSpc>
              <a:spcBef>
                <a:spcPts val="1440"/>
              </a:spcBef>
              <a:buClr>
                <a:srgbClr val="4668F5"/>
              </a:buClr>
              <a:buSzPct val="72500"/>
              <a:buFont typeface="Wingdings"/>
              <a:buChar char=""/>
              <a:tabLst>
                <a:tab pos="1308100" algn="l"/>
              </a:tabLst>
            </a:pPr>
            <a:r>
              <a:rPr dirty="0" sz="2000" spc="-25" b="1">
                <a:solidFill>
                  <a:srgbClr val="6F2F9F"/>
                </a:solidFill>
                <a:latin typeface="黑体"/>
                <a:cs typeface="黑体"/>
              </a:rPr>
              <a:t>使用频度高的指令也是最简单的指令。指令系统庞大，指令条数很</a:t>
            </a:r>
            <a:endParaRPr sz="2000">
              <a:latin typeface="黑体"/>
              <a:cs typeface="黑体"/>
            </a:endParaRPr>
          </a:p>
          <a:p>
            <a:pPr marL="1308100">
              <a:lnSpc>
                <a:spcPct val="100000"/>
              </a:lnSpc>
              <a:spcBef>
                <a:spcPts val="960"/>
              </a:spcBef>
            </a:pPr>
            <a:r>
              <a:rPr dirty="0" sz="2000" spc="-25" b="1">
                <a:solidFill>
                  <a:srgbClr val="6F2F9F"/>
                </a:solidFill>
                <a:latin typeface="黑体"/>
                <a:cs typeface="黑体"/>
              </a:rPr>
              <a:t>多，许多指令的功能又很复杂，使得控制器硬件非常复杂。</a:t>
            </a:r>
            <a:endParaRPr sz="2000">
              <a:latin typeface="黑体"/>
              <a:cs typeface="黑体"/>
            </a:endParaRPr>
          </a:p>
          <a:p>
            <a:pPr lvl="1" marL="1308100" indent="-360045">
              <a:lnSpc>
                <a:spcPct val="100000"/>
              </a:lnSpc>
              <a:spcBef>
                <a:spcPts val="1440"/>
              </a:spcBef>
              <a:buClr>
                <a:srgbClr val="4668F5"/>
              </a:buClr>
              <a:buSzPct val="72500"/>
              <a:buFont typeface="Wingdings"/>
              <a:buChar char=""/>
              <a:tabLst>
                <a:tab pos="1308100" algn="l"/>
              </a:tabLst>
            </a:pPr>
            <a:r>
              <a:rPr dirty="0" sz="2000" spc="-20" b="1">
                <a:solidFill>
                  <a:srgbClr val="6F2F9F"/>
                </a:solidFill>
                <a:latin typeface="黑体"/>
                <a:cs typeface="黑体"/>
              </a:rPr>
              <a:t>许多指令由于操作繁杂，其CPI</a:t>
            </a:r>
            <a:r>
              <a:rPr dirty="0" sz="2000" spc="-25" b="1">
                <a:solidFill>
                  <a:srgbClr val="6F2F9F"/>
                </a:solidFill>
                <a:latin typeface="黑体"/>
                <a:cs typeface="黑体"/>
              </a:rPr>
              <a:t>值比较大，执行速度慢。采用这些</a:t>
            </a:r>
            <a:endParaRPr sz="2000">
              <a:latin typeface="黑体"/>
              <a:cs typeface="黑体"/>
            </a:endParaRPr>
          </a:p>
          <a:p>
            <a:pPr marL="1308100">
              <a:lnSpc>
                <a:spcPct val="100000"/>
              </a:lnSpc>
              <a:spcBef>
                <a:spcPts val="960"/>
              </a:spcBef>
            </a:pPr>
            <a:r>
              <a:rPr dirty="0" sz="2000" spc="-25" b="1">
                <a:solidFill>
                  <a:srgbClr val="6F2F9F"/>
                </a:solidFill>
                <a:latin typeface="黑体"/>
                <a:cs typeface="黑体"/>
              </a:rPr>
              <a:t>复杂指令有可能使整个程序的执行时间反而增加。</a:t>
            </a:r>
            <a:endParaRPr sz="2000">
              <a:latin typeface="黑体"/>
              <a:cs typeface="黑体"/>
            </a:endParaRPr>
          </a:p>
          <a:p>
            <a:pPr lvl="1" marL="1308100" indent="-360045">
              <a:lnSpc>
                <a:spcPct val="100000"/>
              </a:lnSpc>
              <a:spcBef>
                <a:spcPts val="1445"/>
              </a:spcBef>
              <a:buClr>
                <a:srgbClr val="4668F5"/>
              </a:buClr>
              <a:buSzPct val="72500"/>
              <a:buFont typeface="Wingdings"/>
              <a:buChar char=""/>
              <a:tabLst>
                <a:tab pos="1308100" algn="l"/>
              </a:tabLst>
            </a:pPr>
            <a:r>
              <a:rPr dirty="0" sz="2000" spc="-25" b="1">
                <a:solidFill>
                  <a:srgbClr val="6F2F9F"/>
                </a:solidFill>
                <a:latin typeface="黑体"/>
                <a:cs typeface="黑体"/>
              </a:rPr>
              <a:t>由于指令功能复杂，规整性不好，不利于采用流水技术来提高性能。</a:t>
            </a:r>
            <a:endParaRPr sz="2000">
              <a:latin typeface="黑体"/>
              <a:cs typeface="黑体"/>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5068823" y="5121275"/>
            <a:ext cx="0" cy="979169"/>
          </a:xfrm>
          <a:custGeom>
            <a:avLst/>
            <a:gdLst/>
            <a:ahLst/>
            <a:cxnLst/>
            <a:rect l="l" t="t" r="r" b="b"/>
            <a:pathLst>
              <a:path w="0" h="979170">
                <a:moveTo>
                  <a:pt x="0" y="0"/>
                </a:moveTo>
                <a:lnTo>
                  <a:pt x="0" y="978611"/>
                </a:lnTo>
              </a:path>
            </a:pathLst>
          </a:custGeom>
          <a:ln w="12700">
            <a:solidFill>
              <a:srgbClr val="40458B"/>
            </a:solidFill>
          </a:ln>
        </p:spPr>
        <p:txBody>
          <a:bodyPr wrap="square" lIns="0" tIns="0" rIns="0" bIns="0" rtlCol="0"/>
          <a:lstStyle/>
          <a:p/>
        </p:txBody>
      </p:sp>
      <p:sp>
        <p:nvSpPr>
          <p:cNvPr id="3" name="object 3" descr=""/>
          <p:cNvSpPr/>
          <p:nvPr/>
        </p:nvSpPr>
        <p:spPr>
          <a:xfrm>
            <a:off x="7394575" y="5121275"/>
            <a:ext cx="0" cy="1383030"/>
          </a:xfrm>
          <a:custGeom>
            <a:avLst/>
            <a:gdLst/>
            <a:ahLst/>
            <a:cxnLst/>
            <a:rect l="l" t="t" r="r" b="b"/>
            <a:pathLst>
              <a:path w="0" h="1383029">
                <a:moveTo>
                  <a:pt x="0" y="0"/>
                </a:moveTo>
                <a:lnTo>
                  <a:pt x="0" y="1382763"/>
                </a:lnTo>
              </a:path>
            </a:pathLst>
          </a:custGeom>
          <a:ln w="12700">
            <a:solidFill>
              <a:srgbClr val="40458B"/>
            </a:solidFill>
          </a:ln>
        </p:spPr>
        <p:txBody>
          <a:bodyPr wrap="square" lIns="0" tIns="0" rIns="0" bIns="0" rtlCol="0"/>
          <a:lstStyle/>
          <a:p/>
        </p:txBody>
      </p:sp>
      <p:sp>
        <p:nvSpPr>
          <p:cNvPr id="4" name="object 4" descr=""/>
          <p:cNvSpPr/>
          <p:nvPr/>
        </p:nvSpPr>
        <p:spPr>
          <a:xfrm>
            <a:off x="2436876" y="3411473"/>
            <a:ext cx="161925" cy="0"/>
          </a:xfrm>
          <a:custGeom>
            <a:avLst/>
            <a:gdLst/>
            <a:ahLst/>
            <a:cxnLst/>
            <a:rect l="l" t="t" r="r" b="b"/>
            <a:pathLst>
              <a:path w="161925" h="0">
                <a:moveTo>
                  <a:pt x="0" y="0"/>
                </a:moveTo>
                <a:lnTo>
                  <a:pt x="161925" y="0"/>
                </a:lnTo>
              </a:path>
            </a:pathLst>
          </a:custGeom>
          <a:ln w="12700">
            <a:solidFill>
              <a:srgbClr val="40458B"/>
            </a:solidFill>
          </a:ln>
        </p:spPr>
        <p:txBody>
          <a:bodyPr wrap="square" lIns="0" tIns="0" rIns="0" bIns="0" rtlCol="0"/>
          <a:lstStyle/>
          <a:p/>
        </p:txBody>
      </p:sp>
      <p:sp>
        <p:nvSpPr>
          <p:cNvPr id="5" name="object 5" descr=""/>
          <p:cNvSpPr/>
          <p:nvPr/>
        </p:nvSpPr>
        <p:spPr>
          <a:xfrm>
            <a:off x="10520426" y="3411473"/>
            <a:ext cx="161925" cy="0"/>
          </a:xfrm>
          <a:custGeom>
            <a:avLst/>
            <a:gdLst/>
            <a:ahLst/>
            <a:cxnLst/>
            <a:rect l="l" t="t" r="r" b="b"/>
            <a:pathLst>
              <a:path w="161925" h="0">
                <a:moveTo>
                  <a:pt x="0" y="0"/>
                </a:moveTo>
                <a:lnTo>
                  <a:pt x="161798" y="0"/>
                </a:lnTo>
              </a:path>
            </a:pathLst>
          </a:custGeom>
          <a:ln w="12700">
            <a:solidFill>
              <a:srgbClr val="40458B"/>
            </a:solidFill>
          </a:ln>
        </p:spPr>
        <p:txBody>
          <a:bodyPr wrap="square" lIns="0" tIns="0" rIns="0" bIns="0" rtlCol="0"/>
          <a:lstStyle/>
          <a:p/>
        </p:txBody>
      </p:sp>
      <p:sp>
        <p:nvSpPr>
          <p:cNvPr id="6" name="object 6" descr=""/>
          <p:cNvSpPr/>
          <p:nvPr/>
        </p:nvSpPr>
        <p:spPr>
          <a:xfrm>
            <a:off x="2436876" y="3807586"/>
            <a:ext cx="161925" cy="0"/>
          </a:xfrm>
          <a:custGeom>
            <a:avLst/>
            <a:gdLst/>
            <a:ahLst/>
            <a:cxnLst/>
            <a:rect l="l" t="t" r="r" b="b"/>
            <a:pathLst>
              <a:path w="161925" h="0">
                <a:moveTo>
                  <a:pt x="0" y="0"/>
                </a:moveTo>
                <a:lnTo>
                  <a:pt x="161925" y="0"/>
                </a:lnTo>
              </a:path>
            </a:pathLst>
          </a:custGeom>
          <a:ln w="12700">
            <a:solidFill>
              <a:srgbClr val="40458B"/>
            </a:solidFill>
          </a:ln>
        </p:spPr>
        <p:txBody>
          <a:bodyPr wrap="square" lIns="0" tIns="0" rIns="0" bIns="0" rtlCol="0"/>
          <a:lstStyle/>
          <a:p/>
        </p:txBody>
      </p:sp>
      <p:sp>
        <p:nvSpPr>
          <p:cNvPr id="7" name="object 7" descr=""/>
          <p:cNvSpPr/>
          <p:nvPr/>
        </p:nvSpPr>
        <p:spPr>
          <a:xfrm>
            <a:off x="10520426" y="3807586"/>
            <a:ext cx="161925" cy="0"/>
          </a:xfrm>
          <a:custGeom>
            <a:avLst/>
            <a:gdLst/>
            <a:ahLst/>
            <a:cxnLst/>
            <a:rect l="l" t="t" r="r" b="b"/>
            <a:pathLst>
              <a:path w="161925" h="0">
                <a:moveTo>
                  <a:pt x="0" y="0"/>
                </a:moveTo>
                <a:lnTo>
                  <a:pt x="161798" y="0"/>
                </a:lnTo>
              </a:path>
            </a:pathLst>
          </a:custGeom>
          <a:ln w="12700">
            <a:solidFill>
              <a:srgbClr val="40458B"/>
            </a:solidFill>
          </a:ln>
        </p:spPr>
        <p:txBody>
          <a:bodyPr wrap="square" lIns="0" tIns="0" rIns="0" bIns="0" rtlCol="0"/>
          <a:lstStyle/>
          <a:p/>
        </p:txBody>
      </p:sp>
      <p:sp>
        <p:nvSpPr>
          <p:cNvPr id="8" name="object 8" descr=""/>
          <p:cNvSpPr/>
          <p:nvPr/>
        </p:nvSpPr>
        <p:spPr>
          <a:xfrm>
            <a:off x="2436876" y="4203827"/>
            <a:ext cx="161925" cy="0"/>
          </a:xfrm>
          <a:custGeom>
            <a:avLst/>
            <a:gdLst/>
            <a:ahLst/>
            <a:cxnLst/>
            <a:rect l="l" t="t" r="r" b="b"/>
            <a:pathLst>
              <a:path w="161925" h="0">
                <a:moveTo>
                  <a:pt x="0" y="0"/>
                </a:moveTo>
                <a:lnTo>
                  <a:pt x="161925" y="0"/>
                </a:lnTo>
              </a:path>
            </a:pathLst>
          </a:custGeom>
          <a:ln w="12700">
            <a:solidFill>
              <a:srgbClr val="40458B"/>
            </a:solidFill>
          </a:ln>
        </p:spPr>
        <p:txBody>
          <a:bodyPr wrap="square" lIns="0" tIns="0" rIns="0" bIns="0" rtlCol="0"/>
          <a:lstStyle/>
          <a:p/>
        </p:txBody>
      </p:sp>
      <p:sp>
        <p:nvSpPr>
          <p:cNvPr id="9" name="object 9" descr=""/>
          <p:cNvSpPr/>
          <p:nvPr/>
        </p:nvSpPr>
        <p:spPr>
          <a:xfrm>
            <a:off x="10520426" y="4203827"/>
            <a:ext cx="161925" cy="0"/>
          </a:xfrm>
          <a:custGeom>
            <a:avLst/>
            <a:gdLst/>
            <a:ahLst/>
            <a:cxnLst/>
            <a:rect l="l" t="t" r="r" b="b"/>
            <a:pathLst>
              <a:path w="161925" h="0">
                <a:moveTo>
                  <a:pt x="0" y="0"/>
                </a:moveTo>
                <a:lnTo>
                  <a:pt x="161798" y="0"/>
                </a:lnTo>
              </a:path>
            </a:pathLst>
          </a:custGeom>
          <a:ln w="12700">
            <a:solidFill>
              <a:srgbClr val="40458B"/>
            </a:solidFill>
          </a:ln>
        </p:spPr>
        <p:txBody>
          <a:bodyPr wrap="square" lIns="0" tIns="0" rIns="0" bIns="0" rtlCol="0"/>
          <a:lstStyle/>
          <a:p/>
        </p:txBody>
      </p:sp>
      <p:sp>
        <p:nvSpPr>
          <p:cNvPr id="10" name="object 10" descr=""/>
          <p:cNvSpPr/>
          <p:nvPr/>
        </p:nvSpPr>
        <p:spPr>
          <a:xfrm>
            <a:off x="2436876" y="4600066"/>
            <a:ext cx="161925" cy="0"/>
          </a:xfrm>
          <a:custGeom>
            <a:avLst/>
            <a:gdLst/>
            <a:ahLst/>
            <a:cxnLst/>
            <a:rect l="l" t="t" r="r" b="b"/>
            <a:pathLst>
              <a:path w="161925" h="0">
                <a:moveTo>
                  <a:pt x="0" y="0"/>
                </a:moveTo>
                <a:lnTo>
                  <a:pt x="161925" y="0"/>
                </a:lnTo>
              </a:path>
            </a:pathLst>
          </a:custGeom>
          <a:ln w="12700">
            <a:solidFill>
              <a:srgbClr val="40458B"/>
            </a:solidFill>
          </a:ln>
        </p:spPr>
        <p:txBody>
          <a:bodyPr wrap="square" lIns="0" tIns="0" rIns="0" bIns="0" rtlCol="0"/>
          <a:lstStyle/>
          <a:p/>
        </p:txBody>
      </p:sp>
      <p:sp>
        <p:nvSpPr>
          <p:cNvPr id="11" name="object 11" descr=""/>
          <p:cNvSpPr/>
          <p:nvPr/>
        </p:nvSpPr>
        <p:spPr>
          <a:xfrm>
            <a:off x="10520426" y="4600066"/>
            <a:ext cx="161925" cy="0"/>
          </a:xfrm>
          <a:custGeom>
            <a:avLst/>
            <a:gdLst/>
            <a:ahLst/>
            <a:cxnLst/>
            <a:rect l="l" t="t" r="r" b="b"/>
            <a:pathLst>
              <a:path w="161925" h="0">
                <a:moveTo>
                  <a:pt x="0" y="0"/>
                </a:moveTo>
                <a:lnTo>
                  <a:pt x="161798" y="0"/>
                </a:lnTo>
              </a:path>
            </a:pathLst>
          </a:custGeom>
          <a:ln w="12700">
            <a:solidFill>
              <a:srgbClr val="40458B"/>
            </a:solidFill>
          </a:ln>
        </p:spPr>
        <p:txBody>
          <a:bodyPr wrap="square" lIns="0" tIns="0" rIns="0" bIns="0" rtlCol="0"/>
          <a:lstStyle/>
          <a:p/>
        </p:txBody>
      </p:sp>
      <p:sp>
        <p:nvSpPr>
          <p:cNvPr id="12" name="object 12" descr=""/>
          <p:cNvSpPr/>
          <p:nvPr/>
        </p:nvSpPr>
        <p:spPr>
          <a:xfrm>
            <a:off x="2436876" y="5301107"/>
            <a:ext cx="8245475" cy="0"/>
          </a:xfrm>
          <a:custGeom>
            <a:avLst/>
            <a:gdLst/>
            <a:ahLst/>
            <a:cxnLst/>
            <a:rect l="l" t="t" r="r" b="b"/>
            <a:pathLst>
              <a:path w="8245475" h="0">
                <a:moveTo>
                  <a:pt x="0" y="0"/>
                </a:moveTo>
                <a:lnTo>
                  <a:pt x="8245348" y="0"/>
                </a:lnTo>
              </a:path>
            </a:pathLst>
          </a:custGeom>
          <a:ln w="12700">
            <a:solidFill>
              <a:srgbClr val="40458B"/>
            </a:solidFill>
          </a:ln>
        </p:spPr>
        <p:txBody>
          <a:bodyPr wrap="square" lIns="0" tIns="0" rIns="0" bIns="0" rtlCol="0"/>
          <a:lstStyle/>
          <a:p/>
        </p:txBody>
      </p:sp>
      <p:sp>
        <p:nvSpPr>
          <p:cNvPr id="13" name="object 13" descr=""/>
          <p:cNvSpPr/>
          <p:nvPr/>
        </p:nvSpPr>
        <p:spPr>
          <a:xfrm>
            <a:off x="2436876" y="5697321"/>
            <a:ext cx="8245475" cy="0"/>
          </a:xfrm>
          <a:custGeom>
            <a:avLst/>
            <a:gdLst/>
            <a:ahLst/>
            <a:cxnLst/>
            <a:rect l="l" t="t" r="r" b="b"/>
            <a:pathLst>
              <a:path w="8245475" h="0">
                <a:moveTo>
                  <a:pt x="0" y="0"/>
                </a:moveTo>
                <a:lnTo>
                  <a:pt x="8245348" y="0"/>
                </a:lnTo>
              </a:path>
            </a:pathLst>
          </a:custGeom>
          <a:ln w="12700">
            <a:solidFill>
              <a:srgbClr val="40458B"/>
            </a:solidFill>
          </a:ln>
        </p:spPr>
        <p:txBody>
          <a:bodyPr wrap="square" lIns="0" tIns="0" rIns="0" bIns="0" rtlCol="0"/>
          <a:lstStyle/>
          <a:p/>
        </p:txBody>
      </p:sp>
      <p:sp>
        <p:nvSpPr>
          <p:cNvPr id="14" name="object 14" descr=""/>
          <p:cNvSpPr/>
          <p:nvPr/>
        </p:nvSpPr>
        <p:spPr>
          <a:xfrm>
            <a:off x="2436876" y="6093536"/>
            <a:ext cx="8245475" cy="0"/>
          </a:xfrm>
          <a:custGeom>
            <a:avLst/>
            <a:gdLst/>
            <a:ahLst/>
            <a:cxnLst/>
            <a:rect l="l" t="t" r="r" b="b"/>
            <a:pathLst>
              <a:path w="8245475" h="0">
                <a:moveTo>
                  <a:pt x="0" y="0"/>
                </a:moveTo>
                <a:lnTo>
                  <a:pt x="8245348" y="0"/>
                </a:lnTo>
              </a:path>
            </a:pathLst>
          </a:custGeom>
          <a:ln w="12700">
            <a:solidFill>
              <a:srgbClr val="40458B"/>
            </a:solidFill>
          </a:ln>
        </p:spPr>
        <p:txBody>
          <a:bodyPr wrap="square" lIns="0" tIns="0" rIns="0" bIns="0" rtlCol="0"/>
          <a:lstStyle/>
          <a:p/>
        </p:txBody>
      </p:sp>
      <p:sp>
        <p:nvSpPr>
          <p:cNvPr id="15" name="object 15" descr=""/>
          <p:cNvSpPr txBox="1"/>
          <p:nvPr/>
        </p:nvSpPr>
        <p:spPr>
          <a:xfrm>
            <a:off x="3691128" y="3060067"/>
            <a:ext cx="5604510" cy="2182495"/>
          </a:xfrm>
          <a:prstGeom prst="rect">
            <a:avLst/>
          </a:prstGeom>
        </p:spPr>
        <p:txBody>
          <a:bodyPr wrap="square" lIns="0" tIns="635" rIns="0" bIns="0" rtlCol="0" vert="horz">
            <a:spAutoFit/>
          </a:bodyPr>
          <a:lstStyle/>
          <a:p>
            <a:pPr>
              <a:lnSpc>
                <a:spcPct val="100000"/>
              </a:lnSpc>
              <a:spcBef>
                <a:spcPts val="5"/>
              </a:spcBef>
              <a:tabLst>
                <a:tab pos="2259965" algn="l"/>
                <a:tab pos="5078095" algn="l"/>
              </a:tabLst>
            </a:pPr>
            <a:r>
              <a:rPr dirty="0" sz="2000" spc="-50">
                <a:solidFill>
                  <a:srgbClr val="40458B"/>
                </a:solidFill>
                <a:latin typeface="Tahoma"/>
                <a:cs typeface="Tahoma"/>
              </a:rPr>
              <a:t>4</a:t>
            </a:r>
            <a:r>
              <a:rPr dirty="0" sz="2000">
                <a:solidFill>
                  <a:srgbClr val="40458B"/>
                </a:solidFill>
                <a:latin typeface="Tahoma"/>
                <a:cs typeface="Tahoma"/>
              </a:rPr>
              <a:t>	</a:t>
            </a:r>
            <a:r>
              <a:rPr dirty="0" sz="2000" spc="-20">
                <a:solidFill>
                  <a:srgbClr val="40458B"/>
                </a:solidFill>
                <a:latin typeface="Tahoma"/>
                <a:cs typeface="Tahoma"/>
              </a:rPr>
              <a:t>store</a:t>
            </a:r>
            <a:r>
              <a:rPr dirty="0" sz="2000">
                <a:solidFill>
                  <a:srgbClr val="40458B"/>
                </a:solidFill>
                <a:latin typeface="Tahoma"/>
                <a:cs typeface="Tahoma"/>
              </a:rPr>
              <a:t>	</a:t>
            </a:r>
            <a:r>
              <a:rPr dirty="0" sz="2000" spc="-25">
                <a:solidFill>
                  <a:srgbClr val="40458B"/>
                </a:solidFill>
                <a:latin typeface="Tahoma"/>
                <a:cs typeface="Tahoma"/>
              </a:rPr>
              <a:t>12%</a:t>
            </a:r>
            <a:endParaRPr sz="2000">
              <a:latin typeface="Tahoma"/>
              <a:cs typeface="Tahoma"/>
            </a:endParaRPr>
          </a:p>
          <a:p>
            <a:pPr>
              <a:lnSpc>
                <a:spcPct val="100000"/>
              </a:lnSpc>
              <a:spcBef>
                <a:spcPts val="730"/>
              </a:spcBef>
              <a:tabLst>
                <a:tab pos="2412365" algn="l"/>
                <a:tab pos="5146675" algn="l"/>
              </a:tabLst>
            </a:pPr>
            <a:r>
              <a:rPr dirty="0" sz="2000" spc="-50">
                <a:solidFill>
                  <a:srgbClr val="40458B"/>
                </a:solidFill>
                <a:latin typeface="Tahoma"/>
                <a:cs typeface="Tahoma"/>
              </a:rPr>
              <a:t>5</a:t>
            </a:r>
            <a:r>
              <a:rPr dirty="0" sz="2000">
                <a:solidFill>
                  <a:srgbClr val="40458B"/>
                </a:solidFill>
                <a:latin typeface="Tahoma"/>
                <a:cs typeface="Tahoma"/>
              </a:rPr>
              <a:t>	</a:t>
            </a:r>
            <a:r>
              <a:rPr dirty="0" sz="2000" spc="-50">
                <a:solidFill>
                  <a:srgbClr val="40458B"/>
                </a:solidFill>
                <a:latin typeface="黑体"/>
                <a:cs typeface="黑体"/>
              </a:rPr>
              <a:t>加</a:t>
            </a:r>
            <a:r>
              <a:rPr dirty="0" sz="2000">
                <a:solidFill>
                  <a:srgbClr val="40458B"/>
                </a:solidFill>
                <a:latin typeface="黑体"/>
                <a:cs typeface="黑体"/>
              </a:rPr>
              <a:t>	</a:t>
            </a:r>
            <a:r>
              <a:rPr dirty="0" sz="2000" spc="-25">
                <a:solidFill>
                  <a:srgbClr val="40458B"/>
                </a:solidFill>
                <a:latin typeface="Tahoma"/>
                <a:cs typeface="Tahoma"/>
              </a:rPr>
              <a:t>8%</a:t>
            </a:r>
            <a:endParaRPr sz="2000">
              <a:latin typeface="Tahoma"/>
              <a:cs typeface="Tahoma"/>
            </a:endParaRPr>
          </a:p>
          <a:p>
            <a:pPr>
              <a:lnSpc>
                <a:spcPct val="100000"/>
              </a:lnSpc>
              <a:spcBef>
                <a:spcPts val="720"/>
              </a:spcBef>
              <a:tabLst>
                <a:tab pos="2412365" algn="l"/>
                <a:tab pos="5146675" algn="l"/>
              </a:tabLst>
            </a:pPr>
            <a:r>
              <a:rPr dirty="0" sz="2000" spc="-50">
                <a:solidFill>
                  <a:srgbClr val="40458B"/>
                </a:solidFill>
                <a:latin typeface="Tahoma"/>
                <a:cs typeface="Tahoma"/>
              </a:rPr>
              <a:t>6</a:t>
            </a:r>
            <a:r>
              <a:rPr dirty="0" sz="2000">
                <a:solidFill>
                  <a:srgbClr val="40458B"/>
                </a:solidFill>
                <a:latin typeface="Tahoma"/>
                <a:cs typeface="Tahoma"/>
              </a:rPr>
              <a:t>	</a:t>
            </a:r>
            <a:r>
              <a:rPr dirty="0" sz="2000" spc="-50">
                <a:solidFill>
                  <a:srgbClr val="40458B"/>
                </a:solidFill>
                <a:latin typeface="黑体"/>
                <a:cs typeface="黑体"/>
              </a:rPr>
              <a:t>与</a:t>
            </a:r>
            <a:r>
              <a:rPr dirty="0" sz="2000">
                <a:solidFill>
                  <a:srgbClr val="40458B"/>
                </a:solidFill>
                <a:latin typeface="黑体"/>
                <a:cs typeface="黑体"/>
              </a:rPr>
              <a:t>	</a:t>
            </a:r>
            <a:r>
              <a:rPr dirty="0" sz="2000" spc="-25">
                <a:solidFill>
                  <a:srgbClr val="40458B"/>
                </a:solidFill>
                <a:latin typeface="Tahoma"/>
                <a:cs typeface="Tahoma"/>
              </a:rPr>
              <a:t>6%</a:t>
            </a:r>
            <a:endParaRPr sz="2000">
              <a:latin typeface="Tahoma"/>
              <a:cs typeface="Tahoma"/>
            </a:endParaRPr>
          </a:p>
          <a:p>
            <a:pPr>
              <a:lnSpc>
                <a:spcPct val="100000"/>
              </a:lnSpc>
              <a:spcBef>
                <a:spcPts val="720"/>
              </a:spcBef>
              <a:tabLst>
                <a:tab pos="2412365" algn="l"/>
                <a:tab pos="5146675" algn="l"/>
              </a:tabLst>
            </a:pPr>
            <a:r>
              <a:rPr dirty="0" sz="2000" spc="-50">
                <a:solidFill>
                  <a:srgbClr val="40458B"/>
                </a:solidFill>
                <a:latin typeface="Tahoma"/>
                <a:cs typeface="Tahoma"/>
              </a:rPr>
              <a:t>7</a:t>
            </a:r>
            <a:r>
              <a:rPr dirty="0" sz="2000">
                <a:solidFill>
                  <a:srgbClr val="40458B"/>
                </a:solidFill>
                <a:latin typeface="Tahoma"/>
                <a:cs typeface="Tahoma"/>
              </a:rPr>
              <a:t>	</a:t>
            </a:r>
            <a:r>
              <a:rPr dirty="0" sz="2000" spc="-50">
                <a:solidFill>
                  <a:srgbClr val="40458B"/>
                </a:solidFill>
                <a:latin typeface="黑体"/>
                <a:cs typeface="黑体"/>
              </a:rPr>
              <a:t>减</a:t>
            </a:r>
            <a:r>
              <a:rPr dirty="0" sz="2000">
                <a:solidFill>
                  <a:srgbClr val="40458B"/>
                </a:solidFill>
                <a:latin typeface="黑体"/>
                <a:cs typeface="黑体"/>
              </a:rPr>
              <a:t>	</a:t>
            </a:r>
            <a:r>
              <a:rPr dirty="0" sz="2000" spc="-25">
                <a:solidFill>
                  <a:srgbClr val="40458B"/>
                </a:solidFill>
                <a:latin typeface="Tahoma"/>
                <a:cs typeface="Tahoma"/>
              </a:rPr>
              <a:t>5%</a:t>
            </a:r>
            <a:endParaRPr sz="2000">
              <a:latin typeface="Tahoma"/>
              <a:cs typeface="Tahoma"/>
            </a:endParaRPr>
          </a:p>
          <a:p>
            <a:pPr>
              <a:lnSpc>
                <a:spcPts val="2370"/>
              </a:lnSpc>
              <a:spcBef>
                <a:spcPts val="780"/>
              </a:spcBef>
              <a:tabLst>
                <a:tab pos="1525270" algn="l"/>
                <a:tab pos="5146675" algn="l"/>
              </a:tabLst>
            </a:pPr>
            <a:r>
              <a:rPr dirty="0" baseline="-19444" sz="3000" spc="-75">
                <a:solidFill>
                  <a:srgbClr val="40458B"/>
                </a:solidFill>
                <a:latin typeface="Tahoma"/>
                <a:cs typeface="Tahoma"/>
              </a:rPr>
              <a:t>8</a:t>
            </a:r>
            <a:r>
              <a:rPr dirty="0" baseline="-19444" sz="3000">
                <a:solidFill>
                  <a:srgbClr val="40458B"/>
                </a:solidFill>
                <a:latin typeface="Tahoma"/>
                <a:cs typeface="Tahoma"/>
              </a:rPr>
              <a:t>	</a:t>
            </a:r>
            <a:r>
              <a:rPr dirty="0" sz="2000">
                <a:solidFill>
                  <a:srgbClr val="40458B"/>
                </a:solidFill>
                <a:latin typeface="黑体"/>
                <a:cs typeface="黑体"/>
              </a:rPr>
              <a:t>寄存器</a:t>
            </a:r>
            <a:r>
              <a:rPr dirty="0" sz="2000" spc="-15">
                <a:solidFill>
                  <a:srgbClr val="40458B"/>
                </a:solidFill>
                <a:latin typeface="黑体"/>
                <a:cs typeface="黑体"/>
              </a:rPr>
              <a:t>－</a:t>
            </a:r>
            <a:r>
              <a:rPr dirty="0" sz="2000">
                <a:solidFill>
                  <a:srgbClr val="40458B"/>
                </a:solidFill>
                <a:latin typeface="黑体"/>
                <a:cs typeface="黑体"/>
              </a:rPr>
              <a:t>寄</a:t>
            </a:r>
            <a:r>
              <a:rPr dirty="0" sz="2000" spc="-15">
                <a:solidFill>
                  <a:srgbClr val="40458B"/>
                </a:solidFill>
                <a:latin typeface="黑体"/>
                <a:cs typeface="黑体"/>
              </a:rPr>
              <a:t>存</a:t>
            </a:r>
            <a:r>
              <a:rPr dirty="0" sz="2000">
                <a:solidFill>
                  <a:srgbClr val="40458B"/>
                </a:solidFill>
                <a:latin typeface="黑体"/>
                <a:cs typeface="黑体"/>
              </a:rPr>
              <a:t>器</a:t>
            </a:r>
            <a:r>
              <a:rPr dirty="0" sz="2000" spc="-50">
                <a:solidFill>
                  <a:srgbClr val="40458B"/>
                </a:solidFill>
                <a:latin typeface="黑体"/>
                <a:cs typeface="黑体"/>
              </a:rPr>
              <a:t>间</a:t>
            </a:r>
            <a:r>
              <a:rPr dirty="0" sz="2000">
                <a:solidFill>
                  <a:srgbClr val="40458B"/>
                </a:solidFill>
                <a:latin typeface="黑体"/>
                <a:cs typeface="黑体"/>
              </a:rPr>
              <a:t>	</a:t>
            </a:r>
            <a:r>
              <a:rPr dirty="0" baseline="-19444" sz="3000" spc="-37">
                <a:solidFill>
                  <a:srgbClr val="40458B"/>
                </a:solidFill>
                <a:latin typeface="Tahoma"/>
                <a:cs typeface="Tahoma"/>
              </a:rPr>
              <a:t>4%</a:t>
            </a:r>
            <a:endParaRPr baseline="-19444" sz="3000">
              <a:latin typeface="Tahoma"/>
              <a:cs typeface="Tahoma"/>
            </a:endParaRPr>
          </a:p>
          <a:p>
            <a:pPr algn="ctr" marR="515620">
              <a:lnSpc>
                <a:spcPts val="2250"/>
              </a:lnSpc>
            </a:pPr>
            <a:r>
              <a:rPr dirty="0" sz="2000" spc="-15">
                <a:solidFill>
                  <a:srgbClr val="40458B"/>
                </a:solidFill>
                <a:latin typeface="黑体"/>
                <a:cs typeface="黑体"/>
              </a:rPr>
              <a:t>数据移动</a:t>
            </a:r>
            <a:endParaRPr sz="2000">
              <a:latin typeface="黑体"/>
              <a:cs typeface="黑体"/>
            </a:endParaRPr>
          </a:p>
        </p:txBody>
      </p:sp>
      <p:grpSp>
        <p:nvGrpSpPr>
          <p:cNvPr id="16" name="object 16" descr=""/>
          <p:cNvGrpSpPr/>
          <p:nvPr/>
        </p:nvGrpSpPr>
        <p:grpSpPr>
          <a:xfrm>
            <a:off x="5443537" y="1624012"/>
            <a:ext cx="3897629" cy="5142230"/>
            <a:chOff x="5443537" y="1624012"/>
            <a:chExt cx="3897629" cy="5142230"/>
          </a:xfrm>
        </p:grpSpPr>
        <p:pic>
          <p:nvPicPr>
            <p:cNvPr id="17" name="object 17" descr=""/>
            <p:cNvPicPr/>
            <p:nvPr/>
          </p:nvPicPr>
          <p:blipFill>
            <a:blip r:embed="rId2" cstate="print"/>
            <a:stretch>
              <a:fillRect/>
            </a:stretch>
          </p:blipFill>
          <p:spPr>
            <a:xfrm>
              <a:off x="6257036" y="5805093"/>
              <a:ext cx="200025" cy="209550"/>
            </a:xfrm>
            <a:prstGeom prst="rect">
              <a:avLst/>
            </a:prstGeom>
          </p:spPr>
        </p:pic>
        <p:sp>
          <p:nvSpPr>
            <p:cNvPr id="18" name="object 18" descr=""/>
            <p:cNvSpPr/>
            <p:nvPr/>
          </p:nvSpPr>
          <p:spPr>
            <a:xfrm>
              <a:off x="5448300" y="1628775"/>
              <a:ext cx="3888104" cy="5132705"/>
            </a:xfrm>
            <a:custGeom>
              <a:avLst/>
              <a:gdLst/>
              <a:ahLst/>
              <a:cxnLst/>
              <a:rect l="l" t="t" r="r" b="b"/>
              <a:pathLst>
                <a:path w="3888104" h="5132705">
                  <a:moveTo>
                    <a:pt x="0" y="2556637"/>
                  </a:moveTo>
                  <a:lnTo>
                    <a:pt x="325" y="2488527"/>
                  </a:lnTo>
                  <a:lnTo>
                    <a:pt x="1297" y="2420857"/>
                  </a:lnTo>
                  <a:lnTo>
                    <a:pt x="2906" y="2353648"/>
                  </a:lnTo>
                  <a:lnTo>
                    <a:pt x="5145" y="2286923"/>
                  </a:lnTo>
                  <a:lnTo>
                    <a:pt x="8006" y="2220703"/>
                  </a:lnTo>
                  <a:lnTo>
                    <a:pt x="11480" y="2155011"/>
                  </a:lnTo>
                  <a:lnTo>
                    <a:pt x="15560" y="2089869"/>
                  </a:lnTo>
                  <a:lnTo>
                    <a:pt x="20237" y="2025299"/>
                  </a:lnTo>
                  <a:lnTo>
                    <a:pt x="25503" y="1961323"/>
                  </a:lnTo>
                  <a:lnTo>
                    <a:pt x="31351" y="1897962"/>
                  </a:lnTo>
                  <a:lnTo>
                    <a:pt x="37771" y="1835240"/>
                  </a:lnTo>
                  <a:lnTo>
                    <a:pt x="44757" y="1773179"/>
                  </a:lnTo>
                  <a:lnTo>
                    <a:pt x="52300" y="1711799"/>
                  </a:lnTo>
                  <a:lnTo>
                    <a:pt x="60391" y="1651124"/>
                  </a:lnTo>
                  <a:lnTo>
                    <a:pt x="69024" y="1591175"/>
                  </a:lnTo>
                  <a:lnTo>
                    <a:pt x="78189" y="1531975"/>
                  </a:lnTo>
                  <a:lnTo>
                    <a:pt x="87879" y="1473546"/>
                  </a:lnTo>
                  <a:lnTo>
                    <a:pt x="98085" y="1415909"/>
                  </a:lnTo>
                  <a:lnTo>
                    <a:pt x="108800" y="1359088"/>
                  </a:lnTo>
                  <a:lnTo>
                    <a:pt x="120015" y="1303103"/>
                  </a:lnTo>
                  <a:lnTo>
                    <a:pt x="131723" y="1247977"/>
                  </a:lnTo>
                  <a:lnTo>
                    <a:pt x="143915" y="1193732"/>
                  </a:lnTo>
                  <a:lnTo>
                    <a:pt x="156583" y="1140391"/>
                  </a:lnTo>
                  <a:lnTo>
                    <a:pt x="169719" y="1087974"/>
                  </a:lnTo>
                  <a:lnTo>
                    <a:pt x="183315" y="1036505"/>
                  </a:lnTo>
                  <a:lnTo>
                    <a:pt x="197362" y="986006"/>
                  </a:lnTo>
                  <a:lnTo>
                    <a:pt x="211854" y="936498"/>
                  </a:lnTo>
                  <a:lnTo>
                    <a:pt x="226781" y="888004"/>
                  </a:lnTo>
                  <a:lnTo>
                    <a:pt x="242137" y="840545"/>
                  </a:lnTo>
                  <a:lnTo>
                    <a:pt x="257911" y="794144"/>
                  </a:lnTo>
                  <a:lnTo>
                    <a:pt x="274097" y="748823"/>
                  </a:lnTo>
                  <a:lnTo>
                    <a:pt x="290687" y="704604"/>
                  </a:lnTo>
                  <a:lnTo>
                    <a:pt x="307672" y="661509"/>
                  </a:lnTo>
                  <a:lnTo>
                    <a:pt x="325044" y="619561"/>
                  </a:lnTo>
                  <a:lnTo>
                    <a:pt x="342795" y="578780"/>
                  </a:lnTo>
                  <a:lnTo>
                    <a:pt x="360917" y="539190"/>
                  </a:lnTo>
                  <a:lnTo>
                    <a:pt x="379402" y="500812"/>
                  </a:lnTo>
                  <a:lnTo>
                    <a:pt x="398243" y="463669"/>
                  </a:lnTo>
                  <a:lnTo>
                    <a:pt x="417429" y="427782"/>
                  </a:lnTo>
                  <a:lnTo>
                    <a:pt x="436955" y="393174"/>
                  </a:lnTo>
                  <a:lnTo>
                    <a:pt x="456812" y="359866"/>
                  </a:lnTo>
                  <a:lnTo>
                    <a:pt x="497484" y="297242"/>
                  </a:lnTo>
                  <a:lnTo>
                    <a:pt x="539382" y="240086"/>
                  </a:lnTo>
                  <a:lnTo>
                    <a:pt x="582441" y="188575"/>
                  </a:lnTo>
                  <a:lnTo>
                    <a:pt x="626596" y="142885"/>
                  </a:lnTo>
                  <a:lnTo>
                    <a:pt x="671783" y="103193"/>
                  </a:lnTo>
                  <a:lnTo>
                    <a:pt x="717937" y="69676"/>
                  </a:lnTo>
                  <a:lnTo>
                    <a:pt x="764993" y="42510"/>
                  </a:lnTo>
                  <a:lnTo>
                    <a:pt x="812887" y="21873"/>
                  </a:lnTo>
                  <a:lnTo>
                    <a:pt x="861554" y="7940"/>
                  </a:lnTo>
                  <a:lnTo>
                    <a:pt x="910929" y="889"/>
                  </a:lnTo>
                  <a:lnTo>
                    <a:pt x="935863" y="0"/>
                  </a:lnTo>
                  <a:lnTo>
                    <a:pt x="960790" y="889"/>
                  </a:lnTo>
                  <a:lnTo>
                    <a:pt x="1010154" y="7940"/>
                  </a:lnTo>
                  <a:lnTo>
                    <a:pt x="1058812" y="21873"/>
                  </a:lnTo>
                  <a:lnTo>
                    <a:pt x="1106698" y="42510"/>
                  </a:lnTo>
                  <a:lnTo>
                    <a:pt x="1153747" y="69676"/>
                  </a:lnTo>
                  <a:lnTo>
                    <a:pt x="1199896" y="103193"/>
                  </a:lnTo>
                  <a:lnTo>
                    <a:pt x="1245079" y="142885"/>
                  </a:lnTo>
                  <a:lnTo>
                    <a:pt x="1289231" y="188575"/>
                  </a:lnTo>
                  <a:lnTo>
                    <a:pt x="1332288" y="240086"/>
                  </a:lnTo>
                  <a:lnTo>
                    <a:pt x="1374185" y="297242"/>
                  </a:lnTo>
                  <a:lnTo>
                    <a:pt x="1414857" y="359866"/>
                  </a:lnTo>
                  <a:lnTo>
                    <a:pt x="1434714" y="393174"/>
                  </a:lnTo>
                  <a:lnTo>
                    <a:pt x="1454240" y="427782"/>
                  </a:lnTo>
                  <a:lnTo>
                    <a:pt x="1473427" y="463669"/>
                  </a:lnTo>
                  <a:lnTo>
                    <a:pt x="1492268" y="500812"/>
                  </a:lnTo>
                  <a:lnTo>
                    <a:pt x="1510754" y="539190"/>
                  </a:lnTo>
                  <a:lnTo>
                    <a:pt x="1528877" y="578780"/>
                  </a:lnTo>
                  <a:lnTo>
                    <a:pt x="1546630" y="619561"/>
                  </a:lnTo>
                  <a:lnTo>
                    <a:pt x="1564003" y="661509"/>
                  </a:lnTo>
                  <a:lnTo>
                    <a:pt x="1580989" y="704604"/>
                  </a:lnTo>
                  <a:lnTo>
                    <a:pt x="1597580" y="748823"/>
                  </a:lnTo>
                  <a:lnTo>
                    <a:pt x="1613768" y="794144"/>
                  </a:lnTo>
                  <a:lnTo>
                    <a:pt x="1629544" y="840545"/>
                  </a:lnTo>
                  <a:lnTo>
                    <a:pt x="1644901" y="888004"/>
                  </a:lnTo>
                  <a:lnTo>
                    <a:pt x="1659830" y="936498"/>
                  </a:lnTo>
                  <a:lnTo>
                    <a:pt x="1674324" y="986006"/>
                  </a:lnTo>
                  <a:lnTo>
                    <a:pt x="1688373" y="1036505"/>
                  </a:lnTo>
                  <a:lnTo>
                    <a:pt x="1701971" y="1087974"/>
                  </a:lnTo>
                  <a:lnTo>
                    <a:pt x="1715109" y="1140391"/>
                  </a:lnTo>
                  <a:lnTo>
                    <a:pt x="1727779" y="1193732"/>
                  </a:lnTo>
                  <a:lnTo>
                    <a:pt x="1739973" y="1247977"/>
                  </a:lnTo>
                  <a:lnTo>
                    <a:pt x="1751683" y="1303103"/>
                  </a:lnTo>
                  <a:lnTo>
                    <a:pt x="1762900" y="1359088"/>
                  </a:lnTo>
                  <a:lnTo>
                    <a:pt x="1773617" y="1415909"/>
                  </a:lnTo>
                  <a:lnTo>
                    <a:pt x="1783825" y="1473546"/>
                  </a:lnTo>
                  <a:lnTo>
                    <a:pt x="1793517" y="1531975"/>
                  </a:lnTo>
                  <a:lnTo>
                    <a:pt x="1802684" y="1591175"/>
                  </a:lnTo>
                  <a:lnTo>
                    <a:pt x="1811318" y="1651124"/>
                  </a:lnTo>
                  <a:lnTo>
                    <a:pt x="1819412" y="1711799"/>
                  </a:lnTo>
                  <a:lnTo>
                    <a:pt x="1826956" y="1773179"/>
                  </a:lnTo>
                  <a:lnTo>
                    <a:pt x="1833944" y="1835240"/>
                  </a:lnTo>
                  <a:lnTo>
                    <a:pt x="1840366" y="1897962"/>
                  </a:lnTo>
                  <a:lnTo>
                    <a:pt x="1846215" y="1961323"/>
                  </a:lnTo>
                  <a:lnTo>
                    <a:pt x="1851483" y="2025299"/>
                  </a:lnTo>
                  <a:lnTo>
                    <a:pt x="1856161" y="2089869"/>
                  </a:lnTo>
                  <a:lnTo>
                    <a:pt x="1860242" y="2155011"/>
                  </a:lnTo>
                  <a:lnTo>
                    <a:pt x="1863717" y="2220703"/>
                  </a:lnTo>
                  <a:lnTo>
                    <a:pt x="1866579" y="2286923"/>
                  </a:lnTo>
                  <a:lnTo>
                    <a:pt x="1868818" y="2353648"/>
                  </a:lnTo>
                  <a:lnTo>
                    <a:pt x="1870428" y="2420857"/>
                  </a:lnTo>
                  <a:lnTo>
                    <a:pt x="1871400" y="2488527"/>
                  </a:lnTo>
                  <a:lnTo>
                    <a:pt x="1871726" y="2556637"/>
                  </a:lnTo>
                  <a:lnTo>
                    <a:pt x="1871400" y="2624749"/>
                  </a:lnTo>
                  <a:lnTo>
                    <a:pt x="1870428" y="2692421"/>
                  </a:lnTo>
                  <a:lnTo>
                    <a:pt x="1868818" y="2759632"/>
                  </a:lnTo>
                  <a:lnTo>
                    <a:pt x="1866579" y="2826360"/>
                  </a:lnTo>
                  <a:lnTo>
                    <a:pt x="1863717" y="2892581"/>
                  </a:lnTo>
                  <a:lnTo>
                    <a:pt x="1860242" y="2958276"/>
                  </a:lnTo>
                  <a:lnTo>
                    <a:pt x="1856161" y="3023420"/>
                  </a:lnTo>
                  <a:lnTo>
                    <a:pt x="1851483" y="3087992"/>
                  </a:lnTo>
                  <a:lnTo>
                    <a:pt x="1846215" y="3151970"/>
                  </a:lnTo>
                  <a:lnTo>
                    <a:pt x="1840366" y="3215332"/>
                  </a:lnTo>
                  <a:lnTo>
                    <a:pt x="1833944" y="3278056"/>
                  </a:lnTo>
                  <a:lnTo>
                    <a:pt x="1826956" y="3340120"/>
                  </a:lnTo>
                  <a:lnTo>
                    <a:pt x="1819412" y="3401501"/>
                  </a:lnTo>
                  <a:lnTo>
                    <a:pt x="1811318" y="3462178"/>
                  </a:lnTo>
                  <a:lnTo>
                    <a:pt x="1802684" y="3522128"/>
                  </a:lnTo>
                  <a:lnTo>
                    <a:pt x="1793517" y="3581330"/>
                  </a:lnTo>
                  <a:lnTo>
                    <a:pt x="1783825" y="3639761"/>
                  </a:lnTo>
                  <a:lnTo>
                    <a:pt x="1773617" y="3697399"/>
                  </a:lnTo>
                  <a:lnTo>
                    <a:pt x="1762900" y="3754222"/>
                  </a:lnTo>
                  <a:lnTo>
                    <a:pt x="1751683" y="3810208"/>
                  </a:lnTo>
                  <a:lnTo>
                    <a:pt x="1739973" y="3865336"/>
                  </a:lnTo>
                  <a:lnTo>
                    <a:pt x="1727779" y="3919582"/>
                  </a:lnTo>
                  <a:lnTo>
                    <a:pt x="1715109" y="3972925"/>
                  </a:lnTo>
                  <a:lnTo>
                    <a:pt x="1701971" y="4025342"/>
                  </a:lnTo>
                  <a:lnTo>
                    <a:pt x="1688373" y="4076812"/>
                  </a:lnTo>
                  <a:lnTo>
                    <a:pt x="1674324" y="4127313"/>
                  </a:lnTo>
                  <a:lnTo>
                    <a:pt x="1659830" y="4176822"/>
                  </a:lnTo>
                  <a:lnTo>
                    <a:pt x="1644901" y="4225317"/>
                  </a:lnTo>
                  <a:lnTo>
                    <a:pt x="1629544" y="4272777"/>
                  </a:lnTo>
                  <a:lnTo>
                    <a:pt x="1613768" y="4319179"/>
                  </a:lnTo>
                  <a:lnTo>
                    <a:pt x="1597580" y="4364501"/>
                  </a:lnTo>
                  <a:lnTo>
                    <a:pt x="1580989" y="4408720"/>
                  </a:lnTo>
                  <a:lnTo>
                    <a:pt x="1564003" y="4451816"/>
                  </a:lnTo>
                  <a:lnTo>
                    <a:pt x="1546630" y="4493766"/>
                  </a:lnTo>
                  <a:lnTo>
                    <a:pt x="1528877" y="4534547"/>
                  </a:lnTo>
                  <a:lnTo>
                    <a:pt x="1510754" y="4574138"/>
                  </a:lnTo>
                  <a:lnTo>
                    <a:pt x="1492268" y="4612517"/>
                  </a:lnTo>
                  <a:lnTo>
                    <a:pt x="1473427" y="4649661"/>
                  </a:lnTo>
                  <a:lnTo>
                    <a:pt x="1454240" y="4685548"/>
                  </a:lnTo>
                  <a:lnTo>
                    <a:pt x="1434714" y="4720157"/>
                  </a:lnTo>
                  <a:lnTo>
                    <a:pt x="1414857" y="4753465"/>
                  </a:lnTo>
                  <a:lnTo>
                    <a:pt x="1374185" y="4816090"/>
                  </a:lnTo>
                  <a:lnTo>
                    <a:pt x="1332288" y="4873247"/>
                  </a:lnTo>
                  <a:lnTo>
                    <a:pt x="1289231" y="4924759"/>
                  </a:lnTo>
                  <a:lnTo>
                    <a:pt x="1245079" y="4970450"/>
                  </a:lnTo>
                  <a:lnTo>
                    <a:pt x="1199896" y="5010143"/>
                  </a:lnTo>
                  <a:lnTo>
                    <a:pt x="1153747" y="5043660"/>
                  </a:lnTo>
                  <a:lnTo>
                    <a:pt x="1106698" y="5070826"/>
                  </a:lnTo>
                  <a:lnTo>
                    <a:pt x="1058812" y="5091464"/>
                  </a:lnTo>
                  <a:lnTo>
                    <a:pt x="1010154" y="5105396"/>
                  </a:lnTo>
                  <a:lnTo>
                    <a:pt x="960790" y="5112447"/>
                  </a:lnTo>
                  <a:lnTo>
                    <a:pt x="935863" y="5113337"/>
                  </a:lnTo>
                  <a:lnTo>
                    <a:pt x="910929" y="5112447"/>
                  </a:lnTo>
                  <a:lnTo>
                    <a:pt x="861554" y="5105396"/>
                  </a:lnTo>
                  <a:lnTo>
                    <a:pt x="812887" y="5091464"/>
                  </a:lnTo>
                  <a:lnTo>
                    <a:pt x="764993" y="5070826"/>
                  </a:lnTo>
                  <a:lnTo>
                    <a:pt x="717937" y="5043660"/>
                  </a:lnTo>
                  <a:lnTo>
                    <a:pt x="671783" y="5010143"/>
                  </a:lnTo>
                  <a:lnTo>
                    <a:pt x="626596" y="4970450"/>
                  </a:lnTo>
                  <a:lnTo>
                    <a:pt x="582441" y="4924759"/>
                  </a:lnTo>
                  <a:lnTo>
                    <a:pt x="539382" y="4873247"/>
                  </a:lnTo>
                  <a:lnTo>
                    <a:pt x="497484" y="4816090"/>
                  </a:lnTo>
                  <a:lnTo>
                    <a:pt x="456812" y="4753465"/>
                  </a:lnTo>
                  <a:lnTo>
                    <a:pt x="436955" y="4720157"/>
                  </a:lnTo>
                  <a:lnTo>
                    <a:pt x="417429" y="4685548"/>
                  </a:lnTo>
                  <a:lnTo>
                    <a:pt x="398243" y="4649661"/>
                  </a:lnTo>
                  <a:lnTo>
                    <a:pt x="379402" y="4612517"/>
                  </a:lnTo>
                  <a:lnTo>
                    <a:pt x="360917" y="4574138"/>
                  </a:lnTo>
                  <a:lnTo>
                    <a:pt x="342795" y="4534547"/>
                  </a:lnTo>
                  <a:lnTo>
                    <a:pt x="325044" y="4493766"/>
                  </a:lnTo>
                  <a:lnTo>
                    <a:pt x="307672" y="4451816"/>
                  </a:lnTo>
                  <a:lnTo>
                    <a:pt x="290687" y="4408720"/>
                  </a:lnTo>
                  <a:lnTo>
                    <a:pt x="274097" y="4364501"/>
                  </a:lnTo>
                  <a:lnTo>
                    <a:pt x="257911" y="4319179"/>
                  </a:lnTo>
                  <a:lnTo>
                    <a:pt x="242137" y="4272777"/>
                  </a:lnTo>
                  <a:lnTo>
                    <a:pt x="226781" y="4225317"/>
                  </a:lnTo>
                  <a:lnTo>
                    <a:pt x="211854" y="4176822"/>
                  </a:lnTo>
                  <a:lnTo>
                    <a:pt x="197362" y="4127313"/>
                  </a:lnTo>
                  <a:lnTo>
                    <a:pt x="183315" y="4076812"/>
                  </a:lnTo>
                  <a:lnTo>
                    <a:pt x="169719" y="4025342"/>
                  </a:lnTo>
                  <a:lnTo>
                    <a:pt x="156583" y="3972925"/>
                  </a:lnTo>
                  <a:lnTo>
                    <a:pt x="143915" y="3919582"/>
                  </a:lnTo>
                  <a:lnTo>
                    <a:pt x="131723" y="3865336"/>
                  </a:lnTo>
                  <a:lnTo>
                    <a:pt x="120015" y="3810208"/>
                  </a:lnTo>
                  <a:lnTo>
                    <a:pt x="108800" y="3754222"/>
                  </a:lnTo>
                  <a:lnTo>
                    <a:pt x="98085" y="3697399"/>
                  </a:lnTo>
                  <a:lnTo>
                    <a:pt x="87879" y="3639761"/>
                  </a:lnTo>
                  <a:lnTo>
                    <a:pt x="78189" y="3581330"/>
                  </a:lnTo>
                  <a:lnTo>
                    <a:pt x="69024" y="3522128"/>
                  </a:lnTo>
                  <a:lnTo>
                    <a:pt x="60391" y="3462178"/>
                  </a:lnTo>
                  <a:lnTo>
                    <a:pt x="52300" y="3401501"/>
                  </a:lnTo>
                  <a:lnTo>
                    <a:pt x="44757" y="3340120"/>
                  </a:lnTo>
                  <a:lnTo>
                    <a:pt x="37771" y="3278056"/>
                  </a:lnTo>
                  <a:lnTo>
                    <a:pt x="31351" y="3215332"/>
                  </a:lnTo>
                  <a:lnTo>
                    <a:pt x="25503" y="3151970"/>
                  </a:lnTo>
                  <a:lnTo>
                    <a:pt x="20237" y="3087992"/>
                  </a:lnTo>
                  <a:lnTo>
                    <a:pt x="15560" y="3023420"/>
                  </a:lnTo>
                  <a:lnTo>
                    <a:pt x="11480" y="2958276"/>
                  </a:lnTo>
                  <a:lnTo>
                    <a:pt x="8006" y="2892581"/>
                  </a:lnTo>
                  <a:lnTo>
                    <a:pt x="5145" y="2826360"/>
                  </a:lnTo>
                  <a:lnTo>
                    <a:pt x="2906" y="2759632"/>
                  </a:lnTo>
                  <a:lnTo>
                    <a:pt x="1297" y="2692421"/>
                  </a:lnTo>
                  <a:lnTo>
                    <a:pt x="325" y="2624749"/>
                  </a:lnTo>
                  <a:lnTo>
                    <a:pt x="0" y="2556637"/>
                  </a:lnTo>
                  <a:close/>
                </a:path>
                <a:path w="3888104" h="5132705">
                  <a:moveTo>
                    <a:pt x="3095625" y="4786312"/>
                  </a:moveTo>
                  <a:lnTo>
                    <a:pt x="3098710" y="4742900"/>
                  </a:lnTo>
                  <a:lnTo>
                    <a:pt x="3107719" y="4701098"/>
                  </a:lnTo>
                  <a:lnTo>
                    <a:pt x="3122281" y="4661230"/>
                  </a:lnTo>
                  <a:lnTo>
                    <a:pt x="3142025" y="4623619"/>
                  </a:lnTo>
                  <a:lnTo>
                    <a:pt x="3166580" y="4588591"/>
                  </a:lnTo>
                  <a:lnTo>
                    <a:pt x="3195576" y="4556469"/>
                  </a:lnTo>
                  <a:lnTo>
                    <a:pt x="3228641" y="4527577"/>
                  </a:lnTo>
                  <a:lnTo>
                    <a:pt x="3265406" y="4502241"/>
                  </a:lnTo>
                  <a:lnTo>
                    <a:pt x="3305499" y="4480785"/>
                  </a:lnTo>
                  <a:lnTo>
                    <a:pt x="3348549" y="4463531"/>
                  </a:lnTo>
                  <a:lnTo>
                    <a:pt x="3394186" y="4450806"/>
                  </a:lnTo>
                  <a:lnTo>
                    <a:pt x="3442039" y="4442933"/>
                  </a:lnTo>
                  <a:lnTo>
                    <a:pt x="3491738" y="4440237"/>
                  </a:lnTo>
                  <a:lnTo>
                    <a:pt x="3541411" y="4442933"/>
                  </a:lnTo>
                  <a:lnTo>
                    <a:pt x="3589247" y="4450806"/>
                  </a:lnTo>
                  <a:lnTo>
                    <a:pt x="3634874" y="4463531"/>
                  </a:lnTo>
                  <a:lnTo>
                    <a:pt x="3677920" y="4480785"/>
                  </a:lnTo>
                  <a:lnTo>
                    <a:pt x="3718013" y="4502241"/>
                  </a:lnTo>
                  <a:lnTo>
                    <a:pt x="3754783" y="4527577"/>
                  </a:lnTo>
                  <a:lnTo>
                    <a:pt x="3787855" y="4556469"/>
                  </a:lnTo>
                  <a:lnTo>
                    <a:pt x="3816860" y="4588591"/>
                  </a:lnTo>
                  <a:lnTo>
                    <a:pt x="3841425" y="4623619"/>
                  </a:lnTo>
                  <a:lnTo>
                    <a:pt x="3861179" y="4661230"/>
                  </a:lnTo>
                  <a:lnTo>
                    <a:pt x="3875748" y="4701098"/>
                  </a:lnTo>
                  <a:lnTo>
                    <a:pt x="3884763" y="4742900"/>
                  </a:lnTo>
                  <a:lnTo>
                    <a:pt x="3887851" y="4786312"/>
                  </a:lnTo>
                  <a:lnTo>
                    <a:pt x="3884763" y="4829724"/>
                  </a:lnTo>
                  <a:lnTo>
                    <a:pt x="3875748" y="4871526"/>
                  </a:lnTo>
                  <a:lnTo>
                    <a:pt x="3861179" y="4911394"/>
                  </a:lnTo>
                  <a:lnTo>
                    <a:pt x="3841425" y="4949005"/>
                  </a:lnTo>
                  <a:lnTo>
                    <a:pt x="3816860" y="4984033"/>
                  </a:lnTo>
                  <a:lnTo>
                    <a:pt x="3787855" y="5016155"/>
                  </a:lnTo>
                  <a:lnTo>
                    <a:pt x="3754783" y="5045047"/>
                  </a:lnTo>
                  <a:lnTo>
                    <a:pt x="3718013" y="5070383"/>
                  </a:lnTo>
                  <a:lnTo>
                    <a:pt x="3677920" y="5091839"/>
                  </a:lnTo>
                  <a:lnTo>
                    <a:pt x="3634874" y="5109093"/>
                  </a:lnTo>
                  <a:lnTo>
                    <a:pt x="3589247" y="5121818"/>
                  </a:lnTo>
                  <a:lnTo>
                    <a:pt x="3541411" y="5129691"/>
                  </a:lnTo>
                  <a:lnTo>
                    <a:pt x="3491738" y="5132387"/>
                  </a:lnTo>
                  <a:lnTo>
                    <a:pt x="3442039" y="5129691"/>
                  </a:lnTo>
                  <a:lnTo>
                    <a:pt x="3394186" y="5121818"/>
                  </a:lnTo>
                  <a:lnTo>
                    <a:pt x="3348549" y="5109093"/>
                  </a:lnTo>
                  <a:lnTo>
                    <a:pt x="3305499" y="5091839"/>
                  </a:lnTo>
                  <a:lnTo>
                    <a:pt x="3265406" y="5070383"/>
                  </a:lnTo>
                  <a:lnTo>
                    <a:pt x="3228641" y="5045047"/>
                  </a:lnTo>
                  <a:lnTo>
                    <a:pt x="3195576" y="5016155"/>
                  </a:lnTo>
                  <a:lnTo>
                    <a:pt x="3166580" y="4984033"/>
                  </a:lnTo>
                  <a:lnTo>
                    <a:pt x="3142025" y="4949005"/>
                  </a:lnTo>
                  <a:lnTo>
                    <a:pt x="3122281" y="4911394"/>
                  </a:lnTo>
                  <a:lnTo>
                    <a:pt x="3107719" y="4871526"/>
                  </a:lnTo>
                  <a:lnTo>
                    <a:pt x="3098710" y="4829724"/>
                  </a:lnTo>
                  <a:lnTo>
                    <a:pt x="3095625" y="4786312"/>
                  </a:lnTo>
                  <a:close/>
                </a:path>
              </a:pathLst>
            </a:custGeom>
            <a:ln w="9525">
              <a:solidFill>
                <a:srgbClr val="FF0000"/>
              </a:solidFill>
            </a:ln>
          </p:spPr>
          <p:txBody>
            <a:bodyPr wrap="square" lIns="0" tIns="0" rIns="0" bIns="0" rtlCol="0"/>
            <a:lstStyle/>
            <a:p/>
          </p:txBody>
        </p:sp>
      </p:grpSp>
      <p:sp>
        <p:nvSpPr>
          <p:cNvPr id="19" name="object 19"/>
          <p:cNvSpPr txBox="1">
            <a:spLocks noGrp="1"/>
          </p:cNvSpPr>
          <p:nvPr>
            <p:ph type="title"/>
          </p:nvPr>
        </p:nvSpPr>
        <p:spPr>
          <a:xfrm>
            <a:off x="4025900" y="637794"/>
            <a:ext cx="4140835" cy="391160"/>
          </a:xfrm>
          <a:prstGeom prst="rect"/>
        </p:spPr>
        <p:txBody>
          <a:bodyPr wrap="square" lIns="0" tIns="12700" rIns="0" bIns="0" rtlCol="0" vert="horz">
            <a:spAutoFit/>
          </a:bodyPr>
          <a:lstStyle/>
          <a:p>
            <a:pPr marL="12700">
              <a:lnSpc>
                <a:spcPct val="100000"/>
              </a:lnSpc>
              <a:spcBef>
                <a:spcPts val="100"/>
              </a:spcBef>
              <a:tabLst>
                <a:tab pos="926465" algn="l"/>
              </a:tabLst>
            </a:pPr>
            <a:r>
              <a:rPr dirty="0" u="none" sz="2400" spc="-10" b="0">
                <a:solidFill>
                  <a:srgbClr val="E14B04"/>
                </a:solidFill>
                <a:latin typeface="宋体"/>
                <a:cs typeface="宋体"/>
              </a:rPr>
              <a:t>Intel</a:t>
            </a:r>
            <a:r>
              <a:rPr dirty="0" u="none" sz="2400" b="0">
                <a:solidFill>
                  <a:srgbClr val="E14B04"/>
                </a:solidFill>
                <a:latin typeface="宋体"/>
                <a:cs typeface="宋体"/>
              </a:rPr>
              <a:t>	80x86</a:t>
            </a:r>
            <a:r>
              <a:rPr dirty="0" u="none" sz="2400" b="0">
                <a:solidFill>
                  <a:srgbClr val="E14B04"/>
                </a:solidFill>
                <a:latin typeface="黑体"/>
                <a:cs typeface="黑体"/>
              </a:rPr>
              <a:t>最常用的</a:t>
            </a:r>
            <a:r>
              <a:rPr dirty="0" u="none" sz="2400" b="0">
                <a:solidFill>
                  <a:srgbClr val="E14B04"/>
                </a:solidFill>
                <a:latin typeface="宋体"/>
                <a:cs typeface="宋体"/>
              </a:rPr>
              <a:t>10</a:t>
            </a:r>
            <a:r>
              <a:rPr dirty="0" u="none" sz="2400" spc="-20" b="0">
                <a:solidFill>
                  <a:srgbClr val="E14B04"/>
                </a:solidFill>
                <a:latin typeface="黑体"/>
                <a:cs typeface="黑体"/>
              </a:rPr>
              <a:t>条指令</a:t>
            </a:r>
            <a:endParaRPr sz="2400">
              <a:latin typeface="黑体"/>
              <a:cs typeface="黑体"/>
            </a:endParaRPr>
          </a:p>
        </p:txBody>
      </p:sp>
      <p:sp>
        <p:nvSpPr>
          <p:cNvPr id="20" name="object 20" descr=""/>
          <p:cNvSpPr/>
          <p:nvPr/>
        </p:nvSpPr>
        <p:spPr>
          <a:xfrm>
            <a:off x="2598801" y="2997200"/>
            <a:ext cx="7921625" cy="2124075"/>
          </a:xfrm>
          <a:custGeom>
            <a:avLst/>
            <a:gdLst/>
            <a:ahLst/>
            <a:cxnLst/>
            <a:rect l="l" t="t" r="r" b="b"/>
            <a:pathLst>
              <a:path w="7921625" h="2124075">
                <a:moveTo>
                  <a:pt x="7921625" y="0"/>
                </a:moveTo>
                <a:lnTo>
                  <a:pt x="0" y="0"/>
                </a:lnTo>
                <a:lnTo>
                  <a:pt x="0" y="2124075"/>
                </a:lnTo>
                <a:lnTo>
                  <a:pt x="7921625" y="2124075"/>
                </a:lnTo>
                <a:lnTo>
                  <a:pt x="7921625" y="0"/>
                </a:lnTo>
                <a:close/>
              </a:path>
            </a:pathLst>
          </a:custGeom>
          <a:solidFill>
            <a:srgbClr val="95A4E1"/>
          </a:solidFill>
        </p:spPr>
        <p:txBody>
          <a:bodyPr wrap="square" lIns="0" tIns="0" rIns="0" bIns="0" rtlCol="0"/>
          <a:lstStyle/>
          <a:p/>
        </p:txBody>
      </p:sp>
      <p:graphicFrame>
        <p:nvGraphicFramePr>
          <p:cNvPr id="21" name="object 21" descr=""/>
          <p:cNvGraphicFramePr>
            <a:graphicFrameLocks noGrp="1"/>
          </p:cNvGraphicFramePr>
          <p:nvPr/>
        </p:nvGraphicFramePr>
        <p:xfrm>
          <a:off x="2436812" y="1125600"/>
          <a:ext cx="8321675" cy="5361940"/>
        </p:xfrm>
        <a:graphic>
          <a:graphicData uri="http://schemas.openxmlformats.org/drawingml/2006/table">
            <a:tbl>
              <a:tblPr firstRow="1" bandRow="1">
                <a:tableStyleId>{2D5ABB26-0587-4C30-8999-92F81FD0307C}</a:tableStyleId>
              </a:tblPr>
              <a:tblGrid>
                <a:gridCol w="147955"/>
                <a:gridCol w="2470150"/>
                <a:gridCol w="2326005"/>
                <a:gridCol w="3126105"/>
                <a:gridCol w="147954"/>
              </a:tblGrid>
              <a:tr h="700405">
                <a:tc>
                  <a:txBody>
                    <a:bodyPr/>
                    <a:lstStyle/>
                    <a:p>
                      <a:pPr>
                        <a:lnSpc>
                          <a:spcPct val="100000"/>
                        </a:lnSpc>
                      </a:pPr>
                      <a:endParaRPr sz="2600">
                        <a:latin typeface="Times New Roman"/>
                        <a:cs typeface="Times New Roman"/>
                      </a:endParaRPr>
                    </a:p>
                  </a:txBody>
                  <a:tcPr marL="0" marR="0" marB="0" marT="0">
                    <a:lnL w="28575">
                      <a:solidFill>
                        <a:srgbClr val="40458B"/>
                      </a:solidFill>
                      <a:prstDash val="solid"/>
                    </a:lnL>
                    <a:lnT w="28575">
                      <a:solidFill>
                        <a:srgbClr val="40458B"/>
                      </a:solidFill>
                      <a:prstDash val="solid"/>
                    </a:lnT>
                    <a:lnB w="12700">
                      <a:solidFill>
                        <a:srgbClr val="40458B"/>
                      </a:solidFill>
                      <a:prstDash val="solid"/>
                    </a:lnB>
                  </a:tcPr>
                </a:tc>
                <a:tc>
                  <a:txBody>
                    <a:bodyPr/>
                    <a:lstStyle/>
                    <a:p>
                      <a:pPr algn="ctr" marR="139065">
                        <a:lnSpc>
                          <a:spcPct val="100000"/>
                        </a:lnSpc>
                        <a:spcBef>
                          <a:spcPts val="1280"/>
                        </a:spcBef>
                      </a:pPr>
                      <a:r>
                        <a:rPr dirty="0" sz="2000" spc="-15">
                          <a:solidFill>
                            <a:srgbClr val="E14B04"/>
                          </a:solidFill>
                          <a:latin typeface="黑体"/>
                          <a:cs typeface="黑体"/>
                        </a:rPr>
                        <a:t>执行频度排序</a:t>
                      </a:r>
                      <a:endParaRPr sz="2000">
                        <a:latin typeface="黑体"/>
                        <a:cs typeface="黑体"/>
                      </a:endParaRPr>
                    </a:p>
                  </a:txBody>
                  <a:tcPr marL="0" marR="0" marB="0" marT="162560">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635">
                        <a:lnSpc>
                          <a:spcPct val="100000"/>
                        </a:lnSpc>
                        <a:spcBef>
                          <a:spcPts val="1280"/>
                        </a:spcBef>
                      </a:pPr>
                      <a:r>
                        <a:rPr dirty="0" sz="2000" spc="-10">
                          <a:solidFill>
                            <a:srgbClr val="E14B04"/>
                          </a:solidFill>
                          <a:latin typeface="Tahoma"/>
                          <a:cs typeface="Tahoma"/>
                        </a:rPr>
                        <a:t>80x86</a:t>
                      </a:r>
                      <a:r>
                        <a:rPr dirty="0" sz="2000" spc="-25">
                          <a:solidFill>
                            <a:srgbClr val="E14B04"/>
                          </a:solidFill>
                          <a:latin typeface="黑体"/>
                          <a:cs typeface="黑体"/>
                        </a:rPr>
                        <a:t>指令</a:t>
                      </a:r>
                      <a:endParaRPr sz="2000">
                        <a:latin typeface="黑体"/>
                        <a:cs typeface="黑体"/>
                      </a:endParaRPr>
                    </a:p>
                  </a:txBody>
                  <a:tcPr marL="0" marR="0" marB="0" marT="16256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gridSpan="2">
                  <a:txBody>
                    <a:bodyPr/>
                    <a:lstStyle/>
                    <a:p>
                      <a:pPr marL="744855" marR="102870" indent="-632460">
                        <a:lnSpc>
                          <a:spcPts val="2340"/>
                        </a:lnSpc>
                        <a:spcBef>
                          <a:spcPts val="555"/>
                        </a:spcBef>
                      </a:pPr>
                      <a:r>
                        <a:rPr dirty="0" sz="2000" spc="-10">
                          <a:solidFill>
                            <a:srgbClr val="E14B04"/>
                          </a:solidFill>
                          <a:latin typeface="黑体"/>
                          <a:cs typeface="黑体"/>
                        </a:rPr>
                        <a:t>指令执行频度</a:t>
                      </a:r>
                      <a:r>
                        <a:rPr dirty="0" sz="2000">
                          <a:solidFill>
                            <a:srgbClr val="E14B04"/>
                          </a:solidFill>
                          <a:latin typeface="黑体"/>
                          <a:cs typeface="黑体"/>
                        </a:rPr>
                        <a:t>（</a:t>
                      </a:r>
                      <a:r>
                        <a:rPr dirty="0" sz="2000" spc="-15">
                          <a:solidFill>
                            <a:srgbClr val="E14B04"/>
                          </a:solidFill>
                          <a:latin typeface="黑体"/>
                          <a:cs typeface="黑体"/>
                        </a:rPr>
                        <a:t>占执行指令</a:t>
                      </a:r>
                      <a:r>
                        <a:rPr dirty="0" sz="2000" spc="-5">
                          <a:solidFill>
                            <a:srgbClr val="E14B04"/>
                          </a:solidFill>
                          <a:latin typeface="黑体"/>
                          <a:cs typeface="黑体"/>
                        </a:rPr>
                        <a:t>总数的百分比</a:t>
                      </a:r>
                      <a:r>
                        <a:rPr dirty="0" sz="2000" spc="-50">
                          <a:solidFill>
                            <a:srgbClr val="E14B04"/>
                          </a:solidFill>
                          <a:latin typeface="黑体"/>
                          <a:cs typeface="黑体"/>
                        </a:rPr>
                        <a:t>）</a:t>
                      </a:r>
                      <a:endParaRPr sz="2000">
                        <a:latin typeface="黑体"/>
                        <a:cs typeface="黑体"/>
                      </a:endParaRPr>
                    </a:p>
                  </a:txBody>
                  <a:tcPr marL="0" marR="0" marB="0" marT="7048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c hMerge="1">
                  <a:txBody>
                    <a:bodyPr/>
                    <a:lstStyle/>
                    <a:p>
                      <a:pPr/>
                    </a:p>
                  </a:txBody>
                  <a:tcPr marL="0" marR="0" marB="0" marT="0"/>
                </a:tc>
              </a:tr>
              <a:tr h="395605">
                <a:tc>
                  <a:txBody>
                    <a:bodyPr/>
                    <a:lstStyle/>
                    <a:p>
                      <a:pPr>
                        <a:lnSpc>
                          <a:spcPct val="100000"/>
                        </a:lnSpc>
                      </a:pPr>
                      <a:endParaRPr sz="2500">
                        <a:latin typeface="Times New Roman"/>
                        <a:cs typeface="Times New Roman"/>
                      </a:endParaRPr>
                    </a:p>
                  </a:txBody>
                  <a:tcPr marL="0" marR="0" marB="0" marT="0">
                    <a:lnL w="28575">
                      <a:solidFill>
                        <a:srgbClr val="40458B"/>
                      </a:solidFill>
                      <a:prstDash val="solid"/>
                    </a:lnL>
                    <a:lnT w="12700">
                      <a:solidFill>
                        <a:srgbClr val="40458B"/>
                      </a:solidFill>
                      <a:prstDash val="solid"/>
                    </a:lnT>
                    <a:lnB w="12700">
                      <a:solidFill>
                        <a:srgbClr val="40458B"/>
                      </a:solidFill>
                      <a:prstDash val="solid"/>
                    </a:lnB>
                  </a:tcPr>
                </a:tc>
                <a:tc>
                  <a:txBody>
                    <a:bodyPr/>
                    <a:lstStyle/>
                    <a:p>
                      <a:pPr algn="ctr" marR="138430">
                        <a:lnSpc>
                          <a:spcPct val="100000"/>
                        </a:lnSpc>
                        <a:spcBef>
                          <a:spcPts val="355"/>
                        </a:spcBef>
                      </a:pPr>
                      <a:r>
                        <a:rPr dirty="0" sz="2000" spc="-50">
                          <a:solidFill>
                            <a:srgbClr val="40458B"/>
                          </a:solidFill>
                          <a:latin typeface="Tahoma"/>
                          <a:cs typeface="Tahoma"/>
                        </a:rPr>
                        <a:t>1</a:t>
                      </a:r>
                      <a:endParaRPr sz="2000">
                        <a:latin typeface="Tahoma"/>
                        <a:cs typeface="Tahoma"/>
                      </a:endParaRPr>
                    </a:p>
                  </a:txBody>
                  <a:tcPr marL="0" marR="0" marB="0" marT="45085">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55"/>
                        </a:spcBef>
                      </a:pPr>
                      <a:r>
                        <a:rPr dirty="0" sz="2000" spc="-20">
                          <a:solidFill>
                            <a:srgbClr val="40458B"/>
                          </a:solidFill>
                          <a:latin typeface="Tahoma"/>
                          <a:cs typeface="Tahoma"/>
                        </a:rPr>
                        <a:t>load</a:t>
                      </a:r>
                      <a:endParaRPr sz="2000">
                        <a:latin typeface="Tahoma"/>
                        <a:cs typeface="Tahoma"/>
                      </a:endParaRPr>
                    </a:p>
                  </a:txBody>
                  <a:tcPr marL="0" marR="0" marB="0" marT="4508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r" marR="1217295">
                        <a:lnSpc>
                          <a:spcPct val="100000"/>
                        </a:lnSpc>
                        <a:spcBef>
                          <a:spcPts val="355"/>
                        </a:spcBef>
                      </a:pPr>
                      <a:r>
                        <a:rPr dirty="0" sz="2000" spc="-25">
                          <a:solidFill>
                            <a:srgbClr val="40458B"/>
                          </a:solidFill>
                          <a:latin typeface="Tahoma"/>
                          <a:cs typeface="Tahoma"/>
                        </a:rPr>
                        <a:t>22%</a:t>
                      </a:r>
                      <a:endParaRPr sz="2000">
                        <a:latin typeface="Tahoma"/>
                        <a:cs typeface="Tahoma"/>
                      </a:endParaRPr>
                    </a:p>
                  </a:txBody>
                  <a:tcPr marL="0" marR="0" marB="0" marT="45085">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a:lnSpc>
                          <a:spcPct val="100000"/>
                        </a:lnSpc>
                      </a:pPr>
                      <a:endParaRPr sz="2500">
                        <a:latin typeface="Times New Roman"/>
                        <a:cs typeface="Times New Roman"/>
                      </a:endParaRPr>
                    </a:p>
                  </a:txBody>
                  <a:tcPr marL="0" marR="0" marB="0" marT="0">
                    <a:lnR w="28575">
                      <a:solidFill>
                        <a:srgbClr val="40458B"/>
                      </a:solidFill>
                      <a:prstDash val="solid"/>
                    </a:lnR>
                    <a:lnT w="12700">
                      <a:solidFill>
                        <a:srgbClr val="40458B"/>
                      </a:solidFill>
                      <a:prstDash val="solid"/>
                    </a:lnT>
                    <a:lnB w="12700">
                      <a:solidFill>
                        <a:srgbClr val="40458B"/>
                      </a:solidFill>
                      <a:prstDash val="solid"/>
                    </a:lnB>
                  </a:tcPr>
                </a:tc>
              </a:tr>
              <a:tr h="396240">
                <a:tc>
                  <a:txBody>
                    <a:bodyPr/>
                    <a:lstStyle/>
                    <a:p>
                      <a:pPr>
                        <a:lnSpc>
                          <a:spcPct val="100000"/>
                        </a:lnSpc>
                      </a:pPr>
                      <a:endParaRPr sz="2500">
                        <a:latin typeface="Times New Roman"/>
                        <a:cs typeface="Times New Roman"/>
                      </a:endParaRPr>
                    </a:p>
                  </a:txBody>
                  <a:tcPr marL="0" marR="0" marB="0" marT="0">
                    <a:lnL w="28575">
                      <a:solidFill>
                        <a:srgbClr val="40458B"/>
                      </a:solidFill>
                      <a:prstDash val="solid"/>
                    </a:lnL>
                    <a:lnT w="12700">
                      <a:solidFill>
                        <a:srgbClr val="40458B"/>
                      </a:solidFill>
                      <a:prstDash val="solid"/>
                    </a:lnT>
                    <a:lnB w="12700">
                      <a:solidFill>
                        <a:srgbClr val="40458B"/>
                      </a:solidFill>
                      <a:prstDash val="solid"/>
                    </a:lnB>
                  </a:tcPr>
                </a:tc>
                <a:tc>
                  <a:txBody>
                    <a:bodyPr/>
                    <a:lstStyle/>
                    <a:p>
                      <a:pPr algn="ctr" marR="138430">
                        <a:lnSpc>
                          <a:spcPct val="100000"/>
                        </a:lnSpc>
                        <a:spcBef>
                          <a:spcPts val="355"/>
                        </a:spcBef>
                      </a:pPr>
                      <a:r>
                        <a:rPr dirty="0" sz="2000" spc="-50">
                          <a:solidFill>
                            <a:srgbClr val="40458B"/>
                          </a:solidFill>
                          <a:latin typeface="Tahoma"/>
                          <a:cs typeface="Tahoma"/>
                        </a:rPr>
                        <a:t>2</a:t>
                      </a:r>
                      <a:endParaRPr sz="2000">
                        <a:latin typeface="Tahoma"/>
                        <a:cs typeface="Tahoma"/>
                      </a:endParaRPr>
                    </a:p>
                  </a:txBody>
                  <a:tcPr marL="0" marR="0" marB="0" marT="45085">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65"/>
                        </a:spcBef>
                      </a:pPr>
                      <a:r>
                        <a:rPr dirty="0" sz="2000" spc="-15">
                          <a:solidFill>
                            <a:srgbClr val="40458B"/>
                          </a:solidFill>
                          <a:latin typeface="黑体"/>
                          <a:cs typeface="黑体"/>
                        </a:rPr>
                        <a:t>条件分支</a:t>
                      </a:r>
                      <a:endParaRPr sz="2000">
                        <a:latin typeface="黑体"/>
                        <a:cs typeface="黑体"/>
                      </a:endParaRPr>
                    </a:p>
                  </a:txBody>
                  <a:tcPr marL="0" marR="0" marB="0" marT="463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r" marR="1217295">
                        <a:lnSpc>
                          <a:spcPct val="100000"/>
                        </a:lnSpc>
                        <a:spcBef>
                          <a:spcPts val="355"/>
                        </a:spcBef>
                      </a:pPr>
                      <a:r>
                        <a:rPr dirty="0" sz="2000" spc="-25">
                          <a:solidFill>
                            <a:srgbClr val="40458B"/>
                          </a:solidFill>
                          <a:latin typeface="Tahoma"/>
                          <a:cs typeface="Tahoma"/>
                        </a:rPr>
                        <a:t>20%</a:t>
                      </a:r>
                      <a:endParaRPr sz="2000">
                        <a:latin typeface="Tahoma"/>
                        <a:cs typeface="Tahoma"/>
                      </a:endParaRPr>
                    </a:p>
                  </a:txBody>
                  <a:tcPr marL="0" marR="0" marB="0" marT="45085">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a:lnSpc>
                          <a:spcPct val="100000"/>
                        </a:lnSpc>
                      </a:pPr>
                      <a:endParaRPr sz="2500">
                        <a:latin typeface="Times New Roman"/>
                        <a:cs typeface="Times New Roman"/>
                      </a:endParaRPr>
                    </a:p>
                  </a:txBody>
                  <a:tcPr marL="0" marR="0" marB="0" marT="0">
                    <a:lnR w="28575">
                      <a:solidFill>
                        <a:srgbClr val="40458B"/>
                      </a:solidFill>
                      <a:prstDash val="solid"/>
                    </a:lnR>
                    <a:lnT w="12700">
                      <a:solidFill>
                        <a:srgbClr val="40458B"/>
                      </a:solidFill>
                      <a:prstDash val="solid"/>
                    </a:lnT>
                    <a:lnB w="12700">
                      <a:solidFill>
                        <a:srgbClr val="40458B"/>
                      </a:solidFill>
                      <a:prstDash val="solid"/>
                    </a:lnB>
                  </a:tcPr>
                </a:tc>
              </a:tr>
              <a:tr h="395605">
                <a:tc>
                  <a:txBody>
                    <a:bodyPr/>
                    <a:lstStyle/>
                    <a:p>
                      <a:pPr>
                        <a:lnSpc>
                          <a:spcPct val="100000"/>
                        </a:lnSpc>
                      </a:pPr>
                      <a:endParaRPr sz="2500">
                        <a:latin typeface="Times New Roman"/>
                        <a:cs typeface="Times New Roman"/>
                      </a:endParaRPr>
                    </a:p>
                  </a:txBody>
                  <a:tcPr marL="0" marR="0" marB="0" marT="0">
                    <a:lnL w="28575">
                      <a:solidFill>
                        <a:srgbClr val="40458B"/>
                      </a:solidFill>
                      <a:prstDash val="solid"/>
                    </a:lnL>
                    <a:lnT w="12700">
                      <a:solidFill>
                        <a:srgbClr val="40458B"/>
                      </a:solidFill>
                      <a:prstDash val="solid"/>
                    </a:lnT>
                    <a:lnB w="12700">
                      <a:solidFill>
                        <a:srgbClr val="40458B"/>
                      </a:solidFill>
                      <a:prstDash val="solid"/>
                    </a:lnB>
                  </a:tcPr>
                </a:tc>
                <a:tc>
                  <a:txBody>
                    <a:bodyPr/>
                    <a:lstStyle/>
                    <a:p>
                      <a:pPr algn="ctr" marR="138430">
                        <a:lnSpc>
                          <a:spcPct val="100000"/>
                        </a:lnSpc>
                        <a:spcBef>
                          <a:spcPts val="355"/>
                        </a:spcBef>
                      </a:pPr>
                      <a:r>
                        <a:rPr dirty="0" sz="2000" spc="-50">
                          <a:solidFill>
                            <a:srgbClr val="40458B"/>
                          </a:solidFill>
                          <a:latin typeface="Tahoma"/>
                          <a:cs typeface="Tahoma"/>
                        </a:rPr>
                        <a:t>3</a:t>
                      </a:r>
                      <a:endParaRPr sz="2000">
                        <a:latin typeface="Tahoma"/>
                        <a:cs typeface="Tahoma"/>
                      </a:endParaRPr>
                    </a:p>
                  </a:txBody>
                  <a:tcPr marL="0" marR="0" marB="0" marT="45085">
                    <a:lnR w="12700">
                      <a:solidFill>
                        <a:srgbClr val="40458B"/>
                      </a:solidFill>
                      <a:prstDash val="solid"/>
                    </a:lnR>
                    <a:lnT w="12700">
                      <a:solidFill>
                        <a:srgbClr val="40458B"/>
                      </a:solidFill>
                      <a:prstDash val="solid"/>
                    </a:lnT>
                  </a:tcPr>
                </a:tc>
                <a:tc>
                  <a:txBody>
                    <a:bodyPr/>
                    <a:lstStyle/>
                    <a:p>
                      <a:pPr algn="ctr">
                        <a:lnSpc>
                          <a:spcPct val="100000"/>
                        </a:lnSpc>
                        <a:spcBef>
                          <a:spcPts val="370"/>
                        </a:spcBef>
                      </a:pPr>
                      <a:r>
                        <a:rPr dirty="0" sz="2000" spc="-25">
                          <a:solidFill>
                            <a:srgbClr val="40458B"/>
                          </a:solidFill>
                          <a:latin typeface="黑体"/>
                          <a:cs typeface="黑体"/>
                        </a:rPr>
                        <a:t>比较</a:t>
                      </a:r>
                      <a:endParaRPr sz="2000">
                        <a:latin typeface="黑体"/>
                        <a:cs typeface="黑体"/>
                      </a:endParaRPr>
                    </a:p>
                  </a:txBody>
                  <a:tcPr marL="0" marR="0" marB="0" marT="46990">
                    <a:lnL w="12700">
                      <a:solidFill>
                        <a:srgbClr val="40458B"/>
                      </a:solidFill>
                      <a:prstDash val="solid"/>
                    </a:lnL>
                    <a:lnR w="12700">
                      <a:solidFill>
                        <a:srgbClr val="40458B"/>
                      </a:solidFill>
                      <a:prstDash val="solid"/>
                    </a:lnR>
                    <a:lnT w="12700">
                      <a:solidFill>
                        <a:srgbClr val="40458B"/>
                      </a:solidFill>
                      <a:prstDash val="solid"/>
                    </a:lnT>
                  </a:tcPr>
                </a:tc>
                <a:tc>
                  <a:txBody>
                    <a:bodyPr/>
                    <a:lstStyle/>
                    <a:p>
                      <a:pPr algn="r" marR="1217295">
                        <a:lnSpc>
                          <a:spcPct val="100000"/>
                        </a:lnSpc>
                        <a:spcBef>
                          <a:spcPts val="355"/>
                        </a:spcBef>
                      </a:pPr>
                      <a:r>
                        <a:rPr dirty="0" sz="2000" spc="-25">
                          <a:solidFill>
                            <a:srgbClr val="40458B"/>
                          </a:solidFill>
                          <a:latin typeface="Tahoma"/>
                          <a:cs typeface="Tahoma"/>
                        </a:rPr>
                        <a:t>16%</a:t>
                      </a:r>
                      <a:endParaRPr sz="2000">
                        <a:latin typeface="Tahoma"/>
                        <a:cs typeface="Tahoma"/>
                      </a:endParaRPr>
                    </a:p>
                  </a:txBody>
                  <a:tcPr marL="0" marR="0" marB="0" marT="45085">
                    <a:lnL w="12700">
                      <a:solidFill>
                        <a:srgbClr val="40458B"/>
                      </a:solidFill>
                      <a:prstDash val="solid"/>
                    </a:lnL>
                    <a:lnT w="12700">
                      <a:solidFill>
                        <a:srgbClr val="40458B"/>
                      </a:solidFill>
                      <a:prstDash val="solid"/>
                    </a:lnT>
                  </a:tcPr>
                </a:tc>
                <a:tc>
                  <a:txBody>
                    <a:bodyPr/>
                    <a:lstStyle/>
                    <a:p>
                      <a:pPr>
                        <a:lnSpc>
                          <a:spcPct val="100000"/>
                        </a:lnSpc>
                      </a:pPr>
                      <a:endParaRPr sz="2500">
                        <a:latin typeface="Times New Roman"/>
                        <a:cs typeface="Times New Roman"/>
                      </a:endParaRPr>
                    </a:p>
                  </a:txBody>
                  <a:tcPr marL="0" marR="0" marB="0" marT="0">
                    <a:lnR w="28575">
                      <a:solidFill>
                        <a:srgbClr val="40458B"/>
                      </a:solidFill>
                      <a:prstDash val="solid"/>
                    </a:lnR>
                    <a:lnT w="12700">
                      <a:solidFill>
                        <a:srgbClr val="40458B"/>
                      </a:solidFill>
                      <a:prstDash val="solid"/>
                    </a:lnT>
                    <a:lnB w="12700">
                      <a:solidFill>
                        <a:srgbClr val="40458B"/>
                      </a:solidFill>
                      <a:prstDash val="solid"/>
                    </a:lnB>
                  </a:tcPr>
                </a:tc>
              </a:tr>
              <a:tr h="3474085">
                <a:tc gridSpan="4">
                  <a:txBody>
                    <a:bodyPr/>
                    <a:lstStyle/>
                    <a:p>
                      <a:pPr marL="1461770">
                        <a:lnSpc>
                          <a:spcPct val="100000"/>
                        </a:lnSpc>
                        <a:spcBef>
                          <a:spcPts val="225"/>
                        </a:spcBef>
                      </a:pPr>
                      <a:r>
                        <a:rPr dirty="0" sz="4400" spc="-5">
                          <a:solidFill>
                            <a:srgbClr val="6600FF"/>
                          </a:solidFill>
                          <a:latin typeface="黑体"/>
                          <a:cs typeface="黑体"/>
                        </a:rPr>
                        <a:t>所有指令系统规律</a:t>
                      </a:r>
                      <a:r>
                        <a:rPr dirty="0" sz="4400" spc="-50">
                          <a:solidFill>
                            <a:srgbClr val="FFFF00"/>
                          </a:solidFill>
                          <a:latin typeface="黑体"/>
                          <a:cs typeface="黑体"/>
                        </a:rPr>
                        <a:t>：</a:t>
                      </a:r>
                      <a:endParaRPr sz="4400">
                        <a:latin typeface="黑体"/>
                        <a:cs typeface="黑体"/>
                      </a:endParaRPr>
                    </a:p>
                    <a:p>
                      <a:pPr marL="238760" marR="559435">
                        <a:lnSpc>
                          <a:spcPts val="5150"/>
                        </a:lnSpc>
                        <a:spcBef>
                          <a:spcPts val="415"/>
                        </a:spcBef>
                      </a:pPr>
                      <a:r>
                        <a:rPr dirty="0" sz="4400" spc="-25">
                          <a:solidFill>
                            <a:srgbClr val="FFFF00"/>
                          </a:solidFill>
                          <a:latin typeface="黑体"/>
                          <a:cs typeface="黑体"/>
                        </a:rPr>
                        <a:t>使用最多的是一些简单指令，</a:t>
                      </a:r>
                      <a:r>
                        <a:rPr dirty="0" sz="4400" spc="-15">
                          <a:solidFill>
                            <a:srgbClr val="FFFF00"/>
                          </a:solidFill>
                          <a:latin typeface="黑体"/>
                          <a:cs typeface="黑体"/>
                        </a:rPr>
                        <a:t>执行起来应该最快</a:t>
                      </a:r>
                      <a:endParaRPr sz="4400">
                        <a:latin typeface="黑体"/>
                        <a:cs typeface="黑体"/>
                      </a:endParaRPr>
                    </a:p>
                    <a:p>
                      <a:pPr marL="1239520">
                        <a:lnSpc>
                          <a:spcPct val="100000"/>
                        </a:lnSpc>
                        <a:spcBef>
                          <a:spcPts val="2150"/>
                        </a:spcBef>
                        <a:tabLst>
                          <a:tab pos="3143250" algn="l"/>
                          <a:tab pos="6386195" algn="l"/>
                        </a:tabLst>
                      </a:pPr>
                      <a:r>
                        <a:rPr dirty="0" sz="2000" spc="-50">
                          <a:solidFill>
                            <a:srgbClr val="40458B"/>
                          </a:solidFill>
                          <a:latin typeface="Tahoma"/>
                          <a:cs typeface="Tahoma"/>
                        </a:rPr>
                        <a:t>9</a:t>
                      </a:r>
                      <a:r>
                        <a:rPr dirty="0" sz="2000">
                          <a:solidFill>
                            <a:srgbClr val="40458B"/>
                          </a:solidFill>
                          <a:latin typeface="Tahoma"/>
                          <a:cs typeface="Tahoma"/>
                        </a:rPr>
                        <a:t>	</a:t>
                      </a:r>
                      <a:r>
                        <a:rPr dirty="0" sz="2000">
                          <a:solidFill>
                            <a:srgbClr val="40458B"/>
                          </a:solidFill>
                          <a:latin typeface="黑体"/>
                          <a:cs typeface="黑体"/>
                        </a:rPr>
                        <a:t>调用子程</a:t>
                      </a:r>
                      <a:r>
                        <a:rPr dirty="0" sz="2000" spc="-50">
                          <a:solidFill>
                            <a:srgbClr val="40458B"/>
                          </a:solidFill>
                          <a:latin typeface="黑体"/>
                          <a:cs typeface="黑体"/>
                        </a:rPr>
                        <a:t>序</a:t>
                      </a:r>
                      <a:r>
                        <a:rPr dirty="0" sz="2000">
                          <a:solidFill>
                            <a:srgbClr val="40458B"/>
                          </a:solidFill>
                          <a:latin typeface="黑体"/>
                          <a:cs typeface="黑体"/>
                        </a:rPr>
                        <a:t>	</a:t>
                      </a:r>
                      <a:r>
                        <a:rPr dirty="0" sz="2000" spc="-25">
                          <a:solidFill>
                            <a:srgbClr val="40458B"/>
                          </a:solidFill>
                          <a:latin typeface="Tahoma"/>
                          <a:cs typeface="Tahoma"/>
                        </a:rPr>
                        <a:t>1%</a:t>
                      </a:r>
                      <a:endParaRPr sz="2000">
                        <a:latin typeface="Tahoma"/>
                        <a:cs typeface="Tahoma"/>
                      </a:endParaRPr>
                    </a:p>
                    <a:p>
                      <a:pPr algn="r" marR="1287145">
                        <a:lnSpc>
                          <a:spcPct val="100000"/>
                        </a:lnSpc>
                        <a:spcBef>
                          <a:spcPts val="720"/>
                        </a:spcBef>
                        <a:tabLst>
                          <a:tab pos="2353945" algn="l"/>
                          <a:tab pos="5216525" algn="l"/>
                        </a:tabLst>
                      </a:pPr>
                      <a:r>
                        <a:rPr dirty="0" sz="2000" spc="-25">
                          <a:solidFill>
                            <a:srgbClr val="40458B"/>
                          </a:solidFill>
                          <a:latin typeface="Tahoma"/>
                          <a:cs typeface="Tahoma"/>
                        </a:rPr>
                        <a:t>10</a:t>
                      </a:r>
                      <a:r>
                        <a:rPr dirty="0" sz="2000">
                          <a:solidFill>
                            <a:srgbClr val="40458B"/>
                          </a:solidFill>
                          <a:latin typeface="Tahoma"/>
                          <a:cs typeface="Tahoma"/>
                        </a:rPr>
                        <a:t>	</a:t>
                      </a:r>
                      <a:r>
                        <a:rPr dirty="0" sz="2000" spc="-994">
                          <a:solidFill>
                            <a:srgbClr val="40458B"/>
                          </a:solidFill>
                          <a:latin typeface="黑体"/>
                          <a:cs typeface="黑体"/>
                        </a:rPr>
                        <a:t>返</a:t>
                      </a:r>
                      <a:r>
                        <a:rPr dirty="0" sz="2000" spc="-1050">
                          <a:solidFill>
                            <a:srgbClr val="40458B"/>
                          </a:solidFill>
                          <a:latin typeface="黑体"/>
                          <a:cs typeface="黑体"/>
                        </a:rPr>
                        <a:t></a:t>
                      </a:r>
                      <a:r>
                        <a:rPr dirty="0" sz="2000">
                          <a:solidFill>
                            <a:srgbClr val="40458B"/>
                          </a:solidFill>
                          <a:latin typeface="黑体"/>
                          <a:cs typeface="黑体"/>
                        </a:rPr>
                        <a:t>	</a:t>
                      </a:r>
                      <a:r>
                        <a:rPr dirty="0" sz="2000" spc="-25">
                          <a:solidFill>
                            <a:srgbClr val="40458B"/>
                          </a:solidFill>
                          <a:latin typeface="Tahoma"/>
                          <a:cs typeface="Tahoma"/>
                        </a:rPr>
                        <a:t>1%</a:t>
                      </a:r>
                      <a:endParaRPr sz="2000">
                        <a:latin typeface="Tahoma"/>
                        <a:cs typeface="Tahoma"/>
                      </a:endParaRPr>
                    </a:p>
                    <a:p>
                      <a:pPr algn="r" marR="1217295">
                        <a:lnSpc>
                          <a:spcPct val="100000"/>
                        </a:lnSpc>
                        <a:spcBef>
                          <a:spcPts val="725"/>
                        </a:spcBef>
                        <a:tabLst>
                          <a:tab pos="4180204" algn="l"/>
                        </a:tabLst>
                      </a:pPr>
                      <a:r>
                        <a:rPr dirty="0" sz="2000">
                          <a:solidFill>
                            <a:srgbClr val="FF0000"/>
                          </a:solidFill>
                          <a:latin typeface="黑体"/>
                          <a:cs typeface="黑体"/>
                        </a:rPr>
                        <a:t>合</a:t>
                      </a:r>
                      <a:r>
                        <a:rPr dirty="0" sz="2000" spc="245">
                          <a:solidFill>
                            <a:srgbClr val="FF0000"/>
                          </a:solidFill>
                          <a:latin typeface="黑体"/>
                          <a:cs typeface="黑体"/>
                        </a:rPr>
                        <a:t> </a:t>
                      </a:r>
                      <a:r>
                        <a:rPr dirty="0" sz="2000" spc="-50">
                          <a:solidFill>
                            <a:srgbClr val="FF0000"/>
                          </a:solidFill>
                          <a:latin typeface="黑体"/>
                          <a:cs typeface="黑体"/>
                        </a:rPr>
                        <a:t>计</a:t>
                      </a:r>
                      <a:r>
                        <a:rPr dirty="0" sz="2000">
                          <a:solidFill>
                            <a:srgbClr val="FF0000"/>
                          </a:solidFill>
                          <a:latin typeface="黑体"/>
                          <a:cs typeface="黑体"/>
                        </a:rPr>
                        <a:t>	</a:t>
                      </a:r>
                      <a:r>
                        <a:rPr dirty="0" sz="2000" spc="-25">
                          <a:solidFill>
                            <a:srgbClr val="FF0000"/>
                          </a:solidFill>
                          <a:latin typeface="Tahoma"/>
                          <a:cs typeface="Tahoma"/>
                        </a:rPr>
                        <a:t>95%</a:t>
                      </a:r>
                      <a:endParaRPr sz="2000">
                        <a:latin typeface="Tahoma"/>
                        <a:cs typeface="Tahoma"/>
                      </a:endParaRPr>
                    </a:p>
                  </a:txBody>
                  <a:tcPr marL="0" marR="0" marB="0" marT="28575">
                    <a:lnL w="28575">
                      <a:solidFill>
                        <a:srgbClr val="40458B"/>
                      </a:solidFill>
                      <a:prstDash val="solid"/>
                    </a:lnL>
                    <a:lnB w="28575">
                      <a:solidFill>
                        <a:srgbClr val="40458B"/>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a:txBody>
                    <a:bodyPr/>
                    <a:lstStyle/>
                    <a:p>
                      <a:pPr>
                        <a:lnSpc>
                          <a:spcPct val="100000"/>
                        </a:lnSpc>
                      </a:pPr>
                      <a:endParaRPr sz="2600">
                        <a:latin typeface="Times New Roman"/>
                        <a:cs typeface="Times New Roman"/>
                      </a:endParaRPr>
                    </a:p>
                  </a:txBody>
                  <a:tcPr marL="0" marR="0" marB="0" marT="0">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2.4</a:t>
            </a:r>
            <a:r>
              <a:rPr dirty="0" spc="-35">
                <a:solidFill>
                  <a:srgbClr val="4F55AC"/>
                </a:solidFill>
              </a:rPr>
              <a:t> </a:t>
            </a:r>
            <a:r>
              <a:rPr dirty="0">
                <a:solidFill>
                  <a:srgbClr val="4F55AC"/>
                </a:solidFill>
                <a:latin typeface="微软雅黑"/>
                <a:cs typeface="微软雅黑"/>
              </a:rPr>
              <a:t>指令系统的发展和改</a:t>
            </a:r>
            <a:r>
              <a:rPr dirty="0" spc="-50">
                <a:solidFill>
                  <a:srgbClr val="4F55AC"/>
                </a:solidFill>
                <a:latin typeface="微软雅黑"/>
                <a:cs typeface="微软雅黑"/>
              </a:rPr>
              <a:t>进</a:t>
            </a:r>
            <a:r>
              <a:rPr dirty="0">
                <a:solidFill>
                  <a:srgbClr val="4F55AC"/>
                </a:solidFill>
                <a:latin typeface="微软雅黑"/>
                <a:cs typeface="微软雅黑"/>
              </a:rPr>
              <a:t>	</a:t>
            </a:r>
          </a:p>
        </p:txBody>
      </p:sp>
      <p:sp>
        <p:nvSpPr>
          <p:cNvPr id="4" name="object 4" descr=""/>
          <p:cNvSpPr txBox="1"/>
          <p:nvPr/>
        </p:nvSpPr>
        <p:spPr>
          <a:xfrm>
            <a:off x="1637792" y="1106515"/>
            <a:ext cx="8659495" cy="4684395"/>
          </a:xfrm>
          <a:prstGeom prst="rect">
            <a:avLst/>
          </a:prstGeom>
        </p:spPr>
        <p:txBody>
          <a:bodyPr wrap="square" lIns="0" tIns="91440" rIns="0" bIns="0" rtlCol="0" vert="horz">
            <a:spAutoFit/>
          </a:bodyPr>
          <a:lstStyle/>
          <a:p>
            <a:pPr marL="469900" indent="-457200">
              <a:lnSpc>
                <a:spcPct val="100000"/>
              </a:lnSpc>
              <a:spcBef>
                <a:spcPts val="720"/>
              </a:spcBef>
              <a:buClr>
                <a:srgbClr val="40458B"/>
              </a:buClr>
              <a:buSzPct val="117857"/>
              <a:buFont typeface="Tahoma"/>
              <a:buAutoNum type="arabicPeriod" startAt="2"/>
              <a:tabLst>
                <a:tab pos="469900" algn="l"/>
              </a:tabLst>
            </a:pPr>
            <a:r>
              <a:rPr dirty="0" sz="2800" spc="-25">
                <a:solidFill>
                  <a:srgbClr val="172152"/>
                </a:solidFill>
                <a:latin typeface="黑体"/>
                <a:cs typeface="黑体"/>
              </a:rPr>
              <a:t>设计</a:t>
            </a:r>
            <a:r>
              <a:rPr dirty="0" sz="2800" spc="-10">
                <a:solidFill>
                  <a:srgbClr val="172152"/>
                </a:solidFill>
                <a:latin typeface="黑体"/>
                <a:cs typeface="黑体"/>
              </a:rPr>
              <a:t>RISC</a:t>
            </a:r>
            <a:r>
              <a:rPr dirty="0" sz="2800" spc="-40">
                <a:solidFill>
                  <a:srgbClr val="172152"/>
                </a:solidFill>
                <a:latin typeface="黑体"/>
                <a:cs typeface="黑体"/>
              </a:rPr>
              <a:t>机器遵循的原则</a:t>
            </a:r>
            <a:endParaRPr sz="2800">
              <a:latin typeface="黑体"/>
              <a:cs typeface="黑体"/>
            </a:endParaRPr>
          </a:p>
          <a:p>
            <a:pPr lvl="1" marL="1099185" marR="8890" indent="-457200">
              <a:lnSpc>
                <a:spcPct val="110000"/>
              </a:lnSpc>
              <a:spcBef>
                <a:spcPts val="515"/>
              </a:spcBef>
              <a:buSzPct val="88636"/>
              <a:buFont typeface="Wingdings"/>
              <a:buChar char=""/>
              <a:tabLst>
                <a:tab pos="1099185" algn="l"/>
              </a:tabLst>
            </a:pPr>
            <a:r>
              <a:rPr dirty="0" sz="2200" spc="-35">
                <a:solidFill>
                  <a:srgbClr val="006FC0"/>
                </a:solidFill>
                <a:latin typeface="黑体"/>
                <a:cs typeface="黑体"/>
              </a:rPr>
              <a:t>指令条数少、指令功能简单。只选取使用频度很高的指令，在此基础上补充一些最有用的指令；</a:t>
            </a:r>
            <a:endParaRPr sz="2200">
              <a:latin typeface="黑体"/>
              <a:cs typeface="黑体"/>
            </a:endParaRPr>
          </a:p>
          <a:p>
            <a:pPr lvl="1" marL="1099185" indent="-457200">
              <a:lnSpc>
                <a:spcPct val="100000"/>
              </a:lnSpc>
              <a:spcBef>
                <a:spcPts val="790"/>
              </a:spcBef>
              <a:buSzPct val="88636"/>
              <a:buFont typeface="Wingdings"/>
              <a:buChar char=""/>
              <a:tabLst>
                <a:tab pos="1099185" algn="l"/>
              </a:tabLst>
            </a:pPr>
            <a:r>
              <a:rPr dirty="0" sz="2200" spc="-35">
                <a:solidFill>
                  <a:srgbClr val="006FC0"/>
                </a:solidFill>
                <a:latin typeface="黑体"/>
                <a:cs typeface="黑体"/>
              </a:rPr>
              <a:t>采用简单而又统一的指令格式，并减少寻址方式；指令字长都</a:t>
            </a:r>
            <a:endParaRPr sz="2200">
              <a:latin typeface="黑体"/>
              <a:cs typeface="黑体"/>
            </a:endParaRPr>
          </a:p>
          <a:p>
            <a:pPr marL="1099185">
              <a:lnSpc>
                <a:spcPct val="100000"/>
              </a:lnSpc>
              <a:spcBef>
                <a:spcPts val="265"/>
              </a:spcBef>
            </a:pPr>
            <a:r>
              <a:rPr dirty="0" sz="2200" spc="-25">
                <a:solidFill>
                  <a:srgbClr val="006FC0"/>
                </a:solidFill>
                <a:latin typeface="黑体"/>
                <a:cs typeface="黑体"/>
              </a:rPr>
              <a:t>为</a:t>
            </a:r>
            <a:r>
              <a:rPr dirty="0" sz="2200" spc="-25">
                <a:solidFill>
                  <a:srgbClr val="9933FF"/>
                </a:solidFill>
                <a:latin typeface="黑体"/>
                <a:cs typeface="黑体"/>
              </a:rPr>
              <a:t>32</a:t>
            </a:r>
            <a:r>
              <a:rPr dirty="0" sz="2200" spc="-30">
                <a:solidFill>
                  <a:srgbClr val="006FC0"/>
                </a:solidFill>
                <a:latin typeface="黑体"/>
                <a:cs typeface="黑体"/>
              </a:rPr>
              <a:t>位或</a:t>
            </a:r>
            <a:r>
              <a:rPr dirty="0" sz="2200" spc="-25">
                <a:solidFill>
                  <a:srgbClr val="9933FF"/>
                </a:solidFill>
                <a:latin typeface="黑体"/>
                <a:cs typeface="黑体"/>
              </a:rPr>
              <a:t>64</a:t>
            </a:r>
            <a:r>
              <a:rPr dirty="0" sz="2200" spc="-40">
                <a:solidFill>
                  <a:srgbClr val="006FC0"/>
                </a:solidFill>
                <a:latin typeface="黑体"/>
                <a:cs typeface="黑体"/>
              </a:rPr>
              <a:t>位；</a:t>
            </a:r>
            <a:endParaRPr sz="2200">
              <a:latin typeface="黑体"/>
              <a:cs typeface="黑体"/>
            </a:endParaRPr>
          </a:p>
          <a:p>
            <a:pPr lvl="1" marL="1099185" indent="-457200">
              <a:lnSpc>
                <a:spcPct val="100000"/>
              </a:lnSpc>
              <a:spcBef>
                <a:spcPts val="795"/>
              </a:spcBef>
              <a:buSzPct val="88636"/>
              <a:buFont typeface="Wingdings"/>
              <a:buChar char=""/>
              <a:tabLst>
                <a:tab pos="1099185" algn="l"/>
              </a:tabLst>
            </a:pPr>
            <a:r>
              <a:rPr dirty="0" sz="2200" spc="-35">
                <a:solidFill>
                  <a:srgbClr val="006FC0"/>
                </a:solidFill>
                <a:latin typeface="黑体"/>
                <a:cs typeface="黑体"/>
              </a:rPr>
              <a:t>指令的执行在单个机器周期内完成；</a:t>
            </a:r>
            <a:endParaRPr sz="2200">
              <a:latin typeface="黑体"/>
              <a:cs typeface="黑体"/>
            </a:endParaRPr>
          </a:p>
          <a:p>
            <a:pPr marL="1720850">
              <a:lnSpc>
                <a:spcPct val="100000"/>
              </a:lnSpc>
              <a:spcBef>
                <a:spcPts val="740"/>
              </a:spcBef>
            </a:pPr>
            <a:r>
              <a:rPr dirty="0" sz="2000" spc="-10" b="1">
                <a:solidFill>
                  <a:srgbClr val="6F2F9F"/>
                </a:solidFill>
                <a:latin typeface="宋体"/>
                <a:cs typeface="宋体"/>
              </a:rPr>
              <a:t>(</a:t>
            </a:r>
            <a:r>
              <a:rPr dirty="0" sz="2000" spc="-15" b="1">
                <a:solidFill>
                  <a:srgbClr val="6F2F9F"/>
                </a:solidFill>
                <a:latin typeface="黑体"/>
                <a:cs typeface="黑体"/>
              </a:rPr>
              <a:t>采用流水线机制</a:t>
            </a:r>
            <a:r>
              <a:rPr dirty="0" sz="2000" spc="-50" b="1">
                <a:solidFill>
                  <a:srgbClr val="6F2F9F"/>
                </a:solidFill>
                <a:latin typeface="宋体"/>
                <a:cs typeface="宋体"/>
              </a:rPr>
              <a:t>)</a:t>
            </a:r>
            <a:endParaRPr sz="2000">
              <a:latin typeface="宋体"/>
              <a:cs typeface="宋体"/>
            </a:endParaRPr>
          </a:p>
          <a:p>
            <a:pPr lvl="1" marL="1099185" indent="-457200">
              <a:lnSpc>
                <a:spcPct val="100000"/>
              </a:lnSpc>
              <a:spcBef>
                <a:spcPts val="770"/>
              </a:spcBef>
              <a:buSzPct val="88636"/>
              <a:buFont typeface="Wingdings"/>
              <a:buChar char=""/>
              <a:tabLst>
                <a:tab pos="1099185" algn="l"/>
              </a:tabLst>
            </a:pPr>
            <a:r>
              <a:rPr dirty="0" sz="2200" spc="-30">
                <a:solidFill>
                  <a:srgbClr val="006FC0"/>
                </a:solidFill>
                <a:latin typeface="黑体"/>
                <a:cs typeface="黑体"/>
              </a:rPr>
              <a:t>只有</a:t>
            </a:r>
            <a:r>
              <a:rPr dirty="0" sz="2200" spc="-20">
                <a:solidFill>
                  <a:srgbClr val="9933FF"/>
                </a:solidFill>
                <a:latin typeface="黑体"/>
                <a:cs typeface="黑体"/>
              </a:rPr>
              <a:t>load</a:t>
            </a:r>
            <a:r>
              <a:rPr dirty="0" sz="2200" spc="-35">
                <a:solidFill>
                  <a:srgbClr val="006FC0"/>
                </a:solidFill>
                <a:latin typeface="黑体"/>
                <a:cs typeface="黑体"/>
              </a:rPr>
              <a:t>和</a:t>
            </a:r>
            <a:r>
              <a:rPr dirty="0" sz="2200" spc="-20">
                <a:solidFill>
                  <a:srgbClr val="9933FF"/>
                </a:solidFill>
                <a:latin typeface="黑体"/>
                <a:cs typeface="黑体"/>
              </a:rPr>
              <a:t>store</a:t>
            </a:r>
            <a:r>
              <a:rPr dirty="0" sz="2200" spc="-35">
                <a:solidFill>
                  <a:srgbClr val="006FC0"/>
                </a:solidFill>
                <a:latin typeface="黑体"/>
                <a:cs typeface="黑体"/>
              </a:rPr>
              <a:t>指令才能访问存储器，其它指令的操作都是</a:t>
            </a:r>
            <a:endParaRPr sz="2200">
              <a:latin typeface="黑体"/>
              <a:cs typeface="黑体"/>
            </a:endParaRPr>
          </a:p>
          <a:p>
            <a:pPr marL="1099185">
              <a:lnSpc>
                <a:spcPct val="100000"/>
              </a:lnSpc>
              <a:spcBef>
                <a:spcPts val="270"/>
              </a:spcBef>
            </a:pPr>
            <a:r>
              <a:rPr dirty="0" sz="2200" spc="-35">
                <a:solidFill>
                  <a:srgbClr val="006FC0"/>
                </a:solidFill>
                <a:latin typeface="黑体"/>
                <a:cs typeface="黑体"/>
              </a:rPr>
              <a:t>在寄存器之间进行；</a:t>
            </a:r>
            <a:endParaRPr sz="2200">
              <a:latin typeface="黑体"/>
              <a:cs typeface="黑体"/>
            </a:endParaRPr>
          </a:p>
          <a:p>
            <a:pPr marL="1463675">
              <a:lnSpc>
                <a:spcPct val="100000"/>
              </a:lnSpc>
              <a:spcBef>
                <a:spcPts val="740"/>
              </a:spcBef>
            </a:pPr>
            <a:r>
              <a:rPr dirty="0" sz="2000" b="1">
                <a:solidFill>
                  <a:srgbClr val="6F2F9F"/>
                </a:solidFill>
                <a:latin typeface="黑体"/>
                <a:cs typeface="黑体"/>
              </a:rPr>
              <a:t>（</a:t>
            </a:r>
            <a:r>
              <a:rPr dirty="0" sz="2000" spc="-10" b="1">
                <a:solidFill>
                  <a:srgbClr val="6F2F9F"/>
                </a:solidFill>
                <a:latin typeface="黑体"/>
                <a:cs typeface="黑体"/>
              </a:rPr>
              <a:t>即采用</a:t>
            </a:r>
            <a:r>
              <a:rPr dirty="0" sz="2000" spc="-10" b="1">
                <a:solidFill>
                  <a:srgbClr val="9933FF"/>
                </a:solidFill>
                <a:latin typeface="宋体"/>
                <a:cs typeface="宋体"/>
              </a:rPr>
              <a:t>load-store</a:t>
            </a:r>
            <a:r>
              <a:rPr dirty="0" sz="2000" spc="-10" b="1">
                <a:solidFill>
                  <a:srgbClr val="6F2F9F"/>
                </a:solidFill>
                <a:latin typeface="黑体"/>
                <a:cs typeface="黑体"/>
              </a:rPr>
              <a:t>结构</a:t>
            </a:r>
            <a:r>
              <a:rPr dirty="0" sz="2000" spc="-50" b="1">
                <a:solidFill>
                  <a:srgbClr val="6F2F9F"/>
                </a:solidFill>
                <a:latin typeface="黑体"/>
                <a:cs typeface="黑体"/>
              </a:rPr>
              <a:t>）</a:t>
            </a:r>
            <a:endParaRPr sz="2000">
              <a:latin typeface="黑体"/>
              <a:cs typeface="黑体"/>
            </a:endParaRPr>
          </a:p>
          <a:p>
            <a:pPr lvl="1" marL="1099185" indent="-457200">
              <a:lnSpc>
                <a:spcPct val="100000"/>
              </a:lnSpc>
              <a:spcBef>
                <a:spcPts val="770"/>
              </a:spcBef>
              <a:buSzPct val="88636"/>
              <a:buFont typeface="Wingdings"/>
              <a:buChar char=""/>
              <a:tabLst>
                <a:tab pos="1099185" algn="l"/>
              </a:tabLst>
            </a:pPr>
            <a:r>
              <a:rPr dirty="0" sz="2200" spc="-35">
                <a:solidFill>
                  <a:srgbClr val="006FC0"/>
                </a:solidFill>
                <a:latin typeface="黑体"/>
                <a:cs typeface="黑体"/>
              </a:rPr>
              <a:t>大多数指令都采用硬连逻辑来实现；</a:t>
            </a:r>
            <a:endParaRPr sz="2200">
              <a:latin typeface="黑体"/>
              <a:cs typeface="黑体"/>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2.4</a:t>
            </a:r>
            <a:r>
              <a:rPr dirty="0" spc="-35">
                <a:solidFill>
                  <a:srgbClr val="4F55AC"/>
                </a:solidFill>
              </a:rPr>
              <a:t> </a:t>
            </a:r>
            <a:r>
              <a:rPr dirty="0">
                <a:solidFill>
                  <a:srgbClr val="4F55AC"/>
                </a:solidFill>
                <a:latin typeface="微软雅黑"/>
                <a:cs typeface="微软雅黑"/>
              </a:rPr>
              <a:t>指令系统的发展和改</a:t>
            </a:r>
            <a:r>
              <a:rPr dirty="0" spc="-50">
                <a:solidFill>
                  <a:srgbClr val="4F55AC"/>
                </a:solidFill>
                <a:latin typeface="微软雅黑"/>
                <a:cs typeface="微软雅黑"/>
              </a:rPr>
              <a:t>进</a:t>
            </a:r>
            <a:r>
              <a:rPr dirty="0">
                <a:solidFill>
                  <a:srgbClr val="4F55AC"/>
                </a:solidFill>
                <a:latin typeface="微软雅黑"/>
                <a:cs typeface="微软雅黑"/>
              </a:rPr>
              <a:t>	</a:t>
            </a:r>
          </a:p>
        </p:txBody>
      </p:sp>
      <p:sp>
        <p:nvSpPr>
          <p:cNvPr id="4" name="object 4" descr=""/>
          <p:cNvSpPr txBox="1"/>
          <p:nvPr/>
        </p:nvSpPr>
        <p:spPr>
          <a:xfrm>
            <a:off x="1749044" y="639351"/>
            <a:ext cx="8995410" cy="4308475"/>
          </a:xfrm>
          <a:prstGeom prst="rect">
            <a:avLst/>
          </a:prstGeom>
        </p:spPr>
        <p:txBody>
          <a:bodyPr wrap="square" lIns="0" tIns="200025" rIns="0" bIns="0" rtlCol="0" vert="horz">
            <a:spAutoFit/>
          </a:bodyPr>
          <a:lstStyle/>
          <a:p>
            <a:pPr marL="540385" indent="-456565">
              <a:lnSpc>
                <a:spcPct val="100000"/>
              </a:lnSpc>
              <a:spcBef>
                <a:spcPts val="1575"/>
              </a:spcBef>
              <a:buClr>
                <a:srgbClr val="40458B"/>
              </a:buClr>
              <a:buSzPct val="117857"/>
              <a:buFont typeface="Wingdings"/>
              <a:buChar char=""/>
              <a:tabLst>
                <a:tab pos="540385" algn="l"/>
              </a:tabLst>
            </a:pPr>
            <a:r>
              <a:rPr dirty="0" sz="2800" spc="-30">
                <a:solidFill>
                  <a:srgbClr val="172152"/>
                </a:solidFill>
                <a:latin typeface="黑体"/>
                <a:cs typeface="黑体"/>
              </a:rPr>
              <a:t>设计</a:t>
            </a:r>
            <a:r>
              <a:rPr dirty="0" sz="2800" spc="-20">
                <a:solidFill>
                  <a:srgbClr val="172152"/>
                </a:solidFill>
                <a:latin typeface="黑体"/>
                <a:cs typeface="黑体"/>
              </a:rPr>
              <a:t>RISC</a:t>
            </a:r>
            <a:r>
              <a:rPr dirty="0" sz="2800" spc="-40">
                <a:solidFill>
                  <a:srgbClr val="172152"/>
                </a:solidFill>
                <a:latin typeface="黑体"/>
                <a:cs typeface="黑体"/>
              </a:rPr>
              <a:t>机器遵循的原则</a:t>
            </a:r>
            <a:endParaRPr sz="2800">
              <a:latin typeface="黑体"/>
              <a:cs typeface="黑体"/>
            </a:endParaRPr>
          </a:p>
          <a:p>
            <a:pPr lvl="1" marL="1099185" indent="-457200">
              <a:lnSpc>
                <a:spcPct val="100000"/>
              </a:lnSpc>
              <a:spcBef>
                <a:spcPts val="1155"/>
              </a:spcBef>
              <a:buSzPct val="88636"/>
              <a:buFont typeface="Wingdings"/>
              <a:buChar char=""/>
              <a:tabLst>
                <a:tab pos="1099185" algn="l"/>
              </a:tabLst>
            </a:pPr>
            <a:r>
              <a:rPr dirty="0" sz="2200" spc="-35">
                <a:solidFill>
                  <a:srgbClr val="006FC0"/>
                </a:solidFill>
                <a:latin typeface="黑体"/>
                <a:cs typeface="黑体"/>
              </a:rPr>
              <a:t>强调优化编译器的作用，为高级语言程序生成优化的代码；</a:t>
            </a:r>
            <a:endParaRPr sz="2200">
              <a:latin typeface="黑体"/>
              <a:cs typeface="黑体"/>
            </a:endParaRPr>
          </a:p>
          <a:p>
            <a:pPr lvl="1" marL="1099185" indent="-457200">
              <a:lnSpc>
                <a:spcPct val="100000"/>
              </a:lnSpc>
              <a:spcBef>
                <a:spcPts val="1055"/>
              </a:spcBef>
              <a:buSzPct val="88636"/>
              <a:buFont typeface="Wingdings"/>
              <a:buChar char=""/>
              <a:tabLst>
                <a:tab pos="1099185" algn="l"/>
              </a:tabLst>
            </a:pPr>
            <a:r>
              <a:rPr dirty="0" sz="2200" spc="-35">
                <a:solidFill>
                  <a:srgbClr val="006FC0"/>
                </a:solidFill>
                <a:latin typeface="黑体"/>
                <a:cs typeface="黑体"/>
              </a:rPr>
              <a:t>充分利用流水技术来提高性能。</a:t>
            </a:r>
            <a:endParaRPr sz="2200">
              <a:latin typeface="黑体"/>
              <a:cs typeface="黑体"/>
            </a:endParaRPr>
          </a:p>
          <a:p>
            <a:pPr marL="468630" indent="-455930">
              <a:lnSpc>
                <a:spcPct val="100000"/>
              </a:lnSpc>
              <a:spcBef>
                <a:spcPts val="750"/>
              </a:spcBef>
              <a:buClr>
                <a:srgbClr val="40458B"/>
              </a:buClr>
              <a:buSzPct val="117857"/>
              <a:buAutoNum type="arabicPeriod" startAt="3"/>
              <a:tabLst>
                <a:tab pos="468630" algn="l"/>
              </a:tabLst>
            </a:pPr>
            <a:r>
              <a:rPr dirty="0" sz="2800" spc="-35">
                <a:solidFill>
                  <a:srgbClr val="172152"/>
                </a:solidFill>
                <a:latin typeface="黑体"/>
                <a:cs typeface="黑体"/>
              </a:rPr>
              <a:t>早期的</a:t>
            </a:r>
            <a:r>
              <a:rPr dirty="0" sz="2800" spc="-25">
                <a:solidFill>
                  <a:srgbClr val="172152"/>
                </a:solidFill>
                <a:latin typeface="黑体"/>
                <a:cs typeface="黑体"/>
              </a:rPr>
              <a:t>RISC</a:t>
            </a:r>
            <a:r>
              <a:rPr dirty="0" sz="2800" spc="-45">
                <a:solidFill>
                  <a:srgbClr val="172152"/>
                </a:solidFill>
                <a:latin typeface="黑体"/>
                <a:cs typeface="黑体"/>
              </a:rPr>
              <a:t>微处理器</a:t>
            </a:r>
            <a:endParaRPr sz="2800">
              <a:latin typeface="黑体"/>
              <a:cs typeface="黑体"/>
            </a:endParaRPr>
          </a:p>
          <a:p>
            <a:pPr lvl="1" marL="1099185" indent="-457200">
              <a:lnSpc>
                <a:spcPct val="100000"/>
              </a:lnSpc>
              <a:spcBef>
                <a:spcPts val="1050"/>
              </a:spcBef>
              <a:buSzPct val="88636"/>
              <a:buFont typeface="Wingdings"/>
              <a:buChar char=""/>
              <a:tabLst>
                <a:tab pos="1099185" algn="l"/>
              </a:tabLst>
            </a:pPr>
            <a:r>
              <a:rPr dirty="0" sz="2200" spc="-10">
                <a:solidFill>
                  <a:srgbClr val="006FC0"/>
                </a:solidFill>
                <a:latin typeface="Times New Roman"/>
                <a:cs typeface="Times New Roman"/>
              </a:rPr>
              <a:t>1981</a:t>
            </a:r>
            <a:r>
              <a:rPr dirty="0" sz="2200" spc="250">
                <a:solidFill>
                  <a:srgbClr val="006FC0"/>
                </a:solidFill>
                <a:latin typeface="黑体"/>
                <a:cs typeface="黑体"/>
              </a:rPr>
              <a:t>年，</a:t>
            </a:r>
            <a:r>
              <a:rPr dirty="0" sz="2200" spc="-10">
                <a:solidFill>
                  <a:srgbClr val="006FC0"/>
                </a:solidFill>
                <a:latin typeface="Times New Roman"/>
                <a:cs typeface="Times New Roman"/>
              </a:rPr>
              <a:t>Berkeley</a:t>
            </a:r>
            <a:r>
              <a:rPr dirty="0" sz="2200" spc="-20">
                <a:solidFill>
                  <a:srgbClr val="006FC0"/>
                </a:solidFill>
                <a:latin typeface="黑体"/>
                <a:cs typeface="黑体"/>
              </a:rPr>
              <a:t>分校的</a:t>
            </a:r>
            <a:r>
              <a:rPr dirty="0" sz="2200">
                <a:solidFill>
                  <a:srgbClr val="006FC0"/>
                </a:solidFill>
                <a:latin typeface="Times New Roman"/>
                <a:cs typeface="Times New Roman"/>
              </a:rPr>
              <a:t>Patterson</a:t>
            </a:r>
            <a:r>
              <a:rPr dirty="0" sz="2200" spc="-35">
                <a:solidFill>
                  <a:srgbClr val="006FC0"/>
                </a:solidFill>
                <a:latin typeface="Times New Roman"/>
                <a:cs typeface="Times New Roman"/>
              </a:rPr>
              <a:t> </a:t>
            </a:r>
            <a:r>
              <a:rPr dirty="0" sz="2200" spc="-20">
                <a:solidFill>
                  <a:srgbClr val="006FC0"/>
                </a:solidFill>
                <a:latin typeface="黑体"/>
                <a:cs typeface="黑体"/>
              </a:rPr>
              <a:t>等人的</a:t>
            </a:r>
            <a:r>
              <a:rPr dirty="0" sz="2200" spc="-10">
                <a:solidFill>
                  <a:srgbClr val="006FC0"/>
                </a:solidFill>
                <a:latin typeface="Times New Roman"/>
                <a:cs typeface="Times New Roman"/>
              </a:rPr>
              <a:t>32</a:t>
            </a:r>
            <a:r>
              <a:rPr dirty="0" sz="2200" spc="-30">
                <a:solidFill>
                  <a:srgbClr val="006FC0"/>
                </a:solidFill>
                <a:latin typeface="黑体"/>
                <a:cs typeface="黑体"/>
              </a:rPr>
              <a:t>位微处理器</a:t>
            </a:r>
            <a:r>
              <a:rPr dirty="0" sz="2200">
                <a:solidFill>
                  <a:srgbClr val="006FC0"/>
                </a:solidFill>
                <a:latin typeface="Times New Roman"/>
                <a:cs typeface="Times New Roman"/>
              </a:rPr>
              <a:t>RISC</a:t>
            </a:r>
            <a:r>
              <a:rPr dirty="0" sz="2200" spc="-40">
                <a:solidFill>
                  <a:srgbClr val="006FC0"/>
                </a:solidFill>
                <a:latin typeface="Times New Roman"/>
                <a:cs typeface="Times New Roman"/>
              </a:rPr>
              <a:t> </a:t>
            </a:r>
            <a:r>
              <a:rPr dirty="0" sz="2200">
                <a:solidFill>
                  <a:srgbClr val="006FC0"/>
                </a:solidFill>
                <a:latin typeface="Times New Roman"/>
                <a:cs typeface="Times New Roman"/>
              </a:rPr>
              <a:t>I</a:t>
            </a:r>
            <a:r>
              <a:rPr dirty="0" sz="2200" spc="-5">
                <a:solidFill>
                  <a:srgbClr val="006FC0"/>
                </a:solidFill>
                <a:latin typeface="Times New Roman"/>
                <a:cs typeface="Times New Roman"/>
              </a:rPr>
              <a:t> </a:t>
            </a:r>
            <a:r>
              <a:rPr dirty="0" sz="2200" spc="-50">
                <a:solidFill>
                  <a:srgbClr val="006FC0"/>
                </a:solidFill>
                <a:latin typeface="黑体"/>
                <a:cs typeface="黑体"/>
              </a:rPr>
              <a:t>：</a:t>
            </a:r>
            <a:endParaRPr sz="2200">
              <a:latin typeface="黑体"/>
              <a:cs typeface="黑体"/>
            </a:endParaRPr>
          </a:p>
          <a:p>
            <a:pPr lvl="2" marL="1307465" indent="-359410">
              <a:lnSpc>
                <a:spcPct val="100000"/>
              </a:lnSpc>
              <a:spcBef>
                <a:spcPts val="994"/>
              </a:spcBef>
              <a:buClr>
                <a:srgbClr val="4668F5"/>
              </a:buClr>
              <a:buSzPct val="70000"/>
              <a:buFont typeface="Wingdings"/>
              <a:buChar char=""/>
              <a:tabLst>
                <a:tab pos="1307465" algn="l"/>
              </a:tabLst>
            </a:pPr>
            <a:r>
              <a:rPr dirty="0" sz="2000" spc="-10" b="1">
                <a:solidFill>
                  <a:srgbClr val="9933FF"/>
                </a:solidFill>
                <a:latin typeface="宋体"/>
                <a:cs typeface="宋体"/>
              </a:rPr>
              <a:t>31</a:t>
            </a:r>
            <a:r>
              <a:rPr dirty="0" sz="2000" spc="-10" b="1">
                <a:solidFill>
                  <a:srgbClr val="9933FF"/>
                </a:solidFill>
                <a:latin typeface="黑体"/>
                <a:cs typeface="黑体"/>
              </a:rPr>
              <a:t>条</a:t>
            </a:r>
            <a:r>
              <a:rPr dirty="0" sz="2000" spc="-20" b="1">
                <a:solidFill>
                  <a:srgbClr val="6F2F9F"/>
                </a:solidFill>
                <a:latin typeface="黑体"/>
                <a:cs typeface="黑体"/>
              </a:rPr>
              <a:t>指令，指令字长都是</a:t>
            </a:r>
            <a:r>
              <a:rPr dirty="0" sz="2000" spc="-30" b="1">
                <a:solidFill>
                  <a:srgbClr val="9933FF"/>
                </a:solidFill>
                <a:latin typeface="宋体"/>
                <a:cs typeface="宋体"/>
              </a:rPr>
              <a:t>32</a:t>
            </a:r>
            <a:r>
              <a:rPr dirty="0" sz="2000" spc="-10" b="1">
                <a:solidFill>
                  <a:srgbClr val="9933FF"/>
                </a:solidFill>
                <a:latin typeface="黑体"/>
                <a:cs typeface="黑体"/>
              </a:rPr>
              <a:t>位</a:t>
            </a:r>
            <a:r>
              <a:rPr dirty="0" sz="2000" spc="-20" b="1">
                <a:solidFill>
                  <a:srgbClr val="6F2F9F"/>
                </a:solidFill>
                <a:latin typeface="黑体"/>
                <a:cs typeface="黑体"/>
              </a:rPr>
              <a:t>，</a:t>
            </a:r>
            <a:r>
              <a:rPr dirty="0" sz="2000" spc="-20" b="1">
                <a:solidFill>
                  <a:srgbClr val="9933FF"/>
                </a:solidFill>
                <a:latin typeface="宋体"/>
                <a:cs typeface="宋体"/>
              </a:rPr>
              <a:t>78</a:t>
            </a:r>
            <a:r>
              <a:rPr dirty="0" sz="2000" spc="-10" b="1">
                <a:solidFill>
                  <a:srgbClr val="9933FF"/>
                </a:solidFill>
                <a:latin typeface="黑体"/>
                <a:cs typeface="黑体"/>
              </a:rPr>
              <a:t>个</a:t>
            </a:r>
            <a:r>
              <a:rPr dirty="0" sz="2000" spc="-20" b="1">
                <a:solidFill>
                  <a:srgbClr val="6F2F9F"/>
                </a:solidFill>
                <a:latin typeface="黑体"/>
                <a:cs typeface="黑体"/>
              </a:rPr>
              <a:t>通用寄存器，时钟频率为</a:t>
            </a:r>
            <a:r>
              <a:rPr dirty="0" sz="2000" spc="-10" b="1">
                <a:solidFill>
                  <a:srgbClr val="9933FF"/>
                </a:solidFill>
                <a:latin typeface="宋体"/>
                <a:cs typeface="宋体"/>
              </a:rPr>
              <a:t>8MHz</a:t>
            </a:r>
            <a:r>
              <a:rPr dirty="0" sz="2000" spc="-10" b="1">
                <a:solidFill>
                  <a:srgbClr val="6F2F9F"/>
                </a:solidFill>
                <a:latin typeface="黑体"/>
                <a:cs typeface="黑体"/>
              </a:rPr>
              <a:t>；</a:t>
            </a:r>
            <a:endParaRPr sz="2000">
              <a:latin typeface="黑体"/>
              <a:cs typeface="黑体"/>
            </a:endParaRPr>
          </a:p>
          <a:p>
            <a:pPr lvl="2" marL="1307465" indent="-359410">
              <a:lnSpc>
                <a:spcPct val="100000"/>
              </a:lnSpc>
              <a:spcBef>
                <a:spcPts val="960"/>
              </a:spcBef>
              <a:buClr>
                <a:srgbClr val="4668F5"/>
              </a:buClr>
              <a:buSzPct val="70000"/>
              <a:buFont typeface="Wingdings"/>
              <a:buChar char=""/>
              <a:tabLst>
                <a:tab pos="1307465" algn="l"/>
              </a:tabLst>
            </a:pPr>
            <a:r>
              <a:rPr dirty="0" sz="2000" spc="-20" b="1">
                <a:solidFill>
                  <a:srgbClr val="6F2F9F"/>
                </a:solidFill>
                <a:latin typeface="黑体"/>
                <a:cs typeface="黑体"/>
              </a:rPr>
              <a:t>控制部分所占的芯片面积只有约</a:t>
            </a:r>
            <a:r>
              <a:rPr dirty="0" sz="2000" spc="-10" b="1">
                <a:solidFill>
                  <a:srgbClr val="9933FF"/>
                </a:solidFill>
                <a:latin typeface="宋体"/>
                <a:cs typeface="宋体"/>
              </a:rPr>
              <a:t>6%</a:t>
            </a:r>
            <a:r>
              <a:rPr dirty="0" sz="2000" spc="-20" b="1">
                <a:solidFill>
                  <a:srgbClr val="6F2F9F"/>
                </a:solidFill>
                <a:latin typeface="黑体"/>
                <a:cs typeface="黑体"/>
              </a:rPr>
              <a:t>。商品化微处理器</a:t>
            </a:r>
            <a:r>
              <a:rPr dirty="0" sz="2000" spc="-10" b="1">
                <a:solidFill>
                  <a:srgbClr val="6F2F9F"/>
                </a:solidFill>
                <a:latin typeface="宋体"/>
                <a:cs typeface="宋体"/>
              </a:rPr>
              <a:t>MC68000</a:t>
            </a:r>
            <a:r>
              <a:rPr dirty="0" sz="2000" spc="-50" b="1">
                <a:solidFill>
                  <a:srgbClr val="6F2F9F"/>
                </a:solidFill>
                <a:latin typeface="黑体"/>
                <a:cs typeface="黑体"/>
              </a:rPr>
              <a:t>和</a:t>
            </a:r>
            <a:endParaRPr sz="2000">
              <a:latin typeface="黑体"/>
              <a:cs typeface="黑体"/>
            </a:endParaRPr>
          </a:p>
          <a:p>
            <a:pPr marL="1308100">
              <a:lnSpc>
                <a:spcPct val="100000"/>
              </a:lnSpc>
              <a:spcBef>
                <a:spcPts val="480"/>
              </a:spcBef>
            </a:pPr>
            <a:r>
              <a:rPr dirty="0" sz="2000" spc="-10" b="1">
                <a:solidFill>
                  <a:srgbClr val="6F2F9F"/>
                </a:solidFill>
                <a:latin typeface="宋体"/>
                <a:cs typeface="宋体"/>
              </a:rPr>
              <a:t>Z8000</a:t>
            </a:r>
            <a:r>
              <a:rPr dirty="0" sz="2000" spc="-20" b="1">
                <a:solidFill>
                  <a:srgbClr val="6F2F9F"/>
                </a:solidFill>
                <a:latin typeface="黑体"/>
                <a:cs typeface="黑体"/>
              </a:rPr>
              <a:t>分别为</a:t>
            </a:r>
            <a:r>
              <a:rPr dirty="0" sz="2000" spc="-20" b="1">
                <a:solidFill>
                  <a:srgbClr val="6F2F9F"/>
                </a:solidFill>
                <a:latin typeface="宋体"/>
                <a:cs typeface="宋体"/>
              </a:rPr>
              <a:t>50%</a:t>
            </a:r>
            <a:r>
              <a:rPr dirty="0" sz="2000" spc="-10" b="1">
                <a:solidFill>
                  <a:srgbClr val="6F2F9F"/>
                </a:solidFill>
                <a:latin typeface="黑体"/>
                <a:cs typeface="黑体"/>
              </a:rPr>
              <a:t>和</a:t>
            </a:r>
            <a:r>
              <a:rPr dirty="0" sz="2000" spc="-20" b="1">
                <a:solidFill>
                  <a:srgbClr val="6F2F9F"/>
                </a:solidFill>
                <a:latin typeface="宋体"/>
                <a:cs typeface="宋体"/>
              </a:rPr>
              <a:t>53%</a:t>
            </a:r>
            <a:r>
              <a:rPr dirty="0" sz="2000" spc="-20" b="1">
                <a:solidFill>
                  <a:srgbClr val="6F2F9F"/>
                </a:solidFill>
                <a:latin typeface="黑体"/>
                <a:cs typeface="黑体"/>
              </a:rPr>
              <a:t>；</a:t>
            </a:r>
            <a:endParaRPr sz="2000">
              <a:latin typeface="黑体"/>
              <a:cs typeface="黑体"/>
            </a:endParaRPr>
          </a:p>
          <a:p>
            <a:pPr lvl="2" marL="1307465" indent="-359410">
              <a:lnSpc>
                <a:spcPct val="100000"/>
              </a:lnSpc>
              <a:spcBef>
                <a:spcPts val="960"/>
              </a:spcBef>
              <a:buClr>
                <a:srgbClr val="4668F5"/>
              </a:buClr>
              <a:buSzPct val="70000"/>
              <a:buFont typeface="Wingdings"/>
              <a:buChar char=""/>
              <a:tabLst>
                <a:tab pos="1307465" algn="l"/>
              </a:tabLst>
            </a:pPr>
            <a:r>
              <a:rPr dirty="0" sz="2000" spc="-5" b="1">
                <a:solidFill>
                  <a:srgbClr val="6F2F9F"/>
                </a:solidFill>
                <a:latin typeface="黑体"/>
                <a:cs typeface="黑体"/>
              </a:rPr>
              <a:t>性能比</a:t>
            </a:r>
            <a:r>
              <a:rPr dirty="0" sz="2000" spc="-20" b="1">
                <a:solidFill>
                  <a:srgbClr val="6F2F9F"/>
                </a:solidFill>
                <a:latin typeface="宋体"/>
                <a:cs typeface="宋体"/>
              </a:rPr>
              <a:t>MC68000</a:t>
            </a:r>
            <a:r>
              <a:rPr dirty="0" sz="2000" spc="-10" b="1">
                <a:solidFill>
                  <a:srgbClr val="6F2F9F"/>
                </a:solidFill>
                <a:latin typeface="黑体"/>
                <a:cs typeface="黑体"/>
              </a:rPr>
              <a:t>和</a:t>
            </a:r>
            <a:r>
              <a:rPr dirty="0" sz="2000" spc="-10" b="1">
                <a:solidFill>
                  <a:srgbClr val="6F2F9F"/>
                </a:solidFill>
                <a:latin typeface="宋体"/>
                <a:cs typeface="宋体"/>
              </a:rPr>
              <a:t>Z8000</a:t>
            </a:r>
            <a:r>
              <a:rPr dirty="0" sz="2000" spc="-10" b="1">
                <a:solidFill>
                  <a:srgbClr val="6F2F9F"/>
                </a:solidFill>
                <a:latin typeface="黑体"/>
                <a:cs typeface="黑体"/>
              </a:rPr>
              <a:t>快</a:t>
            </a:r>
            <a:r>
              <a:rPr dirty="0" sz="2000" spc="-20" b="1">
                <a:solidFill>
                  <a:srgbClr val="9933FF"/>
                </a:solidFill>
                <a:latin typeface="宋体"/>
                <a:cs typeface="宋体"/>
              </a:rPr>
              <a:t>3</a:t>
            </a:r>
            <a:r>
              <a:rPr dirty="0" sz="2000" spc="-20" b="1">
                <a:solidFill>
                  <a:srgbClr val="9933FF"/>
                </a:solidFill>
                <a:latin typeface="黑体"/>
                <a:cs typeface="黑体"/>
              </a:rPr>
              <a:t>～</a:t>
            </a:r>
            <a:r>
              <a:rPr dirty="0" sz="2000" spc="-20" b="1">
                <a:solidFill>
                  <a:srgbClr val="9933FF"/>
                </a:solidFill>
                <a:latin typeface="宋体"/>
                <a:cs typeface="宋体"/>
              </a:rPr>
              <a:t>4</a:t>
            </a:r>
            <a:r>
              <a:rPr dirty="0" sz="2000" spc="-30" b="1">
                <a:solidFill>
                  <a:srgbClr val="6F2F9F"/>
                </a:solidFill>
                <a:latin typeface="黑体"/>
                <a:cs typeface="黑体"/>
              </a:rPr>
              <a:t>倍。</a:t>
            </a:r>
            <a:endParaRPr sz="2000">
              <a:latin typeface="黑体"/>
              <a:cs typeface="黑体"/>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2.4</a:t>
            </a:r>
            <a:r>
              <a:rPr dirty="0" spc="-35">
                <a:solidFill>
                  <a:srgbClr val="4F55AC"/>
                </a:solidFill>
              </a:rPr>
              <a:t> </a:t>
            </a:r>
            <a:r>
              <a:rPr dirty="0">
                <a:solidFill>
                  <a:srgbClr val="4F55AC"/>
                </a:solidFill>
                <a:latin typeface="微软雅黑"/>
                <a:cs typeface="微软雅黑"/>
              </a:rPr>
              <a:t>指令系统的发展和改</a:t>
            </a:r>
            <a:r>
              <a:rPr dirty="0" spc="-50">
                <a:solidFill>
                  <a:srgbClr val="4F55AC"/>
                </a:solidFill>
                <a:latin typeface="微软雅黑"/>
                <a:cs typeface="微软雅黑"/>
              </a:rPr>
              <a:t>进</a:t>
            </a:r>
            <a:r>
              <a:rPr dirty="0">
                <a:solidFill>
                  <a:srgbClr val="4F55AC"/>
                </a:solidFill>
                <a:latin typeface="微软雅黑"/>
                <a:cs typeface="微软雅黑"/>
              </a:rPr>
              <a:t>	</a:t>
            </a:r>
          </a:p>
        </p:txBody>
      </p:sp>
      <p:sp>
        <p:nvSpPr>
          <p:cNvPr id="4" name="object 4" descr=""/>
          <p:cNvSpPr txBox="1"/>
          <p:nvPr/>
        </p:nvSpPr>
        <p:spPr>
          <a:xfrm>
            <a:off x="1982851" y="720647"/>
            <a:ext cx="8411845" cy="4930140"/>
          </a:xfrm>
          <a:prstGeom prst="rect">
            <a:avLst/>
          </a:prstGeom>
        </p:spPr>
        <p:txBody>
          <a:bodyPr wrap="square" lIns="0" tIns="149225" rIns="0" bIns="0" rtlCol="0" vert="horz">
            <a:spAutoFit/>
          </a:bodyPr>
          <a:lstStyle/>
          <a:p>
            <a:pPr marL="283845" indent="-271145">
              <a:lnSpc>
                <a:spcPct val="100000"/>
              </a:lnSpc>
              <a:spcBef>
                <a:spcPts val="1175"/>
              </a:spcBef>
              <a:buSzPct val="88636"/>
              <a:buFont typeface="Wingdings"/>
              <a:buChar char=""/>
              <a:tabLst>
                <a:tab pos="283845" algn="l"/>
              </a:tabLst>
            </a:pPr>
            <a:r>
              <a:rPr dirty="0" sz="2200" spc="-10">
                <a:solidFill>
                  <a:srgbClr val="006FC0"/>
                </a:solidFill>
                <a:latin typeface="Times New Roman"/>
                <a:cs typeface="Times New Roman"/>
              </a:rPr>
              <a:t>1981</a:t>
            </a:r>
            <a:r>
              <a:rPr dirty="0" sz="2200" spc="-20">
                <a:solidFill>
                  <a:srgbClr val="006FC0"/>
                </a:solidFill>
                <a:latin typeface="黑体"/>
                <a:cs typeface="黑体"/>
              </a:rPr>
              <a:t>年，</a:t>
            </a:r>
            <a:r>
              <a:rPr dirty="0" sz="2200" spc="-10">
                <a:solidFill>
                  <a:srgbClr val="006FC0"/>
                </a:solidFill>
                <a:latin typeface="Times New Roman"/>
                <a:cs typeface="Times New Roman"/>
              </a:rPr>
              <a:t>Stanford</a:t>
            </a:r>
            <a:r>
              <a:rPr dirty="0" sz="2200" spc="-25">
                <a:solidFill>
                  <a:srgbClr val="006FC0"/>
                </a:solidFill>
                <a:latin typeface="黑体"/>
                <a:cs typeface="黑体"/>
              </a:rPr>
              <a:t>大学</a:t>
            </a:r>
            <a:r>
              <a:rPr dirty="0" sz="2200" spc="-10">
                <a:solidFill>
                  <a:srgbClr val="006FC0"/>
                </a:solidFill>
                <a:latin typeface="Times New Roman"/>
                <a:cs typeface="Times New Roman"/>
              </a:rPr>
              <a:t>Hennessy</a:t>
            </a:r>
            <a:r>
              <a:rPr dirty="0" sz="2200" spc="-25">
                <a:solidFill>
                  <a:srgbClr val="006FC0"/>
                </a:solidFill>
                <a:latin typeface="黑体"/>
                <a:cs typeface="黑体"/>
              </a:rPr>
              <a:t>等人的</a:t>
            </a:r>
            <a:r>
              <a:rPr dirty="0" sz="2200" spc="-20">
                <a:solidFill>
                  <a:srgbClr val="006FC0"/>
                </a:solidFill>
                <a:latin typeface="Times New Roman"/>
                <a:cs typeface="Times New Roman"/>
              </a:rPr>
              <a:t>MIPS</a:t>
            </a:r>
            <a:endParaRPr sz="2200">
              <a:latin typeface="Times New Roman"/>
              <a:cs typeface="Times New Roman"/>
            </a:endParaRPr>
          </a:p>
          <a:p>
            <a:pPr lvl="1" marL="895985" indent="-357505">
              <a:lnSpc>
                <a:spcPct val="100000"/>
              </a:lnSpc>
              <a:spcBef>
                <a:spcPts val="990"/>
              </a:spcBef>
              <a:buClr>
                <a:srgbClr val="4668F5"/>
              </a:buClr>
              <a:buSzPct val="72500"/>
              <a:buFont typeface="Wingdings"/>
              <a:buChar char=""/>
              <a:tabLst>
                <a:tab pos="895985" algn="l"/>
              </a:tabLst>
            </a:pPr>
            <a:r>
              <a:rPr dirty="0" sz="2000" spc="-15" b="1">
                <a:solidFill>
                  <a:srgbClr val="6F2F9F"/>
                </a:solidFill>
                <a:latin typeface="黑体"/>
                <a:cs typeface="黑体"/>
              </a:rPr>
              <a:t>后来发展成了</a:t>
            </a:r>
            <a:r>
              <a:rPr dirty="0" sz="2000" b="1">
                <a:solidFill>
                  <a:srgbClr val="6F2F9F"/>
                </a:solidFill>
                <a:latin typeface="Times New Roman"/>
                <a:cs typeface="Times New Roman"/>
              </a:rPr>
              <a:t>MIPS</a:t>
            </a:r>
            <a:r>
              <a:rPr dirty="0" sz="2000" spc="-55" b="1">
                <a:solidFill>
                  <a:srgbClr val="6F2F9F"/>
                </a:solidFill>
                <a:latin typeface="Times New Roman"/>
                <a:cs typeface="Times New Roman"/>
              </a:rPr>
              <a:t> </a:t>
            </a:r>
            <a:r>
              <a:rPr dirty="0" sz="2000" b="1">
                <a:solidFill>
                  <a:srgbClr val="6F2F9F"/>
                </a:solidFill>
                <a:latin typeface="Times New Roman"/>
                <a:cs typeface="Times New Roman"/>
              </a:rPr>
              <a:t>Rxxx</a:t>
            </a:r>
            <a:r>
              <a:rPr dirty="0" sz="2000" spc="-25" b="1">
                <a:solidFill>
                  <a:srgbClr val="6F2F9F"/>
                </a:solidFill>
                <a:latin typeface="黑体"/>
                <a:cs typeface="黑体"/>
              </a:rPr>
              <a:t>系列微处理器。</a:t>
            </a:r>
            <a:endParaRPr sz="2000">
              <a:latin typeface="黑体"/>
              <a:cs typeface="黑体"/>
            </a:endParaRPr>
          </a:p>
          <a:p>
            <a:pPr marL="283845" indent="-271145">
              <a:lnSpc>
                <a:spcPct val="100000"/>
              </a:lnSpc>
              <a:spcBef>
                <a:spcPts val="1030"/>
              </a:spcBef>
              <a:buSzPct val="88636"/>
              <a:buFont typeface="Wingdings"/>
              <a:buChar char=""/>
              <a:tabLst>
                <a:tab pos="283845" algn="l"/>
              </a:tabLst>
            </a:pPr>
            <a:r>
              <a:rPr dirty="0" sz="2200" spc="-10">
                <a:solidFill>
                  <a:srgbClr val="006FC0"/>
                </a:solidFill>
                <a:latin typeface="Times New Roman"/>
                <a:cs typeface="Times New Roman"/>
              </a:rPr>
              <a:t>1983</a:t>
            </a:r>
            <a:r>
              <a:rPr dirty="0" sz="2200" spc="-20">
                <a:solidFill>
                  <a:srgbClr val="006FC0"/>
                </a:solidFill>
                <a:latin typeface="黑体"/>
                <a:cs typeface="黑体"/>
              </a:rPr>
              <a:t>年的</a:t>
            </a:r>
            <a:r>
              <a:rPr dirty="0" sz="2200">
                <a:solidFill>
                  <a:srgbClr val="006FC0"/>
                </a:solidFill>
                <a:latin typeface="Times New Roman"/>
                <a:cs typeface="Times New Roman"/>
              </a:rPr>
              <a:t>RISC</a:t>
            </a:r>
            <a:r>
              <a:rPr dirty="0" sz="2200" spc="-40">
                <a:solidFill>
                  <a:srgbClr val="006FC0"/>
                </a:solidFill>
                <a:latin typeface="Times New Roman"/>
                <a:cs typeface="Times New Roman"/>
              </a:rPr>
              <a:t> Ⅱ</a:t>
            </a:r>
            <a:r>
              <a:rPr dirty="0" sz="2200" spc="-25">
                <a:solidFill>
                  <a:srgbClr val="006FC0"/>
                </a:solidFill>
                <a:latin typeface="黑体"/>
                <a:cs typeface="黑体"/>
              </a:rPr>
              <a:t>：</a:t>
            </a:r>
            <a:endParaRPr sz="2200">
              <a:latin typeface="黑体"/>
              <a:cs typeface="黑体"/>
            </a:endParaRPr>
          </a:p>
          <a:p>
            <a:pPr lvl="1" marL="895985" indent="-357505">
              <a:lnSpc>
                <a:spcPct val="100000"/>
              </a:lnSpc>
              <a:spcBef>
                <a:spcPts val="990"/>
              </a:spcBef>
              <a:buClr>
                <a:srgbClr val="4668F5"/>
              </a:buClr>
              <a:buSzPct val="70000"/>
              <a:buFont typeface="Wingdings"/>
              <a:buChar char=""/>
              <a:tabLst>
                <a:tab pos="895985" algn="l"/>
              </a:tabLst>
            </a:pPr>
            <a:r>
              <a:rPr dirty="0" sz="2000" spc="-10" b="1">
                <a:solidFill>
                  <a:srgbClr val="6F2F9F"/>
                </a:solidFill>
                <a:latin typeface="黑体"/>
                <a:cs typeface="黑体"/>
              </a:rPr>
              <a:t>指令条数为</a:t>
            </a:r>
            <a:r>
              <a:rPr dirty="0" sz="2000" spc="-20" b="1">
                <a:solidFill>
                  <a:srgbClr val="9933FF"/>
                </a:solidFill>
                <a:latin typeface="宋体"/>
                <a:cs typeface="宋体"/>
              </a:rPr>
              <a:t>39</a:t>
            </a:r>
            <a:r>
              <a:rPr dirty="0" sz="2000" spc="-20" b="1">
                <a:solidFill>
                  <a:srgbClr val="6F2F9F"/>
                </a:solidFill>
                <a:latin typeface="黑体"/>
                <a:cs typeface="黑体"/>
              </a:rPr>
              <a:t>，通用寄存器个数为</a:t>
            </a:r>
            <a:r>
              <a:rPr dirty="0" sz="2000" spc="-20" b="1">
                <a:solidFill>
                  <a:srgbClr val="9933FF"/>
                </a:solidFill>
                <a:latin typeface="宋体"/>
                <a:cs typeface="宋体"/>
              </a:rPr>
              <a:t>138</a:t>
            </a:r>
            <a:r>
              <a:rPr dirty="0" sz="2000" spc="-20" b="1">
                <a:solidFill>
                  <a:srgbClr val="6F2F9F"/>
                </a:solidFill>
                <a:latin typeface="黑体"/>
                <a:cs typeface="黑体"/>
              </a:rPr>
              <a:t>，时钟频率为</a:t>
            </a:r>
            <a:r>
              <a:rPr dirty="0" sz="2000" spc="-10" b="1">
                <a:solidFill>
                  <a:srgbClr val="9933FF"/>
                </a:solidFill>
                <a:latin typeface="宋体"/>
                <a:cs typeface="宋体"/>
              </a:rPr>
              <a:t>12MHz</a:t>
            </a:r>
            <a:r>
              <a:rPr dirty="0" sz="2000" spc="-50" b="1">
                <a:solidFill>
                  <a:srgbClr val="6F2F9F"/>
                </a:solidFill>
                <a:latin typeface="黑体"/>
                <a:cs typeface="黑体"/>
              </a:rPr>
              <a:t>。</a:t>
            </a:r>
            <a:endParaRPr sz="2000">
              <a:latin typeface="黑体"/>
              <a:cs typeface="黑体"/>
            </a:endParaRPr>
          </a:p>
          <a:p>
            <a:pPr lvl="1" marL="895985" indent="-357505">
              <a:lnSpc>
                <a:spcPct val="100000"/>
              </a:lnSpc>
              <a:spcBef>
                <a:spcPts val="960"/>
              </a:spcBef>
              <a:buClr>
                <a:srgbClr val="4668F5"/>
              </a:buClr>
              <a:buSzPct val="70000"/>
              <a:buFont typeface="Wingdings"/>
              <a:buChar char=""/>
              <a:tabLst>
                <a:tab pos="895985" algn="l"/>
              </a:tabLst>
            </a:pPr>
            <a:r>
              <a:rPr dirty="0" sz="2000" spc="-5" b="1">
                <a:solidFill>
                  <a:srgbClr val="6F2F9F"/>
                </a:solidFill>
                <a:latin typeface="黑体"/>
                <a:cs typeface="黑体"/>
              </a:rPr>
              <a:t>后来，</a:t>
            </a:r>
            <a:r>
              <a:rPr dirty="0" sz="2000" spc="-10" b="1">
                <a:solidFill>
                  <a:srgbClr val="6F2F9F"/>
                </a:solidFill>
                <a:latin typeface="宋体"/>
                <a:cs typeface="宋体"/>
              </a:rPr>
              <a:t>1987</a:t>
            </a:r>
            <a:r>
              <a:rPr dirty="0" sz="2000" spc="-20" b="1">
                <a:solidFill>
                  <a:srgbClr val="6F2F9F"/>
                </a:solidFill>
                <a:latin typeface="黑体"/>
                <a:cs typeface="黑体"/>
              </a:rPr>
              <a:t>年发展成了</a:t>
            </a:r>
            <a:r>
              <a:rPr dirty="0" sz="2000" spc="-10" b="1">
                <a:solidFill>
                  <a:srgbClr val="6F2F9F"/>
                </a:solidFill>
                <a:latin typeface="宋体"/>
                <a:cs typeface="宋体"/>
              </a:rPr>
              <a:t>Sun</a:t>
            </a:r>
            <a:r>
              <a:rPr dirty="0" sz="2000" spc="-20" b="1">
                <a:solidFill>
                  <a:srgbClr val="6F2F9F"/>
                </a:solidFill>
                <a:latin typeface="黑体"/>
                <a:cs typeface="黑体"/>
              </a:rPr>
              <a:t>公司的</a:t>
            </a:r>
            <a:r>
              <a:rPr dirty="0" sz="2000" spc="-10" b="1">
                <a:solidFill>
                  <a:srgbClr val="6F2F9F"/>
                </a:solidFill>
                <a:latin typeface="宋体"/>
                <a:cs typeface="宋体"/>
              </a:rPr>
              <a:t>SPARC</a:t>
            </a:r>
            <a:r>
              <a:rPr dirty="0" sz="2000" spc="-25" b="1">
                <a:solidFill>
                  <a:srgbClr val="6F2F9F"/>
                </a:solidFill>
                <a:latin typeface="黑体"/>
                <a:cs typeface="黑体"/>
              </a:rPr>
              <a:t>系列微处理器。</a:t>
            </a:r>
            <a:endParaRPr sz="2000">
              <a:latin typeface="黑体"/>
              <a:cs typeface="黑体"/>
            </a:endParaRPr>
          </a:p>
          <a:p>
            <a:pPr marL="283845" marR="155575" indent="-271780">
              <a:lnSpc>
                <a:spcPct val="120000"/>
              </a:lnSpc>
              <a:spcBef>
                <a:spcPts val="500"/>
              </a:spcBef>
              <a:buSzPct val="68181"/>
              <a:buFont typeface="Wingdings"/>
              <a:buChar char=""/>
              <a:tabLst>
                <a:tab pos="283845" algn="l"/>
              </a:tabLst>
            </a:pPr>
            <a:r>
              <a:rPr dirty="0" sz="2200" spc="-10">
                <a:solidFill>
                  <a:srgbClr val="006FC0"/>
                </a:solidFill>
                <a:latin typeface="宋体"/>
                <a:cs typeface="宋体"/>
              </a:rPr>
              <a:t>1992</a:t>
            </a:r>
            <a:r>
              <a:rPr dirty="0" sz="2200" spc="-20">
                <a:solidFill>
                  <a:srgbClr val="006FC0"/>
                </a:solidFill>
                <a:latin typeface="黑体"/>
                <a:cs typeface="黑体"/>
              </a:rPr>
              <a:t>年</a:t>
            </a:r>
            <a:r>
              <a:rPr dirty="0" sz="2200" spc="-10">
                <a:solidFill>
                  <a:srgbClr val="006FC0"/>
                </a:solidFill>
                <a:latin typeface="宋体"/>
                <a:cs typeface="宋体"/>
              </a:rPr>
              <a:t>DEC</a:t>
            </a:r>
            <a:r>
              <a:rPr dirty="0" sz="2200" spc="-35">
                <a:solidFill>
                  <a:srgbClr val="006FC0"/>
                </a:solidFill>
                <a:latin typeface="黑体"/>
                <a:cs typeface="黑体"/>
              </a:rPr>
              <a:t>公司转为高端台式机、工作站服务器设计的未处理器架</a:t>
            </a:r>
            <a:r>
              <a:rPr dirty="0" sz="2200" spc="-20">
                <a:solidFill>
                  <a:srgbClr val="006FC0"/>
                </a:solidFill>
                <a:latin typeface="黑体"/>
                <a:cs typeface="黑体"/>
              </a:rPr>
              <a:t>构</a:t>
            </a:r>
            <a:r>
              <a:rPr dirty="0" sz="2200" spc="-10">
                <a:solidFill>
                  <a:srgbClr val="006FC0"/>
                </a:solidFill>
                <a:latin typeface="宋体"/>
                <a:cs typeface="宋体"/>
              </a:rPr>
              <a:t>Alpha</a:t>
            </a:r>
            <a:r>
              <a:rPr dirty="0" sz="2200" spc="-35">
                <a:solidFill>
                  <a:srgbClr val="006FC0"/>
                </a:solidFill>
                <a:latin typeface="黑体"/>
                <a:cs typeface="黑体"/>
              </a:rPr>
              <a:t>问世</a:t>
            </a:r>
            <a:endParaRPr sz="2200">
              <a:latin typeface="黑体"/>
              <a:cs typeface="黑体"/>
            </a:endParaRPr>
          </a:p>
          <a:p>
            <a:pPr marL="283210" indent="-270510">
              <a:lnSpc>
                <a:spcPct val="100000"/>
              </a:lnSpc>
              <a:spcBef>
                <a:spcPts val="1055"/>
              </a:spcBef>
              <a:buSzPct val="68181"/>
              <a:buFont typeface="Wingdings"/>
              <a:buChar char=""/>
              <a:tabLst>
                <a:tab pos="283210" algn="l"/>
              </a:tabLst>
            </a:pPr>
            <a:r>
              <a:rPr dirty="0" sz="2200" spc="-20">
                <a:solidFill>
                  <a:srgbClr val="006FC0"/>
                </a:solidFill>
                <a:latin typeface="宋体"/>
                <a:cs typeface="宋体"/>
              </a:rPr>
              <a:t>MIPS</a:t>
            </a:r>
            <a:r>
              <a:rPr dirty="0" sz="2200" spc="-30">
                <a:solidFill>
                  <a:srgbClr val="006FC0"/>
                </a:solidFill>
                <a:latin typeface="黑体"/>
                <a:cs typeface="黑体"/>
              </a:rPr>
              <a:t>风靡一时，</a:t>
            </a:r>
            <a:r>
              <a:rPr dirty="0" sz="2200" spc="-20">
                <a:solidFill>
                  <a:srgbClr val="006FC0"/>
                </a:solidFill>
                <a:latin typeface="宋体"/>
                <a:cs typeface="宋体"/>
              </a:rPr>
              <a:t>2011</a:t>
            </a:r>
            <a:r>
              <a:rPr dirty="0" sz="2200" spc="-30">
                <a:solidFill>
                  <a:srgbClr val="006FC0"/>
                </a:solidFill>
                <a:latin typeface="黑体"/>
                <a:cs typeface="黑体"/>
              </a:rPr>
              <a:t>年龙芯中科购买</a:t>
            </a:r>
            <a:r>
              <a:rPr dirty="0" sz="2200" spc="-20">
                <a:solidFill>
                  <a:srgbClr val="006FC0"/>
                </a:solidFill>
                <a:latin typeface="宋体"/>
                <a:cs typeface="宋体"/>
              </a:rPr>
              <a:t>Mips</a:t>
            </a:r>
            <a:r>
              <a:rPr dirty="0" sz="2200" spc="-35">
                <a:solidFill>
                  <a:srgbClr val="006FC0"/>
                </a:solidFill>
                <a:latin typeface="黑体"/>
                <a:cs typeface="黑体"/>
              </a:rPr>
              <a:t>架构授权</a:t>
            </a:r>
            <a:r>
              <a:rPr dirty="0" sz="2200" spc="-35">
                <a:solidFill>
                  <a:srgbClr val="006FC0"/>
                </a:solidFill>
                <a:latin typeface="宋体"/>
                <a:cs typeface="宋体"/>
              </a:rPr>
              <a:t>—</a:t>
            </a:r>
            <a:r>
              <a:rPr dirty="0" sz="2200" spc="-35">
                <a:solidFill>
                  <a:srgbClr val="006FC0"/>
                </a:solidFill>
                <a:latin typeface="黑体"/>
                <a:cs typeface="黑体"/>
              </a:rPr>
              <a:t>继续优化</a:t>
            </a:r>
            <a:endParaRPr sz="2200">
              <a:latin typeface="黑体"/>
              <a:cs typeface="黑体"/>
            </a:endParaRPr>
          </a:p>
          <a:p>
            <a:pPr marL="283845" indent="-271145">
              <a:lnSpc>
                <a:spcPct val="100000"/>
              </a:lnSpc>
              <a:spcBef>
                <a:spcPts val="1060"/>
              </a:spcBef>
              <a:buSzPct val="88636"/>
              <a:buFont typeface="Wingdings"/>
              <a:buChar char=""/>
              <a:tabLst>
                <a:tab pos="283845" algn="l"/>
              </a:tabLst>
            </a:pPr>
            <a:r>
              <a:rPr dirty="0" sz="2200" spc="-25">
                <a:solidFill>
                  <a:srgbClr val="006FC0"/>
                </a:solidFill>
                <a:latin typeface="Times New Roman"/>
                <a:cs typeface="Times New Roman"/>
              </a:rPr>
              <a:t>IBM</a:t>
            </a:r>
            <a:r>
              <a:rPr dirty="0" sz="2200" spc="-20">
                <a:solidFill>
                  <a:srgbClr val="006FC0"/>
                </a:solidFill>
                <a:latin typeface="黑体"/>
                <a:cs typeface="黑体"/>
              </a:rPr>
              <a:t>的</a:t>
            </a:r>
            <a:r>
              <a:rPr dirty="0" sz="2200" spc="-25">
                <a:solidFill>
                  <a:srgbClr val="006FC0"/>
                </a:solidFill>
                <a:latin typeface="Times New Roman"/>
                <a:cs typeface="Times New Roman"/>
              </a:rPr>
              <a:t>801</a:t>
            </a:r>
            <a:endParaRPr sz="2200">
              <a:latin typeface="Times New Roman"/>
              <a:cs typeface="Times New Roman"/>
            </a:endParaRPr>
          </a:p>
          <a:p>
            <a:pPr marL="12700">
              <a:lnSpc>
                <a:spcPct val="100000"/>
              </a:lnSpc>
              <a:spcBef>
                <a:spcPts val="1055"/>
              </a:spcBef>
            </a:pPr>
            <a:r>
              <a:rPr dirty="0" sz="2200" spc="-20">
                <a:solidFill>
                  <a:srgbClr val="E14B04"/>
                </a:solidFill>
                <a:latin typeface="黑体"/>
                <a:cs typeface="黑体"/>
              </a:rPr>
              <a:t>共同特点：</a:t>
            </a:r>
            <a:r>
              <a:rPr dirty="0" sz="2200" spc="-30">
                <a:solidFill>
                  <a:srgbClr val="006FC0"/>
                </a:solidFill>
                <a:latin typeface="黑体"/>
                <a:cs typeface="黑体"/>
              </a:rPr>
              <a:t>采用</a:t>
            </a:r>
            <a:r>
              <a:rPr dirty="0" sz="2200" spc="-10">
                <a:solidFill>
                  <a:srgbClr val="9933FF"/>
                </a:solidFill>
                <a:latin typeface="宋体"/>
                <a:cs typeface="宋体"/>
              </a:rPr>
              <a:t>load-store</a:t>
            </a:r>
            <a:r>
              <a:rPr dirty="0" sz="2200" spc="-30">
                <a:solidFill>
                  <a:srgbClr val="006FC0"/>
                </a:solidFill>
                <a:latin typeface="黑体"/>
                <a:cs typeface="黑体"/>
              </a:rPr>
              <a:t>结构；指令字长为</a:t>
            </a:r>
            <a:r>
              <a:rPr dirty="0" sz="2200" spc="-20">
                <a:solidFill>
                  <a:srgbClr val="9933FF"/>
                </a:solidFill>
                <a:latin typeface="宋体"/>
                <a:cs typeface="宋体"/>
              </a:rPr>
              <a:t>32</a:t>
            </a:r>
            <a:r>
              <a:rPr dirty="0" sz="2200" spc="-35">
                <a:solidFill>
                  <a:srgbClr val="006FC0"/>
                </a:solidFill>
                <a:latin typeface="黑体"/>
                <a:cs typeface="黑体"/>
              </a:rPr>
              <a:t>位；采用高效的流水</a:t>
            </a:r>
            <a:endParaRPr sz="2200">
              <a:latin typeface="黑体"/>
              <a:cs typeface="黑体"/>
            </a:endParaRPr>
          </a:p>
          <a:p>
            <a:pPr marL="283845">
              <a:lnSpc>
                <a:spcPct val="100000"/>
              </a:lnSpc>
              <a:spcBef>
                <a:spcPts val="525"/>
              </a:spcBef>
            </a:pPr>
            <a:r>
              <a:rPr dirty="0" sz="2200" spc="-40">
                <a:solidFill>
                  <a:srgbClr val="006FC0"/>
                </a:solidFill>
                <a:latin typeface="黑体"/>
                <a:cs typeface="黑体"/>
              </a:rPr>
              <a:t>技术</a:t>
            </a:r>
            <a:endParaRPr sz="2200">
              <a:latin typeface="黑体"/>
              <a:cs typeface="黑体"/>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2.4</a:t>
            </a:r>
            <a:r>
              <a:rPr dirty="0" spc="-35">
                <a:solidFill>
                  <a:srgbClr val="4F55AC"/>
                </a:solidFill>
              </a:rPr>
              <a:t> </a:t>
            </a:r>
            <a:r>
              <a:rPr dirty="0">
                <a:solidFill>
                  <a:srgbClr val="4F55AC"/>
                </a:solidFill>
                <a:latin typeface="微软雅黑"/>
                <a:cs typeface="微软雅黑"/>
              </a:rPr>
              <a:t>指令系统的发展和改</a:t>
            </a:r>
            <a:r>
              <a:rPr dirty="0" spc="-50">
                <a:solidFill>
                  <a:srgbClr val="4F55AC"/>
                </a:solidFill>
                <a:latin typeface="微软雅黑"/>
                <a:cs typeface="微软雅黑"/>
              </a:rPr>
              <a:t>进</a:t>
            </a:r>
            <a:r>
              <a:rPr dirty="0">
                <a:solidFill>
                  <a:srgbClr val="4F55AC"/>
                </a:solidFill>
                <a:latin typeface="微软雅黑"/>
                <a:cs typeface="微软雅黑"/>
              </a:rPr>
              <a:t>	</a:t>
            </a:r>
          </a:p>
        </p:txBody>
      </p:sp>
      <p:sp>
        <p:nvSpPr>
          <p:cNvPr id="4" name="object 4" descr=""/>
          <p:cNvSpPr txBox="1"/>
          <p:nvPr/>
        </p:nvSpPr>
        <p:spPr>
          <a:xfrm>
            <a:off x="1820672" y="639351"/>
            <a:ext cx="8308340" cy="4497705"/>
          </a:xfrm>
          <a:prstGeom prst="rect">
            <a:avLst/>
          </a:prstGeom>
        </p:spPr>
        <p:txBody>
          <a:bodyPr wrap="square" lIns="0" tIns="200025" rIns="0" bIns="0" rtlCol="0" vert="horz">
            <a:spAutoFit/>
          </a:bodyPr>
          <a:lstStyle/>
          <a:p>
            <a:pPr marL="469265" indent="-456565">
              <a:lnSpc>
                <a:spcPct val="100000"/>
              </a:lnSpc>
              <a:spcBef>
                <a:spcPts val="1575"/>
              </a:spcBef>
              <a:buClr>
                <a:srgbClr val="40458B"/>
              </a:buClr>
              <a:buSzPct val="117857"/>
              <a:buFont typeface="Wingdings"/>
              <a:buChar char=""/>
              <a:tabLst>
                <a:tab pos="469265" algn="l"/>
              </a:tabLst>
            </a:pPr>
            <a:r>
              <a:rPr dirty="0" sz="2800" spc="-25">
                <a:solidFill>
                  <a:srgbClr val="172152"/>
                </a:solidFill>
                <a:latin typeface="黑体"/>
                <a:cs typeface="黑体"/>
              </a:rPr>
              <a:t>RISC</a:t>
            </a:r>
            <a:r>
              <a:rPr dirty="0" sz="2800" spc="-40">
                <a:solidFill>
                  <a:srgbClr val="172152"/>
                </a:solidFill>
                <a:latin typeface="黑体"/>
                <a:cs typeface="黑体"/>
              </a:rPr>
              <a:t>技术优势</a:t>
            </a:r>
            <a:endParaRPr sz="2800">
              <a:latin typeface="黑体"/>
              <a:cs typeface="黑体"/>
            </a:endParaRPr>
          </a:p>
          <a:p>
            <a:pPr lvl="1" marL="1027430" indent="-457200">
              <a:lnSpc>
                <a:spcPct val="100000"/>
              </a:lnSpc>
              <a:spcBef>
                <a:spcPts val="1155"/>
              </a:spcBef>
              <a:buSzPct val="88636"/>
              <a:buFont typeface="Wingdings"/>
              <a:buChar char=""/>
              <a:tabLst>
                <a:tab pos="1027430" algn="l"/>
              </a:tabLst>
            </a:pPr>
            <a:r>
              <a:rPr dirty="0" sz="2200" spc="-35">
                <a:solidFill>
                  <a:srgbClr val="006FC0"/>
                </a:solidFill>
                <a:latin typeface="黑体"/>
                <a:cs typeface="黑体"/>
              </a:rPr>
              <a:t>简化指令系统设计，适合超大规模集成电路实现；</a:t>
            </a:r>
            <a:endParaRPr sz="2200">
              <a:latin typeface="黑体"/>
              <a:cs typeface="黑体"/>
            </a:endParaRPr>
          </a:p>
          <a:p>
            <a:pPr lvl="1" marL="1027430" indent="-457200">
              <a:lnSpc>
                <a:spcPct val="100000"/>
              </a:lnSpc>
              <a:spcBef>
                <a:spcPts val="1055"/>
              </a:spcBef>
              <a:buSzPct val="88636"/>
              <a:buFont typeface="Wingdings"/>
              <a:buChar char=""/>
              <a:tabLst>
                <a:tab pos="1027430" algn="l"/>
              </a:tabLst>
            </a:pPr>
            <a:r>
              <a:rPr dirty="0" sz="2200" spc="-35">
                <a:solidFill>
                  <a:srgbClr val="006FC0"/>
                </a:solidFill>
                <a:latin typeface="黑体"/>
                <a:cs typeface="黑体"/>
              </a:rPr>
              <a:t>提高机器的执行速度和效率；</a:t>
            </a:r>
            <a:endParaRPr sz="2200">
              <a:latin typeface="黑体"/>
              <a:cs typeface="黑体"/>
            </a:endParaRPr>
          </a:p>
          <a:p>
            <a:pPr lvl="1" marL="1027430" indent="-457200">
              <a:lnSpc>
                <a:spcPct val="100000"/>
              </a:lnSpc>
              <a:spcBef>
                <a:spcPts val="1055"/>
              </a:spcBef>
              <a:buSzPct val="88636"/>
              <a:buFont typeface="Wingdings"/>
              <a:buChar char=""/>
              <a:tabLst>
                <a:tab pos="1027430" algn="l"/>
              </a:tabLst>
            </a:pPr>
            <a:r>
              <a:rPr dirty="0" sz="2200" spc="-35">
                <a:solidFill>
                  <a:srgbClr val="006FC0"/>
                </a:solidFill>
                <a:latin typeface="黑体"/>
                <a:cs typeface="黑体"/>
              </a:rPr>
              <a:t>降低设计成本，提高了系统的可靠性；</a:t>
            </a:r>
            <a:endParaRPr sz="2200">
              <a:latin typeface="黑体"/>
              <a:cs typeface="黑体"/>
            </a:endParaRPr>
          </a:p>
          <a:p>
            <a:pPr lvl="1" marL="1027430" indent="-457200">
              <a:lnSpc>
                <a:spcPct val="100000"/>
              </a:lnSpc>
              <a:spcBef>
                <a:spcPts val="1060"/>
              </a:spcBef>
              <a:buSzPct val="88636"/>
              <a:buFont typeface="Wingdings"/>
              <a:buChar char=""/>
              <a:tabLst>
                <a:tab pos="1027430" algn="l"/>
              </a:tabLst>
            </a:pPr>
            <a:r>
              <a:rPr dirty="0" sz="2200" spc="-35">
                <a:solidFill>
                  <a:srgbClr val="006FC0"/>
                </a:solidFill>
                <a:latin typeface="黑体"/>
                <a:cs typeface="黑体"/>
              </a:rPr>
              <a:t>可以提供直接支持高级语言的能力，简化编译系统的设计。</a:t>
            </a:r>
            <a:endParaRPr sz="2200">
              <a:latin typeface="黑体"/>
              <a:cs typeface="黑体"/>
            </a:endParaRPr>
          </a:p>
          <a:p>
            <a:pPr marL="685165" indent="-456565">
              <a:lnSpc>
                <a:spcPct val="100000"/>
              </a:lnSpc>
              <a:spcBef>
                <a:spcPts val="1245"/>
              </a:spcBef>
              <a:buClr>
                <a:srgbClr val="40458B"/>
              </a:buClr>
              <a:buSzPct val="117857"/>
              <a:buFont typeface="Wingdings"/>
              <a:buChar char=""/>
              <a:tabLst>
                <a:tab pos="685165" algn="l"/>
              </a:tabLst>
            </a:pPr>
            <a:r>
              <a:rPr dirty="0" sz="2800" spc="-20">
                <a:solidFill>
                  <a:srgbClr val="172152"/>
                </a:solidFill>
                <a:latin typeface="黑体"/>
                <a:cs typeface="黑体"/>
              </a:rPr>
              <a:t>RISC</a:t>
            </a:r>
            <a:r>
              <a:rPr dirty="0" sz="2800" spc="-35">
                <a:solidFill>
                  <a:srgbClr val="172152"/>
                </a:solidFill>
                <a:latin typeface="黑体"/>
                <a:cs typeface="黑体"/>
              </a:rPr>
              <a:t>技术不足</a:t>
            </a:r>
            <a:endParaRPr sz="2800">
              <a:latin typeface="黑体"/>
              <a:cs typeface="黑体"/>
            </a:endParaRPr>
          </a:p>
          <a:p>
            <a:pPr lvl="1" marL="1027430" indent="-457200">
              <a:lnSpc>
                <a:spcPct val="100000"/>
              </a:lnSpc>
              <a:spcBef>
                <a:spcPts val="1155"/>
              </a:spcBef>
              <a:buSzPct val="88636"/>
              <a:buFont typeface="Wingdings"/>
              <a:buChar char=""/>
              <a:tabLst>
                <a:tab pos="1027430" algn="l"/>
              </a:tabLst>
            </a:pPr>
            <a:r>
              <a:rPr dirty="0" sz="2200" spc="-20">
                <a:solidFill>
                  <a:srgbClr val="006FC0"/>
                </a:solidFill>
                <a:latin typeface="黑体"/>
                <a:cs typeface="黑体"/>
              </a:rPr>
              <a:t>相对来说，</a:t>
            </a:r>
            <a:r>
              <a:rPr dirty="0" sz="2200" spc="-20">
                <a:solidFill>
                  <a:srgbClr val="006FC0"/>
                </a:solidFill>
                <a:latin typeface="宋体"/>
                <a:cs typeface="宋体"/>
              </a:rPr>
              <a:t>RISC</a:t>
            </a:r>
            <a:r>
              <a:rPr dirty="0" sz="2200" spc="-30">
                <a:solidFill>
                  <a:srgbClr val="006FC0"/>
                </a:solidFill>
                <a:latin typeface="黑体"/>
                <a:cs typeface="黑体"/>
              </a:rPr>
              <a:t>机器上的编译程序比</a:t>
            </a:r>
            <a:r>
              <a:rPr dirty="0" sz="2200" spc="-10">
                <a:solidFill>
                  <a:srgbClr val="006FC0"/>
                </a:solidFill>
                <a:latin typeface="宋体"/>
                <a:cs typeface="宋体"/>
              </a:rPr>
              <a:t>CISC</a:t>
            </a:r>
            <a:r>
              <a:rPr dirty="0" sz="2200" spc="-35">
                <a:solidFill>
                  <a:srgbClr val="006FC0"/>
                </a:solidFill>
                <a:latin typeface="黑体"/>
                <a:cs typeface="黑体"/>
              </a:rPr>
              <a:t>的机器编写难度大</a:t>
            </a:r>
            <a:endParaRPr sz="2200">
              <a:latin typeface="黑体"/>
              <a:cs typeface="黑体"/>
            </a:endParaRPr>
          </a:p>
          <a:p>
            <a:pPr lvl="1" marL="1027430" indent="-457200">
              <a:lnSpc>
                <a:spcPct val="100000"/>
              </a:lnSpc>
              <a:spcBef>
                <a:spcPts val="1060"/>
              </a:spcBef>
              <a:buSzPct val="88636"/>
              <a:buFont typeface="Wingdings"/>
              <a:buChar char=""/>
              <a:tabLst>
                <a:tab pos="1027430" algn="l"/>
              </a:tabLst>
            </a:pPr>
            <a:r>
              <a:rPr dirty="0" sz="2200" spc="-30">
                <a:solidFill>
                  <a:srgbClr val="006FC0"/>
                </a:solidFill>
                <a:latin typeface="黑体"/>
                <a:cs typeface="黑体"/>
              </a:rPr>
              <a:t>指令少，某些复杂功能需要多条指令</a:t>
            </a:r>
            <a:r>
              <a:rPr dirty="0" sz="2200" spc="-25">
                <a:solidFill>
                  <a:srgbClr val="006FC0"/>
                </a:solidFill>
                <a:latin typeface="黑体"/>
                <a:cs typeface="黑体"/>
              </a:rPr>
              <a:t>（</a:t>
            </a:r>
            <a:r>
              <a:rPr dirty="0" sz="2200" spc="-15">
                <a:solidFill>
                  <a:srgbClr val="006FC0"/>
                </a:solidFill>
                <a:latin typeface="黑体"/>
                <a:cs typeface="黑体"/>
              </a:rPr>
              <a:t>相对</a:t>
            </a:r>
            <a:r>
              <a:rPr dirty="0" sz="2200" spc="-20">
                <a:solidFill>
                  <a:srgbClr val="006FC0"/>
                </a:solidFill>
                <a:latin typeface="Times New Roman"/>
                <a:cs typeface="Times New Roman"/>
              </a:rPr>
              <a:t>CISC</a:t>
            </a:r>
            <a:r>
              <a:rPr dirty="0" sz="2200" spc="-20">
                <a:solidFill>
                  <a:srgbClr val="006FC0"/>
                </a:solidFill>
                <a:latin typeface="黑体"/>
                <a:cs typeface="黑体"/>
              </a:rPr>
              <a:t>）</a:t>
            </a:r>
            <a:r>
              <a:rPr dirty="0" sz="2200" spc="-220">
                <a:solidFill>
                  <a:srgbClr val="006FC0"/>
                </a:solidFill>
                <a:latin typeface="黑体"/>
                <a:cs typeface="黑体"/>
              </a:rPr>
              <a:t> ：</a:t>
            </a:r>
            <a:endParaRPr sz="2200">
              <a:latin typeface="黑体"/>
              <a:cs typeface="黑体"/>
            </a:endParaRPr>
          </a:p>
          <a:p>
            <a:pPr lvl="2" marL="1236345" indent="-360045">
              <a:lnSpc>
                <a:spcPct val="100000"/>
              </a:lnSpc>
              <a:spcBef>
                <a:spcPts val="990"/>
              </a:spcBef>
              <a:buClr>
                <a:srgbClr val="4668F5"/>
              </a:buClr>
              <a:buSzPct val="70000"/>
              <a:buFont typeface="Wingdings"/>
              <a:buChar char=""/>
              <a:tabLst>
                <a:tab pos="1236345" algn="l"/>
              </a:tabLst>
            </a:pPr>
            <a:r>
              <a:rPr dirty="0" sz="2000" spc="-20" b="1">
                <a:solidFill>
                  <a:srgbClr val="9933FF"/>
                </a:solidFill>
                <a:latin typeface="黑体"/>
                <a:cs typeface="黑体"/>
              </a:rPr>
              <a:t>加重汇编负担，增加程序长度等</a:t>
            </a:r>
            <a:r>
              <a:rPr dirty="0" sz="2000" spc="-50" b="1">
                <a:solidFill>
                  <a:srgbClr val="6F2F9F"/>
                </a:solidFill>
                <a:latin typeface="黑体"/>
                <a:cs typeface="黑体"/>
              </a:rPr>
              <a:t>；</a:t>
            </a:r>
            <a:endParaRPr sz="2000">
              <a:latin typeface="黑体"/>
              <a:cs typeface="黑体"/>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1833498" y="851687"/>
            <a:ext cx="8726170" cy="4125595"/>
          </a:xfrm>
          <a:prstGeom prst="rect">
            <a:avLst/>
          </a:prstGeom>
        </p:spPr>
        <p:txBody>
          <a:bodyPr wrap="square" lIns="0" tIns="12700" rIns="0" bIns="0" rtlCol="0" vert="horz">
            <a:spAutoFit/>
          </a:bodyPr>
          <a:lstStyle/>
          <a:p>
            <a:pPr marL="285115" marR="50800" indent="-273050">
              <a:lnSpc>
                <a:spcPct val="110000"/>
              </a:lnSpc>
              <a:spcBef>
                <a:spcPts val="100"/>
              </a:spcBef>
              <a:buClr>
                <a:srgbClr val="006FC0"/>
              </a:buClr>
              <a:buSzPct val="88636"/>
              <a:buFont typeface="Wingdings"/>
              <a:buChar char=""/>
              <a:tabLst>
                <a:tab pos="285115" algn="l"/>
              </a:tabLst>
            </a:pPr>
            <a:r>
              <a:rPr dirty="0" sz="2200" spc="-30">
                <a:solidFill>
                  <a:srgbClr val="FF0000"/>
                </a:solidFill>
                <a:latin typeface="黑体"/>
                <a:cs typeface="黑体"/>
              </a:rPr>
              <a:t>数据表示：</a:t>
            </a:r>
            <a:r>
              <a:rPr dirty="0" sz="2200" spc="-35">
                <a:solidFill>
                  <a:srgbClr val="006FC0"/>
                </a:solidFill>
                <a:latin typeface="黑体"/>
                <a:cs typeface="黑体"/>
              </a:rPr>
              <a:t>计算机硬件能够直接识别、指令系统可以直接调用的数据</a:t>
            </a:r>
            <a:r>
              <a:rPr dirty="0" sz="2200" spc="-40">
                <a:solidFill>
                  <a:srgbClr val="006FC0"/>
                </a:solidFill>
                <a:latin typeface="黑体"/>
                <a:cs typeface="黑体"/>
              </a:rPr>
              <a:t>类型。</a:t>
            </a:r>
            <a:endParaRPr sz="2200">
              <a:latin typeface="黑体"/>
              <a:cs typeface="黑体"/>
            </a:endParaRPr>
          </a:p>
          <a:p>
            <a:pPr lvl="1" marL="896619" marR="232410" indent="-360045">
              <a:lnSpc>
                <a:spcPct val="110000"/>
              </a:lnSpc>
              <a:spcBef>
                <a:spcPts val="530"/>
              </a:spcBef>
              <a:buClr>
                <a:srgbClr val="4668F5"/>
              </a:buClr>
              <a:buSzPct val="72727"/>
              <a:buFont typeface="Wingdings"/>
              <a:buChar char=""/>
              <a:tabLst>
                <a:tab pos="896619" algn="l"/>
              </a:tabLst>
            </a:pPr>
            <a:r>
              <a:rPr dirty="0" sz="2200" spc="-25" b="1">
                <a:solidFill>
                  <a:srgbClr val="006FC0"/>
                </a:solidFill>
                <a:latin typeface="黑体"/>
                <a:cs typeface="黑体"/>
              </a:rPr>
              <a:t>所有数据类型中最常用、相对比较简单、用硬件实现比较容易</a:t>
            </a:r>
            <a:r>
              <a:rPr dirty="0" sz="2200" spc="-15" b="1">
                <a:solidFill>
                  <a:srgbClr val="006FC0"/>
                </a:solidFill>
                <a:latin typeface="黑体"/>
                <a:cs typeface="黑体"/>
              </a:rPr>
              <a:t>的几种。</a:t>
            </a:r>
            <a:endParaRPr sz="2200">
              <a:latin typeface="黑体"/>
              <a:cs typeface="黑体"/>
            </a:endParaRPr>
          </a:p>
          <a:p>
            <a:pPr lvl="1" marL="895985" indent="-359410">
              <a:lnSpc>
                <a:spcPct val="100000"/>
              </a:lnSpc>
              <a:spcBef>
                <a:spcPts val="790"/>
              </a:spcBef>
              <a:buClr>
                <a:srgbClr val="4668F5"/>
              </a:buClr>
              <a:buSzPct val="72727"/>
              <a:buFont typeface="Wingdings"/>
              <a:buChar char=""/>
              <a:tabLst>
                <a:tab pos="895985" algn="l"/>
              </a:tabLst>
            </a:pPr>
            <a:r>
              <a:rPr dirty="0" sz="2200" spc="-25" b="1">
                <a:solidFill>
                  <a:srgbClr val="006FC0"/>
                </a:solidFill>
                <a:latin typeface="黑体"/>
                <a:cs typeface="黑体"/>
              </a:rPr>
              <a:t>整型、浮点型、字符型等</a:t>
            </a:r>
            <a:endParaRPr sz="2200">
              <a:latin typeface="黑体"/>
              <a:cs typeface="黑体"/>
            </a:endParaRPr>
          </a:p>
          <a:p>
            <a:pPr marL="285115" indent="-272415">
              <a:lnSpc>
                <a:spcPct val="100000"/>
              </a:lnSpc>
              <a:spcBef>
                <a:spcPts val="795"/>
              </a:spcBef>
              <a:buClr>
                <a:srgbClr val="006FC0"/>
              </a:buClr>
              <a:buSzPct val="88636"/>
              <a:buFont typeface="Wingdings"/>
              <a:buChar char=""/>
              <a:tabLst>
                <a:tab pos="285115" algn="l"/>
              </a:tabLst>
            </a:pPr>
            <a:r>
              <a:rPr dirty="0" sz="2200" spc="-30">
                <a:solidFill>
                  <a:srgbClr val="FF0000"/>
                </a:solidFill>
                <a:latin typeface="黑体"/>
                <a:cs typeface="黑体"/>
              </a:rPr>
              <a:t>数据结构：</a:t>
            </a:r>
            <a:r>
              <a:rPr dirty="0" sz="2200" spc="-35">
                <a:solidFill>
                  <a:srgbClr val="006FC0"/>
                </a:solidFill>
                <a:latin typeface="黑体"/>
                <a:cs typeface="黑体"/>
              </a:rPr>
              <a:t>由软件进行处理和实现的各种数据类型。</a:t>
            </a:r>
            <a:endParaRPr sz="2200">
              <a:latin typeface="黑体"/>
              <a:cs typeface="黑体"/>
            </a:endParaRPr>
          </a:p>
          <a:p>
            <a:pPr lvl="1" marL="887730" marR="6985" indent="-270510">
              <a:lnSpc>
                <a:spcPct val="110000"/>
              </a:lnSpc>
              <a:spcBef>
                <a:spcPts val="530"/>
              </a:spcBef>
              <a:buClr>
                <a:srgbClr val="006FC0"/>
              </a:buClr>
              <a:buSzPct val="88636"/>
              <a:buFont typeface="Wingdings"/>
              <a:buChar char=""/>
              <a:tabLst>
                <a:tab pos="889000" algn="l"/>
              </a:tabLst>
            </a:pPr>
            <a:r>
              <a:rPr dirty="0" sz="2200" spc="-30">
                <a:solidFill>
                  <a:srgbClr val="9933FF"/>
                </a:solidFill>
                <a:latin typeface="黑体"/>
                <a:cs typeface="黑体"/>
              </a:rPr>
              <a:t>研究：</a:t>
            </a:r>
            <a:r>
              <a:rPr dirty="0" sz="2200" spc="-35">
                <a:solidFill>
                  <a:srgbClr val="006FC0"/>
                </a:solidFill>
                <a:latin typeface="黑体"/>
                <a:cs typeface="黑体"/>
              </a:rPr>
              <a:t>这些数据类型的逻辑结构与物理结构之间的关系，并给出</a:t>
            </a:r>
            <a:r>
              <a:rPr dirty="0" sz="2200" spc="-35">
                <a:solidFill>
                  <a:srgbClr val="006FC0"/>
                </a:solidFill>
                <a:latin typeface="黑体"/>
                <a:cs typeface="黑体"/>
              </a:rPr>
              <a:t>	</a:t>
            </a:r>
            <a:r>
              <a:rPr dirty="0" sz="2200" spc="-65">
                <a:solidFill>
                  <a:srgbClr val="006FC0"/>
                </a:solidFill>
                <a:latin typeface="黑体"/>
                <a:cs typeface="黑体"/>
              </a:rPr>
              <a:t>相应的算法。 这需要软硬件共同支持。</a:t>
            </a:r>
            <a:endParaRPr sz="2200">
              <a:latin typeface="黑体"/>
              <a:cs typeface="黑体"/>
            </a:endParaRPr>
          </a:p>
          <a:p>
            <a:pPr lvl="1" marL="888365" indent="-271145">
              <a:lnSpc>
                <a:spcPct val="100000"/>
              </a:lnSpc>
              <a:spcBef>
                <a:spcPts val="790"/>
              </a:spcBef>
              <a:buSzPct val="88636"/>
              <a:buFont typeface="Wingdings"/>
              <a:buChar char=""/>
              <a:tabLst>
                <a:tab pos="888365" algn="l"/>
              </a:tabLst>
            </a:pPr>
            <a:r>
              <a:rPr dirty="0" sz="2200" spc="-35">
                <a:solidFill>
                  <a:srgbClr val="006FC0"/>
                </a:solidFill>
                <a:latin typeface="黑体"/>
                <a:cs typeface="黑体"/>
              </a:rPr>
              <a:t>数据结构要通过软件映像，变换成机器所具有的数据表示来实现</a:t>
            </a:r>
            <a:endParaRPr sz="2200">
              <a:latin typeface="黑体"/>
              <a:cs typeface="黑体"/>
            </a:endParaRPr>
          </a:p>
          <a:p>
            <a:pPr marL="536575">
              <a:lnSpc>
                <a:spcPct val="100000"/>
              </a:lnSpc>
              <a:spcBef>
                <a:spcPts val="1105"/>
              </a:spcBef>
            </a:pPr>
            <a:r>
              <a:rPr dirty="0" sz="2000" spc="-25" b="1">
                <a:solidFill>
                  <a:srgbClr val="6F2F9F"/>
                </a:solidFill>
                <a:latin typeface="黑体"/>
                <a:cs typeface="黑体"/>
              </a:rPr>
              <a:t>一般来说，除了数据表示之外的所有类型都是数据结构要研究的内容</a:t>
            </a:r>
            <a:endParaRPr sz="2000">
              <a:latin typeface="黑体"/>
              <a:cs typeface="黑体"/>
            </a:endParaRPr>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latin typeface="微软雅黑"/>
                <a:cs typeface="微软雅黑"/>
              </a:rPr>
              <a:t>	2.5</a:t>
            </a:r>
            <a:r>
              <a:rPr dirty="0" spc="10">
                <a:solidFill>
                  <a:srgbClr val="4F55AC"/>
                </a:solidFill>
                <a:latin typeface="微软雅黑"/>
                <a:cs typeface="微软雅黑"/>
              </a:rPr>
              <a:t> </a:t>
            </a:r>
            <a:r>
              <a:rPr dirty="0" spc="-10">
                <a:solidFill>
                  <a:srgbClr val="4F55AC"/>
                </a:solidFill>
                <a:latin typeface="微软雅黑"/>
                <a:cs typeface="微软雅黑"/>
              </a:rPr>
              <a:t>操作数的类型和大</a:t>
            </a:r>
            <a:r>
              <a:rPr dirty="0" spc="-50">
                <a:solidFill>
                  <a:srgbClr val="4F55AC"/>
                </a:solidFill>
                <a:latin typeface="微软雅黑"/>
                <a:cs typeface="微软雅黑"/>
              </a:rPr>
              <a:t>小</a:t>
            </a:r>
            <a:r>
              <a:rPr dirty="0">
                <a:solidFill>
                  <a:srgbClr val="4F55AC"/>
                </a:solidFill>
                <a:latin typeface="微软雅黑"/>
                <a:cs typeface="微软雅黑"/>
              </a:rPr>
              <a:t>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617725" y="906003"/>
            <a:ext cx="8824595" cy="3518535"/>
          </a:xfrm>
          <a:prstGeom prst="rect">
            <a:avLst/>
          </a:prstGeom>
        </p:spPr>
        <p:txBody>
          <a:bodyPr wrap="square" lIns="0" tIns="45720" rIns="0" bIns="0" rtlCol="0" vert="horz">
            <a:spAutoFit/>
          </a:bodyPr>
          <a:lstStyle/>
          <a:p>
            <a:pPr marL="285115" indent="-272415">
              <a:lnSpc>
                <a:spcPct val="100000"/>
              </a:lnSpc>
              <a:spcBef>
                <a:spcPts val="360"/>
              </a:spcBef>
              <a:buClr>
                <a:srgbClr val="006FC0"/>
              </a:buClr>
              <a:buSzPct val="88636"/>
              <a:buFont typeface="Wingdings"/>
              <a:buChar char=""/>
              <a:tabLst>
                <a:tab pos="285115" algn="l"/>
              </a:tabLst>
            </a:pPr>
            <a:r>
              <a:rPr dirty="0" sz="2200" spc="-30">
                <a:solidFill>
                  <a:srgbClr val="FF0000"/>
                </a:solidFill>
                <a:latin typeface="黑体"/>
                <a:cs typeface="黑体"/>
              </a:rPr>
              <a:t>数据表示：</a:t>
            </a:r>
            <a:r>
              <a:rPr dirty="0" sz="2200" spc="-30">
                <a:solidFill>
                  <a:srgbClr val="006FC0"/>
                </a:solidFill>
                <a:latin typeface="黑体"/>
                <a:cs typeface="黑体"/>
              </a:rPr>
              <a:t>计算机</a:t>
            </a:r>
            <a:r>
              <a:rPr dirty="0" sz="2200" spc="-25">
                <a:solidFill>
                  <a:srgbClr val="FF0000"/>
                </a:solidFill>
                <a:latin typeface="黑体"/>
                <a:cs typeface="黑体"/>
              </a:rPr>
              <a:t>硬件</a:t>
            </a:r>
            <a:r>
              <a:rPr dirty="0" sz="2200" spc="-30">
                <a:solidFill>
                  <a:srgbClr val="006FC0"/>
                </a:solidFill>
                <a:latin typeface="黑体"/>
                <a:cs typeface="黑体"/>
              </a:rPr>
              <a:t>能够直接识别、指令系统可以</a:t>
            </a:r>
            <a:r>
              <a:rPr dirty="0" sz="2200" spc="-30">
                <a:solidFill>
                  <a:srgbClr val="FF0000"/>
                </a:solidFill>
                <a:latin typeface="黑体"/>
                <a:cs typeface="黑体"/>
              </a:rPr>
              <a:t>直接调用</a:t>
            </a:r>
            <a:r>
              <a:rPr dirty="0" sz="2200" spc="-40">
                <a:solidFill>
                  <a:srgbClr val="006FC0"/>
                </a:solidFill>
                <a:latin typeface="黑体"/>
                <a:cs typeface="黑体"/>
              </a:rPr>
              <a:t>的数据</a:t>
            </a:r>
            <a:endParaRPr sz="2200">
              <a:latin typeface="黑体"/>
              <a:cs typeface="黑体"/>
            </a:endParaRPr>
          </a:p>
          <a:p>
            <a:pPr marL="285115">
              <a:lnSpc>
                <a:spcPct val="100000"/>
              </a:lnSpc>
              <a:spcBef>
                <a:spcPts val="265"/>
              </a:spcBef>
            </a:pPr>
            <a:r>
              <a:rPr dirty="0" sz="2200" spc="-40">
                <a:solidFill>
                  <a:srgbClr val="006FC0"/>
                </a:solidFill>
                <a:latin typeface="黑体"/>
                <a:cs typeface="黑体"/>
              </a:rPr>
              <a:t>类型。</a:t>
            </a:r>
            <a:endParaRPr sz="2200">
              <a:latin typeface="黑体"/>
              <a:cs typeface="黑体"/>
            </a:endParaRPr>
          </a:p>
          <a:p>
            <a:pPr lvl="1" marL="895985" indent="-359410">
              <a:lnSpc>
                <a:spcPct val="100000"/>
              </a:lnSpc>
              <a:spcBef>
                <a:spcPts val="740"/>
              </a:spcBef>
              <a:buClr>
                <a:srgbClr val="4668F5"/>
              </a:buClr>
              <a:buSzPct val="72500"/>
              <a:buFont typeface="Wingdings"/>
              <a:buChar char=""/>
              <a:tabLst>
                <a:tab pos="895985" algn="l"/>
              </a:tabLst>
            </a:pPr>
            <a:r>
              <a:rPr dirty="0" sz="2000" spc="-25" b="1">
                <a:solidFill>
                  <a:srgbClr val="6F2F9F"/>
                </a:solidFill>
                <a:latin typeface="黑体"/>
                <a:cs typeface="黑体"/>
              </a:rPr>
              <a:t>所有数据类型中最常用、相对比较简单、用硬件实现比较容易的几种。</a:t>
            </a:r>
            <a:endParaRPr sz="2000">
              <a:latin typeface="黑体"/>
              <a:cs typeface="黑体"/>
            </a:endParaRPr>
          </a:p>
          <a:p>
            <a:pPr lvl="1" marL="895985" indent="-359410">
              <a:lnSpc>
                <a:spcPct val="100000"/>
              </a:lnSpc>
              <a:spcBef>
                <a:spcPts val="720"/>
              </a:spcBef>
              <a:buClr>
                <a:srgbClr val="4668F5"/>
              </a:buClr>
              <a:buSzPct val="72500"/>
              <a:buFont typeface="Wingdings"/>
              <a:buChar char=""/>
              <a:tabLst>
                <a:tab pos="895985" algn="l"/>
              </a:tabLst>
            </a:pPr>
            <a:r>
              <a:rPr dirty="0" sz="2000" spc="-20" b="1">
                <a:solidFill>
                  <a:srgbClr val="6F2F9F"/>
                </a:solidFill>
                <a:latin typeface="黑体"/>
                <a:cs typeface="黑体"/>
              </a:rPr>
              <a:t>整型、浮点型、字符型等</a:t>
            </a:r>
            <a:endParaRPr sz="2000">
              <a:latin typeface="黑体"/>
              <a:cs typeface="黑体"/>
            </a:endParaRPr>
          </a:p>
          <a:p>
            <a:pPr marL="285115" indent="-272415">
              <a:lnSpc>
                <a:spcPct val="100000"/>
              </a:lnSpc>
              <a:spcBef>
                <a:spcPts val="775"/>
              </a:spcBef>
              <a:buClr>
                <a:srgbClr val="006FC0"/>
              </a:buClr>
              <a:buSzPct val="88636"/>
              <a:buFont typeface="Wingdings"/>
              <a:buChar char=""/>
              <a:tabLst>
                <a:tab pos="285115" algn="l"/>
              </a:tabLst>
            </a:pPr>
            <a:r>
              <a:rPr dirty="0" sz="2200" spc="-30">
                <a:solidFill>
                  <a:srgbClr val="FF0000"/>
                </a:solidFill>
                <a:latin typeface="黑体"/>
                <a:cs typeface="黑体"/>
              </a:rPr>
              <a:t>数据结构：</a:t>
            </a:r>
            <a:r>
              <a:rPr dirty="0" sz="2200" spc="-20">
                <a:solidFill>
                  <a:srgbClr val="006FC0"/>
                </a:solidFill>
                <a:latin typeface="黑体"/>
                <a:cs typeface="黑体"/>
              </a:rPr>
              <a:t>由</a:t>
            </a:r>
            <a:r>
              <a:rPr dirty="0" sz="2200" spc="-35">
                <a:solidFill>
                  <a:srgbClr val="FF0000"/>
                </a:solidFill>
                <a:latin typeface="黑体"/>
                <a:cs typeface="黑体"/>
              </a:rPr>
              <a:t>软件</a:t>
            </a:r>
            <a:r>
              <a:rPr dirty="0" sz="2200" spc="-35">
                <a:solidFill>
                  <a:srgbClr val="006FC0"/>
                </a:solidFill>
                <a:latin typeface="黑体"/>
                <a:cs typeface="黑体"/>
              </a:rPr>
              <a:t>进行处理和实现的各种数据类型。</a:t>
            </a:r>
            <a:endParaRPr sz="2200">
              <a:latin typeface="黑体"/>
              <a:cs typeface="黑体"/>
            </a:endParaRPr>
          </a:p>
          <a:p>
            <a:pPr lvl="1" marL="1501140" marR="163830" indent="-361315">
              <a:lnSpc>
                <a:spcPct val="110000"/>
              </a:lnSpc>
              <a:spcBef>
                <a:spcPts val="500"/>
              </a:spcBef>
              <a:buClr>
                <a:srgbClr val="4668F5"/>
              </a:buClr>
              <a:buSzPct val="72500"/>
              <a:buFont typeface="Wingdings"/>
              <a:buChar char=""/>
              <a:tabLst>
                <a:tab pos="1501140" algn="l"/>
              </a:tabLst>
            </a:pPr>
            <a:r>
              <a:rPr dirty="0" sz="2000" spc="-10" b="1">
                <a:solidFill>
                  <a:srgbClr val="9933FF"/>
                </a:solidFill>
                <a:latin typeface="黑体"/>
                <a:cs typeface="黑体"/>
              </a:rPr>
              <a:t>研究：</a:t>
            </a:r>
            <a:r>
              <a:rPr dirty="0" sz="2000" spc="-25" b="1">
                <a:solidFill>
                  <a:srgbClr val="6F2F9F"/>
                </a:solidFill>
                <a:latin typeface="黑体"/>
                <a:cs typeface="黑体"/>
              </a:rPr>
              <a:t>这些数据类型的逻辑结构与物理结构之间的关系，并给出</a:t>
            </a:r>
            <a:r>
              <a:rPr dirty="0" sz="2000" spc="-20" b="1">
                <a:solidFill>
                  <a:srgbClr val="6F2F9F"/>
                </a:solidFill>
                <a:latin typeface="黑体"/>
                <a:cs typeface="黑体"/>
              </a:rPr>
              <a:t>相应的算法。 这需要</a:t>
            </a:r>
            <a:r>
              <a:rPr dirty="0" sz="2000" spc="-15" b="1">
                <a:solidFill>
                  <a:srgbClr val="FF0000"/>
                </a:solidFill>
                <a:latin typeface="黑体"/>
                <a:cs typeface="黑体"/>
              </a:rPr>
              <a:t>软硬件</a:t>
            </a:r>
            <a:r>
              <a:rPr dirty="0" sz="2000" spc="-25" b="1">
                <a:solidFill>
                  <a:srgbClr val="6F2F9F"/>
                </a:solidFill>
                <a:latin typeface="黑体"/>
                <a:cs typeface="黑体"/>
              </a:rPr>
              <a:t>共同支持。</a:t>
            </a:r>
            <a:endParaRPr sz="2000">
              <a:latin typeface="黑体"/>
              <a:cs typeface="黑体"/>
            </a:endParaRPr>
          </a:p>
          <a:p>
            <a:pPr lvl="1" marL="1501140" indent="-360680">
              <a:lnSpc>
                <a:spcPct val="100000"/>
              </a:lnSpc>
              <a:spcBef>
                <a:spcPts val="720"/>
              </a:spcBef>
              <a:buClr>
                <a:srgbClr val="4668F5"/>
              </a:buClr>
              <a:buSzPct val="72500"/>
              <a:buFont typeface="Wingdings"/>
              <a:buChar char=""/>
              <a:tabLst>
                <a:tab pos="1501140" algn="l"/>
              </a:tabLst>
            </a:pPr>
            <a:r>
              <a:rPr dirty="0" sz="2000" spc="-25" b="1">
                <a:solidFill>
                  <a:srgbClr val="6F2F9F"/>
                </a:solidFill>
                <a:latin typeface="黑体"/>
                <a:cs typeface="黑体"/>
              </a:rPr>
              <a:t>数据结构要通过软件映像，变换成机器所具有的数据表示来实现</a:t>
            </a:r>
            <a:endParaRPr sz="2000">
              <a:latin typeface="黑体"/>
              <a:cs typeface="黑体"/>
            </a:endParaRPr>
          </a:p>
          <a:p>
            <a:pPr marL="876300">
              <a:lnSpc>
                <a:spcPct val="100000"/>
              </a:lnSpc>
              <a:spcBef>
                <a:spcPts val="720"/>
              </a:spcBef>
            </a:pPr>
            <a:r>
              <a:rPr dirty="0" sz="2000" spc="-30" b="1">
                <a:solidFill>
                  <a:srgbClr val="40458B"/>
                </a:solidFill>
                <a:latin typeface="宋体"/>
                <a:cs typeface="宋体"/>
              </a:rPr>
              <a:t>一般来说，除了数据表示之外的所有类型都是数据结构要研究的内容</a:t>
            </a:r>
            <a:endParaRPr sz="2000">
              <a:latin typeface="宋体"/>
              <a:cs typeface="宋体"/>
            </a:endParaRPr>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571625" algn="l"/>
                <a:tab pos="11028045" algn="l"/>
              </a:tabLst>
            </a:pPr>
            <a:r>
              <a:rPr dirty="0">
                <a:solidFill>
                  <a:srgbClr val="4F55AC"/>
                </a:solidFill>
              </a:rPr>
              <a:t>	2.5</a:t>
            </a:r>
            <a:r>
              <a:rPr dirty="0" spc="10">
                <a:solidFill>
                  <a:srgbClr val="4F55AC"/>
                </a:solidFill>
              </a:rPr>
              <a:t> </a:t>
            </a:r>
            <a:r>
              <a:rPr dirty="0" spc="-10">
                <a:solidFill>
                  <a:srgbClr val="4F55AC"/>
                </a:solidFill>
                <a:latin typeface="微软雅黑"/>
                <a:cs typeface="微软雅黑"/>
              </a:rPr>
              <a:t>操作数的类型和大</a:t>
            </a:r>
            <a:r>
              <a:rPr dirty="0" spc="-50">
                <a:solidFill>
                  <a:srgbClr val="4F55AC"/>
                </a:solidFill>
                <a:latin typeface="微软雅黑"/>
                <a:cs typeface="微软雅黑"/>
              </a:rPr>
              <a:t>小</a:t>
            </a:r>
            <a:r>
              <a:rPr dirty="0">
                <a:solidFill>
                  <a:srgbClr val="4F55AC"/>
                </a:solidFill>
                <a:latin typeface="微软雅黑"/>
                <a:cs typeface="微软雅黑"/>
              </a:rPr>
              <a:t>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grpSp>
        <p:nvGrpSpPr>
          <p:cNvPr id="3" name="object 3" descr=""/>
          <p:cNvGrpSpPr/>
          <p:nvPr/>
        </p:nvGrpSpPr>
        <p:grpSpPr>
          <a:xfrm>
            <a:off x="1196339" y="1193291"/>
            <a:ext cx="9366250" cy="5019675"/>
            <a:chOff x="1196339" y="1193291"/>
            <a:chExt cx="9366250" cy="5019675"/>
          </a:xfrm>
        </p:grpSpPr>
        <p:sp>
          <p:nvSpPr>
            <p:cNvPr id="4" name="object 4" descr=""/>
            <p:cNvSpPr/>
            <p:nvPr/>
          </p:nvSpPr>
          <p:spPr>
            <a:xfrm>
              <a:off x="8543924" y="3821175"/>
              <a:ext cx="1656080" cy="1768475"/>
            </a:xfrm>
            <a:custGeom>
              <a:avLst/>
              <a:gdLst/>
              <a:ahLst/>
              <a:cxnLst/>
              <a:rect l="l" t="t" r="r" b="b"/>
              <a:pathLst>
                <a:path w="1656079" h="1768475">
                  <a:moveTo>
                    <a:pt x="827913" y="0"/>
                  </a:moveTo>
                  <a:lnTo>
                    <a:pt x="780936" y="1399"/>
                  </a:lnTo>
                  <a:lnTo>
                    <a:pt x="734647" y="5548"/>
                  </a:lnTo>
                  <a:lnTo>
                    <a:pt x="689114" y="12373"/>
                  </a:lnTo>
                  <a:lnTo>
                    <a:pt x="644408" y="21797"/>
                  </a:lnTo>
                  <a:lnTo>
                    <a:pt x="600599" y="33747"/>
                  </a:lnTo>
                  <a:lnTo>
                    <a:pt x="557757" y="48148"/>
                  </a:lnTo>
                  <a:lnTo>
                    <a:pt x="515951" y="64925"/>
                  </a:lnTo>
                  <a:lnTo>
                    <a:pt x="475252" y="84005"/>
                  </a:lnTo>
                  <a:lnTo>
                    <a:pt x="435729" y="105311"/>
                  </a:lnTo>
                  <a:lnTo>
                    <a:pt x="397452" y="128769"/>
                  </a:lnTo>
                  <a:lnTo>
                    <a:pt x="360492" y="154306"/>
                  </a:lnTo>
                  <a:lnTo>
                    <a:pt x="324918" y="181845"/>
                  </a:lnTo>
                  <a:lnTo>
                    <a:pt x="290800" y="211314"/>
                  </a:lnTo>
                  <a:lnTo>
                    <a:pt x="258208" y="242636"/>
                  </a:lnTo>
                  <a:lnTo>
                    <a:pt x="227212" y="275737"/>
                  </a:lnTo>
                  <a:lnTo>
                    <a:pt x="197882" y="310542"/>
                  </a:lnTo>
                  <a:lnTo>
                    <a:pt x="170287" y="346978"/>
                  </a:lnTo>
                  <a:lnTo>
                    <a:pt x="144499" y="384969"/>
                  </a:lnTo>
                  <a:lnTo>
                    <a:pt x="120586" y="424441"/>
                  </a:lnTo>
                  <a:lnTo>
                    <a:pt x="98618" y="465319"/>
                  </a:lnTo>
                  <a:lnTo>
                    <a:pt x="78666" y="507528"/>
                  </a:lnTo>
                  <a:lnTo>
                    <a:pt x="60800" y="550994"/>
                  </a:lnTo>
                  <a:lnTo>
                    <a:pt x="45089" y="595642"/>
                  </a:lnTo>
                  <a:lnTo>
                    <a:pt x="31603" y="641397"/>
                  </a:lnTo>
                  <a:lnTo>
                    <a:pt x="20412" y="688185"/>
                  </a:lnTo>
                  <a:lnTo>
                    <a:pt x="11586" y="735932"/>
                  </a:lnTo>
                  <a:lnTo>
                    <a:pt x="5196" y="784562"/>
                  </a:lnTo>
                  <a:lnTo>
                    <a:pt x="1310" y="834000"/>
                  </a:lnTo>
                  <a:lnTo>
                    <a:pt x="0" y="884174"/>
                  </a:lnTo>
                  <a:lnTo>
                    <a:pt x="1310" y="934347"/>
                  </a:lnTo>
                  <a:lnTo>
                    <a:pt x="5196" y="983786"/>
                  </a:lnTo>
                  <a:lnTo>
                    <a:pt x="11586" y="1032417"/>
                  </a:lnTo>
                  <a:lnTo>
                    <a:pt x="20412" y="1080165"/>
                  </a:lnTo>
                  <a:lnTo>
                    <a:pt x="31603" y="1126955"/>
                  </a:lnTo>
                  <a:lnTo>
                    <a:pt x="45089" y="1172712"/>
                  </a:lnTo>
                  <a:lnTo>
                    <a:pt x="60800" y="1217363"/>
                  </a:lnTo>
                  <a:lnTo>
                    <a:pt x="78666" y="1260831"/>
                  </a:lnTo>
                  <a:lnTo>
                    <a:pt x="98618" y="1303043"/>
                  </a:lnTo>
                  <a:lnTo>
                    <a:pt x="120586" y="1343923"/>
                  </a:lnTo>
                  <a:lnTo>
                    <a:pt x="144499" y="1383398"/>
                  </a:lnTo>
                  <a:lnTo>
                    <a:pt x="170287" y="1421392"/>
                  </a:lnTo>
                  <a:lnTo>
                    <a:pt x="197882" y="1457831"/>
                  </a:lnTo>
                  <a:lnTo>
                    <a:pt x="227212" y="1492640"/>
                  </a:lnTo>
                  <a:lnTo>
                    <a:pt x="258208" y="1525745"/>
                  </a:lnTo>
                  <a:lnTo>
                    <a:pt x="290800" y="1557070"/>
                  </a:lnTo>
                  <a:lnTo>
                    <a:pt x="324918" y="1586541"/>
                  </a:lnTo>
                  <a:lnTo>
                    <a:pt x="360492" y="1614084"/>
                  </a:lnTo>
                  <a:lnTo>
                    <a:pt x="397452" y="1639624"/>
                  </a:lnTo>
                  <a:lnTo>
                    <a:pt x="435729" y="1663085"/>
                  </a:lnTo>
                  <a:lnTo>
                    <a:pt x="475252" y="1684394"/>
                  </a:lnTo>
                  <a:lnTo>
                    <a:pt x="515951" y="1703476"/>
                  </a:lnTo>
                  <a:lnTo>
                    <a:pt x="557757" y="1720255"/>
                  </a:lnTo>
                  <a:lnTo>
                    <a:pt x="600599" y="1734658"/>
                  </a:lnTo>
                  <a:lnTo>
                    <a:pt x="644408" y="1746610"/>
                  </a:lnTo>
                  <a:lnTo>
                    <a:pt x="689114" y="1756036"/>
                  </a:lnTo>
                  <a:lnTo>
                    <a:pt x="734647" y="1762861"/>
                  </a:lnTo>
                  <a:lnTo>
                    <a:pt x="780936" y="1767011"/>
                  </a:lnTo>
                  <a:lnTo>
                    <a:pt x="827913" y="1768411"/>
                  </a:lnTo>
                  <a:lnTo>
                    <a:pt x="874889" y="1767011"/>
                  </a:lnTo>
                  <a:lnTo>
                    <a:pt x="921178" y="1762861"/>
                  </a:lnTo>
                  <a:lnTo>
                    <a:pt x="966711" y="1756036"/>
                  </a:lnTo>
                  <a:lnTo>
                    <a:pt x="1011417" y="1746610"/>
                  </a:lnTo>
                  <a:lnTo>
                    <a:pt x="1055226" y="1734658"/>
                  </a:lnTo>
                  <a:lnTo>
                    <a:pt x="1098068" y="1720255"/>
                  </a:lnTo>
                  <a:lnTo>
                    <a:pt x="1139874" y="1703476"/>
                  </a:lnTo>
                  <a:lnTo>
                    <a:pt x="1180573" y="1684394"/>
                  </a:lnTo>
                  <a:lnTo>
                    <a:pt x="1220096" y="1663085"/>
                  </a:lnTo>
                  <a:lnTo>
                    <a:pt x="1258373" y="1639624"/>
                  </a:lnTo>
                  <a:lnTo>
                    <a:pt x="1295333" y="1614084"/>
                  </a:lnTo>
                  <a:lnTo>
                    <a:pt x="1330907" y="1586541"/>
                  </a:lnTo>
                  <a:lnTo>
                    <a:pt x="1365025" y="1557070"/>
                  </a:lnTo>
                  <a:lnTo>
                    <a:pt x="1397617" y="1525745"/>
                  </a:lnTo>
                  <a:lnTo>
                    <a:pt x="1428613" y="1492640"/>
                  </a:lnTo>
                  <a:lnTo>
                    <a:pt x="1457943" y="1457831"/>
                  </a:lnTo>
                  <a:lnTo>
                    <a:pt x="1485538" y="1421392"/>
                  </a:lnTo>
                  <a:lnTo>
                    <a:pt x="1511326" y="1383398"/>
                  </a:lnTo>
                  <a:lnTo>
                    <a:pt x="1535239" y="1343923"/>
                  </a:lnTo>
                  <a:lnTo>
                    <a:pt x="1557207" y="1303043"/>
                  </a:lnTo>
                  <a:lnTo>
                    <a:pt x="1577159" y="1260831"/>
                  </a:lnTo>
                  <a:lnTo>
                    <a:pt x="1595025" y="1217363"/>
                  </a:lnTo>
                  <a:lnTo>
                    <a:pt x="1610736" y="1172712"/>
                  </a:lnTo>
                  <a:lnTo>
                    <a:pt x="1624222" y="1126955"/>
                  </a:lnTo>
                  <a:lnTo>
                    <a:pt x="1635413" y="1080165"/>
                  </a:lnTo>
                  <a:lnTo>
                    <a:pt x="1644239" y="1032417"/>
                  </a:lnTo>
                  <a:lnTo>
                    <a:pt x="1650629" y="983786"/>
                  </a:lnTo>
                  <a:lnTo>
                    <a:pt x="1654515" y="934347"/>
                  </a:lnTo>
                  <a:lnTo>
                    <a:pt x="1655826" y="884174"/>
                  </a:lnTo>
                  <a:lnTo>
                    <a:pt x="1654515" y="834000"/>
                  </a:lnTo>
                  <a:lnTo>
                    <a:pt x="1650629" y="784562"/>
                  </a:lnTo>
                  <a:lnTo>
                    <a:pt x="1644239" y="735932"/>
                  </a:lnTo>
                  <a:lnTo>
                    <a:pt x="1635413" y="688185"/>
                  </a:lnTo>
                  <a:lnTo>
                    <a:pt x="1624222" y="641397"/>
                  </a:lnTo>
                  <a:lnTo>
                    <a:pt x="1610736" y="595642"/>
                  </a:lnTo>
                  <a:lnTo>
                    <a:pt x="1595025" y="550994"/>
                  </a:lnTo>
                  <a:lnTo>
                    <a:pt x="1577159" y="507528"/>
                  </a:lnTo>
                  <a:lnTo>
                    <a:pt x="1557207" y="465319"/>
                  </a:lnTo>
                  <a:lnTo>
                    <a:pt x="1535239" y="424441"/>
                  </a:lnTo>
                  <a:lnTo>
                    <a:pt x="1511326" y="384969"/>
                  </a:lnTo>
                  <a:lnTo>
                    <a:pt x="1485538" y="346978"/>
                  </a:lnTo>
                  <a:lnTo>
                    <a:pt x="1457943" y="310542"/>
                  </a:lnTo>
                  <a:lnTo>
                    <a:pt x="1428613" y="275737"/>
                  </a:lnTo>
                  <a:lnTo>
                    <a:pt x="1397617" y="242636"/>
                  </a:lnTo>
                  <a:lnTo>
                    <a:pt x="1365025" y="211314"/>
                  </a:lnTo>
                  <a:lnTo>
                    <a:pt x="1330907" y="181845"/>
                  </a:lnTo>
                  <a:lnTo>
                    <a:pt x="1295333" y="154306"/>
                  </a:lnTo>
                  <a:lnTo>
                    <a:pt x="1258373" y="128769"/>
                  </a:lnTo>
                  <a:lnTo>
                    <a:pt x="1220096" y="105311"/>
                  </a:lnTo>
                  <a:lnTo>
                    <a:pt x="1180573" y="84005"/>
                  </a:lnTo>
                  <a:lnTo>
                    <a:pt x="1139874" y="64925"/>
                  </a:lnTo>
                  <a:lnTo>
                    <a:pt x="1098068" y="48148"/>
                  </a:lnTo>
                  <a:lnTo>
                    <a:pt x="1055226" y="33747"/>
                  </a:lnTo>
                  <a:lnTo>
                    <a:pt x="1011417" y="21797"/>
                  </a:lnTo>
                  <a:lnTo>
                    <a:pt x="966711" y="12373"/>
                  </a:lnTo>
                  <a:lnTo>
                    <a:pt x="921178" y="5548"/>
                  </a:lnTo>
                  <a:lnTo>
                    <a:pt x="874889" y="1399"/>
                  </a:lnTo>
                  <a:lnTo>
                    <a:pt x="827913" y="0"/>
                  </a:lnTo>
                  <a:close/>
                </a:path>
              </a:pathLst>
            </a:custGeom>
            <a:solidFill>
              <a:srgbClr val="FFC000"/>
            </a:solidFill>
          </p:spPr>
          <p:txBody>
            <a:bodyPr wrap="square" lIns="0" tIns="0" rIns="0" bIns="0" rtlCol="0"/>
            <a:lstStyle/>
            <a:p/>
          </p:txBody>
        </p:sp>
        <p:sp>
          <p:nvSpPr>
            <p:cNvPr id="5" name="object 5" descr=""/>
            <p:cNvSpPr/>
            <p:nvPr/>
          </p:nvSpPr>
          <p:spPr>
            <a:xfrm>
              <a:off x="8543924" y="3821175"/>
              <a:ext cx="1656080" cy="1768475"/>
            </a:xfrm>
            <a:custGeom>
              <a:avLst/>
              <a:gdLst/>
              <a:ahLst/>
              <a:cxnLst/>
              <a:rect l="l" t="t" r="r" b="b"/>
              <a:pathLst>
                <a:path w="1656079" h="1768475">
                  <a:moveTo>
                    <a:pt x="0" y="884174"/>
                  </a:moveTo>
                  <a:lnTo>
                    <a:pt x="1310" y="834000"/>
                  </a:lnTo>
                  <a:lnTo>
                    <a:pt x="5196" y="784562"/>
                  </a:lnTo>
                  <a:lnTo>
                    <a:pt x="11586" y="735932"/>
                  </a:lnTo>
                  <a:lnTo>
                    <a:pt x="20412" y="688185"/>
                  </a:lnTo>
                  <a:lnTo>
                    <a:pt x="31603" y="641397"/>
                  </a:lnTo>
                  <a:lnTo>
                    <a:pt x="45089" y="595642"/>
                  </a:lnTo>
                  <a:lnTo>
                    <a:pt x="60800" y="550994"/>
                  </a:lnTo>
                  <a:lnTo>
                    <a:pt x="78666" y="507528"/>
                  </a:lnTo>
                  <a:lnTo>
                    <a:pt x="98618" y="465319"/>
                  </a:lnTo>
                  <a:lnTo>
                    <a:pt x="120586" y="424441"/>
                  </a:lnTo>
                  <a:lnTo>
                    <a:pt x="144499" y="384969"/>
                  </a:lnTo>
                  <a:lnTo>
                    <a:pt x="170287" y="346978"/>
                  </a:lnTo>
                  <a:lnTo>
                    <a:pt x="197882" y="310542"/>
                  </a:lnTo>
                  <a:lnTo>
                    <a:pt x="227212" y="275737"/>
                  </a:lnTo>
                  <a:lnTo>
                    <a:pt x="258208" y="242636"/>
                  </a:lnTo>
                  <a:lnTo>
                    <a:pt x="290800" y="211314"/>
                  </a:lnTo>
                  <a:lnTo>
                    <a:pt x="324918" y="181845"/>
                  </a:lnTo>
                  <a:lnTo>
                    <a:pt x="360492" y="154306"/>
                  </a:lnTo>
                  <a:lnTo>
                    <a:pt x="397452" y="128769"/>
                  </a:lnTo>
                  <a:lnTo>
                    <a:pt x="435729" y="105311"/>
                  </a:lnTo>
                  <a:lnTo>
                    <a:pt x="475252" y="84005"/>
                  </a:lnTo>
                  <a:lnTo>
                    <a:pt x="515951" y="64925"/>
                  </a:lnTo>
                  <a:lnTo>
                    <a:pt x="557757" y="48148"/>
                  </a:lnTo>
                  <a:lnTo>
                    <a:pt x="600599" y="33747"/>
                  </a:lnTo>
                  <a:lnTo>
                    <a:pt x="644408" y="21797"/>
                  </a:lnTo>
                  <a:lnTo>
                    <a:pt x="689114" y="12373"/>
                  </a:lnTo>
                  <a:lnTo>
                    <a:pt x="734647" y="5548"/>
                  </a:lnTo>
                  <a:lnTo>
                    <a:pt x="780936" y="1399"/>
                  </a:lnTo>
                  <a:lnTo>
                    <a:pt x="827913" y="0"/>
                  </a:lnTo>
                  <a:lnTo>
                    <a:pt x="874889" y="1399"/>
                  </a:lnTo>
                  <a:lnTo>
                    <a:pt x="921178" y="5548"/>
                  </a:lnTo>
                  <a:lnTo>
                    <a:pt x="966711" y="12373"/>
                  </a:lnTo>
                  <a:lnTo>
                    <a:pt x="1011417" y="21797"/>
                  </a:lnTo>
                  <a:lnTo>
                    <a:pt x="1055226" y="33747"/>
                  </a:lnTo>
                  <a:lnTo>
                    <a:pt x="1098068" y="48148"/>
                  </a:lnTo>
                  <a:lnTo>
                    <a:pt x="1139874" y="64925"/>
                  </a:lnTo>
                  <a:lnTo>
                    <a:pt x="1180573" y="84005"/>
                  </a:lnTo>
                  <a:lnTo>
                    <a:pt x="1220096" y="105311"/>
                  </a:lnTo>
                  <a:lnTo>
                    <a:pt x="1258373" y="128769"/>
                  </a:lnTo>
                  <a:lnTo>
                    <a:pt x="1295333" y="154306"/>
                  </a:lnTo>
                  <a:lnTo>
                    <a:pt x="1330907" y="181845"/>
                  </a:lnTo>
                  <a:lnTo>
                    <a:pt x="1365025" y="211314"/>
                  </a:lnTo>
                  <a:lnTo>
                    <a:pt x="1397617" y="242636"/>
                  </a:lnTo>
                  <a:lnTo>
                    <a:pt x="1428613" y="275737"/>
                  </a:lnTo>
                  <a:lnTo>
                    <a:pt x="1457943" y="310542"/>
                  </a:lnTo>
                  <a:lnTo>
                    <a:pt x="1485538" y="346978"/>
                  </a:lnTo>
                  <a:lnTo>
                    <a:pt x="1511326" y="384969"/>
                  </a:lnTo>
                  <a:lnTo>
                    <a:pt x="1535239" y="424441"/>
                  </a:lnTo>
                  <a:lnTo>
                    <a:pt x="1557207" y="465319"/>
                  </a:lnTo>
                  <a:lnTo>
                    <a:pt x="1577159" y="507528"/>
                  </a:lnTo>
                  <a:lnTo>
                    <a:pt x="1595025" y="550994"/>
                  </a:lnTo>
                  <a:lnTo>
                    <a:pt x="1610736" y="595642"/>
                  </a:lnTo>
                  <a:lnTo>
                    <a:pt x="1624222" y="641397"/>
                  </a:lnTo>
                  <a:lnTo>
                    <a:pt x="1635413" y="688185"/>
                  </a:lnTo>
                  <a:lnTo>
                    <a:pt x="1644239" y="735932"/>
                  </a:lnTo>
                  <a:lnTo>
                    <a:pt x="1650629" y="784562"/>
                  </a:lnTo>
                  <a:lnTo>
                    <a:pt x="1654515" y="834000"/>
                  </a:lnTo>
                  <a:lnTo>
                    <a:pt x="1655826" y="884174"/>
                  </a:lnTo>
                  <a:lnTo>
                    <a:pt x="1654515" y="934347"/>
                  </a:lnTo>
                  <a:lnTo>
                    <a:pt x="1650629" y="983786"/>
                  </a:lnTo>
                  <a:lnTo>
                    <a:pt x="1644239" y="1032417"/>
                  </a:lnTo>
                  <a:lnTo>
                    <a:pt x="1635413" y="1080165"/>
                  </a:lnTo>
                  <a:lnTo>
                    <a:pt x="1624222" y="1126955"/>
                  </a:lnTo>
                  <a:lnTo>
                    <a:pt x="1610736" y="1172712"/>
                  </a:lnTo>
                  <a:lnTo>
                    <a:pt x="1595025" y="1217363"/>
                  </a:lnTo>
                  <a:lnTo>
                    <a:pt x="1577159" y="1260831"/>
                  </a:lnTo>
                  <a:lnTo>
                    <a:pt x="1557207" y="1303043"/>
                  </a:lnTo>
                  <a:lnTo>
                    <a:pt x="1535239" y="1343923"/>
                  </a:lnTo>
                  <a:lnTo>
                    <a:pt x="1511326" y="1383398"/>
                  </a:lnTo>
                  <a:lnTo>
                    <a:pt x="1485538" y="1421392"/>
                  </a:lnTo>
                  <a:lnTo>
                    <a:pt x="1457943" y="1457831"/>
                  </a:lnTo>
                  <a:lnTo>
                    <a:pt x="1428613" y="1492640"/>
                  </a:lnTo>
                  <a:lnTo>
                    <a:pt x="1397617" y="1525745"/>
                  </a:lnTo>
                  <a:lnTo>
                    <a:pt x="1365025" y="1557070"/>
                  </a:lnTo>
                  <a:lnTo>
                    <a:pt x="1330907" y="1586541"/>
                  </a:lnTo>
                  <a:lnTo>
                    <a:pt x="1295333" y="1614084"/>
                  </a:lnTo>
                  <a:lnTo>
                    <a:pt x="1258373" y="1639624"/>
                  </a:lnTo>
                  <a:lnTo>
                    <a:pt x="1220096" y="1663085"/>
                  </a:lnTo>
                  <a:lnTo>
                    <a:pt x="1180573" y="1684394"/>
                  </a:lnTo>
                  <a:lnTo>
                    <a:pt x="1139874" y="1703476"/>
                  </a:lnTo>
                  <a:lnTo>
                    <a:pt x="1098068" y="1720255"/>
                  </a:lnTo>
                  <a:lnTo>
                    <a:pt x="1055226" y="1734658"/>
                  </a:lnTo>
                  <a:lnTo>
                    <a:pt x="1011417" y="1746610"/>
                  </a:lnTo>
                  <a:lnTo>
                    <a:pt x="966711" y="1756036"/>
                  </a:lnTo>
                  <a:lnTo>
                    <a:pt x="921178" y="1762861"/>
                  </a:lnTo>
                  <a:lnTo>
                    <a:pt x="874889" y="1767011"/>
                  </a:lnTo>
                  <a:lnTo>
                    <a:pt x="827913" y="1768411"/>
                  </a:lnTo>
                  <a:lnTo>
                    <a:pt x="780936" y="1767011"/>
                  </a:lnTo>
                  <a:lnTo>
                    <a:pt x="734647" y="1762861"/>
                  </a:lnTo>
                  <a:lnTo>
                    <a:pt x="689114" y="1756036"/>
                  </a:lnTo>
                  <a:lnTo>
                    <a:pt x="644408" y="1746610"/>
                  </a:lnTo>
                  <a:lnTo>
                    <a:pt x="600599" y="1734658"/>
                  </a:lnTo>
                  <a:lnTo>
                    <a:pt x="557757" y="1720255"/>
                  </a:lnTo>
                  <a:lnTo>
                    <a:pt x="515951" y="1703476"/>
                  </a:lnTo>
                  <a:lnTo>
                    <a:pt x="475252" y="1684394"/>
                  </a:lnTo>
                  <a:lnTo>
                    <a:pt x="435729" y="1663085"/>
                  </a:lnTo>
                  <a:lnTo>
                    <a:pt x="397452" y="1639624"/>
                  </a:lnTo>
                  <a:lnTo>
                    <a:pt x="360492" y="1614084"/>
                  </a:lnTo>
                  <a:lnTo>
                    <a:pt x="324918" y="1586541"/>
                  </a:lnTo>
                  <a:lnTo>
                    <a:pt x="290800" y="1557070"/>
                  </a:lnTo>
                  <a:lnTo>
                    <a:pt x="258208" y="1525745"/>
                  </a:lnTo>
                  <a:lnTo>
                    <a:pt x="227212" y="1492640"/>
                  </a:lnTo>
                  <a:lnTo>
                    <a:pt x="197882" y="1457831"/>
                  </a:lnTo>
                  <a:lnTo>
                    <a:pt x="170287" y="1421392"/>
                  </a:lnTo>
                  <a:lnTo>
                    <a:pt x="144499" y="1383398"/>
                  </a:lnTo>
                  <a:lnTo>
                    <a:pt x="120586" y="1343923"/>
                  </a:lnTo>
                  <a:lnTo>
                    <a:pt x="98618" y="1303043"/>
                  </a:lnTo>
                  <a:lnTo>
                    <a:pt x="78666" y="1260831"/>
                  </a:lnTo>
                  <a:lnTo>
                    <a:pt x="60800" y="1217363"/>
                  </a:lnTo>
                  <a:lnTo>
                    <a:pt x="45089" y="1172712"/>
                  </a:lnTo>
                  <a:lnTo>
                    <a:pt x="31603" y="1126955"/>
                  </a:lnTo>
                  <a:lnTo>
                    <a:pt x="20412" y="1080165"/>
                  </a:lnTo>
                  <a:lnTo>
                    <a:pt x="11586" y="1032417"/>
                  </a:lnTo>
                  <a:lnTo>
                    <a:pt x="5196" y="983786"/>
                  </a:lnTo>
                  <a:lnTo>
                    <a:pt x="1310" y="934347"/>
                  </a:lnTo>
                  <a:lnTo>
                    <a:pt x="0" y="884174"/>
                  </a:lnTo>
                  <a:close/>
                </a:path>
              </a:pathLst>
            </a:custGeom>
            <a:ln w="9524">
              <a:solidFill>
                <a:srgbClr val="40458B"/>
              </a:solidFill>
            </a:ln>
          </p:spPr>
          <p:txBody>
            <a:bodyPr wrap="square" lIns="0" tIns="0" rIns="0" bIns="0" rtlCol="0"/>
            <a:lstStyle/>
            <a:p/>
          </p:txBody>
        </p:sp>
        <p:pic>
          <p:nvPicPr>
            <p:cNvPr id="6" name="object 6" descr=""/>
            <p:cNvPicPr/>
            <p:nvPr/>
          </p:nvPicPr>
          <p:blipFill>
            <a:blip r:embed="rId2" cstate="print"/>
            <a:stretch>
              <a:fillRect/>
            </a:stretch>
          </p:blipFill>
          <p:spPr>
            <a:xfrm>
              <a:off x="1196339" y="1193291"/>
              <a:ext cx="9365742" cy="5019294"/>
            </a:xfrm>
            <a:prstGeom prst="rect">
              <a:avLst/>
            </a:prstGeom>
          </p:spPr>
        </p:pic>
      </p:grpSp>
      <p:sp>
        <p:nvSpPr>
          <p:cNvPr id="7" name="object 7" descr=""/>
          <p:cNvSpPr txBox="1"/>
          <p:nvPr/>
        </p:nvSpPr>
        <p:spPr>
          <a:xfrm>
            <a:off x="1278382" y="1222324"/>
            <a:ext cx="362585" cy="534670"/>
          </a:xfrm>
          <a:prstGeom prst="rect">
            <a:avLst/>
          </a:prstGeom>
        </p:spPr>
        <p:txBody>
          <a:bodyPr wrap="square" lIns="0" tIns="17145" rIns="0" bIns="0" rtlCol="0" vert="horz">
            <a:spAutoFit/>
          </a:bodyPr>
          <a:lstStyle/>
          <a:p>
            <a:pPr marL="12700">
              <a:lnSpc>
                <a:spcPct val="100000"/>
              </a:lnSpc>
              <a:spcBef>
                <a:spcPts val="135"/>
              </a:spcBef>
            </a:pPr>
            <a:r>
              <a:rPr dirty="0" sz="3300" spc="-50">
                <a:solidFill>
                  <a:srgbClr val="40458B"/>
                </a:solidFill>
                <a:latin typeface="Wingdings"/>
                <a:cs typeface="Wingdings"/>
              </a:rPr>
              <a:t></a:t>
            </a:r>
            <a:endParaRPr sz="3300">
              <a:latin typeface="Wingdings"/>
              <a:cs typeface="Wingdings"/>
            </a:endParaRPr>
          </a:p>
        </p:txBody>
      </p:sp>
      <p:sp>
        <p:nvSpPr>
          <p:cNvPr id="8" name="object 8"/>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571625" algn="l"/>
                <a:tab pos="11028045" algn="l"/>
              </a:tabLst>
            </a:pPr>
            <a:r>
              <a:rPr dirty="0">
                <a:solidFill>
                  <a:srgbClr val="4F55AC"/>
                </a:solidFill>
              </a:rPr>
              <a:t>	2.5</a:t>
            </a:r>
            <a:r>
              <a:rPr dirty="0" spc="-30">
                <a:solidFill>
                  <a:srgbClr val="4F55AC"/>
                </a:solidFill>
              </a:rPr>
              <a:t> </a:t>
            </a:r>
            <a:r>
              <a:rPr dirty="0">
                <a:solidFill>
                  <a:srgbClr val="4F55AC"/>
                </a:solidFill>
                <a:latin typeface="微软雅黑"/>
                <a:cs typeface="微软雅黑"/>
              </a:rPr>
              <a:t>操作数的类型和大</a:t>
            </a:r>
            <a:r>
              <a:rPr dirty="0" spc="-50">
                <a:solidFill>
                  <a:srgbClr val="4F55AC"/>
                </a:solidFill>
                <a:latin typeface="微软雅黑"/>
                <a:cs typeface="微软雅黑"/>
              </a:rPr>
              <a:t>小</a:t>
            </a:r>
            <a:r>
              <a:rPr dirty="0">
                <a:solidFill>
                  <a:srgbClr val="4F55AC"/>
                </a:solidFill>
                <a:latin typeface="微软雅黑"/>
                <a:cs typeface="微软雅黑"/>
              </a:rPr>
              <a:t>	</a:t>
            </a:r>
          </a:p>
        </p:txBody>
      </p:sp>
      <p:grpSp>
        <p:nvGrpSpPr>
          <p:cNvPr id="9" name="object 9" descr=""/>
          <p:cNvGrpSpPr/>
          <p:nvPr/>
        </p:nvGrpSpPr>
        <p:grpSpPr>
          <a:xfrm>
            <a:off x="8718613" y="4414837"/>
            <a:ext cx="1306830" cy="946150"/>
            <a:chOff x="8718613" y="4414837"/>
            <a:chExt cx="1306830" cy="946150"/>
          </a:xfrm>
        </p:grpSpPr>
        <p:sp>
          <p:nvSpPr>
            <p:cNvPr id="10" name="object 10" descr=""/>
            <p:cNvSpPr/>
            <p:nvPr/>
          </p:nvSpPr>
          <p:spPr>
            <a:xfrm>
              <a:off x="8723376" y="4419600"/>
              <a:ext cx="1297305" cy="936625"/>
            </a:xfrm>
            <a:custGeom>
              <a:avLst/>
              <a:gdLst/>
              <a:ahLst/>
              <a:cxnLst/>
              <a:rect l="l" t="t" r="r" b="b"/>
              <a:pathLst>
                <a:path w="1297304" h="936625">
                  <a:moveTo>
                    <a:pt x="648462" y="0"/>
                  </a:moveTo>
                  <a:lnTo>
                    <a:pt x="592509" y="1719"/>
                  </a:lnTo>
                  <a:lnTo>
                    <a:pt x="537879" y="6782"/>
                  </a:lnTo>
                  <a:lnTo>
                    <a:pt x="484764" y="15049"/>
                  </a:lnTo>
                  <a:lnTo>
                    <a:pt x="433361" y="26379"/>
                  </a:lnTo>
                  <a:lnTo>
                    <a:pt x="383864" y="40631"/>
                  </a:lnTo>
                  <a:lnTo>
                    <a:pt x="336467" y="57665"/>
                  </a:lnTo>
                  <a:lnTo>
                    <a:pt x="291365" y="77340"/>
                  </a:lnTo>
                  <a:lnTo>
                    <a:pt x="248753" y="99516"/>
                  </a:lnTo>
                  <a:lnTo>
                    <a:pt x="208825" y="124051"/>
                  </a:lnTo>
                  <a:lnTo>
                    <a:pt x="171775" y="150805"/>
                  </a:lnTo>
                  <a:lnTo>
                    <a:pt x="137800" y="179638"/>
                  </a:lnTo>
                  <a:lnTo>
                    <a:pt x="107092" y="210409"/>
                  </a:lnTo>
                  <a:lnTo>
                    <a:pt x="79848" y="242977"/>
                  </a:lnTo>
                  <a:lnTo>
                    <a:pt x="56261" y="277201"/>
                  </a:lnTo>
                  <a:lnTo>
                    <a:pt x="36526" y="312941"/>
                  </a:lnTo>
                  <a:lnTo>
                    <a:pt x="20837" y="350057"/>
                  </a:lnTo>
                  <a:lnTo>
                    <a:pt x="9391" y="388407"/>
                  </a:lnTo>
                  <a:lnTo>
                    <a:pt x="2380" y="427851"/>
                  </a:lnTo>
                  <a:lnTo>
                    <a:pt x="0" y="468249"/>
                  </a:lnTo>
                  <a:lnTo>
                    <a:pt x="2380" y="508665"/>
                  </a:lnTo>
                  <a:lnTo>
                    <a:pt x="9391" y="548126"/>
                  </a:lnTo>
                  <a:lnTo>
                    <a:pt x="20837" y="586491"/>
                  </a:lnTo>
                  <a:lnTo>
                    <a:pt x="36526" y="623620"/>
                  </a:lnTo>
                  <a:lnTo>
                    <a:pt x="56261" y="659372"/>
                  </a:lnTo>
                  <a:lnTo>
                    <a:pt x="79848" y="693607"/>
                  </a:lnTo>
                  <a:lnTo>
                    <a:pt x="107092" y="726183"/>
                  </a:lnTo>
                  <a:lnTo>
                    <a:pt x="137800" y="756961"/>
                  </a:lnTo>
                  <a:lnTo>
                    <a:pt x="171775" y="785800"/>
                  </a:lnTo>
                  <a:lnTo>
                    <a:pt x="208825" y="812560"/>
                  </a:lnTo>
                  <a:lnTo>
                    <a:pt x="248753" y="837099"/>
                  </a:lnTo>
                  <a:lnTo>
                    <a:pt x="291365" y="859277"/>
                  </a:lnTo>
                  <a:lnTo>
                    <a:pt x="336467" y="878955"/>
                  </a:lnTo>
                  <a:lnTo>
                    <a:pt x="383864" y="895991"/>
                  </a:lnTo>
                  <a:lnTo>
                    <a:pt x="433361" y="910244"/>
                  </a:lnTo>
                  <a:lnTo>
                    <a:pt x="484764" y="921575"/>
                  </a:lnTo>
                  <a:lnTo>
                    <a:pt x="537879" y="929842"/>
                  </a:lnTo>
                  <a:lnTo>
                    <a:pt x="592509" y="934905"/>
                  </a:lnTo>
                  <a:lnTo>
                    <a:pt x="648462" y="936625"/>
                  </a:lnTo>
                  <a:lnTo>
                    <a:pt x="704414" y="934905"/>
                  </a:lnTo>
                  <a:lnTo>
                    <a:pt x="759044" y="929842"/>
                  </a:lnTo>
                  <a:lnTo>
                    <a:pt x="812159" y="921575"/>
                  </a:lnTo>
                  <a:lnTo>
                    <a:pt x="863562" y="910244"/>
                  </a:lnTo>
                  <a:lnTo>
                    <a:pt x="913059" y="895991"/>
                  </a:lnTo>
                  <a:lnTo>
                    <a:pt x="960456" y="878955"/>
                  </a:lnTo>
                  <a:lnTo>
                    <a:pt x="1005558" y="859277"/>
                  </a:lnTo>
                  <a:lnTo>
                    <a:pt x="1048170" y="837099"/>
                  </a:lnTo>
                  <a:lnTo>
                    <a:pt x="1088098" y="812560"/>
                  </a:lnTo>
                  <a:lnTo>
                    <a:pt x="1125148" y="785800"/>
                  </a:lnTo>
                  <a:lnTo>
                    <a:pt x="1159123" y="756961"/>
                  </a:lnTo>
                  <a:lnTo>
                    <a:pt x="1189831" y="726183"/>
                  </a:lnTo>
                  <a:lnTo>
                    <a:pt x="1217075" y="693607"/>
                  </a:lnTo>
                  <a:lnTo>
                    <a:pt x="1240662" y="659372"/>
                  </a:lnTo>
                  <a:lnTo>
                    <a:pt x="1260397" y="623620"/>
                  </a:lnTo>
                  <a:lnTo>
                    <a:pt x="1276086" y="586491"/>
                  </a:lnTo>
                  <a:lnTo>
                    <a:pt x="1287532" y="548126"/>
                  </a:lnTo>
                  <a:lnTo>
                    <a:pt x="1294543" y="508665"/>
                  </a:lnTo>
                  <a:lnTo>
                    <a:pt x="1296924" y="468249"/>
                  </a:lnTo>
                  <a:lnTo>
                    <a:pt x="1294543" y="427851"/>
                  </a:lnTo>
                  <a:lnTo>
                    <a:pt x="1287532" y="388407"/>
                  </a:lnTo>
                  <a:lnTo>
                    <a:pt x="1276086" y="350057"/>
                  </a:lnTo>
                  <a:lnTo>
                    <a:pt x="1260397" y="312941"/>
                  </a:lnTo>
                  <a:lnTo>
                    <a:pt x="1240662" y="277201"/>
                  </a:lnTo>
                  <a:lnTo>
                    <a:pt x="1217075" y="242977"/>
                  </a:lnTo>
                  <a:lnTo>
                    <a:pt x="1189831" y="210409"/>
                  </a:lnTo>
                  <a:lnTo>
                    <a:pt x="1159123" y="179638"/>
                  </a:lnTo>
                  <a:lnTo>
                    <a:pt x="1125148" y="150805"/>
                  </a:lnTo>
                  <a:lnTo>
                    <a:pt x="1088098" y="124051"/>
                  </a:lnTo>
                  <a:lnTo>
                    <a:pt x="1048170" y="99516"/>
                  </a:lnTo>
                  <a:lnTo>
                    <a:pt x="1005558" y="77340"/>
                  </a:lnTo>
                  <a:lnTo>
                    <a:pt x="960456" y="57665"/>
                  </a:lnTo>
                  <a:lnTo>
                    <a:pt x="913059" y="40631"/>
                  </a:lnTo>
                  <a:lnTo>
                    <a:pt x="863562" y="26379"/>
                  </a:lnTo>
                  <a:lnTo>
                    <a:pt x="812159" y="15049"/>
                  </a:lnTo>
                  <a:lnTo>
                    <a:pt x="759044" y="6782"/>
                  </a:lnTo>
                  <a:lnTo>
                    <a:pt x="704414" y="1719"/>
                  </a:lnTo>
                  <a:lnTo>
                    <a:pt x="648462" y="0"/>
                  </a:lnTo>
                  <a:close/>
                </a:path>
              </a:pathLst>
            </a:custGeom>
            <a:solidFill>
              <a:srgbClr val="FFACFF"/>
            </a:solidFill>
          </p:spPr>
          <p:txBody>
            <a:bodyPr wrap="square" lIns="0" tIns="0" rIns="0" bIns="0" rtlCol="0"/>
            <a:lstStyle/>
            <a:p/>
          </p:txBody>
        </p:sp>
        <p:sp>
          <p:nvSpPr>
            <p:cNvPr id="11" name="object 11" descr=""/>
            <p:cNvSpPr/>
            <p:nvPr/>
          </p:nvSpPr>
          <p:spPr>
            <a:xfrm>
              <a:off x="8723376" y="4419600"/>
              <a:ext cx="1297305" cy="936625"/>
            </a:xfrm>
            <a:custGeom>
              <a:avLst/>
              <a:gdLst/>
              <a:ahLst/>
              <a:cxnLst/>
              <a:rect l="l" t="t" r="r" b="b"/>
              <a:pathLst>
                <a:path w="1297304" h="936625">
                  <a:moveTo>
                    <a:pt x="0" y="468249"/>
                  </a:moveTo>
                  <a:lnTo>
                    <a:pt x="2380" y="427851"/>
                  </a:lnTo>
                  <a:lnTo>
                    <a:pt x="9391" y="388407"/>
                  </a:lnTo>
                  <a:lnTo>
                    <a:pt x="20837" y="350057"/>
                  </a:lnTo>
                  <a:lnTo>
                    <a:pt x="36526" y="312941"/>
                  </a:lnTo>
                  <a:lnTo>
                    <a:pt x="56261" y="277201"/>
                  </a:lnTo>
                  <a:lnTo>
                    <a:pt x="79848" y="242977"/>
                  </a:lnTo>
                  <a:lnTo>
                    <a:pt x="107092" y="210409"/>
                  </a:lnTo>
                  <a:lnTo>
                    <a:pt x="137800" y="179638"/>
                  </a:lnTo>
                  <a:lnTo>
                    <a:pt x="171775" y="150805"/>
                  </a:lnTo>
                  <a:lnTo>
                    <a:pt x="208825" y="124051"/>
                  </a:lnTo>
                  <a:lnTo>
                    <a:pt x="248753" y="99516"/>
                  </a:lnTo>
                  <a:lnTo>
                    <a:pt x="291365" y="77340"/>
                  </a:lnTo>
                  <a:lnTo>
                    <a:pt x="336467" y="57665"/>
                  </a:lnTo>
                  <a:lnTo>
                    <a:pt x="383864" y="40631"/>
                  </a:lnTo>
                  <a:lnTo>
                    <a:pt x="433361" y="26379"/>
                  </a:lnTo>
                  <a:lnTo>
                    <a:pt x="484764" y="15049"/>
                  </a:lnTo>
                  <a:lnTo>
                    <a:pt x="537879" y="6782"/>
                  </a:lnTo>
                  <a:lnTo>
                    <a:pt x="592509" y="1719"/>
                  </a:lnTo>
                  <a:lnTo>
                    <a:pt x="648462" y="0"/>
                  </a:lnTo>
                  <a:lnTo>
                    <a:pt x="704414" y="1719"/>
                  </a:lnTo>
                  <a:lnTo>
                    <a:pt x="759044" y="6782"/>
                  </a:lnTo>
                  <a:lnTo>
                    <a:pt x="812159" y="15049"/>
                  </a:lnTo>
                  <a:lnTo>
                    <a:pt x="863562" y="26379"/>
                  </a:lnTo>
                  <a:lnTo>
                    <a:pt x="913059" y="40631"/>
                  </a:lnTo>
                  <a:lnTo>
                    <a:pt x="960456" y="57665"/>
                  </a:lnTo>
                  <a:lnTo>
                    <a:pt x="1005558" y="77340"/>
                  </a:lnTo>
                  <a:lnTo>
                    <a:pt x="1048170" y="99516"/>
                  </a:lnTo>
                  <a:lnTo>
                    <a:pt x="1088098" y="124051"/>
                  </a:lnTo>
                  <a:lnTo>
                    <a:pt x="1125148" y="150805"/>
                  </a:lnTo>
                  <a:lnTo>
                    <a:pt x="1159123" y="179638"/>
                  </a:lnTo>
                  <a:lnTo>
                    <a:pt x="1189831" y="210409"/>
                  </a:lnTo>
                  <a:lnTo>
                    <a:pt x="1217075" y="242977"/>
                  </a:lnTo>
                  <a:lnTo>
                    <a:pt x="1240662" y="277201"/>
                  </a:lnTo>
                  <a:lnTo>
                    <a:pt x="1260397" y="312941"/>
                  </a:lnTo>
                  <a:lnTo>
                    <a:pt x="1276086" y="350057"/>
                  </a:lnTo>
                  <a:lnTo>
                    <a:pt x="1287532" y="388407"/>
                  </a:lnTo>
                  <a:lnTo>
                    <a:pt x="1294543" y="427851"/>
                  </a:lnTo>
                  <a:lnTo>
                    <a:pt x="1296924" y="468249"/>
                  </a:lnTo>
                  <a:lnTo>
                    <a:pt x="1294543" y="508665"/>
                  </a:lnTo>
                  <a:lnTo>
                    <a:pt x="1287532" y="548126"/>
                  </a:lnTo>
                  <a:lnTo>
                    <a:pt x="1276086" y="586491"/>
                  </a:lnTo>
                  <a:lnTo>
                    <a:pt x="1260397" y="623620"/>
                  </a:lnTo>
                  <a:lnTo>
                    <a:pt x="1240662" y="659372"/>
                  </a:lnTo>
                  <a:lnTo>
                    <a:pt x="1217075" y="693607"/>
                  </a:lnTo>
                  <a:lnTo>
                    <a:pt x="1189831" y="726183"/>
                  </a:lnTo>
                  <a:lnTo>
                    <a:pt x="1159123" y="756961"/>
                  </a:lnTo>
                  <a:lnTo>
                    <a:pt x="1125148" y="785800"/>
                  </a:lnTo>
                  <a:lnTo>
                    <a:pt x="1088098" y="812560"/>
                  </a:lnTo>
                  <a:lnTo>
                    <a:pt x="1048170" y="837099"/>
                  </a:lnTo>
                  <a:lnTo>
                    <a:pt x="1005558" y="859277"/>
                  </a:lnTo>
                  <a:lnTo>
                    <a:pt x="960456" y="878955"/>
                  </a:lnTo>
                  <a:lnTo>
                    <a:pt x="913059" y="895991"/>
                  </a:lnTo>
                  <a:lnTo>
                    <a:pt x="863562" y="910244"/>
                  </a:lnTo>
                  <a:lnTo>
                    <a:pt x="812159" y="921575"/>
                  </a:lnTo>
                  <a:lnTo>
                    <a:pt x="759044" y="929842"/>
                  </a:lnTo>
                  <a:lnTo>
                    <a:pt x="704414" y="934905"/>
                  </a:lnTo>
                  <a:lnTo>
                    <a:pt x="648462" y="936625"/>
                  </a:lnTo>
                  <a:lnTo>
                    <a:pt x="592509" y="934905"/>
                  </a:lnTo>
                  <a:lnTo>
                    <a:pt x="537879" y="929842"/>
                  </a:lnTo>
                  <a:lnTo>
                    <a:pt x="484764" y="921575"/>
                  </a:lnTo>
                  <a:lnTo>
                    <a:pt x="433361" y="910244"/>
                  </a:lnTo>
                  <a:lnTo>
                    <a:pt x="383864" y="895991"/>
                  </a:lnTo>
                  <a:lnTo>
                    <a:pt x="336467" y="878955"/>
                  </a:lnTo>
                  <a:lnTo>
                    <a:pt x="291365" y="859277"/>
                  </a:lnTo>
                  <a:lnTo>
                    <a:pt x="248753" y="837099"/>
                  </a:lnTo>
                  <a:lnTo>
                    <a:pt x="208825" y="812560"/>
                  </a:lnTo>
                  <a:lnTo>
                    <a:pt x="171775" y="785800"/>
                  </a:lnTo>
                  <a:lnTo>
                    <a:pt x="137800" y="756961"/>
                  </a:lnTo>
                  <a:lnTo>
                    <a:pt x="107092" y="726183"/>
                  </a:lnTo>
                  <a:lnTo>
                    <a:pt x="79848" y="693607"/>
                  </a:lnTo>
                  <a:lnTo>
                    <a:pt x="56261" y="659372"/>
                  </a:lnTo>
                  <a:lnTo>
                    <a:pt x="36526" y="623620"/>
                  </a:lnTo>
                  <a:lnTo>
                    <a:pt x="20837" y="586491"/>
                  </a:lnTo>
                  <a:lnTo>
                    <a:pt x="9391" y="548126"/>
                  </a:lnTo>
                  <a:lnTo>
                    <a:pt x="2380" y="508665"/>
                  </a:lnTo>
                  <a:lnTo>
                    <a:pt x="0" y="468249"/>
                  </a:lnTo>
                  <a:close/>
                </a:path>
              </a:pathLst>
            </a:custGeom>
            <a:ln w="9525">
              <a:solidFill>
                <a:srgbClr val="40458B"/>
              </a:solidFill>
            </a:ln>
          </p:spPr>
          <p:txBody>
            <a:bodyPr wrap="square" lIns="0" tIns="0" rIns="0" bIns="0" rtlCol="0"/>
            <a:lstStyle/>
            <a:p/>
          </p:txBody>
        </p:sp>
      </p:grpSp>
      <p:sp>
        <p:nvSpPr>
          <p:cNvPr id="12" name="object 12" descr=""/>
          <p:cNvSpPr txBox="1"/>
          <p:nvPr/>
        </p:nvSpPr>
        <p:spPr>
          <a:xfrm>
            <a:off x="8803005" y="3961638"/>
            <a:ext cx="1130300" cy="929640"/>
          </a:xfrm>
          <a:prstGeom prst="rect">
            <a:avLst/>
          </a:prstGeom>
        </p:spPr>
        <p:txBody>
          <a:bodyPr wrap="square" lIns="0" tIns="12700" rIns="0" bIns="0" rtlCol="0" vert="horz">
            <a:spAutoFit/>
          </a:bodyPr>
          <a:lstStyle/>
          <a:p>
            <a:pPr marL="12700">
              <a:lnSpc>
                <a:spcPct val="100000"/>
              </a:lnSpc>
              <a:spcBef>
                <a:spcPts val="100"/>
              </a:spcBef>
            </a:pPr>
            <a:r>
              <a:rPr dirty="0" sz="2000" spc="-15">
                <a:solidFill>
                  <a:srgbClr val="006FC0"/>
                </a:solidFill>
                <a:latin typeface="黑体"/>
                <a:cs typeface="黑体"/>
              </a:rPr>
              <a:t>数据类型</a:t>
            </a:r>
            <a:endParaRPr sz="2000">
              <a:latin typeface="黑体"/>
              <a:cs typeface="黑体"/>
            </a:endParaRPr>
          </a:p>
          <a:p>
            <a:pPr marL="202565">
              <a:lnSpc>
                <a:spcPct val="100000"/>
              </a:lnSpc>
              <a:spcBef>
                <a:spcPts val="2555"/>
              </a:spcBef>
            </a:pPr>
            <a:r>
              <a:rPr dirty="0" sz="1800" spc="-15">
                <a:solidFill>
                  <a:srgbClr val="40458B"/>
                </a:solidFill>
                <a:latin typeface="黑体"/>
                <a:cs typeface="黑体"/>
              </a:rPr>
              <a:t>数据表示</a:t>
            </a:r>
            <a:endParaRPr sz="1800">
              <a:latin typeface="黑体"/>
              <a:cs typeface="黑体"/>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690497" y="1329004"/>
            <a:ext cx="8570595" cy="2378710"/>
          </a:xfrm>
          <a:prstGeom prst="rect">
            <a:avLst/>
          </a:prstGeom>
        </p:spPr>
        <p:txBody>
          <a:bodyPr wrap="square" lIns="0" tIns="12065" rIns="0" bIns="0" rtlCol="0" vert="horz">
            <a:spAutoFit/>
          </a:bodyPr>
          <a:lstStyle/>
          <a:p>
            <a:pPr marL="283210" indent="-270510">
              <a:lnSpc>
                <a:spcPct val="100000"/>
              </a:lnSpc>
              <a:spcBef>
                <a:spcPts val="95"/>
              </a:spcBef>
              <a:buClr>
                <a:srgbClr val="006FC0"/>
              </a:buClr>
              <a:buSzPct val="88636"/>
              <a:buFont typeface="Wingdings"/>
              <a:buChar char=""/>
              <a:tabLst>
                <a:tab pos="283210" algn="l"/>
              </a:tabLst>
            </a:pPr>
            <a:r>
              <a:rPr dirty="0" sz="2200" spc="-35">
                <a:solidFill>
                  <a:srgbClr val="FF0000"/>
                </a:solidFill>
                <a:latin typeface="黑体"/>
                <a:cs typeface="黑体"/>
              </a:rPr>
              <a:t>数据表示类型</a:t>
            </a:r>
            <a:endParaRPr sz="2200">
              <a:latin typeface="黑体"/>
              <a:cs typeface="黑体"/>
            </a:endParaRPr>
          </a:p>
          <a:p>
            <a:pPr lvl="1" marL="896619" marR="5080" indent="-358775">
              <a:lnSpc>
                <a:spcPct val="150000"/>
              </a:lnSpc>
              <a:spcBef>
                <a:spcPts val="530"/>
              </a:spcBef>
              <a:buClr>
                <a:srgbClr val="4668F5"/>
              </a:buClr>
              <a:buSzPct val="72500"/>
              <a:buFont typeface="Wingdings"/>
              <a:buChar char=""/>
              <a:tabLst>
                <a:tab pos="896619" algn="l"/>
              </a:tabLst>
            </a:pPr>
            <a:r>
              <a:rPr dirty="0" sz="2000" spc="-25" b="1">
                <a:solidFill>
                  <a:srgbClr val="6F2F9F"/>
                </a:solidFill>
                <a:latin typeface="黑体"/>
                <a:cs typeface="黑体"/>
              </a:rPr>
              <a:t>当机器设置有定点算术运算一系列运算指令和相应的运算硬件，可以</a:t>
            </a:r>
            <a:r>
              <a:rPr dirty="0" sz="2000" spc="-20" b="1">
                <a:solidFill>
                  <a:srgbClr val="6F2F9F"/>
                </a:solidFill>
                <a:latin typeface="黑体"/>
                <a:cs typeface="黑体"/>
              </a:rPr>
              <a:t>直接对定点数进行各种处理时，机器就有了</a:t>
            </a:r>
            <a:r>
              <a:rPr dirty="0" sz="2000" spc="-20" b="1">
                <a:solidFill>
                  <a:srgbClr val="FF0000"/>
                </a:solidFill>
                <a:latin typeface="黑体"/>
                <a:cs typeface="黑体"/>
              </a:rPr>
              <a:t>定点数据表示</a:t>
            </a:r>
            <a:r>
              <a:rPr dirty="0" sz="2000" spc="-50" b="1">
                <a:solidFill>
                  <a:srgbClr val="6F2F9F"/>
                </a:solidFill>
                <a:latin typeface="黑体"/>
                <a:cs typeface="黑体"/>
              </a:rPr>
              <a:t>。</a:t>
            </a:r>
            <a:endParaRPr sz="2000">
              <a:latin typeface="黑体"/>
              <a:cs typeface="黑体"/>
            </a:endParaRPr>
          </a:p>
          <a:p>
            <a:pPr lvl="1" marL="896619" indent="-358775">
              <a:lnSpc>
                <a:spcPct val="100000"/>
              </a:lnSpc>
              <a:spcBef>
                <a:spcPts val="1680"/>
              </a:spcBef>
              <a:buClr>
                <a:srgbClr val="4668F5"/>
              </a:buClr>
              <a:buSzPct val="72500"/>
              <a:buFont typeface="Wingdings"/>
              <a:buChar char=""/>
              <a:tabLst>
                <a:tab pos="896619" algn="l"/>
              </a:tabLst>
            </a:pPr>
            <a:r>
              <a:rPr dirty="0" sz="2000" spc="-25" b="1">
                <a:solidFill>
                  <a:srgbClr val="6F2F9F"/>
                </a:solidFill>
                <a:latin typeface="黑体"/>
                <a:cs typeface="黑体"/>
              </a:rPr>
              <a:t>同理整型、浮点型、字符型等</a:t>
            </a:r>
            <a:endParaRPr sz="2000">
              <a:latin typeface="黑体"/>
              <a:cs typeface="黑体"/>
            </a:endParaRPr>
          </a:p>
          <a:p>
            <a:pPr lvl="1" marL="896619" indent="-358775">
              <a:lnSpc>
                <a:spcPct val="100000"/>
              </a:lnSpc>
              <a:spcBef>
                <a:spcPts val="1680"/>
              </a:spcBef>
              <a:buClr>
                <a:srgbClr val="4668F5"/>
              </a:buClr>
              <a:buSzPct val="72500"/>
              <a:buFont typeface="Wingdings"/>
              <a:buChar char=""/>
              <a:tabLst>
                <a:tab pos="896619" algn="l"/>
              </a:tabLst>
            </a:pPr>
            <a:r>
              <a:rPr dirty="0" sz="2000" spc="-25" b="1">
                <a:solidFill>
                  <a:srgbClr val="6F2F9F"/>
                </a:solidFill>
                <a:latin typeface="黑体"/>
                <a:cs typeface="黑体"/>
              </a:rPr>
              <a:t>同理，如果不需要上述运算，硬件则可不设计</a:t>
            </a:r>
            <a:endParaRPr sz="2000">
              <a:latin typeface="黑体"/>
              <a:cs typeface="黑体"/>
            </a:endParaRPr>
          </a:p>
        </p:txBody>
      </p:sp>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571625" algn="l"/>
                <a:tab pos="11028045" algn="l"/>
              </a:tabLst>
            </a:pPr>
            <a:r>
              <a:rPr dirty="0">
                <a:solidFill>
                  <a:srgbClr val="4F55AC"/>
                </a:solidFill>
              </a:rPr>
              <a:t>	2.5</a:t>
            </a:r>
            <a:r>
              <a:rPr dirty="0" spc="-30">
                <a:solidFill>
                  <a:srgbClr val="4F55AC"/>
                </a:solidFill>
              </a:rPr>
              <a:t> </a:t>
            </a:r>
            <a:r>
              <a:rPr dirty="0">
                <a:solidFill>
                  <a:srgbClr val="4F55AC"/>
                </a:solidFill>
                <a:latin typeface="微软雅黑"/>
                <a:cs typeface="微软雅黑"/>
              </a:rPr>
              <a:t>操作数的类型和大</a:t>
            </a:r>
            <a:r>
              <a:rPr dirty="0" spc="-50">
                <a:solidFill>
                  <a:srgbClr val="4F55AC"/>
                </a:solidFill>
                <a:latin typeface="微软雅黑"/>
                <a:cs typeface="微软雅黑"/>
              </a:rPr>
              <a:t>小</a:t>
            </a:r>
            <a:r>
              <a:rPr dirty="0">
                <a:solidFill>
                  <a:srgbClr val="4F55AC"/>
                </a:solidFill>
                <a:latin typeface="微软雅黑"/>
                <a:cs typeface="微软雅黑"/>
              </a:rPr>
              <a:t>	</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1494789" y="937008"/>
            <a:ext cx="9137650" cy="4190365"/>
          </a:xfrm>
          <a:prstGeom prst="rect">
            <a:avLst/>
          </a:prstGeom>
        </p:spPr>
        <p:txBody>
          <a:bodyPr wrap="square" lIns="0" tIns="93980" rIns="0" bIns="0" rtlCol="0" vert="horz">
            <a:spAutoFit/>
          </a:bodyPr>
          <a:lstStyle/>
          <a:p>
            <a:pPr marL="355600" indent="-342900">
              <a:lnSpc>
                <a:spcPct val="100000"/>
              </a:lnSpc>
              <a:spcBef>
                <a:spcPts val="740"/>
              </a:spcBef>
              <a:buClr>
                <a:srgbClr val="40458B"/>
              </a:buClr>
              <a:buSzPct val="114285"/>
              <a:buFont typeface="Wingdings"/>
              <a:buChar char=""/>
              <a:tabLst>
                <a:tab pos="355600" algn="l"/>
              </a:tabLst>
            </a:pPr>
            <a:r>
              <a:rPr dirty="0" sz="2800" spc="-35">
                <a:solidFill>
                  <a:srgbClr val="172152"/>
                </a:solidFill>
                <a:latin typeface="黑体"/>
                <a:cs typeface="黑体"/>
              </a:rPr>
              <a:t>系统结构设计者要解决的问题：</a:t>
            </a:r>
            <a:r>
              <a:rPr dirty="0" sz="2800" spc="-40">
                <a:solidFill>
                  <a:srgbClr val="008000"/>
                </a:solidFill>
                <a:latin typeface="黑体"/>
                <a:cs typeface="黑体"/>
              </a:rPr>
              <a:t>如何确定数据表示？</a:t>
            </a:r>
            <a:endParaRPr sz="2800">
              <a:latin typeface="黑体"/>
              <a:cs typeface="黑体"/>
            </a:endParaRPr>
          </a:p>
          <a:p>
            <a:pPr marL="948690">
              <a:lnSpc>
                <a:spcPct val="100000"/>
              </a:lnSpc>
              <a:spcBef>
                <a:spcPts val="730"/>
              </a:spcBef>
            </a:pPr>
            <a:r>
              <a:rPr dirty="0" sz="2000" spc="-10" b="1">
                <a:solidFill>
                  <a:srgbClr val="6F2F9F"/>
                </a:solidFill>
                <a:latin typeface="黑体"/>
                <a:cs typeface="黑体"/>
              </a:rPr>
              <a:t>（</a:t>
            </a:r>
            <a:r>
              <a:rPr dirty="0" sz="2000" spc="-20" b="1">
                <a:solidFill>
                  <a:srgbClr val="6F2F9F"/>
                </a:solidFill>
                <a:latin typeface="黑体"/>
                <a:cs typeface="黑体"/>
              </a:rPr>
              <a:t>软硬件取舍折中的问题</a:t>
            </a:r>
            <a:r>
              <a:rPr dirty="0" sz="2000" spc="-50" b="1">
                <a:solidFill>
                  <a:srgbClr val="6F2F9F"/>
                </a:solidFill>
                <a:latin typeface="黑体"/>
                <a:cs typeface="黑体"/>
              </a:rPr>
              <a:t>）</a:t>
            </a:r>
            <a:endParaRPr sz="2000">
              <a:latin typeface="黑体"/>
              <a:cs typeface="黑体"/>
            </a:endParaRPr>
          </a:p>
          <a:p>
            <a:pPr algn="just" lvl="1" marL="1299210" marR="5080" indent="-270510">
              <a:lnSpc>
                <a:spcPct val="150000"/>
              </a:lnSpc>
              <a:spcBef>
                <a:spcPts val="240"/>
              </a:spcBef>
              <a:buSzPct val="88636"/>
              <a:buFont typeface="Wingdings"/>
              <a:buChar char=""/>
              <a:tabLst>
                <a:tab pos="1300480" algn="l"/>
              </a:tabLst>
            </a:pPr>
            <a:r>
              <a:rPr dirty="0" sz="2200" spc="-35">
                <a:solidFill>
                  <a:srgbClr val="006FC0"/>
                </a:solidFill>
                <a:latin typeface="黑体"/>
                <a:cs typeface="黑体"/>
              </a:rPr>
              <a:t>理论上只要软件能实现简单的简单的数据表示，例如定点数、字	符等，那么复杂的数据类型可以通过软件来设计，例如浮点数的	表示可以整数拼接。但大大降低了系统的性能效率等，</a:t>
            </a:r>
            <a:endParaRPr sz="2200">
              <a:latin typeface="黑体"/>
              <a:cs typeface="黑体"/>
            </a:endParaRPr>
          </a:p>
          <a:p>
            <a:pPr lvl="1" marL="1299845" indent="-270510">
              <a:lnSpc>
                <a:spcPct val="100000"/>
              </a:lnSpc>
              <a:spcBef>
                <a:spcPts val="1850"/>
              </a:spcBef>
              <a:buSzPct val="88636"/>
              <a:buFont typeface="Wingdings"/>
              <a:buChar char=""/>
              <a:tabLst>
                <a:tab pos="1299845" algn="l"/>
              </a:tabLst>
            </a:pPr>
            <a:r>
              <a:rPr dirty="0" sz="2200" spc="-35">
                <a:solidFill>
                  <a:srgbClr val="006FC0"/>
                </a:solidFill>
                <a:latin typeface="黑体"/>
                <a:cs typeface="黑体"/>
              </a:rPr>
              <a:t>反之复杂的数据类型融入在数据表示中，则硬件成本高，若很少</a:t>
            </a:r>
            <a:endParaRPr sz="2200">
              <a:latin typeface="黑体"/>
              <a:cs typeface="黑体"/>
            </a:endParaRPr>
          </a:p>
          <a:p>
            <a:pPr marL="1300480">
              <a:lnSpc>
                <a:spcPct val="100000"/>
              </a:lnSpc>
              <a:spcBef>
                <a:spcPts val="1320"/>
              </a:spcBef>
            </a:pPr>
            <a:r>
              <a:rPr dirty="0" sz="2200" spc="-35">
                <a:solidFill>
                  <a:srgbClr val="006FC0"/>
                </a:solidFill>
                <a:latin typeface="黑体"/>
                <a:cs typeface="黑体"/>
              </a:rPr>
              <a:t>用到，则设计不合理</a:t>
            </a:r>
            <a:endParaRPr sz="2200">
              <a:latin typeface="黑体"/>
              <a:cs typeface="黑体"/>
            </a:endParaRPr>
          </a:p>
          <a:p>
            <a:pPr lvl="1" marL="1299845" indent="-270510">
              <a:lnSpc>
                <a:spcPct val="100000"/>
              </a:lnSpc>
              <a:spcBef>
                <a:spcPts val="1850"/>
              </a:spcBef>
              <a:buClr>
                <a:srgbClr val="006FC0"/>
              </a:buClr>
              <a:buSzPct val="88636"/>
              <a:buFont typeface="Wingdings"/>
              <a:buChar char=""/>
              <a:tabLst>
                <a:tab pos="1299845" algn="l"/>
              </a:tabLst>
            </a:pPr>
            <a:r>
              <a:rPr dirty="0" sz="2200" spc="-30">
                <a:solidFill>
                  <a:srgbClr val="FF0000"/>
                </a:solidFill>
                <a:latin typeface="黑体"/>
                <a:cs typeface="黑体"/>
              </a:rPr>
              <a:t>如何进行软硬件取舍是确定数据表示的关键</a:t>
            </a:r>
            <a:r>
              <a:rPr dirty="0" sz="2200" spc="-50">
                <a:solidFill>
                  <a:srgbClr val="006FC0"/>
                </a:solidFill>
                <a:latin typeface="黑体"/>
                <a:cs typeface="黑体"/>
              </a:rPr>
              <a:t>。</a:t>
            </a:r>
            <a:endParaRPr sz="2200">
              <a:latin typeface="黑体"/>
              <a:cs typeface="黑体"/>
            </a:endParaRPr>
          </a:p>
        </p:txBody>
      </p:sp>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788160" algn="l"/>
                <a:tab pos="11028045" algn="l"/>
              </a:tabLst>
            </a:pPr>
            <a:r>
              <a:rPr dirty="0">
                <a:solidFill>
                  <a:srgbClr val="4F55AC"/>
                </a:solidFill>
              </a:rPr>
              <a:t>	2.5</a:t>
            </a:r>
            <a:r>
              <a:rPr dirty="0" spc="-35">
                <a:solidFill>
                  <a:srgbClr val="4F55AC"/>
                </a:solidFill>
              </a:rPr>
              <a:t> </a:t>
            </a:r>
            <a:r>
              <a:rPr dirty="0">
                <a:solidFill>
                  <a:srgbClr val="4F55AC"/>
                </a:solidFill>
                <a:latin typeface="微软雅黑"/>
                <a:cs typeface="微软雅黑"/>
              </a:rPr>
              <a:t>操作数的类型和大</a:t>
            </a:r>
            <a:r>
              <a:rPr dirty="0" spc="-50">
                <a:solidFill>
                  <a:srgbClr val="4F55AC"/>
                </a:solidFill>
                <a:latin typeface="微软雅黑"/>
                <a:cs typeface="微软雅黑"/>
              </a:rPr>
              <a:t>小</a:t>
            </a:r>
            <a:r>
              <a:rPr dirty="0">
                <a:solidFill>
                  <a:srgbClr val="4F55AC"/>
                </a:solidFill>
                <a:latin typeface="微软雅黑"/>
                <a:cs typeface="微软雅黑"/>
              </a:rPr>
              <a:t>	</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2.5</a:t>
            </a:r>
            <a:r>
              <a:rPr dirty="0" spc="-35">
                <a:solidFill>
                  <a:srgbClr val="4F55AC"/>
                </a:solidFill>
              </a:rPr>
              <a:t> </a:t>
            </a:r>
            <a:r>
              <a:rPr dirty="0">
                <a:solidFill>
                  <a:srgbClr val="4F55AC"/>
                </a:solidFill>
                <a:latin typeface="微软雅黑"/>
                <a:cs typeface="微软雅黑"/>
              </a:rPr>
              <a:t>操作数的类型和大</a:t>
            </a:r>
            <a:r>
              <a:rPr dirty="0" spc="-50">
                <a:solidFill>
                  <a:srgbClr val="4F55AC"/>
                </a:solidFill>
                <a:latin typeface="微软雅黑"/>
                <a:cs typeface="微软雅黑"/>
              </a:rPr>
              <a:t>小</a:t>
            </a:r>
            <a:r>
              <a:rPr dirty="0">
                <a:solidFill>
                  <a:srgbClr val="4F55AC"/>
                </a:solidFill>
                <a:latin typeface="微软雅黑"/>
                <a:cs typeface="微软雅黑"/>
              </a:rPr>
              <a:t>	</a:t>
            </a:r>
          </a:p>
        </p:txBody>
      </p:sp>
      <p:sp>
        <p:nvSpPr>
          <p:cNvPr id="4" name="object 4" descr=""/>
          <p:cNvSpPr txBox="1"/>
          <p:nvPr/>
        </p:nvSpPr>
        <p:spPr>
          <a:xfrm>
            <a:off x="1602994" y="988129"/>
            <a:ext cx="8811895" cy="1409700"/>
          </a:xfrm>
          <a:prstGeom prst="rect">
            <a:avLst/>
          </a:prstGeom>
        </p:spPr>
        <p:txBody>
          <a:bodyPr wrap="square" lIns="0" tIns="154305" rIns="0" bIns="0" rtlCol="0" vert="horz">
            <a:spAutoFit/>
          </a:bodyPr>
          <a:lstStyle/>
          <a:p>
            <a:pPr marL="469265" indent="-456565">
              <a:lnSpc>
                <a:spcPct val="100000"/>
              </a:lnSpc>
              <a:spcBef>
                <a:spcPts val="1215"/>
              </a:spcBef>
              <a:buClr>
                <a:srgbClr val="40458B"/>
              </a:buClr>
              <a:buSzPct val="117857"/>
              <a:buFont typeface="Wingdings"/>
              <a:buChar char=""/>
              <a:tabLst>
                <a:tab pos="469265" algn="l"/>
              </a:tabLst>
            </a:pPr>
            <a:r>
              <a:rPr dirty="0" sz="2800" spc="-35">
                <a:solidFill>
                  <a:srgbClr val="172152"/>
                </a:solidFill>
                <a:latin typeface="黑体"/>
                <a:cs typeface="黑体"/>
              </a:rPr>
              <a:t>表示操作数类型的方法有</a:t>
            </a:r>
            <a:r>
              <a:rPr dirty="0" sz="2800" spc="-45">
                <a:solidFill>
                  <a:srgbClr val="FF0000"/>
                </a:solidFill>
                <a:latin typeface="黑体"/>
                <a:cs typeface="黑体"/>
              </a:rPr>
              <a:t>两种</a:t>
            </a:r>
            <a:endParaRPr sz="2800">
              <a:latin typeface="黑体"/>
              <a:cs typeface="黑体"/>
            </a:endParaRPr>
          </a:p>
          <a:p>
            <a:pPr lvl="1" marL="1099185" marR="5080" indent="-457200">
              <a:lnSpc>
                <a:spcPct val="110000"/>
              </a:lnSpc>
              <a:spcBef>
                <a:spcPts val="615"/>
              </a:spcBef>
              <a:buSzPct val="88636"/>
              <a:buFont typeface="Wingdings"/>
              <a:buChar char=""/>
              <a:tabLst>
                <a:tab pos="1099185" algn="l"/>
              </a:tabLst>
            </a:pPr>
            <a:r>
              <a:rPr dirty="0" sz="2200" spc="-20">
                <a:solidFill>
                  <a:srgbClr val="006FC0"/>
                </a:solidFill>
                <a:latin typeface="Tahoma"/>
                <a:cs typeface="Tahoma"/>
              </a:rPr>
              <a:t>1</a:t>
            </a:r>
            <a:r>
              <a:rPr dirty="0" sz="2200" spc="-35">
                <a:solidFill>
                  <a:srgbClr val="006FC0"/>
                </a:solidFill>
                <a:latin typeface="黑体"/>
                <a:cs typeface="黑体"/>
              </a:rPr>
              <a:t>、由指令中的操作码指定操作数的类型，例如对字节操作还是</a:t>
            </a:r>
            <a:r>
              <a:rPr dirty="0" sz="2200" spc="-30">
                <a:solidFill>
                  <a:srgbClr val="006FC0"/>
                </a:solidFill>
                <a:latin typeface="黑体"/>
                <a:cs typeface="黑体"/>
              </a:rPr>
              <a:t>对字操作；例如</a:t>
            </a:r>
            <a:r>
              <a:rPr dirty="0" sz="2200" spc="-10">
                <a:solidFill>
                  <a:srgbClr val="006FC0"/>
                </a:solidFill>
                <a:latin typeface="Tahoma"/>
                <a:cs typeface="Tahoma"/>
              </a:rPr>
              <a:t>add</a:t>
            </a:r>
            <a:r>
              <a:rPr dirty="0" sz="2200" spc="-10">
                <a:solidFill>
                  <a:srgbClr val="006FC0"/>
                </a:solidFill>
                <a:latin typeface="黑体"/>
                <a:cs typeface="黑体"/>
              </a:rPr>
              <a:t>，</a:t>
            </a:r>
            <a:r>
              <a:rPr dirty="0" sz="2200" spc="-10">
                <a:solidFill>
                  <a:srgbClr val="006FC0"/>
                </a:solidFill>
                <a:latin typeface="Tahoma"/>
                <a:cs typeface="Tahoma"/>
              </a:rPr>
              <a:t>R2,#3</a:t>
            </a:r>
            <a:r>
              <a:rPr dirty="0" sz="2200" spc="-10">
                <a:solidFill>
                  <a:srgbClr val="006FC0"/>
                </a:solidFill>
                <a:latin typeface="黑体"/>
                <a:cs typeface="黑体"/>
              </a:rPr>
              <a:t>；</a:t>
            </a:r>
            <a:endParaRPr sz="2200">
              <a:latin typeface="黑体"/>
              <a:cs typeface="黑体"/>
            </a:endParaRPr>
          </a:p>
        </p:txBody>
      </p:sp>
      <p:graphicFrame>
        <p:nvGraphicFramePr>
          <p:cNvPr id="5" name="object 5" descr=""/>
          <p:cNvGraphicFramePr>
            <a:graphicFrameLocks noGrp="1"/>
          </p:cNvGraphicFramePr>
          <p:nvPr/>
        </p:nvGraphicFramePr>
        <p:xfrm>
          <a:off x="3140075" y="5934075"/>
          <a:ext cx="6184900" cy="366395"/>
        </p:xfrm>
        <a:graphic>
          <a:graphicData uri="http://schemas.openxmlformats.org/drawingml/2006/table">
            <a:tbl>
              <a:tblPr firstRow="1" bandRow="1">
                <a:tableStyleId>{2D5ABB26-0587-4C30-8999-92F81FD0307C}</a:tableStyleId>
              </a:tblPr>
              <a:tblGrid>
                <a:gridCol w="3048000"/>
                <a:gridCol w="3048000"/>
              </a:tblGrid>
              <a:tr h="366395">
                <a:tc>
                  <a:txBody>
                    <a:bodyPr/>
                    <a:lstStyle/>
                    <a:p>
                      <a:pPr marL="224154">
                        <a:lnSpc>
                          <a:spcPct val="100000"/>
                        </a:lnSpc>
                        <a:spcBef>
                          <a:spcPts val="370"/>
                        </a:spcBef>
                      </a:pPr>
                      <a:r>
                        <a:rPr dirty="0" sz="1800" spc="-25" b="1">
                          <a:solidFill>
                            <a:srgbClr val="40458B"/>
                          </a:solidFill>
                          <a:latin typeface="黑体"/>
                          <a:cs typeface="黑体"/>
                        </a:rPr>
                        <a:t>标识符</a:t>
                      </a:r>
                      <a:endParaRPr sz="1800">
                        <a:latin typeface="黑体"/>
                        <a:cs typeface="黑体"/>
                      </a:endParaRPr>
                    </a:p>
                  </a:txBody>
                  <a:tcPr marL="0" marR="0" marB="0" marT="46990">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1F1F1"/>
                    </a:solidFill>
                  </a:tcPr>
                </a:tc>
                <a:tc>
                  <a:txBody>
                    <a:bodyPr/>
                    <a:lstStyle/>
                    <a:p>
                      <a:pPr marL="92075">
                        <a:lnSpc>
                          <a:spcPct val="100000"/>
                        </a:lnSpc>
                        <a:spcBef>
                          <a:spcPts val="370"/>
                        </a:spcBef>
                      </a:pPr>
                      <a:r>
                        <a:rPr dirty="0" sz="1800" spc="-30" b="1">
                          <a:solidFill>
                            <a:srgbClr val="40458B"/>
                          </a:solidFill>
                          <a:latin typeface="黑体"/>
                          <a:cs typeface="黑体"/>
                        </a:rPr>
                        <a:t>数据</a:t>
                      </a:r>
                      <a:endParaRPr sz="1800">
                        <a:latin typeface="黑体"/>
                        <a:cs typeface="黑体"/>
                      </a:endParaRPr>
                    </a:p>
                  </a:txBody>
                  <a:tcPr marL="0" marR="0" marB="0" marT="46990">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1F1F1"/>
                    </a:solidFill>
                  </a:tcPr>
                </a:tc>
              </a:tr>
            </a:tbl>
          </a:graphicData>
        </a:graphic>
      </p:graphicFrame>
      <p:sp>
        <p:nvSpPr>
          <p:cNvPr id="6" name="object 6" descr=""/>
          <p:cNvSpPr txBox="1"/>
          <p:nvPr/>
        </p:nvSpPr>
        <p:spPr>
          <a:xfrm>
            <a:off x="2232405" y="3243224"/>
            <a:ext cx="8229600" cy="2967990"/>
          </a:xfrm>
          <a:prstGeom prst="rect">
            <a:avLst/>
          </a:prstGeom>
        </p:spPr>
        <p:txBody>
          <a:bodyPr wrap="square" lIns="0" tIns="114300" rIns="0" bIns="0" rtlCol="0" vert="horz">
            <a:spAutoFit/>
          </a:bodyPr>
          <a:lstStyle/>
          <a:p>
            <a:pPr marL="469265" indent="-456565">
              <a:lnSpc>
                <a:spcPct val="100000"/>
              </a:lnSpc>
              <a:spcBef>
                <a:spcPts val="900"/>
              </a:spcBef>
              <a:buSzPct val="88636"/>
              <a:buFont typeface="Wingdings"/>
              <a:buChar char=""/>
              <a:tabLst>
                <a:tab pos="469265" algn="l"/>
              </a:tabLst>
            </a:pPr>
            <a:r>
              <a:rPr dirty="0" sz="2200" spc="-20">
                <a:solidFill>
                  <a:srgbClr val="006FC0"/>
                </a:solidFill>
                <a:latin typeface="Tahoma"/>
                <a:cs typeface="Tahoma"/>
              </a:rPr>
              <a:t>2</a:t>
            </a:r>
            <a:r>
              <a:rPr dirty="0" sz="2200" spc="-35">
                <a:solidFill>
                  <a:srgbClr val="006FC0"/>
                </a:solidFill>
                <a:latin typeface="黑体"/>
                <a:cs typeface="黑体"/>
              </a:rPr>
              <a:t>、给数据加上标识，由数据本身给出操作数类型。</a:t>
            </a:r>
            <a:endParaRPr sz="2200">
              <a:latin typeface="黑体"/>
              <a:cs typeface="黑体"/>
            </a:endParaRPr>
          </a:p>
          <a:p>
            <a:pPr lvl="1" marL="678180" indent="-359410">
              <a:lnSpc>
                <a:spcPct val="100000"/>
              </a:lnSpc>
              <a:spcBef>
                <a:spcPts val="740"/>
              </a:spcBef>
              <a:buClr>
                <a:srgbClr val="4668F5"/>
              </a:buClr>
              <a:buSzPct val="72500"/>
              <a:buFont typeface="Wingdings"/>
              <a:buChar char=""/>
              <a:tabLst>
                <a:tab pos="678180" algn="l"/>
              </a:tabLst>
            </a:pPr>
            <a:r>
              <a:rPr dirty="0" sz="2000" spc="-15" b="1">
                <a:solidFill>
                  <a:srgbClr val="D50092"/>
                </a:solidFill>
                <a:latin typeface="黑体"/>
                <a:cs typeface="黑体"/>
              </a:rPr>
              <a:t>优点：</a:t>
            </a:r>
            <a:r>
              <a:rPr dirty="0" sz="2000" spc="-25" b="1">
                <a:solidFill>
                  <a:srgbClr val="6F2F9F"/>
                </a:solidFill>
                <a:latin typeface="黑体"/>
                <a:cs typeface="黑体"/>
              </a:rPr>
              <a:t>简化指令系统，可由硬件自动实现一致性检查和类型转换，</a:t>
            </a:r>
            <a:endParaRPr sz="2000">
              <a:latin typeface="黑体"/>
              <a:cs typeface="黑体"/>
            </a:endParaRPr>
          </a:p>
          <a:p>
            <a:pPr marL="678180">
              <a:lnSpc>
                <a:spcPct val="100000"/>
              </a:lnSpc>
              <a:spcBef>
                <a:spcPts val="240"/>
              </a:spcBef>
            </a:pPr>
            <a:r>
              <a:rPr dirty="0" sz="2000" spc="-25" b="1">
                <a:solidFill>
                  <a:srgbClr val="6F2F9F"/>
                </a:solidFill>
                <a:latin typeface="黑体"/>
                <a:cs typeface="黑体"/>
              </a:rPr>
              <a:t>缩小了机器语言与高级语言的语义差距，简化编译器等。</a:t>
            </a:r>
            <a:endParaRPr sz="2000">
              <a:latin typeface="黑体"/>
              <a:cs typeface="黑体"/>
            </a:endParaRPr>
          </a:p>
          <a:p>
            <a:pPr lvl="1" marL="678180" marR="135255" indent="-360045">
              <a:lnSpc>
                <a:spcPct val="110000"/>
              </a:lnSpc>
              <a:spcBef>
                <a:spcPts val="480"/>
              </a:spcBef>
              <a:buClr>
                <a:srgbClr val="4668F5"/>
              </a:buClr>
              <a:buSzPct val="72500"/>
              <a:buFont typeface="Wingdings"/>
              <a:buChar char=""/>
              <a:tabLst>
                <a:tab pos="678180" algn="l"/>
              </a:tabLst>
            </a:pPr>
            <a:r>
              <a:rPr dirty="0" sz="2000" spc="-10" b="1">
                <a:solidFill>
                  <a:srgbClr val="D50092"/>
                </a:solidFill>
                <a:latin typeface="黑体"/>
                <a:cs typeface="黑体"/>
              </a:rPr>
              <a:t>缺点：</a:t>
            </a:r>
            <a:r>
              <a:rPr dirty="0" sz="2000" spc="-25" b="1">
                <a:solidFill>
                  <a:srgbClr val="6F2F9F"/>
                </a:solidFill>
                <a:latin typeface="黑体"/>
                <a:cs typeface="黑体"/>
              </a:rPr>
              <a:t>由于需要在执行过程中动态检测标志符，动态开销比较大，所以采用这种方案的机器很少见。</a:t>
            </a:r>
            <a:endParaRPr sz="2000">
              <a:latin typeface="黑体"/>
              <a:cs typeface="黑体"/>
            </a:endParaRPr>
          </a:p>
          <a:p>
            <a:pPr lvl="1" marL="678180" indent="-359410">
              <a:lnSpc>
                <a:spcPct val="100000"/>
              </a:lnSpc>
              <a:spcBef>
                <a:spcPts val="725"/>
              </a:spcBef>
              <a:buClr>
                <a:srgbClr val="4668F5"/>
              </a:buClr>
              <a:buSzPct val="72500"/>
              <a:buFont typeface="Wingdings"/>
              <a:buChar char=""/>
              <a:tabLst>
                <a:tab pos="678180" algn="l"/>
              </a:tabLst>
            </a:pPr>
            <a:r>
              <a:rPr dirty="0" sz="2000" spc="-20" b="1">
                <a:solidFill>
                  <a:srgbClr val="6F2F9F"/>
                </a:solidFill>
                <a:latin typeface="黑体"/>
                <a:cs typeface="黑体"/>
              </a:rPr>
              <a:t>例如如下数据字符：标识符两位，可定义</a:t>
            </a:r>
            <a:r>
              <a:rPr dirty="0" sz="2000" spc="-15" b="1">
                <a:solidFill>
                  <a:srgbClr val="6F2F9F"/>
                </a:solidFill>
                <a:latin typeface="黑体"/>
                <a:cs typeface="黑体"/>
              </a:rPr>
              <a:t>4</a:t>
            </a:r>
            <a:r>
              <a:rPr dirty="0" sz="2000" spc="-25" b="1">
                <a:solidFill>
                  <a:srgbClr val="6F2F9F"/>
                </a:solidFill>
                <a:latin typeface="黑体"/>
                <a:cs typeface="黑体"/>
              </a:rPr>
              <a:t>种数据类型，三位可定义</a:t>
            </a:r>
            <a:endParaRPr sz="2000">
              <a:latin typeface="黑体"/>
              <a:cs typeface="黑体"/>
            </a:endParaRPr>
          </a:p>
          <a:p>
            <a:pPr marL="678180">
              <a:lnSpc>
                <a:spcPct val="100000"/>
              </a:lnSpc>
              <a:spcBef>
                <a:spcPts val="240"/>
              </a:spcBef>
            </a:pPr>
            <a:r>
              <a:rPr dirty="0" sz="2000" spc="-15" b="1">
                <a:solidFill>
                  <a:srgbClr val="6F2F9F"/>
                </a:solidFill>
                <a:latin typeface="黑体"/>
                <a:cs typeface="黑体"/>
              </a:rPr>
              <a:t>8</a:t>
            </a:r>
            <a:r>
              <a:rPr dirty="0" sz="2000" spc="-25" b="1">
                <a:solidFill>
                  <a:srgbClr val="6F2F9F"/>
                </a:solidFill>
                <a:latin typeface="黑体"/>
                <a:cs typeface="黑体"/>
              </a:rPr>
              <a:t>种类型</a:t>
            </a:r>
            <a:endParaRPr sz="2000">
              <a:latin typeface="黑体"/>
              <a:cs typeface="黑体"/>
            </a:endParaRPr>
          </a:p>
          <a:p>
            <a:pPr marL="7195820">
              <a:lnSpc>
                <a:spcPct val="100000"/>
              </a:lnSpc>
              <a:spcBef>
                <a:spcPts val="265"/>
              </a:spcBef>
            </a:pPr>
            <a:r>
              <a:rPr dirty="0" sz="1800" spc="-20">
                <a:solidFill>
                  <a:srgbClr val="FF0000"/>
                </a:solidFill>
                <a:latin typeface="黑体"/>
                <a:cs typeface="黑体"/>
              </a:rPr>
              <a:t>数据字</a:t>
            </a:r>
            <a:endParaRPr sz="1800">
              <a:latin typeface="黑体"/>
              <a:cs typeface="黑体"/>
            </a:endParaRPr>
          </a:p>
        </p:txBody>
      </p:sp>
      <p:graphicFrame>
        <p:nvGraphicFramePr>
          <p:cNvPr id="7" name="object 7" descr=""/>
          <p:cNvGraphicFramePr>
            <a:graphicFrameLocks noGrp="1"/>
          </p:cNvGraphicFramePr>
          <p:nvPr/>
        </p:nvGraphicFramePr>
        <p:xfrm>
          <a:off x="2921000" y="2701925"/>
          <a:ext cx="6184900" cy="366395"/>
        </p:xfrm>
        <a:graphic>
          <a:graphicData uri="http://schemas.openxmlformats.org/drawingml/2006/table">
            <a:tbl>
              <a:tblPr firstRow="1" bandRow="1">
                <a:tableStyleId>{2D5ABB26-0587-4C30-8999-92F81FD0307C}</a:tableStyleId>
              </a:tblPr>
              <a:tblGrid>
                <a:gridCol w="3048000"/>
                <a:gridCol w="1524000"/>
                <a:gridCol w="1524000"/>
              </a:tblGrid>
              <a:tr h="366395">
                <a:tc>
                  <a:txBody>
                    <a:bodyPr/>
                    <a:lstStyle/>
                    <a:p>
                      <a:pPr marL="224154">
                        <a:lnSpc>
                          <a:spcPct val="100000"/>
                        </a:lnSpc>
                        <a:spcBef>
                          <a:spcPts val="365"/>
                        </a:spcBef>
                      </a:pPr>
                      <a:r>
                        <a:rPr dirty="0" sz="1800" spc="-25" b="1">
                          <a:solidFill>
                            <a:srgbClr val="40458B"/>
                          </a:solidFill>
                          <a:latin typeface="黑体"/>
                          <a:cs typeface="黑体"/>
                        </a:rPr>
                        <a:t>定点数加</a:t>
                      </a:r>
                      <a:endParaRPr sz="1800">
                        <a:latin typeface="黑体"/>
                        <a:cs typeface="黑体"/>
                      </a:endParaRPr>
                    </a:p>
                  </a:txBody>
                  <a:tcPr marL="0" marR="0" marB="0" marT="4635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1F1F1"/>
                    </a:solidFill>
                  </a:tcPr>
                </a:tc>
                <a:tc>
                  <a:txBody>
                    <a:bodyPr/>
                    <a:lstStyle/>
                    <a:p>
                      <a:pPr marL="92075">
                        <a:lnSpc>
                          <a:spcPct val="100000"/>
                        </a:lnSpc>
                        <a:spcBef>
                          <a:spcPts val="365"/>
                        </a:spcBef>
                      </a:pPr>
                      <a:r>
                        <a:rPr dirty="0" sz="1800" spc="-10" b="1">
                          <a:solidFill>
                            <a:srgbClr val="40458B"/>
                          </a:solidFill>
                          <a:latin typeface="黑体"/>
                          <a:cs typeface="黑体"/>
                        </a:rPr>
                        <a:t>数据</a:t>
                      </a:r>
                      <a:r>
                        <a:rPr dirty="0" sz="1800" spc="-50" b="1">
                          <a:solidFill>
                            <a:srgbClr val="40458B"/>
                          </a:solidFill>
                          <a:latin typeface="Tahoma"/>
                          <a:cs typeface="Tahoma"/>
                        </a:rPr>
                        <a:t>I</a:t>
                      </a:r>
                      <a:endParaRPr sz="1800">
                        <a:latin typeface="Tahoma"/>
                        <a:cs typeface="Tahoma"/>
                      </a:endParaRPr>
                    </a:p>
                  </a:txBody>
                  <a:tcPr marL="0" marR="0" marB="0" marT="4635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1F1F1"/>
                    </a:solidFill>
                  </a:tcPr>
                </a:tc>
                <a:tc>
                  <a:txBody>
                    <a:bodyPr/>
                    <a:lstStyle/>
                    <a:p>
                      <a:pPr marL="92075">
                        <a:lnSpc>
                          <a:spcPct val="100000"/>
                        </a:lnSpc>
                        <a:spcBef>
                          <a:spcPts val="365"/>
                        </a:spcBef>
                      </a:pPr>
                      <a:r>
                        <a:rPr dirty="0" sz="1800" spc="-10" b="1">
                          <a:solidFill>
                            <a:srgbClr val="40458B"/>
                          </a:solidFill>
                          <a:latin typeface="黑体"/>
                          <a:cs typeface="黑体"/>
                        </a:rPr>
                        <a:t>数据</a:t>
                      </a:r>
                      <a:r>
                        <a:rPr dirty="0" sz="1800" spc="-50" b="1">
                          <a:solidFill>
                            <a:srgbClr val="40458B"/>
                          </a:solidFill>
                          <a:latin typeface="Tahoma"/>
                          <a:cs typeface="Tahoma"/>
                        </a:rPr>
                        <a:t>J</a:t>
                      </a:r>
                      <a:endParaRPr sz="1800">
                        <a:latin typeface="Tahoma"/>
                        <a:cs typeface="Tahoma"/>
                      </a:endParaRPr>
                    </a:p>
                  </a:txBody>
                  <a:tcPr marL="0" marR="0" marB="0" marT="46355">
                    <a:lnL w="12700">
                      <a:solidFill>
                        <a:srgbClr val="B1B1B1"/>
                      </a:solidFill>
                      <a:prstDash val="solid"/>
                    </a:lnL>
                    <a:lnR w="12700">
                      <a:solidFill>
                        <a:srgbClr val="B1B1B1"/>
                      </a:solidFill>
                      <a:prstDash val="solid"/>
                    </a:lnR>
                    <a:lnT w="12700">
                      <a:solidFill>
                        <a:srgbClr val="B1B1B1"/>
                      </a:solidFill>
                      <a:prstDash val="solid"/>
                    </a:lnT>
                    <a:lnB w="12700">
                      <a:solidFill>
                        <a:srgbClr val="B1B1B1"/>
                      </a:solidFill>
                      <a:prstDash val="solid"/>
                    </a:lnB>
                    <a:solidFill>
                      <a:srgbClr val="F1F1F1"/>
                    </a:solidFill>
                  </a:tcPr>
                </a:tc>
              </a:tr>
            </a:tbl>
          </a:graphicData>
        </a:graphic>
      </p:graphicFrame>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2.5</a:t>
            </a:r>
            <a:r>
              <a:rPr dirty="0" spc="-35">
                <a:solidFill>
                  <a:srgbClr val="4F55AC"/>
                </a:solidFill>
              </a:rPr>
              <a:t> </a:t>
            </a:r>
            <a:r>
              <a:rPr dirty="0">
                <a:solidFill>
                  <a:srgbClr val="4F55AC"/>
                </a:solidFill>
                <a:latin typeface="微软雅黑"/>
                <a:cs typeface="微软雅黑"/>
              </a:rPr>
              <a:t>操作数的类型和大</a:t>
            </a:r>
            <a:r>
              <a:rPr dirty="0" spc="-50">
                <a:solidFill>
                  <a:srgbClr val="4F55AC"/>
                </a:solidFill>
                <a:latin typeface="微软雅黑"/>
                <a:cs typeface="微软雅黑"/>
              </a:rPr>
              <a:t>小</a:t>
            </a:r>
            <a:r>
              <a:rPr dirty="0">
                <a:solidFill>
                  <a:srgbClr val="4F55AC"/>
                </a:solidFill>
                <a:latin typeface="微软雅黑"/>
                <a:cs typeface="微软雅黑"/>
              </a:rPr>
              <a:t>	</a:t>
            </a:r>
          </a:p>
        </p:txBody>
      </p:sp>
      <p:sp>
        <p:nvSpPr>
          <p:cNvPr id="4" name="object 4" descr=""/>
          <p:cNvSpPr txBox="1"/>
          <p:nvPr/>
        </p:nvSpPr>
        <p:spPr>
          <a:xfrm>
            <a:off x="1549146" y="837885"/>
            <a:ext cx="9075420" cy="4919345"/>
          </a:xfrm>
          <a:prstGeom prst="rect">
            <a:avLst/>
          </a:prstGeom>
        </p:spPr>
        <p:txBody>
          <a:bodyPr wrap="square" lIns="0" tIns="156845" rIns="0" bIns="0" rtlCol="0" vert="horz">
            <a:spAutoFit/>
          </a:bodyPr>
          <a:lstStyle/>
          <a:p>
            <a:pPr marL="469265" indent="-456565">
              <a:lnSpc>
                <a:spcPct val="100000"/>
              </a:lnSpc>
              <a:spcBef>
                <a:spcPts val="1235"/>
              </a:spcBef>
              <a:buClr>
                <a:srgbClr val="40458B"/>
              </a:buClr>
              <a:buSzPct val="117857"/>
              <a:buFont typeface="Wingdings"/>
              <a:buChar char=""/>
              <a:tabLst>
                <a:tab pos="469265" algn="l"/>
              </a:tabLst>
            </a:pPr>
            <a:r>
              <a:rPr dirty="0" sz="2800" spc="-35">
                <a:solidFill>
                  <a:srgbClr val="172152"/>
                </a:solidFill>
                <a:latin typeface="黑体"/>
                <a:cs typeface="黑体"/>
              </a:rPr>
              <a:t>操作数的大小：</a:t>
            </a:r>
            <a:r>
              <a:rPr dirty="0" sz="2800" spc="-40">
                <a:solidFill>
                  <a:srgbClr val="40458B"/>
                </a:solidFill>
                <a:latin typeface="黑体"/>
                <a:cs typeface="黑体"/>
              </a:rPr>
              <a:t>操作数的位数或字节数。</a:t>
            </a:r>
            <a:endParaRPr sz="2800">
              <a:latin typeface="黑体"/>
              <a:cs typeface="黑体"/>
            </a:endParaRPr>
          </a:p>
          <a:p>
            <a:pPr marL="948055">
              <a:lnSpc>
                <a:spcPct val="100000"/>
              </a:lnSpc>
              <a:spcBef>
                <a:spcPts val="825"/>
              </a:spcBef>
            </a:pPr>
            <a:r>
              <a:rPr dirty="0" sz="2000" spc="-15" b="1">
                <a:solidFill>
                  <a:srgbClr val="6F2F9F"/>
                </a:solidFill>
                <a:latin typeface="黑体"/>
                <a:cs typeface="黑体"/>
              </a:rPr>
              <a:t>主要的大小：字节</a:t>
            </a:r>
            <a:r>
              <a:rPr dirty="0" sz="2000" spc="-25" b="1">
                <a:solidFill>
                  <a:srgbClr val="6F2F9F"/>
                </a:solidFill>
                <a:latin typeface="黑体"/>
                <a:cs typeface="黑体"/>
              </a:rPr>
              <a:t>（</a:t>
            </a:r>
            <a:r>
              <a:rPr dirty="0" sz="2000" spc="-25" b="1">
                <a:solidFill>
                  <a:srgbClr val="9933FF"/>
                </a:solidFill>
                <a:latin typeface="宋体"/>
                <a:cs typeface="宋体"/>
              </a:rPr>
              <a:t>8</a:t>
            </a:r>
            <a:r>
              <a:rPr dirty="0" sz="2000" spc="-15" b="1">
                <a:solidFill>
                  <a:srgbClr val="6F2F9F"/>
                </a:solidFill>
                <a:latin typeface="黑体"/>
                <a:cs typeface="黑体"/>
              </a:rPr>
              <a:t>位）</a:t>
            </a:r>
            <a:r>
              <a:rPr dirty="0" sz="2000" spc="-20" b="1">
                <a:solidFill>
                  <a:srgbClr val="6F2F9F"/>
                </a:solidFill>
                <a:latin typeface="黑体"/>
                <a:cs typeface="黑体"/>
              </a:rPr>
              <a:t>、半字</a:t>
            </a:r>
            <a:r>
              <a:rPr dirty="0" sz="2000" spc="-10" b="1">
                <a:solidFill>
                  <a:srgbClr val="6F2F9F"/>
                </a:solidFill>
                <a:latin typeface="黑体"/>
                <a:cs typeface="黑体"/>
              </a:rPr>
              <a:t>（</a:t>
            </a:r>
            <a:r>
              <a:rPr dirty="0" sz="2000" spc="-10" b="1">
                <a:solidFill>
                  <a:srgbClr val="9933FF"/>
                </a:solidFill>
                <a:latin typeface="宋体"/>
                <a:cs typeface="宋体"/>
              </a:rPr>
              <a:t>16</a:t>
            </a:r>
            <a:r>
              <a:rPr dirty="0" sz="2000" spc="-15" b="1">
                <a:solidFill>
                  <a:srgbClr val="6F2F9F"/>
                </a:solidFill>
                <a:latin typeface="黑体"/>
                <a:cs typeface="黑体"/>
              </a:rPr>
              <a:t>位</a:t>
            </a:r>
            <a:r>
              <a:rPr dirty="0" sz="2000" spc="-50" b="1">
                <a:solidFill>
                  <a:srgbClr val="6F2F9F"/>
                </a:solidFill>
                <a:latin typeface="黑体"/>
                <a:cs typeface="黑体"/>
              </a:rPr>
              <a:t>）</a:t>
            </a:r>
            <a:endParaRPr sz="2000">
              <a:latin typeface="黑体"/>
              <a:cs typeface="黑体"/>
            </a:endParaRPr>
          </a:p>
          <a:p>
            <a:pPr marL="2492375">
              <a:lnSpc>
                <a:spcPct val="100000"/>
              </a:lnSpc>
              <a:spcBef>
                <a:spcPts val="720"/>
              </a:spcBef>
            </a:pPr>
            <a:r>
              <a:rPr dirty="0" sz="2000" b="1">
                <a:solidFill>
                  <a:srgbClr val="6F2F9F"/>
                </a:solidFill>
                <a:latin typeface="黑体"/>
                <a:cs typeface="黑体"/>
              </a:rPr>
              <a:t>字</a:t>
            </a:r>
            <a:r>
              <a:rPr dirty="0" sz="2000" spc="-10" b="1">
                <a:solidFill>
                  <a:srgbClr val="6F2F9F"/>
                </a:solidFill>
                <a:latin typeface="黑体"/>
                <a:cs typeface="黑体"/>
              </a:rPr>
              <a:t>（</a:t>
            </a:r>
            <a:r>
              <a:rPr dirty="0" sz="2000" spc="-10" b="1">
                <a:solidFill>
                  <a:srgbClr val="9933FF"/>
                </a:solidFill>
                <a:latin typeface="宋体"/>
                <a:cs typeface="宋体"/>
              </a:rPr>
              <a:t>32</a:t>
            </a:r>
            <a:r>
              <a:rPr dirty="0" sz="2000" spc="-10" b="1">
                <a:solidFill>
                  <a:srgbClr val="6F2F9F"/>
                </a:solidFill>
                <a:latin typeface="黑体"/>
                <a:cs typeface="黑体"/>
              </a:rPr>
              <a:t>位）</a:t>
            </a:r>
            <a:r>
              <a:rPr dirty="0" sz="2000" spc="-15" b="1">
                <a:solidFill>
                  <a:srgbClr val="6F2F9F"/>
                </a:solidFill>
                <a:latin typeface="黑体"/>
                <a:cs typeface="黑体"/>
              </a:rPr>
              <a:t>、和双字</a:t>
            </a:r>
            <a:r>
              <a:rPr dirty="0" sz="2000" spc="-10" b="1">
                <a:solidFill>
                  <a:srgbClr val="6F2F9F"/>
                </a:solidFill>
                <a:latin typeface="黑体"/>
                <a:cs typeface="黑体"/>
              </a:rPr>
              <a:t>（</a:t>
            </a:r>
            <a:r>
              <a:rPr dirty="0" sz="2000" spc="-10" b="1">
                <a:solidFill>
                  <a:srgbClr val="9933FF"/>
                </a:solidFill>
                <a:latin typeface="宋体"/>
                <a:cs typeface="宋体"/>
              </a:rPr>
              <a:t>64</a:t>
            </a:r>
            <a:r>
              <a:rPr dirty="0" sz="2000" spc="-10" b="1">
                <a:solidFill>
                  <a:srgbClr val="6F2F9F"/>
                </a:solidFill>
                <a:latin typeface="黑体"/>
                <a:cs typeface="黑体"/>
              </a:rPr>
              <a:t>位</a:t>
            </a:r>
            <a:r>
              <a:rPr dirty="0" sz="2000" spc="-50" b="1">
                <a:solidFill>
                  <a:srgbClr val="6F2F9F"/>
                </a:solidFill>
                <a:latin typeface="黑体"/>
                <a:cs typeface="黑体"/>
              </a:rPr>
              <a:t>）</a:t>
            </a:r>
            <a:endParaRPr sz="2000">
              <a:latin typeface="黑体"/>
              <a:cs typeface="黑体"/>
            </a:endParaRPr>
          </a:p>
          <a:p>
            <a:pPr lvl="1" marL="1099185" indent="-457200">
              <a:lnSpc>
                <a:spcPct val="100000"/>
              </a:lnSpc>
              <a:spcBef>
                <a:spcPts val="965"/>
              </a:spcBef>
              <a:buClr>
                <a:srgbClr val="006FC0"/>
              </a:buClr>
              <a:buSzPct val="88636"/>
              <a:buFont typeface="Wingdings"/>
              <a:buChar char=""/>
              <a:tabLst>
                <a:tab pos="1099185" algn="l"/>
              </a:tabLst>
            </a:pPr>
            <a:r>
              <a:rPr dirty="0" sz="2200" spc="-30">
                <a:solidFill>
                  <a:srgbClr val="FF0000"/>
                </a:solidFill>
                <a:latin typeface="黑体"/>
                <a:cs typeface="黑体"/>
              </a:rPr>
              <a:t>字符：</a:t>
            </a:r>
            <a:r>
              <a:rPr dirty="0" sz="2200" spc="-20">
                <a:solidFill>
                  <a:srgbClr val="006FC0"/>
                </a:solidFill>
                <a:latin typeface="黑体"/>
                <a:cs typeface="黑体"/>
              </a:rPr>
              <a:t>用ASCII</a:t>
            </a:r>
            <a:r>
              <a:rPr dirty="0" sz="2200" spc="-35">
                <a:solidFill>
                  <a:srgbClr val="006FC0"/>
                </a:solidFill>
                <a:latin typeface="黑体"/>
                <a:cs typeface="黑体"/>
              </a:rPr>
              <a:t>码表示，为一个字节大小。</a:t>
            </a:r>
            <a:endParaRPr sz="2200">
              <a:latin typeface="黑体"/>
              <a:cs typeface="黑体"/>
            </a:endParaRPr>
          </a:p>
          <a:p>
            <a:pPr lvl="1" marL="1099185" indent="-457200">
              <a:lnSpc>
                <a:spcPct val="100000"/>
              </a:lnSpc>
              <a:spcBef>
                <a:spcPts val="1055"/>
              </a:spcBef>
              <a:buClr>
                <a:srgbClr val="006FC0"/>
              </a:buClr>
              <a:buSzPct val="88636"/>
              <a:buFont typeface="Wingdings"/>
              <a:buChar char=""/>
              <a:tabLst>
                <a:tab pos="1099185" algn="l"/>
              </a:tabLst>
            </a:pPr>
            <a:r>
              <a:rPr dirty="0" sz="2200" spc="-35">
                <a:solidFill>
                  <a:srgbClr val="FF0000"/>
                </a:solidFill>
                <a:latin typeface="黑体"/>
                <a:cs typeface="黑体"/>
              </a:rPr>
              <a:t>整数：</a:t>
            </a:r>
            <a:r>
              <a:rPr dirty="0" sz="2200" spc="-35">
                <a:solidFill>
                  <a:srgbClr val="006FC0"/>
                </a:solidFill>
                <a:latin typeface="黑体"/>
                <a:cs typeface="黑体"/>
              </a:rPr>
              <a:t>用二进制补码表示，其大小可以是字节、半字或单字。</a:t>
            </a:r>
            <a:endParaRPr sz="2200">
              <a:latin typeface="黑体"/>
              <a:cs typeface="黑体"/>
            </a:endParaRPr>
          </a:p>
          <a:p>
            <a:pPr lvl="1" marL="1099185" indent="-457200">
              <a:lnSpc>
                <a:spcPct val="100000"/>
              </a:lnSpc>
              <a:spcBef>
                <a:spcPts val="1060"/>
              </a:spcBef>
              <a:buClr>
                <a:srgbClr val="006FC0"/>
              </a:buClr>
              <a:buSzPct val="88636"/>
              <a:buFont typeface="Wingdings"/>
              <a:buChar char=""/>
              <a:tabLst>
                <a:tab pos="1099185" algn="l"/>
              </a:tabLst>
            </a:pPr>
            <a:r>
              <a:rPr dirty="0" sz="2200" spc="-30">
                <a:solidFill>
                  <a:srgbClr val="FF0000"/>
                </a:solidFill>
                <a:latin typeface="黑体"/>
                <a:cs typeface="黑体"/>
              </a:rPr>
              <a:t>浮点操作数：</a:t>
            </a:r>
            <a:r>
              <a:rPr dirty="0" sz="2200" spc="-30">
                <a:solidFill>
                  <a:srgbClr val="006FC0"/>
                </a:solidFill>
                <a:latin typeface="黑体"/>
                <a:cs typeface="黑体"/>
              </a:rPr>
              <a:t>单精度浮点数</a:t>
            </a:r>
            <a:r>
              <a:rPr dirty="0" sz="2200" spc="-20">
                <a:solidFill>
                  <a:srgbClr val="006FC0"/>
                </a:solidFill>
                <a:latin typeface="黑体"/>
                <a:cs typeface="黑体"/>
              </a:rPr>
              <a:t>（1</a:t>
            </a:r>
            <a:r>
              <a:rPr dirty="0" sz="2200" spc="-30">
                <a:solidFill>
                  <a:srgbClr val="006FC0"/>
                </a:solidFill>
                <a:latin typeface="黑体"/>
                <a:cs typeface="黑体"/>
              </a:rPr>
              <a:t>个字</a:t>
            </a:r>
            <a:r>
              <a:rPr dirty="0" sz="2200" spc="-25">
                <a:solidFill>
                  <a:srgbClr val="006FC0"/>
                </a:solidFill>
                <a:latin typeface="黑体"/>
                <a:cs typeface="黑体"/>
              </a:rPr>
              <a:t>）</a:t>
            </a:r>
            <a:r>
              <a:rPr dirty="0" sz="2200" spc="-30">
                <a:solidFill>
                  <a:srgbClr val="006FC0"/>
                </a:solidFill>
                <a:latin typeface="黑体"/>
                <a:cs typeface="黑体"/>
              </a:rPr>
              <a:t>、双精度浮点数</a:t>
            </a:r>
            <a:r>
              <a:rPr dirty="0" sz="2200" spc="-25">
                <a:solidFill>
                  <a:srgbClr val="006FC0"/>
                </a:solidFill>
                <a:latin typeface="黑体"/>
                <a:cs typeface="黑体"/>
              </a:rPr>
              <a:t>（</a:t>
            </a:r>
            <a:r>
              <a:rPr dirty="0" sz="2200" spc="-30">
                <a:solidFill>
                  <a:srgbClr val="006FC0"/>
                </a:solidFill>
                <a:latin typeface="黑体"/>
                <a:cs typeface="黑体"/>
              </a:rPr>
              <a:t>双字）</a:t>
            </a:r>
            <a:r>
              <a:rPr dirty="0" sz="2200" spc="-50">
                <a:solidFill>
                  <a:srgbClr val="006FC0"/>
                </a:solidFill>
                <a:latin typeface="黑体"/>
                <a:cs typeface="黑体"/>
              </a:rPr>
              <a:t>。</a:t>
            </a:r>
            <a:endParaRPr sz="2200">
              <a:latin typeface="黑体"/>
              <a:cs typeface="黑体"/>
            </a:endParaRPr>
          </a:p>
          <a:p>
            <a:pPr marL="1591310">
              <a:lnSpc>
                <a:spcPct val="100000"/>
              </a:lnSpc>
              <a:spcBef>
                <a:spcPts val="990"/>
              </a:spcBef>
            </a:pPr>
            <a:r>
              <a:rPr dirty="0" sz="2000" spc="-15" b="1">
                <a:solidFill>
                  <a:srgbClr val="6F2F9F"/>
                </a:solidFill>
                <a:latin typeface="黑体"/>
                <a:cs typeface="黑体"/>
              </a:rPr>
              <a:t>一般都采用</a:t>
            </a:r>
            <a:r>
              <a:rPr dirty="0" sz="2000" b="1">
                <a:solidFill>
                  <a:srgbClr val="9933FF"/>
                </a:solidFill>
                <a:latin typeface="宋体"/>
                <a:cs typeface="宋体"/>
              </a:rPr>
              <a:t>IEEE</a:t>
            </a:r>
            <a:r>
              <a:rPr dirty="0" sz="2000" spc="-50" b="1">
                <a:solidFill>
                  <a:srgbClr val="9933FF"/>
                </a:solidFill>
                <a:latin typeface="宋体"/>
                <a:cs typeface="宋体"/>
              </a:rPr>
              <a:t> </a:t>
            </a:r>
            <a:r>
              <a:rPr dirty="0" sz="2000" spc="-10" b="1">
                <a:solidFill>
                  <a:srgbClr val="9933FF"/>
                </a:solidFill>
                <a:latin typeface="宋体"/>
                <a:cs typeface="宋体"/>
              </a:rPr>
              <a:t>754</a:t>
            </a:r>
            <a:r>
              <a:rPr dirty="0" sz="2000" spc="-25" b="1">
                <a:solidFill>
                  <a:srgbClr val="6F2F9F"/>
                </a:solidFill>
                <a:latin typeface="黑体"/>
                <a:cs typeface="黑体"/>
              </a:rPr>
              <a:t>浮点标准</a:t>
            </a:r>
            <a:endParaRPr sz="2000">
              <a:latin typeface="黑体"/>
              <a:cs typeface="黑体"/>
            </a:endParaRPr>
          </a:p>
          <a:p>
            <a:pPr lvl="1" marL="1099185" indent="-457200">
              <a:lnSpc>
                <a:spcPct val="100000"/>
              </a:lnSpc>
              <a:spcBef>
                <a:spcPts val="1025"/>
              </a:spcBef>
              <a:buClr>
                <a:srgbClr val="006FC0"/>
              </a:buClr>
              <a:buSzPct val="88636"/>
              <a:buFont typeface="Wingdings"/>
              <a:buChar char=""/>
              <a:tabLst>
                <a:tab pos="1099185" algn="l"/>
              </a:tabLst>
            </a:pPr>
            <a:r>
              <a:rPr dirty="0" sz="2200" spc="-35">
                <a:solidFill>
                  <a:srgbClr val="FF0000"/>
                </a:solidFill>
                <a:latin typeface="黑体"/>
                <a:cs typeface="黑体"/>
              </a:rPr>
              <a:t>十进制操作数类型</a:t>
            </a:r>
            <a:endParaRPr sz="2200">
              <a:latin typeface="黑体"/>
              <a:cs typeface="黑体"/>
            </a:endParaRPr>
          </a:p>
          <a:p>
            <a:pPr lvl="2" marL="1307465" marR="85090" indent="-360045">
              <a:lnSpc>
                <a:spcPct val="120000"/>
              </a:lnSpc>
              <a:spcBef>
                <a:spcPts val="515"/>
              </a:spcBef>
              <a:buClr>
                <a:srgbClr val="4668F5"/>
              </a:buClr>
              <a:buSzPct val="72500"/>
              <a:buFont typeface="Wingdings"/>
              <a:buChar char=""/>
              <a:tabLst>
                <a:tab pos="1307465" algn="l"/>
              </a:tabLst>
            </a:pPr>
            <a:r>
              <a:rPr dirty="0" sz="2000" spc="-20" b="1">
                <a:solidFill>
                  <a:srgbClr val="6F2F9F"/>
                </a:solidFill>
                <a:latin typeface="黑体"/>
                <a:cs typeface="黑体"/>
              </a:rPr>
              <a:t>压缩十进制或二进制编码十进制</a:t>
            </a:r>
            <a:r>
              <a:rPr dirty="0" sz="2000" spc="-10" b="1">
                <a:solidFill>
                  <a:srgbClr val="6F2F9F"/>
                </a:solidFill>
                <a:latin typeface="黑体"/>
                <a:cs typeface="黑体"/>
              </a:rPr>
              <a:t>（</a:t>
            </a:r>
            <a:r>
              <a:rPr dirty="0" sz="2000" spc="-10" b="1">
                <a:solidFill>
                  <a:srgbClr val="6F2F9F"/>
                </a:solidFill>
                <a:latin typeface="宋体"/>
                <a:cs typeface="宋体"/>
              </a:rPr>
              <a:t>BCD</a:t>
            </a:r>
            <a:r>
              <a:rPr dirty="0" sz="2000" spc="-10" b="1">
                <a:solidFill>
                  <a:srgbClr val="6F2F9F"/>
                </a:solidFill>
                <a:latin typeface="黑体"/>
                <a:cs typeface="黑体"/>
              </a:rPr>
              <a:t>码）：用</a:t>
            </a:r>
            <a:r>
              <a:rPr dirty="0" sz="2000" spc="-15" b="1">
                <a:solidFill>
                  <a:srgbClr val="9933FF"/>
                </a:solidFill>
                <a:latin typeface="宋体"/>
                <a:cs typeface="宋体"/>
              </a:rPr>
              <a:t>4</a:t>
            </a:r>
            <a:r>
              <a:rPr dirty="0" sz="2000" spc="-25" b="1">
                <a:solidFill>
                  <a:srgbClr val="6F2F9F"/>
                </a:solidFill>
                <a:latin typeface="黑体"/>
                <a:cs typeface="黑体"/>
              </a:rPr>
              <a:t>位二进制编码表示数</a:t>
            </a:r>
            <a:r>
              <a:rPr dirty="0" sz="2000" b="1">
                <a:solidFill>
                  <a:srgbClr val="6F2F9F"/>
                </a:solidFill>
                <a:latin typeface="黑体"/>
                <a:cs typeface="黑体"/>
              </a:rPr>
              <a:t>字</a:t>
            </a:r>
            <a:r>
              <a:rPr dirty="0" sz="2000" spc="-10" b="1">
                <a:solidFill>
                  <a:srgbClr val="9933FF"/>
                </a:solidFill>
                <a:latin typeface="宋体"/>
                <a:cs typeface="宋体"/>
              </a:rPr>
              <a:t>0</a:t>
            </a:r>
            <a:r>
              <a:rPr dirty="0" sz="2000" spc="-10" b="1">
                <a:solidFill>
                  <a:srgbClr val="9933FF"/>
                </a:solidFill>
                <a:latin typeface="黑体"/>
                <a:cs typeface="黑体"/>
              </a:rPr>
              <a:t>～</a:t>
            </a:r>
            <a:r>
              <a:rPr dirty="0" sz="2000" spc="-10" b="1">
                <a:solidFill>
                  <a:srgbClr val="9933FF"/>
                </a:solidFill>
                <a:latin typeface="宋体"/>
                <a:cs typeface="宋体"/>
              </a:rPr>
              <a:t>9</a:t>
            </a:r>
            <a:r>
              <a:rPr dirty="0" sz="2000" spc="-25" b="1">
                <a:solidFill>
                  <a:srgbClr val="6F2F9F"/>
                </a:solidFill>
                <a:latin typeface="黑体"/>
                <a:cs typeface="黑体"/>
              </a:rPr>
              <a:t>，并将两个十进制数字合并到一个字节中存储。</a:t>
            </a:r>
            <a:endParaRPr sz="2000">
              <a:latin typeface="黑体"/>
              <a:cs typeface="黑体"/>
            </a:endParaRPr>
          </a:p>
          <a:p>
            <a:pPr lvl="2" marL="1307465" indent="-359410">
              <a:lnSpc>
                <a:spcPct val="100000"/>
              </a:lnSpc>
              <a:spcBef>
                <a:spcPts val="960"/>
              </a:spcBef>
              <a:buClr>
                <a:srgbClr val="4668F5"/>
              </a:buClr>
              <a:buSzPct val="72500"/>
              <a:buFont typeface="Wingdings"/>
              <a:buChar char=""/>
              <a:tabLst>
                <a:tab pos="1307465" algn="l"/>
              </a:tabLst>
            </a:pPr>
            <a:r>
              <a:rPr dirty="0" sz="2000" spc="-25" b="1">
                <a:solidFill>
                  <a:srgbClr val="6F2F9F"/>
                </a:solidFill>
                <a:latin typeface="黑体"/>
                <a:cs typeface="黑体"/>
              </a:rPr>
              <a:t>非压缩十进制：将十进制数直接用字符串来表示。</a:t>
            </a:r>
            <a:endParaRPr sz="2000">
              <a:latin typeface="黑体"/>
              <a:cs typeface="黑体"/>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2142870" y="766064"/>
            <a:ext cx="6274435" cy="391160"/>
          </a:xfrm>
          <a:prstGeom prst="rect">
            <a:avLst/>
          </a:prstGeom>
        </p:spPr>
        <p:txBody>
          <a:bodyPr wrap="square" lIns="0" tIns="12700" rIns="0" bIns="0" rtlCol="0" vert="horz">
            <a:spAutoFit/>
          </a:bodyPr>
          <a:lstStyle/>
          <a:p>
            <a:pPr marL="12700">
              <a:lnSpc>
                <a:spcPct val="100000"/>
              </a:lnSpc>
              <a:spcBef>
                <a:spcPts val="100"/>
              </a:spcBef>
              <a:tabLst>
                <a:tab pos="5956300" algn="l"/>
              </a:tabLst>
            </a:pPr>
            <a:r>
              <a:rPr dirty="0" sz="2400">
                <a:solidFill>
                  <a:srgbClr val="E14B04"/>
                </a:solidFill>
                <a:latin typeface="黑体"/>
                <a:cs typeface="黑体"/>
              </a:rPr>
              <a:t>访问不同操作数大小的频率（</a:t>
            </a:r>
            <a:r>
              <a:rPr dirty="0" sz="2400">
                <a:solidFill>
                  <a:srgbClr val="E14B04"/>
                </a:solidFill>
                <a:latin typeface="宋体"/>
                <a:cs typeface="宋体"/>
              </a:rPr>
              <a:t>SPEC</a:t>
            </a:r>
            <a:r>
              <a:rPr dirty="0" sz="2400">
                <a:solidFill>
                  <a:srgbClr val="E14B04"/>
                </a:solidFill>
                <a:latin typeface="黑体"/>
                <a:cs typeface="黑体"/>
              </a:rPr>
              <a:t>基准程</a:t>
            </a:r>
            <a:r>
              <a:rPr dirty="0" sz="2400" spc="-50">
                <a:solidFill>
                  <a:srgbClr val="E14B04"/>
                </a:solidFill>
                <a:latin typeface="黑体"/>
                <a:cs typeface="黑体"/>
              </a:rPr>
              <a:t>序</a:t>
            </a:r>
            <a:r>
              <a:rPr dirty="0" sz="2400">
                <a:solidFill>
                  <a:srgbClr val="E14B04"/>
                </a:solidFill>
                <a:latin typeface="黑体"/>
                <a:cs typeface="黑体"/>
              </a:rPr>
              <a:t>	</a:t>
            </a:r>
            <a:r>
              <a:rPr dirty="0" sz="2400" spc="-50">
                <a:solidFill>
                  <a:srgbClr val="E14B04"/>
                </a:solidFill>
                <a:latin typeface="黑体"/>
                <a:cs typeface="黑体"/>
              </a:rPr>
              <a:t>）</a:t>
            </a:r>
            <a:endParaRPr sz="2400">
              <a:latin typeface="黑体"/>
              <a:cs typeface="黑体"/>
            </a:endParaRPr>
          </a:p>
        </p:txBody>
      </p:sp>
      <p:graphicFrame>
        <p:nvGraphicFramePr>
          <p:cNvPr id="4" name="object 4" descr=""/>
          <p:cNvGraphicFramePr>
            <a:graphicFrameLocks noGrp="1"/>
          </p:cNvGraphicFramePr>
          <p:nvPr/>
        </p:nvGraphicFramePr>
        <p:xfrm>
          <a:off x="3417887" y="1685988"/>
          <a:ext cx="5432425" cy="3056255"/>
        </p:xfrm>
        <a:graphic>
          <a:graphicData uri="http://schemas.openxmlformats.org/drawingml/2006/table">
            <a:tbl>
              <a:tblPr firstRow="1" bandRow="1">
                <a:tableStyleId>{2D5ABB26-0587-4C30-8999-92F81FD0307C}</a:tableStyleId>
              </a:tblPr>
              <a:tblGrid>
                <a:gridCol w="1943100"/>
                <a:gridCol w="1657350"/>
                <a:gridCol w="1727200"/>
              </a:tblGrid>
              <a:tr h="493395">
                <a:tc rowSpan="2">
                  <a:txBody>
                    <a:bodyPr/>
                    <a:lstStyle/>
                    <a:p>
                      <a:pPr>
                        <a:lnSpc>
                          <a:spcPct val="100000"/>
                        </a:lnSpc>
                        <a:spcBef>
                          <a:spcPts val="200"/>
                        </a:spcBef>
                      </a:pPr>
                      <a:endParaRPr sz="2000">
                        <a:latin typeface="Times New Roman"/>
                        <a:cs typeface="Times New Roman"/>
                      </a:endParaRPr>
                    </a:p>
                    <a:p>
                      <a:pPr marL="334645">
                        <a:lnSpc>
                          <a:spcPct val="100000"/>
                        </a:lnSpc>
                        <a:spcBef>
                          <a:spcPts val="5"/>
                        </a:spcBef>
                      </a:pPr>
                      <a:r>
                        <a:rPr dirty="0" sz="2000" spc="-10">
                          <a:solidFill>
                            <a:srgbClr val="E14B04"/>
                          </a:solidFill>
                          <a:latin typeface="黑体"/>
                          <a:cs typeface="黑体"/>
                        </a:rPr>
                        <a:t>操作数大小</a:t>
                      </a:r>
                      <a:endParaRPr sz="2000">
                        <a:latin typeface="黑体"/>
                        <a:cs typeface="黑体"/>
                      </a:endParaRPr>
                    </a:p>
                  </a:txBody>
                  <a:tcPr marL="0" marR="0" marB="0" marT="2540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gridSpan="2">
                  <a:txBody>
                    <a:bodyPr/>
                    <a:lstStyle/>
                    <a:p>
                      <a:pPr algn="ctr" marL="635">
                        <a:lnSpc>
                          <a:spcPct val="100000"/>
                        </a:lnSpc>
                        <a:spcBef>
                          <a:spcPts val="705"/>
                        </a:spcBef>
                      </a:pPr>
                      <a:r>
                        <a:rPr dirty="0" sz="2000" spc="-15">
                          <a:solidFill>
                            <a:srgbClr val="E14B04"/>
                          </a:solidFill>
                          <a:latin typeface="黑体"/>
                          <a:cs typeface="黑体"/>
                        </a:rPr>
                        <a:t>访问频度</a:t>
                      </a:r>
                      <a:endParaRPr sz="2000">
                        <a:latin typeface="黑体"/>
                        <a:cs typeface="黑体"/>
                      </a:endParaRPr>
                    </a:p>
                  </a:txBody>
                  <a:tcPr marL="0" marR="0" marB="0" marT="8953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c hMerge="1">
                  <a:txBody>
                    <a:bodyPr/>
                    <a:lstStyle/>
                    <a:p>
                      <a:pPr/>
                    </a:p>
                  </a:txBody>
                  <a:tcPr marL="0" marR="0" marB="0" marT="0"/>
                </a:tc>
              </a:tr>
              <a:tr h="490220">
                <a:tc vMerge="1">
                  <a:txBody>
                    <a:bodyPr/>
                    <a:lstStyle/>
                    <a:p>
                      <a:pPr/>
                    </a:p>
                  </a:txBody>
                  <a:tcPr marL="0" marR="0" marB="0" marT="2540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700"/>
                        </a:spcBef>
                      </a:pPr>
                      <a:r>
                        <a:rPr dirty="0" sz="2000" spc="-15">
                          <a:solidFill>
                            <a:srgbClr val="008000"/>
                          </a:solidFill>
                          <a:latin typeface="黑体"/>
                          <a:cs typeface="黑体"/>
                        </a:rPr>
                        <a:t>整型平均</a:t>
                      </a:r>
                      <a:endParaRPr sz="2000">
                        <a:latin typeface="黑体"/>
                        <a:cs typeface="黑体"/>
                      </a:endParaRPr>
                    </a:p>
                  </a:txBody>
                  <a:tcPr marL="0" marR="0" marB="0" marT="889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700"/>
                        </a:spcBef>
                      </a:pPr>
                      <a:r>
                        <a:rPr dirty="0" sz="2000" spc="-15">
                          <a:solidFill>
                            <a:srgbClr val="008000"/>
                          </a:solidFill>
                          <a:latin typeface="黑体"/>
                          <a:cs typeface="黑体"/>
                        </a:rPr>
                        <a:t>浮点平均</a:t>
                      </a:r>
                      <a:endParaRPr sz="2000">
                        <a:latin typeface="黑体"/>
                        <a:cs typeface="黑体"/>
                      </a:endParaRPr>
                    </a:p>
                  </a:txBody>
                  <a:tcPr marL="0" marR="0" marB="0" marT="889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18159">
                <a:tc>
                  <a:txBody>
                    <a:bodyPr/>
                    <a:lstStyle/>
                    <a:p>
                      <a:pPr algn="ctr" marL="635">
                        <a:lnSpc>
                          <a:spcPct val="100000"/>
                        </a:lnSpc>
                        <a:spcBef>
                          <a:spcPts val="885"/>
                        </a:spcBef>
                      </a:pPr>
                      <a:r>
                        <a:rPr dirty="0" sz="2000" spc="-25">
                          <a:solidFill>
                            <a:srgbClr val="40458B"/>
                          </a:solidFill>
                          <a:latin typeface="黑体"/>
                          <a:cs typeface="黑体"/>
                        </a:rPr>
                        <a:t>字节</a:t>
                      </a:r>
                      <a:endParaRPr sz="2000">
                        <a:latin typeface="黑体"/>
                        <a:cs typeface="黑体"/>
                      </a:endParaRPr>
                    </a:p>
                  </a:txBody>
                  <a:tcPr marL="0" marR="0" marB="0" marT="11239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885"/>
                        </a:spcBef>
                      </a:pPr>
                      <a:r>
                        <a:rPr dirty="0" sz="2000" spc="-25">
                          <a:solidFill>
                            <a:srgbClr val="40458B"/>
                          </a:solidFill>
                          <a:latin typeface="Tahoma"/>
                          <a:cs typeface="Tahoma"/>
                        </a:rPr>
                        <a:t>7%</a:t>
                      </a:r>
                      <a:endParaRPr sz="2000">
                        <a:latin typeface="Tahoma"/>
                        <a:cs typeface="Tahoma"/>
                      </a:endParaRPr>
                    </a:p>
                  </a:txBody>
                  <a:tcPr marL="0" marR="0" marB="0" marT="1123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885"/>
                        </a:spcBef>
                      </a:pPr>
                      <a:r>
                        <a:rPr dirty="0" sz="2000" spc="-25">
                          <a:solidFill>
                            <a:srgbClr val="40458B"/>
                          </a:solidFill>
                          <a:latin typeface="Tahoma"/>
                          <a:cs typeface="Tahoma"/>
                        </a:rPr>
                        <a:t>0%</a:t>
                      </a:r>
                      <a:endParaRPr sz="2000">
                        <a:latin typeface="Tahoma"/>
                        <a:cs typeface="Tahoma"/>
                      </a:endParaRPr>
                    </a:p>
                  </a:txBody>
                  <a:tcPr marL="0" marR="0" marB="0" marT="11239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18159">
                <a:tc>
                  <a:txBody>
                    <a:bodyPr/>
                    <a:lstStyle/>
                    <a:p>
                      <a:pPr algn="ctr" marL="635">
                        <a:lnSpc>
                          <a:spcPct val="100000"/>
                        </a:lnSpc>
                        <a:spcBef>
                          <a:spcPts val="885"/>
                        </a:spcBef>
                      </a:pPr>
                      <a:r>
                        <a:rPr dirty="0" sz="2000" spc="-25">
                          <a:solidFill>
                            <a:srgbClr val="40458B"/>
                          </a:solidFill>
                          <a:latin typeface="黑体"/>
                          <a:cs typeface="黑体"/>
                        </a:rPr>
                        <a:t>半字</a:t>
                      </a:r>
                      <a:endParaRPr sz="2000">
                        <a:latin typeface="黑体"/>
                        <a:cs typeface="黑体"/>
                      </a:endParaRPr>
                    </a:p>
                  </a:txBody>
                  <a:tcPr marL="0" marR="0" marB="0" marT="11239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885"/>
                        </a:spcBef>
                      </a:pPr>
                      <a:r>
                        <a:rPr dirty="0" sz="2000" spc="-25">
                          <a:solidFill>
                            <a:srgbClr val="40458B"/>
                          </a:solidFill>
                          <a:latin typeface="Tahoma"/>
                          <a:cs typeface="Tahoma"/>
                        </a:rPr>
                        <a:t>19%</a:t>
                      </a:r>
                      <a:endParaRPr sz="2000">
                        <a:latin typeface="Tahoma"/>
                        <a:cs typeface="Tahoma"/>
                      </a:endParaRPr>
                    </a:p>
                  </a:txBody>
                  <a:tcPr marL="0" marR="0" marB="0" marT="1123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885"/>
                        </a:spcBef>
                      </a:pPr>
                      <a:r>
                        <a:rPr dirty="0" sz="2000" spc="-25">
                          <a:solidFill>
                            <a:srgbClr val="40458B"/>
                          </a:solidFill>
                          <a:latin typeface="Tahoma"/>
                          <a:cs typeface="Tahoma"/>
                        </a:rPr>
                        <a:t>0%</a:t>
                      </a:r>
                      <a:endParaRPr sz="2000">
                        <a:latin typeface="Tahoma"/>
                        <a:cs typeface="Tahoma"/>
                      </a:endParaRPr>
                    </a:p>
                  </a:txBody>
                  <a:tcPr marL="0" marR="0" marB="0" marT="11239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18159">
                <a:tc>
                  <a:txBody>
                    <a:bodyPr/>
                    <a:lstStyle/>
                    <a:p>
                      <a:pPr algn="ctr" marL="635">
                        <a:lnSpc>
                          <a:spcPct val="100000"/>
                        </a:lnSpc>
                        <a:spcBef>
                          <a:spcPts val="885"/>
                        </a:spcBef>
                      </a:pPr>
                      <a:r>
                        <a:rPr dirty="0" sz="2000" spc="-25">
                          <a:solidFill>
                            <a:srgbClr val="40458B"/>
                          </a:solidFill>
                          <a:latin typeface="黑体"/>
                          <a:cs typeface="黑体"/>
                        </a:rPr>
                        <a:t>单字</a:t>
                      </a:r>
                      <a:endParaRPr sz="2000">
                        <a:latin typeface="黑体"/>
                        <a:cs typeface="黑体"/>
                      </a:endParaRPr>
                    </a:p>
                  </a:txBody>
                  <a:tcPr marL="0" marR="0" marB="0" marT="11239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885"/>
                        </a:spcBef>
                      </a:pPr>
                      <a:r>
                        <a:rPr dirty="0" sz="2000" spc="-25">
                          <a:solidFill>
                            <a:srgbClr val="40458B"/>
                          </a:solidFill>
                          <a:latin typeface="Tahoma"/>
                          <a:cs typeface="Tahoma"/>
                        </a:rPr>
                        <a:t>74%</a:t>
                      </a:r>
                      <a:endParaRPr sz="2000">
                        <a:latin typeface="Tahoma"/>
                        <a:cs typeface="Tahoma"/>
                      </a:endParaRPr>
                    </a:p>
                  </a:txBody>
                  <a:tcPr marL="0" marR="0" marB="0" marT="1123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2540">
                        <a:lnSpc>
                          <a:spcPct val="100000"/>
                        </a:lnSpc>
                        <a:spcBef>
                          <a:spcPts val="885"/>
                        </a:spcBef>
                      </a:pPr>
                      <a:r>
                        <a:rPr dirty="0" sz="2000" spc="-25">
                          <a:solidFill>
                            <a:srgbClr val="40458B"/>
                          </a:solidFill>
                          <a:latin typeface="Tahoma"/>
                          <a:cs typeface="Tahoma"/>
                        </a:rPr>
                        <a:t>31%</a:t>
                      </a:r>
                      <a:endParaRPr sz="2000">
                        <a:latin typeface="Tahoma"/>
                        <a:cs typeface="Tahoma"/>
                      </a:endParaRPr>
                    </a:p>
                  </a:txBody>
                  <a:tcPr marL="0" marR="0" marB="0" marT="11239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18159">
                <a:tc>
                  <a:txBody>
                    <a:bodyPr/>
                    <a:lstStyle/>
                    <a:p>
                      <a:pPr algn="ctr" marL="635">
                        <a:lnSpc>
                          <a:spcPct val="100000"/>
                        </a:lnSpc>
                        <a:spcBef>
                          <a:spcPts val="890"/>
                        </a:spcBef>
                      </a:pPr>
                      <a:r>
                        <a:rPr dirty="0" sz="2000" spc="-25">
                          <a:solidFill>
                            <a:srgbClr val="40458B"/>
                          </a:solidFill>
                          <a:latin typeface="黑体"/>
                          <a:cs typeface="黑体"/>
                        </a:rPr>
                        <a:t>双字</a:t>
                      </a:r>
                      <a:endParaRPr sz="2000">
                        <a:latin typeface="黑体"/>
                        <a:cs typeface="黑体"/>
                      </a:endParaRPr>
                    </a:p>
                  </a:txBody>
                  <a:tcPr marL="0" marR="0" marB="0" marT="11303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890"/>
                        </a:spcBef>
                      </a:pPr>
                      <a:r>
                        <a:rPr dirty="0" sz="2000" spc="-25">
                          <a:solidFill>
                            <a:srgbClr val="40458B"/>
                          </a:solidFill>
                          <a:latin typeface="Tahoma"/>
                          <a:cs typeface="Tahoma"/>
                        </a:rPr>
                        <a:t>0%</a:t>
                      </a:r>
                      <a:endParaRPr sz="2000">
                        <a:latin typeface="Tahoma"/>
                        <a:cs typeface="Tahoma"/>
                      </a:endParaRPr>
                    </a:p>
                  </a:txBody>
                  <a:tcPr marL="0" marR="0" marB="0" marT="11303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2540">
                        <a:lnSpc>
                          <a:spcPct val="100000"/>
                        </a:lnSpc>
                        <a:spcBef>
                          <a:spcPts val="890"/>
                        </a:spcBef>
                      </a:pPr>
                      <a:r>
                        <a:rPr dirty="0" sz="2000" spc="-25">
                          <a:solidFill>
                            <a:srgbClr val="40458B"/>
                          </a:solidFill>
                          <a:latin typeface="Tahoma"/>
                          <a:cs typeface="Tahoma"/>
                        </a:rPr>
                        <a:t>69%</a:t>
                      </a:r>
                      <a:endParaRPr sz="2000">
                        <a:latin typeface="Tahoma"/>
                        <a:cs typeface="Tahoma"/>
                      </a:endParaRPr>
                    </a:p>
                  </a:txBody>
                  <a:tcPr marL="0" marR="0" marB="0" marT="11303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5" name="object 5" descr=""/>
          <p:cNvSpPr txBox="1"/>
          <p:nvPr/>
        </p:nvSpPr>
        <p:spPr>
          <a:xfrm>
            <a:off x="2214117" y="4909159"/>
            <a:ext cx="7805420" cy="1562100"/>
          </a:xfrm>
          <a:prstGeom prst="rect">
            <a:avLst/>
          </a:prstGeom>
        </p:spPr>
        <p:txBody>
          <a:bodyPr wrap="square" lIns="0" tIns="158750" rIns="0" bIns="0" rtlCol="0" vert="horz">
            <a:spAutoFit/>
          </a:bodyPr>
          <a:lstStyle/>
          <a:p>
            <a:pPr marL="774700">
              <a:lnSpc>
                <a:spcPct val="100000"/>
              </a:lnSpc>
              <a:spcBef>
                <a:spcPts val="1250"/>
              </a:spcBef>
            </a:pPr>
            <a:r>
              <a:rPr dirty="0" sz="2400" spc="-5">
                <a:solidFill>
                  <a:srgbClr val="E14B04"/>
                </a:solidFill>
                <a:latin typeface="黑体"/>
                <a:cs typeface="黑体"/>
              </a:rPr>
              <a:t>基准程序对单字和双字的数据访问具有较高的频度。</a:t>
            </a:r>
            <a:endParaRPr sz="2400">
              <a:latin typeface="黑体"/>
              <a:cs typeface="黑体"/>
            </a:endParaRPr>
          </a:p>
          <a:p>
            <a:pPr marL="12700" marR="116205" indent="769620">
              <a:lnSpc>
                <a:spcPct val="140000"/>
              </a:lnSpc>
            </a:pPr>
            <a:r>
              <a:rPr dirty="0" sz="2400" spc="-20" b="1">
                <a:latin typeface="宋体"/>
                <a:cs typeface="宋体"/>
              </a:rPr>
              <a:t>一台</a:t>
            </a:r>
            <a:r>
              <a:rPr dirty="0" sz="2400" spc="-20" b="1">
                <a:solidFill>
                  <a:srgbClr val="9933FF"/>
                </a:solidFill>
                <a:latin typeface="宋体"/>
                <a:cs typeface="宋体"/>
              </a:rPr>
              <a:t>32</a:t>
            </a:r>
            <a:r>
              <a:rPr dirty="0" sz="2400" spc="-20" b="1">
                <a:latin typeface="宋体"/>
                <a:cs typeface="宋体"/>
              </a:rPr>
              <a:t>位的机器应该支持</a:t>
            </a:r>
            <a:r>
              <a:rPr dirty="0" sz="2400" spc="-20" b="1">
                <a:solidFill>
                  <a:srgbClr val="9933FF"/>
                </a:solidFill>
                <a:latin typeface="宋体"/>
                <a:cs typeface="宋体"/>
              </a:rPr>
              <a:t>8、16、32</a:t>
            </a:r>
            <a:r>
              <a:rPr dirty="0" sz="2400" spc="-25" b="1">
                <a:latin typeface="宋体"/>
                <a:cs typeface="宋体"/>
              </a:rPr>
              <a:t>位整型操作数以及</a:t>
            </a:r>
            <a:r>
              <a:rPr dirty="0" sz="2400" spc="-10" b="1">
                <a:solidFill>
                  <a:srgbClr val="9933FF"/>
                </a:solidFill>
                <a:latin typeface="宋体"/>
                <a:cs typeface="宋体"/>
              </a:rPr>
              <a:t>32</a:t>
            </a:r>
            <a:r>
              <a:rPr dirty="0" sz="2400" spc="-20" b="1">
                <a:latin typeface="宋体"/>
                <a:cs typeface="宋体"/>
              </a:rPr>
              <a:t>位和</a:t>
            </a:r>
            <a:r>
              <a:rPr dirty="0" sz="2400" spc="-10" b="1">
                <a:solidFill>
                  <a:srgbClr val="9933FF"/>
                </a:solidFill>
                <a:latin typeface="宋体"/>
                <a:cs typeface="宋体"/>
              </a:rPr>
              <a:t>64</a:t>
            </a:r>
            <a:r>
              <a:rPr dirty="0" sz="2400" spc="-25" b="1">
                <a:latin typeface="宋体"/>
                <a:cs typeface="宋体"/>
              </a:rPr>
              <a:t>位的</a:t>
            </a:r>
            <a:r>
              <a:rPr dirty="0" sz="2400" b="1">
                <a:latin typeface="宋体"/>
                <a:cs typeface="宋体"/>
              </a:rPr>
              <a:t>IEEE</a:t>
            </a:r>
            <a:r>
              <a:rPr dirty="0" sz="2400" spc="100" b="1">
                <a:latin typeface="宋体"/>
                <a:cs typeface="宋体"/>
              </a:rPr>
              <a:t> </a:t>
            </a:r>
            <a:r>
              <a:rPr dirty="0" sz="2400" b="1">
                <a:latin typeface="宋体"/>
                <a:cs typeface="宋体"/>
              </a:rPr>
              <a:t>754</a:t>
            </a:r>
            <a:r>
              <a:rPr dirty="0" sz="2400" spc="-25" b="1">
                <a:latin typeface="宋体"/>
                <a:cs typeface="宋体"/>
              </a:rPr>
              <a:t>标准的浮点操作数。</a:t>
            </a:r>
            <a:endParaRPr sz="2400">
              <a:latin typeface="宋体"/>
              <a:cs typeface="宋体"/>
            </a:endParaRPr>
          </a:p>
        </p:txBody>
      </p:sp>
      <p:sp>
        <p:nvSpPr>
          <p:cNvPr id="6" name="object 6"/>
          <p:cNvSpPr txBox="1">
            <a:spLocks noGrp="1"/>
          </p:cNvSpPr>
          <p:nvPr>
            <p:ph type="title"/>
          </p:nvPr>
        </p:nvSpPr>
        <p:spPr>
          <a:xfrm>
            <a:off x="1163637" y="126949"/>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2.5</a:t>
            </a:r>
            <a:r>
              <a:rPr dirty="0" spc="-35">
                <a:solidFill>
                  <a:srgbClr val="4F55AC"/>
                </a:solidFill>
              </a:rPr>
              <a:t> </a:t>
            </a:r>
            <a:r>
              <a:rPr dirty="0">
                <a:solidFill>
                  <a:srgbClr val="4F55AC"/>
                </a:solidFill>
                <a:latin typeface="微软雅黑"/>
                <a:cs typeface="微软雅黑"/>
              </a:rPr>
              <a:t>操作数的类型和大</a:t>
            </a:r>
            <a:r>
              <a:rPr dirty="0" spc="-50">
                <a:solidFill>
                  <a:srgbClr val="4F55AC"/>
                </a:solidFill>
                <a:latin typeface="微软雅黑"/>
                <a:cs typeface="微软雅黑"/>
              </a:rPr>
              <a:t>小</a:t>
            </a:r>
            <a:r>
              <a:rPr dirty="0">
                <a:solidFill>
                  <a:srgbClr val="4F55AC"/>
                </a:solidFill>
                <a:latin typeface="微软雅黑"/>
                <a:cs typeface="微软雅黑"/>
              </a:rPr>
              <a:t>	</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3727196" y="1600709"/>
            <a:ext cx="4680585" cy="4429125"/>
          </a:xfrm>
          <a:prstGeom prst="rect">
            <a:avLst/>
          </a:prstGeom>
        </p:spPr>
        <p:txBody>
          <a:bodyPr wrap="square" lIns="0" tIns="71120" rIns="0" bIns="0" rtlCol="0" vert="horz">
            <a:spAutoFit/>
          </a:bodyPr>
          <a:lstStyle/>
          <a:p>
            <a:pPr marL="354965" indent="-342265">
              <a:lnSpc>
                <a:spcPct val="100000"/>
              </a:lnSpc>
              <a:spcBef>
                <a:spcPts val="560"/>
              </a:spcBef>
              <a:buClr>
                <a:srgbClr val="40458B"/>
              </a:buClr>
              <a:buSzPct val="114285"/>
              <a:buFont typeface="Wingdings"/>
              <a:buChar char=""/>
              <a:tabLst>
                <a:tab pos="354965" algn="l"/>
              </a:tabLst>
            </a:pPr>
            <a:r>
              <a:rPr dirty="0" sz="2800">
                <a:solidFill>
                  <a:srgbClr val="172152"/>
                </a:solidFill>
                <a:latin typeface="Tahoma"/>
                <a:cs typeface="Tahoma"/>
              </a:rPr>
              <a:t>2.6.1</a:t>
            </a:r>
            <a:r>
              <a:rPr dirty="0" sz="2800" spc="55">
                <a:solidFill>
                  <a:srgbClr val="172152"/>
                </a:solidFill>
                <a:latin typeface="Tahoma"/>
                <a:cs typeface="Tahoma"/>
              </a:rPr>
              <a:t> </a:t>
            </a:r>
            <a:r>
              <a:rPr dirty="0" sz="2800" spc="-30">
                <a:solidFill>
                  <a:srgbClr val="172152"/>
                </a:solidFill>
                <a:latin typeface="Tahoma"/>
                <a:cs typeface="Tahoma"/>
              </a:rPr>
              <a:t>MIPS</a:t>
            </a:r>
            <a:r>
              <a:rPr dirty="0" sz="2800" spc="-35">
                <a:solidFill>
                  <a:srgbClr val="172152"/>
                </a:solidFill>
                <a:latin typeface="黑体"/>
                <a:cs typeface="黑体"/>
              </a:rPr>
              <a:t>的寄存器</a:t>
            </a:r>
            <a:endParaRPr sz="2800">
              <a:latin typeface="黑体"/>
              <a:cs typeface="黑体"/>
            </a:endParaRPr>
          </a:p>
          <a:p>
            <a:pPr marL="354965" indent="-342265">
              <a:lnSpc>
                <a:spcPct val="100000"/>
              </a:lnSpc>
              <a:spcBef>
                <a:spcPts val="1080"/>
              </a:spcBef>
              <a:buClr>
                <a:srgbClr val="40458B"/>
              </a:buClr>
              <a:buSzPct val="114285"/>
              <a:buFont typeface="Wingdings"/>
              <a:buChar char=""/>
              <a:tabLst>
                <a:tab pos="354965" algn="l"/>
              </a:tabLst>
            </a:pPr>
            <a:r>
              <a:rPr dirty="0" sz="2800">
                <a:solidFill>
                  <a:srgbClr val="172152"/>
                </a:solidFill>
                <a:latin typeface="Tahoma"/>
                <a:cs typeface="Tahoma"/>
              </a:rPr>
              <a:t>2.6.2</a:t>
            </a:r>
            <a:r>
              <a:rPr dirty="0" sz="2800" spc="-5">
                <a:solidFill>
                  <a:srgbClr val="172152"/>
                </a:solidFill>
                <a:latin typeface="Tahoma"/>
                <a:cs typeface="Tahoma"/>
              </a:rPr>
              <a:t> </a:t>
            </a:r>
            <a:r>
              <a:rPr dirty="0" sz="2800" spc="-25">
                <a:solidFill>
                  <a:srgbClr val="172152"/>
                </a:solidFill>
                <a:latin typeface="Tahoma"/>
                <a:cs typeface="Tahoma"/>
              </a:rPr>
              <a:t>MIPS</a:t>
            </a:r>
            <a:r>
              <a:rPr dirty="0" sz="2800" spc="-30">
                <a:solidFill>
                  <a:srgbClr val="172152"/>
                </a:solidFill>
                <a:latin typeface="黑体"/>
                <a:cs typeface="黑体"/>
              </a:rPr>
              <a:t>的数据表示</a:t>
            </a:r>
            <a:endParaRPr sz="2800">
              <a:latin typeface="黑体"/>
              <a:cs typeface="黑体"/>
            </a:endParaRPr>
          </a:p>
          <a:p>
            <a:pPr marL="354965" indent="-342265">
              <a:lnSpc>
                <a:spcPct val="100000"/>
              </a:lnSpc>
              <a:spcBef>
                <a:spcPts val="1080"/>
              </a:spcBef>
              <a:buClr>
                <a:srgbClr val="40458B"/>
              </a:buClr>
              <a:buSzPct val="114285"/>
              <a:buFont typeface="Wingdings"/>
              <a:buChar char=""/>
              <a:tabLst>
                <a:tab pos="354965" algn="l"/>
              </a:tabLst>
            </a:pPr>
            <a:r>
              <a:rPr dirty="0" sz="2800">
                <a:solidFill>
                  <a:srgbClr val="172152"/>
                </a:solidFill>
                <a:latin typeface="Tahoma"/>
                <a:cs typeface="Tahoma"/>
              </a:rPr>
              <a:t>2.6.3</a:t>
            </a:r>
            <a:r>
              <a:rPr dirty="0" sz="2800" spc="-20">
                <a:solidFill>
                  <a:srgbClr val="172152"/>
                </a:solidFill>
                <a:latin typeface="Tahoma"/>
                <a:cs typeface="Tahoma"/>
              </a:rPr>
              <a:t> </a:t>
            </a:r>
            <a:r>
              <a:rPr dirty="0" sz="2800">
                <a:solidFill>
                  <a:srgbClr val="172152"/>
                </a:solidFill>
                <a:latin typeface="Tahoma"/>
                <a:cs typeface="Tahoma"/>
              </a:rPr>
              <a:t>MIPS</a:t>
            </a:r>
            <a:r>
              <a:rPr dirty="0" sz="2800" spc="-10">
                <a:solidFill>
                  <a:srgbClr val="172152"/>
                </a:solidFill>
                <a:latin typeface="Tahoma"/>
                <a:cs typeface="Tahoma"/>
              </a:rPr>
              <a:t> </a:t>
            </a:r>
            <a:r>
              <a:rPr dirty="0" sz="2800" spc="-40">
                <a:solidFill>
                  <a:srgbClr val="172152"/>
                </a:solidFill>
                <a:latin typeface="黑体"/>
                <a:cs typeface="黑体"/>
              </a:rPr>
              <a:t>的数据寻址方式</a:t>
            </a:r>
            <a:endParaRPr sz="2800">
              <a:latin typeface="黑体"/>
              <a:cs typeface="黑体"/>
            </a:endParaRPr>
          </a:p>
          <a:p>
            <a:pPr marL="354965" indent="-342265">
              <a:lnSpc>
                <a:spcPct val="100000"/>
              </a:lnSpc>
              <a:spcBef>
                <a:spcPts val="1085"/>
              </a:spcBef>
              <a:buClr>
                <a:srgbClr val="40458B"/>
              </a:buClr>
              <a:buSzPct val="114285"/>
              <a:buFont typeface="Wingdings"/>
              <a:buChar char=""/>
              <a:tabLst>
                <a:tab pos="354965" algn="l"/>
              </a:tabLst>
            </a:pPr>
            <a:r>
              <a:rPr dirty="0" sz="2800">
                <a:solidFill>
                  <a:srgbClr val="172152"/>
                </a:solidFill>
                <a:latin typeface="Tahoma"/>
                <a:cs typeface="Tahoma"/>
              </a:rPr>
              <a:t>2.6.4</a:t>
            </a:r>
            <a:r>
              <a:rPr dirty="0" sz="2800" spc="-5">
                <a:solidFill>
                  <a:srgbClr val="172152"/>
                </a:solidFill>
                <a:latin typeface="Tahoma"/>
                <a:cs typeface="Tahoma"/>
              </a:rPr>
              <a:t> </a:t>
            </a:r>
            <a:r>
              <a:rPr dirty="0" sz="2800" spc="-25">
                <a:solidFill>
                  <a:srgbClr val="172152"/>
                </a:solidFill>
                <a:latin typeface="Tahoma"/>
                <a:cs typeface="Tahoma"/>
              </a:rPr>
              <a:t>MIPS</a:t>
            </a:r>
            <a:r>
              <a:rPr dirty="0" sz="2800" spc="-30">
                <a:solidFill>
                  <a:srgbClr val="172152"/>
                </a:solidFill>
                <a:latin typeface="黑体"/>
                <a:cs typeface="黑体"/>
              </a:rPr>
              <a:t>的指令格式</a:t>
            </a:r>
            <a:endParaRPr sz="2800">
              <a:latin typeface="黑体"/>
              <a:cs typeface="黑体"/>
            </a:endParaRPr>
          </a:p>
          <a:p>
            <a:pPr marL="354965" indent="-342265">
              <a:lnSpc>
                <a:spcPct val="100000"/>
              </a:lnSpc>
              <a:spcBef>
                <a:spcPts val="1080"/>
              </a:spcBef>
              <a:buClr>
                <a:srgbClr val="40458B"/>
              </a:buClr>
              <a:buSzPct val="114285"/>
              <a:buFont typeface="Wingdings"/>
              <a:buChar char=""/>
              <a:tabLst>
                <a:tab pos="354965" algn="l"/>
              </a:tabLst>
            </a:pPr>
            <a:r>
              <a:rPr dirty="0" sz="2800">
                <a:solidFill>
                  <a:srgbClr val="172152"/>
                </a:solidFill>
                <a:latin typeface="Tahoma"/>
                <a:cs typeface="Tahoma"/>
              </a:rPr>
              <a:t>2.6.5</a:t>
            </a:r>
            <a:r>
              <a:rPr dirty="0" sz="2800" spc="-25">
                <a:solidFill>
                  <a:srgbClr val="172152"/>
                </a:solidFill>
                <a:latin typeface="Tahoma"/>
                <a:cs typeface="Tahoma"/>
              </a:rPr>
              <a:t> MIPS</a:t>
            </a:r>
            <a:r>
              <a:rPr dirty="0" sz="2800" spc="-40">
                <a:solidFill>
                  <a:srgbClr val="172152"/>
                </a:solidFill>
                <a:latin typeface="黑体"/>
                <a:cs typeface="黑体"/>
              </a:rPr>
              <a:t>操作</a:t>
            </a:r>
            <a:endParaRPr sz="2800">
              <a:latin typeface="黑体"/>
              <a:cs typeface="黑体"/>
            </a:endParaRPr>
          </a:p>
          <a:p>
            <a:pPr marL="354965" indent="-342265">
              <a:lnSpc>
                <a:spcPct val="100000"/>
              </a:lnSpc>
              <a:spcBef>
                <a:spcPts val="1080"/>
              </a:spcBef>
              <a:buClr>
                <a:srgbClr val="40458B"/>
              </a:buClr>
              <a:buSzPct val="114285"/>
              <a:buFont typeface="Wingdings"/>
              <a:buChar char=""/>
              <a:tabLst>
                <a:tab pos="354965" algn="l"/>
              </a:tabLst>
            </a:pPr>
            <a:r>
              <a:rPr dirty="0" sz="2800">
                <a:solidFill>
                  <a:srgbClr val="172152"/>
                </a:solidFill>
                <a:latin typeface="Tahoma"/>
                <a:cs typeface="Tahoma"/>
              </a:rPr>
              <a:t>2.6.6</a:t>
            </a:r>
            <a:r>
              <a:rPr dirty="0" sz="2800" spc="-10">
                <a:solidFill>
                  <a:srgbClr val="172152"/>
                </a:solidFill>
                <a:latin typeface="Tahoma"/>
                <a:cs typeface="Tahoma"/>
              </a:rPr>
              <a:t> </a:t>
            </a:r>
            <a:r>
              <a:rPr dirty="0" sz="2800" spc="-25">
                <a:solidFill>
                  <a:srgbClr val="172152"/>
                </a:solidFill>
                <a:latin typeface="Tahoma"/>
                <a:cs typeface="Tahoma"/>
              </a:rPr>
              <a:t>MIPS</a:t>
            </a:r>
            <a:r>
              <a:rPr dirty="0" sz="2800" spc="-35">
                <a:solidFill>
                  <a:srgbClr val="172152"/>
                </a:solidFill>
                <a:latin typeface="黑体"/>
                <a:cs typeface="黑体"/>
              </a:rPr>
              <a:t>控制指令</a:t>
            </a:r>
            <a:endParaRPr sz="2800">
              <a:latin typeface="黑体"/>
              <a:cs typeface="黑体"/>
            </a:endParaRPr>
          </a:p>
          <a:p>
            <a:pPr marL="354965" indent="-342265">
              <a:lnSpc>
                <a:spcPct val="100000"/>
              </a:lnSpc>
              <a:spcBef>
                <a:spcPts val="1080"/>
              </a:spcBef>
              <a:buClr>
                <a:srgbClr val="40458B"/>
              </a:buClr>
              <a:buSzPct val="114285"/>
              <a:buFont typeface="Wingdings"/>
              <a:buChar char=""/>
              <a:tabLst>
                <a:tab pos="354965" algn="l"/>
              </a:tabLst>
            </a:pPr>
            <a:r>
              <a:rPr dirty="0" sz="2800">
                <a:solidFill>
                  <a:srgbClr val="172152"/>
                </a:solidFill>
                <a:latin typeface="Tahoma"/>
                <a:cs typeface="Tahoma"/>
              </a:rPr>
              <a:t>2.6.7</a:t>
            </a:r>
            <a:r>
              <a:rPr dirty="0" sz="2800" spc="-55">
                <a:solidFill>
                  <a:srgbClr val="172152"/>
                </a:solidFill>
                <a:latin typeface="Tahoma"/>
                <a:cs typeface="Tahoma"/>
              </a:rPr>
              <a:t> </a:t>
            </a:r>
            <a:r>
              <a:rPr dirty="0" sz="2800">
                <a:solidFill>
                  <a:srgbClr val="172152"/>
                </a:solidFill>
                <a:latin typeface="Tahoma"/>
                <a:cs typeface="Tahoma"/>
              </a:rPr>
              <a:t>MIPS</a:t>
            </a:r>
            <a:r>
              <a:rPr dirty="0" sz="2800" spc="-35">
                <a:solidFill>
                  <a:srgbClr val="172152"/>
                </a:solidFill>
                <a:latin typeface="Tahoma"/>
                <a:cs typeface="Tahoma"/>
              </a:rPr>
              <a:t> </a:t>
            </a:r>
            <a:r>
              <a:rPr dirty="0" sz="2800" spc="-30">
                <a:solidFill>
                  <a:srgbClr val="172152"/>
                </a:solidFill>
                <a:latin typeface="黑体"/>
                <a:cs typeface="黑体"/>
              </a:rPr>
              <a:t>的浮点操作</a:t>
            </a:r>
            <a:endParaRPr sz="2800">
              <a:latin typeface="黑体"/>
              <a:cs typeface="黑体"/>
            </a:endParaRPr>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latin typeface="微软雅黑"/>
                <a:cs typeface="微软雅黑"/>
              </a:rPr>
              <a:t>	2.6</a:t>
            </a:r>
            <a:r>
              <a:rPr dirty="0" spc="-5">
                <a:solidFill>
                  <a:srgbClr val="4F55AC"/>
                </a:solidFill>
                <a:latin typeface="微软雅黑"/>
                <a:cs typeface="微软雅黑"/>
              </a:rPr>
              <a:t> </a:t>
            </a:r>
            <a:r>
              <a:rPr dirty="0">
                <a:solidFill>
                  <a:srgbClr val="4F55AC"/>
                </a:solidFill>
                <a:latin typeface="微软雅黑"/>
                <a:cs typeface="微软雅黑"/>
              </a:rPr>
              <a:t>MIPS</a:t>
            </a:r>
            <a:r>
              <a:rPr dirty="0" spc="-10">
                <a:solidFill>
                  <a:srgbClr val="4F55AC"/>
                </a:solidFill>
                <a:latin typeface="微软雅黑"/>
                <a:cs typeface="微软雅黑"/>
              </a:rPr>
              <a:t>指令系统结</a:t>
            </a:r>
            <a:r>
              <a:rPr dirty="0" spc="-50">
                <a:solidFill>
                  <a:srgbClr val="4F55AC"/>
                </a:solidFill>
                <a:latin typeface="微软雅黑"/>
                <a:cs typeface="微软雅黑"/>
              </a:rPr>
              <a:t>构</a:t>
            </a:r>
            <a:r>
              <a:rPr dirty="0">
                <a:solidFill>
                  <a:srgbClr val="4F55AC"/>
                </a:solidFill>
                <a:latin typeface="微软雅黑"/>
                <a:cs typeface="微软雅黑"/>
              </a:rPr>
              <a:t>	</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853541" y="783430"/>
            <a:ext cx="10832465" cy="4168775"/>
          </a:xfrm>
          <a:prstGeom prst="rect">
            <a:avLst/>
          </a:prstGeom>
        </p:spPr>
        <p:txBody>
          <a:bodyPr wrap="square" lIns="0" tIns="256540" rIns="0" bIns="0" rtlCol="0" vert="horz">
            <a:spAutoFit/>
          </a:bodyPr>
          <a:lstStyle/>
          <a:p>
            <a:pPr marL="12700">
              <a:lnSpc>
                <a:spcPct val="100000"/>
              </a:lnSpc>
              <a:spcBef>
                <a:spcPts val="2020"/>
              </a:spcBef>
            </a:pPr>
            <a:r>
              <a:rPr dirty="0" sz="3200" spc="-10">
                <a:solidFill>
                  <a:srgbClr val="40458B"/>
                </a:solidFill>
                <a:latin typeface="黑体"/>
                <a:cs typeface="黑体"/>
              </a:rPr>
              <a:t>MIPS64的一个子集，简称为MIPS</a:t>
            </a:r>
            <a:r>
              <a:rPr dirty="0" sz="3200" spc="-50">
                <a:solidFill>
                  <a:srgbClr val="40458B"/>
                </a:solidFill>
                <a:latin typeface="黑体"/>
                <a:cs typeface="黑体"/>
              </a:rPr>
              <a:t>。</a:t>
            </a:r>
            <a:endParaRPr sz="3200">
              <a:latin typeface="黑体"/>
              <a:cs typeface="黑体"/>
            </a:endParaRPr>
          </a:p>
          <a:p>
            <a:pPr algn="just" marL="468630" marR="45085" indent="-456565">
              <a:lnSpc>
                <a:spcPct val="100000"/>
              </a:lnSpc>
              <a:spcBef>
                <a:spcPts val="1670"/>
              </a:spcBef>
              <a:buFont typeface="Wingdings"/>
              <a:buChar char=""/>
              <a:tabLst>
                <a:tab pos="469900" algn="l"/>
              </a:tabLst>
            </a:pPr>
            <a:r>
              <a:rPr dirty="0" sz="2800" spc="-25">
                <a:solidFill>
                  <a:srgbClr val="40458B"/>
                </a:solidFill>
                <a:latin typeface="黑体"/>
                <a:cs typeface="黑体"/>
              </a:rPr>
              <a:t>1981</a:t>
            </a:r>
            <a:r>
              <a:rPr dirty="0" sz="2800" spc="-35">
                <a:solidFill>
                  <a:srgbClr val="40458B"/>
                </a:solidFill>
                <a:latin typeface="黑体"/>
                <a:cs typeface="黑体"/>
              </a:rPr>
              <a:t>年，斯坦福大学，研发了</a:t>
            </a:r>
            <a:r>
              <a:rPr dirty="0" sz="2800" spc="-25">
                <a:solidFill>
                  <a:srgbClr val="40458B"/>
                </a:solidFill>
                <a:latin typeface="黑体"/>
                <a:cs typeface="黑体"/>
              </a:rPr>
              <a:t>MIPS</a:t>
            </a:r>
            <a:r>
              <a:rPr dirty="0" sz="2800" spc="-40">
                <a:solidFill>
                  <a:srgbClr val="40458B"/>
                </a:solidFill>
                <a:latin typeface="黑体"/>
                <a:cs typeface="黑体"/>
              </a:rPr>
              <a:t>计算机，之后在此基础上形成了</a:t>
            </a:r>
            <a:r>
              <a:rPr dirty="0" sz="2800" spc="-50">
                <a:solidFill>
                  <a:srgbClr val="40458B"/>
                </a:solidFill>
                <a:latin typeface="黑体"/>
                <a:cs typeface="黑体"/>
              </a:rPr>
              <a:t> </a:t>
            </a:r>
            <a:r>
              <a:rPr dirty="0" sz="2800" spc="-50">
                <a:solidFill>
                  <a:srgbClr val="40458B"/>
                </a:solidFill>
                <a:latin typeface="黑体"/>
                <a:cs typeface="黑体"/>
              </a:rPr>
              <a:t>	</a:t>
            </a:r>
            <a:r>
              <a:rPr dirty="0" sz="2800" spc="-20">
                <a:solidFill>
                  <a:srgbClr val="40458B"/>
                </a:solidFill>
                <a:latin typeface="黑体"/>
                <a:cs typeface="黑体"/>
              </a:rPr>
              <a:t>MIPS</a:t>
            </a:r>
            <a:r>
              <a:rPr dirty="0" sz="2800" spc="-40">
                <a:solidFill>
                  <a:srgbClr val="40458B"/>
                </a:solidFill>
                <a:latin typeface="黑体"/>
                <a:cs typeface="黑体"/>
              </a:rPr>
              <a:t>系列微处理器</a:t>
            </a:r>
            <a:endParaRPr sz="2800">
              <a:latin typeface="黑体"/>
              <a:cs typeface="黑体"/>
            </a:endParaRPr>
          </a:p>
          <a:p>
            <a:pPr marL="298450" indent="-295275">
              <a:lnSpc>
                <a:spcPct val="100000"/>
              </a:lnSpc>
              <a:spcBef>
                <a:spcPts val="1465"/>
              </a:spcBef>
              <a:buSzPct val="96428"/>
              <a:buFont typeface="Wingdings"/>
              <a:buChar char=""/>
              <a:tabLst>
                <a:tab pos="298450" algn="l"/>
              </a:tabLst>
            </a:pPr>
            <a:r>
              <a:rPr dirty="0" sz="2800" spc="-25">
                <a:solidFill>
                  <a:srgbClr val="FF0000"/>
                </a:solidFill>
                <a:latin typeface="Calibri"/>
                <a:cs typeface="Calibri"/>
              </a:rPr>
              <a:t>MIPS</a:t>
            </a:r>
            <a:r>
              <a:rPr dirty="0" sz="2800" spc="-30">
                <a:solidFill>
                  <a:srgbClr val="FF0000"/>
                </a:solidFill>
                <a:latin typeface="黑体"/>
                <a:cs typeface="黑体"/>
              </a:rPr>
              <a:t>计算机</a:t>
            </a:r>
            <a:r>
              <a:rPr dirty="0" sz="2800" spc="-220">
                <a:solidFill>
                  <a:srgbClr val="40458B"/>
                </a:solidFill>
                <a:latin typeface="黑体"/>
                <a:cs typeface="黑体"/>
              </a:rPr>
              <a:t>：简单 </a:t>
            </a:r>
            <a:r>
              <a:rPr dirty="0" sz="2800">
                <a:solidFill>
                  <a:srgbClr val="40458B"/>
                </a:solidFill>
                <a:latin typeface="Calibri"/>
                <a:cs typeface="Calibri"/>
              </a:rPr>
              <a:t>64bit</a:t>
            </a:r>
            <a:r>
              <a:rPr dirty="0" sz="2800" spc="-30">
                <a:solidFill>
                  <a:srgbClr val="40458B"/>
                </a:solidFill>
                <a:latin typeface="Calibri"/>
                <a:cs typeface="Calibri"/>
              </a:rPr>
              <a:t> </a:t>
            </a:r>
            <a:r>
              <a:rPr dirty="0" sz="2800" spc="-25">
                <a:solidFill>
                  <a:srgbClr val="40458B"/>
                </a:solidFill>
                <a:latin typeface="Calibri"/>
                <a:cs typeface="Calibri"/>
              </a:rPr>
              <a:t>load-</a:t>
            </a:r>
            <a:r>
              <a:rPr dirty="0" sz="2800">
                <a:solidFill>
                  <a:srgbClr val="40458B"/>
                </a:solidFill>
                <a:latin typeface="Calibri"/>
                <a:cs typeface="Calibri"/>
              </a:rPr>
              <a:t>store</a:t>
            </a:r>
            <a:r>
              <a:rPr dirty="0" sz="2800" spc="-5">
                <a:solidFill>
                  <a:srgbClr val="40458B"/>
                </a:solidFill>
                <a:latin typeface="Calibri"/>
                <a:cs typeface="Calibri"/>
              </a:rPr>
              <a:t> </a:t>
            </a:r>
            <a:r>
              <a:rPr dirty="0" sz="2800" spc="95">
                <a:solidFill>
                  <a:srgbClr val="40458B"/>
                </a:solidFill>
                <a:latin typeface="黑体"/>
                <a:cs typeface="黑体"/>
              </a:rPr>
              <a:t>系统结构的</a:t>
            </a:r>
            <a:r>
              <a:rPr dirty="0" sz="2800">
                <a:solidFill>
                  <a:srgbClr val="FF0000"/>
                </a:solidFill>
                <a:latin typeface="Calibri"/>
                <a:cs typeface="Calibri"/>
              </a:rPr>
              <a:t>RISC</a:t>
            </a:r>
            <a:r>
              <a:rPr dirty="0" sz="2800" spc="-25">
                <a:solidFill>
                  <a:srgbClr val="FF0000"/>
                </a:solidFill>
                <a:latin typeface="Calibri"/>
                <a:cs typeface="Calibri"/>
              </a:rPr>
              <a:t> </a:t>
            </a:r>
            <a:r>
              <a:rPr dirty="0" sz="2800" spc="-35">
                <a:solidFill>
                  <a:srgbClr val="40458B"/>
                </a:solidFill>
                <a:latin typeface="黑体"/>
                <a:cs typeface="黑体"/>
              </a:rPr>
              <a:t>计算机</a:t>
            </a:r>
            <a:endParaRPr sz="2800">
              <a:latin typeface="黑体"/>
              <a:cs typeface="黑体"/>
            </a:endParaRPr>
          </a:p>
          <a:p>
            <a:pPr algn="just" marL="297815" marR="5080" indent="-295275">
              <a:lnSpc>
                <a:spcPct val="122100"/>
              </a:lnSpc>
              <a:spcBef>
                <a:spcPts val="1335"/>
              </a:spcBef>
              <a:buSzPct val="96428"/>
              <a:buFont typeface="Wingdings"/>
              <a:buChar char=""/>
              <a:tabLst>
                <a:tab pos="299085" algn="l"/>
              </a:tabLst>
            </a:pPr>
            <a:r>
              <a:rPr dirty="0" sz="2800" spc="-25">
                <a:solidFill>
                  <a:srgbClr val="FF0000"/>
                </a:solidFill>
                <a:latin typeface="黑体"/>
                <a:cs typeface="黑体"/>
              </a:rPr>
              <a:t>特征</a:t>
            </a:r>
            <a:r>
              <a:rPr dirty="0" sz="2800" spc="-40">
                <a:solidFill>
                  <a:srgbClr val="40458B"/>
                </a:solidFill>
                <a:latin typeface="黑体"/>
                <a:cs typeface="黑体"/>
              </a:rPr>
              <a:t>：</a:t>
            </a:r>
            <a:r>
              <a:rPr dirty="0" sz="2800" spc="-40">
                <a:solidFill>
                  <a:srgbClr val="40458B"/>
                </a:solidFill>
                <a:latin typeface="Calibri"/>
                <a:cs typeface="Calibri"/>
              </a:rPr>
              <a:t>ALU</a:t>
            </a:r>
            <a:r>
              <a:rPr dirty="0" sz="2800" spc="-35">
                <a:solidFill>
                  <a:srgbClr val="40458B"/>
                </a:solidFill>
                <a:latin typeface="黑体"/>
                <a:cs typeface="黑体"/>
              </a:rPr>
              <a:t>指令的源和目标操作数都存放在寄存器中，只能通过</a:t>
            </a:r>
            <a:r>
              <a:rPr dirty="0" sz="2800" spc="-20">
                <a:solidFill>
                  <a:srgbClr val="40458B"/>
                </a:solidFill>
                <a:latin typeface="Calibri"/>
                <a:cs typeface="Calibri"/>
              </a:rPr>
              <a:t>Load</a:t>
            </a:r>
            <a:r>
              <a:rPr dirty="0" sz="2800" spc="-20">
                <a:solidFill>
                  <a:srgbClr val="40458B"/>
                </a:solidFill>
                <a:latin typeface="Calibri"/>
                <a:cs typeface="Calibri"/>
              </a:rPr>
              <a:t>	</a:t>
            </a:r>
            <a:r>
              <a:rPr dirty="0" sz="2800" spc="-25">
                <a:solidFill>
                  <a:srgbClr val="40458B"/>
                </a:solidFill>
                <a:latin typeface="黑体"/>
                <a:cs typeface="黑体"/>
              </a:rPr>
              <a:t>和</a:t>
            </a:r>
            <a:r>
              <a:rPr dirty="0" sz="2800" spc="-30">
                <a:solidFill>
                  <a:srgbClr val="40458B"/>
                </a:solidFill>
                <a:latin typeface="Calibri"/>
                <a:cs typeface="Calibri"/>
              </a:rPr>
              <a:t>Store</a:t>
            </a:r>
            <a:r>
              <a:rPr dirty="0" sz="2800" spc="-35">
                <a:solidFill>
                  <a:srgbClr val="40458B"/>
                </a:solidFill>
                <a:latin typeface="黑体"/>
                <a:cs typeface="黑体"/>
              </a:rPr>
              <a:t>指令访问存储器，因此被称为</a:t>
            </a:r>
            <a:r>
              <a:rPr dirty="0" sz="2800" spc="-25">
                <a:solidFill>
                  <a:srgbClr val="40458B"/>
                </a:solidFill>
                <a:latin typeface="Calibri"/>
                <a:cs typeface="Calibri"/>
              </a:rPr>
              <a:t>Load-</a:t>
            </a:r>
            <a:r>
              <a:rPr dirty="0" sz="2800" spc="-30">
                <a:solidFill>
                  <a:srgbClr val="40458B"/>
                </a:solidFill>
                <a:latin typeface="Calibri"/>
                <a:cs typeface="Calibri"/>
              </a:rPr>
              <a:t>Store</a:t>
            </a:r>
            <a:r>
              <a:rPr dirty="0" sz="2800" spc="-40">
                <a:solidFill>
                  <a:srgbClr val="40458B"/>
                </a:solidFill>
                <a:latin typeface="黑体"/>
                <a:cs typeface="黑体"/>
              </a:rPr>
              <a:t>指令集结构；易于流</a:t>
            </a:r>
            <a:r>
              <a:rPr dirty="0" sz="2800" spc="-40">
                <a:solidFill>
                  <a:srgbClr val="40458B"/>
                </a:solidFill>
                <a:latin typeface="黑体"/>
                <a:cs typeface="黑体"/>
              </a:rPr>
              <a:t>	</a:t>
            </a:r>
            <a:r>
              <a:rPr dirty="0" sz="2800" spc="-90">
                <a:solidFill>
                  <a:srgbClr val="40458B"/>
                </a:solidFill>
                <a:latin typeface="黑体"/>
                <a:cs typeface="黑体"/>
              </a:rPr>
              <a:t>水设计；寻址方式简单； 操作简单。</a:t>
            </a:r>
            <a:endParaRPr sz="2800">
              <a:latin typeface="黑体"/>
              <a:cs typeface="黑体"/>
            </a:endParaRPr>
          </a:p>
        </p:txBody>
      </p:sp>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710689" algn="l"/>
                <a:tab pos="11028045" algn="l"/>
              </a:tabLst>
            </a:pPr>
            <a:r>
              <a:rPr dirty="0" sz="3000">
                <a:solidFill>
                  <a:srgbClr val="4F55AC"/>
                </a:solidFill>
                <a:latin typeface="微软雅黑"/>
                <a:cs typeface="微软雅黑"/>
              </a:rPr>
              <a:t>	2.6</a:t>
            </a:r>
            <a:r>
              <a:rPr dirty="0" sz="3000" spc="30">
                <a:solidFill>
                  <a:srgbClr val="4F55AC"/>
                </a:solidFill>
                <a:latin typeface="微软雅黑"/>
                <a:cs typeface="微软雅黑"/>
              </a:rPr>
              <a:t> </a:t>
            </a:r>
            <a:r>
              <a:rPr dirty="0" sz="3000" spc="-30">
                <a:solidFill>
                  <a:srgbClr val="4F55AC"/>
                </a:solidFill>
                <a:latin typeface="微软雅黑"/>
                <a:cs typeface="微软雅黑"/>
              </a:rPr>
              <a:t>MIPS</a:t>
            </a:r>
            <a:r>
              <a:rPr dirty="0" sz="3000" spc="-10">
                <a:solidFill>
                  <a:srgbClr val="4F55AC"/>
                </a:solidFill>
                <a:latin typeface="微软雅黑"/>
                <a:cs typeface="微软雅黑"/>
              </a:rPr>
              <a:t>指令系统结</a:t>
            </a:r>
            <a:r>
              <a:rPr dirty="0" sz="3000" spc="-50">
                <a:solidFill>
                  <a:srgbClr val="4F55AC"/>
                </a:solidFill>
                <a:latin typeface="微软雅黑"/>
                <a:cs typeface="微软雅黑"/>
              </a:rPr>
              <a:t>构</a:t>
            </a:r>
            <a:r>
              <a:rPr dirty="0" sz="3000">
                <a:solidFill>
                  <a:srgbClr val="4F55AC"/>
                </a:solidFill>
                <a:latin typeface="微软雅黑"/>
                <a:cs typeface="微软雅黑"/>
              </a:rPr>
              <a:t>	</a:t>
            </a:r>
            <a:endParaRPr sz="3000">
              <a:latin typeface="微软雅黑"/>
              <a:cs typeface="微软雅黑"/>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8" name="object 8" descr=""/>
          <p:cNvSpPr txBox="1"/>
          <p:nvPr/>
        </p:nvSpPr>
        <p:spPr>
          <a:xfrm>
            <a:off x="1025144" y="1053211"/>
            <a:ext cx="9293860" cy="4789805"/>
          </a:xfrm>
          <a:prstGeom prst="rect">
            <a:avLst/>
          </a:prstGeom>
        </p:spPr>
        <p:txBody>
          <a:bodyPr wrap="square" lIns="0" tIns="12065" rIns="0" bIns="0" rtlCol="0" vert="horz">
            <a:spAutoFit/>
          </a:bodyPr>
          <a:lstStyle/>
          <a:p>
            <a:pPr marL="298450" indent="-285750">
              <a:lnSpc>
                <a:spcPct val="100000"/>
              </a:lnSpc>
              <a:spcBef>
                <a:spcPts val="95"/>
              </a:spcBef>
              <a:buClr>
                <a:srgbClr val="FF0000"/>
              </a:buClr>
              <a:buSzPct val="96428"/>
              <a:buFont typeface="Wingdings"/>
              <a:buChar char=""/>
              <a:tabLst>
                <a:tab pos="298450" algn="l"/>
              </a:tabLst>
            </a:pPr>
            <a:r>
              <a:rPr dirty="0" sz="2800" spc="-25">
                <a:solidFill>
                  <a:srgbClr val="FF0000"/>
                </a:solidFill>
                <a:latin typeface="Calibri"/>
                <a:cs typeface="Calibri"/>
              </a:rPr>
              <a:t>MIPS</a:t>
            </a:r>
            <a:r>
              <a:rPr dirty="0" sz="2800" spc="-25">
                <a:solidFill>
                  <a:srgbClr val="FF0000"/>
                </a:solidFill>
                <a:latin typeface="黑体"/>
                <a:cs typeface="黑体"/>
              </a:rPr>
              <a:t>计算机</a:t>
            </a:r>
            <a:r>
              <a:rPr dirty="0" sz="2800" spc="-220">
                <a:solidFill>
                  <a:srgbClr val="40458B"/>
                </a:solidFill>
                <a:latin typeface="黑体"/>
                <a:cs typeface="黑体"/>
              </a:rPr>
              <a:t>：简单 </a:t>
            </a:r>
            <a:r>
              <a:rPr dirty="0" sz="2800">
                <a:solidFill>
                  <a:srgbClr val="40458B"/>
                </a:solidFill>
                <a:latin typeface="Calibri"/>
                <a:cs typeface="Calibri"/>
              </a:rPr>
              <a:t>64bit</a:t>
            </a:r>
            <a:r>
              <a:rPr dirty="0" sz="2800" spc="-35">
                <a:solidFill>
                  <a:srgbClr val="40458B"/>
                </a:solidFill>
                <a:latin typeface="Calibri"/>
                <a:cs typeface="Calibri"/>
              </a:rPr>
              <a:t> </a:t>
            </a:r>
            <a:r>
              <a:rPr dirty="0" sz="2800" spc="-25">
                <a:solidFill>
                  <a:srgbClr val="40458B"/>
                </a:solidFill>
                <a:latin typeface="Calibri"/>
                <a:cs typeface="Calibri"/>
              </a:rPr>
              <a:t>load-</a:t>
            </a:r>
            <a:r>
              <a:rPr dirty="0" sz="2800">
                <a:solidFill>
                  <a:srgbClr val="40458B"/>
                </a:solidFill>
                <a:latin typeface="Calibri"/>
                <a:cs typeface="Calibri"/>
              </a:rPr>
              <a:t>store</a:t>
            </a:r>
            <a:r>
              <a:rPr dirty="0" sz="2800" spc="-5">
                <a:solidFill>
                  <a:srgbClr val="40458B"/>
                </a:solidFill>
                <a:latin typeface="Calibri"/>
                <a:cs typeface="Calibri"/>
              </a:rPr>
              <a:t> </a:t>
            </a:r>
            <a:r>
              <a:rPr dirty="0" sz="2800" spc="95">
                <a:solidFill>
                  <a:srgbClr val="40458B"/>
                </a:solidFill>
                <a:latin typeface="黑体"/>
                <a:cs typeface="黑体"/>
              </a:rPr>
              <a:t>系统结构的</a:t>
            </a:r>
            <a:r>
              <a:rPr dirty="0" sz="2800">
                <a:solidFill>
                  <a:srgbClr val="40458B"/>
                </a:solidFill>
                <a:latin typeface="Calibri"/>
                <a:cs typeface="Calibri"/>
              </a:rPr>
              <a:t>RISC</a:t>
            </a:r>
            <a:r>
              <a:rPr dirty="0" sz="2800" spc="-25">
                <a:solidFill>
                  <a:srgbClr val="40458B"/>
                </a:solidFill>
                <a:latin typeface="Calibri"/>
                <a:cs typeface="Calibri"/>
              </a:rPr>
              <a:t> </a:t>
            </a:r>
            <a:r>
              <a:rPr dirty="0" sz="2800" spc="-35">
                <a:solidFill>
                  <a:srgbClr val="40458B"/>
                </a:solidFill>
                <a:latin typeface="黑体"/>
                <a:cs typeface="黑体"/>
              </a:rPr>
              <a:t>计算机</a:t>
            </a:r>
            <a:endParaRPr sz="2800">
              <a:latin typeface="黑体"/>
              <a:cs typeface="黑体"/>
            </a:endParaRPr>
          </a:p>
          <a:p>
            <a:pPr>
              <a:lnSpc>
                <a:spcPct val="100000"/>
              </a:lnSpc>
              <a:spcBef>
                <a:spcPts val="1115"/>
              </a:spcBef>
              <a:buClr>
                <a:srgbClr val="FF0000"/>
              </a:buClr>
              <a:buFont typeface="Wingdings"/>
              <a:buChar char=""/>
            </a:pPr>
            <a:endParaRPr sz="2800">
              <a:latin typeface="黑体"/>
              <a:cs typeface="黑体"/>
            </a:endParaRPr>
          </a:p>
          <a:p>
            <a:pPr marL="1201420">
              <a:lnSpc>
                <a:spcPct val="100000"/>
              </a:lnSpc>
            </a:pPr>
            <a:r>
              <a:rPr dirty="0" sz="2800">
                <a:solidFill>
                  <a:srgbClr val="FF0000"/>
                </a:solidFill>
                <a:latin typeface="黑体"/>
                <a:cs typeface="黑体"/>
              </a:rPr>
              <a:t>MIPS</a:t>
            </a:r>
            <a:r>
              <a:rPr dirty="0" sz="2800" spc="-30">
                <a:solidFill>
                  <a:srgbClr val="FF0000"/>
                </a:solidFill>
                <a:latin typeface="黑体"/>
                <a:cs typeface="黑体"/>
              </a:rPr>
              <a:t> </a:t>
            </a:r>
            <a:r>
              <a:rPr dirty="0" sz="2800">
                <a:solidFill>
                  <a:srgbClr val="FF0000"/>
                </a:solidFill>
                <a:latin typeface="黑体"/>
                <a:cs typeface="黑体"/>
              </a:rPr>
              <a:t>64</a:t>
            </a:r>
            <a:r>
              <a:rPr dirty="0" sz="2800" spc="-40">
                <a:solidFill>
                  <a:srgbClr val="FF0000"/>
                </a:solidFill>
                <a:latin typeface="黑体"/>
                <a:cs typeface="黑体"/>
              </a:rPr>
              <a:t> 寄存器特点</a:t>
            </a:r>
            <a:endParaRPr sz="2800">
              <a:latin typeface="黑体"/>
              <a:cs typeface="黑体"/>
            </a:endParaRPr>
          </a:p>
          <a:p>
            <a:pPr lvl="1" marL="1537335" indent="-335915">
              <a:lnSpc>
                <a:spcPct val="100000"/>
              </a:lnSpc>
              <a:spcBef>
                <a:spcPts val="1180"/>
              </a:spcBef>
              <a:buClr>
                <a:srgbClr val="40458B"/>
              </a:buClr>
              <a:buSzPct val="114285"/>
              <a:buFont typeface="Wingdings"/>
              <a:buChar char=""/>
              <a:tabLst>
                <a:tab pos="1537335" algn="l"/>
              </a:tabLst>
            </a:pPr>
            <a:r>
              <a:rPr dirty="0" sz="2800" spc="-20">
                <a:solidFill>
                  <a:srgbClr val="172152"/>
                </a:solidFill>
                <a:latin typeface="黑体"/>
                <a:cs typeface="黑体"/>
              </a:rPr>
              <a:t>32</a:t>
            </a:r>
            <a:r>
              <a:rPr dirty="0" sz="2800" spc="-35">
                <a:solidFill>
                  <a:srgbClr val="172152"/>
                </a:solidFill>
                <a:latin typeface="黑体"/>
                <a:cs typeface="黑体"/>
              </a:rPr>
              <a:t>个</a:t>
            </a:r>
            <a:r>
              <a:rPr dirty="0" sz="2800" spc="-25">
                <a:solidFill>
                  <a:srgbClr val="172152"/>
                </a:solidFill>
                <a:latin typeface="黑体"/>
                <a:cs typeface="黑体"/>
              </a:rPr>
              <a:t>64</a:t>
            </a:r>
            <a:r>
              <a:rPr dirty="0" sz="2800" spc="-35">
                <a:solidFill>
                  <a:srgbClr val="172152"/>
                </a:solidFill>
                <a:latin typeface="黑体"/>
                <a:cs typeface="黑体"/>
              </a:rPr>
              <a:t>位通用寄存器</a:t>
            </a:r>
            <a:r>
              <a:rPr dirty="0" sz="2800" spc="-10">
                <a:solidFill>
                  <a:srgbClr val="172152"/>
                </a:solidFill>
                <a:latin typeface="黑体"/>
                <a:cs typeface="黑体"/>
              </a:rPr>
              <a:t>（GPRs）</a:t>
            </a:r>
            <a:endParaRPr sz="2800">
              <a:latin typeface="黑体"/>
              <a:cs typeface="黑体"/>
            </a:endParaRPr>
          </a:p>
          <a:p>
            <a:pPr lvl="2" marL="2288540" indent="-457834">
              <a:lnSpc>
                <a:spcPct val="100000"/>
              </a:lnSpc>
              <a:spcBef>
                <a:spcPts val="1340"/>
              </a:spcBef>
              <a:buSzPct val="88636"/>
              <a:buFont typeface="Wingdings"/>
              <a:buChar char=""/>
              <a:tabLst>
                <a:tab pos="2288540" algn="l"/>
              </a:tabLst>
            </a:pPr>
            <a:r>
              <a:rPr dirty="0" sz="2200" spc="-10">
                <a:solidFill>
                  <a:srgbClr val="006FC0"/>
                </a:solidFill>
                <a:latin typeface="黑体"/>
                <a:cs typeface="黑体"/>
              </a:rPr>
              <a:t>R0，R1，</a:t>
            </a:r>
            <a:r>
              <a:rPr dirty="0" sz="2200" spc="-10">
                <a:solidFill>
                  <a:srgbClr val="006FC0"/>
                </a:solidFill>
                <a:latin typeface="Times New Roman"/>
                <a:cs typeface="Times New Roman"/>
              </a:rPr>
              <a:t>…</a:t>
            </a:r>
            <a:r>
              <a:rPr dirty="0" sz="2200" spc="-10">
                <a:solidFill>
                  <a:srgbClr val="006FC0"/>
                </a:solidFill>
                <a:latin typeface="黑体"/>
                <a:cs typeface="黑体"/>
              </a:rPr>
              <a:t>，R31</a:t>
            </a:r>
            <a:endParaRPr sz="2200">
              <a:latin typeface="黑体"/>
              <a:cs typeface="黑体"/>
            </a:endParaRPr>
          </a:p>
          <a:p>
            <a:pPr lvl="2" marL="2288540" indent="-457834">
              <a:lnSpc>
                <a:spcPct val="100000"/>
              </a:lnSpc>
              <a:spcBef>
                <a:spcPts val="1320"/>
              </a:spcBef>
              <a:buSzPct val="88636"/>
              <a:buFont typeface="Wingdings"/>
              <a:buChar char=""/>
              <a:tabLst>
                <a:tab pos="2288540" algn="l"/>
              </a:tabLst>
            </a:pPr>
            <a:r>
              <a:rPr dirty="0" sz="2200" spc="-35">
                <a:solidFill>
                  <a:srgbClr val="006FC0"/>
                </a:solidFill>
                <a:latin typeface="黑体"/>
                <a:cs typeface="黑体"/>
              </a:rPr>
              <a:t>也称为整数寄存器</a:t>
            </a:r>
            <a:endParaRPr sz="2200">
              <a:latin typeface="黑体"/>
              <a:cs typeface="黑体"/>
            </a:endParaRPr>
          </a:p>
          <a:p>
            <a:pPr lvl="2" marL="2288540" indent="-457834">
              <a:lnSpc>
                <a:spcPct val="100000"/>
              </a:lnSpc>
              <a:spcBef>
                <a:spcPts val="1325"/>
              </a:spcBef>
              <a:buSzPct val="88636"/>
              <a:buFont typeface="Wingdings"/>
              <a:buChar char=""/>
              <a:tabLst>
                <a:tab pos="2288540" algn="l"/>
              </a:tabLst>
            </a:pPr>
            <a:r>
              <a:rPr dirty="0" sz="2200" spc="-10">
                <a:solidFill>
                  <a:srgbClr val="006FC0"/>
                </a:solidFill>
                <a:latin typeface="黑体"/>
                <a:cs typeface="黑体"/>
              </a:rPr>
              <a:t>R0</a:t>
            </a:r>
            <a:r>
              <a:rPr dirty="0" sz="2200" spc="-30">
                <a:solidFill>
                  <a:srgbClr val="006FC0"/>
                </a:solidFill>
                <a:latin typeface="黑体"/>
                <a:cs typeface="黑体"/>
              </a:rPr>
              <a:t>的值永远是</a:t>
            </a:r>
            <a:r>
              <a:rPr dirty="0" sz="2200" spc="-50">
                <a:solidFill>
                  <a:srgbClr val="006FC0"/>
                </a:solidFill>
                <a:latin typeface="黑体"/>
                <a:cs typeface="黑体"/>
              </a:rPr>
              <a:t>0</a:t>
            </a:r>
            <a:endParaRPr sz="2200">
              <a:latin typeface="黑体"/>
              <a:cs typeface="黑体"/>
            </a:endParaRPr>
          </a:p>
          <a:p>
            <a:pPr lvl="1" marL="1537970" indent="-336550">
              <a:lnSpc>
                <a:spcPct val="100000"/>
              </a:lnSpc>
              <a:spcBef>
                <a:spcPts val="1060"/>
              </a:spcBef>
              <a:buClr>
                <a:srgbClr val="40458B"/>
              </a:buClr>
              <a:buSzPct val="114285"/>
              <a:buFont typeface="Wingdings"/>
              <a:buChar char=""/>
              <a:tabLst>
                <a:tab pos="1537970" algn="l"/>
              </a:tabLst>
            </a:pPr>
            <a:r>
              <a:rPr dirty="0" sz="2800" spc="-10">
                <a:solidFill>
                  <a:srgbClr val="172152"/>
                </a:solidFill>
                <a:latin typeface="黑体"/>
                <a:cs typeface="黑体"/>
              </a:rPr>
              <a:t>32</a:t>
            </a:r>
            <a:r>
              <a:rPr dirty="0" sz="2800" spc="-35">
                <a:solidFill>
                  <a:srgbClr val="172152"/>
                </a:solidFill>
                <a:latin typeface="黑体"/>
                <a:cs typeface="黑体"/>
              </a:rPr>
              <a:t>个</a:t>
            </a:r>
            <a:r>
              <a:rPr dirty="0" sz="2800" spc="-25">
                <a:solidFill>
                  <a:srgbClr val="172152"/>
                </a:solidFill>
                <a:latin typeface="黑体"/>
                <a:cs typeface="黑体"/>
              </a:rPr>
              <a:t>64</a:t>
            </a:r>
            <a:r>
              <a:rPr dirty="0" sz="2800" spc="-35">
                <a:solidFill>
                  <a:srgbClr val="172152"/>
                </a:solidFill>
                <a:latin typeface="黑体"/>
                <a:cs typeface="黑体"/>
              </a:rPr>
              <a:t>位浮点数寄存器</a:t>
            </a:r>
            <a:r>
              <a:rPr dirty="0" sz="2800" spc="-10">
                <a:solidFill>
                  <a:srgbClr val="172152"/>
                </a:solidFill>
                <a:latin typeface="黑体"/>
                <a:cs typeface="黑体"/>
              </a:rPr>
              <a:t>（FPRs）</a:t>
            </a:r>
            <a:endParaRPr sz="2800">
              <a:latin typeface="黑体"/>
              <a:cs typeface="黑体"/>
            </a:endParaRPr>
          </a:p>
          <a:p>
            <a:pPr lvl="2" marL="2288540" indent="-457834">
              <a:lnSpc>
                <a:spcPct val="100000"/>
              </a:lnSpc>
              <a:spcBef>
                <a:spcPts val="1340"/>
              </a:spcBef>
              <a:buSzPct val="88636"/>
              <a:buFont typeface="Wingdings"/>
              <a:buChar char=""/>
              <a:tabLst>
                <a:tab pos="2288540" algn="l"/>
              </a:tabLst>
            </a:pPr>
            <a:r>
              <a:rPr dirty="0" sz="2200" spc="-10">
                <a:solidFill>
                  <a:srgbClr val="006FC0"/>
                </a:solidFill>
                <a:latin typeface="黑体"/>
                <a:cs typeface="黑体"/>
              </a:rPr>
              <a:t>F0，F1，</a:t>
            </a:r>
            <a:r>
              <a:rPr dirty="0" sz="2200" spc="-10">
                <a:solidFill>
                  <a:srgbClr val="006FC0"/>
                </a:solidFill>
                <a:latin typeface="Times New Roman"/>
                <a:cs typeface="Times New Roman"/>
              </a:rPr>
              <a:t>…</a:t>
            </a:r>
            <a:r>
              <a:rPr dirty="0" sz="2200" spc="-10">
                <a:solidFill>
                  <a:srgbClr val="006FC0"/>
                </a:solidFill>
                <a:latin typeface="黑体"/>
                <a:cs typeface="黑体"/>
              </a:rPr>
              <a:t>，F31</a:t>
            </a:r>
            <a:endParaRPr sz="2200">
              <a:latin typeface="黑体"/>
              <a:cs typeface="黑体"/>
            </a:endParaRPr>
          </a:p>
        </p:txBody>
      </p:sp>
      <p:sp>
        <p:nvSpPr>
          <p:cNvPr id="9" name="object 9"/>
          <p:cNvSpPr txBox="1">
            <a:spLocks noGrp="1"/>
          </p:cNvSpPr>
          <p:nvPr>
            <p:ph type="title"/>
          </p:nvPr>
        </p:nvSpPr>
        <p:spPr>
          <a:xfrm>
            <a:off x="2861817" y="191846"/>
            <a:ext cx="3241675" cy="452120"/>
          </a:xfrm>
          <a:prstGeom prst="rect"/>
        </p:spPr>
        <p:txBody>
          <a:bodyPr wrap="square" lIns="0" tIns="12065" rIns="0" bIns="0" rtlCol="0" vert="horz">
            <a:spAutoFit/>
          </a:bodyPr>
          <a:lstStyle/>
          <a:p>
            <a:pPr marL="12700">
              <a:lnSpc>
                <a:spcPct val="100000"/>
              </a:lnSpc>
              <a:spcBef>
                <a:spcPts val="95"/>
              </a:spcBef>
            </a:pPr>
            <a:r>
              <a:rPr dirty="0" u="none" sz="2800"/>
              <a:t>2.6.1</a:t>
            </a:r>
            <a:r>
              <a:rPr dirty="0" u="none" sz="2800" spc="-10"/>
              <a:t> </a:t>
            </a:r>
            <a:r>
              <a:rPr dirty="0" u="none" sz="2800"/>
              <a:t>MIPS</a:t>
            </a:r>
            <a:r>
              <a:rPr dirty="0" u="none" sz="2800" spc="-45">
                <a:latin typeface="微软雅黑"/>
                <a:cs typeface="微软雅黑"/>
              </a:rPr>
              <a:t>的寄存器</a:t>
            </a:r>
            <a:endParaRPr sz="2800">
              <a:latin typeface="微软雅黑"/>
              <a:cs typeface="微软雅黑"/>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t>	2.6.1</a:t>
            </a:r>
            <a:r>
              <a:rPr dirty="0" spc="-40"/>
              <a:t> </a:t>
            </a:r>
            <a:r>
              <a:rPr dirty="0"/>
              <a:t>MIPS</a:t>
            </a:r>
            <a:r>
              <a:rPr dirty="0" spc="-10">
                <a:latin typeface="微软雅黑"/>
                <a:cs typeface="微软雅黑"/>
              </a:rPr>
              <a:t>的寄存</a:t>
            </a:r>
            <a:r>
              <a:rPr dirty="0" spc="-50">
                <a:latin typeface="微软雅黑"/>
                <a:cs typeface="微软雅黑"/>
              </a:rPr>
              <a:t>器</a:t>
            </a:r>
            <a:r>
              <a:rPr dirty="0">
                <a:latin typeface="微软雅黑"/>
                <a:cs typeface="微软雅黑"/>
              </a:rPr>
              <a:t>	</a:t>
            </a:r>
          </a:p>
        </p:txBody>
      </p:sp>
      <p:pic>
        <p:nvPicPr>
          <p:cNvPr id="4" name="object 4" descr=""/>
          <p:cNvPicPr/>
          <p:nvPr/>
        </p:nvPicPr>
        <p:blipFill>
          <a:blip r:embed="rId2" cstate="print"/>
          <a:stretch>
            <a:fillRect/>
          </a:stretch>
        </p:blipFill>
        <p:spPr>
          <a:xfrm>
            <a:off x="5853148" y="4494021"/>
            <a:ext cx="219075" cy="231775"/>
          </a:xfrm>
          <a:prstGeom prst="rect">
            <a:avLst/>
          </a:prstGeom>
        </p:spPr>
      </p:pic>
      <p:sp>
        <p:nvSpPr>
          <p:cNvPr id="5" name="object 5" descr=""/>
          <p:cNvSpPr txBox="1"/>
          <p:nvPr/>
        </p:nvSpPr>
        <p:spPr>
          <a:xfrm>
            <a:off x="1710944" y="987235"/>
            <a:ext cx="9497695" cy="4291330"/>
          </a:xfrm>
          <a:prstGeom prst="rect">
            <a:avLst/>
          </a:prstGeom>
        </p:spPr>
        <p:txBody>
          <a:bodyPr wrap="square" lIns="0" tIns="245110" rIns="0" bIns="0" rtlCol="0" vert="horz">
            <a:spAutoFit/>
          </a:bodyPr>
          <a:lstStyle/>
          <a:p>
            <a:pPr marL="469265" indent="-456565">
              <a:lnSpc>
                <a:spcPct val="100000"/>
              </a:lnSpc>
              <a:spcBef>
                <a:spcPts val="1930"/>
              </a:spcBef>
              <a:buClr>
                <a:srgbClr val="40458B"/>
              </a:buClr>
              <a:buSzPct val="117857"/>
              <a:buFont typeface="Wingdings"/>
              <a:buChar char=""/>
              <a:tabLst>
                <a:tab pos="469265" algn="l"/>
              </a:tabLst>
            </a:pPr>
            <a:r>
              <a:rPr dirty="0" sz="2800" spc="-10">
                <a:solidFill>
                  <a:srgbClr val="172152"/>
                </a:solidFill>
                <a:latin typeface="黑体"/>
                <a:cs typeface="黑体"/>
              </a:rPr>
              <a:t>32</a:t>
            </a:r>
            <a:r>
              <a:rPr dirty="0" sz="2800" spc="-35">
                <a:solidFill>
                  <a:srgbClr val="172152"/>
                </a:solidFill>
                <a:latin typeface="黑体"/>
                <a:cs typeface="黑体"/>
              </a:rPr>
              <a:t>个</a:t>
            </a:r>
            <a:r>
              <a:rPr dirty="0" sz="2800" spc="-25">
                <a:solidFill>
                  <a:srgbClr val="172152"/>
                </a:solidFill>
                <a:latin typeface="黑体"/>
                <a:cs typeface="黑体"/>
              </a:rPr>
              <a:t>64</a:t>
            </a:r>
            <a:r>
              <a:rPr dirty="0" sz="2800" spc="-35">
                <a:solidFill>
                  <a:srgbClr val="172152"/>
                </a:solidFill>
                <a:latin typeface="黑体"/>
                <a:cs typeface="黑体"/>
              </a:rPr>
              <a:t>位浮点数寄存器</a:t>
            </a:r>
            <a:r>
              <a:rPr dirty="0" sz="2800" spc="-10">
                <a:solidFill>
                  <a:srgbClr val="172152"/>
                </a:solidFill>
                <a:latin typeface="黑体"/>
                <a:cs typeface="黑体"/>
              </a:rPr>
              <a:t>（FPRs）</a:t>
            </a:r>
            <a:endParaRPr sz="2800">
              <a:latin typeface="黑体"/>
              <a:cs typeface="黑体"/>
            </a:endParaRPr>
          </a:p>
          <a:p>
            <a:pPr lvl="1" marL="1099185" indent="-457200">
              <a:lnSpc>
                <a:spcPct val="100000"/>
              </a:lnSpc>
              <a:spcBef>
                <a:spcPts val="1440"/>
              </a:spcBef>
              <a:buSzPct val="88636"/>
              <a:buFont typeface="Wingdings"/>
              <a:buChar char=""/>
              <a:tabLst>
                <a:tab pos="1099185" algn="l"/>
              </a:tabLst>
            </a:pPr>
            <a:r>
              <a:rPr dirty="0" sz="2200" spc="-10">
                <a:solidFill>
                  <a:srgbClr val="006FC0"/>
                </a:solidFill>
                <a:latin typeface="黑体"/>
                <a:cs typeface="黑体"/>
              </a:rPr>
              <a:t>F0，F1，</a:t>
            </a:r>
            <a:r>
              <a:rPr dirty="0" sz="2200" spc="-10">
                <a:solidFill>
                  <a:srgbClr val="006FC0"/>
                </a:solidFill>
                <a:latin typeface="Times New Roman"/>
                <a:cs typeface="Times New Roman"/>
              </a:rPr>
              <a:t>…</a:t>
            </a:r>
            <a:r>
              <a:rPr dirty="0" sz="2200" spc="-10">
                <a:solidFill>
                  <a:srgbClr val="006FC0"/>
                </a:solidFill>
                <a:latin typeface="黑体"/>
                <a:cs typeface="黑体"/>
              </a:rPr>
              <a:t>，F31</a:t>
            </a:r>
            <a:endParaRPr sz="2200">
              <a:latin typeface="黑体"/>
              <a:cs typeface="黑体"/>
            </a:endParaRPr>
          </a:p>
          <a:p>
            <a:pPr lvl="1" marL="1099185" marR="5080" indent="-457200">
              <a:lnSpc>
                <a:spcPct val="130000"/>
              </a:lnSpc>
              <a:spcBef>
                <a:spcPts val="530"/>
              </a:spcBef>
              <a:buSzPct val="88636"/>
              <a:buFont typeface="Wingdings"/>
              <a:buChar char=""/>
              <a:tabLst>
                <a:tab pos="1099185" algn="l"/>
              </a:tabLst>
            </a:pPr>
            <a:r>
              <a:rPr dirty="0" sz="2200" spc="-25">
                <a:solidFill>
                  <a:srgbClr val="006FC0"/>
                </a:solidFill>
                <a:latin typeface="黑体"/>
                <a:cs typeface="黑体"/>
              </a:rPr>
              <a:t>用来存放</a:t>
            </a:r>
            <a:r>
              <a:rPr dirty="0" sz="2200" spc="-20">
                <a:solidFill>
                  <a:srgbClr val="006FC0"/>
                </a:solidFill>
                <a:latin typeface="黑体"/>
                <a:cs typeface="黑体"/>
              </a:rPr>
              <a:t>32</a:t>
            </a:r>
            <a:r>
              <a:rPr dirty="0" sz="2200" spc="-30">
                <a:solidFill>
                  <a:srgbClr val="006FC0"/>
                </a:solidFill>
                <a:latin typeface="黑体"/>
                <a:cs typeface="黑体"/>
              </a:rPr>
              <a:t>个单精度浮点数</a:t>
            </a:r>
            <a:r>
              <a:rPr dirty="0" sz="2200" spc="-10">
                <a:solidFill>
                  <a:srgbClr val="006FC0"/>
                </a:solidFill>
                <a:latin typeface="黑体"/>
                <a:cs typeface="黑体"/>
              </a:rPr>
              <a:t>（32</a:t>
            </a:r>
            <a:r>
              <a:rPr dirty="0" sz="2200" spc="-30">
                <a:solidFill>
                  <a:srgbClr val="006FC0"/>
                </a:solidFill>
                <a:latin typeface="黑体"/>
                <a:cs typeface="黑体"/>
              </a:rPr>
              <a:t>位</a:t>
            </a:r>
            <a:r>
              <a:rPr dirty="0" sz="2200" spc="-25">
                <a:solidFill>
                  <a:srgbClr val="006FC0"/>
                </a:solidFill>
                <a:latin typeface="黑体"/>
                <a:cs typeface="黑体"/>
              </a:rPr>
              <a:t>）</a:t>
            </a:r>
            <a:r>
              <a:rPr dirty="0" sz="2200" spc="-30">
                <a:solidFill>
                  <a:srgbClr val="006FC0"/>
                </a:solidFill>
                <a:latin typeface="黑体"/>
                <a:cs typeface="黑体"/>
              </a:rPr>
              <a:t>，也可以用来存放</a:t>
            </a:r>
            <a:r>
              <a:rPr dirty="0" sz="2200" spc="-20">
                <a:solidFill>
                  <a:srgbClr val="40458B"/>
                </a:solidFill>
                <a:latin typeface="黑体"/>
                <a:cs typeface="黑体"/>
              </a:rPr>
              <a:t>32个</a:t>
            </a:r>
            <a:r>
              <a:rPr dirty="0" sz="2200" spc="-35">
                <a:solidFill>
                  <a:srgbClr val="006FC0"/>
                </a:solidFill>
                <a:latin typeface="黑体"/>
                <a:cs typeface="黑体"/>
              </a:rPr>
              <a:t>双精度浮</a:t>
            </a:r>
            <a:r>
              <a:rPr dirty="0" sz="2200" spc="-30">
                <a:solidFill>
                  <a:srgbClr val="006FC0"/>
                </a:solidFill>
                <a:latin typeface="黑体"/>
                <a:cs typeface="黑体"/>
              </a:rPr>
              <a:t>点数</a:t>
            </a:r>
            <a:r>
              <a:rPr dirty="0" sz="2200" spc="-20">
                <a:solidFill>
                  <a:srgbClr val="006FC0"/>
                </a:solidFill>
                <a:latin typeface="黑体"/>
                <a:cs typeface="黑体"/>
              </a:rPr>
              <a:t>（64</a:t>
            </a:r>
            <a:r>
              <a:rPr dirty="0" sz="2200" spc="-30">
                <a:solidFill>
                  <a:srgbClr val="006FC0"/>
                </a:solidFill>
                <a:latin typeface="黑体"/>
                <a:cs typeface="黑体"/>
              </a:rPr>
              <a:t>位</a:t>
            </a:r>
            <a:r>
              <a:rPr dirty="0" sz="2200" spc="-25">
                <a:solidFill>
                  <a:srgbClr val="006FC0"/>
                </a:solidFill>
                <a:latin typeface="黑体"/>
                <a:cs typeface="黑体"/>
              </a:rPr>
              <a:t>）</a:t>
            </a:r>
            <a:r>
              <a:rPr dirty="0" sz="2200" spc="-50">
                <a:solidFill>
                  <a:srgbClr val="006FC0"/>
                </a:solidFill>
                <a:latin typeface="黑体"/>
                <a:cs typeface="黑体"/>
              </a:rPr>
              <a:t>。</a:t>
            </a:r>
            <a:endParaRPr sz="2200">
              <a:latin typeface="黑体"/>
              <a:cs typeface="黑体"/>
            </a:endParaRPr>
          </a:p>
          <a:p>
            <a:pPr lvl="1" marL="1099185" indent="-457200">
              <a:lnSpc>
                <a:spcPct val="100000"/>
              </a:lnSpc>
              <a:spcBef>
                <a:spcPts val="1320"/>
              </a:spcBef>
              <a:buSzPct val="88636"/>
              <a:buFont typeface="Wingdings"/>
              <a:buChar char=""/>
              <a:tabLst>
                <a:tab pos="1099185" algn="l"/>
              </a:tabLst>
            </a:pPr>
            <a:r>
              <a:rPr dirty="0" sz="2200" spc="-30">
                <a:solidFill>
                  <a:srgbClr val="006FC0"/>
                </a:solidFill>
                <a:latin typeface="黑体"/>
                <a:cs typeface="黑体"/>
              </a:rPr>
              <a:t>存储单精度浮点数</a:t>
            </a:r>
            <a:r>
              <a:rPr dirty="0" sz="2200" spc="-20">
                <a:solidFill>
                  <a:srgbClr val="006FC0"/>
                </a:solidFill>
                <a:latin typeface="黑体"/>
                <a:cs typeface="黑体"/>
              </a:rPr>
              <a:t>（32</a:t>
            </a:r>
            <a:r>
              <a:rPr dirty="0" sz="2200" spc="-25">
                <a:solidFill>
                  <a:srgbClr val="006FC0"/>
                </a:solidFill>
                <a:latin typeface="黑体"/>
                <a:cs typeface="黑体"/>
              </a:rPr>
              <a:t>位</a:t>
            </a:r>
            <a:r>
              <a:rPr dirty="0" sz="2200" spc="-30">
                <a:solidFill>
                  <a:srgbClr val="006FC0"/>
                </a:solidFill>
                <a:latin typeface="黑体"/>
                <a:cs typeface="黑体"/>
              </a:rPr>
              <a:t>）时，</a:t>
            </a:r>
            <a:r>
              <a:rPr dirty="0" sz="2200" spc="-30">
                <a:solidFill>
                  <a:srgbClr val="FF0000"/>
                </a:solidFill>
                <a:latin typeface="黑体"/>
                <a:cs typeface="黑体"/>
              </a:rPr>
              <a:t>只用到</a:t>
            </a:r>
            <a:r>
              <a:rPr dirty="0" sz="2200" spc="-20">
                <a:solidFill>
                  <a:srgbClr val="FF0000"/>
                </a:solidFill>
                <a:latin typeface="黑体"/>
                <a:cs typeface="黑体"/>
              </a:rPr>
              <a:t>FPR</a:t>
            </a:r>
            <a:r>
              <a:rPr dirty="0" sz="2200" spc="-30">
                <a:solidFill>
                  <a:srgbClr val="FF0000"/>
                </a:solidFill>
                <a:latin typeface="黑体"/>
                <a:cs typeface="黑体"/>
              </a:rPr>
              <a:t>的一半</a:t>
            </a:r>
            <a:r>
              <a:rPr dirty="0" sz="2200" spc="-35">
                <a:solidFill>
                  <a:srgbClr val="006FC0"/>
                </a:solidFill>
                <a:latin typeface="黑体"/>
                <a:cs typeface="黑体"/>
              </a:rPr>
              <a:t>，其另一半没用。</a:t>
            </a:r>
            <a:endParaRPr sz="2200">
              <a:latin typeface="黑体"/>
              <a:cs typeface="黑体"/>
            </a:endParaRPr>
          </a:p>
          <a:p>
            <a:pPr marL="354965" indent="-346075">
              <a:lnSpc>
                <a:spcPct val="100000"/>
              </a:lnSpc>
              <a:spcBef>
                <a:spcPts val="1060"/>
              </a:spcBef>
              <a:buClr>
                <a:srgbClr val="40458B"/>
              </a:buClr>
              <a:buSzPct val="117857"/>
              <a:buFont typeface="Wingdings"/>
              <a:buChar char=""/>
              <a:tabLst>
                <a:tab pos="354965" algn="l"/>
              </a:tabLst>
            </a:pPr>
            <a:r>
              <a:rPr dirty="0" sz="2800" spc="-40">
                <a:solidFill>
                  <a:srgbClr val="172152"/>
                </a:solidFill>
                <a:latin typeface="黑体"/>
                <a:cs typeface="黑体"/>
              </a:rPr>
              <a:t>一些特殊寄存器</a:t>
            </a:r>
            <a:endParaRPr sz="2800">
              <a:latin typeface="黑体"/>
              <a:cs typeface="黑体"/>
            </a:endParaRPr>
          </a:p>
          <a:p>
            <a:pPr lvl="1" marL="1099185" indent="-457200">
              <a:lnSpc>
                <a:spcPct val="100000"/>
              </a:lnSpc>
              <a:spcBef>
                <a:spcPts val="1340"/>
              </a:spcBef>
              <a:buSzPct val="88636"/>
              <a:buFont typeface="Wingdings"/>
              <a:buChar char=""/>
              <a:tabLst>
                <a:tab pos="1099185" algn="l"/>
                <a:tab pos="4392295" algn="l"/>
              </a:tabLst>
            </a:pPr>
            <a:r>
              <a:rPr dirty="0" sz="2200">
                <a:solidFill>
                  <a:srgbClr val="006FC0"/>
                </a:solidFill>
                <a:latin typeface="Tahoma"/>
                <a:cs typeface="Tahoma"/>
              </a:rPr>
              <a:t>R0:</a:t>
            </a:r>
            <a:r>
              <a:rPr dirty="0" sz="2200" spc="-20">
                <a:solidFill>
                  <a:srgbClr val="006FC0"/>
                </a:solidFill>
                <a:latin typeface="黑体"/>
                <a:cs typeface="黑体"/>
              </a:rPr>
              <a:t>恒为</a:t>
            </a:r>
            <a:r>
              <a:rPr dirty="0" sz="2200" spc="-20">
                <a:solidFill>
                  <a:srgbClr val="006FC0"/>
                </a:solidFill>
                <a:latin typeface="Tahoma"/>
                <a:cs typeface="Tahoma"/>
              </a:rPr>
              <a:t>0</a:t>
            </a:r>
            <a:r>
              <a:rPr dirty="0" sz="2200" spc="-20">
                <a:solidFill>
                  <a:srgbClr val="006FC0"/>
                </a:solidFill>
                <a:latin typeface="黑体"/>
                <a:cs typeface="黑体"/>
              </a:rPr>
              <a:t>；</a:t>
            </a:r>
            <a:r>
              <a:rPr dirty="0" sz="2200" spc="-20">
                <a:solidFill>
                  <a:srgbClr val="006FC0"/>
                </a:solidFill>
                <a:latin typeface="Tahoma"/>
                <a:cs typeface="Tahoma"/>
              </a:rPr>
              <a:t>R31</a:t>
            </a:r>
            <a:r>
              <a:rPr dirty="0" sz="2200" spc="-20">
                <a:solidFill>
                  <a:srgbClr val="006FC0"/>
                </a:solidFill>
                <a:latin typeface="黑体"/>
                <a:cs typeface="黑体"/>
              </a:rPr>
              <a:t>：</a:t>
            </a:r>
            <a:r>
              <a:rPr dirty="0" sz="2200" spc="-30">
                <a:solidFill>
                  <a:srgbClr val="006FC0"/>
                </a:solidFill>
                <a:latin typeface="黑体"/>
                <a:cs typeface="黑体"/>
              </a:rPr>
              <a:t>存</a:t>
            </a:r>
            <a:r>
              <a:rPr dirty="0" sz="2200" spc="-25">
                <a:solidFill>
                  <a:srgbClr val="006FC0"/>
                </a:solidFill>
                <a:latin typeface="黑体"/>
                <a:cs typeface="黑体"/>
              </a:rPr>
              <a:t>放</a:t>
            </a:r>
            <a:r>
              <a:rPr dirty="0" sz="2200" spc="-50">
                <a:solidFill>
                  <a:srgbClr val="006FC0"/>
                </a:solidFill>
                <a:latin typeface="黑体"/>
                <a:cs typeface="黑体"/>
              </a:rPr>
              <a:t>返</a:t>
            </a:r>
            <a:r>
              <a:rPr dirty="0" sz="2200">
                <a:solidFill>
                  <a:srgbClr val="006FC0"/>
                </a:solidFill>
                <a:latin typeface="黑体"/>
                <a:cs typeface="黑体"/>
              </a:rPr>
              <a:t>	</a:t>
            </a:r>
            <a:r>
              <a:rPr dirty="0" sz="2200" spc="-25">
                <a:solidFill>
                  <a:srgbClr val="006FC0"/>
                </a:solidFill>
                <a:latin typeface="黑体"/>
                <a:cs typeface="黑体"/>
              </a:rPr>
              <a:t>地</a:t>
            </a:r>
            <a:r>
              <a:rPr dirty="0" sz="2200" spc="-30">
                <a:solidFill>
                  <a:srgbClr val="006FC0"/>
                </a:solidFill>
                <a:latin typeface="黑体"/>
                <a:cs typeface="黑体"/>
              </a:rPr>
              <a:t>址</a:t>
            </a:r>
            <a:r>
              <a:rPr dirty="0" sz="2200" spc="-50">
                <a:solidFill>
                  <a:srgbClr val="006FC0"/>
                </a:solidFill>
                <a:latin typeface="黑体"/>
                <a:cs typeface="黑体"/>
              </a:rPr>
              <a:t>。</a:t>
            </a:r>
            <a:endParaRPr sz="2200">
              <a:latin typeface="黑体"/>
              <a:cs typeface="黑体"/>
            </a:endParaRPr>
          </a:p>
          <a:p>
            <a:pPr lvl="1" marL="1099185" indent="-457200">
              <a:lnSpc>
                <a:spcPct val="100000"/>
              </a:lnSpc>
              <a:spcBef>
                <a:spcPts val="1325"/>
              </a:spcBef>
              <a:buSzPct val="88636"/>
              <a:buFont typeface="Wingdings"/>
              <a:buChar char=""/>
              <a:tabLst>
                <a:tab pos="1099185" algn="l"/>
              </a:tabLst>
            </a:pPr>
            <a:r>
              <a:rPr dirty="0" sz="2200" spc="-35">
                <a:solidFill>
                  <a:srgbClr val="006FC0"/>
                </a:solidFill>
                <a:latin typeface="黑体"/>
                <a:cs typeface="黑体"/>
              </a:rPr>
              <a:t>例如浮点状态寄存器：用来保存有关浮点操作结果的信息。</a:t>
            </a:r>
            <a:endParaRPr sz="2200">
              <a:latin typeface="黑体"/>
              <a:cs typeface="黑体"/>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t>	2.6.2</a:t>
            </a:r>
            <a:r>
              <a:rPr dirty="0" spc="-55"/>
              <a:t> </a:t>
            </a:r>
            <a:r>
              <a:rPr dirty="0"/>
              <a:t>MIPS</a:t>
            </a:r>
            <a:r>
              <a:rPr dirty="0">
                <a:latin typeface="微软雅黑"/>
                <a:cs typeface="微软雅黑"/>
              </a:rPr>
              <a:t>的数据</a:t>
            </a:r>
            <a:r>
              <a:rPr dirty="0" spc="-25">
                <a:latin typeface="微软雅黑"/>
                <a:cs typeface="微软雅黑"/>
              </a:rPr>
              <a:t>表</a:t>
            </a:r>
            <a:r>
              <a:rPr dirty="0" spc="-50">
                <a:latin typeface="微软雅黑"/>
                <a:cs typeface="微软雅黑"/>
              </a:rPr>
              <a:t>示</a:t>
            </a:r>
            <a:r>
              <a:rPr dirty="0">
                <a:latin typeface="微软雅黑"/>
                <a:cs typeface="微软雅黑"/>
              </a:rPr>
              <a:t>	</a:t>
            </a:r>
          </a:p>
        </p:txBody>
      </p:sp>
      <p:sp>
        <p:nvSpPr>
          <p:cNvPr id="4" name="object 4" descr=""/>
          <p:cNvSpPr txBox="1"/>
          <p:nvPr/>
        </p:nvSpPr>
        <p:spPr>
          <a:xfrm>
            <a:off x="1034592" y="782902"/>
            <a:ext cx="2971165" cy="1120775"/>
          </a:xfrm>
          <a:prstGeom prst="rect">
            <a:avLst/>
          </a:prstGeom>
        </p:spPr>
        <p:txBody>
          <a:bodyPr wrap="square" lIns="0" tIns="199390" rIns="0" bIns="0" rtlCol="0" vert="horz">
            <a:spAutoFit/>
          </a:bodyPr>
          <a:lstStyle/>
          <a:p>
            <a:pPr marL="469265" indent="-456565">
              <a:lnSpc>
                <a:spcPct val="100000"/>
              </a:lnSpc>
              <a:spcBef>
                <a:spcPts val="1570"/>
              </a:spcBef>
              <a:buSzPct val="117857"/>
              <a:buFont typeface="Wingdings"/>
              <a:buChar char=""/>
              <a:tabLst>
                <a:tab pos="469265" algn="l"/>
              </a:tabLst>
            </a:pPr>
            <a:r>
              <a:rPr dirty="0" sz="2800" spc="-20">
                <a:solidFill>
                  <a:srgbClr val="40458B"/>
                </a:solidFill>
                <a:latin typeface="黑体"/>
                <a:cs typeface="黑体"/>
              </a:rPr>
              <a:t>MIPS</a:t>
            </a:r>
            <a:r>
              <a:rPr dirty="0" sz="2800" spc="-40">
                <a:solidFill>
                  <a:srgbClr val="40458B"/>
                </a:solidFill>
                <a:latin typeface="黑体"/>
                <a:cs typeface="黑体"/>
              </a:rPr>
              <a:t>的数据表示</a:t>
            </a:r>
            <a:endParaRPr sz="2800">
              <a:latin typeface="黑体"/>
              <a:cs typeface="黑体"/>
            </a:endParaRPr>
          </a:p>
          <a:p>
            <a:pPr lvl="1" marL="1099185" indent="-457200">
              <a:lnSpc>
                <a:spcPct val="100000"/>
              </a:lnSpc>
              <a:spcBef>
                <a:spcPts val="1155"/>
              </a:spcBef>
              <a:buSzPct val="88636"/>
              <a:buFont typeface="Wingdings"/>
              <a:buChar char=""/>
              <a:tabLst>
                <a:tab pos="1099185" algn="l"/>
              </a:tabLst>
            </a:pPr>
            <a:r>
              <a:rPr dirty="0" sz="2200" spc="-35">
                <a:solidFill>
                  <a:srgbClr val="006FC0"/>
                </a:solidFill>
                <a:latin typeface="黑体"/>
                <a:cs typeface="黑体"/>
              </a:rPr>
              <a:t>整数</a:t>
            </a:r>
            <a:endParaRPr sz="2200">
              <a:latin typeface="黑体"/>
              <a:cs typeface="黑体"/>
            </a:endParaRPr>
          </a:p>
        </p:txBody>
      </p:sp>
      <p:sp>
        <p:nvSpPr>
          <p:cNvPr id="5" name="object 5" descr=""/>
          <p:cNvSpPr txBox="1"/>
          <p:nvPr/>
        </p:nvSpPr>
        <p:spPr>
          <a:xfrm>
            <a:off x="3764407" y="1882495"/>
            <a:ext cx="1566545" cy="878840"/>
          </a:xfrm>
          <a:prstGeom prst="rect">
            <a:avLst/>
          </a:prstGeom>
        </p:spPr>
        <p:txBody>
          <a:bodyPr wrap="square" lIns="0" tIns="12700" rIns="0" bIns="0" rtlCol="0" vert="horz">
            <a:spAutoFit/>
          </a:bodyPr>
          <a:lstStyle/>
          <a:p>
            <a:pPr marL="15240" marR="5080" indent="-3175">
              <a:lnSpc>
                <a:spcPct val="140000"/>
              </a:lnSpc>
              <a:spcBef>
                <a:spcPts val="100"/>
              </a:spcBef>
            </a:pPr>
            <a:r>
              <a:rPr dirty="0" sz="2000" b="1">
                <a:solidFill>
                  <a:srgbClr val="6F2F9F"/>
                </a:solidFill>
                <a:latin typeface="黑体"/>
                <a:cs typeface="黑体"/>
              </a:rPr>
              <a:t>半字</a:t>
            </a:r>
            <a:r>
              <a:rPr dirty="0" sz="2000" spc="-10" b="1">
                <a:solidFill>
                  <a:srgbClr val="6F2F9F"/>
                </a:solidFill>
                <a:latin typeface="黑体"/>
                <a:cs typeface="黑体"/>
              </a:rPr>
              <a:t>（</a:t>
            </a:r>
            <a:r>
              <a:rPr dirty="0" sz="2000" spc="-10" b="1">
                <a:solidFill>
                  <a:srgbClr val="9933FF"/>
                </a:solidFill>
                <a:latin typeface="宋体"/>
                <a:cs typeface="宋体"/>
              </a:rPr>
              <a:t>16</a:t>
            </a:r>
            <a:r>
              <a:rPr dirty="0" sz="2000" spc="-10" b="1">
                <a:solidFill>
                  <a:srgbClr val="9933FF"/>
                </a:solidFill>
                <a:latin typeface="黑体"/>
                <a:cs typeface="黑体"/>
              </a:rPr>
              <a:t>位</a:t>
            </a:r>
            <a:r>
              <a:rPr dirty="0" sz="2000" spc="-50" b="1">
                <a:solidFill>
                  <a:srgbClr val="6F2F9F"/>
                </a:solidFill>
                <a:latin typeface="黑体"/>
                <a:cs typeface="黑体"/>
              </a:rPr>
              <a:t>）</a:t>
            </a:r>
            <a:r>
              <a:rPr dirty="0" sz="2000" spc="-5" b="1">
                <a:solidFill>
                  <a:srgbClr val="6F2F9F"/>
                </a:solidFill>
                <a:latin typeface="黑体"/>
                <a:cs typeface="黑体"/>
              </a:rPr>
              <a:t>双字</a:t>
            </a:r>
            <a:r>
              <a:rPr dirty="0" sz="2000" spc="-10" b="1">
                <a:solidFill>
                  <a:srgbClr val="6F2F9F"/>
                </a:solidFill>
                <a:latin typeface="黑体"/>
                <a:cs typeface="黑体"/>
              </a:rPr>
              <a:t>（</a:t>
            </a:r>
            <a:r>
              <a:rPr dirty="0" sz="2000" spc="-10" b="1">
                <a:solidFill>
                  <a:srgbClr val="9933FF"/>
                </a:solidFill>
                <a:latin typeface="宋体"/>
                <a:cs typeface="宋体"/>
              </a:rPr>
              <a:t>64</a:t>
            </a:r>
            <a:r>
              <a:rPr dirty="0" sz="2000" spc="-10" b="1">
                <a:solidFill>
                  <a:srgbClr val="9933FF"/>
                </a:solidFill>
                <a:latin typeface="黑体"/>
                <a:cs typeface="黑体"/>
              </a:rPr>
              <a:t>位</a:t>
            </a:r>
            <a:r>
              <a:rPr dirty="0" sz="2000" spc="-50" b="1">
                <a:solidFill>
                  <a:srgbClr val="6F2F9F"/>
                </a:solidFill>
                <a:latin typeface="黑体"/>
                <a:cs typeface="黑体"/>
              </a:rPr>
              <a:t>）</a:t>
            </a:r>
            <a:endParaRPr sz="2000">
              <a:latin typeface="黑体"/>
              <a:cs typeface="黑体"/>
            </a:endParaRPr>
          </a:p>
        </p:txBody>
      </p:sp>
      <p:sp>
        <p:nvSpPr>
          <p:cNvPr id="6" name="object 6" descr=""/>
          <p:cNvSpPr txBox="1"/>
          <p:nvPr/>
        </p:nvSpPr>
        <p:spPr>
          <a:xfrm>
            <a:off x="1663954" y="1882495"/>
            <a:ext cx="1743710" cy="1344930"/>
          </a:xfrm>
          <a:prstGeom prst="rect">
            <a:avLst/>
          </a:prstGeom>
        </p:spPr>
        <p:txBody>
          <a:bodyPr wrap="square" lIns="0" tIns="12700" rIns="0" bIns="0" rtlCol="0" vert="horz">
            <a:spAutoFit/>
          </a:bodyPr>
          <a:lstStyle/>
          <a:p>
            <a:pPr marL="320040" marR="5080">
              <a:lnSpc>
                <a:spcPct val="140000"/>
              </a:lnSpc>
              <a:spcBef>
                <a:spcPts val="100"/>
              </a:spcBef>
            </a:pPr>
            <a:r>
              <a:rPr dirty="0" sz="2000" b="1">
                <a:solidFill>
                  <a:srgbClr val="6F2F9F"/>
                </a:solidFill>
                <a:latin typeface="黑体"/>
                <a:cs typeface="黑体"/>
              </a:rPr>
              <a:t>字节</a:t>
            </a:r>
            <a:r>
              <a:rPr dirty="0" sz="2000" spc="-10" b="1">
                <a:solidFill>
                  <a:srgbClr val="6F2F9F"/>
                </a:solidFill>
                <a:latin typeface="黑体"/>
                <a:cs typeface="黑体"/>
              </a:rPr>
              <a:t>（</a:t>
            </a:r>
            <a:r>
              <a:rPr dirty="0" sz="2000" spc="-10" b="1">
                <a:solidFill>
                  <a:srgbClr val="9933FF"/>
                </a:solidFill>
                <a:latin typeface="宋体"/>
                <a:cs typeface="宋体"/>
              </a:rPr>
              <a:t>8</a:t>
            </a:r>
            <a:r>
              <a:rPr dirty="0" sz="2000" spc="-10" b="1">
                <a:solidFill>
                  <a:srgbClr val="9933FF"/>
                </a:solidFill>
                <a:latin typeface="黑体"/>
                <a:cs typeface="黑体"/>
              </a:rPr>
              <a:t>位</a:t>
            </a:r>
            <a:r>
              <a:rPr dirty="0" sz="2000" spc="-50" b="1">
                <a:solidFill>
                  <a:srgbClr val="6F2F9F"/>
                </a:solidFill>
                <a:latin typeface="黑体"/>
                <a:cs typeface="黑体"/>
              </a:rPr>
              <a:t>）</a:t>
            </a:r>
            <a:r>
              <a:rPr dirty="0" sz="2000" b="1">
                <a:solidFill>
                  <a:srgbClr val="6F2F9F"/>
                </a:solidFill>
                <a:latin typeface="黑体"/>
                <a:cs typeface="黑体"/>
              </a:rPr>
              <a:t>字</a:t>
            </a:r>
            <a:r>
              <a:rPr dirty="0" sz="2000" spc="-10" b="1">
                <a:solidFill>
                  <a:srgbClr val="6F2F9F"/>
                </a:solidFill>
                <a:latin typeface="黑体"/>
                <a:cs typeface="黑体"/>
              </a:rPr>
              <a:t>（</a:t>
            </a:r>
            <a:r>
              <a:rPr dirty="0" sz="2000" spc="-10" b="1">
                <a:solidFill>
                  <a:srgbClr val="9933FF"/>
                </a:solidFill>
                <a:latin typeface="宋体"/>
                <a:cs typeface="宋体"/>
              </a:rPr>
              <a:t>32</a:t>
            </a:r>
            <a:r>
              <a:rPr dirty="0" sz="2000" spc="-10" b="1">
                <a:solidFill>
                  <a:srgbClr val="9933FF"/>
                </a:solidFill>
                <a:latin typeface="黑体"/>
                <a:cs typeface="黑体"/>
              </a:rPr>
              <a:t>位</a:t>
            </a:r>
            <a:r>
              <a:rPr dirty="0" sz="2000" spc="-50" b="1">
                <a:solidFill>
                  <a:srgbClr val="6F2F9F"/>
                </a:solidFill>
                <a:latin typeface="黑体"/>
                <a:cs typeface="黑体"/>
              </a:rPr>
              <a:t>）</a:t>
            </a:r>
            <a:endParaRPr sz="2000">
              <a:latin typeface="黑体"/>
              <a:cs typeface="黑体"/>
            </a:endParaRPr>
          </a:p>
          <a:p>
            <a:pPr marL="469265" indent="-456565">
              <a:lnSpc>
                <a:spcPct val="100000"/>
              </a:lnSpc>
              <a:spcBef>
                <a:spcPts val="1025"/>
              </a:spcBef>
              <a:buSzPct val="88636"/>
              <a:buFont typeface="Wingdings"/>
              <a:buChar char=""/>
              <a:tabLst>
                <a:tab pos="469265" algn="l"/>
              </a:tabLst>
            </a:pPr>
            <a:r>
              <a:rPr dirty="0" sz="2200" spc="-40">
                <a:solidFill>
                  <a:srgbClr val="006FC0"/>
                </a:solidFill>
                <a:latin typeface="黑体"/>
                <a:cs typeface="黑体"/>
              </a:rPr>
              <a:t>浮点数</a:t>
            </a:r>
            <a:endParaRPr sz="2200">
              <a:latin typeface="黑体"/>
              <a:cs typeface="黑体"/>
            </a:endParaRPr>
          </a:p>
        </p:txBody>
      </p:sp>
      <p:sp>
        <p:nvSpPr>
          <p:cNvPr id="7" name="object 7" descr=""/>
          <p:cNvSpPr txBox="1"/>
          <p:nvPr/>
        </p:nvSpPr>
        <p:spPr>
          <a:xfrm>
            <a:off x="1034592" y="3275422"/>
            <a:ext cx="9726295" cy="2512695"/>
          </a:xfrm>
          <a:prstGeom prst="rect">
            <a:avLst/>
          </a:prstGeom>
        </p:spPr>
        <p:txBody>
          <a:bodyPr wrap="square" lIns="0" tIns="64769" rIns="0" bIns="0" rtlCol="0" vert="horz">
            <a:spAutoFit/>
          </a:bodyPr>
          <a:lstStyle/>
          <a:p>
            <a:pPr marL="949325">
              <a:lnSpc>
                <a:spcPct val="100000"/>
              </a:lnSpc>
              <a:spcBef>
                <a:spcPts val="509"/>
              </a:spcBef>
              <a:tabLst>
                <a:tab pos="3766185" algn="l"/>
              </a:tabLst>
            </a:pPr>
            <a:r>
              <a:rPr dirty="0" sz="2000" b="1">
                <a:solidFill>
                  <a:srgbClr val="6F2F9F"/>
                </a:solidFill>
                <a:latin typeface="黑体"/>
                <a:cs typeface="黑体"/>
              </a:rPr>
              <a:t>单精</a:t>
            </a:r>
            <a:r>
              <a:rPr dirty="0" sz="2000" spc="-10" b="1">
                <a:solidFill>
                  <a:srgbClr val="6F2F9F"/>
                </a:solidFill>
                <a:latin typeface="黑体"/>
                <a:cs typeface="黑体"/>
              </a:rPr>
              <a:t>度浮点</a:t>
            </a:r>
            <a:r>
              <a:rPr dirty="0" sz="2000" spc="-20" b="1">
                <a:solidFill>
                  <a:srgbClr val="6F2F9F"/>
                </a:solidFill>
                <a:latin typeface="黑体"/>
                <a:cs typeface="黑体"/>
              </a:rPr>
              <a:t>数</a:t>
            </a:r>
            <a:r>
              <a:rPr dirty="0" sz="2000" spc="-10" b="1">
                <a:solidFill>
                  <a:srgbClr val="6F2F9F"/>
                </a:solidFill>
                <a:latin typeface="黑体"/>
                <a:cs typeface="黑体"/>
              </a:rPr>
              <a:t>（</a:t>
            </a:r>
            <a:r>
              <a:rPr dirty="0" sz="2000" spc="-10" b="1">
                <a:solidFill>
                  <a:srgbClr val="9933FF"/>
                </a:solidFill>
                <a:latin typeface="宋体"/>
                <a:cs typeface="宋体"/>
              </a:rPr>
              <a:t>32</a:t>
            </a:r>
            <a:r>
              <a:rPr dirty="0" sz="2000" spc="-10" b="1">
                <a:solidFill>
                  <a:srgbClr val="9933FF"/>
                </a:solidFill>
                <a:latin typeface="黑体"/>
                <a:cs typeface="黑体"/>
              </a:rPr>
              <a:t>位</a:t>
            </a:r>
            <a:r>
              <a:rPr dirty="0" sz="2000" spc="-50" b="1">
                <a:solidFill>
                  <a:srgbClr val="6F2F9F"/>
                </a:solidFill>
                <a:latin typeface="黑体"/>
                <a:cs typeface="黑体"/>
              </a:rPr>
              <a:t>）</a:t>
            </a:r>
            <a:r>
              <a:rPr dirty="0" sz="2000" b="1">
                <a:solidFill>
                  <a:srgbClr val="6F2F9F"/>
                </a:solidFill>
                <a:latin typeface="黑体"/>
                <a:cs typeface="黑体"/>
              </a:rPr>
              <a:t>	双</a:t>
            </a:r>
            <a:r>
              <a:rPr dirty="0" sz="2000" spc="-10" b="1">
                <a:solidFill>
                  <a:srgbClr val="6F2F9F"/>
                </a:solidFill>
                <a:latin typeface="黑体"/>
                <a:cs typeface="黑体"/>
              </a:rPr>
              <a:t>精度浮</a:t>
            </a:r>
            <a:r>
              <a:rPr dirty="0" sz="2000" spc="-20" b="1">
                <a:solidFill>
                  <a:srgbClr val="6F2F9F"/>
                </a:solidFill>
                <a:latin typeface="黑体"/>
                <a:cs typeface="黑体"/>
              </a:rPr>
              <a:t>点</a:t>
            </a:r>
            <a:r>
              <a:rPr dirty="0" sz="2000" spc="-10" b="1">
                <a:solidFill>
                  <a:srgbClr val="6F2F9F"/>
                </a:solidFill>
                <a:latin typeface="黑体"/>
                <a:cs typeface="黑体"/>
              </a:rPr>
              <a:t>数（</a:t>
            </a:r>
            <a:r>
              <a:rPr dirty="0" sz="2000" spc="-10" b="1">
                <a:solidFill>
                  <a:srgbClr val="9933FF"/>
                </a:solidFill>
                <a:latin typeface="宋体"/>
                <a:cs typeface="宋体"/>
              </a:rPr>
              <a:t>64</a:t>
            </a:r>
            <a:r>
              <a:rPr dirty="0" sz="2000" spc="-10" b="1">
                <a:solidFill>
                  <a:srgbClr val="9933FF"/>
                </a:solidFill>
                <a:latin typeface="黑体"/>
                <a:cs typeface="黑体"/>
              </a:rPr>
              <a:t>位</a:t>
            </a:r>
            <a:r>
              <a:rPr dirty="0" sz="2000" spc="-50" b="1">
                <a:solidFill>
                  <a:srgbClr val="6F2F9F"/>
                </a:solidFill>
                <a:latin typeface="黑体"/>
                <a:cs typeface="黑体"/>
              </a:rPr>
              <a:t>）</a:t>
            </a:r>
            <a:endParaRPr sz="2000">
              <a:latin typeface="黑体"/>
              <a:cs typeface="黑体"/>
            </a:endParaRPr>
          </a:p>
          <a:p>
            <a:pPr marL="469265" indent="-456565">
              <a:lnSpc>
                <a:spcPct val="100000"/>
              </a:lnSpc>
              <a:spcBef>
                <a:spcPts val="1215"/>
              </a:spcBef>
              <a:buSzPct val="117857"/>
              <a:buFont typeface="Wingdings"/>
              <a:buChar char=""/>
              <a:tabLst>
                <a:tab pos="469265" algn="l"/>
              </a:tabLst>
            </a:pPr>
            <a:r>
              <a:rPr dirty="0" sz="2800" spc="-25">
                <a:solidFill>
                  <a:srgbClr val="40458B"/>
                </a:solidFill>
                <a:latin typeface="黑体"/>
                <a:cs typeface="黑体"/>
              </a:rPr>
              <a:t>MIPS</a:t>
            </a:r>
            <a:r>
              <a:rPr dirty="0" sz="2800" spc="-35">
                <a:solidFill>
                  <a:srgbClr val="40458B"/>
                </a:solidFill>
                <a:latin typeface="黑体"/>
                <a:cs typeface="黑体"/>
              </a:rPr>
              <a:t>的操作是针对</a:t>
            </a:r>
            <a:r>
              <a:rPr dirty="0" sz="2800" spc="-20">
                <a:solidFill>
                  <a:srgbClr val="40458B"/>
                </a:solidFill>
                <a:latin typeface="黑体"/>
                <a:cs typeface="黑体"/>
              </a:rPr>
              <a:t>64</a:t>
            </a:r>
            <a:r>
              <a:rPr dirty="0" sz="2800" spc="-35">
                <a:solidFill>
                  <a:srgbClr val="40458B"/>
                </a:solidFill>
                <a:latin typeface="黑体"/>
                <a:cs typeface="黑体"/>
              </a:rPr>
              <a:t>位整数以及</a:t>
            </a:r>
            <a:r>
              <a:rPr dirty="0" sz="2800" spc="-25">
                <a:solidFill>
                  <a:srgbClr val="40458B"/>
                </a:solidFill>
                <a:latin typeface="黑体"/>
                <a:cs typeface="黑体"/>
              </a:rPr>
              <a:t>32</a:t>
            </a:r>
            <a:r>
              <a:rPr dirty="0" sz="2800" spc="-35">
                <a:solidFill>
                  <a:srgbClr val="40458B"/>
                </a:solidFill>
                <a:latin typeface="黑体"/>
                <a:cs typeface="黑体"/>
              </a:rPr>
              <a:t>位或</a:t>
            </a:r>
            <a:r>
              <a:rPr dirty="0" sz="2800" spc="-25">
                <a:solidFill>
                  <a:srgbClr val="40458B"/>
                </a:solidFill>
                <a:latin typeface="黑体"/>
                <a:cs typeface="黑体"/>
              </a:rPr>
              <a:t>64</a:t>
            </a:r>
            <a:r>
              <a:rPr dirty="0" sz="2800" spc="-40">
                <a:solidFill>
                  <a:srgbClr val="40458B"/>
                </a:solidFill>
                <a:latin typeface="黑体"/>
                <a:cs typeface="黑体"/>
              </a:rPr>
              <a:t>位浮点数进行的。</a:t>
            </a:r>
            <a:endParaRPr sz="2800">
              <a:latin typeface="黑体"/>
              <a:cs typeface="黑体"/>
            </a:endParaRPr>
          </a:p>
          <a:p>
            <a:pPr marL="469265" indent="-456565">
              <a:lnSpc>
                <a:spcPct val="100000"/>
              </a:lnSpc>
              <a:spcBef>
                <a:spcPts val="1345"/>
              </a:spcBef>
              <a:buSzPct val="117857"/>
              <a:buFont typeface="Wingdings"/>
              <a:buChar char=""/>
              <a:tabLst>
                <a:tab pos="469265" algn="l"/>
              </a:tabLst>
            </a:pPr>
            <a:r>
              <a:rPr dirty="0" sz="2800" spc="-35">
                <a:solidFill>
                  <a:srgbClr val="40458B"/>
                </a:solidFill>
                <a:latin typeface="黑体"/>
                <a:cs typeface="黑体"/>
              </a:rPr>
              <a:t>字节、半字或者字在装入</a:t>
            </a:r>
            <a:r>
              <a:rPr dirty="0" sz="2800" spc="-30">
                <a:solidFill>
                  <a:srgbClr val="40458B"/>
                </a:solidFill>
                <a:latin typeface="黑体"/>
                <a:cs typeface="黑体"/>
              </a:rPr>
              <a:t>64</a:t>
            </a:r>
            <a:r>
              <a:rPr dirty="0" sz="2800" spc="-40">
                <a:solidFill>
                  <a:srgbClr val="40458B"/>
                </a:solidFill>
                <a:latin typeface="黑体"/>
                <a:cs typeface="黑体"/>
              </a:rPr>
              <a:t>位寄存器时</a:t>
            </a:r>
            <a:endParaRPr sz="2800">
              <a:latin typeface="黑体"/>
              <a:cs typeface="黑体"/>
            </a:endParaRPr>
          </a:p>
          <a:p>
            <a:pPr lvl="1" marL="810895" indent="-457200">
              <a:lnSpc>
                <a:spcPct val="100000"/>
              </a:lnSpc>
              <a:spcBef>
                <a:spcPts val="1155"/>
              </a:spcBef>
              <a:buClr>
                <a:srgbClr val="006FC0"/>
              </a:buClr>
              <a:buSzPct val="88636"/>
              <a:buFont typeface="Wingdings"/>
              <a:buChar char=""/>
              <a:tabLst>
                <a:tab pos="810895" algn="l"/>
              </a:tabLst>
            </a:pPr>
            <a:r>
              <a:rPr dirty="0" sz="2200" spc="-35">
                <a:solidFill>
                  <a:srgbClr val="40458B"/>
                </a:solidFill>
                <a:latin typeface="黑体"/>
                <a:cs typeface="黑体"/>
              </a:rPr>
              <a:t>用零扩展或者用符号位扩展来填充该寄存器的剩余部分。</a:t>
            </a:r>
            <a:endParaRPr sz="2200">
              <a:latin typeface="黑体"/>
              <a:cs typeface="黑体"/>
            </a:endParaRPr>
          </a:p>
          <a:p>
            <a:pPr lvl="1" marL="810895" indent="-457200">
              <a:lnSpc>
                <a:spcPct val="100000"/>
              </a:lnSpc>
              <a:spcBef>
                <a:spcPts val="1055"/>
              </a:spcBef>
              <a:buClr>
                <a:srgbClr val="006FC0"/>
              </a:buClr>
              <a:buSzPct val="88636"/>
              <a:buFont typeface="Wingdings"/>
              <a:buChar char=""/>
              <a:tabLst>
                <a:tab pos="810895" algn="l"/>
              </a:tabLst>
            </a:pPr>
            <a:r>
              <a:rPr dirty="0" sz="2200" spc="-30">
                <a:solidFill>
                  <a:srgbClr val="40458B"/>
                </a:solidFill>
                <a:latin typeface="黑体"/>
                <a:cs typeface="黑体"/>
              </a:rPr>
              <a:t>装入以后，对它们将按照</a:t>
            </a:r>
            <a:r>
              <a:rPr dirty="0" sz="2200" spc="-25">
                <a:solidFill>
                  <a:srgbClr val="40458B"/>
                </a:solidFill>
                <a:latin typeface="黑体"/>
                <a:cs typeface="黑体"/>
              </a:rPr>
              <a:t>64</a:t>
            </a:r>
            <a:r>
              <a:rPr dirty="0" sz="2200" spc="-35">
                <a:solidFill>
                  <a:srgbClr val="40458B"/>
                </a:solidFill>
                <a:latin typeface="黑体"/>
                <a:cs typeface="黑体"/>
              </a:rPr>
              <a:t>位整数的方式进行运算。</a:t>
            </a:r>
            <a:endParaRPr sz="2200">
              <a:latin typeface="黑体"/>
              <a:cs typeface="黑体"/>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423670" algn="l"/>
                <a:tab pos="11028045" algn="l"/>
              </a:tabLst>
            </a:pPr>
            <a:r>
              <a:rPr dirty="0"/>
              <a:t>	2.6.3</a:t>
            </a:r>
            <a:r>
              <a:rPr dirty="0" spc="-35"/>
              <a:t> </a:t>
            </a:r>
            <a:r>
              <a:rPr dirty="0"/>
              <a:t>MIPS</a:t>
            </a:r>
            <a:r>
              <a:rPr dirty="0">
                <a:latin typeface="微软雅黑"/>
                <a:cs typeface="微软雅黑"/>
              </a:rPr>
              <a:t>的数据寻址方</a:t>
            </a:r>
            <a:r>
              <a:rPr dirty="0" spc="-50">
                <a:latin typeface="微软雅黑"/>
                <a:cs typeface="微软雅黑"/>
              </a:rPr>
              <a:t>式</a:t>
            </a:r>
            <a:r>
              <a:rPr dirty="0">
                <a:latin typeface="微软雅黑"/>
                <a:cs typeface="微软雅黑"/>
              </a:rPr>
              <a:t>	</a:t>
            </a:r>
          </a:p>
        </p:txBody>
      </p:sp>
      <p:sp>
        <p:nvSpPr>
          <p:cNvPr id="4" name="object 4" descr=""/>
          <p:cNvSpPr txBox="1"/>
          <p:nvPr/>
        </p:nvSpPr>
        <p:spPr>
          <a:xfrm>
            <a:off x="1853945" y="1051564"/>
            <a:ext cx="8361680" cy="3703320"/>
          </a:xfrm>
          <a:prstGeom prst="rect">
            <a:avLst/>
          </a:prstGeom>
        </p:spPr>
        <p:txBody>
          <a:bodyPr wrap="square" lIns="0" tIns="189865" rIns="0" bIns="0" rtlCol="0" vert="horz">
            <a:spAutoFit/>
          </a:bodyPr>
          <a:lstStyle/>
          <a:p>
            <a:pPr marL="12700">
              <a:lnSpc>
                <a:spcPct val="100000"/>
              </a:lnSpc>
              <a:spcBef>
                <a:spcPts val="1495"/>
              </a:spcBef>
            </a:pPr>
            <a:r>
              <a:rPr dirty="0" sz="3600" spc="-10">
                <a:solidFill>
                  <a:srgbClr val="FF0000"/>
                </a:solidFill>
                <a:latin typeface="Calibri"/>
                <a:cs typeface="Calibri"/>
              </a:rPr>
              <a:t>MIPS</a:t>
            </a:r>
            <a:r>
              <a:rPr dirty="0" sz="3600">
                <a:solidFill>
                  <a:srgbClr val="FF0000"/>
                </a:solidFill>
                <a:latin typeface="黑体"/>
                <a:cs typeface="黑体"/>
              </a:rPr>
              <a:t>数据寻址方式的特点</a:t>
            </a:r>
            <a:r>
              <a:rPr dirty="0" sz="2800" spc="-50">
                <a:solidFill>
                  <a:srgbClr val="4D4D4D"/>
                </a:solidFill>
                <a:latin typeface="黑体"/>
                <a:cs typeface="黑体"/>
              </a:rPr>
              <a:t>：</a:t>
            </a:r>
            <a:endParaRPr sz="2800">
              <a:latin typeface="黑体"/>
              <a:cs typeface="黑体"/>
            </a:endParaRPr>
          </a:p>
          <a:p>
            <a:pPr marL="348615" indent="-335915">
              <a:lnSpc>
                <a:spcPct val="100000"/>
              </a:lnSpc>
              <a:spcBef>
                <a:spcPts val="1330"/>
              </a:spcBef>
              <a:buSzPct val="114285"/>
              <a:buFont typeface="Wingdings"/>
              <a:buChar char=""/>
              <a:tabLst>
                <a:tab pos="348615" algn="l"/>
              </a:tabLst>
            </a:pPr>
            <a:r>
              <a:rPr dirty="0" sz="2800" spc="-40">
                <a:solidFill>
                  <a:srgbClr val="40458B"/>
                </a:solidFill>
                <a:latin typeface="黑体"/>
                <a:cs typeface="黑体"/>
              </a:rPr>
              <a:t>立即数寻址与偏移量寻址；</a:t>
            </a:r>
            <a:endParaRPr sz="2800">
              <a:latin typeface="黑体"/>
              <a:cs typeface="黑体"/>
            </a:endParaRPr>
          </a:p>
          <a:p>
            <a:pPr marL="949960">
              <a:lnSpc>
                <a:spcPct val="100000"/>
              </a:lnSpc>
              <a:spcBef>
                <a:spcPts val="1255"/>
              </a:spcBef>
            </a:pPr>
            <a:r>
              <a:rPr dirty="0" sz="2000" spc="-20" b="1">
                <a:solidFill>
                  <a:srgbClr val="6F2F9F"/>
                </a:solidFill>
                <a:latin typeface="黑体"/>
                <a:cs typeface="黑体"/>
              </a:rPr>
              <a:t>立即数字段和偏移量字段都是</a:t>
            </a:r>
            <a:r>
              <a:rPr dirty="0" sz="2000" spc="-15" b="1">
                <a:solidFill>
                  <a:srgbClr val="9933FF"/>
                </a:solidFill>
                <a:latin typeface="黑体"/>
                <a:cs typeface="黑体"/>
              </a:rPr>
              <a:t>16</a:t>
            </a:r>
            <a:r>
              <a:rPr dirty="0" sz="2000" spc="-25" b="1">
                <a:solidFill>
                  <a:srgbClr val="6F2F9F"/>
                </a:solidFill>
                <a:latin typeface="黑体"/>
                <a:cs typeface="黑体"/>
              </a:rPr>
              <a:t>位的。</a:t>
            </a:r>
            <a:endParaRPr sz="2000">
              <a:latin typeface="黑体"/>
              <a:cs typeface="黑体"/>
            </a:endParaRPr>
          </a:p>
          <a:p>
            <a:pPr marL="348615" indent="-335915">
              <a:lnSpc>
                <a:spcPct val="100000"/>
              </a:lnSpc>
              <a:spcBef>
                <a:spcPts val="1030"/>
              </a:spcBef>
              <a:buSzPct val="114285"/>
              <a:buFont typeface="Wingdings"/>
              <a:buChar char=""/>
              <a:tabLst>
                <a:tab pos="348615" algn="l"/>
              </a:tabLst>
            </a:pPr>
            <a:r>
              <a:rPr dirty="0" sz="2800" spc="-35">
                <a:solidFill>
                  <a:srgbClr val="40458B"/>
                </a:solidFill>
                <a:latin typeface="黑体"/>
                <a:cs typeface="黑体"/>
              </a:rPr>
              <a:t>寄存器间接寻址是通过把</a:t>
            </a:r>
            <a:r>
              <a:rPr dirty="0" sz="2800" spc="-30">
                <a:solidFill>
                  <a:srgbClr val="9933FF"/>
                </a:solidFill>
                <a:latin typeface="黑体"/>
                <a:cs typeface="黑体"/>
              </a:rPr>
              <a:t>0</a:t>
            </a:r>
            <a:r>
              <a:rPr dirty="0" sz="2800" spc="-40">
                <a:solidFill>
                  <a:srgbClr val="40458B"/>
                </a:solidFill>
                <a:latin typeface="黑体"/>
                <a:cs typeface="黑体"/>
              </a:rPr>
              <a:t>作为偏移量来实现的；</a:t>
            </a:r>
            <a:endParaRPr sz="2800">
              <a:latin typeface="黑体"/>
              <a:cs typeface="黑体"/>
            </a:endParaRPr>
          </a:p>
          <a:p>
            <a:pPr marL="12700" marR="5080" indent="336550">
              <a:lnSpc>
                <a:spcPct val="122900"/>
              </a:lnSpc>
              <a:spcBef>
                <a:spcPts val="175"/>
              </a:spcBef>
              <a:buClr>
                <a:srgbClr val="40458B"/>
              </a:buClr>
              <a:buSzPct val="114285"/>
              <a:buFont typeface="Wingdings"/>
              <a:buChar char=""/>
              <a:tabLst>
                <a:tab pos="349250" algn="l"/>
              </a:tabLst>
            </a:pPr>
            <a:r>
              <a:rPr dirty="0" sz="2800" spc="-10">
                <a:solidFill>
                  <a:srgbClr val="9933FF"/>
                </a:solidFill>
                <a:latin typeface="黑体"/>
                <a:cs typeface="黑体"/>
              </a:rPr>
              <a:t>16</a:t>
            </a:r>
            <a:r>
              <a:rPr dirty="0" sz="2800" spc="-35">
                <a:solidFill>
                  <a:srgbClr val="40458B"/>
                </a:solidFill>
                <a:latin typeface="黑体"/>
                <a:cs typeface="黑体"/>
              </a:rPr>
              <a:t>位绝对寻址是通过把</a:t>
            </a:r>
            <a:r>
              <a:rPr dirty="0" sz="2800" spc="-30">
                <a:solidFill>
                  <a:srgbClr val="9933FF"/>
                </a:solidFill>
                <a:latin typeface="黑体"/>
                <a:cs typeface="黑体"/>
              </a:rPr>
              <a:t>R0</a:t>
            </a:r>
            <a:r>
              <a:rPr dirty="0" sz="2800" spc="-30">
                <a:solidFill>
                  <a:srgbClr val="40458B"/>
                </a:solidFill>
                <a:latin typeface="黑体"/>
                <a:cs typeface="黑体"/>
              </a:rPr>
              <a:t>（</a:t>
            </a:r>
            <a:r>
              <a:rPr dirty="0" sz="2800" spc="-35">
                <a:solidFill>
                  <a:srgbClr val="40458B"/>
                </a:solidFill>
                <a:latin typeface="黑体"/>
                <a:cs typeface="黑体"/>
              </a:rPr>
              <a:t>其值永远为</a:t>
            </a:r>
            <a:r>
              <a:rPr dirty="0" sz="2800" spc="-30">
                <a:solidFill>
                  <a:srgbClr val="9933FF"/>
                </a:solidFill>
                <a:latin typeface="黑体"/>
                <a:cs typeface="黑体"/>
              </a:rPr>
              <a:t>0</a:t>
            </a:r>
            <a:r>
              <a:rPr dirty="0" sz="2800" spc="-30">
                <a:solidFill>
                  <a:srgbClr val="40458B"/>
                </a:solidFill>
                <a:latin typeface="黑体"/>
                <a:cs typeface="黑体"/>
              </a:rPr>
              <a:t>）</a:t>
            </a:r>
            <a:r>
              <a:rPr dirty="0" sz="2800" spc="-40">
                <a:solidFill>
                  <a:srgbClr val="40458B"/>
                </a:solidFill>
                <a:latin typeface="黑体"/>
                <a:cs typeface="黑体"/>
              </a:rPr>
              <a:t>作为基址寄存器来完成的。</a:t>
            </a:r>
            <a:endParaRPr sz="2800">
              <a:latin typeface="黑体"/>
              <a:cs typeface="黑体"/>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t>	2.6.4</a:t>
            </a:r>
            <a:r>
              <a:rPr dirty="0" spc="-55"/>
              <a:t> </a:t>
            </a:r>
            <a:r>
              <a:rPr dirty="0"/>
              <a:t>MIPS</a:t>
            </a:r>
            <a:r>
              <a:rPr dirty="0">
                <a:latin typeface="微软雅黑"/>
                <a:cs typeface="微软雅黑"/>
              </a:rPr>
              <a:t>的指令</a:t>
            </a:r>
            <a:r>
              <a:rPr dirty="0" spc="-25">
                <a:latin typeface="微软雅黑"/>
                <a:cs typeface="微软雅黑"/>
              </a:rPr>
              <a:t>格</a:t>
            </a:r>
            <a:r>
              <a:rPr dirty="0" spc="-50">
                <a:latin typeface="微软雅黑"/>
                <a:cs typeface="微软雅黑"/>
              </a:rPr>
              <a:t>式</a:t>
            </a:r>
            <a:r>
              <a:rPr dirty="0">
                <a:latin typeface="微软雅黑"/>
                <a:cs typeface="微软雅黑"/>
              </a:rPr>
              <a:t>	</a:t>
            </a:r>
          </a:p>
        </p:txBody>
      </p:sp>
      <p:sp>
        <p:nvSpPr>
          <p:cNvPr id="4" name="object 4" descr=""/>
          <p:cNvSpPr txBox="1"/>
          <p:nvPr/>
        </p:nvSpPr>
        <p:spPr>
          <a:xfrm>
            <a:off x="1853945" y="915039"/>
            <a:ext cx="7473315" cy="3985260"/>
          </a:xfrm>
          <a:prstGeom prst="rect">
            <a:avLst/>
          </a:prstGeom>
        </p:spPr>
        <p:txBody>
          <a:bodyPr wrap="square" lIns="0" tIns="189865" rIns="0" bIns="0" rtlCol="0" vert="horz">
            <a:spAutoFit/>
          </a:bodyPr>
          <a:lstStyle/>
          <a:p>
            <a:pPr marL="12700">
              <a:lnSpc>
                <a:spcPct val="100000"/>
              </a:lnSpc>
              <a:spcBef>
                <a:spcPts val="1495"/>
              </a:spcBef>
            </a:pPr>
            <a:r>
              <a:rPr dirty="0" sz="3600" spc="-245">
                <a:solidFill>
                  <a:srgbClr val="FF0000"/>
                </a:solidFill>
                <a:latin typeface="黑体"/>
                <a:cs typeface="黑体"/>
              </a:rPr>
              <a:t>注意： </a:t>
            </a:r>
            <a:r>
              <a:rPr dirty="0" sz="3600" spc="-10">
                <a:solidFill>
                  <a:srgbClr val="FF0000"/>
                </a:solidFill>
                <a:latin typeface="Calibri"/>
                <a:cs typeface="Calibri"/>
              </a:rPr>
              <a:t>MIPS</a:t>
            </a:r>
            <a:r>
              <a:rPr dirty="0" sz="3600" spc="-10">
                <a:solidFill>
                  <a:srgbClr val="FF0000"/>
                </a:solidFill>
                <a:latin typeface="黑体"/>
                <a:cs typeface="黑体"/>
              </a:rPr>
              <a:t>数据寻址方式</a:t>
            </a:r>
            <a:endParaRPr sz="3600">
              <a:latin typeface="黑体"/>
              <a:cs typeface="黑体"/>
            </a:endParaRPr>
          </a:p>
          <a:p>
            <a:pPr marL="348615" indent="-335915">
              <a:lnSpc>
                <a:spcPct val="100000"/>
              </a:lnSpc>
              <a:spcBef>
                <a:spcPts val="1330"/>
              </a:spcBef>
              <a:buSzPct val="114285"/>
              <a:buFont typeface="Wingdings"/>
              <a:buChar char=""/>
              <a:tabLst>
                <a:tab pos="348615" algn="l"/>
              </a:tabLst>
            </a:pPr>
            <a:r>
              <a:rPr dirty="0" sz="2800" spc="-25">
                <a:solidFill>
                  <a:srgbClr val="40458B"/>
                </a:solidFill>
                <a:latin typeface="黑体"/>
                <a:cs typeface="黑体"/>
              </a:rPr>
              <a:t>MIPS</a:t>
            </a:r>
            <a:r>
              <a:rPr dirty="0" sz="2800" spc="-35">
                <a:solidFill>
                  <a:srgbClr val="40458B"/>
                </a:solidFill>
                <a:latin typeface="黑体"/>
                <a:cs typeface="黑体"/>
              </a:rPr>
              <a:t>的存储器是按字节寻址的，地址为</a:t>
            </a:r>
            <a:r>
              <a:rPr dirty="0" sz="2800" spc="-25">
                <a:solidFill>
                  <a:srgbClr val="9933FF"/>
                </a:solidFill>
                <a:latin typeface="黑体"/>
                <a:cs typeface="黑体"/>
              </a:rPr>
              <a:t>64</a:t>
            </a:r>
            <a:r>
              <a:rPr dirty="0" sz="2800" spc="-45">
                <a:solidFill>
                  <a:srgbClr val="40458B"/>
                </a:solidFill>
                <a:latin typeface="黑体"/>
                <a:cs typeface="黑体"/>
              </a:rPr>
              <a:t>位；</a:t>
            </a:r>
            <a:endParaRPr sz="2800">
              <a:latin typeface="黑体"/>
              <a:cs typeface="黑体"/>
            </a:endParaRPr>
          </a:p>
          <a:p>
            <a:pPr marL="349250" indent="-336550">
              <a:lnSpc>
                <a:spcPct val="100000"/>
              </a:lnSpc>
              <a:spcBef>
                <a:spcPts val="1080"/>
              </a:spcBef>
              <a:buSzPct val="114285"/>
              <a:buFont typeface="Wingdings"/>
              <a:buChar char=""/>
              <a:tabLst>
                <a:tab pos="349250" algn="l"/>
              </a:tabLst>
            </a:pPr>
            <a:r>
              <a:rPr dirty="0" sz="2800" spc="-30">
                <a:solidFill>
                  <a:srgbClr val="40458B"/>
                </a:solidFill>
                <a:latin typeface="黑体"/>
                <a:cs typeface="黑体"/>
              </a:rPr>
              <a:t>通过</a:t>
            </a:r>
            <a:r>
              <a:rPr dirty="0" sz="2800" spc="-25">
                <a:solidFill>
                  <a:srgbClr val="40458B"/>
                </a:solidFill>
                <a:latin typeface="黑体"/>
                <a:cs typeface="黑体"/>
              </a:rPr>
              <a:t>load和</a:t>
            </a:r>
            <a:r>
              <a:rPr dirty="0" sz="2800" spc="-20">
                <a:solidFill>
                  <a:srgbClr val="40458B"/>
                </a:solidFill>
                <a:latin typeface="黑体"/>
                <a:cs typeface="黑体"/>
              </a:rPr>
              <a:t>store</a:t>
            </a:r>
            <a:r>
              <a:rPr dirty="0" sz="2800" spc="-40">
                <a:solidFill>
                  <a:srgbClr val="40458B"/>
                </a:solidFill>
                <a:latin typeface="黑体"/>
                <a:cs typeface="黑体"/>
              </a:rPr>
              <a:t>指令来完成访存。</a:t>
            </a:r>
            <a:endParaRPr sz="2800">
              <a:latin typeface="黑体"/>
              <a:cs typeface="黑体"/>
            </a:endParaRPr>
          </a:p>
          <a:p>
            <a:pPr marL="348615" indent="-335915">
              <a:lnSpc>
                <a:spcPct val="100000"/>
              </a:lnSpc>
              <a:spcBef>
                <a:spcPts val="1080"/>
              </a:spcBef>
              <a:buSzPct val="114285"/>
              <a:buFont typeface="Wingdings"/>
              <a:buChar char=""/>
              <a:tabLst>
                <a:tab pos="348615" algn="l"/>
              </a:tabLst>
            </a:pPr>
            <a:r>
              <a:rPr dirty="0" sz="2800" spc="-40">
                <a:solidFill>
                  <a:srgbClr val="40458B"/>
                </a:solidFill>
                <a:latin typeface="黑体"/>
                <a:cs typeface="黑体"/>
              </a:rPr>
              <a:t>所有存储器访问都必须是边界对齐的。</a:t>
            </a:r>
            <a:endParaRPr sz="2800">
              <a:latin typeface="黑体"/>
              <a:cs typeface="黑体"/>
            </a:endParaRPr>
          </a:p>
          <a:p>
            <a:pPr marL="349250" indent="-336550">
              <a:lnSpc>
                <a:spcPct val="100000"/>
              </a:lnSpc>
              <a:spcBef>
                <a:spcPts val="1085"/>
              </a:spcBef>
              <a:buClr>
                <a:srgbClr val="40458B"/>
              </a:buClr>
              <a:buSzPct val="114285"/>
              <a:buFont typeface="Wingdings"/>
              <a:buChar char=""/>
              <a:tabLst>
                <a:tab pos="349250" algn="l"/>
              </a:tabLst>
            </a:pPr>
            <a:r>
              <a:rPr dirty="0" sz="2800" spc="-40">
                <a:solidFill>
                  <a:srgbClr val="172152"/>
                </a:solidFill>
                <a:latin typeface="黑体"/>
                <a:cs typeface="黑体"/>
              </a:rPr>
              <a:t>寻址方式编码到操作码中。</a:t>
            </a:r>
            <a:endParaRPr sz="2800">
              <a:latin typeface="黑体"/>
              <a:cs typeface="黑体"/>
            </a:endParaRPr>
          </a:p>
          <a:p>
            <a:pPr marL="348615" indent="-335915">
              <a:lnSpc>
                <a:spcPct val="100000"/>
              </a:lnSpc>
              <a:spcBef>
                <a:spcPts val="1080"/>
              </a:spcBef>
              <a:buClr>
                <a:srgbClr val="40458B"/>
              </a:buClr>
              <a:buSzPct val="114285"/>
              <a:buFont typeface="Wingdings"/>
              <a:buChar char=""/>
              <a:tabLst>
                <a:tab pos="348615" algn="l"/>
              </a:tabLst>
            </a:pPr>
            <a:r>
              <a:rPr dirty="0" sz="2800" spc="-40">
                <a:solidFill>
                  <a:srgbClr val="172152"/>
                </a:solidFill>
                <a:latin typeface="黑体"/>
                <a:cs typeface="黑体"/>
              </a:rPr>
              <a:t>操作码占</a:t>
            </a:r>
            <a:r>
              <a:rPr dirty="0" sz="2800" spc="-20">
                <a:solidFill>
                  <a:srgbClr val="9933FF"/>
                </a:solidFill>
                <a:latin typeface="黑体"/>
                <a:cs typeface="黑体"/>
              </a:rPr>
              <a:t>6</a:t>
            </a:r>
            <a:r>
              <a:rPr dirty="0" sz="2800" spc="-45">
                <a:solidFill>
                  <a:srgbClr val="172152"/>
                </a:solidFill>
                <a:latin typeface="黑体"/>
                <a:cs typeface="黑体"/>
              </a:rPr>
              <a:t>位。</a:t>
            </a:r>
            <a:endParaRPr sz="2800">
              <a:latin typeface="黑体"/>
              <a:cs typeface="黑体"/>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txBox="1"/>
          <p:nvPr/>
        </p:nvSpPr>
        <p:spPr>
          <a:xfrm>
            <a:off x="2158745" y="1202440"/>
            <a:ext cx="9784080" cy="3345179"/>
          </a:xfrm>
          <a:prstGeom prst="rect">
            <a:avLst/>
          </a:prstGeom>
        </p:spPr>
        <p:txBody>
          <a:bodyPr wrap="square" lIns="0" tIns="189865" rIns="0" bIns="0" rtlCol="0" vert="horz">
            <a:spAutoFit/>
          </a:bodyPr>
          <a:lstStyle/>
          <a:p>
            <a:pPr marL="12700">
              <a:lnSpc>
                <a:spcPct val="100000"/>
              </a:lnSpc>
              <a:spcBef>
                <a:spcPts val="1495"/>
              </a:spcBef>
            </a:pPr>
            <a:r>
              <a:rPr dirty="0" sz="3600" spc="-10">
                <a:solidFill>
                  <a:srgbClr val="FF0000"/>
                </a:solidFill>
                <a:latin typeface="Calibri"/>
                <a:cs typeface="Calibri"/>
              </a:rPr>
              <a:t>MIPS</a:t>
            </a:r>
            <a:r>
              <a:rPr dirty="0" sz="3600">
                <a:solidFill>
                  <a:srgbClr val="FF0000"/>
                </a:solidFill>
                <a:latin typeface="黑体"/>
                <a:cs typeface="黑体"/>
              </a:rPr>
              <a:t>数据寻址方式支持</a:t>
            </a:r>
            <a:r>
              <a:rPr dirty="0" sz="3600" spc="-30">
                <a:solidFill>
                  <a:srgbClr val="FF0000"/>
                </a:solidFill>
                <a:latin typeface="Calibri"/>
                <a:cs typeface="Calibri"/>
              </a:rPr>
              <a:t>4</a:t>
            </a:r>
            <a:r>
              <a:rPr dirty="0" sz="3600" spc="-50">
                <a:solidFill>
                  <a:srgbClr val="FF0000"/>
                </a:solidFill>
                <a:latin typeface="黑体"/>
                <a:cs typeface="黑体"/>
              </a:rPr>
              <a:t>种</a:t>
            </a:r>
            <a:endParaRPr sz="3600">
              <a:latin typeface="黑体"/>
              <a:cs typeface="黑体"/>
            </a:endParaRPr>
          </a:p>
          <a:p>
            <a:pPr marL="348615" indent="-335915">
              <a:lnSpc>
                <a:spcPct val="100000"/>
              </a:lnSpc>
              <a:spcBef>
                <a:spcPts val="1330"/>
              </a:spcBef>
              <a:buSzPct val="114285"/>
              <a:buFont typeface="Wingdings"/>
              <a:buChar char=""/>
              <a:tabLst>
                <a:tab pos="348615" algn="l"/>
              </a:tabLst>
            </a:pPr>
            <a:r>
              <a:rPr dirty="0" sz="2800" spc="-35">
                <a:solidFill>
                  <a:srgbClr val="40458B"/>
                </a:solidFill>
                <a:latin typeface="黑体"/>
                <a:cs typeface="黑体"/>
              </a:rPr>
              <a:t>寄存器寻址：如</a:t>
            </a:r>
            <a:r>
              <a:rPr dirty="0" sz="2800">
                <a:solidFill>
                  <a:srgbClr val="40458B"/>
                </a:solidFill>
                <a:latin typeface="黑体"/>
                <a:cs typeface="黑体"/>
              </a:rPr>
              <a:t>ADD</a:t>
            </a:r>
            <a:r>
              <a:rPr dirty="0" sz="2800" spc="-10">
                <a:solidFill>
                  <a:srgbClr val="40458B"/>
                </a:solidFill>
                <a:latin typeface="黑体"/>
                <a:cs typeface="黑体"/>
              </a:rPr>
              <a:t> R1,R2；</a:t>
            </a:r>
            <a:endParaRPr sz="2800">
              <a:latin typeface="黑体"/>
              <a:cs typeface="黑体"/>
            </a:endParaRPr>
          </a:p>
          <a:p>
            <a:pPr marL="349250" indent="-336550">
              <a:lnSpc>
                <a:spcPct val="100000"/>
              </a:lnSpc>
              <a:spcBef>
                <a:spcPts val="1085"/>
              </a:spcBef>
              <a:buSzPct val="114285"/>
              <a:buFont typeface="Wingdings"/>
              <a:buChar char=""/>
              <a:tabLst>
                <a:tab pos="349250" algn="l"/>
              </a:tabLst>
            </a:pPr>
            <a:r>
              <a:rPr dirty="0" sz="2800" spc="-30">
                <a:solidFill>
                  <a:srgbClr val="40458B"/>
                </a:solidFill>
                <a:latin typeface="黑体"/>
                <a:cs typeface="黑体"/>
              </a:rPr>
              <a:t>立即数寻址：</a:t>
            </a:r>
            <a:r>
              <a:rPr dirty="0" sz="2800">
                <a:solidFill>
                  <a:srgbClr val="40458B"/>
                </a:solidFill>
                <a:latin typeface="黑体"/>
                <a:cs typeface="黑体"/>
              </a:rPr>
              <a:t>ADD</a:t>
            </a:r>
            <a:r>
              <a:rPr dirty="0" sz="2800" spc="65">
                <a:solidFill>
                  <a:srgbClr val="40458B"/>
                </a:solidFill>
                <a:latin typeface="黑体"/>
                <a:cs typeface="黑体"/>
              </a:rPr>
              <a:t> </a:t>
            </a:r>
            <a:r>
              <a:rPr dirty="0" sz="2800" spc="-20">
                <a:solidFill>
                  <a:srgbClr val="40458B"/>
                </a:solidFill>
                <a:latin typeface="黑体"/>
                <a:cs typeface="黑体"/>
              </a:rPr>
              <a:t>R1,R2,#42，#42</a:t>
            </a:r>
            <a:r>
              <a:rPr dirty="0" sz="2800" spc="-40">
                <a:solidFill>
                  <a:srgbClr val="40458B"/>
                </a:solidFill>
                <a:latin typeface="黑体"/>
                <a:cs typeface="黑体"/>
              </a:rPr>
              <a:t>表示立即数；</a:t>
            </a:r>
            <a:endParaRPr sz="2800">
              <a:latin typeface="黑体"/>
              <a:cs typeface="黑体"/>
            </a:endParaRPr>
          </a:p>
          <a:p>
            <a:pPr marL="348615" indent="-335915">
              <a:lnSpc>
                <a:spcPct val="100000"/>
              </a:lnSpc>
              <a:spcBef>
                <a:spcPts val="1080"/>
              </a:spcBef>
              <a:buClr>
                <a:srgbClr val="40458B"/>
              </a:buClr>
              <a:buSzPct val="114285"/>
              <a:buFont typeface="Wingdings"/>
              <a:buChar char=""/>
              <a:tabLst>
                <a:tab pos="348615" algn="l"/>
              </a:tabLst>
            </a:pPr>
            <a:r>
              <a:rPr dirty="0" sz="2800" spc="-35">
                <a:solidFill>
                  <a:srgbClr val="172152"/>
                </a:solidFill>
                <a:latin typeface="黑体"/>
                <a:cs typeface="黑体"/>
              </a:rPr>
              <a:t>偏移寻址： </a:t>
            </a:r>
            <a:r>
              <a:rPr dirty="0" sz="2800">
                <a:solidFill>
                  <a:srgbClr val="40458B"/>
                </a:solidFill>
                <a:latin typeface="黑体"/>
                <a:cs typeface="黑体"/>
              </a:rPr>
              <a:t>ADD</a:t>
            </a:r>
            <a:r>
              <a:rPr dirty="0" sz="2800" spc="-50">
                <a:solidFill>
                  <a:srgbClr val="40458B"/>
                </a:solidFill>
                <a:latin typeface="黑体"/>
                <a:cs typeface="黑体"/>
              </a:rPr>
              <a:t> </a:t>
            </a:r>
            <a:r>
              <a:rPr dirty="0" sz="2800">
                <a:solidFill>
                  <a:srgbClr val="40458B"/>
                </a:solidFill>
                <a:latin typeface="黑体"/>
                <a:cs typeface="黑体"/>
              </a:rPr>
              <a:t>R1,R2,</a:t>
            </a:r>
            <a:r>
              <a:rPr dirty="0" sz="2800" spc="-50">
                <a:solidFill>
                  <a:srgbClr val="40458B"/>
                </a:solidFill>
                <a:latin typeface="黑体"/>
                <a:cs typeface="黑体"/>
              </a:rPr>
              <a:t> </a:t>
            </a:r>
            <a:r>
              <a:rPr dirty="0" sz="2800" spc="-10">
                <a:solidFill>
                  <a:srgbClr val="40458B"/>
                </a:solidFill>
                <a:latin typeface="黑体"/>
                <a:cs typeface="黑体"/>
              </a:rPr>
              <a:t>42（R3）</a:t>
            </a:r>
            <a:endParaRPr sz="2800">
              <a:latin typeface="黑体"/>
              <a:cs typeface="黑体"/>
            </a:endParaRPr>
          </a:p>
          <a:p>
            <a:pPr marL="349250" indent="-336550">
              <a:lnSpc>
                <a:spcPct val="100000"/>
              </a:lnSpc>
              <a:spcBef>
                <a:spcPts val="1080"/>
              </a:spcBef>
              <a:buClr>
                <a:srgbClr val="40458B"/>
              </a:buClr>
              <a:buSzPct val="114285"/>
              <a:buFont typeface="Wingdings"/>
              <a:buChar char=""/>
              <a:tabLst>
                <a:tab pos="349250" algn="l"/>
              </a:tabLst>
            </a:pPr>
            <a:r>
              <a:rPr dirty="0" sz="2800" spc="-25">
                <a:solidFill>
                  <a:srgbClr val="172152"/>
                </a:solidFill>
                <a:latin typeface="黑体"/>
                <a:cs typeface="黑体"/>
              </a:rPr>
              <a:t>寄存器间接寻址： </a:t>
            </a:r>
            <a:r>
              <a:rPr dirty="0" sz="2800">
                <a:solidFill>
                  <a:srgbClr val="40458B"/>
                </a:solidFill>
                <a:latin typeface="黑体"/>
                <a:cs typeface="黑体"/>
              </a:rPr>
              <a:t>ADD</a:t>
            </a:r>
            <a:r>
              <a:rPr dirty="0" sz="2800" spc="65">
                <a:solidFill>
                  <a:srgbClr val="40458B"/>
                </a:solidFill>
                <a:latin typeface="黑体"/>
                <a:cs typeface="黑体"/>
              </a:rPr>
              <a:t> </a:t>
            </a:r>
            <a:r>
              <a:rPr dirty="0" sz="2800" spc="-25">
                <a:solidFill>
                  <a:srgbClr val="40458B"/>
                </a:solidFill>
                <a:latin typeface="黑体"/>
                <a:cs typeface="黑体"/>
              </a:rPr>
              <a:t>R1,R2,0（R3），0</a:t>
            </a:r>
            <a:r>
              <a:rPr dirty="0" sz="2800" spc="-40">
                <a:solidFill>
                  <a:srgbClr val="40458B"/>
                </a:solidFill>
                <a:latin typeface="黑体"/>
                <a:cs typeface="黑体"/>
              </a:rPr>
              <a:t>偏移量可以省略。</a:t>
            </a:r>
            <a:endParaRPr sz="2800">
              <a:latin typeface="黑体"/>
              <a:cs typeface="黑体"/>
            </a:endParaRPr>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t>	2.6.4</a:t>
            </a:r>
            <a:r>
              <a:rPr dirty="0" spc="-55"/>
              <a:t> </a:t>
            </a:r>
            <a:r>
              <a:rPr dirty="0"/>
              <a:t>MIPS</a:t>
            </a:r>
            <a:r>
              <a:rPr dirty="0">
                <a:latin typeface="微软雅黑"/>
                <a:cs typeface="微软雅黑"/>
              </a:rPr>
              <a:t>的指令</a:t>
            </a:r>
            <a:r>
              <a:rPr dirty="0" spc="-25">
                <a:latin typeface="微软雅黑"/>
                <a:cs typeface="微软雅黑"/>
              </a:rPr>
              <a:t>格</a:t>
            </a:r>
            <a:r>
              <a:rPr dirty="0" spc="-50">
                <a:latin typeface="微软雅黑"/>
                <a:cs typeface="微软雅黑"/>
              </a:rPr>
              <a:t>式</a:t>
            </a:r>
            <a:r>
              <a:rPr dirty="0">
                <a:latin typeface="微软雅黑"/>
                <a:cs typeface="微软雅黑"/>
              </a:rPr>
              <a:t>	</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2.6.4</a:t>
            </a:r>
            <a:r>
              <a:rPr dirty="0" spc="-40">
                <a:solidFill>
                  <a:srgbClr val="4F55AC"/>
                </a:solidFill>
              </a:rPr>
              <a:t> </a:t>
            </a:r>
            <a:r>
              <a:rPr dirty="0">
                <a:solidFill>
                  <a:srgbClr val="4F55AC"/>
                </a:solidFill>
              </a:rPr>
              <a:t>MIPS</a:t>
            </a:r>
            <a:r>
              <a:rPr dirty="0" spc="-10">
                <a:solidFill>
                  <a:srgbClr val="4F55AC"/>
                </a:solidFill>
                <a:latin typeface="微软雅黑"/>
                <a:cs typeface="微软雅黑"/>
              </a:rPr>
              <a:t>指令格</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4" name="object 4" descr=""/>
          <p:cNvSpPr txBox="1"/>
          <p:nvPr/>
        </p:nvSpPr>
        <p:spPr>
          <a:xfrm>
            <a:off x="1926717" y="1301876"/>
            <a:ext cx="8510270" cy="4439285"/>
          </a:xfrm>
          <a:prstGeom prst="rect">
            <a:avLst/>
          </a:prstGeom>
        </p:spPr>
        <p:txBody>
          <a:bodyPr wrap="square" lIns="0" tIns="13335" rIns="0" bIns="0" rtlCol="0" vert="horz">
            <a:spAutoFit/>
          </a:bodyPr>
          <a:lstStyle/>
          <a:p>
            <a:pPr marL="12700">
              <a:lnSpc>
                <a:spcPct val="100000"/>
              </a:lnSpc>
              <a:spcBef>
                <a:spcPts val="105"/>
              </a:spcBef>
            </a:pPr>
            <a:r>
              <a:rPr dirty="0" sz="3200">
                <a:solidFill>
                  <a:srgbClr val="FF0000"/>
                </a:solidFill>
                <a:latin typeface="黑体"/>
                <a:cs typeface="黑体"/>
              </a:rPr>
              <a:t>MIPS </a:t>
            </a:r>
            <a:r>
              <a:rPr dirty="0" sz="3200" spc="-10">
                <a:solidFill>
                  <a:srgbClr val="FF0000"/>
                </a:solidFill>
                <a:latin typeface="黑体"/>
                <a:cs typeface="黑体"/>
              </a:rPr>
              <a:t>3</a:t>
            </a:r>
            <a:r>
              <a:rPr dirty="0" sz="3200" spc="-15">
                <a:solidFill>
                  <a:srgbClr val="FF0000"/>
                </a:solidFill>
                <a:latin typeface="黑体"/>
                <a:cs typeface="黑体"/>
              </a:rPr>
              <a:t>种指令格式</a:t>
            </a:r>
            <a:endParaRPr sz="3200">
              <a:latin typeface="黑体"/>
              <a:cs typeface="黑体"/>
            </a:endParaRPr>
          </a:p>
          <a:p>
            <a:pPr>
              <a:lnSpc>
                <a:spcPct val="100000"/>
              </a:lnSpc>
              <a:spcBef>
                <a:spcPts val="175"/>
              </a:spcBef>
            </a:pPr>
            <a:endParaRPr sz="3200">
              <a:latin typeface="黑体"/>
              <a:cs typeface="黑体"/>
            </a:endParaRPr>
          </a:p>
          <a:p>
            <a:pPr marL="469265" indent="-456565">
              <a:lnSpc>
                <a:spcPct val="100000"/>
              </a:lnSpc>
              <a:buFont typeface="Wingdings"/>
              <a:buChar char=""/>
              <a:tabLst>
                <a:tab pos="469265" algn="l"/>
              </a:tabLst>
            </a:pPr>
            <a:r>
              <a:rPr dirty="0" sz="2800" spc="-10" b="1">
                <a:latin typeface="Times New Roman"/>
                <a:cs typeface="Times New Roman"/>
              </a:rPr>
              <a:t>3</a:t>
            </a:r>
            <a:r>
              <a:rPr dirty="0" sz="2800" spc="-30" b="1">
                <a:latin typeface="宋体"/>
                <a:cs typeface="宋体"/>
              </a:rPr>
              <a:t>种格式中，同名字段的位置固定不变。</a:t>
            </a:r>
            <a:endParaRPr sz="2800">
              <a:latin typeface="宋体"/>
              <a:cs typeface="宋体"/>
            </a:endParaRPr>
          </a:p>
          <a:p>
            <a:pPr marL="469265" indent="-456565">
              <a:lnSpc>
                <a:spcPct val="100000"/>
              </a:lnSpc>
              <a:spcBef>
                <a:spcPts val="1680"/>
              </a:spcBef>
              <a:buFont typeface="Wingdings"/>
              <a:buChar char=""/>
              <a:tabLst>
                <a:tab pos="469265" algn="l"/>
              </a:tabLst>
            </a:pPr>
            <a:r>
              <a:rPr dirty="0" sz="2800" spc="-30" b="1">
                <a:latin typeface="宋体"/>
                <a:cs typeface="宋体"/>
              </a:rPr>
              <a:t>固定长度，所有指令</a:t>
            </a:r>
            <a:r>
              <a:rPr dirty="0" sz="2800" spc="-10" b="1">
                <a:latin typeface="Times New Roman"/>
                <a:cs typeface="Times New Roman"/>
              </a:rPr>
              <a:t>32</a:t>
            </a:r>
            <a:r>
              <a:rPr dirty="0" sz="2800" spc="-25" b="1">
                <a:latin typeface="宋体"/>
                <a:cs typeface="宋体"/>
              </a:rPr>
              <a:t>位，操作码</a:t>
            </a:r>
            <a:r>
              <a:rPr dirty="0" sz="2800" spc="-10" b="1">
                <a:latin typeface="Times New Roman"/>
                <a:cs typeface="Times New Roman"/>
              </a:rPr>
              <a:t>6</a:t>
            </a:r>
            <a:r>
              <a:rPr dirty="0" sz="2800" spc="-40" b="1">
                <a:latin typeface="宋体"/>
                <a:cs typeface="宋体"/>
              </a:rPr>
              <a:t>位。</a:t>
            </a:r>
            <a:endParaRPr sz="2800">
              <a:latin typeface="宋体"/>
              <a:cs typeface="宋体"/>
            </a:endParaRPr>
          </a:p>
          <a:p>
            <a:pPr marL="469900" marR="5080" indent="-457200">
              <a:lnSpc>
                <a:spcPts val="5040"/>
              </a:lnSpc>
              <a:spcBef>
                <a:spcPts val="450"/>
              </a:spcBef>
              <a:buFont typeface="Wingdings"/>
              <a:buChar char=""/>
              <a:tabLst>
                <a:tab pos="469900" algn="l"/>
              </a:tabLst>
            </a:pPr>
            <a:r>
              <a:rPr dirty="0" sz="2800" spc="-30" b="1">
                <a:latin typeface="宋体"/>
                <a:cs typeface="宋体"/>
              </a:rPr>
              <a:t>采用定长和扩展码相结合的方式，二者都是</a:t>
            </a:r>
            <a:r>
              <a:rPr dirty="0" sz="2800" spc="-20" b="1">
                <a:latin typeface="Times New Roman"/>
                <a:cs typeface="Times New Roman"/>
              </a:rPr>
              <a:t>6</a:t>
            </a:r>
            <a:r>
              <a:rPr dirty="0" sz="2800" spc="-35" b="1">
                <a:latin typeface="宋体"/>
                <a:cs typeface="宋体"/>
              </a:rPr>
              <a:t>位，例</a:t>
            </a:r>
            <a:r>
              <a:rPr dirty="0" sz="2800" spc="-20" b="1">
                <a:latin typeface="宋体"/>
                <a:cs typeface="宋体"/>
              </a:rPr>
              <a:t>如</a:t>
            </a:r>
            <a:r>
              <a:rPr dirty="0" sz="2800" spc="-35" b="1">
                <a:latin typeface="Times New Roman"/>
                <a:cs typeface="Times New Roman"/>
              </a:rPr>
              <a:t>R</a:t>
            </a:r>
            <a:r>
              <a:rPr dirty="0" sz="2800" spc="-35" b="1">
                <a:latin typeface="宋体"/>
                <a:cs typeface="宋体"/>
              </a:rPr>
              <a:t>型指令。</a:t>
            </a:r>
            <a:endParaRPr sz="2800">
              <a:latin typeface="宋体"/>
              <a:cs typeface="宋体"/>
            </a:endParaRPr>
          </a:p>
          <a:p>
            <a:pPr>
              <a:lnSpc>
                <a:spcPct val="100000"/>
              </a:lnSpc>
              <a:spcBef>
                <a:spcPts val="645"/>
              </a:spcBef>
            </a:pPr>
            <a:endParaRPr sz="2800">
              <a:latin typeface="宋体"/>
              <a:cs typeface="宋体"/>
            </a:endParaRPr>
          </a:p>
          <a:p>
            <a:pPr marL="641985">
              <a:lnSpc>
                <a:spcPct val="100000"/>
              </a:lnSpc>
            </a:pPr>
            <a:r>
              <a:rPr dirty="0" sz="2800" spc="-10">
                <a:solidFill>
                  <a:srgbClr val="FF0000"/>
                </a:solidFill>
                <a:latin typeface="黑体"/>
                <a:cs typeface="黑体"/>
              </a:rPr>
              <a:t>I</a:t>
            </a:r>
            <a:r>
              <a:rPr dirty="0" sz="2800" spc="-35">
                <a:solidFill>
                  <a:srgbClr val="FF0000"/>
                </a:solidFill>
                <a:latin typeface="黑体"/>
                <a:cs typeface="黑体"/>
              </a:rPr>
              <a:t>类指令；</a:t>
            </a:r>
            <a:r>
              <a:rPr dirty="0" sz="2800" spc="-25">
                <a:solidFill>
                  <a:srgbClr val="FF0000"/>
                </a:solidFill>
                <a:latin typeface="黑体"/>
                <a:cs typeface="黑体"/>
              </a:rPr>
              <a:t>R</a:t>
            </a:r>
            <a:r>
              <a:rPr dirty="0" sz="2800" spc="-35">
                <a:solidFill>
                  <a:srgbClr val="FF0000"/>
                </a:solidFill>
                <a:latin typeface="黑体"/>
                <a:cs typeface="黑体"/>
              </a:rPr>
              <a:t>类指令</a:t>
            </a:r>
            <a:r>
              <a:rPr dirty="0" sz="2800" spc="-25">
                <a:solidFill>
                  <a:srgbClr val="FF0000"/>
                </a:solidFill>
                <a:latin typeface="黑体"/>
                <a:cs typeface="黑体"/>
              </a:rPr>
              <a:t>；J</a:t>
            </a:r>
            <a:r>
              <a:rPr dirty="0" sz="2800" spc="-40">
                <a:solidFill>
                  <a:srgbClr val="FF0000"/>
                </a:solidFill>
                <a:latin typeface="黑体"/>
                <a:cs typeface="黑体"/>
              </a:rPr>
              <a:t>类指令</a:t>
            </a:r>
            <a:endParaRPr sz="2800">
              <a:latin typeface="黑体"/>
              <a:cs typeface="黑体"/>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descr=""/>
          <p:cNvSpPr/>
          <p:nvPr/>
        </p:nvSpPr>
        <p:spPr>
          <a:xfrm>
            <a:off x="2351151" y="5172075"/>
            <a:ext cx="7273925" cy="1152525"/>
          </a:xfrm>
          <a:custGeom>
            <a:avLst/>
            <a:gdLst/>
            <a:ahLst/>
            <a:cxnLst/>
            <a:rect l="l" t="t" r="r" b="b"/>
            <a:pathLst>
              <a:path w="7273925" h="1152525">
                <a:moveTo>
                  <a:pt x="7273925" y="0"/>
                </a:moveTo>
                <a:lnTo>
                  <a:pt x="0" y="0"/>
                </a:lnTo>
                <a:lnTo>
                  <a:pt x="0" y="1152525"/>
                </a:lnTo>
                <a:lnTo>
                  <a:pt x="7273925" y="1152525"/>
                </a:lnTo>
                <a:lnTo>
                  <a:pt x="7273925" y="0"/>
                </a:lnTo>
                <a:close/>
              </a:path>
            </a:pathLst>
          </a:custGeom>
          <a:solidFill>
            <a:srgbClr val="FFFFCC"/>
          </a:solidFill>
        </p:spPr>
        <p:txBody>
          <a:bodyPr wrap="square" lIns="0" tIns="0" rIns="0" bIns="0" rtlCol="0"/>
          <a:lstStyle/>
          <a:p/>
        </p:txBody>
      </p:sp>
      <p:sp>
        <p:nvSpPr>
          <p:cNvPr id="4" name="object 4"/>
          <p:cNvSpPr txBox="1">
            <a:spLocks noGrp="1"/>
          </p:cNvSpPr>
          <p:nvPr>
            <p:ph type="title"/>
          </p:nvPr>
        </p:nvSpPr>
        <p:spPr>
          <a:xfrm>
            <a:off x="1163637" y="211023"/>
            <a:ext cx="11041380" cy="514350"/>
          </a:xfrm>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2.6.4</a:t>
            </a:r>
            <a:r>
              <a:rPr dirty="0" spc="-40">
                <a:solidFill>
                  <a:srgbClr val="4F55AC"/>
                </a:solidFill>
              </a:rPr>
              <a:t> </a:t>
            </a:r>
            <a:r>
              <a:rPr dirty="0">
                <a:solidFill>
                  <a:srgbClr val="4F55AC"/>
                </a:solidFill>
              </a:rPr>
              <a:t>MIPS</a:t>
            </a:r>
            <a:r>
              <a:rPr dirty="0" spc="-10">
                <a:solidFill>
                  <a:srgbClr val="4F55AC"/>
                </a:solidFill>
                <a:latin typeface="微软雅黑"/>
                <a:cs typeface="微软雅黑"/>
              </a:rPr>
              <a:t>指令格</a:t>
            </a:r>
            <a:r>
              <a:rPr dirty="0" spc="-50">
                <a:solidFill>
                  <a:srgbClr val="4F55AC"/>
                </a:solidFill>
                <a:latin typeface="微软雅黑"/>
                <a:cs typeface="微软雅黑"/>
              </a:rPr>
              <a:t>式</a:t>
            </a:r>
            <a:r>
              <a:rPr dirty="0">
                <a:solidFill>
                  <a:srgbClr val="4F55AC"/>
                </a:solidFill>
                <a:latin typeface="微软雅黑"/>
                <a:cs typeface="微软雅黑"/>
              </a:rPr>
              <a:t>	</a:t>
            </a:r>
          </a:p>
        </p:txBody>
      </p:sp>
      <p:graphicFrame>
        <p:nvGraphicFramePr>
          <p:cNvPr id="5" name="object 5" descr=""/>
          <p:cNvGraphicFramePr>
            <a:graphicFrameLocks noGrp="1"/>
          </p:cNvGraphicFramePr>
          <p:nvPr/>
        </p:nvGraphicFramePr>
        <p:xfrm>
          <a:off x="2610135" y="5454487"/>
          <a:ext cx="6996430" cy="530225"/>
        </p:xfrm>
        <a:graphic>
          <a:graphicData uri="http://schemas.openxmlformats.org/drawingml/2006/table">
            <a:tbl>
              <a:tblPr firstRow="1" bandRow="1">
                <a:tableStyleId>{2D5ABB26-0587-4C30-8999-92F81FD0307C}</a:tableStyleId>
              </a:tblPr>
              <a:tblGrid>
                <a:gridCol w="1392555"/>
                <a:gridCol w="1030605"/>
                <a:gridCol w="1030605"/>
                <a:gridCol w="3450590"/>
              </a:tblGrid>
              <a:tr h="530225">
                <a:tc>
                  <a:txBody>
                    <a:bodyPr/>
                    <a:lstStyle/>
                    <a:p>
                      <a:pPr marL="384810">
                        <a:lnSpc>
                          <a:spcPct val="100000"/>
                        </a:lnSpc>
                        <a:spcBef>
                          <a:spcPts val="1090"/>
                        </a:spcBef>
                      </a:pPr>
                      <a:r>
                        <a:rPr dirty="0" sz="1700" spc="15">
                          <a:latin typeface="宋体"/>
                          <a:cs typeface="宋体"/>
                        </a:rPr>
                        <a:t>操作码</a:t>
                      </a:r>
                      <a:endParaRPr sz="1700">
                        <a:latin typeface="宋体"/>
                        <a:cs typeface="宋体"/>
                      </a:endParaRPr>
                    </a:p>
                  </a:txBody>
                  <a:tcPr marL="0" marR="0" marB="0" marT="1384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L="55880">
                        <a:lnSpc>
                          <a:spcPct val="100000"/>
                        </a:lnSpc>
                        <a:spcBef>
                          <a:spcPts val="484"/>
                        </a:spcBef>
                      </a:pPr>
                      <a:r>
                        <a:rPr dirty="0" sz="2050" spc="-25" b="1">
                          <a:latin typeface="Times New Roman"/>
                          <a:cs typeface="Times New Roman"/>
                        </a:rPr>
                        <a:t>rs</a:t>
                      </a:r>
                      <a:endParaRPr sz="2050">
                        <a:latin typeface="Times New Roman"/>
                        <a:cs typeface="Times New Roman"/>
                      </a:endParaRPr>
                    </a:p>
                  </a:txBody>
                  <a:tcPr marL="0" marR="0" marB="0" marT="61594">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R="55880">
                        <a:lnSpc>
                          <a:spcPct val="100000"/>
                        </a:lnSpc>
                        <a:spcBef>
                          <a:spcPts val="580"/>
                        </a:spcBef>
                      </a:pPr>
                      <a:r>
                        <a:rPr dirty="0" sz="2050" spc="-25" b="1">
                          <a:latin typeface="Times New Roman"/>
                          <a:cs typeface="Times New Roman"/>
                        </a:rPr>
                        <a:t>rt</a:t>
                      </a:r>
                      <a:endParaRPr sz="2050">
                        <a:latin typeface="Times New Roman"/>
                        <a:cs typeface="Times New Roman"/>
                      </a:endParaRPr>
                    </a:p>
                  </a:txBody>
                  <a:tcPr marL="0" marR="0" marB="0" marT="736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897890">
                        <a:lnSpc>
                          <a:spcPct val="100000"/>
                        </a:lnSpc>
                        <a:spcBef>
                          <a:spcPts val="1090"/>
                        </a:spcBef>
                      </a:pPr>
                      <a:r>
                        <a:rPr dirty="0" sz="1700" spc="15">
                          <a:latin typeface="宋体"/>
                          <a:cs typeface="宋体"/>
                        </a:rPr>
                        <a:t>立即数</a:t>
                      </a:r>
                      <a:r>
                        <a:rPr dirty="0" sz="1700" spc="-10">
                          <a:latin typeface="宋体"/>
                          <a:cs typeface="宋体"/>
                        </a:rPr>
                        <a:t>（</a:t>
                      </a:r>
                      <a:r>
                        <a:rPr dirty="0" sz="1700" spc="-10" b="1">
                          <a:latin typeface="Times New Roman"/>
                          <a:cs typeface="Times New Roman"/>
                        </a:rPr>
                        <a:t>immediate</a:t>
                      </a:r>
                      <a:r>
                        <a:rPr dirty="0" sz="1700" spc="-10">
                          <a:latin typeface="宋体"/>
                          <a:cs typeface="宋体"/>
                        </a:rPr>
                        <a:t>）</a:t>
                      </a:r>
                      <a:endParaRPr sz="1700">
                        <a:latin typeface="宋体"/>
                        <a:cs typeface="宋体"/>
                      </a:endParaRPr>
                    </a:p>
                  </a:txBody>
                  <a:tcPr marL="0" marR="0" marB="0" marT="1384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r>
            </a:tbl>
          </a:graphicData>
        </a:graphic>
      </p:graphicFrame>
      <p:sp>
        <p:nvSpPr>
          <p:cNvPr id="6" name="object 6" descr=""/>
          <p:cNvSpPr txBox="1"/>
          <p:nvPr/>
        </p:nvSpPr>
        <p:spPr>
          <a:xfrm>
            <a:off x="2629758" y="5991833"/>
            <a:ext cx="137160" cy="290830"/>
          </a:xfrm>
          <a:prstGeom prst="rect">
            <a:avLst/>
          </a:prstGeom>
        </p:spPr>
        <p:txBody>
          <a:bodyPr wrap="square" lIns="0" tIns="17780" rIns="0" bIns="0" rtlCol="0" vert="horz">
            <a:spAutoFit/>
          </a:bodyPr>
          <a:lstStyle/>
          <a:p>
            <a:pPr marL="12700">
              <a:lnSpc>
                <a:spcPct val="100000"/>
              </a:lnSpc>
              <a:spcBef>
                <a:spcPts val="140"/>
              </a:spcBef>
            </a:pPr>
            <a:r>
              <a:rPr dirty="0" sz="1700" spc="-50" b="1">
                <a:latin typeface="Times New Roman"/>
                <a:cs typeface="Times New Roman"/>
              </a:rPr>
              <a:t>0</a:t>
            </a:r>
            <a:endParaRPr sz="1700">
              <a:latin typeface="Times New Roman"/>
              <a:cs typeface="Times New Roman"/>
            </a:endParaRPr>
          </a:p>
        </p:txBody>
      </p:sp>
      <p:sp>
        <p:nvSpPr>
          <p:cNvPr id="7" name="object 7" descr=""/>
          <p:cNvSpPr txBox="1"/>
          <p:nvPr/>
        </p:nvSpPr>
        <p:spPr>
          <a:xfrm>
            <a:off x="3762826" y="5994820"/>
            <a:ext cx="445770" cy="290830"/>
          </a:xfrm>
          <a:prstGeom prst="rect">
            <a:avLst/>
          </a:prstGeom>
        </p:spPr>
        <p:txBody>
          <a:bodyPr wrap="square" lIns="0" tIns="17780" rIns="0" bIns="0" rtlCol="0" vert="horz">
            <a:spAutoFit/>
          </a:bodyPr>
          <a:lstStyle/>
          <a:p>
            <a:pPr marL="12700">
              <a:lnSpc>
                <a:spcPct val="100000"/>
              </a:lnSpc>
              <a:spcBef>
                <a:spcPts val="140"/>
              </a:spcBef>
              <a:tabLst>
                <a:tab pos="321310" algn="l"/>
              </a:tabLst>
            </a:pPr>
            <a:r>
              <a:rPr dirty="0" sz="1700" spc="-50" b="1">
                <a:latin typeface="Times New Roman"/>
                <a:cs typeface="Times New Roman"/>
              </a:rPr>
              <a:t>5</a:t>
            </a:r>
            <a:r>
              <a:rPr dirty="0" sz="1700" b="1">
                <a:latin typeface="Times New Roman"/>
                <a:cs typeface="Times New Roman"/>
              </a:rPr>
              <a:t>	</a:t>
            </a:r>
            <a:r>
              <a:rPr dirty="0" sz="1700" spc="-50" b="1">
                <a:latin typeface="Times New Roman"/>
                <a:cs typeface="Times New Roman"/>
              </a:rPr>
              <a:t>6</a:t>
            </a:r>
            <a:endParaRPr sz="1700">
              <a:latin typeface="Times New Roman"/>
              <a:cs typeface="Times New Roman"/>
            </a:endParaRPr>
          </a:p>
        </p:txBody>
      </p:sp>
      <p:sp>
        <p:nvSpPr>
          <p:cNvPr id="8" name="object 8" descr=""/>
          <p:cNvSpPr txBox="1"/>
          <p:nvPr/>
        </p:nvSpPr>
        <p:spPr>
          <a:xfrm>
            <a:off x="4743286" y="5994820"/>
            <a:ext cx="1638935" cy="290830"/>
          </a:xfrm>
          <a:prstGeom prst="rect">
            <a:avLst/>
          </a:prstGeom>
        </p:spPr>
        <p:txBody>
          <a:bodyPr wrap="square" lIns="0" tIns="17780" rIns="0" bIns="0" rtlCol="0" vert="horz">
            <a:spAutoFit/>
          </a:bodyPr>
          <a:lstStyle/>
          <a:p>
            <a:pPr marL="12700">
              <a:lnSpc>
                <a:spcPct val="100000"/>
              </a:lnSpc>
              <a:spcBef>
                <a:spcPts val="140"/>
              </a:spcBef>
              <a:tabLst>
                <a:tab pos="409575" algn="l"/>
                <a:tab pos="1042035" algn="l"/>
                <a:tab pos="1401445" algn="l"/>
              </a:tabLst>
            </a:pPr>
            <a:r>
              <a:rPr dirty="0" sz="1700" spc="-25" b="1">
                <a:latin typeface="Times New Roman"/>
                <a:cs typeface="Times New Roman"/>
              </a:rPr>
              <a:t>10</a:t>
            </a:r>
            <a:r>
              <a:rPr dirty="0" sz="1700" b="1">
                <a:latin typeface="Times New Roman"/>
                <a:cs typeface="Times New Roman"/>
              </a:rPr>
              <a:t>	</a:t>
            </a:r>
            <a:r>
              <a:rPr dirty="0" sz="1700" spc="-25" b="1">
                <a:latin typeface="Times New Roman"/>
                <a:cs typeface="Times New Roman"/>
              </a:rPr>
              <a:t>11</a:t>
            </a:r>
            <a:r>
              <a:rPr dirty="0" sz="1700" b="1">
                <a:latin typeface="Times New Roman"/>
                <a:cs typeface="Times New Roman"/>
              </a:rPr>
              <a:t>	</a:t>
            </a:r>
            <a:r>
              <a:rPr dirty="0" sz="1700" spc="-25" b="1">
                <a:latin typeface="Times New Roman"/>
                <a:cs typeface="Times New Roman"/>
              </a:rPr>
              <a:t>15</a:t>
            </a:r>
            <a:r>
              <a:rPr dirty="0" sz="1700" b="1">
                <a:latin typeface="Times New Roman"/>
                <a:cs typeface="Times New Roman"/>
              </a:rPr>
              <a:t>	</a:t>
            </a:r>
            <a:r>
              <a:rPr dirty="0" sz="1700" spc="-25" b="1">
                <a:latin typeface="Times New Roman"/>
                <a:cs typeface="Times New Roman"/>
              </a:rPr>
              <a:t>16</a:t>
            </a:r>
            <a:endParaRPr sz="1700">
              <a:latin typeface="Times New Roman"/>
              <a:cs typeface="Times New Roman"/>
            </a:endParaRPr>
          </a:p>
        </p:txBody>
      </p:sp>
      <p:sp>
        <p:nvSpPr>
          <p:cNvPr id="9" name="object 9" descr=""/>
          <p:cNvSpPr txBox="1"/>
          <p:nvPr/>
        </p:nvSpPr>
        <p:spPr>
          <a:xfrm>
            <a:off x="9223484" y="5994820"/>
            <a:ext cx="249554" cy="290830"/>
          </a:xfrm>
          <a:prstGeom prst="rect">
            <a:avLst/>
          </a:prstGeom>
        </p:spPr>
        <p:txBody>
          <a:bodyPr wrap="square" lIns="0" tIns="17780" rIns="0" bIns="0" rtlCol="0" vert="horz">
            <a:spAutoFit/>
          </a:bodyPr>
          <a:lstStyle/>
          <a:p>
            <a:pPr marL="12700">
              <a:lnSpc>
                <a:spcPct val="100000"/>
              </a:lnSpc>
              <a:spcBef>
                <a:spcPts val="140"/>
              </a:spcBef>
            </a:pPr>
            <a:r>
              <a:rPr dirty="0" sz="1700" spc="-25" b="1">
                <a:latin typeface="Times New Roman"/>
                <a:cs typeface="Times New Roman"/>
              </a:rPr>
              <a:t>31</a:t>
            </a:r>
            <a:endParaRPr sz="1700">
              <a:latin typeface="Times New Roman"/>
              <a:cs typeface="Times New Roman"/>
            </a:endParaRPr>
          </a:p>
        </p:txBody>
      </p:sp>
      <p:sp>
        <p:nvSpPr>
          <p:cNvPr id="10" name="object 10" descr=""/>
          <p:cNvSpPr txBox="1"/>
          <p:nvPr/>
        </p:nvSpPr>
        <p:spPr>
          <a:xfrm>
            <a:off x="1602994" y="684513"/>
            <a:ext cx="8573135" cy="5304790"/>
          </a:xfrm>
          <a:prstGeom prst="rect">
            <a:avLst/>
          </a:prstGeom>
        </p:spPr>
        <p:txBody>
          <a:bodyPr wrap="square" lIns="0" tIns="193040" rIns="0" bIns="0" rtlCol="0" vert="horz">
            <a:spAutoFit/>
          </a:bodyPr>
          <a:lstStyle/>
          <a:p>
            <a:pPr marL="469265" indent="-456565">
              <a:lnSpc>
                <a:spcPct val="100000"/>
              </a:lnSpc>
              <a:spcBef>
                <a:spcPts val="1520"/>
              </a:spcBef>
              <a:buClr>
                <a:srgbClr val="40458B"/>
              </a:buClr>
              <a:buSzPct val="117857"/>
              <a:buFont typeface="Wingdings"/>
              <a:buChar char=""/>
              <a:tabLst>
                <a:tab pos="469265" algn="l"/>
              </a:tabLst>
            </a:pPr>
            <a:r>
              <a:rPr dirty="0" sz="2800" spc="-20">
                <a:solidFill>
                  <a:srgbClr val="FF0000"/>
                </a:solidFill>
                <a:latin typeface="黑体"/>
                <a:cs typeface="黑体"/>
              </a:rPr>
              <a:t>I</a:t>
            </a:r>
            <a:r>
              <a:rPr dirty="0" sz="2800" spc="-40">
                <a:solidFill>
                  <a:srgbClr val="FF0000"/>
                </a:solidFill>
                <a:latin typeface="黑体"/>
                <a:cs typeface="黑体"/>
              </a:rPr>
              <a:t>类指令主要能完成功能</a:t>
            </a:r>
            <a:endParaRPr sz="2800">
              <a:latin typeface="黑体"/>
              <a:cs typeface="黑体"/>
            </a:endParaRPr>
          </a:p>
          <a:p>
            <a:pPr lvl="1" marL="1099185" indent="-457200">
              <a:lnSpc>
                <a:spcPct val="100000"/>
              </a:lnSpc>
              <a:spcBef>
                <a:spcPts val="1220"/>
              </a:spcBef>
              <a:buClr>
                <a:srgbClr val="006FC0"/>
              </a:buClr>
              <a:buSzPct val="89583"/>
              <a:buFont typeface="Wingdings"/>
              <a:buChar char=""/>
              <a:tabLst>
                <a:tab pos="1099185" algn="l"/>
              </a:tabLst>
            </a:pPr>
            <a:r>
              <a:rPr dirty="0" sz="2400" spc="-10">
                <a:solidFill>
                  <a:srgbClr val="00AFEF"/>
                </a:solidFill>
                <a:latin typeface="黑体"/>
                <a:cs typeface="黑体"/>
              </a:rPr>
              <a:t>计算型指令</a:t>
            </a:r>
            <a:endParaRPr sz="2400">
              <a:latin typeface="黑体"/>
              <a:cs typeface="黑体"/>
            </a:endParaRPr>
          </a:p>
          <a:p>
            <a:pPr lvl="2" marL="1912620" indent="-457200">
              <a:lnSpc>
                <a:spcPct val="100000"/>
              </a:lnSpc>
              <a:spcBef>
                <a:spcPts val="1019"/>
              </a:spcBef>
              <a:buClr>
                <a:srgbClr val="4668F5"/>
              </a:buClr>
              <a:buSzPct val="72500"/>
              <a:buFont typeface="Wingdings"/>
              <a:buChar char=""/>
              <a:tabLst>
                <a:tab pos="1912620" algn="l"/>
              </a:tabLst>
            </a:pPr>
            <a:r>
              <a:rPr dirty="0" sz="2000" spc="-20" b="1">
                <a:solidFill>
                  <a:srgbClr val="6F2F9F"/>
                </a:solidFill>
                <a:latin typeface="黑体"/>
                <a:cs typeface="黑体"/>
              </a:rPr>
              <a:t>程序执行时，源操作数为</a:t>
            </a:r>
            <a:r>
              <a:rPr dirty="0" sz="2000" spc="-30" b="1">
                <a:solidFill>
                  <a:srgbClr val="6F2F9F"/>
                </a:solidFill>
                <a:latin typeface="宋体"/>
                <a:cs typeface="宋体"/>
              </a:rPr>
              <a:t>rs</a:t>
            </a:r>
            <a:r>
              <a:rPr dirty="0" sz="2000" spc="-20" b="1">
                <a:solidFill>
                  <a:srgbClr val="6F2F9F"/>
                </a:solidFill>
                <a:latin typeface="黑体"/>
                <a:cs typeface="黑体"/>
              </a:rPr>
              <a:t>或者立即数，目标操作数为</a:t>
            </a:r>
            <a:r>
              <a:rPr dirty="0" sz="2000" spc="-10" b="1">
                <a:solidFill>
                  <a:srgbClr val="6F2F9F"/>
                </a:solidFill>
                <a:latin typeface="宋体"/>
                <a:cs typeface="宋体"/>
              </a:rPr>
              <a:t>rt</a:t>
            </a:r>
            <a:r>
              <a:rPr dirty="0" sz="2000" spc="-50" b="1">
                <a:solidFill>
                  <a:srgbClr val="6F2F9F"/>
                </a:solidFill>
                <a:latin typeface="黑体"/>
                <a:cs typeface="黑体"/>
              </a:rPr>
              <a:t>。</a:t>
            </a:r>
            <a:endParaRPr sz="2000">
              <a:latin typeface="黑体"/>
              <a:cs typeface="黑体"/>
            </a:endParaRPr>
          </a:p>
          <a:p>
            <a:pPr lvl="1" marL="1099185" indent="-457200">
              <a:lnSpc>
                <a:spcPct val="100000"/>
              </a:lnSpc>
              <a:spcBef>
                <a:spcPts val="1090"/>
              </a:spcBef>
              <a:buClr>
                <a:srgbClr val="006FC0"/>
              </a:buClr>
              <a:buSzPct val="89583"/>
              <a:buFont typeface="Wingdings"/>
              <a:buChar char=""/>
              <a:tabLst>
                <a:tab pos="1099185" algn="l"/>
              </a:tabLst>
            </a:pPr>
            <a:r>
              <a:rPr dirty="0" sz="2400" spc="-20">
                <a:solidFill>
                  <a:srgbClr val="00AFEF"/>
                </a:solidFill>
                <a:latin typeface="黑体"/>
                <a:cs typeface="黑体"/>
              </a:rPr>
              <a:t>存取数型指令</a:t>
            </a:r>
            <a:endParaRPr sz="2400">
              <a:latin typeface="黑体"/>
              <a:cs typeface="黑体"/>
            </a:endParaRPr>
          </a:p>
          <a:p>
            <a:pPr lvl="2" marL="1912620" marR="5715" indent="-457200">
              <a:lnSpc>
                <a:spcPct val="120000"/>
              </a:lnSpc>
              <a:spcBef>
                <a:spcPts val="545"/>
              </a:spcBef>
              <a:buClr>
                <a:srgbClr val="4668F5"/>
              </a:buClr>
              <a:buSzPct val="72500"/>
              <a:buFont typeface="Wingdings"/>
              <a:buChar char=""/>
              <a:tabLst>
                <a:tab pos="1912620" algn="l"/>
              </a:tabLst>
            </a:pPr>
            <a:r>
              <a:rPr dirty="0" sz="2000" spc="-25" b="1">
                <a:solidFill>
                  <a:srgbClr val="6F2F9F"/>
                </a:solidFill>
                <a:latin typeface="黑体"/>
                <a:cs typeface="黑体"/>
              </a:rPr>
              <a:t>用于用于取数和存数操作，立即数：有符号数或无符号数，操作码根据不同指令而不同。</a:t>
            </a:r>
            <a:endParaRPr sz="2000">
              <a:latin typeface="黑体"/>
              <a:cs typeface="黑体"/>
            </a:endParaRPr>
          </a:p>
          <a:p>
            <a:pPr marL="1098550" indent="-272415">
              <a:lnSpc>
                <a:spcPct val="100000"/>
              </a:lnSpc>
              <a:spcBef>
                <a:spcPts val="1090"/>
              </a:spcBef>
              <a:buClr>
                <a:srgbClr val="006FC0"/>
              </a:buClr>
              <a:buSzPct val="85416"/>
              <a:buFont typeface="Wingdings"/>
              <a:buChar char=""/>
              <a:tabLst>
                <a:tab pos="1098550" algn="l"/>
              </a:tabLst>
            </a:pPr>
            <a:r>
              <a:rPr dirty="0" sz="2400" spc="-20">
                <a:solidFill>
                  <a:srgbClr val="00AFEF"/>
                </a:solidFill>
                <a:latin typeface="黑体"/>
                <a:cs typeface="黑体"/>
              </a:rPr>
              <a:t>条件判断指令</a:t>
            </a:r>
            <a:endParaRPr sz="2400">
              <a:latin typeface="黑体"/>
              <a:cs typeface="黑体"/>
            </a:endParaRPr>
          </a:p>
          <a:p>
            <a:pPr lvl="1" marL="1912620" marR="386715" indent="-457200">
              <a:lnSpc>
                <a:spcPct val="120000"/>
              </a:lnSpc>
              <a:spcBef>
                <a:spcPts val="545"/>
              </a:spcBef>
              <a:buClr>
                <a:srgbClr val="4668F5"/>
              </a:buClr>
              <a:buSzPct val="72500"/>
              <a:buFont typeface="Wingdings"/>
              <a:buChar char=""/>
              <a:tabLst>
                <a:tab pos="1912620" algn="l"/>
              </a:tabLst>
            </a:pPr>
            <a:r>
              <a:rPr dirty="0" sz="2000" spc="-20" b="1">
                <a:solidFill>
                  <a:srgbClr val="6F2F9F"/>
                </a:solidFill>
                <a:latin typeface="黑体"/>
                <a:cs typeface="黑体"/>
              </a:rPr>
              <a:t>涉及到条件分支的操作，使用</a:t>
            </a:r>
            <a:r>
              <a:rPr dirty="0" sz="2000" spc="-15" b="1">
                <a:solidFill>
                  <a:srgbClr val="6F2F9F"/>
                </a:solidFill>
                <a:latin typeface="宋体"/>
                <a:cs typeface="宋体"/>
              </a:rPr>
              <a:t>1</a:t>
            </a:r>
            <a:r>
              <a:rPr dirty="0" sz="2000" spc="-25" b="1">
                <a:solidFill>
                  <a:srgbClr val="6F2F9F"/>
                </a:solidFill>
                <a:latin typeface="黑体"/>
                <a:cs typeface="黑体"/>
              </a:rPr>
              <a:t>个寄存器和一个偏移量进</a:t>
            </a:r>
            <a:r>
              <a:rPr dirty="0" sz="2000" spc="-15" b="1">
                <a:solidFill>
                  <a:srgbClr val="6F2F9F"/>
                </a:solidFill>
                <a:latin typeface="黑体"/>
                <a:cs typeface="黑体"/>
              </a:rPr>
              <a:t>行操作，根据</a:t>
            </a:r>
            <a:r>
              <a:rPr dirty="0" sz="2000" spc="-10" b="1">
                <a:solidFill>
                  <a:srgbClr val="6F2F9F"/>
                </a:solidFill>
                <a:latin typeface="宋体"/>
                <a:cs typeface="宋体"/>
              </a:rPr>
              <a:t>rs</a:t>
            </a:r>
            <a:r>
              <a:rPr dirty="0" sz="2000" spc="-25" b="1">
                <a:solidFill>
                  <a:srgbClr val="6F2F9F"/>
                </a:solidFill>
                <a:latin typeface="黑体"/>
                <a:cs typeface="黑体"/>
              </a:rPr>
              <a:t>中的值进行条件分支操作。</a:t>
            </a:r>
            <a:endParaRPr sz="2000">
              <a:latin typeface="黑体"/>
              <a:cs typeface="黑体"/>
            </a:endParaRPr>
          </a:p>
          <a:p>
            <a:pPr marL="1656714">
              <a:lnSpc>
                <a:spcPct val="100000"/>
              </a:lnSpc>
              <a:spcBef>
                <a:spcPts val="2235"/>
              </a:spcBef>
              <a:tabLst>
                <a:tab pos="2893695" algn="l"/>
                <a:tab pos="3820795" algn="l"/>
                <a:tab pos="5984240" algn="l"/>
              </a:tabLst>
            </a:pPr>
            <a:r>
              <a:rPr dirty="0" sz="1700" spc="-50" b="1">
                <a:latin typeface="Times New Roman"/>
                <a:cs typeface="Times New Roman"/>
              </a:rPr>
              <a:t>6</a:t>
            </a:r>
            <a:r>
              <a:rPr dirty="0" sz="1700" b="1">
                <a:latin typeface="Times New Roman"/>
                <a:cs typeface="Times New Roman"/>
              </a:rPr>
              <a:t>	</a:t>
            </a:r>
            <a:r>
              <a:rPr dirty="0" sz="1700" spc="-50" b="1">
                <a:latin typeface="Times New Roman"/>
                <a:cs typeface="Times New Roman"/>
              </a:rPr>
              <a:t>5</a:t>
            </a:r>
            <a:r>
              <a:rPr dirty="0" sz="1700" b="1">
                <a:latin typeface="Times New Roman"/>
                <a:cs typeface="Times New Roman"/>
              </a:rPr>
              <a:t>	</a:t>
            </a:r>
            <a:r>
              <a:rPr dirty="0" sz="1700" spc="-50" b="1">
                <a:latin typeface="Times New Roman"/>
                <a:cs typeface="Times New Roman"/>
              </a:rPr>
              <a:t>5</a:t>
            </a:r>
            <a:r>
              <a:rPr dirty="0" sz="1700" b="1">
                <a:latin typeface="Times New Roman"/>
                <a:cs typeface="Times New Roman"/>
              </a:rPr>
              <a:t>	</a:t>
            </a:r>
            <a:r>
              <a:rPr dirty="0" sz="1700" spc="-25" b="1">
                <a:latin typeface="Times New Roman"/>
                <a:cs typeface="Times New Roman"/>
              </a:rPr>
              <a:t>16</a:t>
            </a:r>
            <a:endParaRPr sz="1700">
              <a:latin typeface="Times New Roman"/>
              <a:cs typeface="Times New Roman"/>
            </a:endParaRPr>
          </a:p>
          <a:p>
            <a:pPr marL="12700">
              <a:lnSpc>
                <a:spcPct val="100000"/>
              </a:lnSpc>
              <a:spcBef>
                <a:spcPts val="475"/>
              </a:spcBef>
            </a:pPr>
            <a:r>
              <a:rPr dirty="0" sz="3300" spc="-50">
                <a:solidFill>
                  <a:srgbClr val="40458B"/>
                </a:solidFill>
                <a:latin typeface="Wingdings"/>
                <a:cs typeface="Wingdings"/>
              </a:rPr>
              <a:t></a:t>
            </a:r>
            <a:endParaRPr sz="3300">
              <a:latin typeface="Wingdings"/>
              <a:cs typeface="Wingdings"/>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1602994" y="715328"/>
            <a:ext cx="8832215" cy="4062729"/>
          </a:xfrm>
          <a:prstGeom prst="rect">
            <a:avLst/>
          </a:prstGeom>
        </p:spPr>
        <p:txBody>
          <a:bodyPr wrap="square" lIns="0" tIns="181610" rIns="0" bIns="0" rtlCol="0" vert="horz">
            <a:spAutoFit/>
          </a:bodyPr>
          <a:lstStyle/>
          <a:p>
            <a:pPr marL="354965" indent="-342265">
              <a:lnSpc>
                <a:spcPct val="100000"/>
              </a:lnSpc>
              <a:spcBef>
                <a:spcPts val="1430"/>
              </a:spcBef>
              <a:buClr>
                <a:srgbClr val="40458B"/>
              </a:buClr>
              <a:buSzPct val="114285"/>
              <a:buFont typeface="Wingdings"/>
              <a:buChar char=""/>
              <a:tabLst>
                <a:tab pos="354965" algn="l"/>
              </a:tabLst>
            </a:pPr>
            <a:r>
              <a:rPr dirty="0" sz="2800" spc="-20">
                <a:solidFill>
                  <a:srgbClr val="172152"/>
                </a:solidFill>
                <a:latin typeface="Tahoma"/>
                <a:cs typeface="Tahoma"/>
              </a:rPr>
              <a:t>I</a:t>
            </a:r>
            <a:r>
              <a:rPr dirty="0" sz="2800" spc="-35">
                <a:solidFill>
                  <a:srgbClr val="172152"/>
                </a:solidFill>
                <a:latin typeface="黑体"/>
                <a:cs typeface="黑体"/>
              </a:rPr>
              <a:t>类指令</a:t>
            </a:r>
            <a:endParaRPr sz="2800">
              <a:latin typeface="黑体"/>
              <a:cs typeface="黑体"/>
            </a:endParaRPr>
          </a:p>
          <a:p>
            <a:pPr lvl="1" marL="696595" indent="-272415">
              <a:lnSpc>
                <a:spcPct val="100000"/>
              </a:lnSpc>
              <a:spcBef>
                <a:spcPts val="1340"/>
              </a:spcBef>
              <a:buSzPct val="88636"/>
              <a:buFont typeface="Wingdings"/>
              <a:buChar char=""/>
              <a:tabLst>
                <a:tab pos="696595" algn="l"/>
              </a:tabLst>
            </a:pPr>
            <a:r>
              <a:rPr dirty="0" sz="2200" spc="-25">
                <a:solidFill>
                  <a:srgbClr val="006FC0"/>
                </a:solidFill>
                <a:latin typeface="黑体"/>
                <a:cs typeface="黑体"/>
              </a:rPr>
              <a:t>包括所有的</a:t>
            </a:r>
            <a:r>
              <a:rPr dirty="0" sz="2200" spc="-20">
                <a:solidFill>
                  <a:srgbClr val="006FC0"/>
                </a:solidFill>
                <a:latin typeface="Tahoma"/>
                <a:cs typeface="Tahoma"/>
              </a:rPr>
              <a:t>load</a:t>
            </a:r>
            <a:r>
              <a:rPr dirty="0" sz="2200" spc="-25">
                <a:solidFill>
                  <a:srgbClr val="006FC0"/>
                </a:solidFill>
                <a:latin typeface="黑体"/>
                <a:cs typeface="黑体"/>
              </a:rPr>
              <a:t>和</a:t>
            </a:r>
            <a:r>
              <a:rPr dirty="0" sz="2200" spc="-25">
                <a:solidFill>
                  <a:srgbClr val="006FC0"/>
                </a:solidFill>
                <a:latin typeface="Tahoma"/>
                <a:cs typeface="Tahoma"/>
              </a:rPr>
              <a:t>store</a:t>
            </a:r>
            <a:r>
              <a:rPr dirty="0" sz="2200" spc="-35">
                <a:solidFill>
                  <a:srgbClr val="006FC0"/>
                </a:solidFill>
                <a:latin typeface="黑体"/>
                <a:cs typeface="黑体"/>
              </a:rPr>
              <a:t>指令，立即数指令，分支指令，寄存器跳转</a:t>
            </a:r>
            <a:endParaRPr sz="2200">
              <a:latin typeface="黑体"/>
              <a:cs typeface="黑体"/>
            </a:endParaRPr>
          </a:p>
          <a:p>
            <a:pPr marL="696595">
              <a:lnSpc>
                <a:spcPct val="100000"/>
              </a:lnSpc>
              <a:spcBef>
                <a:spcPts val="795"/>
              </a:spcBef>
            </a:pPr>
            <a:r>
              <a:rPr dirty="0" sz="2200" spc="-30">
                <a:solidFill>
                  <a:srgbClr val="006FC0"/>
                </a:solidFill>
                <a:latin typeface="黑体"/>
                <a:cs typeface="黑体"/>
              </a:rPr>
              <a:t>指令，寄存器链接跳转指令（程序外）</a:t>
            </a:r>
            <a:r>
              <a:rPr dirty="0" sz="2200" spc="-50">
                <a:solidFill>
                  <a:srgbClr val="006FC0"/>
                </a:solidFill>
                <a:latin typeface="黑体"/>
                <a:cs typeface="黑体"/>
              </a:rPr>
              <a:t>。</a:t>
            </a:r>
            <a:endParaRPr sz="2200">
              <a:latin typeface="黑体"/>
              <a:cs typeface="黑体"/>
            </a:endParaRPr>
          </a:p>
          <a:p>
            <a:pPr lvl="2" marL="1307465" indent="-359410">
              <a:lnSpc>
                <a:spcPct val="100000"/>
              </a:lnSpc>
              <a:spcBef>
                <a:spcPts val="1230"/>
              </a:spcBef>
              <a:buClr>
                <a:srgbClr val="4668F5"/>
              </a:buClr>
              <a:buSzPct val="72500"/>
              <a:buFont typeface="Wingdings"/>
              <a:buChar char=""/>
              <a:tabLst>
                <a:tab pos="1307465" algn="l"/>
              </a:tabLst>
            </a:pPr>
            <a:r>
              <a:rPr dirty="0" sz="2000" spc="-20" b="1">
                <a:solidFill>
                  <a:srgbClr val="6F2F9F"/>
                </a:solidFill>
                <a:latin typeface="黑体"/>
                <a:cs typeface="黑体"/>
              </a:rPr>
              <a:t>寄存器跳转指令</a:t>
            </a:r>
            <a:r>
              <a:rPr dirty="0" sz="2000" spc="-10" b="1">
                <a:solidFill>
                  <a:srgbClr val="6F2F9F"/>
                </a:solidFill>
                <a:latin typeface="黑体"/>
                <a:cs typeface="黑体"/>
              </a:rPr>
              <a:t>（</a:t>
            </a:r>
            <a:r>
              <a:rPr dirty="0" sz="2000" spc="-20" b="1">
                <a:solidFill>
                  <a:srgbClr val="6F2F9F"/>
                </a:solidFill>
                <a:latin typeface="黑体"/>
                <a:cs typeface="黑体"/>
              </a:rPr>
              <a:t>程序内，修改</a:t>
            </a:r>
            <a:r>
              <a:rPr dirty="0" sz="2000" spc="-25" b="1">
                <a:solidFill>
                  <a:srgbClr val="6F2F9F"/>
                </a:solidFill>
                <a:latin typeface="黑体"/>
                <a:cs typeface="黑体"/>
              </a:rPr>
              <a:t>PC）</a:t>
            </a:r>
            <a:endParaRPr sz="2000">
              <a:latin typeface="黑体"/>
              <a:cs typeface="黑体"/>
            </a:endParaRPr>
          </a:p>
          <a:p>
            <a:pPr lvl="2" marL="1307465" indent="-359410">
              <a:lnSpc>
                <a:spcPct val="100000"/>
              </a:lnSpc>
              <a:spcBef>
                <a:spcPts val="1205"/>
              </a:spcBef>
              <a:buClr>
                <a:srgbClr val="4668F5"/>
              </a:buClr>
              <a:buSzPct val="72500"/>
              <a:buFont typeface="Wingdings"/>
              <a:buChar char=""/>
              <a:tabLst>
                <a:tab pos="1307465" algn="l"/>
              </a:tabLst>
            </a:pPr>
            <a:r>
              <a:rPr dirty="0" sz="2000" spc="-20" b="1">
                <a:solidFill>
                  <a:srgbClr val="6F2F9F"/>
                </a:solidFill>
                <a:latin typeface="黑体"/>
                <a:cs typeface="黑体"/>
              </a:rPr>
              <a:t>寄存器链接跳转指令</a:t>
            </a:r>
            <a:r>
              <a:rPr dirty="0" sz="2000" spc="-10" b="1">
                <a:solidFill>
                  <a:srgbClr val="6F2F9F"/>
                </a:solidFill>
                <a:latin typeface="黑体"/>
                <a:cs typeface="黑体"/>
              </a:rPr>
              <a:t>（</a:t>
            </a:r>
            <a:r>
              <a:rPr dirty="0" sz="2000" spc="-20" b="1">
                <a:solidFill>
                  <a:srgbClr val="6F2F9F"/>
                </a:solidFill>
                <a:latin typeface="黑体"/>
                <a:cs typeface="黑体"/>
              </a:rPr>
              <a:t>程序外，例如函数调用</a:t>
            </a:r>
            <a:r>
              <a:rPr dirty="0" sz="2000" spc="-50" b="1">
                <a:solidFill>
                  <a:srgbClr val="6F2F9F"/>
                </a:solidFill>
                <a:latin typeface="黑体"/>
                <a:cs typeface="黑体"/>
              </a:rPr>
              <a:t>）</a:t>
            </a:r>
            <a:endParaRPr sz="2000">
              <a:latin typeface="黑体"/>
              <a:cs typeface="黑体"/>
            </a:endParaRPr>
          </a:p>
          <a:p>
            <a:pPr lvl="1" marL="696595" indent="-272415">
              <a:lnSpc>
                <a:spcPct val="100000"/>
              </a:lnSpc>
              <a:spcBef>
                <a:spcPts val="1285"/>
              </a:spcBef>
              <a:buSzPct val="88636"/>
              <a:buFont typeface="Wingdings"/>
              <a:buChar char=""/>
              <a:tabLst>
                <a:tab pos="696595" algn="l"/>
              </a:tabLst>
            </a:pPr>
            <a:r>
              <a:rPr dirty="0" sz="2200">
                <a:solidFill>
                  <a:srgbClr val="006FC0"/>
                </a:solidFill>
                <a:latin typeface="Tahoma"/>
                <a:cs typeface="Tahoma"/>
              </a:rPr>
              <a:t>rs</a:t>
            </a:r>
            <a:r>
              <a:rPr dirty="0" sz="2200" spc="60">
                <a:solidFill>
                  <a:srgbClr val="006FC0"/>
                </a:solidFill>
                <a:latin typeface="Tahoma"/>
                <a:cs typeface="Tahoma"/>
              </a:rPr>
              <a:t> </a:t>
            </a:r>
            <a:r>
              <a:rPr dirty="0" sz="2200" spc="-60">
                <a:solidFill>
                  <a:srgbClr val="006FC0"/>
                </a:solidFill>
                <a:latin typeface="黑体"/>
                <a:cs typeface="黑体"/>
              </a:rPr>
              <a:t>源操作数寄存器编号 </a:t>
            </a:r>
            <a:r>
              <a:rPr dirty="0" sz="2200" spc="-10">
                <a:solidFill>
                  <a:srgbClr val="006FC0"/>
                </a:solidFill>
                <a:latin typeface="Tahoma"/>
                <a:cs typeface="Tahoma"/>
              </a:rPr>
              <a:t>rt</a:t>
            </a:r>
            <a:r>
              <a:rPr dirty="0" sz="2200" spc="-35">
                <a:solidFill>
                  <a:srgbClr val="006FC0"/>
                </a:solidFill>
                <a:latin typeface="黑体"/>
                <a:cs typeface="黑体"/>
              </a:rPr>
              <a:t>：目标寄存器变编号。</a:t>
            </a:r>
            <a:endParaRPr sz="2200">
              <a:latin typeface="黑体"/>
              <a:cs typeface="黑体"/>
            </a:endParaRPr>
          </a:p>
          <a:p>
            <a:pPr lvl="1" marL="696595" indent="-272415">
              <a:lnSpc>
                <a:spcPct val="100000"/>
              </a:lnSpc>
              <a:spcBef>
                <a:spcPts val="1320"/>
              </a:spcBef>
              <a:buSzPct val="88636"/>
              <a:buFont typeface="Wingdings"/>
              <a:buChar char=""/>
              <a:tabLst>
                <a:tab pos="696595" algn="l"/>
              </a:tabLst>
            </a:pPr>
            <a:r>
              <a:rPr dirty="0" sz="2200" spc="-35">
                <a:solidFill>
                  <a:srgbClr val="006FC0"/>
                </a:solidFill>
                <a:latin typeface="黑体"/>
                <a:cs typeface="黑体"/>
              </a:rPr>
              <a:t>有一个操作数是立即数提供的。</a:t>
            </a:r>
            <a:endParaRPr sz="2200">
              <a:latin typeface="黑体"/>
              <a:cs typeface="黑体"/>
            </a:endParaRPr>
          </a:p>
          <a:p>
            <a:pPr lvl="1" marL="696595" indent="-272415">
              <a:lnSpc>
                <a:spcPct val="100000"/>
              </a:lnSpc>
              <a:spcBef>
                <a:spcPts val="1325"/>
              </a:spcBef>
              <a:buSzPct val="88636"/>
              <a:buFont typeface="Wingdings"/>
              <a:buChar char=""/>
              <a:tabLst>
                <a:tab pos="696595" algn="l"/>
              </a:tabLst>
            </a:pPr>
            <a:r>
              <a:rPr dirty="0" sz="2200" spc="-25">
                <a:solidFill>
                  <a:srgbClr val="006FC0"/>
                </a:solidFill>
                <a:latin typeface="黑体"/>
                <a:cs typeface="黑体"/>
              </a:rPr>
              <a:t>立即数字段为</a:t>
            </a:r>
            <a:r>
              <a:rPr dirty="0" sz="2200" spc="-20">
                <a:solidFill>
                  <a:srgbClr val="006FC0"/>
                </a:solidFill>
                <a:latin typeface="Tahoma"/>
                <a:cs typeface="Tahoma"/>
              </a:rPr>
              <a:t>16</a:t>
            </a:r>
            <a:r>
              <a:rPr dirty="0" sz="2200" spc="-30">
                <a:solidFill>
                  <a:srgbClr val="006FC0"/>
                </a:solidFill>
                <a:latin typeface="黑体"/>
                <a:cs typeface="黑体"/>
              </a:rPr>
              <a:t>位用于提供立即数或偏移量</a:t>
            </a:r>
            <a:r>
              <a:rPr dirty="0" sz="2200" spc="-15">
                <a:solidFill>
                  <a:srgbClr val="006FC0"/>
                </a:solidFill>
                <a:latin typeface="黑体"/>
                <a:cs typeface="黑体"/>
              </a:rPr>
              <a:t>（</a:t>
            </a:r>
            <a:r>
              <a:rPr dirty="0" sz="2200" spc="-15">
                <a:solidFill>
                  <a:srgbClr val="006FC0"/>
                </a:solidFill>
                <a:latin typeface="Tahoma"/>
                <a:cs typeface="Tahoma"/>
              </a:rPr>
              <a:t>-</a:t>
            </a:r>
            <a:r>
              <a:rPr dirty="0" sz="2200" spc="-20">
                <a:solidFill>
                  <a:srgbClr val="006FC0"/>
                </a:solidFill>
                <a:latin typeface="Tahoma"/>
                <a:cs typeface="Tahoma"/>
              </a:rPr>
              <a:t>32768-32767</a:t>
            </a:r>
            <a:r>
              <a:rPr dirty="0" sz="2200" spc="-20">
                <a:solidFill>
                  <a:srgbClr val="006FC0"/>
                </a:solidFill>
                <a:latin typeface="黑体"/>
                <a:cs typeface="黑体"/>
              </a:rPr>
              <a:t>）</a:t>
            </a:r>
            <a:r>
              <a:rPr dirty="0" sz="2200" spc="-120">
                <a:solidFill>
                  <a:srgbClr val="006FC0"/>
                </a:solidFill>
                <a:latin typeface="黑体"/>
                <a:cs typeface="黑体"/>
              </a:rPr>
              <a:t> 。</a:t>
            </a:r>
            <a:endParaRPr sz="2200">
              <a:latin typeface="黑体"/>
              <a:cs typeface="黑体"/>
            </a:endParaRPr>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rPr>
              <a:t>	2.6.4</a:t>
            </a:r>
            <a:r>
              <a:rPr dirty="0" spc="-40">
                <a:solidFill>
                  <a:srgbClr val="4F55AC"/>
                </a:solidFill>
              </a:rPr>
              <a:t> </a:t>
            </a:r>
            <a:r>
              <a:rPr dirty="0">
                <a:solidFill>
                  <a:srgbClr val="4F55AC"/>
                </a:solidFill>
              </a:rPr>
              <a:t>MIPS</a:t>
            </a:r>
            <a:r>
              <a:rPr dirty="0" spc="-10">
                <a:solidFill>
                  <a:srgbClr val="4F55AC"/>
                </a:solidFill>
                <a:latin typeface="微软雅黑"/>
                <a:cs typeface="微软雅黑"/>
              </a:rPr>
              <a:t>指令格</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5" name="object 5" descr=""/>
          <p:cNvSpPr txBox="1"/>
          <p:nvPr/>
        </p:nvSpPr>
        <p:spPr>
          <a:xfrm>
            <a:off x="2750408" y="5401325"/>
            <a:ext cx="6817995" cy="1106805"/>
          </a:xfrm>
          <a:prstGeom prst="rect">
            <a:avLst/>
          </a:prstGeom>
        </p:spPr>
        <p:txBody>
          <a:bodyPr wrap="square" lIns="0" tIns="0" rIns="0" bIns="0" rtlCol="0" vert="horz">
            <a:spAutoFit/>
          </a:bodyPr>
          <a:lstStyle/>
          <a:p>
            <a:pPr marL="617220">
              <a:lnSpc>
                <a:spcPts val="1914"/>
              </a:lnSpc>
              <a:tabLst>
                <a:tab pos="1854200" algn="l"/>
                <a:tab pos="2781300" algn="l"/>
                <a:tab pos="4944745" algn="l"/>
              </a:tabLst>
            </a:pPr>
            <a:r>
              <a:rPr dirty="0" sz="1700" spc="-50" b="1">
                <a:latin typeface="Times New Roman"/>
                <a:cs typeface="Times New Roman"/>
              </a:rPr>
              <a:t>6</a:t>
            </a:r>
            <a:r>
              <a:rPr dirty="0" sz="1700" b="1">
                <a:latin typeface="Times New Roman"/>
                <a:cs typeface="Times New Roman"/>
              </a:rPr>
              <a:t>	</a:t>
            </a:r>
            <a:r>
              <a:rPr dirty="0" sz="1700" spc="-50" b="1">
                <a:latin typeface="Times New Roman"/>
                <a:cs typeface="Times New Roman"/>
              </a:rPr>
              <a:t>5</a:t>
            </a:r>
            <a:r>
              <a:rPr dirty="0" sz="1700" b="1">
                <a:latin typeface="Times New Roman"/>
                <a:cs typeface="Times New Roman"/>
              </a:rPr>
              <a:t>	</a:t>
            </a:r>
            <a:r>
              <a:rPr dirty="0" sz="1700" spc="-50" b="1">
                <a:latin typeface="Times New Roman"/>
                <a:cs typeface="Times New Roman"/>
              </a:rPr>
              <a:t>5</a:t>
            </a:r>
            <a:r>
              <a:rPr dirty="0" sz="1700" b="1">
                <a:latin typeface="Times New Roman"/>
                <a:cs typeface="Times New Roman"/>
              </a:rPr>
              <a:t>	</a:t>
            </a:r>
            <a:r>
              <a:rPr dirty="0" sz="1700" spc="-25" b="1">
                <a:latin typeface="Times New Roman"/>
                <a:cs typeface="Times New Roman"/>
              </a:rPr>
              <a:t>16</a:t>
            </a:r>
            <a:endParaRPr sz="1700">
              <a:latin typeface="Times New Roman"/>
              <a:cs typeface="Times New Roman"/>
            </a:endParaRPr>
          </a:p>
          <a:p>
            <a:pPr marL="361315">
              <a:lnSpc>
                <a:spcPct val="100000"/>
              </a:lnSpc>
              <a:spcBef>
                <a:spcPts val="1140"/>
              </a:spcBef>
              <a:tabLst>
                <a:tab pos="1803400" algn="l"/>
                <a:tab pos="2781300" algn="l"/>
                <a:tab pos="4326890" algn="l"/>
              </a:tabLst>
            </a:pPr>
            <a:r>
              <a:rPr dirty="0" sz="1700" spc="50">
                <a:latin typeface="宋体"/>
                <a:cs typeface="宋体"/>
              </a:rPr>
              <a:t>操</a:t>
            </a:r>
            <a:r>
              <a:rPr dirty="0" sz="1700">
                <a:latin typeface="宋体"/>
                <a:cs typeface="宋体"/>
              </a:rPr>
              <a:t>作码	</a:t>
            </a:r>
            <a:r>
              <a:rPr dirty="0" baseline="6775" sz="3075" spc="-37" b="1">
                <a:latin typeface="Times New Roman"/>
                <a:cs typeface="Times New Roman"/>
              </a:rPr>
              <a:t>rs</a:t>
            </a:r>
            <a:r>
              <a:rPr dirty="0" baseline="6775" sz="3075" b="1">
                <a:latin typeface="Times New Roman"/>
                <a:cs typeface="Times New Roman"/>
              </a:rPr>
              <a:t>	</a:t>
            </a:r>
            <a:r>
              <a:rPr dirty="0" baseline="4065" sz="3075" spc="-37" b="1">
                <a:latin typeface="Times New Roman"/>
                <a:cs typeface="Times New Roman"/>
              </a:rPr>
              <a:t>rt</a:t>
            </a:r>
            <a:r>
              <a:rPr dirty="0" baseline="4065" sz="3075" b="1">
                <a:latin typeface="Times New Roman"/>
                <a:cs typeface="Times New Roman"/>
              </a:rPr>
              <a:t>	</a:t>
            </a:r>
            <a:r>
              <a:rPr dirty="0" sz="1700" spc="50">
                <a:latin typeface="宋体"/>
                <a:cs typeface="宋体"/>
              </a:rPr>
              <a:t>立</a:t>
            </a:r>
            <a:r>
              <a:rPr dirty="0" sz="1700">
                <a:latin typeface="宋体"/>
                <a:cs typeface="宋体"/>
              </a:rPr>
              <a:t>即数</a:t>
            </a:r>
            <a:r>
              <a:rPr dirty="0" sz="1700" spc="-10">
                <a:latin typeface="宋体"/>
                <a:cs typeface="宋体"/>
              </a:rPr>
              <a:t>（</a:t>
            </a:r>
            <a:r>
              <a:rPr dirty="0" sz="1700" spc="-10" b="1">
                <a:latin typeface="Times New Roman"/>
                <a:cs typeface="Times New Roman"/>
              </a:rPr>
              <a:t>immediate</a:t>
            </a:r>
            <a:r>
              <a:rPr dirty="0" sz="1700" spc="-10">
                <a:latin typeface="宋体"/>
                <a:cs typeface="宋体"/>
              </a:rPr>
              <a:t>）</a:t>
            </a:r>
            <a:endParaRPr sz="1700">
              <a:latin typeface="宋体"/>
              <a:cs typeface="宋体"/>
            </a:endParaRPr>
          </a:p>
          <a:p>
            <a:pPr>
              <a:lnSpc>
                <a:spcPct val="100000"/>
              </a:lnSpc>
              <a:spcBef>
                <a:spcPts val="1125"/>
              </a:spcBef>
              <a:tabLst>
                <a:tab pos="1132840" algn="l"/>
                <a:tab pos="1441450" algn="l"/>
                <a:tab pos="2113280" algn="l"/>
                <a:tab pos="2510155" algn="l"/>
                <a:tab pos="3143250" algn="l"/>
                <a:tab pos="3502025" algn="l"/>
                <a:tab pos="6593205" algn="l"/>
              </a:tabLst>
            </a:pPr>
            <a:r>
              <a:rPr dirty="0" sz="1700" spc="-50" b="1">
                <a:latin typeface="Times New Roman"/>
                <a:cs typeface="Times New Roman"/>
              </a:rPr>
              <a:t>0</a:t>
            </a:r>
            <a:r>
              <a:rPr dirty="0" sz="1700" b="1">
                <a:latin typeface="Times New Roman"/>
                <a:cs typeface="Times New Roman"/>
              </a:rPr>
              <a:t>	</a:t>
            </a:r>
            <a:r>
              <a:rPr dirty="0" sz="1700" spc="-50" b="1">
                <a:latin typeface="Times New Roman"/>
                <a:cs typeface="Times New Roman"/>
              </a:rPr>
              <a:t>5</a:t>
            </a:r>
            <a:r>
              <a:rPr dirty="0" sz="1700" b="1">
                <a:latin typeface="Times New Roman"/>
                <a:cs typeface="Times New Roman"/>
              </a:rPr>
              <a:t>	</a:t>
            </a:r>
            <a:r>
              <a:rPr dirty="0" sz="1700" spc="-50" b="1">
                <a:latin typeface="Times New Roman"/>
                <a:cs typeface="Times New Roman"/>
              </a:rPr>
              <a:t>6</a:t>
            </a:r>
            <a:r>
              <a:rPr dirty="0" sz="1700" b="1">
                <a:latin typeface="Times New Roman"/>
                <a:cs typeface="Times New Roman"/>
              </a:rPr>
              <a:t>	</a:t>
            </a:r>
            <a:r>
              <a:rPr dirty="0" sz="1700" spc="-25" b="1">
                <a:latin typeface="Times New Roman"/>
                <a:cs typeface="Times New Roman"/>
              </a:rPr>
              <a:t>10</a:t>
            </a:r>
            <a:r>
              <a:rPr dirty="0" sz="1700" b="1">
                <a:latin typeface="Times New Roman"/>
                <a:cs typeface="Times New Roman"/>
              </a:rPr>
              <a:t>	</a:t>
            </a:r>
            <a:r>
              <a:rPr dirty="0" sz="1700" spc="-25" b="1">
                <a:latin typeface="Times New Roman"/>
                <a:cs typeface="Times New Roman"/>
              </a:rPr>
              <a:t>11</a:t>
            </a:r>
            <a:r>
              <a:rPr dirty="0" sz="1700" b="1">
                <a:latin typeface="Times New Roman"/>
                <a:cs typeface="Times New Roman"/>
              </a:rPr>
              <a:t>	</a:t>
            </a:r>
            <a:r>
              <a:rPr dirty="0" sz="1700" spc="-25" b="1">
                <a:latin typeface="Times New Roman"/>
                <a:cs typeface="Times New Roman"/>
              </a:rPr>
              <a:t>15</a:t>
            </a:r>
            <a:r>
              <a:rPr dirty="0" sz="1700" b="1">
                <a:latin typeface="Times New Roman"/>
                <a:cs typeface="Times New Roman"/>
              </a:rPr>
              <a:t>	</a:t>
            </a:r>
            <a:r>
              <a:rPr dirty="0" sz="1700" spc="-25" b="1">
                <a:latin typeface="Times New Roman"/>
                <a:cs typeface="Times New Roman"/>
              </a:rPr>
              <a:t>16</a:t>
            </a:r>
            <a:r>
              <a:rPr dirty="0" sz="1700" b="1">
                <a:latin typeface="Times New Roman"/>
                <a:cs typeface="Times New Roman"/>
              </a:rPr>
              <a:t>	</a:t>
            </a:r>
            <a:r>
              <a:rPr dirty="0" sz="1700" spc="-25" b="1">
                <a:latin typeface="Times New Roman"/>
                <a:cs typeface="Times New Roman"/>
              </a:rPr>
              <a:t>31</a:t>
            </a:r>
            <a:endParaRPr sz="1700">
              <a:latin typeface="Times New Roman"/>
              <a:cs typeface="Times New Roman"/>
            </a:endParaRPr>
          </a:p>
        </p:txBody>
      </p:sp>
      <p:sp>
        <p:nvSpPr>
          <p:cNvPr id="6" name="object 6" descr=""/>
          <p:cNvSpPr/>
          <p:nvPr/>
        </p:nvSpPr>
        <p:spPr>
          <a:xfrm>
            <a:off x="2459101" y="5316537"/>
            <a:ext cx="7273925" cy="1152525"/>
          </a:xfrm>
          <a:custGeom>
            <a:avLst/>
            <a:gdLst/>
            <a:ahLst/>
            <a:cxnLst/>
            <a:rect l="l" t="t" r="r" b="b"/>
            <a:pathLst>
              <a:path w="7273925" h="1152525">
                <a:moveTo>
                  <a:pt x="7273925" y="0"/>
                </a:moveTo>
                <a:lnTo>
                  <a:pt x="0" y="0"/>
                </a:lnTo>
                <a:lnTo>
                  <a:pt x="0" y="1152525"/>
                </a:lnTo>
                <a:lnTo>
                  <a:pt x="7273925" y="1152525"/>
                </a:lnTo>
                <a:lnTo>
                  <a:pt x="7273925" y="0"/>
                </a:lnTo>
                <a:close/>
              </a:path>
            </a:pathLst>
          </a:custGeom>
          <a:solidFill>
            <a:srgbClr val="FFFFCC"/>
          </a:solidFill>
        </p:spPr>
        <p:txBody>
          <a:bodyPr wrap="square" lIns="0" tIns="0" rIns="0" bIns="0" rtlCol="0"/>
          <a:lstStyle/>
          <a:p/>
        </p:txBody>
      </p:sp>
      <p:graphicFrame>
        <p:nvGraphicFramePr>
          <p:cNvPr id="7" name="object 7" descr=""/>
          <p:cNvGraphicFramePr>
            <a:graphicFrameLocks noGrp="1"/>
          </p:cNvGraphicFramePr>
          <p:nvPr/>
        </p:nvGraphicFramePr>
        <p:xfrm>
          <a:off x="2718085" y="5686262"/>
          <a:ext cx="6996430" cy="530225"/>
        </p:xfrm>
        <a:graphic>
          <a:graphicData uri="http://schemas.openxmlformats.org/drawingml/2006/table">
            <a:tbl>
              <a:tblPr firstRow="1" bandRow="1">
                <a:tableStyleId>{2D5ABB26-0587-4C30-8999-92F81FD0307C}</a:tableStyleId>
              </a:tblPr>
              <a:tblGrid>
                <a:gridCol w="1392555"/>
                <a:gridCol w="1030605"/>
                <a:gridCol w="1030605"/>
                <a:gridCol w="3450590"/>
              </a:tblGrid>
              <a:tr h="530225">
                <a:tc>
                  <a:txBody>
                    <a:bodyPr/>
                    <a:lstStyle/>
                    <a:p>
                      <a:pPr marL="384810">
                        <a:lnSpc>
                          <a:spcPct val="100000"/>
                        </a:lnSpc>
                        <a:spcBef>
                          <a:spcPts val="1090"/>
                        </a:spcBef>
                      </a:pPr>
                      <a:r>
                        <a:rPr dirty="0" sz="1700" spc="15">
                          <a:latin typeface="宋体"/>
                          <a:cs typeface="宋体"/>
                        </a:rPr>
                        <a:t>操作码</a:t>
                      </a:r>
                      <a:endParaRPr sz="1700">
                        <a:latin typeface="宋体"/>
                        <a:cs typeface="宋体"/>
                      </a:endParaRPr>
                    </a:p>
                  </a:txBody>
                  <a:tcPr marL="0" marR="0" marB="0" marT="1384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L="55880">
                        <a:lnSpc>
                          <a:spcPct val="100000"/>
                        </a:lnSpc>
                        <a:spcBef>
                          <a:spcPts val="484"/>
                        </a:spcBef>
                      </a:pPr>
                      <a:r>
                        <a:rPr dirty="0" sz="2050" spc="-25" b="1">
                          <a:latin typeface="Times New Roman"/>
                          <a:cs typeface="Times New Roman"/>
                        </a:rPr>
                        <a:t>rs</a:t>
                      </a:r>
                      <a:endParaRPr sz="2050">
                        <a:latin typeface="Times New Roman"/>
                        <a:cs typeface="Times New Roman"/>
                      </a:endParaRPr>
                    </a:p>
                  </a:txBody>
                  <a:tcPr marL="0" marR="0" marB="0" marT="61594">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R="55880">
                        <a:lnSpc>
                          <a:spcPct val="100000"/>
                        </a:lnSpc>
                        <a:spcBef>
                          <a:spcPts val="580"/>
                        </a:spcBef>
                      </a:pPr>
                      <a:r>
                        <a:rPr dirty="0" sz="2050" spc="-25" b="1">
                          <a:latin typeface="Times New Roman"/>
                          <a:cs typeface="Times New Roman"/>
                        </a:rPr>
                        <a:t>rt</a:t>
                      </a:r>
                      <a:endParaRPr sz="2050">
                        <a:latin typeface="Times New Roman"/>
                        <a:cs typeface="Times New Roman"/>
                      </a:endParaRPr>
                    </a:p>
                  </a:txBody>
                  <a:tcPr marL="0" marR="0" marB="0" marT="736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897890">
                        <a:lnSpc>
                          <a:spcPct val="100000"/>
                        </a:lnSpc>
                        <a:spcBef>
                          <a:spcPts val="1090"/>
                        </a:spcBef>
                      </a:pPr>
                      <a:r>
                        <a:rPr dirty="0" sz="1700" spc="15">
                          <a:latin typeface="宋体"/>
                          <a:cs typeface="宋体"/>
                        </a:rPr>
                        <a:t>立即数</a:t>
                      </a:r>
                      <a:r>
                        <a:rPr dirty="0" sz="1700" spc="-10">
                          <a:latin typeface="宋体"/>
                          <a:cs typeface="宋体"/>
                        </a:rPr>
                        <a:t>（</a:t>
                      </a:r>
                      <a:r>
                        <a:rPr dirty="0" sz="1700" spc="-10" b="1">
                          <a:latin typeface="Times New Roman"/>
                          <a:cs typeface="Times New Roman"/>
                        </a:rPr>
                        <a:t>immediate</a:t>
                      </a:r>
                      <a:r>
                        <a:rPr dirty="0" sz="1700" spc="-10">
                          <a:latin typeface="宋体"/>
                          <a:cs typeface="宋体"/>
                        </a:rPr>
                        <a:t>）</a:t>
                      </a:r>
                      <a:endParaRPr sz="1700">
                        <a:latin typeface="宋体"/>
                        <a:cs typeface="宋体"/>
                      </a:endParaRPr>
                    </a:p>
                  </a:txBody>
                  <a:tcPr marL="0" marR="0" marB="0" marT="1384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r>
            </a:tbl>
          </a:graphicData>
        </a:graphic>
      </p:graphicFrame>
      <p:sp>
        <p:nvSpPr>
          <p:cNvPr id="8" name="object 8" descr=""/>
          <p:cNvSpPr txBox="1"/>
          <p:nvPr/>
        </p:nvSpPr>
        <p:spPr>
          <a:xfrm>
            <a:off x="3355425" y="5367556"/>
            <a:ext cx="137160" cy="290830"/>
          </a:xfrm>
          <a:prstGeom prst="rect">
            <a:avLst/>
          </a:prstGeom>
        </p:spPr>
        <p:txBody>
          <a:bodyPr wrap="square" lIns="0" tIns="17780" rIns="0" bIns="0" rtlCol="0" vert="horz">
            <a:spAutoFit/>
          </a:bodyPr>
          <a:lstStyle/>
          <a:p>
            <a:pPr marL="12700">
              <a:lnSpc>
                <a:spcPct val="100000"/>
              </a:lnSpc>
              <a:spcBef>
                <a:spcPts val="140"/>
              </a:spcBef>
            </a:pPr>
            <a:r>
              <a:rPr dirty="0" sz="1700" spc="-50" b="1">
                <a:latin typeface="Times New Roman"/>
                <a:cs typeface="Times New Roman"/>
              </a:rPr>
              <a:t>6</a:t>
            </a:r>
            <a:endParaRPr sz="1700">
              <a:latin typeface="Times New Roman"/>
              <a:cs typeface="Times New Roman"/>
            </a:endParaRPr>
          </a:p>
        </p:txBody>
      </p:sp>
      <p:sp>
        <p:nvSpPr>
          <p:cNvPr id="9" name="object 9" descr=""/>
          <p:cNvSpPr txBox="1"/>
          <p:nvPr/>
        </p:nvSpPr>
        <p:spPr>
          <a:xfrm>
            <a:off x="4592057" y="5367556"/>
            <a:ext cx="137160" cy="290830"/>
          </a:xfrm>
          <a:prstGeom prst="rect">
            <a:avLst/>
          </a:prstGeom>
        </p:spPr>
        <p:txBody>
          <a:bodyPr wrap="square" lIns="0" tIns="17780" rIns="0" bIns="0" rtlCol="0" vert="horz">
            <a:spAutoFit/>
          </a:bodyPr>
          <a:lstStyle/>
          <a:p>
            <a:pPr marL="12700">
              <a:lnSpc>
                <a:spcPct val="100000"/>
              </a:lnSpc>
              <a:spcBef>
                <a:spcPts val="140"/>
              </a:spcBef>
            </a:pPr>
            <a:r>
              <a:rPr dirty="0" sz="1700" spc="-50" b="1">
                <a:latin typeface="Times New Roman"/>
                <a:cs typeface="Times New Roman"/>
              </a:rPr>
              <a:t>5</a:t>
            </a:r>
            <a:endParaRPr sz="1700">
              <a:latin typeface="Times New Roman"/>
              <a:cs typeface="Times New Roman"/>
            </a:endParaRPr>
          </a:p>
        </p:txBody>
      </p:sp>
      <p:sp>
        <p:nvSpPr>
          <p:cNvPr id="10" name="object 10" descr=""/>
          <p:cNvSpPr txBox="1"/>
          <p:nvPr/>
        </p:nvSpPr>
        <p:spPr>
          <a:xfrm>
            <a:off x="5519171" y="5364576"/>
            <a:ext cx="137160" cy="290830"/>
          </a:xfrm>
          <a:prstGeom prst="rect">
            <a:avLst/>
          </a:prstGeom>
        </p:spPr>
        <p:txBody>
          <a:bodyPr wrap="square" lIns="0" tIns="17780" rIns="0" bIns="0" rtlCol="0" vert="horz">
            <a:spAutoFit/>
          </a:bodyPr>
          <a:lstStyle/>
          <a:p>
            <a:pPr marL="12700">
              <a:lnSpc>
                <a:spcPct val="100000"/>
              </a:lnSpc>
              <a:spcBef>
                <a:spcPts val="140"/>
              </a:spcBef>
            </a:pPr>
            <a:r>
              <a:rPr dirty="0" sz="1700" spc="-50" b="1">
                <a:latin typeface="Times New Roman"/>
                <a:cs typeface="Times New Roman"/>
              </a:rPr>
              <a:t>5</a:t>
            </a:r>
            <a:endParaRPr sz="1700">
              <a:latin typeface="Times New Roman"/>
              <a:cs typeface="Times New Roman"/>
            </a:endParaRPr>
          </a:p>
        </p:txBody>
      </p:sp>
      <p:sp>
        <p:nvSpPr>
          <p:cNvPr id="11" name="object 11" descr=""/>
          <p:cNvSpPr txBox="1"/>
          <p:nvPr/>
        </p:nvSpPr>
        <p:spPr>
          <a:xfrm>
            <a:off x="7683112" y="5364576"/>
            <a:ext cx="249554" cy="290830"/>
          </a:xfrm>
          <a:prstGeom prst="rect">
            <a:avLst/>
          </a:prstGeom>
        </p:spPr>
        <p:txBody>
          <a:bodyPr wrap="square" lIns="0" tIns="17780" rIns="0" bIns="0" rtlCol="0" vert="horz">
            <a:spAutoFit/>
          </a:bodyPr>
          <a:lstStyle/>
          <a:p>
            <a:pPr marL="12700">
              <a:lnSpc>
                <a:spcPct val="100000"/>
              </a:lnSpc>
              <a:spcBef>
                <a:spcPts val="140"/>
              </a:spcBef>
            </a:pPr>
            <a:r>
              <a:rPr dirty="0" sz="1700" spc="-25" b="1">
                <a:latin typeface="Times New Roman"/>
                <a:cs typeface="Times New Roman"/>
              </a:rPr>
              <a:t>16</a:t>
            </a:r>
            <a:endParaRPr sz="1700">
              <a:latin typeface="Times New Roman"/>
              <a:cs typeface="Times New Roman"/>
            </a:endParaRPr>
          </a:p>
        </p:txBody>
      </p:sp>
      <p:sp>
        <p:nvSpPr>
          <p:cNvPr id="12" name="object 12" descr=""/>
          <p:cNvSpPr txBox="1"/>
          <p:nvPr/>
        </p:nvSpPr>
        <p:spPr>
          <a:xfrm>
            <a:off x="2737708" y="6223608"/>
            <a:ext cx="137160" cy="290830"/>
          </a:xfrm>
          <a:prstGeom prst="rect">
            <a:avLst/>
          </a:prstGeom>
        </p:spPr>
        <p:txBody>
          <a:bodyPr wrap="square" lIns="0" tIns="17780" rIns="0" bIns="0" rtlCol="0" vert="horz">
            <a:spAutoFit/>
          </a:bodyPr>
          <a:lstStyle/>
          <a:p>
            <a:pPr marL="12700">
              <a:lnSpc>
                <a:spcPct val="100000"/>
              </a:lnSpc>
              <a:spcBef>
                <a:spcPts val="140"/>
              </a:spcBef>
            </a:pPr>
            <a:r>
              <a:rPr dirty="0" sz="1700" spc="-50" b="1">
                <a:latin typeface="Times New Roman"/>
                <a:cs typeface="Times New Roman"/>
              </a:rPr>
              <a:t>0</a:t>
            </a:r>
            <a:endParaRPr sz="1700">
              <a:latin typeface="Times New Roman"/>
              <a:cs typeface="Times New Roman"/>
            </a:endParaRPr>
          </a:p>
        </p:txBody>
      </p:sp>
      <p:sp>
        <p:nvSpPr>
          <p:cNvPr id="13" name="object 13" descr=""/>
          <p:cNvSpPr txBox="1"/>
          <p:nvPr/>
        </p:nvSpPr>
        <p:spPr>
          <a:xfrm>
            <a:off x="3870776" y="6226595"/>
            <a:ext cx="445770" cy="290830"/>
          </a:xfrm>
          <a:prstGeom prst="rect">
            <a:avLst/>
          </a:prstGeom>
        </p:spPr>
        <p:txBody>
          <a:bodyPr wrap="square" lIns="0" tIns="17780" rIns="0" bIns="0" rtlCol="0" vert="horz">
            <a:spAutoFit/>
          </a:bodyPr>
          <a:lstStyle/>
          <a:p>
            <a:pPr marL="12700">
              <a:lnSpc>
                <a:spcPct val="100000"/>
              </a:lnSpc>
              <a:spcBef>
                <a:spcPts val="140"/>
              </a:spcBef>
              <a:tabLst>
                <a:tab pos="321310" algn="l"/>
              </a:tabLst>
            </a:pPr>
            <a:r>
              <a:rPr dirty="0" sz="1700" spc="-50" b="1">
                <a:latin typeface="Times New Roman"/>
                <a:cs typeface="Times New Roman"/>
              </a:rPr>
              <a:t>5</a:t>
            </a:r>
            <a:r>
              <a:rPr dirty="0" sz="1700" b="1">
                <a:latin typeface="Times New Roman"/>
                <a:cs typeface="Times New Roman"/>
              </a:rPr>
              <a:t>	</a:t>
            </a:r>
            <a:r>
              <a:rPr dirty="0" sz="1700" spc="-50" b="1">
                <a:latin typeface="Times New Roman"/>
                <a:cs typeface="Times New Roman"/>
              </a:rPr>
              <a:t>6</a:t>
            </a:r>
            <a:endParaRPr sz="1700">
              <a:latin typeface="Times New Roman"/>
              <a:cs typeface="Times New Roman"/>
            </a:endParaRPr>
          </a:p>
        </p:txBody>
      </p:sp>
      <p:sp>
        <p:nvSpPr>
          <p:cNvPr id="14" name="object 14" descr=""/>
          <p:cNvSpPr txBox="1"/>
          <p:nvPr/>
        </p:nvSpPr>
        <p:spPr>
          <a:xfrm>
            <a:off x="4851236" y="6226595"/>
            <a:ext cx="1638935" cy="290830"/>
          </a:xfrm>
          <a:prstGeom prst="rect">
            <a:avLst/>
          </a:prstGeom>
        </p:spPr>
        <p:txBody>
          <a:bodyPr wrap="square" lIns="0" tIns="17780" rIns="0" bIns="0" rtlCol="0" vert="horz">
            <a:spAutoFit/>
          </a:bodyPr>
          <a:lstStyle/>
          <a:p>
            <a:pPr marL="12700">
              <a:lnSpc>
                <a:spcPct val="100000"/>
              </a:lnSpc>
              <a:spcBef>
                <a:spcPts val="140"/>
              </a:spcBef>
              <a:tabLst>
                <a:tab pos="409575" algn="l"/>
                <a:tab pos="1042035" algn="l"/>
                <a:tab pos="1401445" algn="l"/>
              </a:tabLst>
            </a:pPr>
            <a:r>
              <a:rPr dirty="0" sz="1700" spc="-25" b="1">
                <a:latin typeface="Times New Roman"/>
                <a:cs typeface="Times New Roman"/>
              </a:rPr>
              <a:t>10</a:t>
            </a:r>
            <a:r>
              <a:rPr dirty="0" sz="1700" b="1">
                <a:latin typeface="Times New Roman"/>
                <a:cs typeface="Times New Roman"/>
              </a:rPr>
              <a:t>	</a:t>
            </a:r>
            <a:r>
              <a:rPr dirty="0" sz="1700" spc="-25" b="1">
                <a:latin typeface="Times New Roman"/>
                <a:cs typeface="Times New Roman"/>
              </a:rPr>
              <a:t>11</a:t>
            </a:r>
            <a:r>
              <a:rPr dirty="0" sz="1700" b="1">
                <a:latin typeface="Times New Roman"/>
                <a:cs typeface="Times New Roman"/>
              </a:rPr>
              <a:t>	</a:t>
            </a:r>
            <a:r>
              <a:rPr dirty="0" sz="1700" spc="-25" b="1">
                <a:latin typeface="Times New Roman"/>
                <a:cs typeface="Times New Roman"/>
              </a:rPr>
              <a:t>15</a:t>
            </a:r>
            <a:r>
              <a:rPr dirty="0" sz="1700" b="1">
                <a:latin typeface="Times New Roman"/>
                <a:cs typeface="Times New Roman"/>
              </a:rPr>
              <a:t>	</a:t>
            </a:r>
            <a:r>
              <a:rPr dirty="0" sz="1700" spc="-25" b="1">
                <a:latin typeface="Times New Roman"/>
                <a:cs typeface="Times New Roman"/>
              </a:rPr>
              <a:t>16</a:t>
            </a:r>
            <a:endParaRPr sz="1700">
              <a:latin typeface="Times New Roman"/>
              <a:cs typeface="Times New Roman"/>
            </a:endParaRPr>
          </a:p>
        </p:txBody>
      </p:sp>
      <p:sp>
        <p:nvSpPr>
          <p:cNvPr id="15" name="object 15" descr=""/>
          <p:cNvSpPr txBox="1"/>
          <p:nvPr/>
        </p:nvSpPr>
        <p:spPr>
          <a:xfrm>
            <a:off x="9331434" y="6226595"/>
            <a:ext cx="249554" cy="290830"/>
          </a:xfrm>
          <a:prstGeom prst="rect">
            <a:avLst/>
          </a:prstGeom>
        </p:spPr>
        <p:txBody>
          <a:bodyPr wrap="square" lIns="0" tIns="17780" rIns="0" bIns="0" rtlCol="0" vert="horz">
            <a:spAutoFit/>
          </a:bodyPr>
          <a:lstStyle/>
          <a:p>
            <a:pPr marL="12700">
              <a:lnSpc>
                <a:spcPct val="100000"/>
              </a:lnSpc>
              <a:spcBef>
                <a:spcPts val="140"/>
              </a:spcBef>
            </a:pPr>
            <a:r>
              <a:rPr dirty="0" sz="1700" spc="-25" b="1">
                <a:latin typeface="Times New Roman"/>
                <a:cs typeface="Times New Roman"/>
              </a:rPr>
              <a:t>31</a:t>
            </a:r>
            <a:endParaRPr sz="1700">
              <a:latin typeface="Times New Roman"/>
              <a:cs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2.6.4</a:t>
            </a:r>
            <a:r>
              <a:rPr dirty="0" spc="-40">
                <a:solidFill>
                  <a:srgbClr val="4F55AC"/>
                </a:solidFill>
              </a:rPr>
              <a:t> </a:t>
            </a:r>
            <a:r>
              <a:rPr dirty="0">
                <a:solidFill>
                  <a:srgbClr val="4F55AC"/>
                </a:solidFill>
              </a:rPr>
              <a:t>MIPS</a:t>
            </a:r>
            <a:r>
              <a:rPr dirty="0" spc="-10">
                <a:solidFill>
                  <a:srgbClr val="4F55AC"/>
                </a:solidFill>
                <a:latin typeface="微软雅黑"/>
                <a:cs typeface="微软雅黑"/>
              </a:rPr>
              <a:t>指令格</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4" name="object 4" descr=""/>
          <p:cNvSpPr txBox="1"/>
          <p:nvPr/>
        </p:nvSpPr>
        <p:spPr>
          <a:xfrm>
            <a:off x="702665" y="731256"/>
            <a:ext cx="1927860" cy="1069975"/>
          </a:xfrm>
          <a:prstGeom prst="rect">
            <a:avLst/>
          </a:prstGeom>
        </p:spPr>
        <p:txBody>
          <a:bodyPr wrap="square" lIns="0" tIns="84455" rIns="0" bIns="0" rtlCol="0" vert="horz">
            <a:spAutoFit/>
          </a:bodyPr>
          <a:lstStyle/>
          <a:p>
            <a:pPr marL="372110" indent="-359410">
              <a:lnSpc>
                <a:spcPct val="100000"/>
              </a:lnSpc>
              <a:spcBef>
                <a:spcPts val="665"/>
              </a:spcBef>
              <a:buClr>
                <a:srgbClr val="40458B"/>
              </a:buClr>
              <a:buSzPct val="117857"/>
              <a:buFont typeface="Wingdings"/>
              <a:buChar char=""/>
              <a:tabLst>
                <a:tab pos="372110" algn="l"/>
              </a:tabLst>
            </a:pPr>
            <a:r>
              <a:rPr dirty="0" sz="2800" spc="-10">
                <a:solidFill>
                  <a:srgbClr val="006FC0"/>
                </a:solidFill>
                <a:latin typeface="宋体"/>
                <a:cs typeface="宋体"/>
              </a:rPr>
              <a:t>I</a:t>
            </a:r>
            <a:r>
              <a:rPr dirty="0" sz="2800" spc="-35">
                <a:solidFill>
                  <a:srgbClr val="006FC0"/>
                </a:solidFill>
                <a:latin typeface="黑体"/>
                <a:cs typeface="黑体"/>
              </a:rPr>
              <a:t>类指令</a:t>
            </a:r>
            <a:endParaRPr sz="2800">
              <a:latin typeface="黑体"/>
              <a:cs typeface="黑体"/>
            </a:endParaRPr>
          </a:p>
          <a:p>
            <a:pPr lvl="1" marL="694690" indent="-357505">
              <a:lnSpc>
                <a:spcPct val="100000"/>
              </a:lnSpc>
              <a:spcBef>
                <a:spcPts val="815"/>
              </a:spcBef>
              <a:buClr>
                <a:srgbClr val="006FC0"/>
              </a:buClr>
              <a:buSzPct val="89583"/>
              <a:buFont typeface="Wingdings"/>
              <a:buChar char=""/>
              <a:tabLst>
                <a:tab pos="694690" algn="l"/>
              </a:tabLst>
            </a:pPr>
            <a:r>
              <a:rPr dirty="0" sz="2400" spc="-10">
                <a:solidFill>
                  <a:srgbClr val="9933FF"/>
                </a:solidFill>
                <a:latin typeface="宋体"/>
                <a:cs typeface="宋体"/>
              </a:rPr>
              <a:t>load</a:t>
            </a:r>
            <a:r>
              <a:rPr dirty="0" sz="2400" spc="-25">
                <a:solidFill>
                  <a:srgbClr val="9933FF"/>
                </a:solidFill>
                <a:latin typeface="黑体"/>
                <a:cs typeface="黑体"/>
              </a:rPr>
              <a:t>指令</a:t>
            </a:r>
            <a:endParaRPr sz="2400">
              <a:latin typeface="黑体"/>
              <a:cs typeface="黑体"/>
            </a:endParaRPr>
          </a:p>
        </p:txBody>
      </p:sp>
      <p:sp>
        <p:nvSpPr>
          <p:cNvPr id="5" name="object 5" descr=""/>
          <p:cNvSpPr/>
          <p:nvPr/>
        </p:nvSpPr>
        <p:spPr>
          <a:xfrm>
            <a:off x="4330700" y="836599"/>
            <a:ext cx="7273925" cy="1013460"/>
          </a:xfrm>
          <a:custGeom>
            <a:avLst/>
            <a:gdLst/>
            <a:ahLst/>
            <a:cxnLst/>
            <a:rect l="l" t="t" r="r" b="b"/>
            <a:pathLst>
              <a:path w="7273925" h="1013460">
                <a:moveTo>
                  <a:pt x="7273925" y="0"/>
                </a:moveTo>
                <a:lnTo>
                  <a:pt x="0" y="0"/>
                </a:lnTo>
                <a:lnTo>
                  <a:pt x="0" y="1013282"/>
                </a:lnTo>
                <a:lnTo>
                  <a:pt x="7273925" y="1013282"/>
                </a:lnTo>
                <a:lnTo>
                  <a:pt x="7273925" y="0"/>
                </a:lnTo>
                <a:close/>
              </a:path>
            </a:pathLst>
          </a:custGeom>
          <a:solidFill>
            <a:srgbClr val="FFFFCC"/>
          </a:solidFill>
        </p:spPr>
        <p:txBody>
          <a:bodyPr wrap="square" lIns="0" tIns="0" rIns="0" bIns="0" rtlCol="0"/>
          <a:lstStyle/>
          <a:p/>
        </p:txBody>
      </p:sp>
      <p:graphicFrame>
        <p:nvGraphicFramePr>
          <p:cNvPr id="6" name="object 6" descr=""/>
          <p:cNvGraphicFramePr>
            <a:graphicFrameLocks noGrp="1"/>
          </p:cNvGraphicFramePr>
          <p:nvPr/>
        </p:nvGraphicFramePr>
        <p:xfrm>
          <a:off x="4482017" y="1085497"/>
          <a:ext cx="6994525" cy="466090"/>
        </p:xfrm>
        <a:graphic>
          <a:graphicData uri="http://schemas.openxmlformats.org/drawingml/2006/table">
            <a:tbl>
              <a:tblPr firstRow="1" bandRow="1">
                <a:tableStyleId>{2D5ABB26-0587-4C30-8999-92F81FD0307C}</a:tableStyleId>
              </a:tblPr>
              <a:tblGrid>
                <a:gridCol w="1392555"/>
                <a:gridCol w="1030605"/>
                <a:gridCol w="1030605"/>
                <a:gridCol w="3450590"/>
              </a:tblGrid>
              <a:tr h="466090">
                <a:tc>
                  <a:txBody>
                    <a:bodyPr/>
                    <a:lstStyle/>
                    <a:p>
                      <a:pPr marL="384810">
                        <a:lnSpc>
                          <a:spcPct val="100000"/>
                        </a:lnSpc>
                        <a:spcBef>
                          <a:spcPts val="955"/>
                        </a:spcBef>
                      </a:pPr>
                      <a:r>
                        <a:rPr dirty="0" sz="1500" spc="215">
                          <a:latin typeface="宋体"/>
                          <a:cs typeface="宋体"/>
                        </a:rPr>
                        <a:t>操作码</a:t>
                      </a:r>
                      <a:endParaRPr sz="1500">
                        <a:latin typeface="宋体"/>
                        <a:cs typeface="宋体"/>
                      </a:endParaRPr>
                    </a:p>
                  </a:txBody>
                  <a:tcPr marL="0" marR="0" marB="0" marT="12128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L="55880">
                        <a:lnSpc>
                          <a:spcPct val="100000"/>
                        </a:lnSpc>
                        <a:spcBef>
                          <a:spcPts val="430"/>
                        </a:spcBef>
                      </a:pPr>
                      <a:r>
                        <a:rPr dirty="0" sz="1800" spc="70" b="1">
                          <a:latin typeface="Times New Roman"/>
                          <a:cs typeface="Times New Roman"/>
                        </a:rPr>
                        <a:t>rs</a:t>
                      </a:r>
                      <a:endParaRPr sz="1800">
                        <a:latin typeface="Times New Roman"/>
                        <a:cs typeface="Times New Roman"/>
                      </a:endParaRPr>
                    </a:p>
                  </a:txBody>
                  <a:tcPr marL="0" marR="0" marB="0" marT="546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R="55880">
                        <a:lnSpc>
                          <a:spcPct val="100000"/>
                        </a:lnSpc>
                        <a:spcBef>
                          <a:spcPts val="509"/>
                        </a:spcBef>
                      </a:pPr>
                      <a:r>
                        <a:rPr dirty="0" sz="1800" spc="60" b="1">
                          <a:latin typeface="Times New Roman"/>
                          <a:cs typeface="Times New Roman"/>
                        </a:rPr>
                        <a:t>rt</a:t>
                      </a:r>
                      <a:endParaRPr sz="1800">
                        <a:latin typeface="Times New Roman"/>
                        <a:cs typeface="Times New Roman"/>
                      </a:endParaRPr>
                    </a:p>
                  </a:txBody>
                  <a:tcPr marL="0" marR="0" marB="0" marT="6476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897890">
                        <a:lnSpc>
                          <a:spcPct val="100000"/>
                        </a:lnSpc>
                        <a:spcBef>
                          <a:spcPts val="955"/>
                        </a:spcBef>
                      </a:pPr>
                      <a:r>
                        <a:rPr dirty="0" sz="1500" spc="225">
                          <a:latin typeface="宋体"/>
                          <a:cs typeface="宋体"/>
                        </a:rPr>
                        <a:t>立即数</a:t>
                      </a:r>
                      <a:r>
                        <a:rPr dirty="0" sz="1500" spc="120">
                          <a:latin typeface="宋体"/>
                          <a:cs typeface="宋体"/>
                        </a:rPr>
                        <a:t>（</a:t>
                      </a:r>
                      <a:r>
                        <a:rPr dirty="0" sz="1500" spc="120" b="1">
                          <a:latin typeface="Times New Roman"/>
                          <a:cs typeface="Times New Roman"/>
                        </a:rPr>
                        <a:t>immediate</a:t>
                      </a:r>
                      <a:r>
                        <a:rPr dirty="0" sz="1500" spc="120">
                          <a:latin typeface="宋体"/>
                          <a:cs typeface="宋体"/>
                        </a:rPr>
                        <a:t>）</a:t>
                      </a:r>
                      <a:endParaRPr sz="1500">
                        <a:latin typeface="宋体"/>
                        <a:cs typeface="宋体"/>
                      </a:endParaRPr>
                    </a:p>
                  </a:txBody>
                  <a:tcPr marL="0" marR="0" marB="0" marT="12128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r>
            </a:tbl>
          </a:graphicData>
        </a:graphic>
      </p:graphicFrame>
      <p:sp>
        <p:nvSpPr>
          <p:cNvPr id="7" name="object 7" descr=""/>
          <p:cNvSpPr txBox="1"/>
          <p:nvPr/>
        </p:nvSpPr>
        <p:spPr>
          <a:xfrm>
            <a:off x="5118312" y="803777"/>
            <a:ext cx="4577715" cy="258445"/>
          </a:xfrm>
          <a:prstGeom prst="rect">
            <a:avLst/>
          </a:prstGeom>
        </p:spPr>
        <p:txBody>
          <a:bodyPr wrap="square" lIns="0" tIns="15875" rIns="0" bIns="0" rtlCol="0" vert="horz">
            <a:spAutoFit/>
          </a:bodyPr>
          <a:lstStyle/>
          <a:p>
            <a:pPr marL="12700">
              <a:lnSpc>
                <a:spcPct val="100000"/>
              </a:lnSpc>
              <a:spcBef>
                <a:spcPts val="125"/>
              </a:spcBef>
              <a:tabLst>
                <a:tab pos="1249045" algn="l"/>
                <a:tab pos="2176145" algn="l"/>
                <a:tab pos="4340225" algn="l"/>
              </a:tabLst>
            </a:pPr>
            <a:r>
              <a:rPr dirty="0" sz="1500" spc="70" b="1">
                <a:latin typeface="Times New Roman"/>
                <a:cs typeface="Times New Roman"/>
              </a:rPr>
              <a:t>6</a:t>
            </a:r>
            <a:r>
              <a:rPr dirty="0" sz="1500" b="1">
                <a:latin typeface="Times New Roman"/>
                <a:cs typeface="Times New Roman"/>
              </a:rPr>
              <a:t>	</a:t>
            </a:r>
            <a:r>
              <a:rPr dirty="0" sz="1500" spc="60" b="1">
                <a:latin typeface="Times New Roman"/>
                <a:cs typeface="Times New Roman"/>
              </a:rPr>
              <a:t>5</a:t>
            </a:r>
            <a:r>
              <a:rPr dirty="0" sz="1500" b="1">
                <a:latin typeface="Times New Roman"/>
                <a:cs typeface="Times New Roman"/>
              </a:rPr>
              <a:t>	</a:t>
            </a:r>
            <a:r>
              <a:rPr dirty="0" sz="1500" spc="70" b="1">
                <a:latin typeface="Times New Roman"/>
                <a:cs typeface="Times New Roman"/>
              </a:rPr>
              <a:t>5</a:t>
            </a:r>
            <a:r>
              <a:rPr dirty="0" sz="1500" b="1">
                <a:latin typeface="Times New Roman"/>
                <a:cs typeface="Times New Roman"/>
              </a:rPr>
              <a:t>	</a:t>
            </a:r>
            <a:r>
              <a:rPr dirty="0" sz="1500" spc="95" b="1">
                <a:latin typeface="Times New Roman"/>
                <a:cs typeface="Times New Roman"/>
              </a:rPr>
              <a:t>16</a:t>
            </a:r>
            <a:endParaRPr sz="1500">
              <a:latin typeface="Times New Roman"/>
              <a:cs typeface="Times New Roman"/>
            </a:endParaRPr>
          </a:p>
        </p:txBody>
      </p:sp>
      <p:sp>
        <p:nvSpPr>
          <p:cNvPr id="8" name="object 8" descr=""/>
          <p:cNvSpPr txBox="1"/>
          <p:nvPr/>
        </p:nvSpPr>
        <p:spPr>
          <a:xfrm>
            <a:off x="4500595" y="1559003"/>
            <a:ext cx="2736215" cy="258445"/>
          </a:xfrm>
          <a:prstGeom prst="rect">
            <a:avLst/>
          </a:prstGeom>
        </p:spPr>
        <p:txBody>
          <a:bodyPr wrap="square" lIns="0" tIns="15875" rIns="0" bIns="0" rtlCol="0" vert="horz">
            <a:spAutoFit/>
          </a:bodyPr>
          <a:lstStyle/>
          <a:p>
            <a:pPr marL="12700">
              <a:lnSpc>
                <a:spcPct val="100000"/>
              </a:lnSpc>
              <a:spcBef>
                <a:spcPts val="125"/>
              </a:spcBef>
              <a:tabLst>
                <a:tab pos="1145540" algn="l"/>
                <a:tab pos="1454150" algn="l"/>
                <a:tab pos="2125980" algn="l"/>
                <a:tab pos="2522855" algn="l"/>
              </a:tabLst>
            </a:pPr>
            <a:r>
              <a:rPr dirty="0" sz="1500" spc="70" b="1">
                <a:latin typeface="Times New Roman"/>
                <a:cs typeface="Times New Roman"/>
              </a:rPr>
              <a:t>0</a:t>
            </a:r>
            <a:r>
              <a:rPr dirty="0" sz="1500" b="1">
                <a:latin typeface="Times New Roman"/>
                <a:cs typeface="Times New Roman"/>
              </a:rPr>
              <a:t>	</a:t>
            </a:r>
            <a:r>
              <a:rPr dirty="0" sz="1500" spc="70" b="1">
                <a:latin typeface="Times New Roman"/>
                <a:cs typeface="Times New Roman"/>
              </a:rPr>
              <a:t>5</a:t>
            </a:r>
            <a:r>
              <a:rPr dirty="0" sz="1500" b="1">
                <a:latin typeface="Times New Roman"/>
                <a:cs typeface="Times New Roman"/>
              </a:rPr>
              <a:t>	</a:t>
            </a:r>
            <a:r>
              <a:rPr dirty="0" sz="1500" spc="70" b="1">
                <a:latin typeface="Times New Roman"/>
                <a:cs typeface="Times New Roman"/>
              </a:rPr>
              <a:t>6</a:t>
            </a:r>
            <a:r>
              <a:rPr dirty="0" sz="1500" b="1">
                <a:latin typeface="Times New Roman"/>
                <a:cs typeface="Times New Roman"/>
              </a:rPr>
              <a:t>	</a:t>
            </a:r>
            <a:r>
              <a:rPr dirty="0" sz="1500" spc="95" b="1">
                <a:latin typeface="Times New Roman"/>
                <a:cs typeface="Times New Roman"/>
              </a:rPr>
              <a:t>10</a:t>
            </a:r>
            <a:r>
              <a:rPr dirty="0" sz="1500" b="1">
                <a:latin typeface="Times New Roman"/>
                <a:cs typeface="Times New Roman"/>
              </a:rPr>
              <a:t>	</a:t>
            </a:r>
            <a:r>
              <a:rPr dirty="0" sz="1500" spc="-25" b="1">
                <a:latin typeface="Times New Roman"/>
                <a:cs typeface="Times New Roman"/>
              </a:rPr>
              <a:t>11</a:t>
            </a:r>
            <a:endParaRPr sz="1500">
              <a:latin typeface="Times New Roman"/>
              <a:cs typeface="Times New Roman"/>
            </a:endParaRPr>
          </a:p>
        </p:txBody>
      </p:sp>
      <p:sp>
        <p:nvSpPr>
          <p:cNvPr id="9" name="object 9" descr=""/>
          <p:cNvSpPr txBox="1"/>
          <p:nvPr/>
        </p:nvSpPr>
        <p:spPr>
          <a:xfrm>
            <a:off x="7644141" y="1559003"/>
            <a:ext cx="608965" cy="258445"/>
          </a:xfrm>
          <a:prstGeom prst="rect">
            <a:avLst/>
          </a:prstGeom>
        </p:spPr>
        <p:txBody>
          <a:bodyPr wrap="square" lIns="0" tIns="15875" rIns="0" bIns="0" rtlCol="0" vert="horz">
            <a:spAutoFit/>
          </a:bodyPr>
          <a:lstStyle/>
          <a:p>
            <a:pPr marL="12700">
              <a:lnSpc>
                <a:spcPct val="100000"/>
              </a:lnSpc>
              <a:spcBef>
                <a:spcPts val="125"/>
              </a:spcBef>
              <a:tabLst>
                <a:tab pos="371475" algn="l"/>
              </a:tabLst>
            </a:pPr>
            <a:r>
              <a:rPr dirty="0" sz="1500" spc="95" b="1">
                <a:latin typeface="Times New Roman"/>
                <a:cs typeface="Times New Roman"/>
              </a:rPr>
              <a:t>15</a:t>
            </a:r>
            <a:r>
              <a:rPr dirty="0" sz="1500" b="1">
                <a:latin typeface="Times New Roman"/>
                <a:cs typeface="Times New Roman"/>
              </a:rPr>
              <a:t>	</a:t>
            </a:r>
            <a:r>
              <a:rPr dirty="0" sz="1500" spc="95" b="1">
                <a:latin typeface="Times New Roman"/>
                <a:cs typeface="Times New Roman"/>
              </a:rPr>
              <a:t>16</a:t>
            </a:r>
            <a:endParaRPr sz="1500">
              <a:latin typeface="Times New Roman"/>
              <a:cs typeface="Times New Roman"/>
            </a:endParaRPr>
          </a:p>
        </p:txBody>
      </p:sp>
      <p:sp>
        <p:nvSpPr>
          <p:cNvPr id="10" name="object 10" descr=""/>
          <p:cNvSpPr txBox="1"/>
          <p:nvPr/>
        </p:nvSpPr>
        <p:spPr>
          <a:xfrm>
            <a:off x="11094320" y="1559003"/>
            <a:ext cx="249554" cy="258445"/>
          </a:xfrm>
          <a:prstGeom prst="rect">
            <a:avLst/>
          </a:prstGeom>
        </p:spPr>
        <p:txBody>
          <a:bodyPr wrap="square" lIns="0" tIns="15875" rIns="0" bIns="0" rtlCol="0" vert="horz">
            <a:spAutoFit/>
          </a:bodyPr>
          <a:lstStyle/>
          <a:p>
            <a:pPr marL="12700">
              <a:lnSpc>
                <a:spcPct val="100000"/>
              </a:lnSpc>
              <a:spcBef>
                <a:spcPts val="125"/>
              </a:spcBef>
            </a:pPr>
            <a:r>
              <a:rPr dirty="0" sz="1500" spc="95" b="1">
                <a:latin typeface="Times New Roman"/>
                <a:cs typeface="Times New Roman"/>
              </a:rPr>
              <a:t>31</a:t>
            </a:r>
            <a:endParaRPr sz="1500">
              <a:latin typeface="Times New Roman"/>
              <a:cs typeface="Times New Roman"/>
            </a:endParaRPr>
          </a:p>
        </p:txBody>
      </p:sp>
      <p:sp>
        <p:nvSpPr>
          <p:cNvPr id="11" name="object 11" descr=""/>
          <p:cNvSpPr txBox="1"/>
          <p:nvPr/>
        </p:nvSpPr>
        <p:spPr>
          <a:xfrm>
            <a:off x="197916" y="1778432"/>
            <a:ext cx="11650980" cy="4131945"/>
          </a:xfrm>
          <a:prstGeom prst="rect">
            <a:avLst/>
          </a:prstGeom>
        </p:spPr>
        <p:txBody>
          <a:bodyPr wrap="square" lIns="0" tIns="113664" rIns="0" bIns="0" rtlCol="0" vert="horz">
            <a:spAutoFit/>
          </a:bodyPr>
          <a:lstStyle/>
          <a:p>
            <a:pPr marL="1820545">
              <a:lnSpc>
                <a:spcPct val="100000"/>
              </a:lnSpc>
              <a:spcBef>
                <a:spcPts val="894"/>
              </a:spcBef>
            </a:pPr>
            <a:r>
              <a:rPr dirty="0" sz="2200" spc="-30">
                <a:solidFill>
                  <a:srgbClr val="006FC0"/>
                </a:solidFill>
                <a:latin typeface="黑体"/>
                <a:cs typeface="黑体"/>
              </a:rPr>
              <a:t>访存有效地址</a:t>
            </a:r>
            <a:r>
              <a:rPr dirty="0" sz="2200" spc="-10" b="1">
                <a:solidFill>
                  <a:srgbClr val="006FC0"/>
                </a:solidFill>
                <a:latin typeface="黑体"/>
                <a:cs typeface="黑体"/>
              </a:rPr>
              <a:t>：</a:t>
            </a:r>
            <a:r>
              <a:rPr dirty="0" sz="2200" spc="-10" b="1">
                <a:solidFill>
                  <a:srgbClr val="006FC0"/>
                </a:solidFill>
                <a:latin typeface="宋体"/>
                <a:cs typeface="宋体"/>
              </a:rPr>
              <a:t>Regs[rs]</a:t>
            </a:r>
            <a:r>
              <a:rPr dirty="0" sz="2200" spc="-10" b="1">
                <a:solidFill>
                  <a:srgbClr val="006FC0"/>
                </a:solidFill>
                <a:latin typeface="黑体"/>
                <a:cs typeface="黑体"/>
              </a:rPr>
              <a:t>＋</a:t>
            </a:r>
            <a:r>
              <a:rPr dirty="0" sz="2200" spc="-10" b="1">
                <a:solidFill>
                  <a:srgbClr val="006FC0"/>
                </a:solidFill>
                <a:latin typeface="宋体"/>
                <a:cs typeface="宋体"/>
              </a:rPr>
              <a:t>immediate</a:t>
            </a:r>
            <a:endParaRPr sz="2200">
              <a:latin typeface="宋体"/>
              <a:cs typeface="宋体"/>
            </a:endParaRPr>
          </a:p>
          <a:p>
            <a:pPr marL="1820545">
              <a:lnSpc>
                <a:spcPct val="100000"/>
              </a:lnSpc>
              <a:spcBef>
                <a:spcPts val="795"/>
              </a:spcBef>
            </a:pPr>
            <a:r>
              <a:rPr dirty="0" sz="2200" spc="-30">
                <a:solidFill>
                  <a:srgbClr val="006FC0"/>
                </a:solidFill>
                <a:latin typeface="黑体"/>
                <a:cs typeface="黑体"/>
              </a:rPr>
              <a:t>从存储器取来的数据放入寄存器</a:t>
            </a:r>
            <a:r>
              <a:rPr dirty="0" sz="2200" spc="-25">
                <a:solidFill>
                  <a:srgbClr val="006FC0"/>
                </a:solidFill>
                <a:latin typeface="宋体"/>
                <a:cs typeface="宋体"/>
              </a:rPr>
              <a:t>rt</a:t>
            </a:r>
            <a:endParaRPr sz="2200">
              <a:latin typeface="宋体"/>
              <a:cs typeface="宋体"/>
            </a:endParaRPr>
          </a:p>
          <a:p>
            <a:pPr marL="1199515" indent="-357505">
              <a:lnSpc>
                <a:spcPct val="100000"/>
              </a:lnSpc>
              <a:spcBef>
                <a:spcPts val="835"/>
              </a:spcBef>
              <a:buClr>
                <a:srgbClr val="006FC0"/>
              </a:buClr>
              <a:buSzPct val="89583"/>
              <a:buFont typeface="Wingdings"/>
              <a:buChar char=""/>
              <a:tabLst>
                <a:tab pos="1199515" algn="l"/>
              </a:tabLst>
            </a:pPr>
            <a:r>
              <a:rPr dirty="0" sz="2400" spc="-10">
                <a:solidFill>
                  <a:srgbClr val="9933FF"/>
                </a:solidFill>
                <a:latin typeface="宋体"/>
                <a:cs typeface="宋体"/>
              </a:rPr>
              <a:t>store</a:t>
            </a:r>
            <a:r>
              <a:rPr dirty="0" sz="2400" spc="-25">
                <a:solidFill>
                  <a:srgbClr val="9933FF"/>
                </a:solidFill>
                <a:latin typeface="黑体"/>
                <a:cs typeface="黑体"/>
              </a:rPr>
              <a:t>指令</a:t>
            </a:r>
            <a:endParaRPr sz="2400">
              <a:latin typeface="黑体"/>
              <a:cs typeface="黑体"/>
            </a:endParaRPr>
          </a:p>
          <a:p>
            <a:pPr marL="1820545">
              <a:lnSpc>
                <a:spcPct val="100000"/>
              </a:lnSpc>
              <a:spcBef>
                <a:spcPts val="825"/>
              </a:spcBef>
            </a:pPr>
            <a:r>
              <a:rPr dirty="0" sz="2200" spc="-30">
                <a:solidFill>
                  <a:srgbClr val="006FC0"/>
                </a:solidFill>
                <a:latin typeface="黑体"/>
                <a:cs typeface="黑体"/>
              </a:rPr>
              <a:t>访存有效地址：</a:t>
            </a:r>
            <a:r>
              <a:rPr dirty="0" sz="2200" spc="-10" b="1">
                <a:solidFill>
                  <a:srgbClr val="006FC0"/>
                </a:solidFill>
                <a:latin typeface="宋体"/>
                <a:cs typeface="宋体"/>
              </a:rPr>
              <a:t>Regs[rs]</a:t>
            </a:r>
            <a:r>
              <a:rPr dirty="0" sz="2200" spc="-10" b="1">
                <a:solidFill>
                  <a:srgbClr val="006FC0"/>
                </a:solidFill>
                <a:latin typeface="黑体"/>
                <a:cs typeface="黑体"/>
              </a:rPr>
              <a:t>＋</a:t>
            </a:r>
            <a:r>
              <a:rPr dirty="0" sz="2200" spc="-10" b="1">
                <a:solidFill>
                  <a:srgbClr val="006FC0"/>
                </a:solidFill>
                <a:latin typeface="宋体"/>
                <a:cs typeface="宋体"/>
              </a:rPr>
              <a:t>immediate</a:t>
            </a:r>
            <a:endParaRPr sz="2200">
              <a:latin typeface="宋体"/>
              <a:cs typeface="宋体"/>
            </a:endParaRPr>
          </a:p>
          <a:p>
            <a:pPr marL="1820545">
              <a:lnSpc>
                <a:spcPct val="100000"/>
              </a:lnSpc>
              <a:spcBef>
                <a:spcPts val="790"/>
              </a:spcBef>
            </a:pPr>
            <a:r>
              <a:rPr dirty="0" sz="2200" spc="-30">
                <a:solidFill>
                  <a:srgbClr val="006FC0"/>
                </a:solidFill>
                <a:latin typeface="黑体"/>
                <a:cs typeface="黑体"/>
              </a:rPr>
              <a:t>要存入存储器的数据放在寄存器</a:t>
            </a:r>
            <a:r>
              <a:rPr dirty="0" sz="2200" spc="-10">
                <a:solidFill>
                  <a:srgbClr val="006FC0"/>
                </a:solidFill>
                <a:latin typeface="宋体"/>
                <a:cs typeface="宋体"/>
              </a:rPr>
              <a:t>rt</a:t>
            </a:r>
            <a:r>
              <a:rPr dirty="0" sz="2200" spc="-50">
                <a:solidFill>
                  <a:srgbClr val="006FC0"/>
                </a:solidFill>
                <a:latin typeface="黑体"/>
                <a:cs typeface="黑体"/>
              </a:rPr>
              <a:t>中</a:t>
            </a:r>
            <a:endParaRPr sz="2200">
              <a:latin typeface="黑体"/>
              <a:cs typeface="黑体"/>
            </a:endParaRPr>
          </a:p>
          <a:p>
            <a:pPr marL="12700" marR="5080">
              <a:lnSpc>
                <a:spcPct val="150000"/>
              </a:lnSpc>
              <a:spcBef>
                <a:spcPts val="805"/>
              </a:spcBef>
              <a:tabLst>
                <a:tab pos="3673475" algn="l"/>
              </a:tabLst>
            </a:pPr>
            <a:r>
              <a:rPr dirty="0" sz="2600" spc="-25">
                <a:solidFill>
                  <a:srgbClr val="FF0000"/>
                </a:solidFill>
                <a:latin typeface="Calibri"/>
                <a:cs typeface="Calibri"/>
              </a:rPr>
              <a:t>load/store</a:t>
            </a:r>
            <a:r>
              <a:rPr dirty="0" sz="2600">
                <a:solidFill>
                  <a:srgbClr val="FF0000"/>
                </a:solidFill>
                <a:latin typeface="黑体"/>
                <a:cs typeface="黑体"/>
              </a:rPr>
              <a:t>指令</a:t>
            </a:r>
            <a:r>
              <a:rPr dirty="0" sz="2600" spc="-15">
                <a:solidFill>
                  <a:srgbClr val="FF0000"/>
                </a:solidFill>
                <a:latin typeface="黑体"/>
                <a:cs typeface="黑体"/>
              </a:rPr>
              <a:t>的</a:t>
            </a:r>
            <a:r>
              <a:rPr dirty="0" sz="2600">
                <a:solidFill>
                  <a:srgbClr val="FF0000"/>
                </a:solidFill>
                <a:latin typeface="黑体"/>
                <a:cs typeface="黑体"/>
              </a:rPr>
              <a:t>寻址</a:t>
            </a:r>
            <a:r>
              <a:rPr dirty="0" sz="2600" spc="-15">
                <a:solidFill>
                  <a:srgbClr val="FF0000"/>
                </a:solidFill>
                <a:latin typeface="黑体"/>
                <a:cs typeface="黑体"/>
              </a:rPr>
              <a:t>方</a:t>
            </a:r>
            <a:r>
              <a:rPr dirty="0" sz="2600">
                <a:solidFill>
                  <a:srgbClr val="FF0000"/>
                </a:solidFill>
                <a:latin typeface="黑体"/>
                <a:cs typeface="黑体"/>
              </a:rPr>
              <a:t>式仅</a:t>
            </a:r>
            <a:r>
              <a:rPr dirty="0" sz="2600" spc="-15">
                <a:solidFill>
                  <a:srgbClr val="FF0000"/>
                </a:solidFill>
                <a:latin typeface="黑体"/>
                <a:cs typeface="黑体"/>
              </a:rPr>
              <a:t>为</a:t>
            </a:r>
            <a:r>
              <a:rPr dirty="0" sz="2600">
                <a:solidFill>
                  <a:srgbClr val="FF0000"/>
                </a:solidFill>
                <a:latin typeface="黑体"/>
                <a:cs typeface="黑体"/>
              </a:rPr>
              <a:t>寄存</a:t>
            </a:r>
            <a:r>
              <a:rPr dirty="0" sz="2600" spc="-15">
                <a:solidFill>
                  <a:srgbClr val="FF0000"/>
                </a:solidFill>
                <a:latin typeface="黑体"/>
                <a:cs typeface="黑体"/>
              </a:rPr>
              <a:t>器</a:t>
            </a:r>
            <a:r>
              <a:rPr dirty="0" sz="2600">
                <a:solidFill>
                  <a:srgbClr val="FF0000"/>
                </a:solidFill>
                <a:latin typeface="黑体"/>
                <a:cs typeface="黑体"/>
              </a:rPr>
              <a:t>偏移</a:t>
            </a:r>
            <a:r>
              <a:rPr dirty="0" sz="2600" spc="-15">
                <a:solidFill>
                  <a:srgbClr val="FF0000"/>
                </a:solidFill>
                <a:latin typeface="黑体"/>
                <a:cs typeface="黑体"/>
              </a:rPr>
              <a:t>量</a:t>
            </a:r>
            <a:r>
              <a:rPr dirty="0" sz="2600">
                <a:solidFill>
                  <a:srgbClr val="FF0000"/>
                </a:solidFill>
                <a:latin typeface="黑体"/>
                <a:cs typeface="黑体"/>
              </a:rPr>
              <a:t>寻址</a:t>
            </a:r>
            <a:r>
              <a:rPr dirty="0" sz="2600" spc="-15">
                <a:solidFill>
                  <a:srgbClr val="FF0000"/>
                </a:solidFill>
                <a:latin typeface="黑体"/>
                <a:cs typeface="黑体"/>
              </a:rPr>
              <a:t>，</a:t>
            </a:r>
            <a:r>
              <a:rPr dirty="0" sz="2600">
                <a:solidFill>
                  <a:srgbClr val="FF0000"/>
                </a:solidFill>
                <a:latin typeface="黑体"/>
                <a:cs typeface="黑体"/>
              </a:rPr>
              <a:t>需要</a:t>
            </a:r>
            <a:r>
              <a:rPr dirty="0" sz="2600" spc="-15">
                <a:solidFill>
                  <a:srgbClr val="FF0000"/>
                </a:solidFill>
                <a:latin typeface="黑体"/>
                <a:cs typeface="黑体"/>
              </a:rPr>
              <a:t>指</a:t>
            </a:r>
            <a:r>
              <a:rPr dirty="0" sz="2600">
                <a:solidFill>
                  <a:srgbClr val="FF0000"/>
                </a:solidFill>
                <a:latin typeface="黑体"/>
                <a:cs typeface="黑体"/>
              </a:rPr>
              <a:t>令提</a:t>
            </a:r>
            <a:r>
              <a:rPr dirty="0" sz="2600" spc="-15">
                <a:solidFill>
                  <a:srgbClr val="FF0000"/>
                </a:solidFill>
                <a:latin typeface="黑体"/>
                <a:cs typeface="黑体"/>
              </a:rPr>
              <a:t>供</a:t>
            </a:r>
            <a:r>
              <a:rPr dirty="0" sz="2600">
                <a:solidFill>
                  <a:srgbClr val="FF0000"/>
                </a:solidFill>
                <a:latin typeface="黑体"/>
                <a:cs typeface="黑体"/>
              </a:rPr>
              <a:t>立即</a:t>
            </a:r>
            <a:r>
              <a:rPr dirty="0" sz="2600" spc="-15">
                <a:solidFill>
                  <a:srgbClr val="FF0000"/>
                </a:solidFill>
                <a:latin typeface="黑体"/>
                <a:cs typeface="黑体"/>
              </a:rPr>
              <a:t>数</a:t>
            </a:r>
            <a:r>
              <a:rPr dirty="0" sz="2600">
                <a:solidFill>
                  <a:srgbClr val="FF0000"/>
                </a:solidFill>
                <a:latin typeface="黑体"/>
                <a:cs typeface="黑体"/>
              </a:rPr>
              <a:t>偏移</a:t>
            </a:r>
            <a:r>
              <a:rPr dirty="0" sz="2600" spc="-15">
                <a:solidFill>
                  <a:srgbClr val="FF0000"/>
                </a:solidFill>
                <a:latin typeface="黑体"/>
                <a:cs typeface="黑体"/>
              </a:rPr>
              <a:t>量</a:t>
            </a:r>
            <a:r>
              <a:rPr dirty="0" sz="2600" spc="-50">
                <a:solidFill>
                  <a:srgbClr val="FF0000"/>
                </a:solidFill>
                <a:latin typeface="黑体"/>
                <a:cs typeface="黑体"/>
              </a:rPr>
              <a:t>。</a:t>
            </a:r>
            <a:r>
              <a:rPr dirty="0" sz="2600" spc="-10" b="1">
                <a:solidFill>
                  <a:srgbClr val="001F5F"/>
                </a:solidFill>
                <a:latin typeface="黑体"/>
                <a:cs typeface="黑体"/>
              </a:rPr>
              <a:t>例如</a:t>
            </a:r>
            <a:r>
              <a:rPr dirty="0" sz="2600" b="1">
                <a:solidFill>
                  <a:srgbClr val="001F5F"/>
                </a:solidFill>
                <a:latin typeface="Calibri"/>
                <a:cs typeface="Calibri"/>
              </a:rPr>
              <a:t>lw</a:t>
            </a:r>
            <a:r>
              <a:rPr dirty="0" sz="2600" spc="10" b="1">
                <a:solidFill>
                  <a:srgbClr val="001F5F"/>
                </a:solidFill>
                <a:latin typeface="Calibri"/>
                <a:cs typeface="Calibri"/>
              </a:rPr>
              <a:t> </a:t>
            </a:r>
            <a:r>
              <a:rPr dirty="0" sz="2600" spc="-10" b="1">
                <a:solidFill>
                  <a:srgbClr val="001F5F"/>
                </a:solidFill>
                <a:latin typeface="Calibri"/>
                <a:cs typeface="Calibri"/>
              </a:rPr>
              <a:t>rt,</a:t>
            </a:r>
            <a:r>
              <a:rPr dirty="0" sz="2600" spc="-20" b="1">
                <a:solidFill>
                  <a:srgbClr val="001F5F"/>
                </a:solidFill>
                <a:latin typeface="黑体"/>
                <a:cs typeface="黑体"/>
              </a:rPr>
              <a:t>偏移</a:t>
            </a:r>
            <a:r>
              <a:rPr dirty="0" sz="2600" spc="-30" b="1">
                <a:solidFill>
                  <a:srgbClr val="001F5F"/>
                </a:solidFill>
                <a:latin typeface="黑体"/>
                <a:cs typeface="黑体"/>
              </a:rPr>
              <a:t>量</a:t>
            </a:r>
            <a:r>
              <a:rPr dirty="0" sz="2600" spc="-20" b="1">
                <a:solidFill>
                  <a:srgbClr val="001F5F"/>
                </a:solidFill>
                <a:latin typeface="黑体"/>
                <a:cs typeface="黑体"/>
              </a:rPr>
              <a:t>（</a:t>
            </a:r>
            <a:r>
              <a:rPr dirty="0" sz="2600" spc="-20" b="1">
                <a:solidFill>
                  <a:srgbClr val="001F5F"/>
                </a:solidFill>
                <a:latin typeface="Calibri"/>
                <a:cs typeface="Calibri"/>
              </a:rPr>
              <a:t>rs</a:t>
            </a:r>
            <a:r>
              <a:rPr dirty="0" sz="2600" spc="-20" b="1">
                <a:solidFill>
                  <a:srgbClr val="001F5F"/>
                </a:solidFill>
                <a:latin typeface="黑体"/>
                <a:cs typeface="黑体"/>
              </a:rPr>
              <a:t>）</a:t>
            </a:r>
            <a:r>
              <a:rPr dirty="0" sz="2600" b="1">
                <a:solidFill>
                  <a:srgbClr val="001F5F"/>
                </a:solidFill>
                <a:latin typeface="黑体"/>
                <a:cs typeface="黑体"/>
              </a:rPr>
              <a:t>	</a:t>
            </a:r>
            <a:r>
              <a:rPr dirty="0" sz="2600" spc="-10" b="1">
                <a:solidFill>
                  <a:srgbClr val="001F5F"/>
                </a:solidFill>
                <a:latin typeface="黑体"/>
                <a:cs typeface="黑体"/>
              </a:rPr>
              <a:t>功能：</a:t>
            </a:r>
            <a:r>
              <a:rPr dirty="0" sz="2600" spc="-10" b="1">
                <a:solidFill>
                  <a:srgbClr val="001F5F"/>
                </a:solidFill>
                <a:latin typeface="Calibri"/>
                <a:cs typeface="Calibri"/>
              </a:rPr>
              <a:t>rt←memory[rs+</a:t>
            </a:r>
            <a:r>
              <a:rPr dirty="0" sz="2600" spc="-25" b="1">
                <a:solidFill>
                  <a:srgbClr val="001F5F"/>
                </a:solidFill>
                <a:latin typeface="黑体"/>
                <a:cs typeface="黑体"/>
              </a:rPr>
              <a:t>偏移</a:t>
            </a:r>
            <a:r>
              <a:rPr dirty="0" sz="2600" spc="-30" b="1">
                <a:solidFill>
                  <a:srgbClr val="001F5F"/>
                </a:solidFill>
                <a:latin typeface="黑体"/>
                <a:cs typeface="黑体"/>
              </a:rPr>
              <a:t>量</a:t>
            </a:r>
            <a:r>
              <a:rPr dirty="0" sz="2600" spc="-50" b="1">
                <a:solidFill>
                  <a:srgbClr val="001F5F"/>
                </a:solidFill>
                <a:latin typeface="Calibri"/>
                <a:cs typeface="Calibri"/>
              </a:rPr>
              <a:t>]</a:t>
            </a:r>
            <a:endParaRPr sz="2600">
              <a:latin typeface="Calibri"/>
              <a:cs typeface="Calibri"/>
            </a:endParaRPr>
          </a:p>
          <a:p>
            <a:pPr marL="12700">
              <a:lnSpc>
                <a:spcPct val="100000"/>
              </a:lnSpc>
              <a:spcBef>
                <a:spcPts val="1565"/>
              </a:spcBef>
            </a:pPr>
            <a:r>
              <a:rPr dirty="0" sz="2600" spc="-40" b="1">
                <a:solidFill>
                  <a:srgbClr val="001F5F"/>
                </a:solidFill>
                <a:latin typeface="黑体"/>
                <a:cs typeface="黑体"/>
              </a:rPr>
              <a:t>注意：偏移量应该符号扩展</a:t>
            </a:r>
            <a:endParaRPr sz="2600">
              <a:latin typeface="黑体"/>
              <a:cs typeface="黑体"/>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2.6.4</a:t>
            </a:r>
            <a:r>
              <a:rPr dirty="0" spc="-40">
                <a:solidFill>
                  <a:srgbClr val="4F55AC"/>
                </a:solidFill>
              </a:rPr>
              <a:t> </a:t>
            </a:r>
            <a:r>
              <a:rPr dirty="0">
                <a:solidFill>
                  <a:srgbClr val="4F55AC"/>
                </a:solidFill>
              </a:rPr>
              <a:t>MIPS</a:t>
            </a:r>
            <a:r>
              <a:rPr dirty="0" spc="-10">
                <a:solidFill>
                  <a:srgbClr val="4F55AC"/>
                </a:solidFill>
                <a:latin typeface="微软雅黑"/>
                <a:cs typeface="微软雅黑"/>
              </a:rPr>
              <a:t>指令格</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4" name="object 4" descr=""/>
          <p:cNvSpPr txBox="1"/>
          <p:nvPr/>
        </p:nvSpPr>
        <p:spPr>
          <a:xfrm>
            <a:off x="1710944" y="869003"/>
            <a:ext cx="7120255" cy="3335654"/>
          </a:xfrm>
          <a:prstGeom prst="rect">
            <a:avLst/>
          </a:prstGeom>
        </p:spPr>
        <p:txBody>
          <a:bodyPr wrap="square" lIns="0" tIns="90805" rIns="0" bIns="0" rtlCol="0" vert="horz">
            <a:spAutoFit/>
          </a:bodyPr>
          <a:lstStyle/>
          <a:p>
            <a:pPr marL="372110" indent="-359410">
              <a:lnSpc>
                <a:spcPct val="100000"/>
              </a:lnSpc>
              <a:spcBef>
                <a:spcPts val="715"/>
              </a:spcBef>
              <a:buClr>
                <a:srgbClr val="40458B"/>
              </a:buClr>
              <a:buSzPct val="117857"/>
              <a:buFont typeface="Wingdings"/>
              <a:buChar char=""/>
              <a:tabLst>
                <a:tab pos="372110" algn="l"/>
              </a:tabLst>
            </a:pPr>
            <a:r>
              <a:rPr dirty="0" sz="2800" spc="-10">
                <a:solidFill>
                  <a:srgbClr val="006FC0"/>
                </a:solidFill>
                <a:latin typeface="宋体"/>
                <a:cs typeface="宋体"/>
              </a:rPr>
              <a:t>I</a:t>
            </a:r>
            <a:r>
              <a:rPr dirty="0" sz="2800" spc="-35">
                <a:solidFill>
                  <a:srgbClr val="006FC0"/>
                </a:solidFill>
                <a:latin typeface="黑体"/>
                <a:cs typeface="黑体"/>
              </a:rPr>
              <a:t>类指令</a:t>
            </a:r>
            <a:endParaRPr sz="2800">
              <a:latin typeface="黑体"/>
              <a:cs typeface="黑体"/>
            </a:endParaRPr>
          </a:p>
          <a:p>
            <a:pPr lvl="1" marL="694690" indent="-357505">
              <a:lnSpc>
                <a:spcPct val="100000"/>
              </a:lnSpc>
              <a:spcBef>
                <a:spcPts val="775"/>
              </a:spcBef>
              <a:buClr>
                <a:srgbClr val="006FC0"/>
              </a:buClr>
              <a:buSzPct val="88636"/>
              <a:buFont typeface="Wingdings"/>
              <a:buChar char=""/>
              <a:tabLst>
                <a:tab pos="694690" algn="l"/>
              </a:tabLst>
            </a:pPr>
            <a:r>
              <a:rPr dirty="0" sz="2200" spc="-35">
                <a:solidFill>
                  <a:srgbClr val="9933FF"/>
                </a:solidFill>
                <a:latin typeface="黑体"/>
                <a:cs typeface="黑体"/>
              </a:rPr>
              <a:t>立即数指令</a:t>
            </a:r>
            <a:endParaRPr sz="2200">
              <a:latin typeface="黑体"/>
              <a:cs typeface="黑体"/>
            </a:endParaRPr>
          </a:p>
          <a:p>
            <a:pPr marL="2027555">
              <a:lnSpc>
                <a:spcPct val="100000"/>
              </a:lnSpc>
              <a:spcBef>
                <a:spcPts val="835"/>
              </a:spcBef>
            </a:pPr>
            <a:r>
              <a:rPr dirty="0" sz="2400" b="1">
                <a:solidFill>
                  <a:srgbClr val="6F2F9F"/>
                </a:solidFill>
                <a:latin typeface="宋体"/>
                <a:cs typeface="宋体"/>
              </a:rPr>
              <a:t>Regs[rt]</a:t>
            </a:r>
            <a:r>
              <a:rPr dirty="0" sz="2400" spc="-5" b="1">
                <a:solidFill>
                  <a:srgbClr val="6F2F9F"/>
                </a:solidFill>
                <a:latin typeface="宋体"/>
                <a:cs typeface="宋体"/>
              </a:rPr>
              <a:t> </a:t>
            </a:r>
            <a:r>
              <a:rPr dirty="0" sz="2400" b="1">
                <a:solidFill>
                  <a:srgbClr val="6F2F9F"/>
                </a:solidFill>
                <a:latin typeface="宋体"/>
                <a:cs typeface="宋体"/>
              </a:rPr>
              <a:t>←</a:t>
            </a:r>
            <a:r>
              <a:rPr dirty="0" sz="2400" spc="-15" b="1">
                <a:solidFill>
                  <a:srgbClr val="6F2F9F"/>
                </a:solidFill>
                <a:latin typeface="宋体"/>
                <a:cs typeface="宋体"/>
              </a:rPr>
              <a:t> </a:t>
            </a:r>
            <a:r>
              <a:rPr dirty="0" sz="2400" b="1">
                <a:solidFill>
                  <a:srgbClr val="6F2F9F"/>
                </a:solidFill>
                <a:latin typeface="宋体"/>
                <a:cs typeface="宋体"/>
              </a:rPr>
              <a:t>Regs[rs]</a:t>
            </a:r>
            <a:r>
              <a:rPr dirty="0" sz="2400" spc="-10" b="1">
                <a:solidFill>
                  <a:srgbClr val="6F2F9F"/>
                </a:solidFill>
                <a:latin typeface="宋体"/>
                <a:cs typeface="宋体"/>
              </a:rPr>
              <a:t> </a:t>
            </a:r>
            <a:r>
              <a:rPr dirty="0" sz="2400" b="1">
                <a:solidFill>
                  <a:srgbClr val="6F2F9F"/>
                </a:solidFill>
                <a:latin typeface="宋体"/>
                <a:cs typeface="宋体"/>
              </a:rPr>
              <a:t>op</a:t>
            </a:r>
            <a:r>
              <a:rPr dirty="0" sz="2400" spc="-10" b="1">
                <a:solidFill>
                  <a:srgbClr val="6F2F9F"/>
                </a:solidFill>
                <a:latin typeface="宋体"/>
                <a:cs typeface="宋体"/>
              </a:rPr>
              <a:t> immediate</a:t>
            </a:r>
            <a:endParaRPr sz="2400">
              <a:latin typeface="宋体"/>
              <a:cs typeface="宋体"/>
            </a:endParaRPr>
          </a:p>
          <a:p>
            <a:pPr lvl="1" marL="694690" indent="-357505">
              <a:lnSpc>
                <a:spcPct val="100000"/>
              </a:lnSpc>
              <a:spcBef>
                <a:spcPts val="825"/>
              </a:spcBef>
              <a:buClr>
                <a:srgbClr val="006FC0"/>
              </a:buClr>
              <a:buSzPct val="88636"/>
              <a:buFont typeface="Wingdings"/>
              <a:buChar char=""/>
              <a:tabLst>
                <a:tab pos="694690" algn="l"/>
              </a:tabLst>
            </a:pPr>
            <a:r>
              <a:rPr dirty="0" sz="2200" spc="-20">
                <a:solidFill>
                  <a:srgbClr val="9933FF"/>
                </a:solidFill>
                <a:latin typeface="黑体"/>
                <a:cs typeface="黑体"/>
              </a:rPr>
              <a:t>分支指令</a:t>
            </a:r>
            <a:r>
              <a:rPr dirty="0" sz="2200" spc="-10">
                <a:solidFill>
                  <a:srgbClr val="9933FF"/>
                </a:solidFill>
                <a:latin typeface="宋体"/>
                <a:cs typeface="宋体"/>
              </a:rPr>
              <a:t>/</a:t>
            </a:r>
            <a:r>
              <a:rPr dirty="0" sz="2200" spc="-35">
                <a:solidFill>
                  <a:srgbClr val="9933FF"/>
                </a:solidFill>
                <a:latin typeface="黑体"/>
                <a:cs typeface="黑体"/>
              </a:rPr>
              <a:t>条件转移指令</a:t>
            </a:r>
            <a:endParaRPr sz="2200">
              <a:latin typeface="黑体"/>
              <a:cs typeface="黑体"/>
            </a:endParaRPr>
          </a:p>
          <a:p>
            <a:pPr marL="1850389">
              <a:lnSpc>
                <a:spcPct val="100000"/>
              </a:lnSpc>
              <a:spcBef>
                <a:spcPts val="830"/>
              </a:spcBef>
            </a:pPr>
            <a:r>
              <a:rPr dirty="0" sz="2000" spc="-10" b="1">
                <a:solidFill>
                  <a:srgbClr val="6F2F9F"/>
                </a:solidFill>
                <a:latin typeface="黑体"/>
                <a:cs typeface="黑体"/>
              </a:rPr>
              <a:t>转移目标地址</a:t>
            </a:r>
            <a:r>
              <a:rPr dirty="0" sz="2400" spc="-10" b="1">
                <a:solidFill>
                  <a:srgbClr val="6F2F9F"/>
                </a:solidFill>
                <a:latin typeface="黑体"/>
                <a:cs typeface="黑体"/>
              </a:rPr>
              <a:t>：</a:t>
            </a:r>
            <a:r>
              <a:rPr dirty="0" sz="2400" spc="-10" b="1">
                <a:solidFill>
                  <a:srgbClr val="6F2F9F"/>
                </a:solidFill>
                <a:latin typeface="宋体"/>
                <a:cs typeface="宋体"/>
              </a:rPr>
              <a:t>Regs[rs]</a:t>
            </a:r>
            <a:r>
              <a:rPr dirty="0" sz="2400" spc="-10" b="1">
                <a:solidFill>
                  <a:srgbClr val="6F2F9F"/>
                </a:solidFill>
                <a:latin typeface="黑体"/>
                <a:cs typeface="黑体"/>
              </a:rPr>
              <a:t>＋</a:t>
            </a:r>
            <a:r>
              <a:rPr dirty="0" sz="2400" spc="-10" b="1">
                <a:solidFill>
                  <a:srgbClr val="6F2F9F"/>
                </a:solidFill>
                <a:latin typeface="宋体"/>
                <a:cs typeface="宋体"/>
              </a:rPr>
              <a:t>immediate</a:t>
            </a:r>
            <a:endParaRPr sz="2400">
              <a:latin typeface="宋体"/>
              <a:cs typeface="宋体"/>
            </a:endParaRPr>
          </a:p>
          <a:p>
            <a:pPr lvl="1" marL="694690" indent="-357505">
              <a:lnSpc>
                <a:spcPct val="100000"/>
              </a:lnSpc>
              <a:spcBef>
                <a:spcPts val="830"/>
              </a:spcBef>
              <a:buClr>
                <a:srgbClr val="006FC0"/>
              </a:buClr>
              <a:buSzPct val="88636"/>
              <a:buFont typeface="Wingdings"/>
              <a:buChar char=""/>
              <a:tabLst>
                <a:tab pos="694690" algn="l"/>
              </a:tabLst>
            </a:pPr>
            <a:r>
              <a:rPr dirty="0" sz="2200" spc="-35">
                <a:solidFill>
                  <a:srgbClr val="9933FF"/>
                </a:solidFill>
                <a:latin typeface="黑体"/>
                <a:cs typeface="黑体"/>
              </a:rPr>
              <a:t>寄存器跳转、寄存器跳转并链接</a:t>
            </a:r>
            <a:endParaRPr sz="2200">
              <a:latin typeface="黑体"/>
              <a:cs typeface="黑体"/>
            </a:endParaRPr>
          </a:p>
          <a:p>
            <a:pPr marL="1850389">
              <a:lnSpc>
                <a:spcPct val="100000"/>
              </a:lnSpc>
              <a:spcBef>
                <a:spcPts val="830"/>
              </a:spcBef>
            </a:pPr>
            <a:r>
              <a:rPr dirty="0" sz="2000" spc="-10" b="1">
                <a:solidFill>
                  <a:srgbClr val="6F2F9F"/>
                </a:solidFill>
                <a:latin typeface="黑体"/>
                <a:cs typeface="黑体"/>
              </a:rPr>
              <a:t>转移目标地址为</a:t>
            </a:r>
            <a:r>
              <a:rPr dirty="0" sz="2400" spc="-10" b="1">
                <a:solidFill>
                  <a:srgbClr val="6F2F9F"/>
                </a:solidFill>
                <a:latin typeface="宋体"/>
                <a:cs typeface="宋体"/>
              </a:rPr>
              <a:t>Regs[rs]</a:t>
            </a:r>
            <a:endParaRPr sz="2400">
              <a:latin typeface="宋体"/>
              <a:cs typeface="宋体"/>
            </a:endParaRPr>
          </a:p>
        </p:txBody>
      </p:sp>
      <p:sp>
        <p:nvSpPr>
          <p:cNvPr id="5" name="object 5" descr=""/>
          <p:cNvSpPr txBox="1"/>
          <p:nvPr/>
        </p:nvSpPr>
        <p:spPr>
          <a:xfrm>
            <a:off x="3148807" y="5087913"/>
            <a:ext cx="6817995" cy="973455"/>
          </a:xfrm>
          <a:prstGeom prst="rect">
            <a:avLst/>
          </a:prstGeom>
        </p:spPr>
        <p:txBody>
          <a:bodyPr wrap="square" lIns="0" tIns="0" rIns="0" bIns="0" rtlCol="0" vert="horz">
            <a:spAutoFit/>
          </a:bodyPr>
          <a:lstStyle/>
          <a:p>
            <a:pPr marL="617220">
              <a:lnSpc>
                <a:spcPts val="1685"/>
              </a:lnSpc>
              <a:tabLst>
                <a:tab pos="1854200" algn="l"/>
                <a:tab pos="2781300" algn="l"/>
                <a:tab pos="4944745" algn="l"/>
              </a:tabLst>
            </a:pPr>
            <a:r>
              <a:rPr dirty="0" sz="1500" spc="70" b="1">
                <a:latin typeface="Times New Roman"/>
                <a:cs typeface="Times New Roman"/>
              </a:rPr>
              <a:t>6</a:t>
            </a:r>
            <a:r>
              <a:rPr dirty="0" sz="1500" b="1">
                <a:latin typeface="Times New Roman"/>
                <a:cs typeface="Times New Roman"/>
              </a:rPr>
              <a:t>	</a:t>
            </a:r>
            <a:r>
              <a:rPr dirty="0" sz="1500" spc="60" b="1">
                <a:latin typeface="Times New Roman"/>
                <a:cs typeface="Times New Roman"/>
              </a:rPr>
              <a:t>5</a:t>
            </a:r>
            <a:r>
              <a:rPr dirty="0" sz="1500" b="1">
                <a:latin typeface="Times New Roman"/>
                <a:cs typeface="Times New Roman"/>
              </a:rPr>
              <a:t>	</a:t>
            </a:r>
            <a:r>
              <a:rPr dirty="0" sz="1500" spc="70" b="1">
                <a:latin typeface="Times New Roman"/>
                <a:cs typeface="Times New Roman"/>
              </a:rPr>
              <a:t>5</a:t>
            </a:r>
            <a:r>
              <a:rPr dirty="0" sz="1500" b="1">
                <a:latin typeface="Times New Roman"/>
                <a:cs typeface="Times New Roman"/>
              </a:rPr>
              <a:t>	</a:t>
            </a:r>
            <a:r>
              <a:rPr dirty="0" sz="1500" spc="95" b="1">
                <a:latin typeface="Times New Roman"/>
                <a:cs typeface="Times New Roman"/>
              </a:rPr>
              <a:t>16</a:t>
            </a:r>
            <a:endParaRPr sz="1500">
              <a:latin typeface="Times New Roman"/>
              <a:cs typeface="Times New Roman"/>
            </a:endParaRPr>
          </a:p>
          <a:p>
            <a:pPr marL="361315">
              <a:lnSpc>
                <a:spcPct val="100000"/>
              </a:lnSpc>
              <a:spcBef>
                <a:spcPts val="1000"/>
              </a:spcBef>
              <a:tabLst>
                <a:tab pos="1803400" algn="l"/>
                <a:tab pos="2781300" algn="l"/>
                <a:tab pos="4326890" algn="l"/>
              </a:tabLst>
            </a:pPr>
            <a:r>
              <a:rPr dirty="0" sz="1500" spc="240">
                <a:latin typeface="宋体"/>
                <a:cs typeface="宋体"/>
              </a:rPr>
              <a:t>操</a:t>
            </a:r>
            <a:r>
              <a:rPr dirty="0" sz="1500" spc="229">
                <a:latin typeface="宋体"/>
                <a:cs typeface="宋体"/>
              </a:rPr>
              <a:t>作</a:t>
            </a:r>
            <a:r>
              <a:rPr dirty="0" sz="1500" spc="190">
                <a:latin typeface="宋体"/>
                <a:cs typeface="宋体"/>
              </a:rPr>
              <a:t>码</a:t>
            </a:r>
            <a:r>
              <a:rPr dirty="0" sz="1500">
                <a:latin typeface="宋体"/>
                <a:cs typeface="宋体"/>
              </a:rPr>
              <a:t>	</a:t>
            </a:r>
            <a:r>
              <a:rPr dirty="0" baseline="6172" sz="2700" spc="97" b="1">
                <a:latin typeface="Times New Roman"/>
                <a:cs typeface="Times New Roman"/>
              </a:rPr>
              <a:t>rs</a:t>
            </a:r>
            <a:r>
              <a:rPr dirty="0" baseline="6172" sz="2700" b="1">
                <a:latin typeface="Times New Roman"/>
                <a:cs typeface="Times New Roman"/>
              </a:rPr>
              <a:t>	</a:t>
            </a:r>
            <a:r>
              <a:rPr dirty="0" baseline="4629" sz="2700" spc="97" b="1">
                <a:latin typeface="Times New Roman"/>
                <a:cs typeface="Times New Roman"/>
              </a:rPr>
              <a:t>rt</a:t>
            </a:r>
            <a:r>
              <a:rPr dirty="0" baseline="4629" sz="2700" b="1">
                <a:latin typeface="Times New Roman"/>
                <a:cs typeface="Times New Roman"/>
              </a:rPr>
              <a:t>	</a:t>
            </a:r>
            <a:r>
              <a:rPr dirty="0" sz="1500" spc="240">
                <a:latin typeface="宋体"/>
                <a:cs typeface="宋体"/>
              </a:rPr>
              <a:t>立</a:t>
            </a:r>
            <a:r>
              <a:rPr dirty="0" sz="1500" spc="229">
                <a:latin typeface="宋体"/>
                <a:cs typeface="宋体"/>
              </a:rPr>
              <a:t>即</a:t>
            </a:r>
            <a:r>
              <a:rPr dirty="0" sz="1500" spc="225">
                <a:latin typeface="宋体"/>
                <a:cs typeface="宋体"/>
              </a:rPr>
              <a:t>数</a:t>
            </a:r>
            <a:r>
              <a:rPr dirty="0" sz="1500" spc="120">
                <a:latin typeface="宋体"/>
                <a:cs typeface="宋体"/>
              </a:rPr>
              <a:t>（</a:t>
            </a:r>
            <a:r>
              <a:rPr dirty="0" sz="1500" spc="120" b="1">
                <a:latin typeface="Times New Roman"/>
                <a:cs typeface="Times New Roman"/>
              </a:rPr>
              <a:t>immediate</a:t>
            </a:r>
            <a:r>
              <a:rPr dirty="0" sz="1500" spc="120">
                <a:latin typeface="宋体"/>
                <a:cs typeface="宋体"/>
              </a:rPr>
              <a:t>）</a:t>
            </a:r>
            <a:endParaRPr sz="1500">
              <a:latin typeface="宋体"/>
              <a:cs typeface="宋体"/>
            </a:endParaRPr>
          </a:p>
          <a:p>
            <a:pPr>
              <a:lnSpc>
                <a:spcPct val="100000"/>
              </a:lnSpc>
              <a:spcBef>
                <a:spcPts val="985"/>
              </a:spcBef>
              <a:tabLst>
                <a:tab pos="1132840" algn="l"/>
                <a:tab pos="1441450" algn="l"/>
                <a:tab pos="2113280" algn="l"/>
                <a:tab pos="2510155" algn="l"/>
                <a:tab pos="3143250" algn="l"/>
                <a:tab pos="3502025" algn="l"/>
                <a:tab pos="6593205" algn="l"/>
              </a:tabLst>
            </a:pPr>
            <a:r>
              <a:rPr dirty="0" sz="1500" spc="70" b="1">
                <a:latin typeface="Times New Roman"/>
                <a:cs typeface="Times New Roman"/>
              </a:rPr>
              <a:t>0</a:t>
            </a:r>
            <a:r>
              <a:rPr dirty="0" sz="1500" b="1">
                <a:latin typeface="Times New Roman"/>
                <a:cs typeface="Times New Roman"/>
              </a:rPr>
              <a:t>	</a:t>
            </a:r>
            <a:r>
              <a:rPr dirty="0" sz="1500" spc="70" b="1">
                <a:latin typeface="Times New Roman"/>
                <a:cs typeface="Times New Roman"/>
              </a:rPr>
              <a:t>5</a:t>
            </a:r>
            <a:r>
              <a:rPr dirty="0" sz="1500" b="1">
                <a:latin typeface="Times New Roman"/>
                <a:cs typeface="Times New Roman"/>
              </a:rPr>
              <a:t>	</a:t>
            </a:r>
            <a:r>
              <a:rPr dirty="0" sz="1500" spc="70" b="1">
                <a:latin typeface="Times New Roman"/>
                <a:cs typeface="Times New Roman"/>
              </a:rPr>
              <a:t>6</a:t>
            </a:r>
            <a:r>
              <a:rPr dirty="0" sz="1500" b="1">
                <a:latin typeface="Times New Roman"/>
                <a:cs typeface="Times New Roman"/>
              </a:rPr>
              <a:t>	</a:t>
            </a:r>
            <a:r>
              <a:rPr dirty="0" sz="1500" spc="95" b="1">
                <a:latin typeface="Times New Roman"/>
                <a:cs typeface="Times New Roman"/>
              </a:rPr>
              <a:t>10</a:t>
            </a:r>
            <a:r>
              <a:rPr dirty="0" sz="1500" b="1">
                <a:latin typeface="Times New Roman"/>
                <a:cs typeface="Times New Roman"/>
              </a:rPr>
              <a:t>	</a:t>
            </a:r>
            <a:r>
              <a:rPr dirty="0" sz="1500" spc="45" b="1">
                <a:latin typeface="Times New Roman"/>
                <a:cs typeface="Times New Roman"/>
              </a:rPr>
              <a:t>11</a:t>
            </a:r>
            <a:r>
              <a:rPr dirty="0" sz="1500" b="1">
                <a:latin typeface="Times New Roman"/>
                <a:cs typeface="Times New Roman"/>
              </a:rPr>
              <a:t>	</a:t>
            </a:r>
            <a:r>
              <a:rPr dirty="0" sz="1500" spc="95" b="1">
                <a:latin typeface="Times New Roman"/>
                <a:cs typeface="Times New Roman"/>
              </a:rPr>
              <a:t>15</a:t>
            </a:r>
            <a:r>
              <a:rPr dirty="0" sz="1500" b="1">
                <a:latin typeface="Times New Roman"/>
                <a:cs typeface="Times New Roman"/>
              </a:rPr>
              <a:t>	</a:t>
            </a:r>
            <a:r>
              <a:rPr dirty="0" sz="1500" spc="95" b="1">
                <a:latin typeface="Times New Roman"/>
                <a:cs typeface="Times New Roman"/>
              </a:rPr>
              <a:t>16</a:t>
            </a:r>
            <a:r>
              <a:rPr dirty="0" sz="1500" b="1">
                <a:latin typeface="Times New Roman"/>
                <a:cs typeface="Times New Roman"/>
              </a:rPr>
              <a:t>	</a:t>
            </a:r>
            <a:r>
              <a:rPr dirty="0" sz="1500" spc="95" b="1">
                <a:latin typeface="Times New Roman"/>
                <a:cs typeface="Times New Roman"/>
              </a:rPr>
              <a:t>31</a:t>
            </a:r>
            <a:endParaRPr sz="1500">
              <a:latin typeface="Times New Roman"/>
              <a:cs typeface="Times New Roman"/>
            </a:endParaRPr>
          </a:p>
        </p:txBody>
      </p:sp>
      <p:sp>
        <p:nvSpPr>
          <p:cNvPr id="6" name="object 6" descr=""/>
          <p:cNvSpPr/>
          <p:nvPr/>
        </p:nvSpPr>
        <p:spPr>
          <a:xfrm>
            <a:off x="2855976" y="5090096"/>
            <a:ext cx="7273290" cy="1013460"/>
          </a:xfrm>
          <a:custGeom>
            <a:avLst/>
            <a:gdLst/>
            <a:ahLst/>
            <a:cxnLst/>
            <a:rect l="l" t="t" r="r" b="b"/>
            <a:pathLst>
              <a:path w="7273290" h="1013460">
                <a:moveTo>
                  <a:pt x="7273290" y="0"/>
                </a:moveTo>
                <a:lnTo>
                  <a:pt x="0" y="0"/>
                </a:lnTo>
                <a:lnTo>
                  <a:pt x="0" y="1013282"/>
                </a:lnTo>
                <a:lnTo>
                  <a:pt x="7273290" y="1013282"/>
                </a:lnTo>
                <a:lnTo>
                  <a:pt x="7273290" y="0"/>
                </a:lnTo>
                <a:close/>
              </a:path>
            </a:pathLst>
          </a:custGeom>
          <a:solidFill>
            <a:srgbClr val="FFFFCC"/>
          </a:solidFill>
        </p:spPr>
        <p:txBody>
          <a:bodyPr wrap="square" lIns="0" tIns="0" rIns="0" bIns="0" rtlCol="0"/>
          <a:lstStyle/>
          <a:p/>
        </p:txBody>
      </p:sp>
      <p:graphicFrame>
        <p:nvGraphicFramePr>
          <p:cNvPr id="7" name="object 7" descr=""/>
          <p:cNvGraphicFramePr>
            <a:graphicFrameLocks noGrp="1"/>
          </p:cNvGraphicFramePr>
          <p:nvPr/>
        </p:nvGraphicFramePr>
        <p:xfrm>
          <a:off x="3118160" y="5338410"/>
          <a:ext cx="6993890" cy="466090"/>
        </p:xfrm>
        <a:graphic>
          <a:graphicData uri="http://schemas.openxmlformats.org/drawingml/2006/table">
            <a:tbl>
              <a:tblPr firstRow="1" bandRow="1">
                <a:tableStyleId>{2D5ABB26-0587-4C30-8999-92F81FD0307C}</a:tableStyleId>
              </a:tblPr>
              <a:tblGrid>
                <a:gridCol w="1391920"/>
                <a:gridCol w="1029969"/>
                <a:gridCol w="1029969"/>
                <a:gridCol w="3449954"/>
              </a:tblGrid>
              <a:tr h="466090">
                <a:tc>
                  <a:txBody>
                    <a:bodyPr/>
                    <a:lstStyle/>
                    <a:p>
                      <a:pPr marL="384810">
                        <a:lnSpc>
                          <a:spcPct val="100000"/>
                        </a:lnSpc>
                        <a:spcBef>
                          <a:spcPts val="955"/>
                        </a:spcBef>
                      </a:pPr>
                      <a:r>
                        <a:rPr dirty="0" sz="1500" spc="215">
                          <a:latin typeface="宋体"/>
                          <a:cs typeface="宋体"/>
                        </a:rPr>
                        <a:t>操作码</a:t>
                      </a:r>
                      <a:endParaRPr sz="1500">
                        <a:latin typeface="宋体"/>
                        <a:cs typeface="宋体"/>
                      </a:endParaRPr>
                    </a:p>
                  </a:txBody>
                  <a:tcPr marL="0" marR="0" marB="0" marT="12128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L="55880">
                        <a:lnSpc>
                          <a:spcPct val="100000"/>
                        </a:lnSpc>
                        <a:spcBef>
                          <a:spcPts val="430"/>
                        </a:spcBef>
                      </a:pPr>
                      <a:r>
                        <a:rPr dirty="0" sz="1800" spc="70" b="1">
                          <a:latin typeface="Times New Roman"/>
                          <a:cs typeface="Times New Roman"/>
                        </a:rPr>
                        <a:t>rs</a:t>
                      </a:r>
                      <a:endParaRPr sz="1800">
                        <a:latin typeface="Times New Roman"/>
                        <a:cs typeface="Times New Roman"/>
                      </a:endParaRPr>
                    </a:p>
                  </a:txBody>
                  <a:tcPr marL="0" marR="0" marB="0" marT="546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R="55880">
                        <a:lnSpc>
                          <a:spcPct val="100000"/>
                        </a:lnSpc>
                        <a:spcBef>
                          <a:spcPts val="509"/>
                        </a:spcBef>
                      </a:pPr>
                      <a:r>
                        <a:rPr dirty="0" sz="1800" spc="60" b="1">
                          <a:latin typeface="Times New Roman"/>
                          <a:cs typeface="Times New Roman"/>
                        </a:rPr>
                        <a:t>rt</a:t>
                      </a:r>
                      <a:endParaRPr sz="1800">
                        <a:latin typeface="Times New Roman"/>
                        <a:cs typeface="Times New Roman"/>
                      </a:endParaRPr>
                    </a:p>
                  </a:txBody>
                  <a:tcPr marL="0" marR="0" marB="0" marT="6476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897890">
                        <a:lnSpc>
                          <a:spcPct val="100000"/>
                        </a:lnSpc>
                        <a:spcBef>
                          <a:spcPts val="955"/>
                        </a:spcBef>
                      </a:pPr>
                      <a:r>
                        <a:rPr dirty="0" sz="1500" spc="225">
                          <a:latin typeface="宋体"/>
                          <a:cs typeface="宋体"/>
                        </a:rPr>
                        <a:t>立即数</a:t>
                      </a:r>
                      <a:r>
                        <a:rPr dirty="0" sz="1500" spc="120">
                          <a:latin typeface="宋体"/>
                          <a:cs typeface="宋体"/>
                        </a:rPr>
                        <a:t>（</a:t>
                      </a:r>
                      <a:r>
                        <a:rPr dirty="0" sz="1500" spc="120" b="1">
                          <a:latin typeface="Times New Roman"/>
                          <a:cs typeface="Times New Roman"/>
                        </a:rPr>
                        <a:t>immediate</a:t>
                      </a:r>
                      <a:r>
                        <a:rPr dirty="0" sz="1500" spc="120">
                          <a:latin typeface="宋体"/>
                          <a:cs typeface="宋体"/>
                        </a:rPr>
                        <a:t>）</a:t>
                      </a:r>
                      <a:endParaRPr sz="1500">
                        <a:latin typeface="宋体"/>
                        <a:cs typeface="宋体"/>
                      </a:endParaRPr>
                    </a:p>
                  </a:txBody>
                  <a:tcPr marL="0" marR="0" marB="0" marT="12128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r>
            </a:tbl>
          </a:graphicData>
        </a:graphic>
      </p:graphicFrame>
      <p:sp>
        <p:nvSpPr>
          <p:cNvPr id="8" name="object 8" descr=""/>
          <p:cNvSpPr txBox="1"/>
          <p:nvPr/>
        </p:nvSpPr>
        <p:spPr>
          <a:xfrm>
            <a:off x="3754396" y="5056690"/>
            <a:ext cx="137160" cy="258445"/>
          </a:xfrm>
          <a:prstGeom prst="rect">
            <a:avLst/>
          </a:prstGeom>
        </p:spPr>
        <p:txBody>
          <a:bodyPr wrap="square" lIns="0" tIns="15875" rIns="0" bIns="0" rtlCol="0" vert="horz">
            <a:spAutoFit/>
          </a:bodyPr>
          <a:lstStyle/>
          <a:p>
            <a:pPr marL="12700">
              <a:lnSpc>
                <a:spcPct val="100000"/>
              </a:lnSpc>
              <a:spcBef>
                <a:spcPts val="125"/>
              </a:spcBef>
            </a:pPr>
            <a:r>
              <a:rPr dirty="0" sz="1500" spc="70" b="1">
                <a:latin typeface="Times New Roman"/>
                <a:cs typeface="Times New Roman"/>
              </a:rPr>
              <a:t>6</a:t>
            </a:r>
            <a:endParaRPr sz="1500">
              <a:latin typeface="Times New Roman"/>
              <a:cs typeface="Times New Roman"/>
            </a:endParaRPr>
          </a:p>
        </p:txBody>
      </p:sp>
      <p:sp>
        <p:nvSpPr>
          <p:cNvPr id="9" name="object 9" descr=""/>
          <p:cNvSpPr txBox="1"/>
          <p:nvPr/>
        </p:nvSpPr>
        <p:spPr>
          <a:xfrm>
            <a:off x="4990916" y="5056690"/>
            <a:ext cx="137160" cy="258445"/>
          </a:xfrm>
          <a:prstGeom prst="rect">
            <a:avLst/>
          </a:prstGeom>
        </p:spPr>
        <p:txBody>
          <a:bodyPr wrap="square" lIns="0" tIns="15875" rIns="0" bIns="0" rtlCol="0" vert="horz">
            <a:spAutoFit/>
          </a:bodyPr>
          <a:lstStyle/>
          <a:p>
            <a:pPr marL="12700">
              <a:lnSpc>
                <a:spcPct val="100000"/>
              </a:lnSpc>
              <a:spcBef>
                <a:spcPts val="125"/>
              </a:spcBef>
            </a:pPr>
            <a:r>
              <a:rPr dirty="0" sz="1500" spc="70" b="1">
                <a:latin typeface="Times New Roman"/>
                <a:cs typeface="Times New Roman"/>
              </a:rPr>
              <a:t>5</a:t>
            </a:r>
            <a:endParaRPr sz="1500">
              <a:latin typeface="Times New Roman"/>
              <a:cs typeface="Times New Roman"/>
            </a:endParaRPr>
          </a:p>
        </p:txBody>
      </p:sp>
      <p:sp>
        <p:nvSpPr>
          <p:cNvPr id="10" name="object 10" descr=""/>
          <p:cNvSpPr txBox="1"/>
          <p:nvPr/>
        </p:nvSpPr>
        <p:spPr>
          <a:xfrm>
            <a:off x="5917946" y="5054070"/>
            <a:ext cx="137160" cy="258445"/>
          </a:xfrm>
          <a:prstGeom prst="rect">
            <a:avLst/>
          </a:prstGeom>
        </p:spPr>
        <p:txBody>
          <a:bodyPr wrap="square" lIns="0" tIns="15875" rIns="0" bIns="0" rtlCol="0" vert="horz">
            <a:spAutoFit/>
          </a:bodyPr>
          <a:lstStyle/>
          <a:p>
            <a:pPr marL="12700">
              <a:lnSpc>
                <a:spcPct val="100000"/>
              </a:lnSpc>
              <a:spcBef>
                <a:spcPts val="125"/>
              </a:spcBef>
            </a:pPr>
            <a:r>
              <a:rPr dirty="0" sz="1500" spc="70" b="1">
                <a:latin typeface="Times New Roman"/>
                <a:cs typeface="Times New Roman"/>
              </a:rPr>
              <a:t>5</a:t>
            </a:r>
            <a:endParaRPr sz="1500">
              <a:latin typeface="Times New Roman"/>
              <a:cs typeface="Times New Roman"/>
            </a:endParaRPr>
          </a:p>
        </p:txBody>
      </p:sp>
      <p:sp>
        <p:nvSpPr>
          <p:cNvPr id="11" name="object 11" descr=""/>
          <p:cNvSpPr txBox="1"/>
          <p:nvPr/>
        </p:nvSpPr>
        <p:spPr>
          <a:xfrm>
            <a:off x="8081691" y="5054070"/>
            <a:ext cx="249554" cy="258445"/>
          </a:xfrm>
          <a:prstGeom prst="rect">
            <a:avLst/>
          </a:prstGeom>
        </p:spPr>
        <p:txBody>
          <a:bodyPr wrap="square" lIns="0" tIns="15875" rIns="0" bIns="0" rtlCol="0" vert="horz">
            <a:spAutoFit/>
          </a:bodyPr>
          <a:lstStyle/>
          <a:p>
            <a:pPr marL="12700">
              <a:lnSpc>
                <a:spcPct val="100000"/>
              </a:lnSpc>
              <a:spcBef>
                <a:spcPts val="125"/>
              </a:spcBef>
            </a:pPr>
            <a:r>
              <a:rPr dirty="0" sz="1500" spc="95" b="1">
                <a:latin typeface="Times New Roman"/>
                <a:cs typeface="Times New Roman"/>
              </a:rPr>
              <a:t>16</a:t>
            </a:r>
            <a:endParaRPr sz="1500">
              <a:latin typeface="Times New Roman"/>
              <a:cs typeface="Times New Roman"/>
            </a:endParaRPr>
          </a:p>
        </p:txBody>
      </p:sp>
      <p:sp>
        <p:nvSpPr>
          <p:cNvPr id="12" name="object 12" descr=""/>
          <p:cNvSpPr txBox="1"/>
          <p:nvPr/>
        </p:nvSpPr>
        <p:spPr>
          <a:xfrm>
            <a:off x="3136735" y="5809289"/>
            <a:ext cx="137160" cy="258445"/>
          </a:xfrm>
          <a:prstGeom prst="rect">
            <a:avLst/>
          </a:prstGeom>
        </p:spPr>
        <p:txBody>
          <a:bodyPr wrap="square" lIns="0" tIns="15875" rIns="0" bIns="0" rtlCol="0" vert="horz">
            <a:spAutoFit/>
          </a:bodyPr>
          <a:lstStyle/>
          <a:p>
            <a:pPr marL="12700">
              <a:lnSpc>
                <a:spcPct val="100000"/>
              </a:lnSpc>
              <a:spcBef>
                <a:spcPts val="125"/>
              </a:spcBef>
            </a:pPr>
            <a:r>
              <a:rPr dirty="0" sz="1500" spc="70" b="1">
                <a:latin typeface="Times New Roman"/>
                <a:cs typeface="Times New Roman"/>
              </a:rPr>
              <a:t>0</a:t>
            </a:r>
            <a:endParaRPr sz="1500">
              <a:latin typeface="Times New Roman"/>
              <a:cs typeface="Times New Roman"/>
            </a:endParaRPr>
          </a:p>
        </p:txBody>
      </p:sp>
      <p:sp>
        <p:nvSpPr>
          <p:cNvPr id="13" name="object 13" descr=""/>
          <p:cNvSpPr txBox="1"/>
          <p:nvPr/>
        </p:nvSpPr>
        <p:spPr>
          <a:xfrm>
            <a:off x="4269701" y="5811915"/>
            <a:ext cx="445770" cy="258445"/>
          </a:xfrm>
          <a:prstGeom prst="rect">
            <a:avLst/>
          </a:prstGeom>
        </p:spPr>
        <p:txBody>
          <a:bodyPr wrap="square" lIns="0" tIns="15875" rIns="0" bIns="0" rtlCol="0" vert="horz">
            <a:spAutoFit/>
          </a:bodyPr>
          <a:lstStyle/>
          <a:p>
            <a:pPr marL="12700">
              <a:lnSpc>
                <a:spcPct val="100000"/>
              </a:lnSpc>
              <a:spcBef>
                <a:spcPts val="125"/>
              </a:spcBef>
              <a:tabLst>
                <a:tab pos="321310" algn="l"/>
              </a:tabLst>
            </a:pPr>
            <a:r>
              <a:rPr dirty="0" sz="1500" spc="70" b="1">
                <a:latin typeface="Times New Roman"/>
                <a:cs typeface="Times New Roman"/>
              </a:rPr>
              <a:t>5</a:t>
            </a:r>
            <a:r>
              <a:rPr dirty="0" sz="1500" b="1">
                <a:latin typeface="Times New Roman"/>
                <a:cs typeface="Times New Roman"/>
              </a:rPr>
              <a:t>	</a:t>
            </a:r>
            <a:r>
              <a:rPr dirty="0" sz="1500" spc="70" b="1">
                <a:latin typeface="Times New Roman"/>
                <a:cs typeface="Times New Roman"/>
              </a:rPr>
              <a:t>6</a:t>
            </a:r>
            <a:endParaRPr sz="1500">
              <a:latin typeface="Times New Roman"/>
              <a:cs typeface="Times New Roman"/>
            </a:endParaRPr>
          </a:p>
        </p:txBody>
      </p:sp>
      <p:sp>
        <p:nvSpPr>
          <p:cNvPr id="14" name="object 14" descr=""/>
          <p:cNvSpPr txBox="1"/>
          <p:nvPr/>
        </p:nvSpPr>
        <p:spPr>
          <a:xfrm>
            <a:off x="5250072" y="5811915"/>
            <a:ext cx="622935" cy="258445"/>
          </a:xfrm>
          <a:prstGeom prst="rect">
            <a:avLst/>
          </a:prstGeom>
        </p:spPr>
        <p:txBody>
          <a:bodyPr wrap="square" lIns="0" tIns="15875" rIns="0" bIns="0" rtlCol="0" vert="horz">
            <a:spAutoFit/>
          </a:bodyPr>
          <a:lstStyle/>
          <a:p>
            <a:pPr marL="12700">
              <a:lnSpc>
                <a:spcPct val="100000"/>
              </a:lnSpc>
              <a:spcBef>
                <a:spcPts val="125"/>
              </a:spcBef>
              <a:tabLst>
                <a:tab pos="409575" algn="l"/>
              </a:tabLst>
            </a:pPr>
            <a:r>
              <a:rPr dirty="0" sz="1500" spc="95" b="1">
                <a:latin typeface="Times New Roman"/>
                <a:cs typeface="Times New Roman"/>
              </a:rPr>
              <a:t>10</a:t>
            </a:r>
            <a:r>
              <a:rPr dirty="0" sz="1500" b="1">
                <a:latin typeface="Times New Roman"/>
                <a:cs typeface="Times New Roman"/>
              </a:rPr>
              <a:t>	</a:t>
            </a:r>
            <a:r>
              <a:rPr dirty="0" sz="1500" spc="-25" b="1">
                <a:latin typeface="Times New Roman"/>
                <a:cs typeface="Times New Roman"/>
              </a:rPr>
              <a:t>11</a:t>
            </a:r>
            <a:endParaRPr sz="1500">
              <a:latin typeface="Times New Roman"/>
              <a:cs typeface="Times New Roman"/>
            </a:endParaRPr>
          </a:p>
        </p:txBody>
      </p:sp>
      <p:sp>
        <p:nvSpPr>
          <p:cNvPr id="15" name="object 15" descr=""/>
          <p:cNvSpPr txBox="1"/>
          <p:nvPr/>
        </p:nvSpPr>
        <p:spPr>
          <a:xfrm>
            <a:off x="6279996" y="5811915"/>
            <a:ext cx="608965" cy="258445"/>
          </a:xfrm>
          <a:prstGeom prst="rect">
            <a:avLst/>
          </a:prstGeom>
        </p:spPr>
        <p:txBody>
          <a:bodyPr wrap="square" lIns="0" tIns="15875" rIns="0" bIns="0" rtlCol="0" vert="horz">
            <a:spAutoFit/>
          </a:bodyPr>
          <a:lstStyle/>
          <a:p>
            <a:pPr marL="12700">
              <a:lnSpc>
                <a:spcPct val="100000"/>
              </a:lnSpc>
              <a:spcBef>
                <a:spcPts val="125"/>
              </a:spcBef>
              <a:tabLst>
                <a:tab pos="371475" algn="l"/>
              </a:tabLst>
            </a:pPr>
            <a:r>
              <a:rPr dirty="0" sz="1500" spc="95" b="1">
                <a:latin typeface="Times New Roman"/>
                <a:cs typeface="Times New Roman"/>
              </a:rPr>
              <a:t>15</a:t>
            </a:r>
            <a:r>
              <a:rPr dirty="0" sz="1500" b="1">
                <a:latin typeface="Times New Roman"/>
                <a:cs typeface="Times New Roman"/>
              </a:rPr>
              <a:t>	</a:t>
            </a:r>
            <a:r>
              <a:rPr dirty="0" sz="1500" spc="95" b="1">
                <a:latin typeface="Times New Roman"/>
                <a:cs typeface="Times New Roman"/>
              </a:rPr>
              <a:t>16</a:t>
            </a:r>
            <a:endParaRPr sz="1500">
              <a:latin typeface="Times New Roman"/>
              <a:cs typeface="Times New Roman"/>
            </a:endParaRPr>
          </a:p>
        </p:txBody>
      </p:sp>
      <p:sp>
        <p:nvSpPr>
          <p:cNvPr id="16" name="object 16" descr=""/>
          <p:cNvSpPr txBox="1"/>
          <p:nvPr/>
        </p:nvSpPr>
        <p:spPr>
          <a:xfrm>
            <a:off x="9729862" y="5811915"/>
            <a:ext cx="249554" cy="258445"/>
          </a:xfrm>
          <a:prstGeom prst="rect">
            <a:avLst/>
          </a:prstGeom>
        </p:spPr>
        <p:txBody>
          <a:bodyPr wrap="square" lIns="0" tIns="15875" rIns="0" bIns="0" rtlCol="0" vert="horz">
            <a:spAutoFit/>
          </a:bodyPr>
          <a:lstStyle/>
          <a:p>
            <a:pPr marL="12700">
              <a:lnSpc>
                <a:spcPct val="100000"/>
              </a:lnSpc>
              <a:spcBef>
                <a:spcPts val="125"/>
              </a:spcBef>
            </a:pPr>
            <a:r>
              <a:rPr dirty="0" sz="1500" spc="95" b="1">
                <a:latin typeface="Times New Roman"/>
                <a:cs typeface="Times New Roman"/>
              </a:rPr>
              <a:t>31</a:t>
            </a:r>
            <a:endParaRPr sz="1500">
              <a:latin typeface="Times New Roman"/>
              <a:cs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0" y="5483961"/>
            <a:ext cx="12192000" cy="1374140"/>
            <a:chOff x="0" y="5483961"/>
            <a:chExt cx="12192000" cy="1374140"/>
          </a:xfrm>
        </p:grpSpPr>
        <p:sp>
          <p:nvSpPr>
            <p:cNvPr id="3" name="object 3"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4" name="object 4" descr=""/>
            <p:cNvSpPr/>
            <p:nvPr/>
          </p:nvSpPr>
          <p:spPr>
            <a:xfrm>
              <a:off x="2640076" y="5483961"/>
              <a:ext cx="7416800" cy="1062990"/>
            </a:xfrm>
            <a:custGeom>
              <a:avLst/>
              <a:gdLst/>
              <a:ahLst/>
              <a:cxnLst/>
              <a:rect l="l" t="t" r="r" b="b"/>
              <a:pathLst>
                <a:path w="7416800" h="1062990">
                  <a:moveTo>
                    <a:pt x="7416800" y="0"/>
                  </a:moveTo>
                  <a:lnTo>
                    <a:pt x="0" y="0"/>
                  </a:lnTo>
                  <a:lnTo>
                    <a:pt x="0" y="1062913"/>
                  </a:lnTo>
                  <a:lnTo>
                    <a:pt x="7416800" y="1062913"/>
                  </a:lnTo>
                  <a:lnTo>
                    <a:pt x="7416800" y="0"/>
                  </a:lnTo>
                  <a:close/>
                </a:path>
              </a:pathLst>
            </a:custGeom>
            <a:solidFill>
              <a:srgbClr val="FFFFCC"/>
            </a:solidFill>
          </p:spPr>
          <p:txBody>
            <a:bodyPr wrap="square" lIns="0" tIns="0" rIns="0" bIns="0" rtlCol="0"/>
            <a:lstStyle/>
            <a:p/>
          </p:txBody>
        </p:sp>
      </p:grpSp>
      <p:sp>
        <p:nvSpPr>
          <p:cNvPr id="5" name="object 5" descr=""/>
          <p:cNvSpPr txBox="1"/>
          <p:nvPr/>
        </p:nvSpPr>
        <p:spPr>
          <a:xfrm>
            <a:off x="1602994" y="733958"/>
            <a:ext cx="8733155" cy="3583304"/>
          </a:xfrm>
          <a:prstGeom prst="rect">
            <a:avLst/>
          </a:prstGeom>
        </p:spPr>
        <p:txBody>
          <a:bodyPr wrap="square" lIns="0" tIns="162560" rIns="0" bIns="0" rtlCol="0" vert="horz">
            <a:spAutoFit/>
          </a:bodyPr>
          <a:lstStyle/>
          <a:p>
            <a:pPr marL="354965" indent="-342265">
              <a:lnSpc>
                <a:spcPct val="100000"/>
              </a:lnSpc>
              <a:spcBef>
                <a:spcPts val="1280"/>
              </a:spcBef>
              <a:buClr>
                <a:srgbClr val="40458B"/>
              </a:buClr>
              <a:buSzPct val="114285"/>
              <a:buFont typeface="Wingdings"/>
              <a:buChar char=""/>
              <a:tabLst>
                <a:tab pos="354965" algn="l"/>
              </a:tabLst>
            </a:pPr>
            <a:r>
              <a:rPr dirty="0" sz="2800" spc="-20">
                <a:solidFill>
                  <a:srgbClr val="172152"/>
                </a:solidFill>
                <a:latin typeface="Tahoma"/>
                <a:cs typeface="Tahoma"/>
              </a:rPr>
              <a:t>I</a:t>
            </a:r>
            <a:r>
              <a:rPr dirty="0" sz="2800" spc="-25">
                <a:solidFill>
                  <a:srgbClr val="172152"/>
                </a:solidFill>
                <a:latin typeface="黑体"/>
                <a:cs typeface="黑体"/>
              </a:rPr>
              <a:t>类指令</a:t>
            </a:r>
            <a:r>
              <a:rPr dirty="0" sz="2800">
                <a:solidFill>
                  <a:srgbClr val="172152"/>
                </a:solidFill>
                <a:latin typeface="Tahoma"/>
                <a:cs typeface="Tahoma"/>
              </a:rPr>
              <a:t>---</a:t>
            </a:r>
            <a:r>
              <a:rPr dirty="0" sz="2800" spc="-40">
                <a:solidFill>
                  <a:srgbClr val="172152"/>
                </a:solidFill>
                <a:latin typeface="黑体"/>
                <a:cs typeface="黑体"/>
              </a:rPr>
              <a:t>立即数指令</a:t>
            </a:r>
            <a:endParaRPr sz="2800">
              <a:latin typeface="黑体"/>
              <a:cs typeface="黑体"/>
            </a:endParaRPr>
          </a:p>
          <a:p>
            <a:pPr marL="901065">
              <a:lnSpc>
                <a:spcPct val="100000"/>
              </a:lnSpc>
              <a:spcBef>
                <a:spcPts val="1585"/>
              </a:spcBef>
            </a:pPr>
            <a:r>
              <a:rPr dirty="0" sz="2800">
                <a:solidFill>
                  <a:srgbClr val="172152"/>
                </a:solidFill>
                <a:latin typeface="Tahoma"/>
                <a:cs typeface="Tahoma"/>
              </a:rPr>
              <a:t>Regs[rt]</a:t>
            </a:r>
            <a:r>
              <a:rPr dirty="0" sz="2800" spc="-50">
                <a:solidFill>
                  <a:srgbClr val="172152"/>
                </a:solidFill>
                <a:latin typeface="Tahoma"/>
                <a:cs typeface="Tahoma"/>
              </a:rPr>
              <a:t> </a:t>
            </a:r>
            <a:r>
              <a:rPr dirty="0" sz="2800">
                <a:solidFill>
                  <a:srgbClr val="172152"/>
                </a:solidFill>
                <a:latin typeface="Tahoma"/>
                <a:cs typeface="Tahoma"/>
              </a:rPr>
              <a:t>←</a:t>
            </a:r>
            <a:r>
              <a:rPr dirty="0" sz="2800" spc="-65">
                <a:solidFill>
                  <a:srgbClr val="172152"/>
                </a:solidFill>
                <a:latin typeface="Tahoma"/>
                <a:cs typeface="Tahoma"/>
              </a:rPr>
              <a:t> </a:t>
            </a:r>
            <a:r>
              <a:rPr dirty="0" sz="2800">
                <a:solidFill>
                  <a:srgbClr val="172152"/>
                </a:solidFill>
                <a:latin typeface="Tahoma"/>
                <a:cs typeface="Tahoma"/>
              </a:rPr>
              <a:t>Regs[rs]</a:t>
            </a:r>
            <a:r>
              <a:rPr dirty="0" sz="2800" spc="-50">
                <a:solidFill>
                  <a:srgbClr val="172152"/>
                </a:solidFill>
                <a:latin typeface="Tahoma"/>
                <a:cs typeface="Tahoma"/>
              </a:rPr>
              <a:t> </a:t>
            </a:r>
            <a:r>
              <a:rPr dirty="0" sz="2800">
                <a:solidFill>
                  <a:srgbClr val="172152"/>
                </a:solidFill>
                <a:latin typeface="Tahoma"/>
                <a:cs typeface="Tahoma"/>
              </a:rPr>
              <a:t>op</a:t>
            </a:r>
            <a:r>
              <a:rPr dirty="0" sz="2800" spc="-60">
                <a:solidFill>
                  <a:srgbClr val="172152"/>
                </a:solidFill>
                <a:latin typeface="Tahoma"/>
                <a:cs typeface="Tahoma"/>
              </a:rPr>
              <a:t> </a:t>
            </a:r>
            <a:r>
              <a:rPr dirty="0" sz="2800" spc="-10">
                <a:solidFill>
                  <a:srgbClr val="172152"/>
                </a:solidFill>
                <a:latin typeface="Tahoma"/>
                <a:cs typeface="Tahoma"/>
              </a:rPr>
              <a:t>immediate</a:t>
            </a:r>
            <a:endParaRPr sz="2800">
              <a:latin typeface="Tahoma"/>
              <a:cs typeface="Tahoma"/>
            </a:endParaRPr>
          </a:p>
          <a:p>
            <a:pPr lvl="1" marL="694690" indent="-270510">
              <a:lnSpc>
                <a:spcPct val="100000"/>
              </a:lnSpc>
              <a:spcBef>
                <a:spcPts val="1440"/>
              </a:spcBef>
              <a:buSzPct val="88636"/>
              <a:buFont typeface="Wingdings"/>
              <a:buChar char=""/>
              <a:tabLst>
                <a:tab pos="694690" algn="l"/>
              </a:tabLst>
            </a:pPr>
            <a:r>
              <a:rPr dirty="0" sz="2200" spc="-30">
                <a:solidFill>
                  <a:srgbClr val="006FC0"/>
                </a:solidFill>
                <a:latin typeface="黑体"/>
                <a:cs typeface="黑体"/>
              </a:rPr>
              <a:t>需要注意的是：</a:t>
            </a:r>
            <a:r>
              <a:rPr dirty="0" sz="2200" spc="-25">
                <a:solidFill>
                  <a:srgbClr val="006FC0"/>
                </a:solidFill>
                <a:latin typeface="Tahoma"/>
                <a:cs typeface="Tahoma"/>
              </a:rPr>
              <a:t>MIPS</a:t>
            </a:r>
            <a:r>
              <a:rPr dirty="0" sz="2200" spc="-30">
                <a:solidFill>
                  <a:srgbClr val="006FC0"/>
                </a:solidFill>
                <a:latin typeface="黑体"/>
                <a:cs typeface="黑体"/>
              </a:rPr>
              <a:t>所有寄存器都是</a:t>
            </a:r>
            <a:r>
              <a:rPr dirty="0" sz="2200" spc="-20">
                <a:solidFill>
                  <a:srgbClr val="006FC0"/>
                </a:solidFill>
                <a:latin typeface="Tahoma"/>
                <a:cs typeface="Tahoma"/>
              </a:rPr>
              <a:t>64</a:t>
            </a:r>
            <a:r>
              <a:rPr dirty="0" sz="2200" spc="-30">
                <a:solidFill>
                  <a:srgbClr val="006FC0"/>
                </a:solidFill>
                <a:latin typeface="黑体"/>
                <a:cs typeface="黑体"/>
              </a:rPr>
              <a:t>位，立即数是</a:t>
            </a:r>
            <a:r>
              <a:rPr dirty="0" sz="2200" spc="-20">
                <a:solidFill>
                  <a:srgbClr val="006FC0"/>
                </a:solidFill>
                <a:latin typeface="Tahoma"/>
                <a:cs typeface="Tahoma"/>
              </a:rPr>
              <a:t>16</a:t>
            </a:r>
            <a:r>
              <a:rPr dirty="0" sz="2200" spc="-35">
                <a:solidFill>
                  <a:srgbClr val="006FC0"/>
                </a:solidFill>
                <a:latin typeface="黑体"/>
                <a:cs typeface="黑体"/>
              </a:rPr>
              <a:t>位怎么办</a:t>
            </a:r>
            <a:endParaRPr sz="2200">
              <a:latin typeface="黑体"/>
              <a:cs typeface="黑体"/>
            </a:endParaRPr>
          </a:p>
          <a:p>
            <a:pPr marL="779145">
              <a:lnSpc>
                <a:spcPct val="100000"/>
              </a:lnSpc>
              <a:spcBef>
                <a:spcPts val="2695"/>
              </a:spcBef>
            </a:pPr>
            <a:r>
              <a:rPr dirty="0" sz="2400" spc="-25" b="1">
                <a:solidFill>
                  <a:srgbClr val="9933FF"/>
                </a:solidFill>
                <a:latin typeface="黑体"/>
                <a:cs typeface="黑体"/>
              </a:rPr>
              <a:t>解决方法：扩展，怎么扩展</a:t>
            </a:r>
            <a:endParaRPr sz="2400">
              <a:latin typeface="黑体"/>
              <a:cs typeface="黑体"/>
            </a:endParaRPr>
          </a:p>
          <a:p>
            <a:pPr marL="804545" indent="-456565">
              <a:lnSpc>
                <a:spcPct val="100000"/>
              </a:lnSpc>
              <a:spcBef>
                <a:spcPts val="1650"/>
              </a:spcBef>
              <a:buClr>
                <a:srgbClr val="4668F5"/>
              </a:buClr>
              <a:buSzPct val="72916"/>
              <a:buFont typeface="Wingdings"/>
              <a:buChar char=""/>
              <a:tabLst>
                <a:tab pos="804545" algn="l"/>
              </a:tabLst>
            </a:pPr>
            <a:r>
              <a:rPr dirty="0" sz="2400" spc="-25" b="1">
                <a:solidFill>
                  <a:srgbClr val="9933FF"/>
                </a:solidFill>
                <a:latin typeface="黑体"/>
                <a:cs typeface="黑体"/>
              </a:rPr>
              <a:t>解决方法：扩展</a:t>
            </a:r>
            <a:endParaRPr sz="2400">
              <a:latin typeface="黑体"/>
              <a:cs typeface="黑体"/>
            </a:endParaRPr>
          </a:p>
          <a:p>
            <a:pPr lvl="1" marL="1365885" indent="-381000">
              <a:lnSpc>
                <a:spcPct val="100000"/>
              </a:lnSpc>
              <a:spcBef>
                <a:spcPts val="860"/>
              </a:spcBef>
              <a:buClr>
                <a:srgbClr val="64CD80"/>
              </a:buClr>
              <a:buSzPct val="64583"/>
              <a:buFont typeface="Wingdings"/>
              <a:buChar char=""/>
              <a:tabLst>
                <a:tab pos="1365885" algn="l"/>
              </a:tabLst>
            </a:pPr>
            <a:r>
              <a:rPr dirty="0" sz="2400" spc="-20" b="1">
                <a:solidFill>
                  <a:srgbClr val="9933FF"/>
                </a:solidFill>
                <a:latin typeface="宋体"/>
                <a:cs typeface="宋体"/>
              </a:rPr>
              <a:t>运算之前，将立即数扩展为64</a:t>
            </a:r>
            <a:r>
              <a:rPr dirty="0" sz="2400" spc="-25" b="1">
                <a:solidFill>
                  <a:srgbClr val="9933FF"/>
                </a:solidFill>
                <a:latin typeface="宋体"/>
                <a:cs typeface="宋体"/>
              </a:rPr>
              <a:t>位，扩展方法和运算有关</a:t>
            </a:r>
            <a:endParaRPr sz="2400">
              <a:latin typeface="宋体"/>
              <a:cs typeface="宋体"/>
            </a:endParaRPr>
          </a:p>
        </p:txBody>
      </p:sp>
      <p:sp>
        <p:nvSpPr>
          <p:cNvPr id="6" name="object 6"/>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rPr>
              <a:t>	2.6.4</a:t>
            </a:r>
            <a:r>
              <a:rPr dirty="0" spc="-40">
                <a:solidFill>
                  <a:srgbClr val="4F55AC"/>
                </a:solidFill>
              </a:rPr>
              <a:t> </a:t>
            </a:r>
            <a:r>
              <a:rPr dirty="0">
                <a:solidFill>
                  <a:srgbClr val="4F55AC"/>
                </a:solidFill>
              </a:rPr>
              <a:t>MIPS</a:t>
            </a:r>
            <a:r>
              <a:rPr dirty="0" spc="-10">
                <a:solidFill>
                  <a:srgbClr val="4F55AC"/>
                </a:solidFill>
                <a:latin typeface="微软雅黑"/>
                <a:cs typeface="微软雅黑"/>
              </a:rPr>
              <a:t>指令格</a:t>
            </a:r>
            <a:r>
              <a:rPr dirty="0" spc="-50">
                <a:solidFill>
                  <a:srgbClr val="4F55AC"/>
                </a:solidFill>
                <a:latin typeface="微软雅黑"/>
                <a:cs typeface="微软雅黑"/>
              </a:rPr>
              <a:t>式</a:t>
            </a:r>
            <a:r>
              <a:rPr dirty="0">
                <a:solidFill>
                  <a:srgbClr val="4F55AC"/>
                </a:solidFill>
                <a:latin typeface="微软雅黑"/>
                <a:cs typeface="微软雅黑"/>
              </a:rPr>
              <a:t>	</a:t>
            </a:r>
          </a:p>
        </p:txBody>
      </p:sp>
      <p:graphicFrame>
        <p:nvGraphicFramePr>
          <p:cNvPr id="7" name="object 7" descr=""/>
          <p:cNvGraphicFramePr>
            <a:graphicFrameLocks noGrp="1"/>
          </p:cNvGraphicFramePr>
          <p:nvPr/>
        </p:nvGraphicFramePr>
        <p:xfrm>
          <a:off x="2837727" y="5687708"/>
          <a:ext cx="7131050" cy="488950"/>
        </p:xfrm>
        <a:graphic>
          <a:graphicData uri="http://schemas.openxmlformats.org/drawingml/2006/table">
            <a:tbl>
              <a:tblPr firstRow="1" bandRow="1">
                <a:tableStyleId>{2D5ABB26-0587-4C30-8999-92F81FD0307C}</a:tableStyleId>
              </a:tblPr>
              <a:tblGrid>
                <a:gridCol w="1419860"/>
                <a:gridCol w="1050925"/>
                <a:gridCol w="1050925"/>
                <a:gridCol w="3518535"/>
              </a:tblGrid>
              <a:tr h="488950">
                <a:tc>
                  <a:txBody>
                    <a:bodyPr/>
                    <a:lstStyle/>
                    <a:p>
                      <a:pPr marL="392430">
                        <a:lnSpc>
                          <a:spcPct val="100000"/>
                        </a:lnSpc>
                        <a:spcBef>
                          <a:spcPts val="975"/>
                        </a:spcBef>
                      </a:pPr>
                      <a:r>
                        <a:rPr dirty="0" sz="1600" spc="155">
                          <a:latin typeface="宋体"/>
                          <a:cs typeface="宋体"/>
                        </a:rPr>
                        <a:t>操作码</a:t>
                      </a:r>
                      <a:endParaRPr sz="1600">
                        <a:latin typeface="宋体"/>
                        <a:cs typeface="宋体"/>
                      </a:endParaRPr>
                    </a:p>
                  </a:txBody>
                  <a:tcPr marL="0" marR="0" marB="0" marT="12382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L="57150">
                        <a:lnSpc>
                          <a:spcPct val="100000"/>
                        </a:lnSpc>
                        <a:spcBef>
                          <a:spcPts val="489"/>
                        </a:spcBef>
                      </a:pPr>
                      <a:r>
                        <a:rPr dirty="0" sz="1850" spc="55" b="1">
                          <a:latin typeface="Times New Roman"/>
                          <a:cs typeface="Times New Roman"/>
                        </a:rPr>
                        <a:t>rs</a:t>
                      </a:r>
                      <a:endParaRPr sz="1850">
                        <a:latin typeface="Times New Roman"/>
                        <a:cs typeface="Times New Roman"/>
                      </a:endParaRPr>
                    </a:p>
                  </a:txBody>
                  <a:tcPr marL="0" marR="0" marB="0" marT="622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R="57150">
                        <a:lnSpc>
                          <a:spcPct val="100000"/>
                        </a:lnSpc>
                        <a:spcBef>
                          <a:spcPts val="575"/>
                        </a:spcBef>
                      </a:pPr>
                      <a:r>
                        <a:rPr dirty="0" sz="1850" spc="55" b="1">
                          <a:latin typeface="Times New Roman"/>
                          <a:cs typeface="Times New Roman"/>
                        </a:rPr>
                        <a:t>rt</a:t>
                      </a:r>
                      <a:endParaRPr sz="1850">
                        <a:latin typeface="Times New Roman"/>
                        <a:cs typeface="Times New Roman"/>
                      </a:endParaRPr>
                    </a:p>
                  </a:txBody>
                  <a:tcPr marL="0" marR="0" marB="0" marT="7302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915669">
                        <a:lnSpc>
                          <a:spcPct val="100000"/>
                        </a:lnSpc>
                        <a:spcBef>
                          <a:spcPts val="975"/>
                        </a:spcBef>
                      </a:pPr>
                      <a:r>
                        <a:rPr dirty="0" sz="1600" spc="165">
                          <a:latin typeface="宋体"/>
                          <a:cs typeface="宋体"/>
                        </a:rPr>
                        <a:t>立即数</a:t>
                      </a:r>
                      <a:r>
                        <a:rPr dirty="0" sz="1600" spc="80">
                          <a:latin typeface="宋体"/>
                          <a:cs typeface="宋体"/>
                        </a:rPr>
                        <a:t>（</a:t>
                      </a:r>
                      <a:r>
                        <a:rPr dirty="0" sz="1600" spc="80" b="1">
                          <a:latin typeface="Times New Roman"/>
                          <a:cs typeface="Times New Roman"/>
                        </a:rPr>
                        <a:t>immediate</a:t>
                      </a:r>
                      <a:r>
                        <a:rPr dirty="0" sz="1600" spc="80">
                          <a:latin typeface="宋体"/>
                          <a:cs typeface="宋体"/>
                        </a:rPr>
                        <a:t>）</a:t>
                      </a:r>
                      <a:endParaRPr sz="1600">
                        <a:latin typeface="宋体"/>
                        <a:cs typeface="宋体"/>
                      </a:endParaRPr>
                    </a:p>
                  </a:txBody>
                  <a:tcPr marL="0" marR="0" marB="0" marT="12382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r>
            </a:tbl>
          </a:graphicData>
        </a:graphic>
      </p:graphicFrame>
      <p:sp>
        <p:nvSpPr>
          <p:cNvPr id="8" name="object 8" descr=""/>
          <p:cNvSpPr txBox="1"/>
          <p:nvPr/>
        </p:nvSpPr>
        <p:spPr>
          <a:xfrm>
            <a:off x="7899699" y="5390061"/>
            <a:ext cx="254000" cy="269875"/>
          </a:xfrm>
          <a:prstGeom prst="rect">
            <a:avLst/>
          </a:prstGeom>
        </p:spPr>
        <p:txBody>
          <a:bodyPr wrap="square" lIns="0" tIns="12700" rIns="0" bIns="0" rtlCol="0" vert="horz">
            <a:spAutoFit/>
          </a:bodyPr>
          <a:lstStyle/>
          <a:p>
            <a:pPr marL="12700">
              <a:lnSpc>
                <a:spcPct val="100000"/>
              </a:lnSpc>
              <a:spcBef>
                <a:spcPts val="100"/>
              </a:spcBef>
            </a:pPr>
            <a:r>
              <a:rPr dirty="0" sz="1600" spc="60" b="1">
                <a:latin typeface="Times New Roman"/>
                <a:cs typeface="Times New Roman"/>
              </a:rPr>
              <a:t>16</a:t>
            </a:r>
            <a:endParaRPr sz="1600">
              <a:latin typeface="Times New Roman"/>
              <a:cs typeface="Times New Roman"/>
            </a:endParaRPr>
          </a:p>
        </p:txBody>
      </p:sp>
      <p:sp>
        <p:nvSpPr>
          <p:cNvPr id="9" name="object 9" descr=""/>
          <p:cNvSpPr txBox="1"/>
          <p:nvPr/>
        </p:nvSpPr>
        <p:spPr>
          <a:xfrm>
            <a:off x="2857142" y="6182271"/>
            <a:ext cx="139065" cy="269875"/>
          </a:xfrm>
          <a:prstGeom prst="rect">
            <a:avLst/>
          </a:prstGeom>
        </p:spPr>
        <p:txBody>
          <a:bodyPr wrap="square" lIns="0" tIns="12700" rIns="0" bIns="0" rtlCol="0" vert="horz">
            <a:spAutoFit/>
          </a:bodyPr>
          <a:lstStyle/>
          <a:p>
            <a:pPr marL="12700">
              <a:lnSpc>
                <a:spcPct val="100000"/>
              </a:lnSpc>
              <a:spcBef>
                <a:spcPts val="100"/>
              </a:spcBef>
            </a:pPr>
            <a:r>
              <a:rPr dirty="0" sz="1600" spc="35" b="1">
                <a:latin typeface="Times New Roman"/>
                <a:cs typeface="Times New Roman"/>
              </a:rPr>
              <a:t>0</a:t>
            </a:r>
            <a:endParaRPr sz="1600">
              <a:latin typeface="Times New Roman"/>
              <a:cs typeface="Times New Roman"/>
            </a:endParaRPr>
          </a:p>
        </p:txBody>
      </p:sp>
      <p:sp>
        <p:nvSpPr>
          <p:cNvPr id="10" name="object 10" descr=""/>
          <p:cNvSpPr txBox="1"/>
          <p:nvPr/>
        </p:nvSpPr>
        <p:spPr>
          <a:xfrm>
            <a:off x="4012470" y="6185027"/>
            <a:ext cx="454025" cy="269875"/>
          </a:xfrm>
          <a:prstGeom prst="rect">
            <a:avLst/>
          </a:prstGeom>
        </p:spPr>
        <p:txBody>
          <a:bodyPr wrap="square" lIns="0" tIns="12700" rIns="0" bIns="0" rtlCol="0" vert="horz">
            <a:spAutoFit/>
          </a:bodyPr>
          <a:lstStyle/>
          <a:p>
            <a:pPr marL="12700">
              <a:lnSpc>
                <a:spcPct val="100000"/>
              </a:lnSpc>
              <a:spcBef>
                <a:spcPts val="100"/>
              </a:spcBef>
              <a:tabLst>
                <a:tab pos="327025" algn="l"/>
              </a:tabLst>
            </a:pPr>
            <a:r>
              <a:rPr dirty="0" sz="1600" spc="35" b="1">
                <a:latin typeface="Times New Roman"/>
                <a:cs typeface="Times New Roman"/>
              </a:rPr>
              <a:t>5</a:t>
            </a:r>
            <a:r>
              <a:rPr dirty="0" sz="1600" b="1">
                <a:latin typeface="Times New Roman"/>
                <a:cs typeface="Times New Roman"/>
              </a:rPr>
              <a:t>	</a:t>
            </a:r>
            <a:r>
              <a:rPr dirty="0" sz="1600" spc="35" b="1">
                <a:latin typeface="Times New Roman"/>
                <a:cs typeface="Times New Roman"/>
              </a:rPr>
              <a:t>6</a:t>
            </a:r>
            <a:endParaRPr sz="1600">
              <a:latin typeface="Times New Roman"/>
              <a:cs typeface="Times New Roman"/>
            </a:endParaRPr>
          </a:p>
        </p:txBody>
      </p:sp>
      <p:sp>
        <p:nvSpPr>
          <p:cNvPr id="11" name="object 11" descr=""/>
          <p:cNvSpPr txBox="1"/>
          <p:nvPr/>
        </p:nvSpPr>
        <p:spPr>
          <a:xfrm>
            <a:off x="5012191" y="6185027"/>
            <a:ext cx="634365" cy="269875"/>
          </a:xfrm>
          <a:prstGeom prst="rect">
            <a:avLst/>
          </a:prstGeom>
        </p:spPr>
        <p:txBody>
          <a:bodyPr wrap="square" lIns="0" tIns="12700" rIns="0" bIns="0" rtlCol="0" vert="horz">
            <a:spAutoFit/>
          </a:bodyPr>
          <a:lstStyle/>
          <a:p>
            <a:pPr marL="12700">
              <a:lnSpc>
                <a:spcPct val="100000"/>
              </a:lnSpc>
              <a:spcBef>
                <a:spcPts val="100"/>
              </a:spcBef>
              <a:tabLst>
                <a:tab pos="417195" algn="l"/>
              </a:tabLst>
            </a:pPr>
            <a:r>
              <a:rPr dirty="0" sz="1600" spc="60" b="1">
                <a:latin typeface="Times New Roman"/>
                <a:cs typeface="Times New Roman"/>
              </a:rPr>
              <a:t>10</a:t>
            </a:r>
            <a:r>
              <a:rPr dirty="0" sz="1600" b="1">
                <a:latin typeface="Times New Roman"/>
                <a:cs typeface="Times New Roman"/>
              </a:rPr>
              <a:t>	</a:t>
            </a:r>
            <a:r>
              <a:rPr dirty="0" sz="1600" spc="-25" b="1">
                <a:latin typeface="Times New Roman"/>
                <a:cs typeface="Times New Roman"/>
              </a:rPr>
              <a:t>11</a:t>
            </a:r>
            <a:endParaRPr sz="1600">
              <a:latin typeface="Times New Roman"/>
              <a:cs typeface="Times New Roman"/>
            </a:endParaRPr>
          </a:p>
        </p:txBody>
      </p:sp>
      <p:sp>
        <p:nvSpPr>
          <p:cNvPr id="12" name="object 12" descr=""/>
          <p:cNvSpPr txBox="1"/>
          <p:nvPr/>
        </p:nvSpPr>
        <p:spPr>
          <a:xfrm>
            <a:off x="6062443" y="6185027"/>
            <a:ext cx="620395" cy="269875"/>
          </a:xfrm>
          <a:prstGeom prst="rect">
            <a:avLst/>
          </a:prstGeom>
        </p:spPr>
        <p:txBody>
          <a:bodyPr wrap="square" lIns="0" tIns="12700" rIns="0" bIns="0" rtlCol="0" vert="horz">
            <a:spAutoFit/>
          </a:bodyPr>
          <a:lstStyle/>
          <a:p>
            <a:pPr marL="12700">
              <a:lnSpc>
                <a:spcPct val="100000"/>
              </a:lnSpc>
              <a:spcBef>
                <a:spcPts val="100"/>
              </a:spcBef>
              <a:tabLst>
                <a:tab pos="378460" algn="l"/>
              </a:tabLst>
            </a:pPr>
            <a:r>
              <a:rPr dirty="0" sz="1600" spc="60" b="1">
                <a:latin typeface="Times New Roman"/>
                <a:cs typeface="Times New Roman"/>
              </a:rPr>
              <a:t>15</a:t>
            </a:r>
            <a:r>
              <a:rPr dirty="0" sz="1600" b="1">
                <a:latin typeface="Times New Roman"/>
                <a:cs typeface="Times New Roman"/>
              </a:rPr>
              <a:t>	</a:t>
            </a:r>
            <a:r>
              <a:rPr dirty="0" sz="1600" spc="60" b="1">
                <a:latin typeface="Times New Roman"/>
                <a:cs typeface="Times New Roman"/>
              </a:rPr>
              <a:t>16</a:t>
            </a:r>
            <a:endParaRPr sz="1600">
              <a:latin typeface="Times New Roman"/>
              <a:cs typeface="Times New Roman"/>
            </a:endParaRPr>
          </a:p>
        </p:txBody>
      </p:sp>
      <p:sp>
        <p:nvSpPr>
          <p:cNvPr id="13" name="object 13" descr=""/>
          <p:cNvSpPr txBox="1"/>
          <p:nvPr/>
        </p:nvSpPr>
        <p:spPr>
          <a:xfrm>
            <a:off x="9580402" y="6185027"/>
            <a:ext cx="254000" cy="269875"/>
          </a:xfrm>
          <a:prstGeom prst="rect">
            <a:avLst/>
          </a:prstGeom>
        </p:spPr>
        <p:txBody>
          <a:bodyPr wrap="square" lIns="0" tIns="12700" rIns="0" bIns="0" rtlCol="0" vert="horz">
            <a:spAutoFit/>
          </a:bodyPr>
          <a:lstStyle/>
          <a:p>
            <a:pPr marL="12700">
              <a:lnSpc>
                <a:spcPct val="100000"/>
              </a:lnSpc>
              <a:spcBef>
                <a:spcPts val="100"/>
              </a:spcBef>
            </a:pPr>
            <a:r>
              <a:rPr dirty="0" sz="1600" spc="60" b="1">
                <a:latin typeface="Times New Roman"/>
                <a:cs typeface="Times New Roman"/>
              </a:rPr>
              <a:t>31</a:t>
            </a:r>
            <a:endParaRPr sz="1600">
              <a:latin typeface="Times New Roman"/>
              <a:cs typeface="Times New Roman"/>
            </a:endParaRPr>
          </a:p>
        </p:txBody>
      </p:sp>
      <p:sp>
        <p:nvSpPr>
          <p:cNvPr id="14" name="object 14" descr=""/>
          <p:cNvSpPr txBox="1"/>
          <p:nvPr/>
        </p:nvSpPr>
        <p:spPr>
          <a:xfrm>
            <a:off x="2575305" y="4455414"/>
            <a:ext cx="3257550" cy="1207770"/>
          </a:xfrm>
          <a:prstGeom prst="rect">
            <a:avLst/>
          </a:prstGeom>
        </p:spPr>
        <p:txBody>
          <a:bodyPr wrap="square" lIns="0" tIns="121920" rIns="0" bIns="0" rtlCol="0" vert="horz">
            <a:spAutoFit/>
          </a:bodyPr>
          <a:lstStyle/>
          <a:p>
            <a:pPr marL="393065" indent="-380365">
              <a:lnSpc>
                <a:spcPct val="100000"/>
              </a:lnSpc>
              <a:spcBef>
                <a:spcPts val="960"/>
              </a:spcBef>
              <a:buClr>
                <a:srgbClr val="64CD80"/>
              </a:buClr>
              <a:buSzPct val="64583"/>
              <a:buFont typeface="Wingdings"/>
              <a:buChar char=""/>
              <a:tabLst>
                <a:tab pos="393065" algn="l"/>
              </a:tabLst>
            </a:pPr>
            <a:r>
              <a:rPr dirty="0" sz="2400" spc="-25" b="1">
                <a:solidFill>
                  <a:srgbClr val="9933FF"/>
                </a:solidFill>
                <a:latin typeface="宋体"/>
                <a:cs typeface="宋体"/>
              </a:rPr>
              <a:t>算术运算：符号扩展</a:t>
            </a:r>
            <a:endParaRPr sz="2400">
              <a:latin typeface="宋体"/>
              <a:cs typeface="宋体"/>
            </a:endParaRPr>
          </a:p>
          <a:p>
            <a:pPr marL="393065" indent="-380365">
              <a:lnSpc>
                <a:spcPts val="2830"/>
              </a:lnSpc>
              <a:spcBef>
                <a:spcPts val="865"/>
              </a:spcBef>
              <a:buClr>
                <a:srgbClr val="64CD80"/>
              </a:buClr>
              <a:buSzPct val="64583"/>
              <a:buFont typeface="Wingdings"/>
              <a:buChar char=""/>
              <a:tabLst>
                <a:tab pos="393065" algn="l"/>
              </a:tabLst>
            </a:pPr>
            <a:r>
              <a:rPr dirty="0" sz="2400" spc="-20" b="1">
                <a:solidFill>
                  <a:srgbClr val="9933FF"/>
                </a:solidFill>
                <a:latin typeface="宋体"/>
                <a:cs typeface="宋体"/>
              </a:rPr>
              <a:t>逻辑运算，0</a:t>
            </a:r>
            <a:r>
              <a:rPr dirty="0" sz="2400" spc="-35" b="1">
                <a:solidFill>
                  <a:srgbClr val="9933FF"/>
                </a:solidFill>
                <a:latin typeface="宋体"/>
                <a:cs typeface="宋体"/>
              </a:rPr>
              <a:t>扩展</a:t>
            </a:r>
            <a:endParaRPr sz="2400">
              <a:latin typeface="宋体"/>
              <a:cs typeface="宋体"/>
            </a:endParaRPr>
          </a:p>
          <a:p>
            <a:pPr marL="923925">
              <a:lnSpc>
                <a:spcPts val="1870"/>
              </a:lnSpc>
              <a:tabLst>
                <a:tab pos="2185035" algn="l"/>
                <a:tab pos="3130550" algn="l"/>
              </a:tabLst>
            </a:pPr>
            <a:r>
              <a:rPr dirty="0" sz="1600" spc="35" b="1">
                <a:latin typeface="Times New Roman"/>
                <a:cs typeface="Times New Roman"/>
              </a:rPr>
              <a:t>6</a:t>
            </a:r>
            <a:r>
              <a:rPr dirty="0" sz="1600" b="1">
                <a:latin typeface="Times New Roman"/>
                <a:cs typeface="Times New Roman"/>
              </a:rPr>
              <a:t>	</a:t>
            </a:r>
            <a:r>
              <a:rPr dirty="0" sz="1600" spc="35" b="1">
                <a:latin typeface="Times New Roman"/>
                <a:cs typeface="Times New Roman"/>
              </a:rPr>
              <a:t>5</a:t>
            </a:r>
            <a:r>
              <a:rPr dirty="0" sz="1600" b="1">
                <a:latin typeface="Times New Roman"/>
                <a:cs typeface="Times New Roman"/>
              </a:rPr>
              <a:t>	</a:t>
            </a:r>
            <a:r>
              <a:rPr dirty="0" sz="1600" spc="35" b="1">
                <a:latin typeface="Times New Roman"/>
                <a:cs typeface="Times New Roman"/>
              </a:rPr>
              <a:t>5</a:t>
            </a:r>
            <a:endParaRPr sz="1600">
              <a:latin typeface="Times New Roman"/>
              <a:cs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2.6.4</a:t>
            </a:r>
            <a:r>
              <a:rPr dirty="0" spc="-40">
                <a:solidFill>
                  <a:srgbClr val="4F55AC"/>
                </a:solidFill>
              </a:rPr>
              <a:t> </a:t>
            </a:r>
            <a:r>
              <a:rPr dirty="0">
                <a:solidFill>
                  <a:srgbClr val="4F55AC"/>
                </a:solidFill>
              </a:rPr>
              <a:t>MIPS</a:t>
            </a:r>
            <a:r>
              <a:rPr dirty="0" spc="-10">
                <a:solidFill>
                  <a:srgbClr val="4F55AC"/>
                </a:solidFill>
                <a:latin typeface="微软雅黑"/>
                <a:cs typeface="微软雅黑"/>
              </a:rPr>
              <a:t>指令格</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4" name="object 4" descr=""/>
          <p:cNvSpPr/>
          <p:nvPr/>
        </p:nvSpPr>
        <p:spPr>
          <a:xfrm>
            <a:off x="2855976" y="5305996"/>
            <a:ext cx="7273290" cy="1013460"/>
          </a:xfrm>
          <a:custGeom>
            <a:avLst/>
            <a:gdLst/>
            <a:ahLst/>
            <a:cxnLst/>
            <a:rect l="l" t="t" r="r" b="b"/>
            <a:pathLst>
              <a:path w="7273290" h="1013460">
                <a:moveTo>
                  <a:pt x="7273290" y="0"/>
                </a:moveTo>
                <a:lnTo>
                  <a:pt x="0" y="0"/>
                </a:lnTo>
                <a:lnTo>
                  <a:pt x="0" y="1013282"/>
                </a:lnTo>
                <a:lnTo>
                  <a:pt x="7273290" y="1013282"/>
                </a:lnTo>
                <a:lnTo>
                  <a:pt x="7273290" y="0"/>
                </a:lnTo>
                <a:close/>
              </a:path>
            </a:pathLst>
          </a:custGeom>
          <a:solidFill>
            <a:srgbClr val="FFFFCC"/>
          </a:solidFill>
        </p:spPr>
        <p:txBody>
          <a:bodyPr wrap="square" lIns="0" tIns="0" rIns="0" bIns="0" rtlCol="0"/>
          <a:lstStyle/>
          <a:p/>
        </p:txBody>
      </p:sp>
      <p:graphicFrame>
        <p:nvGraphicFramePr>
          <p:cNvPr id="5" name="object 5" descr=""/>
          <p:cNvGraphicFramePr>
            <a:graphicFrameLocks noGrp="1"/>
          </p:cNvGraphicFramePr>
          <p:nvPr/>
        </p:nvGraphicFramePr>
        <p:xfrm>
          <a:off x="3118160" y="5554310"/>
          <a:ext cx="6993890" cy="466090"/>
        </p:xfrm>
        <a:graphic>
          <a:graphicData uri="http://schemas.openxmlformats.org/drawingml/2006/table">
            <a:tbl>
              <a:tblPr firstRow="1" bandRow="1">
                <a:tableStyleId>{2D5ABB26-0587-4C30-8999-92F81FD0307C}</a:tableStyleId>
              </a:tblPr>
              <a:tblGrid>
                <a:gridCol w="1391920"/>
                <a:gridCol w="1029969"/>
                <a:gridCol w="1029969"/>
                <a:gridCol w="3449954"/>
              </a:tblGrid>
              <a:tr h="466090">
                <a:tc>
                  <a:txBody>
                    <a:bodyPr/>
                    <a:lstStyle/>
                    <a:p>
                      <a:pPr marL="384810">
                        <a:lnSpc>
                          <a:spcPct val="100000"/>
                        </a:lnSpc>
                        <a:spcBef>
                          <a:spcPts val="955"/>
                        </a:spcBef>
                      </a:pPr>
                      <a:r>
                        <a:rPr dirty="0" sz="1500" spc="215">
                          <a:latin typeface="宋体"/>
                          <a:cs typeface="宋体"/>
                        </a:rPr>
                        <a:t>操作码</a:t>
                      </a:r>
                      <a:endParaRPr sz="1500">
                        <a:latin typeface="宋体"/>
                        <a:cs typeface="宋体"/>
                      </a:endParaRPr>
                    </a:p>
                  </a:txBody>
                  <a:tcPr marL="0" marR="0" marB="0" marT="12128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L="55880">
                        <a:lnSpc>
                          <a:spcPct val="100000"/>
                        </a:lnSpc>
                        <a:spcBef>
                          <a:spcPts val="430"/>
                        </a:spcBef>
                      </a:pPr>
                      <a:r>
                        <a:rPr dirty="0" sz="1800" spc="70" b="1">
                          <a:latin typeface="Times New Roman"/>
                          <a:cs typeface="Times New Roman"/>
                        </a:rPr>
                        <a:t>rs</a:t>
                      </a:r>
                      <a:endParaRPr sz="1800">
                        <a:latin typeface="Times New Roman"/>
                        <a:cs typeface="Times New Roman"/>
                      </a:endParaRPr>
                    </a:p>
                  </a:txBody>
                  <a:tcPr marL="0" marR="0" marB="0" marT="546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R="55880">
                        <a:lnSpc>
                          <a:spcPct val="100000"/>
                        </a:lnSpc>
                        <a:spcBef>
                          <a:spcPts val="509"/>
                        </a:spcBef>
                      </a:pPr>
                      <a:r>
                        <a:rPr dirty="0" sz="1800" spc="60" b="1">
                          <a:latin typeface="Times New Roman"/>
                          <a:cs typeface="Times New Roman"/>
                        </a:rPr>
                        <a:t>rt</a:t>
                      </a:r>
                      <a:endParaRPr sz="1800">
                        <a:latin typeface="Times New Roman"/>
                        <a:cs typeface="Times New Roman"/>
                      </a:endParaRPr>
                    </a:p>
                  </a:txBody>
                  <a:tcPr marL="0" marR="0" marB="0" marT="6476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897890">
                        <a:lnSpc>
                          <a:spcPct val="100000"/>
                        </a:lnSpc>
                        <a:spcBef>
                          <a:spcPts val="955"/>
                        </a:spcBef>
                      </a:pPr>
                      <a:r>
                        <a:rPr dirty="0" sz="1500" spc="225">
                          <a:latin typeface="宋体"/>
                          <a:cs typeface="宋体"/>
                        </a:rPr>
                        <a:t>立即数</a:t>
                      </a:r>
                      <a:r>
                        <a:rPr dirty="0" sz="1500" spc="120">
                          <a:latin typeface="宋体"/>
                          <a:cs typeface="宋体"/>
                        </a:rPr>
                        <a:t>（</a:t>
                      </a:r>
                      <a:r>
                        <a:rPr dirty="0" sz="1500" spc="120" b="1">
                          <a:latin typeface="Times New Roman"/>
                          <a:cs typeface="Times New Roman"/>
                        </a:rPr>
                        <a:t>immediate</a:t>
                      </a:r>
                      <a:r>
                        <a:rPr dirty="0" sz="1500" spc="120">
                          <a:latin typeface="宋体"/>
                          <a:cs typeface="宋体"/>
                        </a:rPr>
                        <a:t>）</a:t>
                      </a:r>
                      <a:endParaRPr sz="1500">
                        <a:latin typeface="宋体"/>
                        <a:cs typeface="宋体"/>
                      </a:endParaRPr>
                    </a:p>
                  </a:txBody>
                  <a:tcPr marL="0" marR="0" marB="0" marT="12128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r>
            </a:tbl>
          </a:graphicData>
        </a:graphic>
      </p:graphicFrame>
      <p:sp>
        <p:nvSpPr>
          <p:cNvPr id="6" name="object 6" descr=""/>
          <p:cNvSpPr txBox="1"/>
          <p:nvPr/>
        </p:nvSpPr>
        <p:spPr>
          <a:xfrm>
            <a:off x="3136735" y="6025189"/>
            <a:ext cx="137160" cy="258445"/>
          </a:xfrm>
          <a:prstGeom prst="rect">
            <a:avLst/>
          </a:prstGeom>
        </p:spPr>
        <p:txBody>
          <a:bodyPr wrap="square" lIns="0" tIns="15875" rIns="0" bIns="0" rtlCol="0" vert="horz">
            <a:spAutoFit/>
          </a:bodyPr>
          <a:lstStyle/>
          <a:p>
            <a:pPr marL="12700">
              <a:lnSpc>
                <a:spcPct val="100000"/>
              </a:lnSpc>
              <a:spcBef>
                <a:spcPts val="125"/>
              </a:spcBef>
            </a:pPr>
            <a:r>
              <a:rPr dirty="0" sz="1500" spc="70" b="1">
                <a:latin typeface="Times New Roman"/>
                <a:cs typeface="Times New Roman"/>
              </a:rPr>
              <a:t>0</a:t>
            </a:r>
            <a:endParaRPr sz="1500">
              <a:latin typeface="Times New Roman"/>
              <a:cs typeface="Times New Roman"/>
            </a:endParaRPr>
          </a:p>
        </p:txBody>
      </p:sp>
      <p:sp>
        <p:nvSpPr>
          <p:cNvPr id="7" name="object 7" descr=""/>
          <p:cNvSpPr txBox="1"/>
          <p:nvPr/>
        </p:nvSpPr>
        <p:spPr>
          <a:xfrm>
            <a:off x="4269701" y="6027815"/>
            <a:ext cx="445770" cy="258445"/>
          </a:xfrm>
          <a:prstGeom prst="rect">
            <a:avLst/>
          </a:prstGeom>
        </p:spPr>
        <p:txBody>
          <a:bodyPr wrap="square" lIns="0" tIns="15875" rIns="0" bIns="0" rtlCol="0" vert="horz">
            <a:spAutoFit/>
          </a:bodyPr>
          <a:lstStyle/>
          <a:p>
            <a:pPr marL="12700">
              <a:lnSpc>
                <a:spcPct val="100000"/>
              </a:lnSpc>
              <a:spcBef>
                <a:spcPts val="125"/>
              </a:spcBef>
              <a:tabLst>
                <a:tab pos="321310" algn="l"/>
              </a:tabLst>
            </a:pPr>
            <a:r>
              <a:rPr dirty="0" sz="1500" spc="70" b="1">
                <a:latin typeface="Times New Roman"/>
                <a:cs typeface="Times New Roman"/>
              </a:rPr>
              <a:t>5</a:t>
            </a:r>
            <a:r>
              <a:rPr dirty="0" sz="1500" b="1">
                <a:latin typeface="Times New Roman"/>
                <a:cs typeface="Times New Roman"/>
              </a:rPr>
              <a:t>	</a:t>
            </a:r>
            <a:r>
              <a:rPr dirty="0" sz="1500" spc="70" b="1">
                <a:latin typeface="Times New Roman"/>
                <a:cs typeface="Times New Roman"/>
              </a:rPr>
              <a:t>6</a:t>
            </a:r>
            <a:endParaRPr sz="1500">
              <a:latin typeface="Times New Roman"/>
              <a:cs typeface="Times New Roman"/>
            </a:endParaRPr>
          </a:p>
        </p:txBody>
      </p:sp>
      <p:sp>
        <p:nvSpPr>
          <p:cNvPr id="8" name="object 8" descr=""/>
          <p:cNvSpPr txBox="1"/>
          <p:nvPr/>
        </p:nvSpPr>
        <p:spPr>
          <a:xfrm>
            <a:off x="5250072" y="6027815"/>
            <a:ext cx="622935" cy="258445"/>
          </a:xfrm>
          <a:prstGeom prst="rect">
            <a:avLst/>
          </a:prstGeom>
        </p:spPr>
        <p:txBody>
          <a:bodyPr wrap="square" lIns="0" tIns="15875" rIns="0" bIns="0" rtlCol="0" vert="horz">
            <a:spAutoFit/>
          </a:bodyPr>
          <a:lstStyle/>
          <a:p>
            <a:pPr marL="12700">
              <a:lnSpc>
                <a:spcPct val="100000"/>
              </a:lnSpc>
              <a:spcBef>
                <a:spcPts val="125"/>
              </a:spcBef>
              <a:tabLst>
                <a:tab pos="409575" algn="l"/>
              </a:tabLst>
            </a:pPr>
            <a:r>
              <a:rPr dirty="0" sz="1500" spc="95" b="1">
                <a:latin typeface="Times New Roman"/>
                <a:cs typeface="Times New Roman"/>
              </a:rPr>
              <a:t>10</a:t>
            </a:r>
            <a:r>
              <a:rPr dirty="0" sz="1500" b="1">
                <a:latin typeface="Times New Roman"/>
                <a:cs typeface="Times New Roman"/>
              </a:rPr>
              <a:t>	</a:t>
            </a:r>
            <a:r>
              <a:rPr dirty="0" sz="1500" spc="-25" b="1">
                <a:latin typeface="Times New Roman"/>
                <a:cs typeface="Times New Roman"/>
              </a:rPr>
              <a:t>11</a:t>
            </a:r>
            <a:endParaRPr sz="1500">
              <a:latin typeface="Times New Roman"/>
              <a:cs typeface="Times New Roman"/>
            </a:endParaRPr>
          </a:p>
        </p:txBody>
      </p:sp>
      <p:sp>
        <p:nvSpPr>
          <p:cNvPr id="9" name="object 9" descr=""/>
          <p:cNvSpPr txBox="1"/>
          <p:nvPr/>
        </p:nvSpPr>
        <p:spPr>
          <a:xfrm>
            <a:off x="6279996" y="6027815"/>
            <a:ext cx="608965" cy="258445"/>
          </a:xfrm>
          <a:prstGeom prst="rect">
            <a:avLst/>
          </a:prstGeom>
        </p:spPr>
        <p:txBody>
          <a:bodyPr wrap="square" lIns="0" tIns="15875" rIns="0" bIns="0" rtlCol="0" vert="horz">
            <a:spAutoFit/>
          </a:bodyPr>
          <a:lstStyle/>
          <a:p>
            <a:pPr marL="12700">
              <a:lnSpc>
                <a:spcPct val="100000"/>
              </a:lnSpc>
              <a:spcBef>
                <a:spcPts val="125"/>
              </a:spcBef>
              <a:tabLst>
                <a:tab pos="371475" algn="l"/>
              </a:tabLst>
            </a:pPr>
            <a:r>
              <a:rPr dirty="0" sz="1500" spc="95" b="1">
                <a:latin typeface="Times New Roman"/>
                <a:cs typeface="Times New Roman"/>
              </a:rPr>
              <a:t>15</a:t>
            </a:r>
            <a:r>
              <a:rPr dirty="0" sz="1500" b="1">
                <a:latin typeface="Times New Roman"/>
                <a:cs typeface="Times New Roman"/>
              </a:rPr>
              <a:t>	</a:t>
            </a:r>
            <a:r>
              <a:rPr dirty="0" sz="1500" spc="95" b="1">
                <a:latin typeface="Times New Roman"/>
                <a:cs typeface="Times New Roman"/>
              </a:rPr>
              <a:t>16</a:t>
            </a:r>
            <a:endParaRPr sz="1500">
              <a:latin typeface="Times New Roman"/>
              <a:cs typeface="Times New Roman"/>
            </a:endParaRPr>
          </a:p>
        </p:txBody>
      </p:sp>
      <p:sp>
        <p:nvSpPr>
          <p:cNvPr id="10" name="object 10" descr=""/>
          <p:cNvSpPr txBox="1"/>
          <p:nvPr/>
        </p:nvSpPr>
        <p:spPr>
          <a:xfrm>
            <a:off x="9729862" y="6027815"/>
            <a:ext cx="249554" cy="258445"/>
          </a:xfrm>
          <a:prstGeom prst="rect">
            <a:avLst/>
          </a:prstGeom>
        </p:spPr>
        <p:txBody>
          <a:bodyPr wrap="square" lIns="0" tIns="15875" rIns="0" bIns="0" rtlCol="0" vert="horz">
            <a:spAutoFit/>
          </a:bodyPr>
          <a:lstStyle/>
          <a:p>
            <a:pPr marL="12700">
              <a:lnSpc>
                <a:spcPct val="100000"/>
              </a:lnSpc>
              <a:spcBef>
                <a:spcPts val="125"/>
              </a:spcBef>
            </a:pPr>
            <a:r>
              <a:rPr dirty="0" sz="1500" spc="95" b="1">
                <a:latin typeface="Times New Roman"/>
                <a:cs typeface="Times New Roman"/>
              </a:rPr>
              <a:t>31</a:t>
            </a:r>
            <a:endParaRPr sz="1500">
              <a:latin typeface="Times New Roman"/>
              <a:cs typeface="Times New Roman"/>
            </a:endParaRPr>
          </a:p>
        </p:txBody>
      </p:sp>
      <p:sp>
        <p:nvSpPr>
          <p:cNvPr id="11" name="object 11" descr=""/>
          <p:cNvSpPr txBox="1"/>
          <p:nvPr/>
        </p:nvSpPr>
        <p:spPr>
          <a:xfrm>
            <a:off x="1853945" y="731256"/>
            <a:ext cx="8439150" cy="4799965"/>
          </a:xfrm>
          <a:prstGeom prst="rect">
            <a:avLst/>
          </a:prstGeom>
        </p:spPr>
        <p:txBody>
          <a:bodyPr wrap="square" lIns="0" tIns="84455" rIns="0" bIns="0" rtlCol="0" vert="horz">
            <a:spAutoFit/>
          </a:bodyPr>
          <a:lstStyle/>
          <a:p>
            <a:pPr marL="372110" indent="-359410">
              <a:lnSpc>
                <a:spcPct val="100000"/>
              </a:lnSpc>
              <a:spcBef>
                <a:spcPts val="665"/>
              </a:spcBef>
              <a:buClr>
                <a:srgbClr val="40458B"/>
              </a:buClr>
              <a:buSzPct val="117857"/>
              <a:buFont typeface="Wingdings"/>
              <a:buChar char=""/>
              <a:tabLst>
                <a:tab pos="372110" algn="l"/>
              </a:tabLst>
            </a:pPr>
            <a:r>
              <a:rPr dirty="0" sz="2800" spc="-10">
                <a:solidFill>
                  <a:srgbClr val="006FC0"/>
                </a:solidFill>
                <a:latin typeface="宋体"/>
                <a:cs typeface="宋体"/>
              </a:rPr>
              <a:t>I</a:t>
            </a:r>
            <a:r>
              <a:rPr dirty="0" sz="2800" spc="-30">
                <a:solidFill>
                  <a:srgbClr val="006FC0"/>
                </a:solidFill>
                <a:latin typeface="黑体"/>
                <a:cs typeface="黑体"/>
              </a:rPr>
              <a:t>类访存指令</a:t>
            </a:r>
            <a:endParaRPr sz="2800">
              <a:latin typeface="黑体"/>
              <a:cs typeface="黑体"/>
            </a:endParaRPr>
          </a:p>
          <a:p>
            <a:pPr lvl="1" marL="694690" indent="-357505">
              <a:lnSpc>
                <a:spcPct val="100000"/>
              </a:lnSpc>
              <a:spcBef>
                <a:spcPts val="815"/>
              </a:spcBef>
              <a:buClr>
                <a:srgbClr val="006FC0"/>
              </a:buClr>
              <a:buSzPct val="89583"/>
              <a:buFont typeface="Wingdings"/>
              <a:buChar char=""/>
              <a:tabLst>
                <a:tab pos="694690" algn="l"/>
              </a:tabLst>
            </a:pPr>
            <a:r>
              <a:rPr dirty="0" sz="2400">
                <a:solidFill>
                  <a:srgbClr val="9933FF"/>
                </a:solidFill>
                <a:latin typeface="宋体"/>
                <a:cs typeface="宋体"/>
              </a:rPr>
              <a:t>load</a:t>
            </a:r>
            <a:r>
              <a:rPr dirty="0" sz="2400" spc="-25">
                <a:solidFill>
                  <a:srgbClr val="9933FF"/>
                </a:solidFill>
                <a:latin typeface="黑体"/>
                <a:cs typeface="黑体"/>
              </a:rPr>
              <a:t>指令</a:t>
            </a:r>
            <a:endParaRPr sz="2400">
              <a:latin typeface="黑体"/>
              <a:cs typeface="黑体"/>
            </a:endParaRPr>
          </a:p>
          <a:p>
            <a:pPr marL="1315720">
              <a:lnSpc>
                <a:spcPct val="100000"/>
              </a:lnSpc>
              <a:spcBef>
                <a:spcPts val="825"/>
              </a:spcBef>
            </a:pPr>
            <a:r>
              <a:rPr dirty="0" sz="2200" spc="-30">
                <a:solidFill>
                  <a:srgbClr val="006FC0"/>
                </a:solidFill>
                <a:latin typeface="黑体"/>
                <a:cs typeface="黑体"/>
              </a:rPr>
              <a:t>访存有效地址</a:t>
            </a:r>
            <a:r>
              <a:rPr dirty="0" sz="2200" spc="-10" b="1">
                <a:solidFill>
                  <a:srgbClr val="006FC0"/>
                </a:solidFill>
                <a:latin typeface="黑体"/>
                <a:cs typeface="黑体"/>
              </a:rPr>
              <a:t>：</a:t>
            </a:r>
            <a:r>
              <a:rPr dirty="0" sz="2200" spc="-10" b="1">
                <a:solidFill>
                  <a:srgbClr val="006FC0"/>
                </a:solidFill>
                <a:latin typeface="宋体"/>
                <a:cs typeface="宋体"/>
              </a:rPr>
              <a:t>Regs[rs]</a:t>
            </a:r>
            <a:r>
              <a:rPr dirty="0" sz="2200" spc="-10" b="1">
                <a:solidFill>
                  <a:srgbClr val="006FC0"/>
                </a:solidFill>
                <a:latin typeface="黑体"/>
                <a:cs typeface="黑体"/>
              </a:rPr>
              <a:t>＋</a:t>
            </a:r>
            <a:r>
              <a:rPr dirty="0" sz="2200" spc="-10" b="1">
                <a:solidFill>
                  <a:srgbClr val="006FC0"/>
                </a:solidFill>
                <a:latin typeface="宋体"/>
                <a:cs typeface="宋体"/>
              </a:rPr>
              <a:t>immediate</a:t>
            </a:r>
            <a:endParaRPr sz="2200">
              <a:latin typeface="宋体"/>
              <a:cs typeface="宋体"/>
            </a:endParaRPr>
          </a:p>
          <a:p>
            <a:pPr marL="1315720">
              <a:lnSpc>
                <a:spcPct val="100000"/>
              </a:lnSpc>
              <a:spcBef>
                <a:spcPts val="795"/>
              </a:spcBef>
            </a:pPr>
            <a:r>
              <a:rPr dirty="0" sz="2200" spc="-30">
                <a:solidFill>
                  <a:srgbClr val="006FC0"/>
                </a:solidFill>
                <a:latin typeface="黑体"/>
                <a:cs typeface="黑体"/>
              </a:rPr>
              <a:t>从存储器取来的数据放入寄存器</a:t>
            </a:r>
            <a:r>
              <a:rPr dirty="0" sz="2200" spc="-25">
                <a:solidFill>
                  <a:srgbClr val="006FC0"/>
                </a:solidFill>
                <a:latin typeface="宋体"/>
                <a:cs typeface="宋体"/>
              </a:rPr>
              <a:t>rt</a:t>
            </a:r>
            <a:endParaRPr sz="2200">
              <a:latin typeface="宋体"/>
              <a:cs typeface="宋体"/>
            </a:endParaRPr>
          </a:p>
          <a:p>
            <a:pPr lvl="1" marL="694690" indent="-357505">
              <a:lnSpc>
                <a:spcPct val="100000"/>
              </a:lnSpc>
              <a:spcBef>
                <a:spcPts val="830"/>
              </a:spcBef>
              <a:buClr>
                <a:srgbClr val="006FC0"/>
              </a:buClr>
              <a:buSzPct val="89583"/>
              <a:buFont typeface="Wingdings"/>
              <a:buChar char=""/>
              <a:tabLst>
                <a:tab pos="694690" algn="l"/>
              </a:tabLst>
            </a:pPr>
            <a:r>
              <a:rPr dirty="0" sz="2400">
                <a:solidFill>
                  <a:srgbClr val="9933FF"/>
                </a:solidFill>
                <a:latin typeface="宋体"/>
                <a:cs typeface="宋体"/>
              </a:rPr>
              <a:t>store</a:t>
            </a:r>
            <a:r>
              <a:rPr dirty="0" sz="2400" spc="-25">
                <a:solidFill>
                  <a:srgbClr val="9933FF"/>
                </a:solidFill>
                <a:latin typeface="黑体"/>
                <a:cs typeface="黑体"/>
              </a:rPr>
              <a:t>指令</a:t>
            </a:r>
            <a:endParaRPr sz="2400">
              <a:latin typeface="黑体"/>
              <a:cs typeface="黑体"/>
            </a:endParaRPr>
          </a:p>
          <a:p>
            <a:pPr marL="1315720">
              <a:lnSpc>
                <a:spcPct val="100000"/>
              </a:lnSpc>
              <a:spcBef>
                <a:spcPts val="825"/>
              </a:spcBef>
            </a:pPr>
            <a:r>
              <a:rPr dirty="0" sz="2200" spc="-30">
                <a:solidFill>
                  <a:srgbClr val="006FC0"/>
                </a:solidFill>
                <a:latin typeface="黑体"/>
                <a:cs typeface="黑体"/>
              </a:rPr>
              <a:t>访存有效地址：</a:t>
            </a:r>
            <a:r>
              <a:rPr dirty="0" sz="2200" spc="-10" b="1">
                <a:solidFill>
                  <a:srgbClr val="006FC0"/>
                </a:solidFill>
                <a:latin typeface="宋体"/>
                <a:cs typeface="宋体"/>
              </a:rPr>
              <a:t>Regs[rs]</a:t>
            </a:r>
            <a:r>
              <a:rPr dirty="0" sz="2200" spc="-10" b="1">
                <a:solidFill>
                  <a:srgbClr val="006FC0"/>
                </a:solidFill>
                <a:latin typeface="黑体"/>
                <a:cs typeface="黑体"/>
              </a:rPr>
              <a:t>＋</a:t>
            </a:r>
            <a:r>
              <a:rPr dirty="0" sz="2200" spc="-10" b="1">
                <a:solidFill>
                  <a:srgbClr val="006FC0"/>
                </a:solidFill>
                <a:latin typeface="宋体"/>
                <a:cs typeface="宋体"/>
              </a:rPr>
              <a:t>immediate</a:t>
            </a:r>
            <a:endParaRPr sz="2200">
              <a:latin typeface="宋体"/>
              <a:cs typeface="宋体"/>
            </a:endParaRPr>
          </a:p>
          <a:p>
            <a:pPr marL="1315720">
              <a:lnSpc>
                <a:spcPct val="100000"/>
              </a:lnSpc>
              <a:spcBef>
                <a:spcPts val="795"/>
              </a:spcBef>
            </a:pPr>
            <a:r>
              <a:rPr dirty="0" sz="2200" spc="-30">
                <a:solidFill>
                  <a:srgbClr val="006FC0"/>
                </a:solidFill>
                <a:latin typeface="黑体"/>
                <a:cs typeface="黑体"/>
              </a:rPr>
              <a:t>要存入存储器的数据放在寄存器</a:t>
            </a:r>
            <a:r>
              <a:rPr dirty="0" sz="2200" spc="-10">
                <a:solidFill>
                  <a:srgbClr val="006FC0"/>
                </a:solidFill>
                <a:latin typeface="宋体"/>
                <a:cs typeface="宋体"/>
              </a:rPr>
              <a:t>rt</a:t>
            </a:r>
            <a:r>
              <a:rPr dirty="0" sz="2200" spc="-50">
                <a:solidFill>
                  <a:srgbClr val="006FC0"/>
                </a:solidFill>
                <a:latin typeface="黑体"/>
                <a:cs typeface="黑体"/>
              </a:rPr>
              <a:t>中</a:t>
            </a:r>
            <a:endParaRPr sz="2200">
              <a:latin typeface="黑体"/>
              <a:cs typeface="黑体"/>
            </a:endParaRPr>
          </a:p>
          <a:p>
            <a:pPr marL="548640" marR="5080" indent="-53975">
              <a:lnSpc>
                <a:spcPct val="154700"/>
              </a:lnSpc>
              <a:spcBef>
                <a:spcPts val="400"/>
              </a:spcBef>
            </a:pPr>
            <a:r>
              <a:rPr dirty="0" sz="2600" spc="-30">
                <a:solidFill>
                  <a:srgbClr val="FF0000"/>
                </a:solidFill>
                <a:latin typeface="黑体"/>
                <a:cs typeface="黑体"/>
              </a:rPr>
              <a:t>但是上述访存指令也涉及到立即数的加运算，怎么扩展</a:t>
            </a:r>
            <a:r>
              <a:rPr dirty="0" sz="2600" spc="-20">
                <a:solidFill>
                  <a:srgbClr val="FF0000"/>
                </a:solidFill>
                <a:latin typeface="黑体"/>
                <a:cs typeface="黑体"/>
              </a:rPr>
              <a:t>将立即数作为有符号数处理，也即偏移方向</a:t>
            </a:r>
            <a:endParaRPr sz="2600">
              <a:latin typeface="黑体"/>
              <a:cs typeface="黑体"/>
            </a:endParaRPr>
          </a:p>
          <a:p>
            <a:pPr marL="1912620">
              <a:lnSpc>
                <a:spcPct val="100000"/>
              </a:lnSpc>
              <a:spcBef>
                <a:spcPts val="5"/>
              </a:spcBef>
              <a:tabLst>
                <a:tab pos="3149600" algn="l"/>
                <a:tab pos="4076065" algn="l"/>
                <a:tab pos="6240145" algn="l"/>
              </a:tabLst>
            </a:pPr>
            <a:r>
              <a:rPr dirty="0" sz="1500" spc="70" b="1">
                <a:latin typeface="Times New Roman"/>
                <a:cs typeface="Times New Roman"/>
              </a:rPr>
              <a:t>6</a:t>
            </a:r>
            <a:r>
              <a:rPr dirty="0" sz="1500" b="1">
                <a:latin typeface="Times New Roman"/>
                <a:cs typeface="Times New Roman"/>
              </a:rPr>
              <a:t>	</a:t>
            </a:r>
            <a:r>
              <a:rPr dirty="0" sz="1500" spc="60" b="1">
                <a:latin typeface="Times New Roman"/>
                <a:cs typeface="Times New Roman"/>
              </a:rPr>
              <a:t>5</a:t>
            </a:r>
            <a:r>
              <a:rPr dirty="0" sz="1500" b="1">
                <a:latin typeface="Times New Roman"/>
                <a:cs typeface="Times New Roman"/>
              </a:rPr>
              <a:t>	</a:t>
            </a:r>
            <a:r>
              <a:rPr dirty="0" sz="1500" spc="70" b="1">
                <a:latin typeface="Times New Roman"/>
                <a:cs typeface="Times New Roman"/>
              </a:rPr>
              <a:t>5</a:t>
            </a:r>
            <a:r>
              <a:rPr dirty="0" sz="1500" b="1">
                <a:latin typeface="Times New Roman"/>
                <a:cs typeface="Times New Roman"/>
              </a:rPr>
              <a:t>	</a:t>
            </a:r>
            <a:r>
              <a:rPr dirty="0" sz="1500" spc="95" b="1">
                <a:latin typeface="Times New Roman"/>
                <a:cs typeface="Times New Roman"/>
              </a:rPr>
              <a:t>16</a:t>
            </a:r>
            <a:endParaRPr sz="1500">
              <a:latin typeface="Times New Roman"/>
              <a:cs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latin typeface="微软雅黑"/>
                <a:cs typeface="微软雅黑"/>
              </a:rPr>
              <a:t>	I</a:t>
            </a:r>
            <a:r>
              <a:rPr dirty="0" spc="-10">
                <a:solidFill>
                  <a:srgbClr val="4F55AC"/>
                </a:solidFill>
                <a:latin typeface="微软雅黑"/>
                <a:cs typeface="微软雅黑"/>
              </a:rPr>
              <a:t>类指</a:t>
            </a:r>
            <a:r>
              <a:rPr dirty="0" spc="-50">
                <a:solidFill>
                  <a:srgbClr val="4F55AC"/>
                </a:solidFill>
                <a:latin typeface="微软雅黑"/>
                <a:cs typeface="微软雅黑"/>
              </a:rPr>
              <a:t>令</a:t>
            </a:r>
            <a:r>
              <a:rPr dirty="0">
                <a:solidFill>
                  <a:srgbClr val="4F55AC"/>
                </a:solidFill>
                <a:latin typeface="微软雅黑"/>
                <a:cs typeface="微软雅黑"/>
              </a:rPr>
              <a:t>	</a:t>
            </a:r>
          </a:p>
        </p:txBody>
      </p:sp>
      <p:sp>
        <p:nvSpPr>
          <p:cNvPr id="4" name="object 4" descr=""/>
          <p:cNvSpPr/>
          <p:nvPr/>
        </p:nvSpPr>
        <p:spPr>
          <a:xfrm>
            <a:off x="3648075" y="796925"/>
            <a:ext cx="7098030" cy="1368425"/>
          </a:xfrm>
          <a:custGeom>
            <a:avLst/>
            <a:gdLst/>
            <a:ahLst/>
            <a:cxnLst/>
            <a:rect l="l" t="t" r="r" b="b"/>
            <a:pathLst>
              <a:path w="7098030" h="1368425">
                <a:moveTo>
                  <a:pt x="7097776" y="0"/>
                </a:moveTo>
                <a:lnTo>
                  <a:pt x="0" y="0"/>
                </a:lnTo>
                <a:lnTo>
                  <a:pt x="0" y="1368425"/>
                </a:lnTo>
                <a:lnTo>
                  <a:pt x="7097776" y="1368425"/>
                </a:lnTo>
                <a:lnTo>
                  <a:pt x="7097776" y="0"/>
                </a:lnTo>
                <a:close/>
              </a:path>
            </a:pathLst>
          </a:custGeom>
          <a:solidFill>
            <a:srgbClr val="F4E8B4"/>
          </a:solidFill>
        </p:spPr>
        <p:txBody>
          <a:bodyPr wrap="square" lIns="0" tIns="0" rIns="0" bIns="0" rtlCol="0"/>
          <a:lstStyle/>
          <a:p/>
        </p:txBody>
      </p:sp>
      <p:graphicFrame>
        <p:nvGraphicFramePr>
          <p:cNvPr id="5" name="object 5" descr=""/>
          <p:cNvGraphicFramePr>
            <a:graphicFrameLocks noGrp="1"/>
          </p:cNvGraphicFramePr>
          <p:nvPr/>
        </p:nvGraphicFramePr>
        <p:xfrm>
          <a:off x="3689660" y="1178176"/>
          <a:ext cx="7037070" cy="546735"/>
        </p:xfrm>
        <a:graphic>
          <a:graphicData uri="http://schemas.openxmlformats.org/drawingml/2006/table">
            <a:tbl>
              <a:tblPr firstRow="1" bandRow="1">
                <a:tableStyleId>{2D5ABB26-0587-4C30-8999-92F81FD0307C}</a:tableStyleId>
              </a:tblPr>
              <a:tblGrid>
                <a:gridCol w="1400175"/>
                <a:gridCol w="1035685"/>
                <a:gridCol w="1035685"/>
                <a:gridCol w="3469639"/>
              </a:tblGrid>
              <a:tr h="546735">
                <a:tc>
                  <a:txBody>
                    <a:bodyPr/>
                    <a:lstStyle/>
                    <a:p>
                      <a:pPr marL="387350">
                        <a:lnSpc>
                          <a:spcPct val="100000"/>
                        </a:lnSpc>
                        <a:spcBef>
                          <a:spcPts val="1075"/>
                        </a:spcBef>
                      </a:pPr>
                      <a:r>
                        <a:rPr dirty="0" sz="1800" spc="-50">
                          <a:latin typeface="宋体"/>
                          <a:cs typeface="宋体"/>
                        </a:rPr>
                        <a:t>操作码</a:t>
                      </a:r>
                      <a:endParaRPr sz="1800">
                        <a:latin typeface="宋体"/>
                        <a:cs typeface="宋体"/>
                      </a:endParaRPr>
                    </a:p>
                  </a:txBody>
                  <a:tcPr marL="0" marR="0" marB="0" marT="13652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4E8B4"/>
                    </a:solidFill>
                  </a:tcPr>
                </a:tc>
                <a:tc>
                  <a:txBody>
                    <a:bodyPr/>
                    <a:lstStyle/>
                    <a:p>
                      <a:pPr algn="ctr" marL="56515">
                        <a:lnSpc>
                          <a:spcPct val="100000"/>
                        </a:lnSpc>
                        <a:spcBef>
                          <a:spcPts val="515"/>
                        </a:spcBef>
                      </a:pPr>
                      <a:r>
                        <a:rPr dirty="0" sz="2100" spc="-25" b="1">
                          <a:latin typeface="Times New Roman"/>
                          <a:cs typeface="Times New Roman"/>
                        </a:rPr>
                        <a:t>rs</a:t>
                      </a:r>
                      <a:endParaRPr sz="2100">
                        <a:latin typeface="Times New Roman"/>
                        <a:cs typeface="Times New Roman"/>
                      </a:endParaRPr>
                    </a:p>
                  </a:txBody>
                  <a:tcPr marL="0" marR="0" marB="0" marT="654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4E8B4"/>
                    </a:solidFill>
                  </a:tcPr>
                </a:tc>
                <a:tc>
                  <a:txBody>
                    <a:bodyPr/>
                    <a:lstStyle/>
                    <a:p>
                      <a:pPr algn="ctr" marR="55880">
                        <a:lnSpc>
                          <a:spcPct val="100000"/>
                        </a:lnSpc>
                        <a:spcBef>
                          <a:spcPts val="610"/>
                        </a:spcBef>
                      </a:pPr>
                      <a:r>
                        <a:rPr dirty="0" sz="2100" spc="-25" b="1">
                          <a:latin typeface="Times New Roman"/>
                          <a:cs typeface="Times New Roman"/>
                        </a:rPr>
                        <a:t>rt</a:t>
                      </a:r>
                      <a:endParaRPr sz="2100">
                        <a:latin typeface="Times New Roman"/>
                        <a:cs typeface="Times New Roman"/>
                      </a:endParaRPr>
                    </a:p>
                  </a:txBody>
                  <a:tcPr marL="0" marR="0" marB="0" marT="7747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4E8B4"/>
                    </a:solidFill>
                  </a:tcPr>
                </a:tc>
                <a:tc>
                  <a:txBody>
                    <a:bodyPr/>
                    <a:lstStyle/>
                    <a:p>
                      <a:pPr marL="902969">
                        <a:lnSpc>
                          <a:spcPct val="100000"/>
                        </a:lnSpc>
                        <a:spcBef>
                          <a:spcPts val="1075"/>
                        </a:spcBef>
                      </a:pPr>
                      <a:r>
                        <a:rPr dirty="0" sz="1800" spc="-55">
                          <a:latin typeface="宋体"/>
                          <a:cs typeface="宋体"/>
                        </a:rPr>
                        <a:t>立即数</a:t>
                      </a:r>
                      <a:r>
                        <a:rPr dirty="0" sz="1800" spc="-10">
                          <a:latin typeface="宋体"/>
                          <a:cs typeface="宋体"/>
                        </a:rPr>
                        <a:t>（</a:t>
                      </a:r>
                      <a:r>
                        <a:rPr dirty="0" sz="1800" spc="-10" b="1">
                          <a:latin typeface="Times New Roman"/>
                          <a:cs typeface="Times New Roman"/>
                        </a:rPr>
                        <a:t>immediate</a:t>
                      </a:r>
                      <a:r>
                        <a:rPr dirty="0" sz="1800" spc="-10">
                          <a:latin typeface="宋体"/>
                          <a:cs typeface="宋体"/>
                        </a:rPr>
                        <a:t>）</a:t>
                      </a:r>
                      <a:endParaRPr sz="1800">
                        <a:latin typeface="宋体"/>
                        <a:cs typeface="宋体"/>
                      </a:endParaRPr>
                    </a:p>
                  </a:txBody>
                  <a:tcPr marL="0" marR="0" marB="0" marT="13652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4E8B4"/>
                    </a:solidFill>
                  </a:tcPr>
                </a:tc>
              </a:tr>
            </a:tbl>
          </a:graphicData>
        </a:graphic>
      </p:graphicFrame>
      <p:sp>
        <p:nvSpPr>
          <p:cNvPr id="6" name="object 6" descr=""/>
          <p:cNvSpPr txBox="1"/>
          <p:nvPr/>
        </p:nvSpPr>
        <p:spPr>
          <a:xfrm>
            <a:off x="4331017" y="849959"/>
            <a:ext cx="4604385" cy="299085"/>
          </a:xfrm>
          <a:prstGeom prst="rect">
            <a:avLst/>
          </a:prstGeom>
        </p:spPr>
        <p:txBody>
          <a:bodyPr wrap="square" lIns="0" tIns="11430" rIns="0" bIns="0" rtlCol="0" vert="horz">
            <a:spAutoFit/>
          </a:bodyPr>
          <a:lstStyle/>
          <a:p>
            <a:pPr marL="12700">
              <a:lnSpc>
                <a:spcPct val="100000"/>
              </a:lnSpc>
              <a:spcBef>
                <a:spcPts val="90"/>
              </a:spcBef>
              <a:tabLst>
                <a:tab pos="1256030" algn="l"/>
                <a:tab pos="2188845" algn="l"/>
                <a:tab pos="4364990" algn="l"/>
              </a:tabLst>
            </a:pPr>
            <a:r>
              <a:rPr dirty="0" sz="1800" spc="-50" b="1">
                <a:latin typeface="Times New Roman"/>
                <a:cs typeface="Times New Roman"/>
              </a:rPr>
              <a:t>6</a:t>
            </a:r>
            <a:r>
              <a:rPr dirty="0" sz="1800" b="1">
                <a:latin typeface="Times New Roman"/>
                <a:cs typeface="Times New Roman"/>
              </a:rPr>
              <a:t>	</a:t>
            </a:r>
            <a:r>
              <a:rPr dirty="0" sz="1800" spc="-50" b="1">
                <a:latin typeface="Times New Roman"/>
                <a:cs typeface="Times New Roman"/>
              </a:rPr>
              <a:t>5</a:t>
            </a:r>
            <a:r>
              <a:rPr dirty="0" sz="1800" b="1">
                <a:latin typeface="Times New Roman"/>
                <a:cs typeface="Times New Roman"/>
              </a:rPr>
              <a:t>	</a:t>
            </a:r>
            <a:r>
              <a:rPr dirty="0" sz="1800" spc="-50" b="1">
                <a:latin typeface="Times New Roman"/>
                <a:cs typeface="Times New Roman"/>
              </a:rPr>
              <a:t>5</a:t>
            </a:r>
            <a:r>
              <a:rPr dirty="0" sz="1800" b="1">
                <a:latin typeface="Times New Roman"/>
                <a:cs typeface="Times New Roman"/>
              </a:rPr>
              <a:t>	</a:t>
            </a:r>
            <a:r>
              <a:rPr dirty="0" sz="1800" spc="-25" b="1">
                <a:latin typeface="Times New Roman"/>
                <a:cs typeface="Times New Roman"/>
              </a:rPr>
              <a:t>16</a:t>
            </a:r>
            <a:endParaRPr sz="1800">
              <a:latin typeface="Times New Roman"/>
              <a:cs typeface="Times New Roman"/>
            </a:endParaRPr>
          </a:p>
        </p:txBody>
      </p:sp>
      <p:sp>
        <p:nvSpPr>
          <p:cNvPr id="7" name="object 7" descr=""/>
          <p:cNvSpPr txBox="1"/>
          <p:nvPr/>
        </p:nvSpPr>
        <p:spPr>
          <a:xfrm>
            <a:off x="3709690" y="1735692"/>
            <a:ext cx="1588135" cy="299085"/>
          </a:xfrm>
          <a:prstGeom prst="rect">
            <a:avLst/>
          </a:prstGeom>
        </p:spPr>
        <p:txBody>
          <a:bodyPr wrap="square" lIns="0" tIns="11430" rIns="0" bIns="0" rtlCol="0" vert="horz">
            <a:spAutoFit/>
          </a:bodyPr>
          <a:lstStyle/>
          <a:p>
            <a:pPr marL="12700">
              <a:lnSpc>
                <a:spcPct val="100000"/>
              </a:lnSpc>
              <a:spcBef>
                <a:spcPts val="90"/>
              </a:spcBef>
              <a:tabLst>
                <a:tab pos="1151890" algn="l"/>
                <a:tab pos="1462405" algn="l"/>
              </a:tabLst>
            </a:pPr>
            <a:r>
              <a:rPr dirty="0" sz="1800" spc="-50" b="1">
                <a:latin typeface="Times New Roman"/>
                <a:cs typeface="Times New Roman"/>
              </a:rPr>
              <a:t>0</a:t>
            </a:r>
            <a:r>
              <a:rPr dirty="0" sz="1800" b="1">
                <a:latin typeface="Times New Roman"/>
                <a:cs typeface="Times New Roman"/>
              </a:rPr>
              <a:t>	</a:t>
            </a:r>
            <a:r>
              <a:rPr dirty="0" sz="1800" spc="-50" b="1">
                <a:latin typeface="Times New Roman"/>
                <a:cs typeface="Times New Roman"/>
              </a:rPr>
              <a:t>5</a:t>
            </a:r>
            <a:r>
              <a:rPr dirty="0" sz="1800" b="1">
                <a:latin typeface="Times New Roman"/>
                <a:cs typeface="Times New Roman"/>
              </a:rPr>
              <a:t>	</a:t>
            </a:r>
            <a:r>
              <a:rPr dirty="0" sz="1800" spc="-50" b="1">
                <a:latin typeface="Times New Roman"/>
                <a:cs typeface="Times New Roman"/>
              </a:rPr>
              <a:t>6</a:t>
            </a:r>
            <a:endParaRPr sz="1800">
              <a:latin typeface="Times New Roman"/>
              <a:cs typeface="Times New Roman"/>
            </a:endParaRPr>
          </a:p>
        </p:txBody>
      </p:sp>
      <p:sp>
        <p:nvSpPr>
          <p:cNvPr id="8" name="object 8" descr=""/>
          <p:cNvSpPr txBox="1"/>
          <p:nvPr/>
        </p:nvSpPr>
        <p:spPr>
          <a:xfrm>
            <a:off x="5835570" y="1735692"/>
            <a:ext cx="1648460" cy="299085"/>
          </a:xfrm>
          <a:prstGeom prst="rect">
            <a:avLst/>
          </a:prstGeom>
        </p:spPr>
        <p:txBody>
          <a:bodyPr wrap="square" lIns="0" tIns="11430" rIns="0" bIns="0" rtlCol="0" vert="horz">
            <a:spAutoFit/>
          </a:bodyPr>
          <a:lstStyle/>
          <a:p>
            <a:pPr marL="12700">
              <a:lnSpc>
                <a:spcPct val="100000"/>
              </a:lnSpc>
              <a:spcBef>
                <a:spcPts val="90"/>
              </a:spcBef>
              <a:tabLst>
                <a:tab pos="412115" algn="l"/>
                <a:tab pos="1048385" algn="l"/>
                <a:tab pos="1409700" algn="l"/>
              </a:tabLst>
            </a:pPr>
            <a:r>
              <a:rPr dirty="0" sz="1800" spc="-25" b="1">
                <a:latin typeface="Times New Roman"/>
                <a:cs typeface="Times New Roman"/>
              </a:rPr>
              <a:t>10</a:t>
            </a:r>
            <a:r>
              <a:rPr dirty="0" sz="1800" b="1">
                <a:latin typeface="Times New Roman"/>
                <a:cs typeface="Times New Roman"/>
              </a:rPr>
              <a:t>	</a:t>
            </a:r>
            <a:r>
              <a:rPr dirty="0" sz="1800" spc="-25" b="1">
                <a:latin typeface="Times New Roman"/>
                <a:cs typeface="Times New Roman"/>
              </a:rPr>
              <a:t>11</a:t>
            </a:r>
            <a:r>
              <a:rPr dirty="0" sz="1800" b="1">
                <a:latin typeface="Times New Roman"/>
                <a:cs typeface="Times New Roman"/>
              </a:rPr>
              <a:t>	</a:t>
            </a:r>
            <a:r>
              <a:rPr dirty="0" sz="1800" spc="-25" b="1">
                <a:latin typeface="Times New Roman"/>
                <a:cs typeface="Times New Roman"/>
              </a:rPr>
              <a:t>15</a:t>
            </a:r>
            <a:r>
              <a:rPr dirty="0" sz="1800" b="1">
                <a:latin typeface="Times New Roman"/>
                <a:cs typeface="Times New Roman"/>
              </a:rPr>
              <a:t>	</a:t>
            </a:r>
            <a:r>
              <a:rPr dirty="0" sz="1800" spc="-25" b="1">
                <a:latin typeface="Times New Roman"/>
                <a:cs typeface="Times New Roman"/>
              </a:rPr>
              <a:t>16</a:t>
            </a:r>
            <a:endParaRPr sz="1800">
              <a:latin typeface="Times New Roman"/>
              <a:cs typeface="Times New Roman"/>
            </a:endParaRPr>
          </a:p>
        </p:txBody>
      </p:sp>
      <p:sp>
        <p:nvSpPr>
          <p:cNvPr id="9" name="object 9" descr=""/>
          <p:cNvSpPr txBox="1"/>
          <p:nvPr/>
        </p:nvSpPr>
        <p:spPr>
          <a:xfrm>
            <a:off x="10341950" y="1735692"/>
            <a:ext cx="250825" cy="299085"/>
          </a:xfrm>
          <a:prstGeom prst="rect">
            <a:avLst/>
          </a:prstGeom>
        </p:spPr>
        <p:txBody>
          <a:bodyPr wrap="square" lIns="0" tIns="11430" rIns="0" bIns="0" rtlCol="0" vert="horz">
            <a:spAutoFit/>
          </a:bodyPr>
          <a:lstStyle/>
          <a:p>
            <a:pPr marL="12700">
              <a:lnSpc>
                <a:spcPct val="100000"/>
              </a:lnSpc>
              <a:spcBef>
                <a:spcPts val="90"/>
              </a:spcBef>
            </a:pPr>
            <a:r>
              <a:rPr dirty="0" sz="1800" spc="-25" b="1">
                <a:latin typeface="Times New Roman"/>
                <a:cs typeface="Times New Roman"/>
              </a:rPr>
              <a:t>31</a:t>
            </a:r>
            <a:endParaRPr sz="1800">
              <a:latin typeface="Times New Roman"/>
              <a:cs typeface="Times New Roman"/>
            </a:endParaRPr>
          </a:p>
        </p:txBody>
      </p:sp>
      <p:sp>
        <p:nvSpPr>
          <p:cNvPr id="10" name="object 10" descr=""/>
          <p:cNvSpPr txBox="1"/>
          <p:nvPr/>
        </p:nvSpPr>
        <p:spPr>
          <a:xfrm>
            <a:off x="1494789" y="2294382"/>
            <a:ext cx="3639820" cy="422275"/>
          </a:xfrm>
          <a:prstGeom prst="rect">
            <a:avLst/>
          </a:prstGeom>
        </p:spPr>
        <p:txBody>
          <a:bodyPr wrap="square" lIns="0" tIns="13335" rIns="0" bIns="0" rtlCol="0" vert="horz">
            <a:spAutoFit/>
          </a:bodyPr>
          <a:lstStyle/>
          <a:p>
            <a:pPr marL="12700">
              <a:lnSpc>
                <a:spcPct val="100000"/>
              </a:lnSpc>
              <a:spcBef>
                <a:spcPts val="105"/>
              </a:spcBef>
              <a:tabLst>
                <a:tab pos="2440305" algn="l"/>
              </a:tabLst>
            </a:pPr>
            <a:r>
              <a:rPr dirty="0" sz="2600">
                <a:solidFill>
                  <a:srgbClr val="40458B"/>
                </a:solidFill>
                <a:latin typeface="Tahoma"/>
                <a:cs typeface="Tahoma"/>
              </a:rPr>
              <a:t>andi</a:t>
            </a:r>
            <a:r>
              <a:rPr dirty="0" sz="2600" spc="-10">
                <a:solidFill>
                  <a:srgbClr val="40458B"/>
                </a:solidFill>
                <a:latin typeface="Tahoma"/>
                <a:cs typeface="Tahoma"/>
              </a:rPr>
              <a:t> </a:t>
            </a:r>
            <a:r>
              <a:rPr dirty="0" sz="2600">
                <a:solidFill>
                  <a:srgbClr val="40458B"/>
                </a:solidFill>
                <a:latin typeface="Tahoma"/>
                <a:cs typeface="Tahoma"/>
              </a:rPr>
              <a:t>rt,</a:t>
            </a:r>
            <a:r>
              <a:rPr dirty="0" sz="2600" spc="-5">
                <a:solidFill>
                  <a:srgbClr val="40458B"/>
                </a:solidFill>
                <a:latin typeface="Tahoma"/>
                <a:cs typeface="Tahoma"/>
              </a:rPr>
              <a:t> </a:t>
            </a:r>
            <a:r>
              <a:rPr dirty="0" sz="2600">
                <a:solidFill>
                  <a:srgbClr val="40458B"/>
                </a:solidFill>
                <a:latin typeface="Tahoma"/>
                <a:cs typeface="Tahoma"/>
              </a:rPr>
              <a:t>rs, </a:t>
            </a:r>
            <a:r>
              <a:rPr dirty="0" sz="2600" spc="-25">
                <a:solidFill>
                  <a:srgbClr val="40458B"/>
                </a:solidFill>
                <a:latin typeface="Tahoma"/>
                <a:cs typeface="Tahoma"/>
              </a:rPr>
              <a:t>imm</a:t>
            </a:r>
            <a:r>
              <a:rPr dirty="0" sz="2600">
                <a:solidFill>
                  <a:srgbClr val="40458B"/>
                </a:solidFill>
                <a:latin typeface="Tahoma"/>
                <a:cs typeface="Tahoma"/>
              </a:rPr>
              <a:t>	000</a:t>
            </a:r>
            <a:r>
              <a:rPr dirty="0" sz="2600" spc="-45">
                <a:solidFill>
                  <a:srgbClr val="40458B"/>
                </a:solidFill>
                <a:latin typeface="Tahoma"/>
                <a:cs typeface="Tahoma"/>
              </a:rPr>
              <a:t> </a:t>
            </a:r>
            <a:r>
              <a:rPr dirty="0" sz="2600" spc="-25">
                <a:solidFill>
                  <a:srgbClr val="40458B"/>
                </a:solidFill>
                <a:latin typeface="Tahoma"/>
                <a:cs typeface="Tahoma"/>
              </a:rPr>
              <a:t>0</a:t>
            </a:r>
            <a:r>
              <a:rPr dirty="0" sz="2600" spc="-25">
                <a:solidFill>
                  <a:srgbClr val="FF0000"/>
                </a:solidFill>
                <a:latin typeface="Tahoma"/>
                <a:cs typeface="Tahoma"/>
              </a:rPr>
              <a:t>1</a:t>
            </a:r>
            <a:r>
              <a:rPr dirty="0" sz="2600" spc="-25">
                <a:solidFill>
                  <a:srgbClr val="40458B"/>
                </a:solidFill>
                <a:latin typeface="Tahoma"/>
                <a:cs typeface="Tahoma"/>
              </a:rPr>
              <a:t>0</a:t>
            </a:r>
            <a:endParaRPr sz="2600">
              <a:latin typeface="Tahoma"/>
              <a:cs typeface="Tahoma"/>
            </a:endParaRPr>
          </a:p>
        </p:txBody>
      </p:sp>
      <p:sp>
        <p:nvSpPr>
          <p:cNvPr id="11" name="object 11" descr=""/>
          <p:cNvSpPr txBox="1"/>
          <p:nvPr/>
        </p:nvSpPr>
        <p:spPr>
          <a:xfrm>
            <a:off x="7153402" y="2313279"/>
            <a:ext cx="852805" cy="873760"/>
          </a:xfrm>
          <a:prstGeom prst="rect">
            <a:avLst/>
          </a:prstGeom>
        </p:spPr>
        <p:txBody>
          <a:bodyPr wrap="square" lIns="0" tIns="12065" rIns="0" bIns="0" rtlCol="0" vert="horz">
            <a:spAutoFit/>
          </a:bodyPr>
          <a:lstStyle/>
          <a:p>
            <a:pPr marL="12700" marR="5080">
              <a:lnSpc>
                <a:spcPct val="107000"/>
              </a:lnSpc>
              <a:spcBef>
                <a:spcPts val="95"/>
              </a:spcBef>
            </a:pPr>
            <a:r>
              <a:rPr dirty="0" sz="2600" spc="-10">
                <a:solidFill>
                  <a:srgbClr val="40458B"/>
                </a:solidFill>
                <a:latin typeface="Tahoma"/>
                <a:cs typeface="Tahoma"/>
              </a:rPr>
              <a:t>rt←rs rt←rs</a:t>
            </a:r>
            <a:endParaRPr sz="2600">
              <a:latin typeface="Tahoma"/>
              <a:cs typeface="Tahoma"/>
            </a:endParaRPr>
          </a:p>
        </p:txBody>
      </p:sp>
      <p:sp>
        <p:nvSpPr>
          <p:cNvPr id="12" name="object 12" descr=""/>
          <p:cNvSpPr txBox="1"/>
          <p:nvPr/>
        </p:nvSpPr>
        <p:spPr>
          <a:xfrm>
            <a:off x="8187055" y="2313279"/>
            <a:ext cx="1152525" cy="873760"/>
          </a:xfrm>
          <a:prstGeom prst="rect">
            <a:avLst/>
          </a:prstGeom>
        </p:spPr>
        <p:txBody>
          <a:bodyPr wrap="square" lIns="0" tIns="40005" rIns="0" bIns="0" rtlCol="0" vert="horz">
            <a:spAutoFit/>
          </a:bodyPr>
          <a:lstStyle/>
          <a:p>
            <a:pPr marL="12700">
              <a:lnSpc>
                <a:spcPct val="100000"/>
              </a:lnSpc>
              <a:spcBef>
                <a:spcPts val="315"/>
              </a:spcBef>
            </a:pPr>
            <a:r>
              <a:rPr dirty="0" sz="2600">
                <a:solidFill>
                  <a:srgbClr val="40458B"/>
                </a:solidFill>
                <a:latin typeface="楷体"/>
                <a:cs typeface="楷体"/>
              </a:rPr>
              <a:t>∧</a:t>
            </a:r>
            <a:r>
              <a:rPr dirty="0" sz="2600" spc="-5">
                <a:solidFill>
                  <a:srgbClr val="40458B"/>
                </a:solidFill>
                <a:latin typeface="楷体"/>
                <a:cs typeface="楷体"/>
              </a:rPr>
              <a:t> </a:t>
            </a:r>
            <a:r>
              <a:rPr dirty="0" sz="2600" spc="-25">
                <a:solidFill>
                  <a:srgbClr val="40458B"/>
                </a:solidFill>
                <a:latin typeface="Tahoma"/>
                <a:cs typeface="Tahoma"/>
              </a:rPr>
              <a:t>imm</a:t>
            </a:r>
            <a:endParaRPr sz="2600">
              <a:latin typeface="Tahoma"/>
              <a:cs typeface="Tahoma"/>
            </a:endParaRPr>
          </a:p>
          <a:p>
            <a:pPr marL="12700">
              <a:lnSpc>
                <a:spcPct val="100000"/>
              </a:lnSpc>
              <a:spcBef>
                <a:spcPts val="220"/>
              </a:spcBef>
            </a:pPr>
            <a:r>
              <a:rPr dirty="0" sz="2600">
                <a:solidFill>
                  <a:srgbClr val="40458B"/>
                </a:solidFill>
                <a:latin typeface="楷体"/>
                <a:cs typeface="楷体"/>
              </a:rPr>
              <a:t>∨</a:t>
            </a:r>
            <a:r>
              <a:rPr dirty="0" sz="2600" spc="-5">
                <a:solidFill>
                  <a:srgbClr val="40458B"/>
                </a:solidFill>
                <a:latin typeface="楷体"/>
                <a:cs typeface="楷体"/>
              </a:rPr>
              <a:t> </a:t>
            </a:r>
            <a:r>
              <a:rPr dirty="0" sz="2600" spc="-25">
                <a:solidFill>
                  <a:srgbClr val="40458B"/>
                </a:solidFill>
                <a:latin typeface="Tahoma"/>
                <a:cs typeface="Tahoma"/>
              </a:rPr>
              <a:t>imm</a:t>
            </a:r>
            <a:endParaRPr sz="2600">
              <a:latin typeface="Tahoma"/>
              <a:cs typeface="Tahoma"/>
            </a:endParaRPr>
          </a:p>
        </p:txBody>
      </p:sp>
      <p:sp>
        <p:nvSpPr>
          <p:cNvPr id="13" name="object 13" descr=""/>
          <p:cNvSpPr txBox="1"/>
          <p:nvPr/>
        </p:nvSpPr>
        <p:spPr>
          <a:xfrm>
            <a:off x="1523491" y="2637129"/>
            <a:ext cx="2172970" cy="1070610"/>
          </a:xfrm>
          <a:prstGeom prst="rect">
            <a:avLst/>
          </a:prstGeom>
        </p:spPr>
        <p:txBody>
          <a:bodyPr wrap="square" lIns="0" tIns="12065" rIns="0" bIns="0" rtlCol="0" vert="horz">
            <a:spAutoFit/>
          </a:bodyPr>
          <a:lstStyle/>
          <a:p>
            <a:pPr marL="12700" marR="5080" indent="29845">
              <a:lnSpc>
                <a:spcPct val="131900"/>
              </a:lnSpc>
              <a:spcBef>
                <a:spcPts val="95"/>
              </a:spcBef>
              <a:tabLst>
                <a:tab pos="555625" algn="l"/>
                <a:tab pos="624205" algn="l"/>
              </a:tabLst>
            </a:pPr>
            <a:r>
              <a:rPr dirty="0" sz="2600" spc="-25">
                <a:solidFill>
                  <a:srgbClr val="40458B"/>
                </a:solidFill>
                <a:latin typeface="Tahoma"/>
                <a:cs typeface="Tahoma"/>
              </a:rPr>
              <a:t>ori</a:t>
            </a:r>
            <a:r>
              <a:rPr dirty="0" sz="2600">
                <a:solidFill>
                  <a:srgbClr val="40458B"/>
                </a:solidFill>
                <a:latin typeface="Tahoma"/>
                <a:cs typeface="Tahoma"/>
              </a:rPr>
              <a:t>		rt,</a:t>
            </a:r>
            <a:r>
              <a:rPr dirty="0" sz="2600" spc="-20">
                <a:solidFill>
                  <a:srgbClr val="40458B"/>
                </a:solidFill>
                <a:latin typeface="Tahoma"/>
                <a:cs typeface="Tahoma"/>
              </a:rPr>
              <a:t> </a:t>
            </a:r>
            <a:r>
              <a:rPr dirty="0" sz="2600">
                <a:solidFill>
                  <a:srgbClr val="40458B"/>
                </a:solidFill>
                <a:latin typeface="Tahoma"/>
                <a:cs typeface="Tahoma"/>
              </a:rPr>
              <a:t>rs</a:t>
            </a:r>
            <a:r>
              <a:rPr dirty="0" sz="2600" spc="-15">
                <a:solidFill>
                  <a:srgbClr val="40458B"/>
                </a:solidFill>
                <a:latin typeface="Tahoma"/>
                <a:cs typeface="Tahoma"/>
              </a:rPr>
              <a:t> </a:t>
            </a:r>
            <a:r>
              <a:rPr dirty="0" sz="2600" spc="-20">
                <a:solidFill>
                  <a:srgbClr val="40458B"/>
                </a:solidFill>
                <a:latin typeface="Tahoma"/>
                <a:cs typeface="Tahoma"/>
              </a:rPr>
              <a:t>,imm </a:t>
            </a:r>
            <a:r>
              <a:rPr dirty="0" sz="2600" spc="-25">
                <a:solidFill>
                  <a:srgbClr val="40458B"/>
                </a:solidFill>
                <a:latin typeface="Tahoma"/>
                <a:cs typeface="Tahoma"/>
              </a:rPr>
              <a:t>lui</a:t>
            </a:r>
            <a:r>
              <a:rPr dirty="0" sz="2600">
                <a:solidFill>
                  <a:srgbClr val="40458B"/>
                </a:solidFill>
                <a:latin typeface="Tahoma"/>
                <a:cs typeface="Tahoma"/>
              </a:rPr>
              <a:t>	rt,</a:t>
            </a:r>
            <a:r>
              <a:rPr dirty="0" sz="2600" spc="-30">
                <a:solidFill>
                  <a:srgbClr val="40458B"/>
                </a:solidFill>
                <a:latin typeface="Tahoma"/>
                <a:cs typeface="Tahoma"/>
              </a:rPr>
              <a:t> </a:t>
            </a:r>
            <a:r>
              <a:rPr dirty="0" sz="2600" spc="-25">
                <a:solidFill>
                  <a:srgbClr val="40458B"/>
                </a:solidFill>
                <a:latin typeface="Tahoma"/>
                <a:cs typeface="Tahoma"/>
              </a:rPr>
              <a:t>imm</a:t>
            </a:r>
            <a:endParaRPr sz="2600">
              <a:latin typeface="Tahoma"/>
              <a:cs typeface="Tahoma"/>
            </a:endParaRPr>
          </a:p>
        </p:txBody>
      </p:sp>
      <p:sp>
        <p:nvSpPr>
          <p:cNvPr id="14" name="object 14" descr=""/>
          <p:cNvSpPr txBox="1"/>
          <p:nvPr/>
        </p:nvSpPr>
        <p:spPr>
          <a:xfrm>
            <a:off x="3920997" y="2488285"/>
            <a:ext cx="1213485" cy="1224280"/>
          </a:xfrm>
          <a:prstGeom prst="rect">
            <a:avLst/>
          </a:prstGeom>
        </p:spPr>
        <p:txBody>
          <a:bodyPr wrap="square" lIns="0" tIns="215265" rIns="0" bIns="0" rtlCol="0" vert="horz">
            <a:spAutoFit/>
          </a:bodyPr>
          <a:lstStyle/>
          <a:p>
            <a:pPr marL="13970">
              <a:lnSpc>
                <a:spcPct val="100000"/>
              </a:lnSpc>
              <a:spcBef>
                <a:spcPts val="1695"/>
              </a:spcBef>
            </a:pPr>
            <a:r>
              <a:rPr dirty="0" sz="2600">
                <a:solidFill>
                  <a:srgbClr val="40458B"/>
                </a:solidFill>
                <a:latin typeface="Tahoma"/>
                <a:cs typeface="Tahoma"/>
              </a:rPr>
              <a:t>000</a:t>
            </a:r>
            <a:r>
              <a:rPr dirty="0" sz="2600" spc="-45">
                <a:solidFill>
                  <a:srgbClr val="40458B"/>
                </a:solidFill>
                <a:latin typeface="Tahoma"/>
                <a:cs typeface="Tahoma"/>
              </a:rPr>
              <a:t> </a:t>
            </a:r>
            <a:r>
              <a:rPr dirty="0" sz="2600" spc="-25">
                <a:solidFill>
                  <a:srgbClr val="40458B"/>
                </a:solidFill>
                <a:latin typeface="Tahoma"/>
                <a:cs typeface="Tahoma"/>
              </a:rPr>
              <a:t>001</a:t>
            </a:r>
            <a:endParaRPr sz="2600">
              <a:latin typeface="Tahoma"/>
              <a:cs typeface="Tahoma"/>
            </a:endParaRPr>
          </a:p>
          <a:p>
            <a:pPr marL="12700">
              <a:lnSpc>
                <a:spcPct val="100000"/>
              </a:lnSpc>
              <a:spcBef>
                <a:spcPts val="1600"/>
              </a:spcBef>
            </a:pPr>
            <a:r>
              <a:rPr dirty="0" sz="2600">
                <a:solidFill>
                  <a:srgbClr val="40458B"/>
                </a:solidFill>
                <a:latin typeface="Tahoma"/>
                <a:cs typeface="Tahoma"/>
              </a:rPr>
              <a:t>000</a:t>
            </a:r>
            <a:r>
              <a:rPr dirty="0" sz="2600" spc="-45">
                <a:solidFill>
                  <a:srgbClr val="40458B"/>
                </a:solidFill>
                <a:latin typeface="Tahoma"/>
                <a:cs typeface="Tahoma"/>
              </a:rPr>
              <a:t> </a:t>
            </a:r>
            <a:r>
              <a:rPr dirty="0" sz="2600" spc="-25">
                <a:solidFill>
                  <a:srgbClr val="40458B"/>
                </a:solidFill>
                <a:latin typeface="Tahoma"/>
                <a:cs typeface="Tahoma"/>
              </a:rPr>
              <a:t>100</a:t>
            </a:r>
            <a:endParaRPr sz="2600">
              <a:latin typeface="Tahoma"/>
              <a:cs typeface="Tahoma"/>
            </a:endParaRPr>
          </a:p>
        </p:txBody>
      </p:sp>
      <p:sp>
        <p:nvSpPr>
          <p:cNvPr id="15" name="object 15" descr=""/>
          <p:cNvSpPr txBox="1"/>
          <p:nvPr/>
        </p:nvSpPr>
        <p:spPr>
          <a:xfrm>
            <a:off x="1642617" y="3640277"/>
            <a:ext cx="10220960" cy="2586990"/>
          </a:xfrm>
          <a:prstGeom prst="rect">
            <a:avLst/>
          </a:prstGeom>
        </p:spPr>
        <p:txBody>
          <a:bodyPr wrap="square" lIns="0" tIns="13335" rIns="0" bIns="0" rtlCol="0" vert="horz">
            <a:spAutoFit/>
          </a:bodyPr>
          <a:lstStyle/>
          <a:p>
            <a:pPr marL="6327775">
              <a:lnSpc>
                <a:spcPct val="100000"/>
              </a:lnSpc>
              <a:spcBef>
                <a:spcPts val="105"/>
              </a:spcBef>
              <a:tabLst>
                <a:tab pos="7357745" algn="l"/>
              </a:tabLst>
            </a:pPr>
            <a:r>
              <a:rPr dirty="0" sz="3200" spc="-25">
                <a:solidFill>
                  <a:srgbClr val="40458B"/>
                </a:solidFill>
                <a:latin typeface="Tahoma"/>
                <a:cs typeface="Tahoma"/>
              </a:rPr>
              <a:t>imm</a:t>
            </a:r>
            <a:r>
              <a:rPr dirty="0" sz="3200">
                <a:solidFill>
                  <a:srgbClr val="40458B"/>
                </a:solidFill>
                <a:latin typeface="Tahoma"/>
                <a:cs typeface="Tahoma"/>
              </a:rPr>
              <a:t>	</a:t>
            </a:r>
            <a:r>
              <a:rPr dirty="0" sz="3200" spc="-15">
                <a:solidFill>
                  <a:srgbClr val="40458B"/>
                </a:solidFill>
                <a:latin typeface="黑体"/>
                <a:cs typeface="黑体"/>
              </a:rPr>
              <a:t>需要怎么处理？</a:t>
            </a:r>
            <a:endParaRPr sz="3200">
              <a:latin typeface="黑体"/>
              <a:cs typeface="黑体"/>
            </a:endParaRPr>
          </a:p>
          <a:p>
            <a:pPr marL="12700">
              <a:lnSpc>
                <a:spcPct val="100000"/>
              </a:lnSpc>
              <a:spcBef>
                <a:spcPts val="3840"/>
              </a:spcBef>
              <a:tabLst>
                <a:tab pos="555625" algn="l"/>
              </a:tabLst>
            </a:pPr>
            <a:r>
              <a:rPr dirty="0" sz="2600" spc="-25">
                <a:solidFill>
                  <a:srgbClr val="40458B"/>
                </a:solidFill>
                <a:latin typeface="Tahoma"/>
                <a:cs typeface="Tahoma"/>
              </a:rPr>
              <a:t>lui</a:t>
            </a:r>
            <a:r>
              <a:rPr dirty="0" sz="2600">
                <a:solidFill>
                  <a:srgbClr val="40458B"/>
                </a:solidFill>
                <a:latin typeface="Tahoma"/>
                <a:cs typeface="Tahoma"/>
              </a:rPr>
              <a:t>	rt,</a:t>
            </a:r>
            <a:r>
              <a:rPr dirty="0" sz="2600" spc="-10">
                <a:solidFill>
                  <a:srgbClr val="40458B"/>
                </a:solidFill>
                <a:latin typeface="Tahoma"/>
                <a:cs typeface="Tahoma"/>
              </a:rPr>
              <a:t> </a:t>
            </a:r>
            <a:r>
              <a:rPr dirty="0" sz="2600">
                <a:solidFill>
                  <a:srgbClr val="40458B"/>
                </a:solidFill>
                <a:latin typeface="Tahoma"/>
                <a:cs typeface="Tahoma"/>
              </a:rPr>
              <a:t>imm:</a:t>
            </a:r>
            <a:r>
              <a:rPr dirty="0" sz="2600" spc="-5">
                <a:solidFill>
                  <a:srgbClr val="40458B"/>
                </a:solidFill>
                <a:latin typeface="Tahoma"/>
                <a:cs typeface="Tahoma"/>
              </a:rPr>
              <a:t> </a:t>
            </a:r>
            <a:r>
              <a:rPr dirty="0" sz="2600">
                <a:solidFill>
                  <a:srgbClr val="40458B"/>
                </a:solidFill>
                <a:latin typeface="黑体"/>
                <a:cs typeface="黑体"/>
              </a:rPr>
              <a:t>把</a:t>
            </a:r>
            <a:r>
              <a:rPr dirty="0" sz="2600" spc="-25">
                <a:solidFill>
                  <a:srgbClr val="40458B"/>
                </a:solidFill>
                <a:latin typeface="Tahoma"/>
                <a:cs typeface="Tahoma"/>
              </a:rPr>
              <a:t>imm</a:t>
            </a:r>
            <a:r>
              <a:rPr dirty="0" sz="2600">
                <a:solidFill>
                  <a:srgbClr val="40458B"/>
                </a:solidFill>
                <a:latin typeface="黑体"/>
                <a:cs typeface="黑体"/>
              </a:rPr>
              <a:t>左移</a:t>
            </a:r>
            <a:r>
              <a:rPr dirty="0" sz="2600" spc="-30">
                <a:solidFill>
                  <a:srgbClr val="40458B"/>
                </a:solidFill>
                <a:latin typeface="Tahoma"/>
                <a:cs typeface="Tahoma"/>
              </a:rPr>
              <a:t>48</a:t>
            </a:r>
            <a:r>
              <a:rPr dirty="0" sz="2600" spc="-5">
                <a:solidFill>
                  <a:srgbClr val="40458B"/>
                </a:solidFill>
                <a:latin typeface="黑体"/>
                <a:cs typeface="黑体"/>
              </a:rPr>
              <a:t>位存入</a:t>
            </a:r>
            <a:r>
              <a:rPr dirty="0" sz="2600" spc="-10">
                <a:solidFill>
                  <a:srgbClr val="40458B"/>
                </a:solidFill>
                <a:latin typeface="Tahoma"/>
                <a:cs typeface="Tahoma"/>
              </a:rPr>
              <a:t>rt</a:t>
            </a:r>
            <a:r>
              <a:rPr dirty="0" sz="2600" spc="-10">
                <a:solidFill>
                  <a:srgbClr val="40458B"/>
                </a:solidFill>
                <a:latin typeface="黑体"/>
                <a:cs typeface="黑体"/>
              </a:rPr>
              <a:t>寄存器。与</a:t>
            </a:r>
            <a:r>
              <a:rPr dirty="0" sz="2600" spc="-10">
                <a:solidFill>
                  <a:srgbClr val="40458B"/>
                </a:solidFill>
                <a:latin typeface="Tahoma"/>
                <a:cs typeface="Tahoma"/>
              </a:rPr>
              <a:t>ori</a:t>
            </a:r>
            <a:r>
              <a:rPr dirty="0" sz="2600" spc="-15">
                <a:solidFill>
                  <a:srgbClr val="40458B"/>
                </a:solidFill>
                <a:latin typeface="黑体"/>
                <a:cs typeface="黑体"/>
              </a:rPr>
              <a:t>合作，可以为</a:t>
            </a:r>
            <a:endParaRPr sz="2600">
              <a:latin typeface="黑体"/>
              <a:cs typeface="黑体"/>
            </a:endParaRPr>
          </a:p>
          <a:p>
            <a:pPr marL="12700">
              <a:lnSpc>
                <a:spcPct val="100000"/>
              </a:lnSpc>
            </a:pPr>
            <a:r>
              <a:rPr dirty="0" sz="2600" spc="-30">
                <a:solidFill>
                  <a:srgbClr val="40458B"/>
                </a:solidFill>
                <a:latin typeface="Tahoma"/>
                <a:cs typeface="Tahoma"/>
              </a:rPr>
              <a:t>64</a:t>
            </a:r>
            <a:r>
              <a:rPr dirty="0" sz="2600" spc="-10">
                <a:solidFill>
                  <a:srgbClr val="40458B"/>
                </a:solidFill>
                <a:latin typeface="黑体"/>
                <a:cs typeface="黑体"/>
              </a:rPr>
              <a:t>位寄存器赋任意值：</a:t>
            </a:r>
            <a:r>
              <a:rPr dirty="0" sz="2600" spc="-10">
                <a:solidFill>
                  <a:srgbClr val="40458B"/>
                </a:solidFill>
                <a:latin typeface="Tahoma"/>
                <a:cs typeface="Tahoma"/>
              </a:rPr>
              <a:t>lui</a:t>
            </a:r>
            <a:r>
              <a:rPr dirty="0" sz="2600" spc="-5">
                <a:solidFill>
                  <a:srgbClr val="40458B"/>
                </a:solidFill>
                <a:latin typeface="黑体"/>
                <a:cs typeface="黑体"/>
              </a:rPr>
              <a:t>赋高</a:t>
            </a:r>
            <a:r>
              <a:rPr dirty="0" sz="2600" spc="-30">
                <a:solidFill>
                  <a:srgbClr val="40458B"/>
                </a:solidFill>
                <a:latin typeface="Tahoma"/>
                <a:cs typeface="Tahoma"/>
              </a:rPr>
              <a:t>32</a:t>
            </a:r>
            <a:r>
              <a:rPr dirty="0" sz="2600" spc="-10">
                <a:solidFill>
                  <a:srgbClr val="40458B"/>
                </a:solidFill>
                <a:latin typeface="黑体"/>
                <a:cs typeface="黑体"/>
              </a:rPr>
              <a:t>位，</a:t>
            </a:r>
            <a:r>
              <a:rPr dirty="0" sz="2600" spc="-20">
                <a:solidFill>
                  <a:srgbClr val="40458B"/>
                </a:solidFill>
                <a:latin typeface="Tahoma"/>
                <a:cs typeface="Tahoma"/>
              </a:rPr>
              <a:t>ori</a:t>
            </a:r>
            <a:r>
              <a:rPr dirty="0" sz="2600" spc="-10">
                <a:solidFill>
                  <a:srgbClr val="40458B"/>
                </a:solidFill>
                <a:latin typeface="黑体"/>
                <a:cs typeface="黑体"/>
              </a:rPr>
              <a:t>赋低</a:t>
            </a:r>
            <a:r>
              <a:rPr dirty="0" sz="2600" spc="-30">
                <a:solidFill>
                  <a:srgbClr val="40458B"/>
                </a:solidFill>
                <a:latin typeface="Tahoma"/>
                <a:cs typeface="Tahoma"/>
              </a:rPr>
              <a:t>32</a:t>
            </a:r>
            <a:r>
              <a:rPr dirty="0" sz="2600" spc="-50">
                <a:solidFill>
                  <a:srgbClr val="40458B"/>
                </a:solidFill>
                <a:latin typeface="黑体"/>
                <a:cs typeface="黑体"/>
              </a:rPr>
              <a:t>位</a:t>
            </a:r>
            <a:endParaRPr sz="2600">
              <a:latin typeface="黑体"/>
              <a:cs typeface="黑体"/>
            </a:endParaRPr>
          </a:p>
          <a:p>
            <a:pPr marL="12700">
              <a:lnSpc>
                <a:spcPct val="100000"/>
              </a:lnSpc>
              <a:spcBef>
                <a:spcPts val="3120"/>
              </a:spcBef>
            </a:pPr>
            <a:r>
              <a:rPr dirty="0" sz="2600" spc="-10">
                <a:solidFill>
                  <a:srgbClr val="FF0000"/>
                </a:solidFill>
                <a:latin typeface="黑体"/>
                <a:cs typeface="黑体"/>
              </a:rPr>
              <a:t>联系：完成同样功能，</a:t>
            </a:r>
            <a:r>
              <a:rPr dirty="0" sz="2600" spc="-10">
                <a:solidFill>
                  <a:srgbClr val="FF0000"/>
                </a:solidFill>
                <a:latin typeface="Tahoma"/>
                <a:cs typeface="Tahoma"/>
              </a:rPr>
              <a:t>RISC</a:t>
            </a:r>
            <a:r>
              <a:rPr dirty="0" sz="2600" spc="-10">
                <a:solidFill>
                  <a:srgbClr val="FF0000"/>
                </a:solidFill>
                <a:latin typeface="黑体"/>
                <a:cs typeface="黑体"/>
              </a:rPr>
              <a:t>指令拼接可完成</a:t>
            </a:r>
            <a:r>
              <a:rPr dirty="0" sz="2600" spc="-10">
                <a:solidFill>
                  <a:srgbClr val="FF0000"/>
                </a:solidFill>
                <a:latin typeface="Tahoma"/>
                <a:cs typeface="Tahoma"/>
              </a:rPr>
              <a:t>CISC</a:t>
            </a:r>
            <a:r>
              <a:rPr dirty="0" sz="2600" spc="-15">
                <a:solidFill>
                  <a:srgbClr val="FF0000"/>
                </a:solidFill>
                <a:latin typeface="黑体"/>
                <a:cs typeface="黑体"/>
              </a:rPr>
              <a:t>指令的功能。</a:t>
            </a:r>
            <a:endParaRPr sz="2600">
              <a:latin typeface="黑体"/>
              <a:cs typeface="黑体"/>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latin typeface="微软雅黑"/>
                <a:cs typeface="微软雅黑"/>
              </a:rPr>
              <a:t>	I</a:t>
            </a:r>
            <a:r>
              <a:rPr dirty="0" spc="-10">
                <a:solidFill>
                  <a:srgbClr val="4F55AC"/>
                </a:solidFill>
                <a:latin typeface="微软雅黑"/>
                <a:cs typeface="微软雅黑"/>
              </a:rPr>
              <a:t>类指</a:t>
            </a:r>
            <a:r>
              <a:rPr dirty="0" spc="-50">
                <a:solidFill>
                  <a:srgbClr val="4F55AC"/>
                </a:solidFill>
                <a:latin typeface="微软雅黑"/>
                <a:cs typeface="微软雅黑"/>
              </a:rPr>
              <a:t>令</a:t>
            </a:r>
            <a:r>
              <a:rPr dirty="0">
                <a:solidFill>
                  <a:srgbClr val="4F55AC"/>
                </a:solidFill>
                <a:latin typeface="微软雅黑"/>
                <a:cs typeface="微软雅黑"/>
              </a:rPr>
              <a:t>	</a:t>
            </a:r>
          </a:p>
        </p:txBody>
      </p:sp>
      <p:sp>
        <p:nvSpPr>
          <p:cNvPr id="4" name="object 4" descr=""/>
          <p:cNvSpPr/>
          <p:nvPr/>
        </p:nvSpPr>
        <p:spPr>
          <a:xfrm>
            <a:off x="3648075" y="796925"/>
            <a:ext cx="7098030" cy="1368425"/>
          </a:xfrm>
          <a:custGeom>
            <a:avLst/>
            <a:gdLst/>
            <a:ahLst/>
            <a:cxnLst/>
            <a:rect l="l" t="t" r="r" b="b"/>
            <a:pathLst>
              <a:path w="7098030" h="1368425">
                <a:moveTo>
                  <a:pt x="7097776" y="0"/>
                </a:moveTo>
                <a:lnTo>
                  <a:pt x="0" y="0"/>
                </a:lnTo>
                <a:lnTo>
                  <a:pt x="0" y="1368425"/>
                </a:lnTo>
                <a:lnTo>
                  <a:pt x="7097776" y="1368425"/>
                </a:lnTo>
                <a:lnTo>
                  <a:pt x="7097776" y="0"/>
                </a:lnTo>
                <a:close/>
              </a:path>
            </a:pathLst>
          </a:custGeom>
          <a:solidFill>
            <a:srgbClr val="F4E8B4"/>
          </a:solidFill>
        </p:spPr>
        <p:txBody>
          <a:bodyPr wrap="square" lIns="0" tIns="0" rIns="0" bIns="0" rtlCol="0"/>
          <a:lstStyle/>
          <a:p/>
        </p:txBody>
      </p:sp>
      <p:graphicFrame>
        <p:nvGraphicFramePr>
          <p:cNvPr id="5" name="object 5" descr=""/>
          <p:cNvGraphicFramePr>
            <a:graphicFrameLocks noGrp="1"/>
          </p:cNvGraphicFramePr>
          <p:nvPr/>
        </p:nvGraphicFramePr>
        <p:xfrm>
          <a:off x="3689660" y="1178176"/>
          <a:ext cx="7037070" cy="546735"/>
        </p:xfrm>
        <a:graphic>
          <a:graphicData uri="http://schemas.openxmlformats.org/drawingml/2006/table">
            <a:tbl>
              <a:tblPr firstRow="1" bandRow="1">
                <a:tableStyleId>{2D5ABB26-0587-4C30-8999-92F81FD0307C}</a:tableStyleId>
              </a:tblPr>
              <a:tblGrid>
                <a:gridCol w="1400175"/>
                <a:gridCol w="1035685"/>
                <a:gridCol w="1035685"/>
                <a:gridCol w="3469639"/>
              </a:tblGrid>
              <a:tr h="546735">
                <a:tc>
                  <a:txBody>
                    <a:bodyPr/>
                    <a:lstStyle/>
                    <a:p>
                      <a:pPr marL="387350">
                        <a:lnSpc>
                          <a:spcPct val="100000"/>
                        </a:lnSpc>
                        <a:spcBef>
                          <a:spcPts val="1075"/>
                        </a:spcBef>
                      </a:pPr>
                      <a:r>
                        <a:rPr dirty="0" sz="1800" spc="-50">
                          <a:latin typeface="宋体"/>
                          <a:cs typeface="宋体"/>
                        </a:rPr>
                        <a:t>操作码</a:t>
                      </a:r>
                      <a:endParaRPr sz="1800">
                        <a:latin typeface="宋体"/>
                        <a:cs typeface="宋体"/>
                      </a:endParaRPr>
                    </a:p>
                  </a:txBody>
                  <a:tcPr marL="0" marR="0" marB="0" marT="13652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4E8B4"/>
                    </a:solidFill>
                  </a:tcPr>
                </a:tc>
                <a:tc>
                  <a:txBody>
                    <a:bodyPr/>
                    <a:lstStyle/>
                    <a:p>
                      <a:pPr algn="ctr" marL="56515">
                        <a:lnSpc>
                          <a:spcPct val="100000"/>
                        </a:lnSpc>
                        <a:spcBef>
                          <a:spcPts val="515"/>
                        </a:spcBef>
                      </a:pPr>
                      <a:r>
                        <a:rPr dirty="0" sz="2100" spc="-25" b="1">
                          <a:latin typeface="Times New Roman"/>
                          <a:cs typeface="Times New Roman"/>
                        </a:rPr>
                        <a:t>rs</a:t>
                      </a:r>
                      <a:endParaRPr sz="2100">
                        <a:latin typeface="Times New Roman"/>
                        <a:cs typeface="Times New Roman"/>
                      </a:endParaRPr>
                    </a:p>
                  </a:txBody>
                  <a:tcPr marL="0" marR="0" marB="0" marT="654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4E8B4"/>
                    </a:solidFill>
                  </a:tcPr>
                </a:tc>
                <a:tc>
                  <a:txBody>
                    <a:bodyPr/>
                    <a:lstStyle/>
                    <a:p>
                      <a:pPr algn="ctr" marR="55880">
                        <a:lnSpc>
                          <a:spcPct val="100000"/>
                        </a:lnSpc>
                        <a:spcBef>
                          <a:spcPts val="610"/>
                        </a:spcBef>
                      </a:pPr>
                      <a:r>
                        <a:rPr dirty="0" sz="2100" spc="-25" b="1">
                          <a:latin typeface="Times New Roman"/>
                          <a:cs typeface="Times New Roman"/>
                        </a:rPr>
                        <a:t>rt</a:t>
                      </a:r>
                      <a:endParaRPr sz="2100">
                        <a:latin typeface="Times New Roman"/>
                        <a:cs typeface="Times New Roman"/>
                      </a:endParaRPr>
                    </a:p>
                  </a:txBody>
                  <a:tcPr marL="0" marR="0" marB="0" marT="7747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4E8B4"/>
                    </a:solidFill>
                  </a:tcPr>
                </a:tc>
                <a:tc>
                  <a:txBody>
                    <a:bodyPr/>
                    <a:lstStyle/>
                    <a:p>
                      <a:pPr marL="902969">
                        <a:lnSpc>
                          <a:spcPct val="100000"/>
                        </a:lnSpc>
                        <a:spcBef>
                          <a:spcPts val="1075"/>
                        </a:spcBef>
                      </a:pPr>
                      <a:r>
                        <a:rPr dirty="0" sz="1800" spc="-55">
                          <a:latin typeface="宋体"/>
                          <a:cs typeface="宋体"/>
                        </a:rPr>
                        <a:t>立即数</a:t>
                      </a:r>
                      <a:r>
                        <a:rPr dirty="0" sz="1800" spc="-10">
                          <a:latin typeface="宋体"/>
                          <a:cs typeface="宋体"/>
                        </a:rPr>
                        <a:t>（</a:t>
                      </a:r>
                      <a:r>
                        <a:rPr dirty="0" sz="1800" spc="-10" b="1">
                          <a:latin typeface="Times New Roman"/>
                          <a:cs typeface="Times New Roman"/>
                        </a:rPr>
                        <a:t>immediate</a:t>
                      </a:r>
                      <a:r>
                        <a:rPr dirty="0" sz="1800" spc="-10">
                          <a:latin typeface="宋体"/>
                          <a:cs typeface="宋体"/>
                        </a:rPr>
                        <a:t>）</a:t>
                      </a:r>
                      <a:endParaRPr sz="1800">
                        <a:latin typeface="宋体"/>
                        <a:cs typeface="宋体"/>
                      </a:endParaRPr>
                    </a:p>
                  </a:txBody>
                  <a:tcPr marL="0" marR="0" marB="0" marT="13652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4E8B4"/>
                    </a:solidFill>
                  </a:tcPr>
                </a:tc>
              </a:tr>
            </a:tbl>
          </a:graphicData>
        </a:graphic>
      </p:graphicFrame>
      <p:sp>
        <p:nvSpPr>
          <p:cNvPr id="6" name="object 6" descr=""/>
          <p:cNvSpPr txBox="1"/>
          <p:nvPr/>
        </p:nvSpPr>
        <p:spPr>
          <a:xfrm>
            <a:off x="4331017" y="849959"/>
            <a:ext cx="4604385" cy="299085"/>
          </a:xfrm>
          <a:prstGeom prst="rect">
            <a:avLst/>
          </a:prstGeom>
        </p:spPr>
        <p:txBody>
          <a:bodyPr wrap="square" lIns="0" tIns="11430" rIns="0" bIns="0" rtlCol="0" vert="horz">
            <a:spAutoFit/>
          </a:bodyPr>
          <a:lstStyle/>
          <a:p>
            <a:pPr marL="12700">
              <a:lnSpc>
                <a:spcPct val="100000"/>
              </a:lnSpc>
              <a:spcBef>
                <a:spcPts val="90"/>
              </a:spcBef>
              <a:tabLst>
                <a:tab pos="1256030" algn="l"/>
                <a:tab pos="2188845" algn="l"/>
                <a:tab pos="4364990" algn="l"/>
              </a:tabLst>
            </a:pPr>
            <a:r>
              <a:rPr dirty="0" sz="1800" spc="-50" b="1">
                <a:latin typeface="Times New Roman"/>
                <a:cs typeface="Times New Roman"/>
              </a:rPr>
              <a:t>6</a:t>
            </a:r>
            <a:r>
              <a:rPr dirty="0" sz="1800" b="1">
                <a:latin typeface="Times New Roman"/>
                <a:cs typeface="Times New Roman"/>
              </a:rPr>
              <a:t>	</a:t>
            </a:r>
            <a:r>
              <a:rPr dirty="0" sz="1800" spc="-50" b="1">
                <a:latin typeface="Times New Roman"/>
                <a:cs typeface="Times New Roman"/>
              </a:rPr>
              <a:t>5</a:t>
            </a:r>
            <a:r>
              <a:rPr dirty="0" sz="1800" b="1">
                <a:latin typeface="Times New Roman"/>
                <a:cs typeface="Times New Roman"/>
              </a:rPr>
              <a:t>	</a:t>
            </a:r>
            <a:r>
              <a:rPr dirty="0" sz="1800" spc="-50" b="1">
                <a:latin typeface="Times New Roman"/>
                <a:cs typeface="Times New Roman"/>
              </a:rPr>
              <a:t>5</a:t>
            </a:r>
            <a:r>
              <a:rPr dirty="0" sz="1800" b="1">
                <a:latin typeface="Times New Roman"/>
                <a:cs typeface="Times New Roman"/>
              </a:rPr>
              <a:t>	</a:t>
            </a:r>
            <a:r>
              <a:rPr dirty="0" sz="1800" spc="-25" b="1">
                <a:latin typeface="Times New Roman"/>
                <a:cs typeface="Times New Roman"/>
              </a:rPr>
              <a:t>16</a:t>
            </a:r>
            <a:endParaRPr sz="1800">
              <a:latin typeface="Times New Roman"/>
              <a:cs typeface="Times New Roman"/>
            </a:endParaRPr>
          </a:p>
        </p:txBody>
      </p:sp>
      <p:sp>
        <p:nvSpPr>
          <p:cNvPr id="7" name="object 7" descr=""/>
          <p:cNvSpPr txBox="1"/>
          <p:nvPr/>
        </p:nvSpPr>
        <p:spPr>
          <a:xfrm>
            <a:off x="3709690" y="1732611"/>
            <a:ext cx="137795" cy="299085"/>
          </a:xfrm>
          <a:prstGeom prst="rect">
            <a:avLst/>
          </a:prstGeom>
        </p:spPr>
        <p:txBody>
          <a:bodyPr wrap="square" lIns="0" tIns="11430" rIns="0" bIns="0" rtlCol="0" vert="horz">
            <a:spAutoFit/>
          </a:bodyPr>
          <a:lstStyle/>
          <a:p>
            <a:pPr marL="12700">
              <a:lnSpc>
                <a:spcPct val="100000"/>
              </a:lnSpc>
              <a:spcBef>
                <a:spcPts val="90"/>
              </a:spcBef>
            </a:pPr>
            <a:r>
              <a:rPr dirty="0" sz="1800" spc="-50" b="1">
                <a:latin typeface="Times New Roman"/>
                <a:cs typeface="Times New Roman"/>
              </a:rPr>
              <a:t>0</a:t>
            </a:r>
            <a:endParaRPr sz="1800">
              <a:latin typeface="Times New Roman"/>
              <a:cs typeface="Times New Roman"/>
            </a:endParaRPr>
          </a:p>
        </p:txBody>
      </p:sp>
      <p:sp>
        <p:nvSpPr>
          <p:cNvPr id="8" name="object 8" descr=""/>
          <p:cNvSpPr txBox="1"/>
          <p:nvPr/>
        </p:nvSpPr>
        <p:spPr>
          <a:xfrm>
            <a:off x="4849380" y="1735692"/>
            <a:ext cx="448309" cy="299085"/>
          </a:xfrm>
          <a:prstGeom prst="rect">
            <a:avLst/>
          </a:prstGeom>
        </p:spPr>
        <p:txBody>
          <a:bodyPr wrap="square" lIns="0" tIns="11430" rIns="0" bIns="0" rtlCol="0" vert="horz">
            <a:spAutoFit/>
          </a:bodyPr>
          <a:lstStyle/>
          <a:p>
            <a:pPr marL="12700">
              <a:lnSpc>
                <a:spcPct val="100000"/>
              </a:lnSpc>
              <a:spcBef>
                <a:spcPts val="90"/>
              </a:spcBef>
              <a:tabLst>
                <a:tab pos="323215" algn="l"/>
              </a:tabLst>
            </a:pPr>
            <a:r>
              <a:rPr dirty="0" sz="1800" spc="-50" b="1">
                <a:latin typeface="Times New Roman"/>
                <a:cs typeface="Times New Roman"/>
              </a:rPr>
              <a:t>5</a:t>
            </a:r>
            <a:r>
              <a:rPr dirty="0" sz="1800" b="1">
                <a:latin typeface="Times New Roman"/>
                <a:cs typeface="Times New Roman"/>
              </a:rPr>
              <a:t>	</a:t>
            </a:r>
            <a:r>
              <a:rPr dirty="0" sz="1800" spc="-50" b="1">
                <a:latin typeface="Times New Roman"/>
                <a:cs typeface="Times New Roman"/>
              </a:rPr>
              <a:t>6</a:t>
            </a:r>
            <a:endParaRPr sz="1800">
              <a:latin typeface="Times New Roman"/>
              <a:cs typeface="Times New Roman"/>
            </a:endParaRPr>
          </a:p>
        </p:txBody>
      </p:sp>
      <p:sp>
        <p:nvSpPr>
          <p:cNvPr id="9" name="object 9" descr=""/>
          <p:cNvSpPr txBox="1"/>
          <p:nvPr/>
        </p:nvSpPr>
        <p:spPr>
          <a:xfrm>
            <a:off x="10341950" y="1735692"/>
            <a:ext cx="250825" cy="299085"/>
          </a:xfrm>
          <a:prstGeom prst="rect">
            <a:avLst/>
          </a:prstGeom>
        </p:spPr>
        <p:txBody>
          <a:bodyPr wrap="square" lIns="0" tIns="11430" rIns="0" bIns="0" rtlCol="0" vert="horz">
            <a:spAutoFit/>
          </a:bodyPr>
          <a:lstStyle/>
          <a:p>
            <a:pPr marL="12700">
              <a:lnSpc>
                <a:spcPct val="100000"/>
              </a:lnSpc>
              <a:spcBef>
                <a:spcPts val="90"/>
              </a:spcBef>
            </a:pPr>
            <a:r>
              <a:rPr dirty="0" sz="1800" spc="-25" b="1">
                <a:latin typeface="Times New Roman"/>
                <a:cs typeface="Times New Roman"/>
              </a:rPr>
              <a:t>31</a:t>
            </a:r>
            <a:endParaRPr sz="1800">
              <a:latin typeface="Times New Roman"/>
              <a:cs typeface="Times New Roman"/>
            </a:endParaRPr>
          </a:p>
        </p:txBody>
      </p:sp>
      <p:sp>
        <p:nvSpPr>
          <p:cNvPr id="10" name="object 10" descr=""/>
          <p:cNvSpPr txBox="1"/>
          <p:nvPr/>
        </p:nvSpPr>
        <p:spPr>
          <a:xfrm>
            <a:off x="3917696" y="1595035"/>
            <a:ext cx="4108450" cy="1040765"/>
          </a:xfrm>
          <a:prstGeom prst="rect">
            <a:avLst/>
          </a:prstGeom>
        </p:spPr>
        <p:txBody>
          <a:bodyPr wrap="square" lIns="0" tIns="152400" rIns="0" bIns="0" rtlCol="0" vert="horz">
            <a:spAutoFit/>
          </a:bodyPr>
          <a:lstStyle/>
          <a:p>
            <a:pPr marL="1930400">
              <a:lnSpc>
                <a:spcPct val="100000"/>
              </a:lnSpc>
              <a:spcBef>
                <a:spcPts val="1200"/>
              </a:spcBef>
              <a:tabLst>
                <a:tab pos="2329815" algn="l"/>
                <a:tab pos="2966085" algn="l"/>
                <a:tab pos="3327400" algn="l"/>
              </a:tabLst>
            </a:pPr>
            <a:r>
              <a:rPr dirty="0" sz="1800" spc="-25" b="1">
                <a:latin typeface="Times New Roman"/>
                <a:cs typeface="Times New Roman"/>
              </a:rPr>
              <a:t>10</a:t>
            </a:r>
            <a:r>
              <a:rPr dirty="0" sz="1800" b="1">
                <a:latin typeface="Times New Roman"/>
                <a:cs typeface="Times New Roman"/>
              </a:rPr>
              <a:t>	</a:t>
            </a:r>
            <a:r>
              <a:rPr dirty="0" sz="1800" spc="-25" b="1">
                <a:latin typeface="Times New Roman"/>
                <a:cs typeface="Times New Roman"/>
              </a:rPr>
              <a:t>11</a:t>
            </a:r>
            <a:r>
              <a:rPr dirty="0" sz="1800" b="1">
                <a:latin typeface="Times New Roman"/>
                <a:cs typeface="Times New Roman"/>
              </a:rPr>
              <a:t>	</a:t>
            </a:r>
            <a:r>
              <a:rPr dirty="0" sz="1800" spc="-25" b="1">
                <a:latin typeface="Times New Roman"/>
                <a:cs typeface="Times New Roman"/>
              </a:rPr>
              <a:t>15</a:t>
            </a:r>
            <a:r>
              <a:rPr dirty="0" sz="1800" b="1">
                <a:latin typeface="Times New Roman"/>
                <a:cs typeface="Times New Roman"/>
              </a:rPr>
              <a:t>	</a:t>
            </a:r>
            <a:r>
              <a:rPr dirty="0" sz="1800" spc="-25" b="1">
                <a:latin typeface="Times New Roman"/>
                <a:cs typeface="Times New Roman"/>
              </a:rPr>
              <a:t>16</a:t>
            </a:r>
            <a:endParaRPr sz="1800">
              <a:latin typeface="Times New Roman"/>
              <a:cs typeface="Times New Roman"/>
            </a:endParaRPr>
          </a:p>
          <a:p>
            <a:pPr marL="12700">
              <a:lnSpc>
                <a:spcPct val="100000"/>
              </a:lnSpc>
              <a:spcBef>
                <a:spcPts val="1610"/>
              </a:spcBef>
              <a:tabLst>
                <a:tab pos="1510665" algn="l"/>
              </a:tabLst>
            </a:pPr>
            <a:r>
              <a:rPr dirty="0" sz="2600">
                <a:solidFill>
                  <a:srgbClr val="40458B"/>
                </a:solidFill>
                <a:latin typeface="Tahoma"/>
                <a:cs typeface="Tahoma"/>
              </a:rPr>
              <a:t>000</a:t>
            </a:r>
            <a:r>
              <a:rPr dirty="0" sz="2600" spc="-45">
                <a:solidFill>
                  <a:srgbClr val="40458B"/>
                </a:solidFill>
                <a:latin typeface="Tahoma"/>
                <a:cs typeface="Tahoma"/>
              </a:rPr>
              <a:t> </a:t>
            </a:r>
            <a:r>
              <a:rPr dirty="0" sz="2600" spc="-25">
                <a:solidFill>
                  <a:srgbClr val="40458B"/>
                </a:solidFill>
                <a:latin typeface="Tahoma"/>
                <a:cs typeface="Tahoma"/>
              </a:rPr>
              <a:t>100</a:t>
            </a:r>
            <a:r>
              <a:rPr dirty="0" sz="2600">
                <a:solidFill>
                  <a:srgbClr val="40458B"/>
                </a:solidFill>
                <a:latin typeface="Tahoma"/>
                <a:cs typeface="Tahoma"/>
              </a:rPr>
              <a:t>	</a:t>
            </a:r>
            <a:r>
              <a:rPr dirty="0" sz="2600">
                <a:solidFill>
                  <a:srgbClr val="40458B"/>
                </a:solidFill>
                <a:latin typeface="黑体"/>
                <a:cs typeface="黑体"/>
              </a:rPr>
              <a:t>该指令</a:t>
            </a:r>
            <a:r>
              <a:rPr dirty="0" sz="2600" spc="-10">
                <a:solidFill>
                  <a:srgbClr val="40458B"/>
                </a:solidFill>
                <a:latin typeface="Tahoma"/>
                <a:cs typeface="Tahoma"/>
              </a:rPr>
              <a:t>rs</a:t>
            </a:r>
            <a:r>
              <a:rPr dirty="0" sz="2600" spc="-15">
                <a:solidFill>
                  <a:srgbClr val="40458B"/>
                </a:solidFill>
                <a:latin typeface="黑体"/>
                <a:cs typeface="黑体"/>
              </a:rPr>
              <a:t>字段无用</a:t>
            </a:r>
            <a:endParaRPr sz="2600">
              <a:latin typeface="黑体"/>
              <a:cs typeface="黑体"/>
            </a:endParaRPr>
          </a:p>
        </p:txBody>
      </p:sp>
      <p:sp>
        <p:nvSpPr>
          <p:cNvPr id="11" name="object 11" descr=""/>
          <p:cNvSpPr txBox="1"/>
          <p:nvPr/>
        </p:nvSpPr>
        <p:spPr>
          <a:xfrm>
            <a:off x="1720342" y="2294382"/>
            <a:ext cx="1634489" cy="422275"/>
          </a:xfrm>
          <a:prstGeom prst="rect">
            <a:avLst/>
          </a:prstGeom>
        </p:spPr>
        <p:txBody>
          <a:bodyPr wrap="square" lIns="0" tIns="13335" rIns="0" bIns="0" rtlCol="0" vert="horz">
            <a:spAutoFit/>
          </a:bodyPr>
          <a:lstStyle/>
          <a:p>
            <a:pPr marL="12700">
              <a:lnSpc>
                <a:spcPct val="100000"/>
              </a:lnSpc>
              <a:spcBef>
                <a:spcPts val="105"/>
              </a:spcBef>
              <a:tabLst>
                <a:tab pos="555625" algn="l"/>
              </a:tabLst>
            </a:pPr>
            <a:r>
              <a:rPr dirty="0" sz="2600" spc="-25">
                <a:solidFill>
                  <a:srgbClr val="40458B"/>
                </a:solidFill>
                <a:latin typeface="Tahoma"/>
                <a:cs typeface="Tahoma"/>
              </a:rPr>
              <a:t>lui</a:t>
            </a:r>
            <a:r>
              <a:rPr dirty="0" sz="2600">
                <a:solidFill>
                  <a:srgbClr val="40458B"/>
                </a:solidFill>
                <a:latin typeface="Tahoma"/>
                <a:cs typeface="Tahoma"/>
              </a:rPr>
              <a:t>	rt,</a:t>
            </a:r>
            <a:r>
              <a:rPr dirty="0" sz="2600" spc="-30">
                <a:solidFill>
                  <a:srgbClr val="40458B"/>
                </a:solidFill>
                <a:latin typeface="Tahoma"/>
                <a:cs typeface="Tahoma"/>
              </a:rPr>
              <a:t> </a:t>
            </a:r>
            <a:r>
              <a:rPr dirty="0" sz="2600" spc="-25">
                <a:solidFill>
                  <a:srgbClr val="40458B"/>
                </a:solidFill>
                <a:latin typeface="Tahoma"/>
                <a:cs typeface="Tahoma"/>
              </a:rPr>
              <a:t>imm</a:t>
            </a:r>
            <a:endParaRPr sz="2600">
              <a:latin typeface="Tahoma"/>
              <a:cs typeface="Tahoma"/>
            </a:endParaRPr>
          </a:p>
        </p:txBody>
      </p:sp>
      <p:sp>
        <p:nvSpPr>
          <p:cNvPr id="12" name="object 12" descr=""/>
          <p:cNvSpPr txBox="1"/>
          <p:nvPr/>
        </p:nvSpPr>
        <p:spPr>
          <a:xfrm>
            <a:off x="702665" y="2805383"/>
            <a:ext cx="10755630" cy="1214120"/>
          </a:xfrm>
          <a:prstGeom prst="rect">
            <a:avLst/>
          </a:prstGeom>
        </p:spPr>
        <p:txBody>
          <a:bodyPr wrap="square" lIns="0" tIns="12065" rIns="0" bIns="0" rtlCol="0" vert="horz">
            <a:spAutoFit/>
          </a:bodyPr>
          <a:lstStyle/>
          <a:p>
            <a:pPr marL="12700" marR="5080">
              <a:lnSpc>
                <a:spcPct val="150000"/>
              </a:lnSpc>
              <a:spcBef>
                <a:spcPts val="95"/>
              </a:spcBef>
              <a:tabLst>
                <a:tab pos="555625" algn="l"/>
              </a:tabLst>
            </a:pPr>
            <a:r>
              <a:rPr dirty="0" sz="2600" spc="-25">
                <a:solidFill>
                  <a:srgbClr val="40458B"/>
                </a:solidFill>
                <a:latin typeface="Tahoma"/>
                <a:cs typeface="Tahoma"/>
              </a:rPr>
              <a:t>lui</a:t>
            </a:r>
            <a:r>
              <a:rPr dirty="0" sz="2600">
                <a:solidFill>
                  <a:srgbClr val="40458B"/>
                </a:solidFill>
                <a:latin typeface="Tahoma"/>
                <a:cs typeface="Tahoma"/>
              </a:rPr>
              <a:t>	rt, imm: </a:t>
            </a:r>
            <a:r>
              <a:rPr dirty="0" sz="2600">
                <a:solidFill>
                  <a:srgbClr val="40458B"/>
                </a:solidFill>
                <a:latin typeface="黑体"/>
                <a:cs typeface="黑体"/>
              </a:rPr>
              <a:t>把</a:t>
            </a:r>
            <a:r>
              <a:rPr dirty="0" sz="2600" spc="-25">
                <a:solidFill>
                  <a:srgbClr val="40458B"/>
                </a:solidFill>
                <a:latin typeface="Tahoma"/>
                <a:cs typeface="Tahoma"/>
              </a:rPr>
              <a:t>imm</a:t>
            </a:r>
            <a:r>
              <a:rPr dirty="0" sz="2600">
                <a:solidFill>
                  <a:srgbClr val="40458B"/>
                </a:solidFill>
                <a:latin typeface="黑体"/>
                <a:cs typeface="黑体"/>
              </a:rPr>
              <a:t>左移</a:t>
            </a:r>
            <a:r>
              <a:rPr dirty="0" sz="2600" spc="-30">
                <a:solidFill>
                  <a:srgbClr val="40458B"/>
                </a:solidFill>
                <a:latin typeface="Tahoma"/>
                <a:cs typeface="Tahoma"/>
              </a:rPr>
              <a:t>48</a:t>
            </a:r>
            <a:r>
              <a:rPr dirty="0" sz="2600">
                <a:solidFill>
                  <a:srgbClr val="40458B"/>
                </a:solidFill>
                <a:latin typeface="黑体"/>
                <a:cs typeface="黑体"/>
              </a:rPr>
              <a:t>位存入</a:t>
            </a:r>
            <a:r>
              <a:rPr dirty="0" sz="2600" spc="-10">
                <a:solidFill>
                  <a:srgbClr val="40458B"/>
                </a:solidFill>
                <a:latin typeface="Tahoma"/>
                <a:cs typeface="Tahoma"/>
              </a:rPr>
              <a:t>rt</a:t>
            </a:r>
            <a:r>
              <a:rPr dirty="0" sz="2600" spc="-10">
                <a:solidFill>
                  <a:srgbClr val="40458B"/>
                </a:solidFill>
                <a:latin typeface="黑体"/>
                <a:cs typeface="黑体"/>
              </a:rPr>
              <a:t>寄存器。与</a:t>
            </a:r>
            <a:r>
              <a:rPr dirty="0" sz="2600" spc="-10">
                <a:solidFill>
                  <a:srgbClr val="40458B"/>
                </a:solidFill>
                <a:latin typeface="Tahoma"/>
                <a:cs typeface="Tahoma"/>
              </a:rPr>
              <a:t>ori</a:t>
            </a:r>
            <a:r>
              <a:rPr dirty="0" sz="2600" spc="-10">
                <a:solidFill>
                  <a:srgbClr val="40458B"/>
                </a:solidFill>
                <a:latin typeface="黑体"/>
                <a:cs typeface="黑体"/>
              </a:rPr>
              <a:t>合作，可以为</a:t>
            </a:r>
            <a:r>
              <a:rPr dirty="0" sz="2600" spc="-30">
                <a:solidFill>
                  <a:srgbClr val="40458B"/>
                </a:solidFill>
                <a:latin typeface="Tahoma"/>
                <a:cs typeface="Tahoma"/>
              </a:rPr>
              <a:t>64</a:t>
            </a:r>
            <a:r>
              <a:rPr dirty="0" sz="2600" spc="-15">
                <a:solidFill>
                  <a:srgbClr val="40458B"/>
                </a:solidFill>
                <a:latin typeface="黑体"/>
                <a:cs typeface="黑体"/>
              </a:rPr>
              <a:t>位寄存器</a:t>
            </a:r>
            <a:r>
              <a:rPr dirty="0" sz="2600" spc="-5">
                <a:solidFill>
                  <a:srgbClr val="40458B"/>
                </a:solidFill>
                <a:latin typeface="黑体"/>
                <a:cs typeface="黑体"/>
              </a:rPr>
              <a:t>赋任意值：</a:t>
            </a:r>
            <a:r>
              <a:rPr dirty="0" sz="2600" spc="-20">
                <a:solidFill>
                  <a:srgbClr val="40458B"/>
                </a:solidFill>
                <a:latin typeface="Tahoma"/>
                <a:cs typeface="Tahoma"/>
              </a:rPr>
              <a:t>lui</a:t>
            </a:r>
            <a:r>
              <a:rPr dirty="0" sz="2600" spc="-10">
                <a:solidFill>
                  <a:srgbClr val="40458B"/>
                </a:solidFill>
                <a:latin typeface="黑体"/>
                <a:cs typeface="黑体"/>
              </a:rPr>
              <a:t>赋高</a:t>
            </a:r>
            <a:r>
              <a:rPr dirty="0" sz="2600" spc="-30">
                <a:solidFill>
                  <a:srgbClr val="40458B"/>
                </a:solidFill>
                <a:latin typeface="Tahoma"/>
                <a:cs typeface="Tahoma"/>
              </a:rPr>
              <a:t>32</a:t>
            </a:r>
            <a:r>
              <a:rPr dirty="0" sz="2600" spc="-5">
                <a:solidFill>
                  <a:srgbClr val="40458B"/>
                </a:solidFill>
                <a:latin typeface="黑体"/>
                <a:cs typeface="黑体"/>
              </a:rPr>
              <a:t>位，</a:t>
            </a:r>
            <a:r>
              <a:rPr dirty="0" sz="2600" spc="-10">
                <a:solidFill>
                  <a:srgbClr val="40458B"/>
                </a:solidFill>
                <a:latin typeface="Tahoma"/>
                <a:cs typeface="Tahoma"/>
              </a:rPr>
              <a:t>ori</a:t>
            </a:r>
            <a:r>
              <a:rPr dirty="0" sz="2600" spc="-10">
                <a:solidFill>
                  <a:srgbClr val="40458B"/>
                </a:solidFill>
                <a:latin typeface="黑体"/>
                <a:cs typeface="黑体"/>
              </a:rPr>
              <a:t>赋低</a:t>
            </a:r>
            <a:r>
              <a:rPr dirty="0" sz="2600" spc="-30">
                <a:solidFill>
                  <a:srgbClr val="40458B"/>
                </a:solidFill>
                <a:latin typeface="Tahoma"/>
                <a:cs typeface="Tahoma"/>
              </a:rPr>
              <a:t>32</a:t>
            </a:r>
            <a:r>
              <a:rPr dirty="0" sz="2600" spc="-50">
                <a:solidFill>
                  <a:srgbClr val="40458B"/>
                </a:solidFill>
                <a:latin typeface="黑体"/>
                <a:cs typeface="黑体"/>
              </a:rPr>
              <a:t>位</a:t>
            </a:r>
            <a:endParaRPr sz="2600">
              <a:latin typeface="黑体"/>
              <a:cs typeface="黑体"/>
            </a:endParaRPr>
          </a:p>
        </p:txBody>
      </p:sp>
      <p:sp>
        <p:nvSpPr>
          <p:cNvPr id="13" name="object 13" descr=""/>
          <p:cNvSpPr txBox="1"/>
          <p:nvPr/>
        </p:nvSpPr>
        <p:spPr>
          <a:xfrm>
            <a:off x="1606041" y="4028115"/>
            <a:ext cx="3174365" cy="1215390"/>
          </a:xfrm>
          <a:prstGeom prst="rect">
            <a:avLst/>
          </a:prstGeom>
        </p:spPr>
        <p:txBody>
          <a:bodyPr wrap="square" lIns="0" tIns="211454" rIns="0" bIns="0" rtlCol="0" vert="horz">
            <a:spAutoFit/>
          </a:bodyPr>
          <a:lstStyle/>
          <a:p>
            <a:pPr marL="12700">
              <a:lnSpc>
                <a:spcPct val="100000"/>
              </a:lnSpc>
              <a:spcBef>
                <a:spcPts val="1664"/>
              </a:spcBef>
            </a:pPr>
            <a:r>
              <a:rPr dirty="0" sz="2600">
                <a:solidFill>
                  <a:srgbClr val="40458B"/>
                </a:solidFill>
                <a:latin typeface="黑体"/>
                <a:cs typeface="黑体"/>
              </a:rPr>
              <a:t>例如：</a:t>
            </a:r>
            <a:r>
              <a:rPr dirty="0" sz="2600">
                <a:solidFill>
                  <a:srgbClr val="FF0000"/>
                </a:solidFill>
                <a:latin typeface="Tahoma"/>
                <a:cs typeface="Tahoma"/>
              </a:rPr>
              <a:t>lui</a:t>
            </a:r>
            <a:r>
              <a:rPr dirty="0" sz="2600" spc="-50">
                <a:solidFill>
                  <a:srgbClr val="FF0000"/>
                </a:solidFill>
                <a:latin typeface="Tahoma"/>
                <a:cs typeface="Tahoma"/>
              </a:rPr>
              <a:t> </a:t>
            </a:r>
            <a:r>
              <a:rPr dirty="0" sz="2600" spc="-10">
                <a:solidFill>
                  <a:srgbClr val="FF0000"/>
                </a:solidFill>
                <a:latin typeface="Tahoma"/>
                <a:cs typeface="Tahoma"/>
              </a:rPr>
              <a:t>r1,1234H</a:t>
            </a:r>
            <a:endParaRPr sz="2600">
              <a:latin typeface="Tahoma"/>
              <a:cs typeface="Tahoma"/>
            </a:endParaRPr>
          </a:p>
          <a:p>
            <a:pPr marL="940435">
              <a:lnSpc>
                <a:spcPct val="100000"/>
              </a:lnSpc>
              <a:spcBef>
                <a:spcPts val="1560"/>
              </a:spcBef>
            </a:pPr>
            <a:r>
              <a:rPr dirty="0" sz="2600">
                <a:solidFill>
                  <a:srgbClr val="FF0000"/>
                </a:solidFill>
                <a:latin typeface="Tahoma"/>
                <a:cs typeface="Tahoma"/>
              </a:rPr>
              <a:t>ori</a:t>
            </a:r>
            <a:r>
              <a:rPr dirty="0" sz="2600" spc="-25">
                <a:solidFill>
                  <a:srgbClr val="FF0000"/>
                </a:solidFill>
                <a:latin typeface="Tahoma"/>
                <a:cs typeface="Tahoma"/>
              </a:rPr>
              <a:t> </a:t>
            </a:r>
            <a:r>
              <a:rPr dirty="0" sz="2600" spc="-10">
                <a:solidFill>
                  <a:srgbClr val="FF0000"/>
                </a:solidFill>
                <a:latin typeface="Tahoma"/>
                <a:cs typeface="Tahoma"/>
              </a:rPr>
              <a:t>r2,r1,5678H</a:t>
            </a:r>
            <a:endParaRPr sz="2600">
              <a:latin typeface="Tahoma"/>
              <a:cs typeface="Tahoma"/>
            </a:endParaRPr>
          </a:p>
        </p:txBody>
      </p:sp>
      <p:sp>
        <p:nvSpPr>
          <p:cNvPr id="14" name="object 14" descr=""/>
          <p:cNvSpPr txBox="1"/>
          <p:nvPr/>
        </p:nvSpPr>
        <p:spPr>
          <a:xfrm>
            <a:off x="5001895" y="4028115"/>
            <a:ext cx="5377815" cy="1215390"/>
          </a:xfrm>
          <a:prstGeom prst="rect">
            <a:avLst/>
          </a:prstGeom>
        </p:spPr>
        <p:txBody>
          <a:bodyPr wrap="square" lIns="0" tIns="211454" rIns="0" bIns="0" rtlCol="0" vert="horz">
            <a:spAutoFit/>
          </a:bodyPr>
          <a:lstStyle/>
          <a:p>
            <a:pPr marL="12700">
              <a:lnSpc>
                <a:spcPct val="100000"/>
              </a:lnSpc>
              <a:spcBef>
                <a:spcPts val="1664"/>
              </a:spcBef>
            </a:pPr>
            <a:r>
              <a:rPr dirty="0" sz="2600">
                <a:solidFill>
                  <a:srgbClr val="FF0000"/>
                </a:solidFill>
                <a:latin typeface="黑体"/>
                <a:cs typeface="黑体"/>
              </a:rPr>
              <a:t>执行后：</a:t>
            </a:r>
            <a:r>
              <a:rPr dirty="0" sz="2600">
                <a:solidFill>
                  <a:srgbClr val="FF0000"/>
                </a:solidFill>
                <a:latin typeface="Tahoma"/>
                <a:cs typeface="Tahoma"/>
              </a:rPr>
              <a:t>r1=1234</a:t>
            </a:r>
            <a:r>
              <a:rPr dirty="0" sz="2600" spc="-85">
                <a:solidFill>
                  <a:srgbClr val="FF0000"/>
                </a:solidFill>
                <a:latin typeface="Tahoma"/>
                <a:cs typeface="Tahoma"/>
              </a:rPr>
              <a:t> </a:t>
            </a:r>
            <a:r>
              <a:rPr dirty="0" sz="2600">
                <a:solidFill>
                  <a:srgbClr val="FF0000"/>
                </a:solidFill>
                <a:latin typeface="Tahoma"/>
                <a:cs typeface="Tahoma"/>
              </a:rPr>
              <a:t>0000</a:t>
            </a:r>
            <a:r>
              <a:rPr dirty="0" sz="2600" spc="-70">
                <a:solidFill>
                  <a:srgbClr val="FF0000"/>
                </a:solidFill>
                <a:latin typeface="Tahoma"/>
                <a:cs typeface="Tahoma"/>
              </a:rPr>
              <a:t> </a:t>
            </a:r>
            <a:r>
              <a:rPr dirty="0" sz="2600">
                <a:solidFill>
                  <a:srgbClr val="FF0000"/>
                </a:solidFill>
                <a:latin typeface="Tahoma"/>
                <a:cs typeface="Tahoma"/>
              </a:rPr>
              <a:t>0000</a:t>
            </a:r>
            <a:r>
              <a:rPr dirty="0" sz="2600" spc="-65">
                <a:solidFill>
                  <a:srgbClr val="FF0000"/>
                </a:solidFill>
                <a:latin typeface="Tahoma"/>
                <a:cs typeface="Tahoma"/>
              </a:rPr>
              <a:t> </a:t>
            </a:r>
            <a:r>
              <a:rPr dirty="0" sz="2600" spc="-10">
                <a:solidFill>
                  <a:srgbClr val="FF0000"/>
                </a:solidFill>
                <a:latin typeface="Tahoma"/>
                <a:cs typeface="Tahoma"/>
              </a:rPr>
              <a:t>0000H</a:t>
            </a:r>
            <a:endParaRPr sz="2600">
              <a:latin typeface="Tahoma"/>
              <a:cs typeface="Tahoma"/>
            </a:endParaRPr>
          </a:p>
          <a:p>
            <a:pPr marL="79375">
              <a:lnSpc>
                <a:spcPct val="100000"/>
              </a:lnSpc>
              <a:spcBef>
                <a:spcPts val="1560"/>
              </a:spcBef>
            </a:pPr>
            <a:r>
              <a:rPr dirty="0" sz="2600">
                <a:solidFill>
                  <a:srgbClr val="FF0000"/>
                </a:solidFill>
                <a:latin typeface="黑体"/>
                <a:cs typeface="黑体"/>
              </a:rPr>
              <a:t>执行后：</a:t>
            </a:r>
            <a:r>
              <a:rPr dirty="0" sz="2600">
                <a:solidFill>
                  <a:srgbClr val="FF0000"/>
                </a:solidFill>
                <a:latin typeface="Tahoma"/>
                <a:cs typeface="Tahoma"/>
              </a:rPr>
              <a:t>r2=1234</a:t>
            </a:r>
            <a:r>
              <a:rPr dirty="0" sz="2600" spc="-80">
                <a:solidFill>
                  <a:srgbClr val="FF0000"/>
                </a:solidFill>
                <a:latin typeface="Tahoma"/>
                <a:cs typeface="Tahoma"/>
              </a:rPr>
              <a:t> </a:t>
            </a:r>
            <a:r>
              <a:rPr dirty="0" sz="2600">
                <a:solidFill>
                  <a:srgbClr val="FF0000"/>
                </a:solidFill>
                <a:latin typeface="Tahoma"/>
                <a:cs typeface="Tahoma"/>
              </a:rPr>
              <a:t>0000</a:t>
            </a:r>
            <a:r>
              <a:rPr dirty="0" sz="2600" spc="-45">
                <a:solidFill>
                  <a:srgbClr val="FF0000"/>
                </a:solidFill>
                <a:latin typeface="Tahoma"/>
                <a:cs typeface="Tahoma"/>
              </a:rPr>
              <a:t> </a:t>
            </a:r>
            <a:r>
              <a:rPr dirty="0" sz="2600">
                <a:solidFill>
                  <a:srgbClr val="FF0000"/>
                </a:solidFill>
                <a:latin typeface="Tahoma"/>
                <a:cs typeface="Tahoma"/>
              </a:rPr>
              <a:t>0000</a:t>
            </a:r>
            <a:r>
              <a:rPr dirty="0" sz="2600" spc="-40">
                <a:solidFill>
                  <a:srgbClr val="FF0000"/>
                </a:solidFill>
                <a:latin typeface="Tahoma"/>
                <a:cs typeface="Tahoma"/>
              </a:rPr>
              <a:t> </a:t>
            </a:r>
            <a:r>
              <a:rPr dirty="0" sz="2600" spc="-10">
                <a:solidFill>
                  <a:srgbClr val="FF0000"/>
                </a:solidFill>
                <a:latin typeface="Tahoma"/>
                <a:cs typeface="Tahoma"/>
              </a:rPr>
              <a:t>5678H</a:t>
            </a:r>
            <a:endParaRPr sz="2600">
              <a:latin typeface="Tahoma"/>
              <a:cs typeface="Tahoma"/>
            </a:endParaRPr>
          </a:p>
        </p:txBody>
      </p:sp>
      <p:sp>
        <p:nvSpPr>
          <p:cNvPr id="15" name="object 15" descr=""/>
          <p:cNvSpPr txBox="1"/>
          <p:nvPr/>
        </p:nvSpPr>
        <p:spPr>
          <a:xfrm>
            <a:off x="2432050" y="5217242"/>
            <a:ext cx="6794500" cy="1215390"/>
          </a:xfrm>
          <a:prstGeom prst="rect">
            <a:avLst/>
          </a:prstGeom>
        </p:spPr>
        <p:txBody>
          <a:bodyPr wrap="square" lIns="0" tIns="12700" rIns="0" bIns="0" rtlCol="0" vert="horz">
            <a:spAutoFit/>
          </a:bodyPr>
          <a:lstStyle/>
          <a:p>
            <a:pPr marL="114300" marR="5080" indent="-102235">
              <a:lnSpc>
                <a:spcPct val="150100"/>
              </a:lnSpc>
              <a:spcBef>
                <a:spcPts val="100"/>
              </a:spcBef>
            </a:pPr>
            <a:r>
              <a:rPr dirty="0" sz="2600" spc="-165">
                <a:solidFill>
                  <a:srgbClr val="FF0000"/>
                </a:solidFill>
                <a:latin typeface="黑体"/>
                <a:cs typeface="黑体"/>
              </a:rPr>
              <a:t>注意 </a:t>
            </a:r>
            <a:r>
              <a:rPr dirty="0" sz="2600">
                <a:solidFill>
                  <a:srgbClr val="FF0000"/>
                </a:solidFill>
                <a:latin typeface="Tahoma"/>
                <a:cs typeface="Tahoma"/>
              </a:rPr>
              <a:t>ori </a:t>
            </a:r>
            <a:r>
              <a:rPr dirty="0" sz="2600" spc="-60">
                <a:solidFill>
                  <a:srgbClr val="FF0000"/>
                </a:solidFill>
                <a:latin typeface="黑体"/>
                <a:cs typeface="黑体"/>
              </a:rPr>
              <a:t>指令执行过程 ：先将</a:t>
            </a:r>
            <a:r>
              <a:rPr dirty="0" sz="2600" spc="-10">
                <a:solidFill>
                  <a:srgbClr val="FF0000"/>
                </a:solidFill>
                <a:latin typeface="Tahoma"/>
                <a:cs typeface="Tahoma"/>
              </a:rPr>
              <a:t>5678H</a:t>
            </a:r>
            <a:r>
              <a:rPr dirty="0" sz="2600" spc="-5">
                <a:solidFill>
                  <a:srgbClr val="FF0000"/>
                </a:solidFill>
                <a:latin typeface="黑体"/>
                <a:cs typeface="黑体"/>
              </a:rPr>
              <a:t>进行</a:t>
            </a:r>
            <a:r>
              <a:rPr dirty="0" sz="2600" spc="-30">
                <a:solidFill>
                  <a:srgbClr val="FF0000"/>
                </a:solidFill>
                <a:latin typeface="Tahoma"/>
                <a:cs typeface="Tahoma"/>
              </a:rPr>
              <a:t>0</a:t>
            </a:r>
            <a:r>
              <a:rPr dirty="0" sz="2600" spc="-30">
                <a:solidFill>
                  <a:srgbClr val="FF0000"/>
                </a:solidFill>
                <a:latin typeface="黑体"/>
                <a:cs typeface="黑体"/>
              </a:rPr>
              <a:t>扩展</a:t>
            </a:r>
            <a:r>
              <a:rPr dirty="0" sz="2600" spc="-10">
                <a:solidFill>
                  <a:srgbClr val="282C58"/>
                </a:solidFill>
                <a:latin typeface="黑体"/>
                <a:cs typeface="黑体"/>
              </a:rPr>
              <a:t>两条指令完成寄存器赋值操作</a:t>
            </a:r>
            <a:endParaRPr sz="2600">
              <a:latin typeface="黑体"/>
              <a:cs typeface="黑体"/>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latin typeface="微软雅黑"/>
                <a:cs typeface="微软雅黑"/>
              </a:rPr>
              <a:t>	I</a:t>
            </a:r>
            <a:r>
              <a:rPr dirty="0" spc="-10">
                <a:solidFill>
                  <a:srgbClr val="4F55AC"/>
                </a:solidFill>
                <a:latin typeface="微软雅黑"/>
                <a:cs typeface="微软雅黑"/>
              </a:rPr>
              <a:t>类指</a:t>
            </a:r>
            <a:r>
              <a:rPr dirty="0" spc="-50">
                <a:solidFill>
                  <a:srgbClr val="4F55AC"/>
                </a:solidFill>
                <a:latin typeface="微软雅黑"/>
                <a:cs typeface="微软雅黑"/>
              </a:rPr>
              <a:t>令</a:t>
            </a:r>
            <a:r>
              <a:rPr dirty="0">
                <a:solidFill>
                  <a:srgbClr val="4F55AC"/>
                </a:solidFill>
                <a:latin typeface="微软雅黑"/>
                <a:cs typeface="微软雅黑"/>
              </a:rPr>
              <a:t>	</a:t>
            </a:r>
          </a:p>
        </p:txBody>
      </p:sp>
      <p:sp>
        <p:nvSpPr>
          <p:cNvPr id="4" name="object 4" descr=""/>
          <p:cNvSpPr/>
          <p:nvPr/>
        </p:nvSpPr>
        <p:spPr>
          <a:xfrm>
            <a:off x="1271650" y="796925"/>
            <a:ext cx="9474200" cy="1368425"/>
          </a:xfrm>
          <a:custGeom>
            <a:avLst/>
            <a:gdLst/>
            <a:ahLst/>
            <a:cxnLst/>
            <a:rect l="l" t="t" r="r" b="b"/>
            <a:pathLst>
              <a:path w="9474200" h="1368425">
                <a:moveTo>
                  <a:pt x="9474200" y="0"/>
                </a:moveTo>
                <a:lnTo>
                  <a:pt x="0" y="0"/>
                </a:lnTo>
                <a:lnTo>
                  <a:pt x="0" y="1368425"/>
                </a:lnTo>
                <a:lnTo>
                  <a:pt x="9474200" y="1368425"/>
                </a:lnTo>
                <a:lnTo>
                  <a:pt x="9474200" y="0"/>
                </a:lnTo>
                <a:close/>
              </a:path>
            </a:pathLst>
          </a:custGeom>
          <a:solidFill>
            <a:srgbClr val="F4E8B4"/>
          </a:solidFill>
        </p:spPr>
        <p:txBody>
          <a:bodyPr wrap="square" lIns="0" tIns="0" rIns="0" bIns="0" rtlCol="0"/>
          <a:lstStyle/>
          <a:p/>
        </p:txBody>
      </p:sp>
      <p:graphicFrame>
        <p:nvGraphicFramePr>
          <p:cNvPr id="5" name="object 5" descr=""/>
          <p:cNvGraphicFramePr>
            <a:graphicFrameLocks noGrp="1"/>
          </p:cNvGraphicFramePr>
          <p:nvPr/>
        </p:nvGraphicFramePr>
        <p:xfrm>
          <a:off x="1330146" y="1178158"/>
          <a:ext cx="9361805" cy="546735"/>
        </p:xfrm>
        <a:graphic>
          <a:graphicData uri="http://schemas.openxmlformats.org/drawingml/2006/table">
            <a:tbl>
              <a:tblPr firstRow="1" bandRow="1">
                <a:tableStyleId>{2D5ABB26-0587-4C30-8999-92F81FD0307C}</a:tableStyleId>
              </a:tblPr>
              <a:tblGrid>
                <a:gridCol w="1869439"/>
                <a:gridCol w="1383030"/>
                <a:gridCol w="1383029"/>
                <a:gridCol w="4632325"/>
              </a:tblGrid>
              <a:tr h="546735">
                <a:tc>
                  <a:txBody>
                    <a:bodyPr/>
                    <a:lstStyle/>
                    <a:p>
                      <a:pPr marL="516890">
                        <a:lnSpc>
                          <a:spcPct val="100000"/>
                        </a:lnSpc>
                        <a:spcBef>
                          <a:spcPts val="1075"/>
                        </a:spcBef>
                      </a:pPr>
                      <a:r>
                        <a:rPr dirty="0" sz="1800" spc="515">
                          <a:latin typeface="宋体"/>
                          <a:cs typeface="宋体"/>
                        </a:rPr>
                        <a:t>操作码</a:t>
                      </a:r>
                      <a:endParaRPr sz="1800">
                        <a:latin typeface="宋体"/>
                        <a:cs typeface="宋体"/>
                      </a:endParaRPr>
                    </a:p>
                  </a:txBody>
                  <a:tcPr marL="0" marR="0" marB="0" marT="136525">
                    <a:lnL w="19050">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F4E8B4"/>
                    </a:solidFill>
                  </a:tcPr>
                </a:tc>
                <a:tc>
                  <a:txBody>
                    <a:bodyPr/>
                    <a:lstStyle/>
                    <a:p>
                      <a:pPr algn="ctr" marL="75565">
                        <a:lnSpc>
                          <a:spcPct val="100000"/>
                        </a:lnSpc>
                        <a:spcBef>
                          <a:spcPts val="515"/>
                        </a:spcBef>
                      </a:pPr>
                      <a:r>
                        <a:rPr dirty="0" sz="2100" spc="229" b="1">
                          <a:latin typeface="Times New Roman"/>
                          <a:cs typeface="Times New Roman"/>
                        </a:rPr>
                        <a:t>rs</a:t>
                      </a:r>
                      <a:endParaRPr sz="2100">
                        <a:latin typeface="Times New Roman"/>
                        <a:cs typeface="Times New Roman"/>
                      </a:endParaRPr>
                    </a:p>
                  </a:txBody>
                  <a:tcPr marL="0" marR="0" marB="0" marT="65405">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F4E8B4"/>
                    </a:solidFill>
                  </a:tcPr>
                </a:tc>
                <a:tc>
                  <a:txBody>
                    <a:bodyPr/>
                    <a:lstStyle/>
                    <a:p>
                      <a:pPr algn="ctr" marR="77470">
                        <a:lnSpc>
                          <a:spcPct val="100000"/>
                        </a:lnSpc>
                        <a:spcBef>
                          <a:spcPts val="610"/>
                        </a:spcBef>
                      </a:pPr>
                      <a:r>
                        <a:rPr dirty="0" sz="2100" spc="210" b="1">
                          <a:latin typeface="Times New Roman"/>
                          <a:cs typeface="Times New Roman"/>
                        </a:rPr>
                        <a:t>rt</a:t>
                      </a:r>
                      <a:endParaRPr sz="2100">
                        <a:latin typeface="Times New Roman"/>
                        <a:cs typeface="Times New Roman"/>
                      </a:endParaRPr>
                    </a:p>
                  </a:txBody>
                  <a:tcPr marL="0" marR="0" marB="0" marT="77470">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F4E8B4"/>
                    </a:solidFill>
                  </a:tcPr>
                </a:tc>
                <a:tc>
                  <a:txBody>
                    <a:bodyPr/>
                    <a:lstStyle/>
                    <a:p>
                      <a:pPr marL="1205865">
                        <a:lnSpc>
                          <a:spcPct val="100000"/>
                        </a:lnSpc>
                        <a:spcBef>
                          <a:spcPts val="1075"/>
                        </a:spcBef>
                      </a:pPr>
                      <a:r>
                        <a:rPr dirty="0" sz="1800" spc="525">
                          <a:latin typeface="宋体"/>
                          <a:cs typeface="宋体"/>
                        </a:rPr>
                        <a:t>立即数</a:t>
                      </a:r>
                      <a:r>
                        <a:rPr dirty="0" sz="1800" spc="290">
                          <a:latin typeface="宋体"/>
                          <a:cs typeface="宋体"/>
                        </a:rPr>
                        <a:t>（</a:t>
                      </a:r>
                      <a:r>
                        <a:rPr dirty="0" sz="1800" spc="290" b="1">
                          <a:latin typeface="Times New Roman"/>
                          <a:cs typeface="Times New Roman"/>
                        </a:rPr>
                        <a:t>immediate</a:t>
                      </a:r>
                      <a:r>
                        <a:rPr dirty="0" sz="1800" spc="290">
                          <a:latin typeface="宋体"/>
                          <a:cs typeface="宋体"/>
                        </a:rPr>
                        <a:t>）</a:t>
                      </a:r>
                      <a:endParaRPr sz="1800">
                        <a:latin typeface="宋体"/>
                        <a:cs typeface="宋体"/>
                      </a:endParaRPr>
                    </a:p>
                  </a:txBody>
                  <a:tcPr marL="0" marR="0" marB="0" marT="136525">
                    <a:lnL w="2857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4E8B4"/>
                    </a:solidFill>
                  </a:tcPr>
                </a:tc>
              </a:tr>
            </a:tbl>
          </a:graphicData>
        </a:graphic>
      </p:graphicFrame>
      <p:sp>
        <p:nvSpPr>
          <p:cNvPr id="6" name="object 6" descr=""/>
          <p:cNvSpPr txBox="1"/>
          <p:nvPr/>
        </p:nvSpPr>
        <p:spPr>
          <a:xfrm>
            <a:off x="2187507" y="849959"/>
            <a:ext cx="6137275" cy="299085"/>
          </a:xfrm>
          <a:prstGeom prst="rect">
            <a:avLst/>
          </a:prstGeom>
        </p:spPr>
        <p:txBody>
          <a:bodyPr wrap="square" lIns="0" tIns="11430" rIns="0" bIns="0" rtlCol="0" vert="horz">
            <a:spAutoFit/>
          </a:bodyPr>
          <a:lstStyle/>
          <a:p>
            <a:pPr marL="12700">
              <a:lnSpc>
                <a:spcPct val="100000"/>
              </a:lnSpc>
              <a:spcBef>
                <a:spcPts val="90"/>
              </a:spcBef>
              <a:tabLst>
                <a:tab pos="1672589" algn="l"/>
                <a:tab pos="2917190" algn="l"/>
                <a:tab pos="5822950" algn="l"/>
              </a:tabLst>
            </a:pPr>
            <a:r>
              <a:rPr dirty="0" sz="1800" spc="220" b="1">
                <a:latin typeface="Times New Roman"/>
                <a:cs typeface="Times New Roman"/>
              </a:rPr>
              <a:t>6</a:t>
            </a:r>
            <a:r>
              <a:rPr dirty="0" sz="1800" b="1">
                <a:latin typeface="Times New Roman"/>
                <a:cs typeface="Times New Roman"/>
              </a:rPr>
              <a:t>	</a:t>
            </a:r>
            <a:r>
              <a:rPr dirty="0" sz="1800" spc="220" b="1">
                <a:latin typeface="Times New Roman"/>
                <a:cs typeface="Times New Roman"/>
              </a:rPr>
              <a:t>5</a:t>
            </a:r>
            <a:r>
              <a:rPr dirty="0" sz="1800" b="1">
                <a:latin typeface="Times New Roman"/>
                <a:cs typeface="Times New Roman"/>
              </a:rPr>
              <a:t>	</a:t>
            </a:r>
            <a:r>
              <a:rPr dirty="0" sz="1800" spc="220" b="1">
                <a:latin typeface="Times New Roman"/>
                <a:cs typeface="Times New Roman"/>
              </a:rPr>
              <a:t>5</a:t>
            </a:r>
            <a:r>
              <a:rPr dirty="0" sz="1800" b="1">
                <a:latin typeface="Times New Roman"/>
                <a:cs typeface="Times New Roman"/>
              </a:rPr>
              <a:t>	</a:t>
            </a:r>
            <a:r>
              <a:rPr dirty="0" sz="1800" spc="250" b="1">
                <a:latin typeface="Times New Roman"/>
                <a:cs typeface="Times New Roman"/>
              </a:rPr>
              <a:t>16</a:t>
            </a:r>
            <a:endParaRPr sz="1800">
              <a:latin typeface="Times New Roman"/>
              <a:cs typeface="Times New Roman"/>
            </a:endParaRPr>
          </a:p>
        </p:txBody>
      </p:sp>
      <p:sp>
        <p:nvSpPr>
          <p:cNvPr id="7" name="object 7" descr=""/>
          <p:cNvSpPr txBox="1"/>
          <p:nvPr/>
        </p:nvSpPr>
        <p:spPr>
          <a:xfrm>
            <a:off x="1358148" y="1732611"/>
            <a:ext cx="175260" cy="299085"/>
          </a:xfrm>
          <a:prstGeom prst="rect">
            <a:avLst/>
          </a:prstGeom>
        </p:spPr>
        <p:txBody>
          <a:bodyPr wrap="square" lIns="0" tIns="11430" rIns="0" bIns="0" rtlCol="0" vert="horz">
            <a:spAutoFit/>
          </a:bodyPr>
          <a:lstStyle/>
          <a:p>
            <a:pPr marL="12700">
              <a:lnSpc>
                <a:spcPct val="100000"/>
              </a:lnSpc>
              <a:spcBef>
                <a:spcPts val="90"/>
              </a:spcBef>
            </a:pPr>
            <a:r>
              <a:rPr dirty="0" sz="1800" spc="220" b="1">
                <a:latin typeface="Times New Roman"/>
                <a:cs typeface="Times New Roman"/>
              </a:rPr>
              <a:t>0</a:t>
            </a:r>
            <a:endParaRPr sz="1800">
              <a:latin typeface="Times New Roman"/>
              <a:cs typeface="Times New Roman"/>
            </a:endParaRPr>
          </a:p>
        </p:txBody>
      </p:sp>
      <p:sp>
        <p:nvSpPr>
          <p:cNvPr id="8" name="object 8" descr=""/>
          <p:cNvSpPr txBox="1"/>
          <p:nvPr/>
        </p:nvSpPr>
        <p:spPr>
          <a:xfrm>
            <a:off x="2879428" y="1735692"/>
            <a:ext cx="589915" cy="299085"/>
          </a:xfrm>
          <a:prstGeom prst="rect">
            <a:avLst/>
          </a:prstGeom>
        </p:spPr>
        <p:txBody>
          <a:bodyPr wrap="square" lIns="0" tIns="11430" rIns="0" bIns="0" rtlCol="0" vert="horz">
            <a:spAutoFit/>
          </a:bodyPr>
          <a:lstStyle/>
          <a:p>
            <a:pPr marL="12700">
              <a:lnSpc>
                <a:spcPct val="100000"/>
              </a:lnSpc>
              <a:spcBef>
                <a:spcPts val="90"/>
              </a:spcBef>
              <a:tabLst>
                <a:tab pos="426720" algn="l"/>
              </a:tabLst>
            </a:pPr>
            <a:r>
              <a:rPr dirty="0" sz="1800" spc="220" b="1">
                <a:latin typeface="Times New Roman"/>
                <a:cs typeface="Times New Roman"/>
              </a:rPr>
              <a:t>5</a:t>
            </a:r>
            <a:r>
              <a:rPr dirty="0" sz="1800" b="1">
                <a:latin typeface="Times New Roman"/>
                <a:cs typeface="Times New Roman"/>
              </a:rPr>
              <a:t>	</a:t>
            </a:r>
            <a:r>
              <a:rPr dirty="0" sz="1800" spc="220" b="1">
                <a:latin typeface="Times New Roman"/>
                <a:cs typeface="Times New Roman"/>
              </a:rPr>
              <a:t>6</a:t>
            </a:r>
            <a:endParaRPr sz="1800">
              <a:latin typeface="Times New Roman"/>
              <a:cs typeface="Times New Roman"/>
            </a:endParaRPr>
          </a:p>
        </p:txBody>
      </p:sp>
      <p:sp>
        <p:nvSpPr>
          <p:cNvPr id="9" name="object 9" descr=""/>
          <p:cNvSpPr txBox="1"/>
          <p:nvPr/>
        </p:nvSpPr>
        <p:spPr>
          <a:xfrm>
            <a:off x="4195814" y="1735692"/>
            <a:ext cx="829944" cy="299085"/>
          </a:xfrm>
          <a:prstGeom prst="rect">
            <a:avLst/>
          </a:prstGeom>
        </p:spPr>
        <p:txBody>
          <a:bodyPr wrap="square" lIns="0" tIns="11430" rIns="0" bIns="0" rtlCol="0" vert="horz">
            <a:spAutoFit/>
          </a:bodyPr>
          <a:lstStyle/>
          <a:p>
            <a:pPr marL="12700">
              <a:lnSpc>
                <a:spcPct val="100000"/>
              </a:lnSpc>
              <a:spcBef>
                <a:spcPts val="90"/>
              </a:spcBef>
              <a:tabLst>
                <a:tab pos="545465" algn="l"/>
              </a:tabLst>
            </a:pPr>
            <a:r>
              <a:rPr dirty="0" sz="1800" spc="245" b="1">
                <a:latin typeface="Times New Roman"/>
                <a:cs typeface="Times New Roman"/>
              </a:rPr>
              <a:t>10</a:t>
            </a:r>
            <a:r>
              <a:rPr dirty="0" sz="1800" b="1">
                <a:latin typeface="Times New Roman"/>
                <a:cs typeface="Times New Roman"/>
              </a:rPr>
              <a:t>	</a:t>
            </a:r>
            <a:r>
              <a:rPr dirty="0" sz="1800" spc="120" b="1">
                <a:latin typeface="Times New Roman"/>
                <a:cs typeface="Times New Roman"/>
              </a:rPr>
              <a:t>11</a:t>
            </a:r>
            <a:endParaRPr sz="1800">
              <a:latin typeface="Times New Roman"/>
              <a:cs typeface="Times New Roman"/>
            </a:endParaRPr>
          </a:p>
        </p:txBody>
      </p:sp>
      <p:sp>
        <p:nvSpPr>
          <p:cNvPr id="10" name="object 10" descr=""/>
          <p:cNvSpPr txBox="1"/>
          <p:nvPr/>
        </p:nvSpPr>
        <p:spPr>
          <a:xfrm>
            <a:off x="10211017" y="1735692"/>
            <a:ext cx="326390" cy="299085"/>
          </a:xfrm>
          <a:prstGeom prst="rect">
            <a:avLst/>
          </a:prstGeom>
        </p:spPr>
        <p:txBody>
          <a:bodyPr wrap="square" lIns="0" tIns="11430" rIns="0" bIns="0" rtlCol="0" vert="horz">
            <a:spAutoFit/>
          </a:bodyPr>
          <a:lstStyle/>
          <a:p>
            <a:pPr marL="12700">
              <a:lnSpc>
                <a:spcPct val="100000"/>
              </a:lnSpc>
              <a:spcBef>
                <a:spcPts val="90"/>
              </a:spcBef>
            </a:pPr>
            <a:r>
              <a:rPr dirty="0" sz="1800" spc="250" b="1">
                <a:latin typeface="Times New Roman"/>
                <a:cs typeface="Times New Roman"/>
              </a:rPr>
              <a:t>31</a:t>
            </a:r>
            <a:endParaRPr sz="1800">
              <a:latin typeface="Times New Roman"/>
              <a:cs typeface="Times New Roman"/>
            </a:endParaRPr>
          </a:p>
        </p:txBody>
      </p:sp>
      <p:sp>
        <p:nvSpPr>
          <p:cNvPr id="11" name="object 11" descr=""/>
          <p:cNvSpPr txBox="1"/>
          <p:nvPr/>
        </p:nvSpPr>
        <p:spPr>
          <a:xfrm>
            <a:off x="5578736" y="1735692"/>
            <a:ext cx="3141980" cy="1001394"/>
          </a:xfrm>
          <a:prstGeom prst="rect">
            <a:avLst/>
          </a:prstGeom>
        </p:spPr>
        <p:txBody>
          <a:bodyPr wrap="square" lIns="0" tIns="11430" rIns="0" bIns="0" rtlCol="0" vert="horz">
            <a:spAutoFit/>
          </a:bodyPr>
          <a:lstStyle/>
          <a:p>
            <a:pPr marL="12700">
              <a:lnSpc>
                <a:spcPct val="100000"/>
              </a:lnSpc>
              <a:spcBef>
                <a:spcPts val="90"/>
              </a:spcBef>
              <a:tabLst>
                <a:tab pos="494665" algn="l"/>
              </a:tabLst>
            </a:pPr>
            <a:r>
              <a:rPr dirty="0" sz="1800" spc="245" b="1">
                <a:latin typeface="Times New Roman"/>
                <a:cs typeface="Times New Roman"/>
              </a:rPr>
              <a:t>15</a:t>
            </a:r>
            <a:r>
              <a:rPr dirty="0" sz="1800" b="1">
                <a:latin typeface="Times New Roman"/>
                <a:cs typeface="Times New Roman"/>
              </a:rPr>
              <a:t>	</a:t>
            </a:r>
            <a:r>
              <a:rPr dirty="0" sz="1800" spc="250" b="1">
                <a:latin typeface="Times New Roman"/>
                <a:cs typeface="Times New Roman"/>
              </a:rPr>
              <a:t>16</a:t>
            </a:r>
            <a:endParaRPr sz="1800">
              <a:latin typeface="Times New Roman"/>
              <a:cs typeface="Times New Roman"/>
            </a:endParaRPr>
          </a:p>
          <a:p>
            <a:pPr>
              <a:lnSpc>
                <a:spcPct val="100000"/>
              </a:lnSpc>
              <a:spcBef>
                <a:spcPts val="340"/>
              </a:spcBef>
            </a:pPr>
            <a:endParaRPr sz="1800">
              <a:latin typeface="Times New Roman"/>
              <a:cs typeface="Times New Roman"/>
            </a:endParaRPr>
          </a:p>
          <a:p>
            <a:pPr marL="608965">
              <a:lnSpc>
                <a:spcPct val="100000"/>
              </a:lnSpc>
            </a:pPr>
            <a:r>
              <a:rPr dirty="0" sz="2600" spc="25">
                <a:solidFill>
                  <a:srgbClr val="40458B"/>
                </a:solidFill>
                <a:latin typeface="黑体"/>
                <a:cs typeface="黑体"/>
              </a:rPr>
              <a:t>分支地址计算 ：</a:t>
            </a:r>
            <a:endParaRPr sz="2600">
              <a:latin typeface="黑体"/>
              <a:cs typeface="黑体"/>
            </a:endParaRPr>
          </a:p>
        </p:txBody>
      </p:sp>
      <p:sp>
        <p:nvSpPr>
          <p:cNvPr id="12" name="object 12" descr=""/>
          <p:cNvSpPr txBox="1"/>
          <p:nvPr/>
        </p:nvSpPr>
        <p:spPr>
          <a:xfrm>
            <a:off x="228091" y="2554605"/>
            <a:ext cx="2305050" cy="422275"/>
          </a:xfrm>
          <a:prstGeom prst="rect">
            <a:avLst/>
          </a:prstGeom>
        </p:spPr>
        <p:txBody>
          <a:bodyPr wrap="square" lIns="0" tIns="13335" rIns="0" bIns="0" rtlCol="0" vert="horz">
            <a:spAutoFit/>
          </a:bodyPr>
          <a:lstStyle/>
          <a:p>
            <a:pPr marL="12700">
              <a:lnSpc>
                <a:spcPct val="100000"/>
              </a:lnSpc>
              <a:spcBef>
                <a:spcPts val="105"/>
              </a:spcBef>
              <a:tabLst>
                <a:tab pos="757555" algn="l"/>
              </a:tabLst>
            </a:pPr>
            <a:r>
              <a:rPr dirty="0" sz="2600" spc="-25">
                <a:solidFill>
                  <a:srgbClr val="40458B"/>
                </a:solidFill>
                <a:latin typeface="Tahoma"/>
                <a:cs typeface="Tahoma"/>
              </a:rPr>
              <a:t>beq</a:t>
            </a:r>
            <a:r>
              <a:rPr dirty="0" sz="2600">
                <a:solidFill>
                  <a:srgbClr val="40458B"/>
                </a:solidFill>
                <a:latin typeface="Tahoma"/>
                <a:cs typeface="Tahoma"/>
              </a:rPr>
              <a:t>	rs,</a:t>
            </a:r>
            <a:r>
              <a:rPr dirty="0" sz="2600" spc="-15">
                <a:solidFill>
                  <a:srgbClr val="40458B"/>
                </a:solidFill>
                <a:latin typeface="Tahoma"/>
                <a:cs typeface="Tahoma"/>
              </a:rPr>
              <a:t> </a:t>
            </a:r>
            <a:r>
              <a:rPr dirty="0" sz="2600">
                <a:solidFill>
                  <a:srgbClr val="40458B"/>
                </a:solidFill>
                <a:latin typeface="Tahoma"/>
                <a:cs typeface="Tahoma"/>
              </a:rPr>
              <a:t>rt,</a:t>
            </a:r>
            <a:r>
              <a:rPr dirty="0" sz="2600" spc="-25">
                <a:solidFill>
                  <a:srgbClr val="40458B"/>
                </a:solidFill>
                <a:latin typeface="Tahoma"/>
                <a:cs typeface="Tahoma"/>
              </a:rPr>
              <a:t> imm</a:t>
            </a:r>
            <a:endParaRPr sz="2600">
              <a:latin typeface="Tahoma"/>
              <a:cs typeface="Tahoma"/>
            </a:endParaRPr>
          </a:p>
        </p:txBody>
      </p:sp>
      <p:sp>
        <p:nvSpPr>
          <p:cNvPr id="13" name="object 13" descr=""/>
          <p:cNvSpPr txBox="1"/>
          <p:nvPr/>
        </p:nvSpPr>
        <p:spPr>
          <a:xfrm>
            <a:off x="162864" y="3235299"/>
            <a:ext cx="3817620" cy="1809114"/>
          </a:xfrm>
          <a:prstGeom prst="rect">
            <a:avLst/>
          </a:prstGeom>
        </p:spPr>
        <p:txBody>
          <a:bodyPr wrap="square" lIns="0" tIns="210820" rIns="0" bIns="0" rtlCol="0" vert="horz">
            <a:spAutoFit/>
          </a:bodyPr>
          <a:lstStyle/>
          <a:p>
            <a:pPr marL="12700">
              <a:lnSpc>
                <a:spcPct val="100000"/>
              </a:lnSpc>
              <a:spcBef>
                <a:spcPts val="1660"/>
              </a:spcBef>
            </a:pPr>
            <a:r>
              <a:rPr dirty="0" sz="2600" spc="-130">
                <a:solidFill>
                  <a:srgbClr val="40458B"/>
                </a:solidFill>
                <a:latin typeface="黑体"/>
                <a:cs typeface="黑体"/>
              </a:rPr>
              <a:t>过程： </a:t>
            </a:r>
            <a:r>
              <a:rPr dirty="0" sz="2600">
                <a:solidFill>
                  <a:srgbClr val="FF0000"/>
                </a:solidFill>
                <a:latin typeface="Tahoma"/>
                <a:cs typeface="Tahoma"/>
              </a:rPr>
              <a:t>if</a:t>
            </a:r>
            <a:r>
              <a:rPr dirty="0" sz="2600" spc="5">
                <a:solidFill>
                  <a:srgbClr val="FF0000"/>
                </a:solidFill>
                <a:latin typeface="Tahoma"/>
                <a:cs typeface="Tahoma"/>
              </a:rPr>
              <a:t> </a:t>
            </a:r>
            <a:r>
              <a:rPr dirty="0" sz="2600" spc="-10">
                <a:solidFill>
                  <a:srgbClr val="FF0000"/>
                </a:solidFill>
                <a:latin typeface="黑体"/>
                <a:cs typeface="黑体"/>
              </a:rPr>
              <a:t>（</a:t>
            </a:r>
            <a:r>
              <a:rPr dirty="0" sz="2600" spc="-10">
                <a:solidFill>
                  <a:srgbClr val="FF0000"/>
                </a:solidFill>
                <a:latin typeface="Tahoma"/>
                <a:cs typeface="Tahoma"/>
              </a:rPr>
              <a:t>rs==rt</a:t>
            </a:r>
            <a:r>
              <a:rPr dirty="0" sz="2600" spc="-10">
                <a:solidFill>
                  <a:srgbClr val="FF0000"/>
                </a:solidFill>
                <a:latin typeface="黑体"/>
                <a:cs typeface="黑体"/>
              </a:rPr>
              <a:t>）</a:t>
            </a:r>
            <a:endParaRPr sz="2600">
              <a:latin typeface="黑体"/>
              <a:cs typeface="黑体"/>
            </a:endParaRPr>
          </a:p>
          <a:p>
            <a:pPr marL="1766570">
              <a:lnSpc>
                <a:spcPct val="100000"/>
              </a:lnSpc>
              <a:spcBef>
                <a:spcPts val="1560"/>
              </a:spcBef>
            </a:pPr>
            <a:r>
              <a:rPr dirty="0" sz="2600" spc="-20">
                <a:solidFill>
                  <a:srgbClr val="282C58"/>
                </a:solidFill>
                <a:latin typeface="Tahoma"/>
                <a:cs typeface="Tahoma"/>
              </a:rPr>
              <a:t>PC←</a:t>
            </a:r>
            <a:r>
              <a:rPr dirty="0" sz="2600" spc="-15">
                <a:solidFill>
                  <a:srgbClr val="282C58"/>
                </a:solidFill>
                <a:latin typeface="黑体"/>
                <a:cs typeface="黑体"/>
              </a:rPr>
              <a:t>分支地址</a:t>
            </a:r>
            <a:endParaRPr sz="2600">
              <a:latin typeface="黑体"/>
              <a:cs typeface="黑体"/>
            </a:endParaRPr>
          </a:p>
          <a:p>
            <a:pPr marL="1148080">
              <a:lnSpc>
                <a:spcPct val="100000"/>
              </a:lnSpc>
              <a:spcBef>
                <a:spcPts val="1560"/>
              </a:spcBef>
            </a:pPr>
            <a:r>
              <a:rPr dirty="0" sz="2600" spc="-20">
                <a:solidFill>
                  <a:srgbClr val="282C58"/>
                </a:solidFill>
                <a:latin typeface="Tahoma"/>
                <a:cs typeface="Tahoma"/>
              </a:rPr>
              <a:t>else</a:t>
            </a:r>
            <a:endParaRPr sz="2600">
              <a:latin typeface="Tahoma"/>
              <a:cs typeface="Tahoma"/>
            </a:endParaRPr>
          </a:p>
        </p:txBody>
      </p:sp>
      <p:sp>
        <p:nvSpPr>
          <p:cNvPr id="14" name="object 14" descr=""/>
          <p:cNvSpPr txBox="1"/>
          <p:nvPr/>
        </p:nvSpPr>
        <p:spPr>
          <a:xfrm>
            <a:off x="1813686" y="5216144"/>
            <a:ext cx="4515485" cy="422275"/>
          </a:xfrm>
          <a:prstGeom prst="rect">
            <a:avLst/>
          </a:prstGeom>
        </p:spPr>
        <p:txBody>
          <a:bodyPr wrap="square" lIns="0" tIns="12700" rIns="0" bIns="0" rtlCol="0" vert="horz">
            <a:spAutoFit/>
          </a:bodyPr>
          <a:lstStyle/>
          <a:p>
            <a:pPr marL="12700">
              <a:lnSpc>
                <a:spcPct val="100000"/>
              </a:lnSpc>
              <a:spcBef>
                <a:spcPts val="100"/>
              </a:spcBef>
            </a:pPr>
            <a:r>
              <a:rPr dirty="0" sz="2600" spc="-20">
                <a:solidFill>
                  <a:srgbClr val="282C58"/>
                </a:solidFill>
                <a:latin typeface="Tahoma"/>
                <a:cs typeface="Tahoma"/>
              </a:rPr>
              <a:t>PC←</a:t>
            </a:r>
            <a:r>
              <a:rPr dirty="0" sz="2600" spc="-5">
                <a:solidFill>
                  <a:srgbClr val="282C58"/>
                </a:solidFill>
                <a:latin typeface="黑体"/>
                <a:cs typeface="黑体"/>
              </a:rPr>
              <a:t>下一条指令地址</a:t>
            </a:r>
            <a:r>
              <a:rPr dirty="0" sz="2600" spc="-10">
                <a:solidFill>
                  <a:srgbClr val="282C58"/>
                </a:solidFill>
                <a:latin typeface="黑体"/>
                <a:cs typeface="黑体"/>
              </a:rPr>
              <a:t>（</a:t>
            </a:r>
            <a:r>
              <a:rPr dirty="0" sz="2600" spc="-10">
                <a:solidFill>
                  <a:srgbClr val="282C58"/>
                </a:solidFill>
                <a:latin typeface="Tahoma"/>
                <a:cs typeface="Tahoma"/>
              </a:rPr>
              <a:t>PC+4</a:t>
            </a:r>
            <a:r>
              <a:rPr dirty="0" sz="2600" spc="-10">
                <a:solidFill>
                  <a:srgbClr val="282C58"/>
                </a:solidFill>
                <a:latin typeface="黑体"/>
                <a:cs typeface="黑体"/>
              </a:rPr>
              <a:t>）</a:t>
            </a:r>
            <a:endParaRPr sz="2600">
              <a:latin typeface="黑体"/>
              <a:cs typeface="黑体"/>
            </a:endParaRPr>
          </a:p>
        </p:txBody>
      </p:sp>
      <p:sp>
        <p:nvSpPr>
          <p:cNvPr id="15" name="object 15" descr=""/>
          <p:cNvSpPr txBox="1"/>
          <p:nvPr/>
        </p:nvSpPr>
        <p:spPr>
          <a:xfrm>
            <a:off x="6253860" y="2909443"/>
            <a:ext cx="6023610" cy="422275"/>
          </a:xfrm>
          <a:prstGeom prst="rect">
            <a:avLst/>
          </a:prstGeom>
        </p:spPr>
        <p:txBody>
          <a:bodyPr wrap="square" lIns="0" tIns="13335" rIns="0" bIns="0" rtlCol="0" vert="horz">
            <a:spAutoFit/>
          </a:bodyPr>
          <a:lstStyle/>
          <a:p>
            <a:pPr marL="38100">
              <a:lnSpc>
                <a:spcPct val="100000"/>
              </a:lnSpc>
              <a:spcBef>
                <a:spcPts val="105"/>
              </a:spcBef>
            </a:pPr>
            <a:r>
              <a:rPr dirty="0" sz="2600" spc="-5">
                <a:solidFill>
                  <a:srgbClr val="FF0000"/>
                </a:solidFill>
                <a:latin typeface="黑体"/>
                <a:cs typeface="黑体"/>
              </a:rPr>
              <a:t>分支地址</a:t>
            </a:r>
            <a:r>
              <a:rPr dirty="0" sz="2600">
                <a:solidFill>
                  <a:srgbClr val="FF0000"/>
                </a:solidFill>
                <a:latin typeface="Tahoma"/>
                <a:cs typeface="Tahoma"/>
              </a:rPr>
              <a:t>=PC+4+</a:t>
            </a:r>
            <a:r>
              <a:rPr dirty="0" sz="2600" spc="-20">
                <a:solidFill>
                  <a:srgbClr val="FF0000"/>
                </a:solidFill>
                <a:latin typeface="Tahoma"/>
                <a:cs typeface="Tahoma"/>
              </a:rPr>
              <a:t> </a:t>
            </a:r>
            <a:r>
              <a:rPr dirty="0" sz="2600">
                <a:solidFill>
                  <a:srgbClr val="FF0000"/>
                </a:solidFill>
                <a:latin typeface="Tahoma"/>
                <a:cs typeface="Tahoma"/>
              </a:rPr>
              <a:t>SF</a:t>
            </a:r>
            <a:r>
              <a:rPr dirty="0" baseline="26143" sz="2550">
                <a:solidFill>
                  <a:srgbClr val="FF0000"/>
                </a:solidFill>
                <a:latin typeface="Tahoma"/>
                <a:cs typeface="Tahoma"/>
              </a:rPr>
              <a:t>46</a:t>
            </a:r>
            <a:r>
              <a:rPr dirty="0" sz="2600">
                <a:solidFill>
                  <a:srgbClr val="FF0000"/>
                </a:solidFill>
                <a:latin typeface="Tahoma"/>
                <a:cs typeface="Tahoma"/>
              </a:rPr>
              <a:t>##</a:t>
            </a:r>
            <a:r>
              <a:rPr dirty="0" sz="2600" spc="-5">
                <a:solidFill>
                  <a:srgbClr val="FF0000"/>
                </a:solidFill>
                <a:latin typeface="黑体"/>
                <a:cs typeface="黑体"/>
              </a:rPr>
              <a:t>偏移量左移</a:t>
            </a:r>
            <a:r>
              <a:rPr dirty="0" sz="2600" spc="-30">
                <a:solidFill>
                  <a:srgbClr val="FF0000"/>
                </a:solidFill>
                <a:latin typeface="Tahoma"/>
                <a:cs typeface="Tahoma"/>
              </a:rPr>
              <a:t>2</a:t>
            </a:r>
            <a:r>
              <a:rPr dirty="0" sz="2600" spc="-50">
                <a:solidFill>
                  <a:srgbClr val="FF0000"/>
                </a:solidFill>
                <a:latin typeface="黑体"/>
                <a:cs typeface="黑体"/>
              </a:rPr>
              <a:t>位</a:t>
            </a:r>
            <a:endParaRPr sz="2600">
              <a:latin typeface="黑体"/>
              <a:cs typeface="黑体"/>
            </a:endParaRPr>
          </a:p>
        </p:txBody>
      </p:sp>
      <p:sp>
        <p:nvSpPr>
          <p:cNvPr id="16" name="object 16" descr=""/>
          <p:cNvSpPr txBox="1"/>
          <p:nvPr/>
        </p:nvSpPr>
        <p:spPr>
          <a:xfrm>
            <a:off x="6175628" y="3900906"/>
            <a:ext cx="3564890" cy="1214120"/>
          </a:xfrm>
          <a:prstGeom prst="rect">
            <a:avLst/>
          </a:prstGeom>
        </p:spPr>
        <p:txBody>
          <a:bodyPr wrap="square" lIns="0" tIns="210820" rIns="0" bIns="0" rtlCol="0" vert="horz">
            <a:spAutoFit/>
          </a:bodyPr>
          <a:lstStyle/>
          <a:p>
            <a:pPr marL="12700">
              <a:lnSpc>
                <a:spcPct val="100000"/>
              </a:lnSpc>
              <a:spcBef>
                <a:spcPts val="1660"/>
              </a:spcBef>
            </a:pPr>
            <a:r>
              <a:rPr dirty="0" sz="2600" spc="-90">
                <a:solidFill>
                  <a:srgbClr val="FF0000"/>
                </a:solidFill>
                <a:latin typeface="黑体"/>
                <a:cs typeface="黑体"/>
              </a:rPr>
              <a:t>联系程序： </a:t>
            </a:r>
            <a:r>
              <a:rPr dirty="0" sz="2600">
                <a:solidFill>
                  <a:srgbClr val="FF0000"/>
                </a:solidFill>
                <a:latin typeface="Tahoma"/>
                <a:cs typeface="Tahoma"/>
              </a:rPr>
              <a:t>if</a:t>
            </a:r>
            <a:r>
              <a:rPr dirty="0" sz="2600" spc="5">
                <a:solidFill>
                  <a:srgbClr val="FF0000"/>
                </a:solidFill>
                <a:latin typeface="Tahoma"/>
                <a:cs typeface="Tahoma"/>
              </a:rPr>
              <a:t> </a:t>
            </a:r>
            <a:r>
              <a:rPr dirty="0" sz="2600" spc="-10">
                <a:solidFill>
                  <a:srgbClr val="FF0000"/>
                </a:solidFill>
                <a:latin typeface="黑体"/>
                <a:cs typeface="黑体"/>
              </a:rPr>
              <a:t>（</a:t>
            </a:r>
            <a:r>
              <a:rPr dirty="0" sz="2600" spc="-10">
                <a:solidFill>
                  <a:srgbClr val="FF0000"/>
                </a:solidFill>
                <a:latin typeface="Tahoma"/>
                <a:cs typeface="Tahoma"/>
              </a:rPr>
              <a:t>a==b</a:t>
            </a:r>
            <a:r>
              <a:rPr dirty="0" sz="2600" spc="-10">
                <a:solidFill>
                  <a:srgbClr val="FF0000"/>
                </a:solidFill>
                <a:latin typeface="黑体"/>
                <a:cs typeface="黑体"/>
              </a:rPr>
              <a:t>）</a:t>
            </a:r>
            <a:endParaRPr sz="2600">
              <a:latin typeface="黑体"/>
              <a:cs typeface="黑体"/>
            </a:endParaRPr>
          </a:p>
          <a:p>
            <a:pPr marL="1870075">
              <a:lnSpc>
                <a:spcPct val="100000"/>
              </a:lnSpc>
              <a:spcBef>
                <a:spcPts val="1560"/>
              </a:spcBef>
            </a:pPr>
            <a:r>
              <a:rPr dirty="0" sz="2600" spc="-20">
                <a:solidFill>
                  <a:srgbClr val="FF0000"/>
                </a:solidFill>
                <a:latin typeface="黑体"/>
                <a:cs typeface="黑体"/>
              </a:rPr>
              <a:t>。。。</a:t>
            </a:r>
            <a:endParaRPr sz="2600">
              <a:latin typeface="黑体"/>
              <a:cs typeface="黑体"/>
            </a:endParaRPr>
          </a:p>
        </p:txBody>
      </p:sp>
      <p:sp>
        <p:nvSpPr>
          <p:cNvPr id="17" name="object 17" descr=""/>
          <p:cNvSpPr txBox="1"/>
          <p:nvPr/>
        </p:nvSpPr>
        <p:spPr>
          <a:xfrm>
            <a:off x="8033384" y="5088921"/>
            <a:ext cx="1022350" cy="1215390"/>
          </a:xfrm>
          <a:prstGeom prst="rect">
            <a:avLst/>
          </a:prstGeom>
        </p:spPr>
        <p:txBody>
          <a:bodyPr wrap="square" lIns="0" tIns="211455" rIns="0" bIns="0" rtlCol="0" vert="horz">
            <a:spAutoFit/>
          </a:bodyPr>
          <a:lstStyle/>
          <a:p>
            <a:pPr marL="12700">
              <a:lnSpc>
                <a:spcPct val="100000"/>
              </a:lnSpc>
              <a:spcBef>
                <a:spcPts val="1665"/>
              </a:spcBef>
            </a:pPr>
            <a:r>
              <a:rPr dirty="0" sz="2600" spc="-20">
                <a:solidFill>
                  <a:srgbClr val="FF0000"/>
                </a:solidFill>
                <a:latin typeface="Tahoma"/>
                <a:cs typeface="Tahoma"/>
              </a:rPr>
              <a:t>else</a:t>
            </a:r>
            <a:endParaRPr sz="2600">
              <a:latin typeface="Tahoma"/>
              <a:cs typeface="Tahoma"/>
            </a:endParaRPr>
          </a:p>
          <a:p>
            <a:pPr marL="12700">
              <a:lnSpc>
                <a:spcPct val="100000"/>
              </a:lnSpc>
              <a:spcBef>
                <a:spcPts val="1560"/>
              </a:spcBef>
            </a:pPr>
            <a:r>
              <a:rPr dirty="0" sz="2600" spc="-20">
                <a:solidFill>
                  <a:srgbClr val="FF0000"/>
                </a:solidFill>
                <a:latin typeface="黑体"/>
                <a:cs typeface="黑体"/>
              </a:rPr>
              <a:t>。。。</a:t>
            </a:r>
            <a:endParaRPr sz="2600">
              <a:latin typeface="黑体"/>
              <a:cs typeface="黑体"/>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629818" y="442408"/>
            <a:ext cx="11245215" cy="4068445"/>
          </a:xfrm>
          <a:prstGeom prst="rect">
            <a:avLst/>
          </a:prstGeom>
        </p:spPr>
        <p:txBody>
          <a:bodyPr wrap="square" lIns="0" tIns="182880" rIns="0" bIns="0" rtlCol="0" vert="horz">
            <a:spAutoFit/>
          </a:bodyPr>
          <a:lstStyle/>
          <a:p>
            <a:pPr marL="354965" indent="-342265">
              <a:lnSpc>
                <a:spcPct val="100000"/>
              </a:lnSpc>
              <a:spcBef>
                <a:spcPts val="1440"/>
              </a:spcBef>
              <a:buClr>
                <a:srgbClr val="40458B"/>
              </a:buClr>
              <a:buSzPct val="114285"/>
              <a:buFont typeface="Wingdings"/>
              <a:buChar char=""/>
              <a:tabLst>
                <a:tab pos="354965" algn="l"/>
              </a:tabLst>
            </a:pPr>
            <a:r>
              <a:rPr dirty="0" sz="2800" spc="-25">
                <a:solidFill>
                  <a:srgbClr val="172152"/>
                </a:solidFill>
                <a:latin typeface="Tahoma"/>
                <a:cs typeface="Tahoma"/>
              </a:rPr>
              <a:t>R</a:t>
            </a:r>
            <a:r>
              <a:rPr dirty="0" sz="2800" spc="-40">
                <a:solidFill>
                  <a:srgbClr val="172152"/>
                </a:solidFill>
                <a:latin typeface="黑体"/>
                <a:cs typeface="黑体"/>
              </a:rPr>
              <a:t>类指令</a:t>
            </a:r>
            <a:endParaRPr sz="2800">
              <a:latin typeface="黑体"/>
              <a:cs typeface="黑体"/>
            </a:endParaRPr>
          </a:p>
          <a:p>
            <a:pPr lvl="1" marL="695960" indent="-271780">
              <a:lnSpc>
                <a:spcPct val="100000"/>
              </a:lnSpc>
              <a:spcBef>
                <a:spcPts val="1340"/>
              </a:spcBef>
              <a:buSzPct val="88636"/>
              <a:buFont typeface="Wingdings"/>
              <a:buChar char=""/>
              <a:tabLst>
                <a:tab pos="695960" algn="l"/>
              </a:tabLst>
            </a:pPr>
            <a:r>
              <a:rPr dirty="0" sz="2200" spc="-20">
                <a:solidFill>
                  <a:srgbClr val="006FC0"/>
                </a:solidFill>
                <a:latin typeface="黑体"/>
                <a:cs typeface="黑体"/>
              </a:rPr>
              <a:t>包括</a:t>
            </a:r>
            <a:r>
              <a:rPr dirty="0" sz="2200" spc="-20">
                <a:solidFill>
                  <a:srgbClr val="006FC0"/>
                </a:solidFill>
                <a:latin typeface="Tahoma"/>
                <a:cs typeface="Tahoma"/>
              </a:rPr>
              <a:t>ALU</a:t>
            </a:r>
            <a:r>
              <a:rPr dirty="0" sz="2200" spc="-30">
                <a:solidFill>
                  <a:srgbClr val="006FC0"/>
                </a:solidFill>
                <a:latin typeface="黑体"/>
                <a:cs typeface="黑体"/>
              </a:rPr>
              <a:t>指令，专用寄存器读</a:t>
            </a:r>
            <a:r>
              <a:rPr dirty="0" sz="2200" spc="-15">
                <a:solidFill>
                  <a:srgbClr val="006FC0"/>
                </a:solidFill>
                <a:latin typeface="Tahoma"/>
                <a:cs typeface="Tahoma"/>
              </a:rPr>
              <a:t>/</a:t>
            </a:r>
            <a:r>
              <a:rPr dirty="0" sz="2200" spc="-30">
                <a:solidFill>
                  <a:srgbClr val="006FC0"/>
                </a:solidFill>
                <a:latin typeface="黑体"/>
                <a:cs typeface="黑体"/>
              </a:rPr>
              <a:t>写指令，</a:t>
            </a:r>
            <a:r>
              <a:rPr dirty="0" sz="2200" spc="-25">
                <a:solidFill>
                  <a:srgbClr val="006FC0"/>
                </a:solidFill>
                <a:latin typeface="Tahoma"/>
                <a:cs typeface="Tahoma"/>
              </a:rPr>
              <a:t>move</a:t>
            </a:r>
            <a:r>
              <a:rPr dirty="0" sz="2200" spc="-30">
                <a:solidFill>
                  <a:srgbClr val="006FC0"/>
                </a:solidFill>
                <a:latin typeface="黑体"/>
                <a:cs typeface="黑体"/>
              </a:rPr>
              <a:t>指令等。</a:t>
            </a:r>
            <a:endParaRPr sz="2200">
              <a:latin typeface="黑体"/>
              <a:cs typeface="黑体"/>
            </a:endParaRPr>
          </a:p>
          <a:p>
            <a:pPr lvl="1" marL="695960" indent="-271780">
              <a:lnSpc>
                <a:spcPct val="100000"/>
              </a:lnSpc>
              <a:spcBef>
                <a:spcPts val="1320"/>
              </a:spcBef>
              <a:buSzPct val="88636"/>
              <a:buFont typeface="Wingdings"/>
              <a:buChar char=""/>
              <a:tabLst>
                <a:tab pos="695960" algn="l"/>
              </a:tabLst>
            </a:pPr>
            <a:r>
              <a:rPr dirty="0" sz="2200" spc="-10">
                <a:solidFill>
                  <a:srgbClr val="006FC0"/>
                </a:solidFill>
                <a:latin typeface="Tahoma"/>
                <a:cs typeface="Tahoma"/>
              </a:rPr>
              <a:t>rs</a:t>
            </a:r>
            <a:r>
              <a:rPr dirty="0" sz="2200" spc="-20">
                <a:solidFill>
                  <a:srgbClr val="006FC0"/>
                </a:solidFill>
                <a:latin typeface="黑体"/>
                <a:cs typeface="黑体"/>
              </a:rPr>
              <a:t>、</a:t>
            </a:r>
            <a:r>
              <a:rPr dirty="0" sz="2200" spc="-10">
                <a:solidFill>
                  <a:srgbClr val="006FC0"/>
                </a:solidFill>
                <a:latin typeface="Tahoma"/>
                <a:cs typeface="Tahoma"/>
              </a:rPr>
              <a:t>rt</a:t>
            </a:r>
            <a:r>
              <a:rPr dirty="0" sz="2200" spc="-30">
                <a:solidFill>
                  <a:srgbClr val="006FC0"/>
                </a:solidFill>
                <a:latin typeface="黑体"/>
                <a:cs typeface="黑体"/>
              </a:rPr>
              <a:t>分别表示源寄存器</a:t>
            </a:r>
            <a:r>
              <a:rPr dirty="0" sz="2200" spc="-20">
                <a:solidFill>
                  <a:srgbClr val="006FC0"/>
                </a:solidFill>
                <a:latin typeface="Tahoma"/>
                <a:cs typeface="Tahoma"/>
              </a:rPr>
              <a:t>1</a:t>
            </a:r>
            <a:r>
              <a:rPr dirty="0" sz="2200" spc="-30">
                <a:solidFill>
                  <a:srgbClr val="006FC0"/>
                </a:solidFill>
                <a:latin typeface="黑体"/>
                <a:cs typeface="黑体"/>
              </a:rPr>
              <a:t>和</a:t>
            </a:r>
            <a:r>
              <a:rPr dirty="0" sz="2200" spc="-10">
                <a:solidFill>
                  <a:srgbClr val="006FC0"/>
                </a:solidFill>
                <a:latin typeface="Tahoma"/>
                <a:cs typeface="Tahoma"/>
              </a:rPr>
              <a:t>2</a:t>
            </a:r>
            <a:r>
              <a:rPr dirty="0" sz="2200" spc="-10">
                <a:solidFill>
                  <a:srgbClr val="006FC0"/>
                </a:solidFill>
                <a:latin typeface="黑体"/>
                <a:cs typeface="黑体"/>
              </a:rPr>
              <a:t>，</a:t>
            </a:r>
            <a:r>
              <a:rPr dirty="0" sz="2200" spc="-10">
                <a:solidFill>
                  <a:srgbClr val="006FC0"/>
                </a:solidFill>
                <a:latin typeface="Tahoma"/>
                <a:cs typeface="Tahoma"/>
              </a:rPr>
              <a:t>rd</a:t>
            </a:r>
            <a:r>
              <a:rPr dirty="0" sz="2200" spc="-35">
                <a:solidFill>
                  <a:srgbClr val="006FC0"/>
                </a:solidFill>
                <a:latin typeface="黑体"/>
                <a:cs typeface="黑体"/>
              </a:rPr>
              <a:t>表示目标寄存器，</a:t>
            </a:r>
            <a:endParaRPr sz="2200">
              <a:latin typeface="黑体"/>
              <a:cs typeface="黑体"/>
            </a:endParaRPr>
          </a:p>
          <a:p>
            <a:pPr lvl="1" marL="696595" indent="-272415">
              <a:lnSpc>
                <a:spcPct val="100000"/>
              </a:lnSpc>
              <a:spcBef>
                <a:spcPts val="1320"/>
              </a:spcBef>
              <a:buSzPct val="88636"/>
              <a:buFont typeface="Wingdings"/>
              <a:buChar char=""/>
              <a:tabLst>
                <a:tab pos="696595" algn="l"/>
              </a:tabLst>
            </a:pPr>
            <a:r>
              <a:rPr dirty="0" sz="2200" spc="-25">
                <a:solidFill>
                  <a:srgbClr val="006FC0"/>
                </a:solidFill>
                <a:latin typeface="Tahoma"/>
                <a:cs typeface="Tahoma"/>
              </a:rPr>
              <a:t>shamt</a:t>
            </a:r>
            <a:r>
              <a:rPr dirty="0" sz="2200" spc="-35">
                <a:solidFill>
                  <a:srgbClr val="006FC0"/>
                </a:solidFill>
                <a:latin typeface="黑体"/>
                <a:cs typeface="黑体"/>
              </a:rPr>
              <a:t>字段用于移位操作，用于指定移位指令进行移位操作的位数，对于非移位指令，</a:t>
            </a:r>
            <a:endParaRPr sz="2200">
              <a:latin typeface="黑体"/>
              <a:cs typeface="黑体"/>
            </a:endParaRPr>
          </a:p>
          <a:p>
            <a:pPr marL="696595">
              <a:lnSpc>
                <a:spcPct val="100000"/>
              </a:lnSpc>
              <a:spcBef>
                <a:spcPts val="795"/>
              </a:spcBef>
            </a:pPr>
            <a:r>
              <a:rPr dirty="0" sz="2200" spc="-20">
                <a:solidFill>
                  <a:srgbClr val="006FC0"/>
                </a:solidFill>
                <a:latin typeface="黑体"/>
                <a:cs typeface="黑体"/>
              </a:rPr>
              <a:t>该域设为</a:t>
            </a:r>
            <a:r>
              <a:rPr dirty="0" sz="2200" spc="-50">
                <a:solidFill>
                  <a:srgbClr val="006FC0"/>
                </a:solidFill>
                <a:latin typeface="Tahoma"/>
                <a:cs typeface="Tahoma"/>
              </a:rPr>
              <a:t>0</a:t>
            </a:r>
            <a:endParaRPr sz="2200">
              <a:latin typeface="Tahoma"/>
              <a:cs typeface="Tahoma"/>
            </a:endParaRPr>
          </a:p>
          <a:p>
            <a:pPr lvl="1" marL="695960" indent="-271780">
              <a:lnSpc>
                <a:spcPct val="100000"/>
              </a:lnSpc>
              <a:spcBef>
                <a:spcPts val="1320"/>
              </a:spcBef>
              <a:buSzPct val="88636"/>
              <a:buFont typeface="Wingdings"/>
              <a:buChar char=""/>
              <a:tabLst>
                <a:tab pos="695960" algn="l"/>
              </a:tabLst>
            </a:pPr>
            <a:r>
              <a:rPr dirty="0" sz="2200" spc="-20">
                <a:solidFill>
                  <a:srgbClr val="006FC0"/>
                </a:solidFill>
                <a:latin typeface="Tahoma"/>
                <a:cs typeface="Tahoma"/>
              </a:rPr>
              <a:t>ALU</a:t>
            </a:r>
            <a:r>
              <a:rPr dirty="0" sz="2200" spc="-35">
                <a:solidFill>
                  <a:srgbClr val="006FC0"/>
                </a:solidFill>
                <a:latin typeface="黑体"/>
                <a:cs typeface="黑体"/>
              </a:rPr>
              <a:t>指令</a:t>
            </a:r>
            <a:endParaRPr sz="2200">
              <a:latin typeface="黑体"/>
              <a:cs typeface="黑体"/>
            </a:endParaRPr>
          </a:p>
          <a:p>
            <a:pPr lvl="2" marL="1437005" indent="-488950">
              <a:lnSpc>
                <a:spcPct val="100000"/>
              </a:lnSpc>
              <a:spcBef>
                <a:spcPts val="1235"/>
              </a:spcBef>
              <a:buClr>
                <a:srgbClr val="4668F5"/>
              </a:buClr>
              <a:buSzPct val="72500"/>
              <a:buFont typeface="Wingdings"/>
              <a:buChar char=""/>
              <a:tabLst>
                <a:tab pos="1437005" algn="l"/>
              </a:tabLst>
            </a:pPr>
            <a:r>
              <a:rPr dirty="0" sz="2000" b="1">
                <a:solidFill>
                  <a:srgbClr val="6F2F9F"/>
                </a:solidFill>
                <a:latin typeface="黑体"/>
                <a:cs typeface="黑体"/>
              </a:rPr>
              <a:t>Regs[rd]←</a:t>
            </a:r>
            <a:r>
              <a:rPr dirty="0" sz="2000" spc="-30" b="1">
                <a:solidFill>
                  <a:srgbClr val="6F2F9F"/>
                </a:solidFill>
                <a:latin typeface="黑体"/>
                <a:cs typeface="黑体"/>
              </a:rPr>
              <a:t> </a:t>
            </a:r>
            <a:r>
              <a:rPr dirty="0" sz="2000" b="1">
                <a:solidFill>
                  <a:srgbClr val="6F2F9F"/>
                </a:solidFill>
                <a:latin typeface="黑体"/>
                <a:cs typeface="黑体"/>
              </a:rPr>
              <a:t>Regs[rs]</a:t>
            </a:r>
            <a:r>
              <a:rPr dirty="0" sz="2000" spc="-25" b="1">
                <a:solidFill>
                  <a:srgbClr val="6F2F9F"/>
                </a:solidFill>
                <a:latin typeface="黑体"/>
                <a:cs typeface="黑体"/>
              </a:rPr>
              <a:t> </a:t>
            </a:r>
            <a:r>
              <a:rPr dirty="0" sz="2000" b="1">
                <a:solidFill>
                  <a:srgbClr val="6F2F9F"/>
                </a:solidFill>
                <a:latin typeface="黑体"/>
                <a:cs typeface="黑体"/>
              </a:rPr>
              <a:t>funct</a:t>
            </a:r>
            <a:r>
              <a:rPr dirty="0" sz="2000" spc="-30" b="1">
                <a:solidFill>
                  <a:srgbClr val="6F2F9F"/>
                </a:solidFill>
                <a:latin typeface="黑体"/>
                <a:cs typeface="黑体"/>
              </a:rPr>
              <a:t> </a:t>
            </a:r>
            <a:r>
              <a:rPr dirty="0" sz="2000" spc="-10" b="1">
                <a:solidFill>
                  <a:srgbClr val="6F2F9F"/>
                </a:solidFill>
                <a:latin typeface="黑体"/>
                <a:cs typeface="黑体"/>
              </a:rPr>
              <a:t>Regs[rt]</a:t>
            </a:r>
            <a:endParaRPr sz="2000">
              <a:latin typeface="黑体"/>
              <a:cs typeface="黑体"/>
            </a:endParaRPr>
          </a:p>
          <a:p>
            <a:pPr lvl="2" marL="1437005" indent="-488950">
              <a:lnSpc>
                <a:spcPct val="100000"/>
              </a:lnSpc>
              <a:spcBef>
                <a:spcPts val="1200"/>
              </a:spcBef>
              <a:buClr>
                <a:srgbClr val="4668F5"/>
              </a:buClr>
              <a:buSzPct val="72500"/>
              <a:buFont typeface="Wingdings"/>
              <a:buChar char=""/>
              <a:tabLst>
                <a:tab pos="1437005" algn="l"/>
              </a:tabLst>
            </a:pPr>
            <a:r>
              <a:rPr dirty="0" sz="2000" spc="-20" b="1">
                <a:solidFill>
                  <a:srgbClr val="6F2F9F"/>
                </a:solidFill>
                <a:latin typeface="黑体"/>
                <a:cs typeface="黑体"/>
              </a:rPr>
              <a:t>funct</a:t>
            </a:r>
            <a:r>
              <a:rPr dirty="0" sz="2000" spc="-25" b="1">
                <a:solidFill>
                  <a:srgbClr val="6F2F9F"/>
                </a:solidFill>
                <a:latin typeface="黑体"/>
                <a:cs typeface="黑体"/>
              </a:rPr>
              <a:t>为具体的运算操作编码</a:t>
            </a:r>
            <a:endParaRPr sz="2000">
              <a:latin typeface="黑体"/>
              <a:cs typeface="黑体"/>
            </a:endParaRPr>
          </a:p>
        </p:txBody>
      </p:sp>
      <p:sp>
        <p:nvSpPr>
          <p:cNvPr id="4" name="object 4"/>
          <p:cNvSpPr txBox="1">
            <a:spLocks noGrp="1"/>
          </p:cNvSpPr>
          <p:nvPr>
            <p:ph type="title"/>
          </p:nvPr>
        </p:nvSpPr>
        <p:spPr>
          <a:xfrm>
            <a:off x="1163637" y="206451"/>
            <a:ext cx="11041380" cy="514350"/>
          </a:xfrm>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latin typeface="微软雅黑"/>
                <a:cs typeface="微软雅黑"/>
              </a:rPr>
              <a:t>	2.6.4</a:t>
            </a:r>
            <a:r>
              <a:rPr dirty="0" spc="-20">
                <a:solidFill>
                  <a:srgbClr val="4F55AC"/>
                </a:solidFill>
                <a:latin typeface="微软雅黑"/>
                <a:cs typeface="微软雅黑"/>
              </a:rPr>
              <a:t> </a:t>
            </a:r>
            <a:r>
              <a:rPr dirty="0">
                <a:solidFill>
                  <a:srgbClr val="4F55AC"/>
                </a:solidFill>
                <a:latin typeface="微软雅黑"/>
                <a:cs typeface="微软雅黑"/>
              </a:rPr>
              <a:t>MIPS</a:t>
            </a:r>
            <a:r>
              <a:rPr dirty="0" spc="-10">
                <a:solidFill>
                  <a:srgbClr val="4F55AC"/>
                </a:solidFill>
                <a:latin typeface="微软雅黑"/>
                <a:cs typeface="微软雅黑"/>
              </a:rPr>
              <a:t>指令格</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5" name="object 5" descr=""/>
          <p:cNvSpPr/>
          <p:nvPr/>
        </p:nvSpPr>
        <p:spPr>
          <a:xfrm>
            <a:off x="2516251" y="5097526"/>
            <a:ext cx="7200900" cy="1297305"/>
          </a:xfrm>
          <a:custGeom>
            <a:avLst/>
            <a:gdLst/>
            <a:ahLst/>
            <a:cxnLst/>
            <a:rect l="l" t="t" r="r" b="b"/>
            <a:pathLst>
              <a:path w="7200900" h="1297304">
                <a:moveTo>
                  <a:pt x="7200900" y="0"/>
                </a:moveTo>
                <a:lnTo>
                  <a:pt x="0" y="0"/>
                </a:lnTo>
                <a:lnTo>
                  <a:pt x="0" y="1296924"/>
                </a:lnTo>
                <a:lnTo>
                  <a:pt x="7200900" y="1296924"/>
                </a:lnTo>
                <a:lnTo>
                  <a:pt x="7200900" y="0"/>
                </a:lnTo>
                <a:close/>
              </a:path>
            </a:pathLst>
          </a:custGeom>
          <a:solidFill>
            <a:srgbClr val="FFFFCC"/>
          </a:solidFill>
        </p:spPr>
        <p:txBody>
          <a:bodyPr wrap="square" lIns="0" tIns="0" rIns="0" bIns="0" rtlCol="0"/>
          <a:lstStyle/>
          <a:p/>
        </p:txBody>
      </p:sp>
      <p:sp>
        <p:nvSpPr>
          <p:cNvPr id="6" name="object 6" descr=""/>
          <p:cNvSpPr txBox="1"/>
          <p:nvPr/>
        </p:nvSpPr>
        <p:spPr>
          <a:xfrm>
            <a:off x="3455720" y="5133877"/>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6</a:t>
            </a:r>
            <a:endParaRPr sz="1700">
              <a:latin typeface="Times New Roman"/>
              <a:cs typeface="Times New Roman"/>
            </a:endParaRPr>
          </a:p>
        </p:txBody>
      </p:sp>
      <p:sp>
        <p:nvSpPr>
          <p:cNvPr id="7" name="object 7" descr=""/>
          <p:cNvSpPr txBox="1"/>
          <p:nvPr/>
        </p:nvSpPr>
        <p:spPr>
          <a:xfrm>
            <a:off x="4659279" y="5128607"/>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5</a:t>
            </a:r>
            <a:endParaRPr sz="1700">
              <a:latin typeface="Times New Roman"/>
              <a:cs typeface="Times New Roman"/>
            </a:endParaRPr>
          </a:p>
        </p:txBody>
      </p:sp>
      <p:sp>
        <p:nvSpPr>
          <p:cNvPr id="8" name="object 8" descr=""/>
          <p:cNvSpPr txBox="1"/>
          <p:nvPr/>
        </p:nvSpPr>
        <p:spPr>
          <a:xfrm>
            <a:off x="5615390" y="5128607"/>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5</a:t>
            </a:r>
            <a:endParaRPr sz="1700">
              <a:latin typeface="Times New Roman"/>
              <a:cs typeface="Times New Roman"/>
            </a:endParaRPr>
          </a:p>
        </p:txBody>
      </p:sp>
      <p:sp>
        <p:nvSpPr>
          <p:cNvPr id="9" name="object 9" descr=""/>
          <p:cNvSpPr txBox="1"/>
          <p:nvPr/>
        </p:nvSpPr>
        <p:spPr>
          <a:xfrm>
            <a:off x="8841000" y="5128607"/>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6</a:t>
            </a:r>
            <a:endParaRPr sz="1700">
              <a:latin typeface="Times New Roman"/>
              <a:cs typeface="Times New Roman"/>
            </a:endParaRPr>
          </a:p>
        </p:txBody>
      </p:sp>
      <p:sp>
        <p:nvSpPr>
          <p:cNvPr id="10" name="object 10" descr=""/>
          <p:cNvSpPr txBox="1"/>
          <p:nvPr/>
        </p:nvSpPr>
        <p:spPr>
          <a:xfrm>
            <a:off x="6572076" y="5133877"/>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5</a:t>
            </a:r>
            <a:endParaRPr sz="1700">
              <a:latin typeface="Times New Roman"/>
              <a:cs typeface="Times New Roman"/>
            </a:endParaRPr>
          </a:p>
        </p:txBody>
      </p:sp>
      <p:sp>
        <p:nvSpPr>
          <p:cNvPr id="11" name="object 11" descr=""/>
          <p:cNvSpPr txBox="1"/>
          <p:nvPr/>
        </p:nvSpPr>
        <p:spPr>
          <a:xfrm>
            <a:off x="2845029" y="5953788"/>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0</a:t>
            </a:r>
            <a:endParaRPr sz="1700">
              <a:latin typeface="Times New Roman"/>
              <a:cs typeface="Times New Roman"/>
            </a:endParaRPr>
          </a:p>
        </p:txBody>
      </p:sp>
      <p:sp>
        <p:nvSpPr>
          <p:cNvPr id="12" name="object 12" descr=""/>
          <p:cNvSpPr txBox="1"/>
          <p:nvPr/>
        </p:nvSpPr>
        <p:spPr>
          <a:xfrm>
            <a:off x="3951265" y="5959058"/>
            <a:ext cx="441325" cy="288290"/>
          </a:xfrm>
          <a:prstGeom prst="rect">
            <a:avLst/>
          </a:prstGeom>
        </p:spPr>
        <p:txBody>
          <a:bodyPr wrap="square" lIns="0" tIns="15240" rIns="0" bIns="0" rtlCol="0" vert="horz">
            <a:spAutoFit/>
          </a:bodyPr>
          <a:lstStyle/>
          <a:p>
            <a:pPr marL="12700">
              <a:lnSpc>
                <a:spcPct val="100000"/>
              </a:lnSpc>
              <a:spcBef>
                <a:spcPts val="120"/>
              </a:spcBef>
              <a:tabLst>
                <a:tab pos="317500" algn="l"/>
              </a:tabLst>
            </a:pPr>
            <a:r>
              <a:rPr dirty="0" sz="1700" spc="-50" b="1">
                <a:latin typeface="Times New Roman"/>
                <a:cs typeface="Times New Roman"/>
              </a:rPr>
              <a:t>5</a:t>
            </a:r>
            <a:r>
              <a:rPr dirty="0" sz="1700" b="1">
                <a:latin typeface="Times New Roman"/>
                <a:cs typeface="Times New Roman"/>
              </a:rPr>
              <a:t>	</a:t>
            </a:r>
            <a:r>
              <a:rPr dirty="0" sz="1700" spc="-50" b="1">
                <a:latin typeface="Times New Roman"/>
                <a:cs typeface="Times New Roman"/>
              </a:rPr>
              <a:t>6</a:t>
            </a:r>
            <a:endParaRPr sz="1700">
              <a:latin typeface="Times New Roman"/>
              <a:cs typeface="Times New Roman"/>
            </a:endParaRPr>
          </a:p>
        </p:txBody>
      </p:sp>
      <p:sp>
        <p:nvSpPr>
          <p:cNvPr id="13" name="object 13" descr=""/>
          <p:cNvSpPr txBox="1"/>
          <p:nvPr/>
        </p:nvSpPr>
        <p:spPr>
          <a:xfrm>
            <a:off x="9295983" y="5959058"/>
            <a:ext cx="243840" cy="288290"/>
          </a:xfrm>
          <a:prstGeom prst="rect">
            <a:avLst/>
          </a:prstGeom>
        </p:spPr>
        <p:txBody>
          <a:bodyPr wrap="square" lIns="0" tIns="15240" rIns="0" bIns="0" rtlCol="0" vert="horz">
            <a:spAutoFit/>
          </a:bodyPr>
          <a:lstStyle/>
          <a:p>
            <a:pPr marL="12700">
              <a:lnSpc>
                <a:spcPct val="100000"/>
              </a:lnSpc>
              <a:spcBef>
                <a:spcPts val="120"/>
              </a:spcBef>
            </a:pPr>
            <a:r>
              <a:rPr dirty="0" sz="1700" spc="-25" b="1">
                <a:latin typeface="Times New Roman"/>
                <a:cs typeface="Times New Roman"/>
              </a:rPr>
              <a:t>31</a:t>
            </a:r>
            <a:endParaRPr sz="1700">
              <a:latin typeface="Times New Roman"/>
              <a:cs typeface="Times New Roman"/>
            </a:endParaRPr>
          </a:p>
        </p:txBody>
      </p:sp>
      <p:graphicFrame>
        <p:nvGraphicFramePr>
          <p:cNvPr id="14" name="object 14" descr=""/>
          <p:cNvGraphicFramePr>
            <a:graphicFrameLocks noGrp="1"/>
          </p:cNvGraphicFramePr>
          <p:nvPr/>
        </p:nvGraphicFramePr>
        <p:xfrm>
          <a:off x="2831991" y="5442877"/>
          <a:ext cx="6838315" cy="521334"/>
        </p:xfrm>
        <a:graphic>
          <a:graphicData uri="http://schemas.openxmlformats.org/drawingml/2006/table">
            <a:tbl>
              <a:tblPr firstRow="1" bandRow="1">
                <a:tableStyleId>{2D5ABB26-0587-4C30-8999-92F81FD0307C}</a:tableStyleId>
              </a:tblPr>
              <a:tblGrid>
                <a:gridCol w="1359535"/>
                <a:gridCol w="1001394"/>
                <a:gridCol w="1008379"/>
                <a:gridCol w="1007745"/>
                <a:gridCol w="1008379"/>
                <a:gridCol w="1358900"/>
              </a:tblGrid>
              <a:tr h="521334">
                <a:tc>
                  <a:txBody>
                    <a:bodyPr/>
                    <a:lstStyle/>
                    <a:p>
                      <a:pPr marL="374015">
                        <a:lnSpc>
                          <a:spcPct val="100000"/>
                        </a:lnSpc>
                        <a:spcBef>
                          <a:spcPts val="1100"/>
                        </a:spcBef>
                      </a:pPr>
                      <a:r>
                        <a:rPr dirty="0" sz="1700" spc="-20">
                          <a:latin typeface="宋体"/>
                          <a:cs typeface="宋体"/>
                        </a:rPr>
                        <a:t>操作码</a:t>
                      </a:r>
                      <a:endParaRPr sz="1700">
                        <a:latin typeface="宋体"/>
                        <a:cs typeface="宋体"/>
                      </a:endParaRPr>
                    </a:p>
                  </a:txBody>
                  <a:tcPr marL="0" marR="0" marB="0" marT="13970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L="54610">
                        <a:lnSpc>
                          <a:spcPct val="100000"/>
                        </a:lnSpc>
                        <a:spcBef>
                          <a:spcPts val="930"/>
                        </a:spcBef>
                      </a:pPr>
                      <a:r>
                        <a:rPr dirty="0" sz="2000" spc="-25" b="1">
                          <a:latin typeface="Times New Roman"/>
                          <a:cs typeface="Times New Roman"/>
                        </a:rPr>
                        <a:t>rs</a:t>
                      </a:r>
                      <a:endParaRPr sz="2000">
                        <a:latin typeface="Times New Roman"/>
                        <a:cs typeface="Times New Roman"/>
                      </a:endParaRPr>
                    </a:p>
                  </a:txBody>
                  <a:tcPr marL="0" marR="0" marB="0" marT="1181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R="26034">
                        <a:lnSpc>
                          <a:spcPct val="100000"/>
                        </a:lnSpc>
                        <a:spcBef>
                          <a:spcPts val="930"/>
                        </a:spcBef>
                      </a:pPr>
                      <a:r>
                        <a:rPr dirty="0" sz="2000" spc="-25" b="1">
                          <a:latin typeface="Times New Roman"/>
                          <a:cs typeface="Times New Roman"/>
                        </a:rPr>
                        <a:t>rt</a:t>
                      </a:r>
                      <a:endParaRPr sz="2000">
                        <a:latin typeface="Times New Roman"/>
                        <a:cs typeface="Times New Roman"/>
                      </a:endParaRPr>
                    </a:p>
                  </a:txBody>
                  <a:tcPr marL="0" marR="0" marB="0" marT="1181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a:lnSpc>
                          <a:spcPct val="100000"/>
                        </a:lnSpc>
                        <a:spcBef>
                          <a:spcPts val="930"/>
                        </a:spcBef>
                      </a:pPr>
                      <a:r>
                        <a:rPr dirty="0" sz="2000" spc="-25" b="1">
                          <a:latin typeface="Times New Roman"/>
                          <a:cs typeface="Times New Roman"/>
                        </a:rPr>
                        <a:t>rd</a:t>
                      </a:r>
                      <a:endParaRPr sz="2000">
                        <a:latin typeface="Times New Roman"/>
                        <a:cs typeface="Times New Roman"/>
                      </a:endParaRPr>
                    </a:p>
                  </a:txBody>
                  <a:tcPr marL="0" marR="0" marB="0" marT="1181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224790">
                        <a:lnSpc>
                          <a:spcPct val="100000"/>
                        </a:lnSpc>
                        <a:spcBef>
                          <a:spcPts val="930"/>
                        </a:spcBef>
                      </a:pPr>
                      <a:r>
                        <a:rPr dirty="0" sz="2000" spc="-20" b="1">
                          <a:latin typeface="Times New Roman"/>
                          <a:cs typeface="Times New Roman"/>
                        </a:rPr>
                        <a:t>sham</a:t>
                      </a:r>
                      <a:endParaRPr sz="2000">
                        <a:latin typeface="Times New Roman"/>
                        <a:cs typeface="Times New Roman"/>
                      </a:endParaRPr>
                    </a:p>
                  </a:txBody>
                  <a:tcPr marL="0" marR="0" marB="0" marT="1181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426084">
                        <a:lnSpc>
                          <a:spcPct val="100000"/>
                        </a:lnSpc>
                        <a:spcBef>
                          <a:spcPts val="930"/>
                        </a:spcBef>
                      </a:pPr>
                      <a:r>
                        <a:rPr dirty="0" sz="2000" spc="-10" b="1">
                          <a:latin typeface="Times New Roman"/>
                          <a:cs typeface="Times New Roman"/>
                        </a:rPr>
                        <a:t>funct</a:t>
                      </a:r>
                      <a:endParaRPr sz="2000">
                        <a:latin typeface="Times New Roman"/>
                        <a:cs typeface="Times New Roman"/>
                      </a:endParaRPr>
                    </a:p>
                  </a:txBody>
                  <a:tcPr marL="0" marR="0" marB="0" marT="1181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r>
            </a:tbl>
          </a:graphicData>
        </a:graphic>
      </p:graphicFrame>
      <p:sp>
        <p:nvSpPr>
          <p:cNvPr id="15" name="object 15" descr=""/>
          <p:cNvSpPr txBox="1"/>
          <p:nvPr/>
        </p:nvSpPr>
        <p:spPr>
          <a:xfrm>
            <a:off x="4907352" y="5959058"/>
            <a:ext cx="3625215" cy="288290"/>
          </a:xfrm>
          <a:prstGeom prst="rect">
            <a:avLst/>
          </a:prstGeom>
        </p:spPr>
        <p:txBody>
          <a:bodyPr wrap="square" lIns="0" tIns="15240" rIns="0" bIns="0" rtlCol="0" vert="horz">
            <a:spAutoFit/>
          </a:bodyPr>
          <a:lstStyle/>
          <a:p>
            <a:pPr marL="12700">
              <a:lnSpc>
                <a:spcPct val="100000"/>
              </a:lnSpc>
              <a:spcBef>
                <a:spcPts val="120"/>
              </a:spcBef>
              <a:tabLst>
                <a:tab pos="403860" algn="l"/>
                <a:tab pos="1019810" algn="l"/>
                <a:tab pos="1377315" algn="l"/>
                <a:tab pos="2028189" algn="l"/>
                <a:tab pos="2385060" algn="l"/>
                <a:tab pos="3013075" algn="l"/>
                <a:tab pos="3393440" algn="l"/>
              </a:tabLst>
            </a:pPr>
            <a:r>
              <a:rPr dirty="0" sz="1700" spc="-25" b="1">
                <a:latin typeface="Times New Roman"/>
                <a:cs typeface="Times New Roman"/>
              </a:rPr>
              <a:t>10</a:t>
            </a:r>
            <a:r>
              <a:rPr dirty="0" sz="1700" b="1">
                <a:latin typeface="Times New Roman"/>
                <a:cs typeface="Times New Roman"/>
              </a:rPr>
              <a:t>	</a:t>
            </a:r>
            <a:r>
              <a:rPr dirty="0" sz="1700" spc="-25" b="1">
                <a:latin typeface="Times New Roman"/>
                <a:cs typeface="Times New Roman"/>
              </a:rPr>
              <a:t>11</a:t>
            </a:r>
            <a:r>
              <a:rPr dirty="0" sz="1700" b="1">
                <a:latin typeface="Times New Roman"/>
                <a:cs typeface="Times New Roman"/>
              </a:rPr>
              <a:t>	</a:t>
            </a:r>
            <a:r>
              <a:rPr dirty="0" sz="1700" spc="-25" b="1">
                <a:latin typeface="Times New Roman"/>
                <a:cs typeface="Times New Roman"/>
              </a:rPr>
              <a:t>15</a:t>
            </a:r>
            <a:r>
              <a:rPr dirty="0" sz="1700" b="1">
                <a:latin typeface="Times New Roman"/>
                <a:cs typeface="Times New Roman"/>
              </a:rPr>
              <a:t>	</a:t>
            </a:r>
            <a:r>
              <a:rPr dirty="0" sz="1700" spc="-25" b="1">
                <a:latin typeface="Times New Roman"/>
                <a:cs typeface="Times New Roman"/>
              </a:rPr>
              <a:t>16</a:t>
            </a:r>
            <a:r>
              <a:rPr dirty="0" sz="1700" b="1">
                <a:latin typeface="Times New Roman"/>
                <a:cs typeface="Times New Roman"/>
              </a:rPr>
              <a:t>	</a:t>
            </a:r>
            <a:r>
              <a:rPr dirty="0" sz="1700" spc="-25" b="1">
                <a:latin typeface="Times New Roman"/>
                <a:cs typeface="Times New Roman"/>
              </a:rPr>
              <a:t>20</a:t>
            </a:r>
            <a:r>
              <a:rPr dirty="0" sz="1700" b="1">
                <a:latin typeface="Times New Roman"/>
                <a:cs typeface="Times New Roman"/>
              </a:rPr>
              <a:t>	</a:t>
            </a:r>
            <a:r>
              <a:rPr dirty="0" sz="1700" spc="-25" b="1">
                <a:latin typeface="Times New Roman"/>
                <a:cs typeface="Times New Roman"/>
              </a:rPr>
              <a:t>21</a:t>
            </a:r>
            <a:r>
              <a:rPr dirty="0" sz="1700" b="1">
                <a:latin typeface="Times New Roman"/>
                <a:cs typeface="Times New Roman"/>
              </a:rPr>
              <a:t>	</a:t>
            </a:r>
            <a:r>
              <a:rPr dirty="0" sz="1700" spc="-25" b="1">
                <a:latin typeface="Times New Roman"/>
                <a:cs typeface="Times New Roman"/>
              </a:rPr>
              <a:t>25</a:t>
            </a:r>
            <a:r>
              <a:rPr dirty="0" sz="1700" b="1">
                <a:latin typeface="Times New Roman"/>
                <a:cs typeface="Times New Roman"/>
              </a:rPr>
              <a:t>	</a:t>
            </a:r>
            <a:r>
              <a:rPr dirty="0" sz="1700" spc="-25" b="1">
                <a:latin typeface="Times New Roman"/>
                <a:cs typeface="Times New Roman"/>
              </a:rPr>
              <a:t>26</a:t>
            </a:r>
            <a:endParaRPr sz="1700">
              <a:latin typeface="Times New Roman"/>
              <a:cs typeface="Times New Roman"/>
            </a:endParaRPr>
          </a:p>
        </p:txBody>
      </p:sp>
      <p:sp>
        <p:nvSpPr>
          <p:cNvPr id="16" name="object 16" descr=""/>
          <p:cNvSpPr txBox="1"/>
          <p:nvPr/>
        </p:nvSpPr>
        <p:spPr>
          <a:xfrm>
            <a:off x="7683537" y="5128607"/>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5</a:t>
            </a:r>
            <a:endParaRPr sz="1700">
              <a:latin typeface="Times New Roman"/>
              <a:cs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845616" y="729608"/>
            <a:ext cx="10807700" cy="2974975"/>
          </a:xfrm>
          <a:prstGeom prst="rect">
            <a:avLst/>
          </a:prstGeom>
        </p:spPr>
        <p:txBody>
          <a:bodyPr wrap="square" lIns="0" tIns="167005" rIns="0" bIns="0" rtlCol="0" vert="horz">
            <a:spAutoFit/>
          </a:bodyPr>
          <a:lstStyle/>
          <a:p>
            <a:pPr marL="354965" indent="-342265">
              <a:lnSpc>
                <a:spcPct val="100000"/>
              </a:lnSpc>
              <a:spcBef>
                <a:spcPts val="1315"/>
              </a:spcBef>
              <a:buClr>
                <a:srgbClr val="40458B"/>
              </a:buClr>
              <a:buSzPct val="114285"/>
              <a:buFont typeface="Wingdings"/>
              <a:buChar char=""/>
              <a:tabLst>
                <a:tab pos="354965" algn="l"/>
              </a:tabLst>
            </a:pPr>
            <a:r>
              <a:rPr dirty="0" sz="2800" spc="-25">
                <a:solidFill>
                  <a:srgbClr val="172152"/>
                </a:solidFill>
                <a:latin typeface="Tahoma"/>
                <a:cs typeface="Tahoma"/>
              </a:rPr>
              <a:t>R</a:t>
            </a:r>
            <a:r>
              <a:rPr dirty="0" sz="2800" spc="-35">
                <a:solidFill>
                  <a:srgbClr val="172152"/>
                </a:solidFill>
                <a:latin typeface="黑体"/>
                <a:cs typeface="黑体"/>
              </a:rPr>
              <a:t>类指令</a:t>
            </a:r>
            <a:endParaRPr sz="2800">
              <a:latin typeface="黑体"/>
              <a:cs typeface="黑体"/>
            </a:endParaRPr>
          </a:p>
          <a:p>
            <a:pPr lvl="1" marL="716915" indent="-295275">
              <a:lnSpc>
                <a:spcPct val="100000"/>
              </a:lnSpc>
              <a:spcBef>
                <a:spcPts val="1510"/>
              </a:spcBef>
              <a:buSzPct val="86538"/>
              <a:buFont typeface="Wingdings"/>
              <a:buChar char=""/>
              <a:tabLst>
                <a:tab pos="716915" algn="l"/>
              </a:tabLst>
            </a:pPr>
            <a:r>
              <a:rPr dirty="0" sz="2600" spc="-15">
                <a:solidFill>
                  <a:srgbClr val="006FC0"/>
                </a:solidFill>
                <a:latin typeface="黑体"/>
                <a:cs typeface="黑体"/>
              </a:rPr>
              <a:t>只有寄存器型的操作数</a:t>
            </a:r>
            <a:endParaRPr sz="2600">
              <a:latin typeface="黑体"/>
              <a:cs typeface="黑体"/>
            </a:endParaRPr>
          </a:p>
          <a:p>
            <a:pPr lvl="1" marL="696595" marR="5080" indent="-274955">
              <a:lnSpc>
                <a:spcPct val="130000"/>
              </a:lnSpc>
              <a:spcBef>
                <a:spcPts val="625"/>
              </a:spcBef>
              <a:buSzPct val="86538"/>
              <a:buFont typeface="Wingdings"/>
              <a:buChar char=""/>
              <a:tabLst>
                <a:tab pos="696595" algn="l"/>
                <a:tab pos="716915" algn="l"/>
              </a:tabLst>
            </a:pPr>
            <a:r>
              <a:rPr dirty="0" sz="2600" spc="-5">
                <a:solidFill>
                  <a:srgbClr val="006FC0"/>
                </a:solidFill>
                <a:latin typeface="黑体"/>
                <a:cs typeface="黑体"/>
              </a:rPr>
              <a:t>	</a:t>
            </a:r>
            <a:r>
              <a:rPr dirty="0" sz="2600" spc="-5">
                <a:solidFill>
                  <a:srgbClr val="006FC0"/>
                </a:solidFill>
                <a:latin typeface="黑体"/>
                <a:cs typeface="黑体"/>
              </a:rPr>
              <a:t>操作码字段</a:t>
            </a:r>
            <a:r>
              <a:rPr dirty="0" sz="2600" spc="-10">
                <a:solidFill>
                  <a:srgbClr val="006FC0"/>
                </a:solidFill>
                <a:latin typeface="宋体"/>
                <a:cs typeface="宋体"/>
              </a:rPr>
              <a:t>6</a:t>
            </a:r>
            <a:r>
              <a:rPr dirty="0" sz="2600" spc="-5">
                <a:solidFill>
                  <a:srgbClr val="006FC0"/>
                </a:solidFill>
                <a:latin typeface="黑体"/>
                <a:cs typeface="黑体"/>
              </a:rPr>
              <a:t>位，皆为</a:t>
            </a:r>
            <a:r>
              <a:rPr dirty="0" sz="2600" spc="-10">
                <a:solidFill>
                  <a:srgbClr val="006FC0"/>
                </a:solidFill>
                <a:latin typeface="宋体"/>
                <a:cs typeface="宋体"/>
              </a:rPr>
              <a:t>0</a:t>
            </a:r>
            <a:r>
              <a:rPr dirty="0" sz="2600" spc="-10">
                <a:solidFill>
                  <a:srgbClr val="006FC0"/>
                </a:solidFill>
                <a:latin typeface="黑体"/>
                <a:cs typeface="黑体"/>
              </a:rPr>
              <a:t>，</a:t>
            </a:r>
            <a:r>
              <a:rPr dirty="0" sz="2600" spc="-10">
                <a:solidFill>
                  <a:srgbClr val="006FC0"/>
                </a:solidFill>
                <a:latin typeface="宋体"/>
                <a:cs typeface="宋体"/>
              </a:rPr>
              <a:t>funct</a:t>
            </a:r>
            <a:r>
              <a:rPr dirty="0" sz="2600" spc="-20">
                <a:solidFill>
                  <a:srgbClr val="006FC0"/>
                </a:solidFill>
                <a:latin typeface="黑体"/>
                <a:cs typeface="黑体"/>
              </a:rPr>
              <a:t>字段与操作码结合，精确地指定指令的</a:t>
            </a:r>
            <a:r>
              <a:rPr dirty="0" sz="2600" spc="-5">
                <a:solidFill>
                  <a:srgbClr val="006FC0"/>
                </a:solidFill>
                <a:latin typeface="黑体"/>
                <a:cs typeface="黑体"/>
              </a:rPr>
              <a:t>类型 </a:t>
            </a:r>
            <a:r>
              <a:rPr dirty="0" sz="2600">
                <a:solidFill>
                  <a:srgbClr val="006FC0"/>
                </a:solidFill>
                <a:latin typeface="黑体"/>
                <a:cs typeface="黑体"/>
              </a:rPr>
              <a:t>（</a:t>
            </a:r>
            <a:r>
              <a:rPr dirty="0" sz="2600" spc="-20">
                <a:solidFill>
                  <a:srgbClr val="FF0000"/>
                </a:solidFill>
                <a:latin typeface="黑体"/>
                <a:cs typeface="黑体"/>
              </a:rPr>
              <a:t>思考二者为什么不合并？</a:t>
            </a:r>
            <a:r>
              <a:rPr dirty="0" sz="2600" spc="-10">
                <a:solidFill>
                  <a:srgbClr val="006FC0"/>
                </a:solidFill>
                <a:latin typeface="黑体"/>
                <a:cs typeface="黑体"/>
              </a:rPr>
              <a:t>）</a:t>
            </a:r>
            <a:r>
              <a:rPr dirty="0" sz="2600" spc="-50">
                <a:solidFill>
                  <a:srgbClr val="006FC0"/>
                </a:solidFill>
                <a:latin typeface="黑体"/>
                <a:cs typeface="黑体"/>
              </a:rPr>
              <a:t>。</a:t>
            </a:r>
            <a:endParaRPr sz="2600">
              <a:latin typeface="黑体"/>
              <a:cs typeface="黑体"/>
            </a:endParaRPr>
          </a:p>
          <a:p>
            <a:pPr lvl="1" marL="716915" indent="-295275">
              <a:lnSpc>
                <a:spcPct val="100000"/>
              </a:lnSpc>
              <a:spcBef>
                <a:spcPts val="1560"/>
              </a:spcBef>
              <a:buSzPct val="86538"/>
              <a:buFont typeface="Wingdings"/>
              <a:buChar char=""/>
              <a:tabLst>
                <a:tab pos="716915" algn="l"/>
              </a:tabLst>
            </a:pPr>
            <a:r>
              <a:rPr dirty="0" sz="2600" spc="-20">
                <a:solidFill>
                  <a:srgbClr val="006FC0"/>
                </a:solidFill>
                <a:latin typeface="黑体"/>
                <a:cs typeface="黑体"/>
              </a:rPr>
              <a:t>操作数与运算结果只能来自寄存器</a:t>
            </a:r>
            <a:endParaRPr sz="2600">
              <a:latin typeface="黑体"/>
              <a:cs typeface="黑体"/>
            </a:endParaRPr>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latin typeface="微软雅黑"/>
                <a:cs typeface="微软雅黑"/>
              </a:rPr>
              <a:t>	2.6.4</a:t>
            </a:r>
            <a:r>
              <a:rPr dirty="0" spc="-20">
                <a:solidFill>
                  <a:srgbClr val="4F55AC"/>
                </a:solidFill>
                <a:latin typeface="微软雅黑"/>
                <a:cs typeface="微软雅黑"/>
              </a:rPr>
              <a:t> </a:t>
            </a:r>
            <a:r>
              <a:rPr dirty="0">
                <a:solidFill>
                  <a:srgbClr val="4F55AC"/>
                </a:solidFill>
                <a:latin typeface="微软雅黑"/>
                <a:cs typeface="微软雅黑"/>
              </a:rPr>
              <a:t>MIPS</a:t>
            </a:r>
            <a:r>
              <a:rPr dirty="0" spc="-10">
                <a:solidFill>
                  <a:srgbClr val="4F55AC"/>
                </a:solidFill>
                <a:latin typeface="微软雅黑"/>
                <a:cs typeface="微软雅黑"/>
              </a:rPr>
              <a:t>指令格</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5" name="object 5" descr=""/>
          <p:cNvSpPr/>
          <p:nvPr/>
        </p:nvSpPr>
        <p:spPr>
          <a:xfrm>
            <a:off x="2516251" y="4737036"/>
            <a:ext cx="7200900" cy="1297305"/>
          </a:xfrm>
          <a:custGeom>
            <a:avLst/>
            <a:gdLst/>
            <a:ahLst/>
            <a:cxnLst/>
            <a:rect l="l" t="t" r="r" b="b"/>
            <a:pathLst>
              <a:path w="7200900" h="1297304">
                <a:moveTo>
                  <a:pt x="7200900" y="0"/>
                </a:moveTo>
                <a:lnTo>
                  <a:pt x="0" y="0"/>
                </a:lnTo>
                <a:lnTo>
                  <a:pt x="0" y="1297051"/>
                </a:lnTo>
                <a:lnTo>
                  <a:pt x="7200900" y="1297051"/>
                </a:lnTo>
                <a:lnTo>
                  <a:pt x="7200900" y="0"/>
                </a:lnTo>
                <a:close/>
              </a:path>
            </a:pathLst>
          </a:custGeom>
          <a:solidFill>
            <a:srgbClr val="FFFFCC"/>
          </a:solidFill>
        </p:spPr>
        <p:txBody>
          <a:bodyPr wrap="square" lIns="0" tIns="0" rIns="0" bIns="0" rtlCol="0"/>
          <a:lstStyle/>
          <a:p/>
        </p:txBody>
      </p:sp>
      <p:sp>
        <p:nvSpPr>
          <p:cNvPr id="6" name="object 6" descr=""/>
          <p:cNvSpPr txBox="1"/>
          <p:nvPr/>
        </p:nvSpPr>
        <p:spPr>
          <a:xfrm>
            <a:off x="3455720" y="4773514"/>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6</a:t>
            </a:r>
            <a:endParaRPr sz="1700">
              <a:latin typeface="Times New Roman"/>
              <a:cs typeface="Times New Roman"/>
            </a:endParaRPr>
          </a:p>
        </p:txBody>
      </p:sp>
      <p:sp>
        <p:nvSpPr>
          <p:cNvPr id="7" name="object 7" descr=""/>
          <p:cNvSpPr txBox="1"/>
          <p:nvPr/>
        </p:nvSpPr>
        <p:spPr>
          <a:xfrm>
            <a:off x="4659279" y="4768245"/>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5</a:t>
            </a:r>
            <a:endParaRPr sz="1700">
              <a:latin typeface="Times New Roman"/>
              <a:cs typeface="Times New Roman"/>
            </a:endParaRPr>
          </a:p>
        </p:txBody>
      </p:sp>
      <p:sp>
        <p:nvSpPr>
          <p:cNvPr id="8" name="object 8" descr=""/>
          <p:cNvSpPr txBox="1"/>
          <p:nvPr/>
        </p:nvSpPr>
        <p:spPr>
          <a:xfrm>
            <a:off x="5615390" y="4768245"/>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5</a:t>
            </a:r>
            <a:endParaRPr sz="1700">
              <a:latin typeface="Times New Roman"/>
              <a:cs typeface="Times New Roman"/>
            </a:endParaRPr>
          </a:p>
        </p:txBody>
      </p:sp>
      <p:sp>
        <p:nvSpPr>
          <p:cNvPr id="9" name="object 9" descr=""/>
          <p:cNvSpPr txBox="1"/>
          <p:nvPr/>
        </p:nvSpPr>
        <p:spPr>
          <a:xfrm>
            <a:off x="8841000" y="4768245"/>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6</a:t>
            </a:r>
            <a:endParaRPr sz="1700">
              <a:latin typeface="Times New Roman"/>
              <a:cs typeface="Times New Roman"/>
            </a:endParaRPr>
          </a:p>
        </p:txBody>
      </p:sp>
      <p:sp>
        <p:nvSpPr>
          <p:cNvPr id="10" name="object 10" descr=""/>
          <p:cNvSpPr txBox="1"/>
          <p:nvPr/>
        </p:nvSpPr>
        <p:spPr>
          <a:xfrm>
            <a:off x="6572076" y="4773514"/>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5</a:t>
            </a:r>
            <a:endParaRPr sz="1700">
              <a:latin typeface="Times New Roman"/>
              <a:cs typeface="Times New Roman"/>
            </a:endParaRPr>
          </a:p>
        </p:txBody>
      </p:sp>
      <p:sp>
        <p:nvSpPr>
          <p:cNvPr id="11" name="object 11" descr=""/>
          <p:cNvSpPr txBox="1"/>
          <p:nvPr/>
        </p:nvSpPr>
        <p:spPr>
          <a:xfrm>
            <a:off x="2845029" y="5593426"/>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0</a:t>
            </a:r>
            <a:endParaRPr sz="1700">
              <a:latin typeface="Times New Roman"/>
              <a:cs typeface="Times New Roman"/>
            </a:endParaRPr>
          </a:p>
        </p:txBody>
      </p:sp>
      <p:sp>
        <p:nvSpPr>
          <p:cNvPr id="12" name="object 12" descr=""/>
          <p:cNvSpPr txBox="1"/>
          <p:nvPr/>
        </p:nvSpPr>
        <p:spPr>
          <a:xfrm>
            <a:off x="3951265" y="5598696"/>
            <a:ext cx="441325" cy="288290"/>
          </a:xfrm>
          <a:prstGeom prst="rect">
            <a:avLst/>
          </a:prstGeom>
        </p:spPr>
        <p:txBody>
          <a:bodyPr wrap="square" lIns="0" tIns="15240" rIns="0" bIns="0" rtlCol="0" vert="horz">
            <a:spAutoFit/>
          </a:bodyPr>
          <a:lstStyle/>
          <a:p>
            <a:pPr marL="12700">
              <a:lnSpc>
                <a:spcPct val="100000"/>
              </a:lnSpc>
              <a:spcBef>
                <a:spcPts val="120"/>
              </a:spcBef>
              <a:tabLst>
                <a:tab pos="317500" algn="l"/>
              </a:tabLst>
            </a:pPr>
            <a:r>
              <a:rPr dirty="0" sz="1700" spc="-50" b="1">
                <a:latin typeface="Times New Roman"/>
                <a:cs typeface="Times New Roman"/>
              </a:rPr>
              <a:t>5</a:t>
            </a:r>
            <a:r>
              <a:rPr dirty="0" sz="1700" b="1">
                <a:latin typeface="Times New Roman"/>
                <a:cs typeface="Times New Roman"/>
              </a:rPr>
              <a:t>	</a:t>
            </a:r>
            <a:r>
              <a:rPr dirty="0" sz="1700" spc="-50" b="1">
                <a:latin typeface="Times New Roman"/>
                <a:cs typeface="Times New Roman"/>
              </a:rPr>
              <a:t>6</a:t>
            </a:r>
            <a:endParaRPr sz="1700">
              <a:latin typeface="Times New Roman"/>
              <a:cs typeface="Times New Roman"/>
            </a:endParaRPr>
          </a:p>
        </p:txBody>
      </p:sp>
      <p:sp>
        <p:nvSpPr>
          <p:cNvPr id="13" name="object 13" descr=""/>
          <p:cNvSpPr txBox="1"/>
          <p:nvPr/>
        </p:nvSpPr>
        <p:spPr>
          <a:xfrm>
            <a:off x="9295983" y="5598696"/>
            <a:ext cx="243840" cy="288290"/>
          </a:xfrm>
          <a:prstGeom prst="rect">
            <a:avLst/>
          </a:prstGeom>
        </p:spPr>
        <p:txBody>
          <a:bodyPr wrap="square" lIns="0" tIns="15240" rIns="0" bIns="0" rtlCol="0" vert="horz">
            <a:spAutoFit/>
          </a:bodyPr>
          <a:lstStyle/>
          <a:p>
            <a:pPr marL="12700">
              <a:lnSpc>
                <a:spcPct val="100000"/>
              </a:lnSpc>
              <a:spcBef>
                <a:spcPts val="120"/>
              </a:spcBef>
            </a:pPr>
            <a:r>
              <a:rPr dirty="0" sz="1700" spc="-25" b="1">
                <a:latin typeface="Times New Roman"/>
                <a:cs typeface="Times New Roman"/>
              </a:rPr>
              <a:t>31</a:t>
            </a:r>
            <a:endParaRPr sz="1700">
              <a:latin typeface="Times New Roman"/>
              <a:cs typeface="Times New Roman"/>
            </a:endParaRPr>
          </a:p>
        </p:txBody>
      </p:sp>
      <p:graphicFrame>
        <p:nvGraphicFramePr>
          <p:cNvPr id="14" name="object 14" descr=""/>
          <p:cNvGraphicFramePr>
            <a:graphicFrameLocks noGrp="1"/>
          </p:cNvGraphicFramePr>
          <p:nvPr/>
        </p:nvGraphicFramePr>
        <p:xfrm>
          <a:off x="2831991" y="5082514"/>
          <a:ext cx="6838315" cy="521334"/>
        </p:xfrm>
        <a:graphic>
          <a:graphicData uri="http://schemas.openxmlformats.org/drawingml/2006/table">
            <a:tbl>
              <a:tblPr firstRow="1" bandRow="1">
                <a:tableStyleId>{2D5ABB26-0587-4C30-8999-92F81FD0307C}</a:tableStyleId>
              </a:tblPr>
              <a:tblGrid>
                <a:gridCol w="1359535"/>
                <a:gridCol w="1001394"/>
                <a:gridCol w="1008379"/>
                <a:gridCol w="1007745"/>
                <a:gridCol w="1008379"/>
                <a:gridCol w="1358900"/>
              </a:tblGrid>
              <a:tr h="521334">
                <a:tc>
                  <a:txBody>
                    <a:bodyPr/>
                    <a:lstStyle/>
                    <a:p>
                      <a:pPr marL="374015">
                        <a:lnSpc>
                          <a:spcPct val="100000"/>
                        </a:lnSpc>
                        <a:spcBef>
                          <a:spcPts val="1100"/>
                        </a:spcBef>
                      </a:pPr>
                      <a:r>
                        <a:rPr dirty="0" sz="1700" spc="-20">
                          <a:latin typeface="宋体"/>
                          <a:cs typeface="宋体"/>
                        </a:rPr>
                        <a:t>操作码</a:t>
                      </a:r>
                      <a:endParaRPr sz="1700">
                        <a:latin typeface="宋体"/>
                        <a:cs typeface="宋体"/>
                      </a:endParaRPr>
                    </a:p>
                  </a:txBody>
                  <a:tcPr marL="0" marR="0" marB="0" marT="13970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L="54610">
                        <a:lnSpc>
                          <a:spcPct val="100000"/>
                        </a:lnSpc>
                        <a:spcBef>
                          <a:spcPts val="930"/>
                        </a:spcBef>
                      </a:pPr>
                      <a:r>
                        <a:rPr dirty="0" sz="2000" spc="-25" b="1">
                          <a:latin typeface="Times New Roman"/>
                          <a:cs typeface="Times New Roman"/>
                        </a:rPr>
                        <a:t>rs</a:t>
                      </a:r>
                      <a:endParaRPr sz="2000">
                        <a:latin typeface="Times New Roman"/>
                        <a:cs typeface="Times New Roman"/>
                      </a:endParaRPr>
                    </a:p>
                  </a:txBody>
                  <a:tcPr marL="0" marR="0" marB="0" marT="1181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marR="26034">
                        <a:lnSpc>
                          <a:spcPct val="100000"/>
                        </a:lnSpc>
                        <a:spcBef>
                          <a:spcPts val="930"/>
                        </a:spcBef>
                      </a:pPr>
                      <a:r>
                        <a:rPr dirty="0" sz="2000" spc="-25" b="1">
                          <a:latin typeface="Times New Roman"/>
                          <a:cs typeface="Times New Roman"/>
                        </a:rPr>
                        <a:t>rt</a:t>
                      </a:r>
                      <a:endParaRPr sz="2000">
                        <a:latin typeface="Times New Roman"/>
                        <a:cs typeface="Times New Roman"/>
                      </a:endParaRPr>
                    </a:p>
                  </a:txBody>
                  <a:tcPr marL="0" marR="0" marB="0" marT="1181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algn="ctr">
                        <a:lnSpc>
                          <a:spcPct val="100000"/>
                        </a:lnSpc>
                        <a:spcBef>
                          <a:spcPts val="930"/>
                        </a:spcBef>
                      </a:pPr>
                      <a:r>
                        <a:rPr dirty="0" sz="2000" spc="-25" b="1">
                          <a:latin typeface="Times New Roman"/>
                          <a:cs typeface="Times New Roman"/>
                        </a:rPr>
                        <a:t>rd</a:t>
                      </a:r>
                      <a:endParaRPr sz="2000">
                        <a:latin typeface="Times New Roman"/>
                        <a:cs typeface="Times New Roman"/>
                      </a:endParaRPr>
                    </a:p>
                  </a:txBody>
                  <a:tcPr marL="0" marR="0" marB="0" marT="1181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224790">
                        <a:lnSpc>
                          <a:spcPct val="100000"/>
                        </a:lnSpc>
                        <a:spcBef>
                          <a:spcPts val="930"/>
                        </a:spcBef>
                      </a:pPr>
                      <a:r>
                        <a:rPr dirty="0" sz="2000" spc="-20" b="1">
                          <a:latin typeface="Times New Roman"/>
                          <a:cs typeface="Times New Roman"/>
                        </a:rPr>
                        <a:t>sham</a:t>
                      </a:r>
                      <a:endParaRPr sz="2000">
                        <a:latin typeface="Times New Roman"/>
                        <a:cs typeface="Times New Roman"/>
                      </a:endParaRPr>
                    </a:p>
                  </a:txBody>
                  <a:tcPr marL="0" marR="0" marB="0" marT="1181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c>
                  <a:txBody>
                    <a:bodyPr/>
                    <a:lstStyle/>
                    <a:p>
                      <a:pPr marL="426084">
                        <a:lnSpc>
                          <a:spcPct val="100000"/>
                        </a:lnSpc>
                        <a:spcBef>
                          <a:spcPts val="930"/>
                        </a:spcBef>
                      </a:pPr>
                      <a:r>
                        <a:rPr dirty="0" sz="2000" spc="-10" b="1">
                          <a:latin typeface="Times New Roman"/>
                          <a:cs typeface="Times New Roman"/>
                        </a:rPr>
                        <a:t>funct</a:t>
                      </a:r>
                      <a:endParaRPr sz="2000">
                        <a:latin typeface="Times New Roman"/>
                        <a:cs typeface="Times New Roman"/>
                      </a:endParaRPr>
                    </a:p>
                  </a:txBody>
                  <a:tcPr marL="0" marR="0" marB="0" marT="1181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CC"/>
                    </a:solidFill>
                  </a:tcPr>
                </a:tc>
              </a:tr>
            </a:tbl>
          </a:graphicData>
        </a:graphic>
      </p:graphicFrame>
      <p:sp>
        <p:nvSpPr>
          <p:cNvPr id="15" name="object 15" descr=""/>
          <p:cNvSpPr txBox="1"/>
          <p:nvPr/>
        </p:nvSpPr>
        <p:spPr>
          <a:xfrm>
            <a:off x="4907352" y="5598696"/>
            <a:ext cx="3625215" cy="288290"/>
          </a:xfrm>
          <a:prstGeom prst="rect">
            <a:avLst/>
          </a:prstGeom>
        </p:spPr>
        <p:txBody>
          <a:bodyPr wrap="square" lIns="0" tIns="15240" rIns="0" bIns="0" rtlCol="0" vert="horz">
            <a:spAutoFit/>
          </a:bodyPr>
          <a:lstStyle/>
          <a:p>
            <a:pPr marL="12700">
              <a:lnSpc>
                <a:spcPct val="100000"/>
              </a:lnSpc>
              <a:spcBef>
                <a:spcPts val="120"/>
              </a:spcBef>
              <a:tabLst>
                <a:tab pos="403860" algn="l"/>
                <a:tab pos="1019810" algn="l"/>
                <a:tab pos="1377315" algn="l"/>
                <a:tab pos="2028189" algn="l"/>
                <a:tab pos="2385060" algn="l"/>
                <a:tab pos="3013075" algn="l"/>
                <a:tab pos="3393440" algn="l"/>
              </a:tabLst>
            </a:pPr>
            <a:r>
              <a:rPr dirty="0" sz="1700" spc="-25" b="1">
                <a:latin typeface="Times New Roman"/>
                <a:cs typeface="Times New Roman"/>
              </a:rPr>
              <a:t>10</a:t>
            </a:r>
            <a:r>
              <a:rPr dirty="0" sz="1700" b="1">
                <a:latin typeface="Times New Roman"/>
                <a:cs typeface="Times New Roman"/>
              </a:rPr>
              <a:t>	</a:t>
            </a:r>
            <a:r>
              <a:rPr dirty="0" sz="1700" spc="-25" b="1">
                <a:latin typeface="Times New Roman"/>
                <a:cs typeface="Times New Roman"/>
              </a:rPr>
              <a:t>11</a:t>
            </a:r>
            <a:r>
              <a:rPr dirty="0" sz="1700" b="1">
                <a:latin typeface="Times New Roman"/>
                <a:cs typeface="Times New Roman"/>
              </a:rPr>
              <a:t>	</a:t>
            </a:r>
            <a:r>
              <a:rPr dirty="0" sz="1700" spc="-25" b="1">
                <a:latin typeface="Times New Roman"/>
                <a:cs typeface="Times New Roman"/>
              </a:rPr>
              <a:t>15</a:t>
            </a:r>
            <a:r>
              <a:rPr dirty="0" sz="1700" b="1">
                <a:latin typeface="Times New Roman"/>
                <a:cs typeface="Times New Roman"/>
              </a:rPr>
              <a:t>	</a:t>
            </a:r>
            <a:r>
              <a:rPr dirty="0" sz="1700" spc="-25" b="1">
                <a:latin typeface="Times New Roman"/>
                <a:cs typeface="Times New Roman"/>
              </a:rPr>
              <a:t>16</a:t>
            </a:r>
            <a:r>
              <a:rPr dirty="0" sz="1700" b="1">
                <a:latin typeface="Times New Roman"/>
                <a:cs typeface="Times New Roman"/>
              </a:rPr>
              <a:t>	</a:t>
            </a:r>
            <a:r>
              <a:rPr dirty="0" sz="1700" spc="-25" b="1">
                <a:latin typeface="Times New Roman"/>
                <a:cs typeface="Times New Roman"/>
              </a:rPr>
              <a:t>20</a:t>
            </a:r>
            <a:r>
              <a:rPr dirty="0" sz="1700" b="1">
                <a:latin typeface="Times New Roman"/>
                <a:cs typeface="Times New Roman"/>
              </a:rPr>
              <a:t>	</a:t>
            </a:r>
            <a:r>
              <a:rPr dirty="0" sz="1700" spc="-25" b="1">
                <a:latin typeface="Times New Roman"/>
                <a:cs typeface="Times New Roman"/>
              </a:rPr>
              <a:t>21</a:t>
            </a:r>
            <a:r>
              <a:rPr dirty="0" sz="1700" b="1">
                <a:latin typeface="Times New Roman"/>
                <a:cs typeface="Times New Roman"/>
              </a:rPr>
              <a:t>	</a:t>
            </a:r>
            <a:r>
              <a:rPr dirty="0" sz="1700" spc="-25" b="1">
                <a:latin typeface="Times New Roman"/>
                <a:cs typeface="Times New Roman"/>
              </a:rPr>
              <a:t>25</a:t>
            </a:r>
            <a:r>
              <a:rPr dirty="0" sz="1700" b="1">
                <a:latin typeface="Times New Roman"/>
                <a:cs typeface="Times New Roman"/>
              </a:rPr>
              <a:t>	</a:t>
            </a:r>
            <a:r>
              <a:rPr dirty="0" sz="1700" spc="-25" b="1">
                <a:latin typeface="Times New Roman"/>
                <a:cs typeface="Times New Roman"/>
              </a:rPr>
              <a:t>26</a:t>
            </a:r>
            <a:endParaRPr sz="1700">
              <a:latin typeface="Times New Roman"/>
              <a:cs typeface="Times New Roman"/>
            </a:endParaRPr>
          </a:p>
        </p:txBody>
      </p:sp>
      <p:sp>
        <p:nvSpPr>
          <p:cNvPr id="16" name="object 16" descr=""/>
          <p:cNvSpPr txBox="1"/>
          <p:nvPr/>
        </p:nvSpPr>
        <p:spPr>
          <a:xfrm>
            <a:off x="7683537" y="4768245"/>
            <a:ext cx="135890" cy="288290"/>
          </a:xfrm>
          <a:prstGeom prst="rect">
            <a:avLst/>
          </a:prstGeom>
        </p:spPr>
        <p:txBody>
          <a:bodyPr wrap="square" lIns="0" tIns="15240" rIns="0" bIns="0" rtlCol="0" vert="horz">
            <a:spAutoFit/>
          </a:bodyPr>
          <a:lstStyle/>
          <a:p>
            <a:pPr marL="12700">
              <a:lnSpc>
                <a:spcPct val="100000"/>
              </a:lnSpc>
              <a:spcBef>
                <a:spcPts val="120"/>
              </a:spcBef>
            </a:pPr>
            <a:r>
              <a:rPr dirty="0" sz="1700" spc="-50" b="1">
                <a:latin typeface="Times New Roman"/>
                <a:cs typeface="Times New Roman"/>
              </a:rPr>
              <a:t>5</a:t>
            </a:r>
            <a:endParaRPr sz="1700">
              <a:latin typeface="Times New Roman"/>
              <a:cs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latin typeface="微软雅黑"/>
                <a:cs typeface="微软雅黑"/>
              </a:rPr>
              <a:t>	</a:t>
            </a:r>
            <a:r>
              <a:rPr dirty="0" spc="-10">
                <a:solidFill>
                  <a:srgbClr val="4F55AC"/>
                </a:solidFill>
                <a:latin typeface="微软雅黑"/>
                <a:cs typeface="微软雅黑"/>
              </a:rPr>
              <a:t>R类指</a:t>
            </a:r>
            <a:r>
              <a:rPr dirty="0" spc="-50">
                <a:solidFill>
                  <a:srgbClr val="4F55AC"/>
                </a:solidFill>
                <a:latin typeface="微软雅黑"/>
                <a:cs typeface="微软雅黑"/>
              </a:rPr>
              <a:t>令</a:t>
            </a:r>
            <a:r>
              <a:rPr dirty="0">
                <a:solidFill>
                  <a:srgbClr val="4F55AC"/>
                </a:solidFill>
                <a:latin typeface="微软雅黑"/>
                <a:cs typeface="微软雅黑"/>
              </a:rPr>
              <a:t>	</a:t>
            </a:r>
          </a:p>
        </p:txBody>
      </p:sp>
      <p:sp>
        <p:nvSpPr>
          <p:cNvPr id="4" name="object 4" descr=""/>
          <p:cNvSpPr/>
          <p:nvPr/>
        </p:nvSpPr>
        <p:spPr>
          <a:xfrm>
            <a:off x="3575050" y="777875"/>
            <a:ext cx="7092950" cy="1297305"/>
          </a:xfrm>
          <a:custGeom>
            <a:avLst/>
            <a:gdLst/>
            <a:ahLst/>
            <a:cxnLst/>
            <a:rect l="l" t="t" r="r" b="b"/>
            <a:pathLst>
              <a:path w="7092950" h="1297305">
                <a:moveTo>
                  <a:pt x="7092950" y="0"/>
                </a:moveTo>
                <a:lnTo>
                  <a:pt x="0" y="0"/>
                </a:lnTo>
                <a:lnTo>
                  <a:pt x="0" y="1297051"/>
                </a:lnTo>
                <a:lnTo>
                  <a:pt x="7092950" y="1297051"/>
                </a:lnTo>
                <a:lnTo>
                  <a:pt x="7092950" y="0"/>
                </a:lnTo>
                <a:close/>
              </a:path>
            </a:pathLst>
          </a:custGeom>
          <a:solidFill>
            <a:srgbClr val="FFFFCC"/>
          </a:solidFill>
        </p:spPr>
        <p:txBody>
          <a:bodyPr wrap="square" lIns="0" tIns="0" rIns="0" bIns="0" rtlCol="0"/>
          <a:lstStyle/>
          <a:p/>
        </p:txBody>
      </p:sp>
      <p:sp>
        <p:nvSpPr>
          <p:cNvPr id="5" name="object 5" descr=""/>
          <p:cNvSpPr txBox="1"/>
          <p:nvPr/>
        </p:nvSpPr>
        <p:spPr>
          <a:xfrm>
            <a:off x="3638124" y="1826931"/>
            <a:ext cx="137795" cy="345440"/>
          </a:xfrm>
          <a:prstGeom prst="rect">
            <a:avLst/>
          </a:prstGeom>
        </p:spPr>
        <p:txBody>
          <a:bodyPr wrap="square" lIns="0" tIns="12065" rIns="0" bIns="0" rtlCol="0" vert="horz">
            <a:spAutoFit/>
          </a:bodyPr>
          <a:lstStyle/>
          <a:p>
            <a:pPr marL="12700">
              <a:lnSpc>
                <a:spcPct val="100000"/>
              </a:lnSpc>
              <a:spcBef>
                <a:spcPts val="95"/>
              </a:spcBef>
            </a:pPr>
            <a:r>
              <a:rPr dirty="0" sz="2100" spc="-114" b="1">
                <a:latin typeface="Times New Roman"/>
                <a:cs typeface="Times New Roman"/>
              </a:rPr>
              <a:t>0</a:t>
            </a:r>
            <a:endParaRPr sz="2100">
              <a:latin typeface="Times New Roman"/>
              <a:cs typeface="Times New Roman"/>
            </a:endParaRPr>
          </a:p>
        </p:txBody>
      </p:sp>
      <p:sp>
        <p:nvSpPr>
          <p:cNvPr id="6" name="object 6" descr=""/>
          <p:cNvSpPr txBox="1"/>
          <p:nvPr/>
        </p:nvSpPr>
        <p:spPr>
          <a:xfrm>
            <a:off x="4759090" y="1833352"/>
            <a:ext cx="446405" cy="345440"/>
          </a:xfrm>
          <a:prstGeom prst="rect">
            <a:avLst/>
          </a:prstGeom>
        </p:spPr>
        <p:txBody>
          <a:bodyPr wrap="square" lIns="0" tIns="12065" rIns="0" bIns="0" rtlCol="0" vert="horz">
            <a:spAutoFit/>
          </a:bodyPr>
          <a:lstStyle/>
          <a:p>
            <a:pPr marL="12700">
              <a:lnSpc>
                <a:spcPct val="100000"/>
              </a:lnSpc>
              <a:spcBef>
                <a:spcPts val="95"/>
              </a:spcBef>
              <a:tabLst>
                <a:tab pos="321310" algn="l"/>
              </a:tabLst>
            </a:pPr>
            <a:r>
              <a:rPr dirty="0" sz="2100" spc="-50" b="1">
                <a:latin typeface="Times New Roman"/>
                <a:cs typeface="Times New Roman"/>
              </a:rPr>
              <a:t>5</a:t>
            </a:r>
            <a:r>
              <a:rPr dirty="0" sz="2100" b="1">
                <a:latin typeface="Times New Roman"/>
                <a:cs typeface="Times New Roman"/>
              </a:rPr>
              <a:t>	</a:t>
            </a:r>
            <a:r>
              <a:rPr dirty="0" sz="2100" spc="-114" b="1">
                <a:latin typeface="Times New Roman"/>
                <a:cs typeface="Times New Roman"/>
              </a:rPr>
              <a:t>6</a:t>
            </a:r>
            <a:endParaRPr sz="2100">
              <a:latin typeface="Times New Roman"/>
              <a:cs typeface="Times New Roman"/>
            </a:endParaRPr>
          </a:p>
        </p:txBody>
      </p:sp>
      <p:sp>
        <p:nvSpPr>
          <p:cNvPr id="7" name="object 7" descr=""/>
          <p:cNvSpPr txBox="1"/>
          <p:nvPr/>
        </p:nvSpPr>
        <p:spPr>
          <a:xfrm>
            <a:off x="4256946" y="827860"/>
            <a:ext cx="5594350" cy="345440"/>
          </a:xfrm>
          <a:prstGeom prst="rect">
            <a:avLst/>
          </a:prstGeom>
        </p:spPr>
        <p:txBody>
          <a:bodyPr wrap="square" lIns="0" tIns="12065" rIns="0" bIns="0" rtlCol="0" vert="horz">
            <a:spAutoFit/>
          </a:bodyPr>
          <a:lstStyle/>
          <a:p>
            <a:pPr marL="12700">
              <a:lnSpc>
                <a:spcPct val="100000"/>
              </a:lnSpc>
              <a:spcBef>
                <a:spcPts val="95"/>
              </a:spcBef>
              <a:tabLst>
                <a:tab pos="1231900" algn="l"/>
                <a:tab pos="2200910" algn="l"/>
                <a:tab pos="3169920" algn="l"/>
                <a:tab pos="4296410" algn="l"/>
                <a:tab pos="5469255" algn="l"/>
              </a:tabLst>
            </a:pPr>
            <a:r>
              <a:rPr dirty="0" sz="2100" spc="-50" b="1">
                <a:latin typeface="Times New Roman"/>
                <a:cs typeface="Times New Roman"/>
              </a:rPr>
              <a:t>6</a:t>
            </a:r>
            <a:r>
              <a:rPr dirty="0" sz="2100" b="1">
                <a:latin typeface="Times New Roman"/>
                <a:cs typeface="Times New Roman"/>
              </a:rPr>
              <a:t>	</a:t>
            </a:r>
            <a:r>
              <a:rPr dirty="0" baseline="1322" sz="3150" spc="-75" b="1">
                <a:latin typeface="Times New Roman"/>
                <a:cs typeface="Times New Roman"/>
              </a:rPr>
              <a:t>5</a:t>
            </a:r>
            <a:r>
              <a:rPr dirty="0" baseline="1322" sz="3150" b="1">
                <a:latin typeface="Times New Roman"/>
                <a:cs typeface="Times New Roman"/>
              </a:rPr>
              <a:t>	</a:t>
            </a:r>
            <a:r>
              <a:rPr dirty="0" baseline="1322" sz="3150" spc="-75" b="1">
                <a:latin typeface="Times New Roman"/>
                <a:cs typeface="Times New Roman"/>
              </a:rPr>
              <a:t>5</a:t>
            </a:r>
            <a:r>
              <a:rPr dirty="0" baseline="1322" sz="3150" b="1">
                <a:latin typeface="Times New Roman"/>
                <a:cs typeface="Times New Roman"/>
              </a:rPr>
              <a:t>	</a:t>
            </a:r>
            <a:r>
              <a:rPr dirty="0" sz="2100" spc="-50" b="1">
                <a:latin typeface="Times New Roman"/>
                <a:cs typeface="Times New Roman"/>
              </a:rPr>
              <a:t>5</a:t>
            </a:r>
            <a:r>
              <a:rPr dirty="0" sz="2100" b="1">
                <a:latin typeface="Times New Roman"/>
                <a:cs typeface="Times New Roman"/>
              </a:rPr>
              <a:t>	</a:t>
            </a:r>
            <a:r>
              <a:rPr dirty="0" baseline="1322" sz="3150" spc="-75" b="1">
                <a:latin typeface="Times New Roman"/>
                <a:cs typeface="Times New Roman"/>
              </a:rPr>
              <a:t>5</a:t>
            </a:r>
            <a:r>
              <a:rPr dirty="0" baseline="1322" sz="3150" b="1">
                <a:latin typeface="Times New Roman"/>
                <a:cs typeface="Times New Roman"/>
              </a:rPr>
              <a:t>	</a:t>
            </a:r>
            <a:r>
              <a:rPr dirty="0" baseline="1322" sz="3150" spc="-172" b="1">
                <a:latin typeface="Times New Roman"/>
                <a:cs typeface="Times New Roman"/>
              </a:rPr>
              <a:t>6</a:t>
            </a:r>
            <a:endParaRPr baseline="1322" sz="3150">
              <a:latin typeface="Times New Roman"/>
              <a:cs typeface="Times New Roman"/>
            </a:endParaRPr>
          </a:p>
        </p:txBody>
      </p:sp>
      <p:graphicFrame>
        <p:nvGraphicFramePr>
          <p:cNvPr id="8" name="object 8" descr=""/>
          <p:cNvGraphicFramePr>
            <a:graphicFrameLocks noGrp="1"/>
          </p:cNvGraphicFramePr>
          <p:nvPr/>
        </p:nvGraphicFramePr>
        <p:xfrm>
          <a:off x="3623004" y="1201616"/>
          <a:ext cx="7014209" cy="635635"/>
        </p:xfrm>
        <a:graphic>
          <a:graphicData uri="http://schemas.openxmlformats.org/drawingml/2006/table">
            <a:tbl>
              <a:tblPr firstRow="1" bandRow="1">
                <a:tableStyleId>{2D5ABB26-0587-4C30-8999-92F81FD0307C}</a:tableStyleId>
              </a:tblPr>
              <a:tblGrid>
                <a:gridCol w="1460500"/>
                <a:gridCol w="1015364"/>
                <a:gridCol w="1022350"/>
                <a:gridCol w="1021714"/>
                <a:gridCol w="1022350"/>
                <a:gridCol w="1377950"/>
              </a:tblGrid>
              <a:tr h="635635">
                <a:tc>
                  <a:txBody>
                    <a:bodyPr/>
                    <a:lstStyle/>
                    <a:p>
                      <a:pPr marL="98425">
                        <a:lnSpc>
                          <a:spcPct val="100000"/>
                        </a:lnSpc>
                        <a:spcBef>
                          <a:spcPts val="610"/>
                        </a:spcBef>
                      </a:pPr>
                      <a:r>
                        <a:rPr dirty="0" sz="2600" b="1">
                          <a:solidFill>
                            <a:srgbClr val="C00000"/>
                          </a:solidFill>
                          <a:latin typeface="Tahoma"/>
                          <a:cs typeface="Tahoma"/>
                        </a:rPr>
                        <a:t>0</a:t>
                      </a:r>
                      <a:r>
                        <a:rPr dirty="0" sz="2600" spc="-1110" b="1">
                          <a:solidFill>
                            <a:srgbClr val="C00000"/>
                          </a:solidFill>
                          <a:latin typeface="Tahoma"/>
                          <a:cs typeface="Tahoma"/>
                        </a:rPr>
                        <a:t>0</a:t>
                      </a:r>
                      <a:r>
                        <a:rPr dirty="0" baseline="-5291" sz="3150" spc="-1530">
                          <a:latin typeface="宋体"/>
                          <a:cs typeface="宋体"/>
                        </a:rPr>
                        <a:t>操</a:t>
                      </a:r>
                      <a:r>
                        <a:rPr dirty="0" sz="2600" spc="-1019" b="1">
                          <a:solidFill>
                            <a:srgbClr val="C00000"/>
                          </a:solidFill>
                          <a:latin typeface="Tahoma"/>
                          <a:cs typeface="Tahoma"/>
                        </a:rPr>
                        <a:t>0</a:t>
                      </a:r>
                      <a:r>
                        <a:rPr dirty="0" baseline="-5291" sz="3150" spc="-562">
                          <a:latin typeface="宋体"/>
                          <a:cs typeface="宋体"/>
                        </a:rPr>
                        <a:t>作</a:t>
                      </a:r>
                      <a:r>
                        <a:rPr dirty="0" sz="2600" spc="-1655" b="1">
                          <a:solidFill>
                            <a:srgbClr val="C00000"/>
                          </a:solidFill>
                          <a:latin typeface="Tahoma"/>
                          <a:cs typeface="Tahoma"/>
                        </a:rPr>
                        <a:t>0</a:t>
                      </a:r>
                      <a:r>
                        <a:rPr dirty="0" baseline="-5291" sz="3150" spc="-697">
                          <a:latin typeface="宋体"/>
                          <a:cs typeface="宋体"/>
                        </a:rPr>
                        <a:t>码</a:t>
                      </a:r>
                      <a:r>
                        <a:rPr dirty="0" sz="2600" spc="-25" b="1">
                          <a:solidFill>
                            <a:srgbClr val="C00000"/>
                          </a:solidFill>
                          <a:latin typeface="Tahoma"/>
                          <a:cs typeface="Tahoma"/>
                        </a:rPr>
                        <a:t>00</a:t>
                      </a:r>
                      <a:endParaRPr sz="2600">
                        <a:latin typeface="Tahoma"/>
                        <a:cs typeface="Tahoma"/>
                      </a:endParaRPr>
                    </a:p>
                  </a:txBody>
                  <a:tcPr marL="0" marR="0" marB="0" marT="77470">
                    <a:lnL w="28575">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FFFFCC"/>
                    </a:solidFill>
                  </a:tcPr>
                </a:tc>
                <a:tc>
                  <a:txBody>
                    <a:bodyPr/>
                    <a:lstStyle/>
                    <a:p>
                      <a:pPr algn="ctr" marL="55244">
                        <a:lnSpc>
                          <a:spcPct val="100000"/>
                        </a:lnSpc>
                        <a:spcBef>
                          <a:spcPts val="1170"/>
                        </a:spcBef>
                      </a:pPr>
                      <a:r>
                        <a:rPr dirty="0" sz="2400" spc="-25" b="1">
                          <a:latin typeface="Times New Roman"/>
                          <a:cs typeface="Times New Roman"/>
                        </a:rPr>
                        <a:t>rs</a:t>
                      </a:r>
                      <a:endParaRPr sz="2400">
                        <a:latin typeface="Times New Roman"/>
                        <a:cs typeface="Times New Roman"/>
                      </a:endParaRPr>
                    </a:p>
                  </a:txBody>
                  <a:tcPr marL="0" marR="0" marB="0" marT="148590">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FFFFCC"/>
                    </a:solidFill>
                  </a:tcPr>
                </a:tc>
                <a:tc>
                  <a:txBody>
                    <a:bodyPr/>
                    <a:lstStyle/>
                    <a:p>
                      <a:pPr algn="ctr" marR="26034">
                        <a:lnSpc>
                          <a:spcPct val="100000"/>
                        </a:lnSpc>
                        <a:spcBef>
                          <a:spcPts val="1170"/>
                        </a:spcBef>
                      </a:pPr>
                      <a:r>
                        <a:rPr dirty="0" sz="2400" spc="-25" b="1">
                          <a:latin typeface="Times New Roman"/>
                          <a:cs typeface="Times New Roman"/>
                        </a:rPr>
                        <a:t>rt</a:t>
                      </a:r>
                      <a:endParaRPr sz="2400">
                        <a:latin typeface="Times New Roman"/>
                        <a:cs typeface="Times New Roman"/>
                      </a:endParaRPr>
                    </a:p>
                  </a:txBody>
                  <a:tcPr marL="0" marR="0" marB="0" marT="148590">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FFFFCC"/>
                    </a:solidFill>
                  </a:tcPr>
                </a:tc>
                <a:tc>
                  <a:txBody>
                    <a:bodyPr/>
                    <a:lstStyle/>
                    <a:p>
                      <a:pPr algn="ctr">
                        <a:lnSpc>
                          <a:spcPct val="100000"/>
                        </a:lnSpc>
                        <a:spcBef>
                          <a:spcPts val="1170"/>
                        </a:spcBef>
                      </a:pPr>
                      <a:r>
                        <a:rPr dirty="0" sz="2400" spc="-25" b="1">
                          <a:latin typeface="Times New Roman"/>
                          <a:cs typeface="Times New Roman"/>
                        </a:rPr>
                        <a:t>rd</a:t>
                      </a:r>
                      <a:endParaRPr sz="2400">
                        <a:latin typeface="Times New Roman"/>
                        <a:cs typeface="Times New Roman"/>
                      </a:endParaRPr>
                    </a:p>
                  </a:txBody>
                  <a:tcPr marL="0" marR="0" marB="0" marT="148590">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FFFFCC"/>
                    </a:solidFill>
                  </a:tcPr>
                </a:tc>
                <a:tc>
                  <a:txBody>
                    <a:bodyPr/>
                    <a:lstStyle/>
                    <a:p>
                      <a:pPr marL="227965">
                        <a:lnSpc>
                          <a:spcPct val="100000"/>
                        </a:lnSpc>
                        <a:spcBef>
                          <a:spcPts val="1170"/>
                        </a:spcBef>
                      </a:pPr>
                      <a:r>
                        <a:rPr dirty="0" sz="2400" spc="-20" b="1">
                          <a:latin typeface="Times New Roman"/>
                          <a:cs typeface="Times New Roman"/>
                        </a:rPr>
                        <a:t>sham</a:t>
                      </a:r>
                      <a:endParaRPr sz="2400">
                        <a:latin typeface="Times New Roman"/>
                        <a:cs typeface="Times New Roman"/>
                      </a:endParaRPr>
                    </a:p>
                  </a:txBody>
                  <a:tcPr marL="0" marR="0" marB="0" marT="148590">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FFFFCC"/>
                    </a:solidFill>
                  </a:tcPr>
                </a:tc>
                <a:tc>
                  <a:txBody>
                    <a:bodyPr/>
                    <a:lstStyle/>
                    <a:p>
                      <a:pPr marL="431800">
                        <a:lnSpc>
                          <a:spcPct val="100000"/>
                        </a:lnSpc>
                        <a:spcBef>
                          <a:spcPts val="1170"/>
                        </a:spcBef>
                      </a:pPr>
                      <a:r>
                        <a:rPr dirty="0" sz="2400" spc="-10" b="1">
                          <a:latin typeface="Times New Roman"/>
                          <a:cs typeface="Times New Roman"/>
                        </a:rPr>
                        <a:t>funct</a:t>
                      </a:r>
                      <a:endParaRPr sz="2400">
                        <a:latin typeface="Times New Roman"/>
                        <a:cs typeface="Times New Roman"/>
                      </a:endParaRPr>
                    </a:p>
                  </a:txBody>
                  <a:tcPr marL="0" marR="0" marB="0" marT="148590">
                    <a:lnL w="1905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CC"/>
                    </a:solidFill>
                  </a:tcPr>
                </a:tc>
              </a:tr>
            </a:tbl>
          </a:graphicData>
        </a:graphic>
      </p:graphicFrame>
      <p:sp>
        <p:nvSpPr>
          <p:cNvPr id="9" name="object 9" descr=""/>
          <p:cNvSpPr txBox="1"/>
          <p:nvPr/>
        </p:nvSpPr>
        <p:spPr>
          <a:xfrm>
            <a:off x="5727908" y="1649758"/>
            <a:ext cx="4693920" cy="1656080"/>
          </a:xfrm>
          <a:prstGeom prst="rect">
            <a:avLst/>
          </a:prstGeom>
        </p:spPr>
        <p:txBody>
          <a:bodyPr wrap="square" lIns="0" tIns="196215" rIns="0" bIns="0" rtlCol="0" vert="horz">
            <a:spAutoFit/>
          </a:bodyPr>
          <a:lstStyle/>
          <a:p>
            <a:pPr marL="12700">
              <a:lnSpc>
                <a:spcPct val="100000"/>
              </a:lnSpc>
              <a:spcBef>
                <a:spcPts val="1545"/>
              </a:spcBef>
              <a:tabLst>
                <a:tab pos="409575" algn="l"/>
                <a:tab pos="1033780" algn="l"/>
                <a:tab pos="1395730" algn="l"/>
                <a:tab pos="2054860" algn="l"/>
                <a:tab pos="2416810" algn="l"/>
                <a:tab pos="3053080" algn="l"/>
                <a:tab pos="3438525" algn="l"/>
                <a:tab pos="4459605" algn="l"/>
              </a:tabLst>
            </a:pPr>
            <a:r>
              <a:rPr dirty="0" sz="2100" spc="-25" b="1">
                <a:latin typeface="Times New Roman"/>
                <a:cs typeface="Times New Roman"/>
              </a:rPr>
              <a:t>10</a:t>
            </a:r>
            <a:r>
              <a:rPr dirty="0" sz="2100" b="1">
                <a:latin typeface="Times New Roman"/>
                <a:cs typeface="Times New Roman"/>
              </a:rPr>
              <a:t>	</a:t>
            </a:r>
            <a:r>
              <a:rPr dirty="0" sz="2100" spc="-25" b="1">
                <a:latin typeface="Times New Roman"/>
                <a:cs typeface="Times New Roman"/>
              </a:rPr>
              <a:t>11</a:t>
            </a:r>
            <a:r>
              <a:rPr dirty="0" sz="2100" b="1">
                <a:latin typeface="Times New Roman"/>
                <a:cs typeface="Times New Roman"/>
              </a:rPr>
              <a:t>	</a:t>
            </a:r>
            <a:r>
              <a:rPr dirty="0" sz="2100" spc="-25" b="1">
                <a:latin typeface="Times New Roman"/>
                <a:cs typeface="Times New Roman"/>
              </a:rPr>
              <a:t>15</a:t>
            </a:r>
            <a:r>
              <a:rPr dirty="0" sz="2100" b="1">
                <a:latin typeface="Times New Roman"/>
                <a:cs typeface="Times New Roman"/>
              </a:rPr>
              <a:t>	</a:t>
            </a:r>
            <a:r>
              <a:rPr dirty="0" sz="2100" spc="-25" b="1">
                <a:latin typeface="Times New Roman"/>
                <a:cs typeface="Times New Roman"/>
              </a:rPr>
              <a:t>16</a:t>
            </a:r>
            <a:r>
              <a:rPr dirty="0" sz="2100" b="1">
                <a:latin typeface="Times New Roman"/>
                <a:cs typeface="Times New Roman"/>
              </a:rPr>
              <a:t>	</a:t>
            </a:r>
            <a:r>
              <a:rPr dirty="0" sz="2100" spc="-25" b="1">
                <a:latin typeface="Times New Roman"/>
                <a:cs typeface="Times New Roman"/>
              </a:rPr>
              <a:t>20</a:t>
            </a:r>
            <a:r>
              <a:rPr dirty="0" sz="2100" b="1">
                <a:latin typeface="Times New Roman"/>
                <a:cs typeface="Times New Roman"/>
              </a:rPr>
              <a:t>	</a:t>
            </a:r>
            <a:r>
              <a:rPr dirty="0" sz="2100" spc="-25" b="1">
                <a:latin typeface="Times New Roman"/>
                <a:cs typeface="Times New Roman"/>
              </a:rPr>
              <a:t>21</a:t>
            </a:r>
            <a:r>
              <a:rPr dirty="0" sz="2100" b="1">
                <a:latin typeface="Times New Roman"/>
                <a:cs typeface="Times New Roman"/>
              </a:rPr>
              <a:t>	</a:t>
            </a:r>
            <a:r>
              <a:rPr dirty="0" sz="2100" spc="-25" b="1">
                <a:latin typeface="Times New Roman"/>
                <a:cs typeface="Times New Roman"/>
              </a:rPr>
              <a:t>25</a:t>
            </a:r>
            <a:r>
              <a:rPr dirty="0" sz="2100" b="1">
                <a:latin typeface="Times New Roman"/>
                <a:cs typeface="Times New Roman"/>
              </a:rPr>
              <a:t>	</a:t>
            </a:r>
            <a:r>
              <a:rPr dirty="0" sz="2100" spc="-25" b="1">
                <a:latin typeface="Times New Roman"/>
                <a:cs typeface="Times New Roman"/>
              </a:rPr>
              <a:t>26</a:t>
            </a:r>
            <a:r>
              <a:rPr dirty="0" sz="2100" b="1">
                <a:latin typeface="Times New Roman"/>
                <a:cs typeface="Times New Roman"/>
              </a:rPr>
              <a:t>	</a:t>
            </a:r>
            <a:r>
              <a:rPr dirty="0" sz="2100" spc="-160" b="1">
                <a:latin typeface="Times New Roman"/>
                <a:cs typeface="Times New Roman"/>
              </a:rPr>
              <a:t>31</a:t>
            </a:r>
            <a:endParaRPr sz="2100">
              <a:latin typeface="Times New Roman"/>
              <a:cs typeface="Times New Roman"/>
            </a:endParaRPr>
          </a:p>
          <a:p>
            <a:pPr marL="3340100">
              <a:lnSpc>
                <a:spcPct val="100000"/>
              </a:lnSpc>
              <a:spcBef>
                <a:spcPts val="1800"/>
              </a:spcBef>
            </a:pPr>
            <a:r>
              <a:rPr dirty="0" sz="2600">
                <a:solidFill>
                  <a:srgbClr val="40458B"/>
                </a:solidFill>
                <a:latin typeface="Tahoma"/>
                <a:cs typeface="Tahoma"/>
              </a:rPr>
              <a:t>000</a:t>
            </a:r>
            <a:r>
              <a:rPr dirty="0" sz="2600" spc="-45">
                <a:solidFill>
                  <a:srgbClr val="40458B"/>
                </a:solidFill>
                <a:latin typeface="Tahoma"/>
                <a:cs typeface="Tahoma"/>
              </a:rPr>
              <a:t> </a:t>
            </a:r>
            <a:r>
              <a:rPr dirty="0" sz="2600" spc="-25">
                <a:solidFill>
                  <a:srgbClr val="40458B"/>
                </a:solidFill>
                <a:latin typeface="Tahoma"/>
                <a:cs typeface="Tahoma"/>
              </a:rPr>
              <a:t>001</a:t>
            </a:r>
            <a:endParaRPr sz="2600">
              <a:latin typeface="Tahoma"/>
              <a:cs typeface="Tahoma"/>
            </a:endParaRPr>
          </a:p>
          <a:p>
            <a:pPr marL="3330575">
              <a:lnSpc>
                <a:spcPct val="100000"/>
              </a:lnSpc>
              <a:spcBef>
                <a:spcPts val="830"/>
              </a:spcBef>
            </a:pPr>
            <a:r>
              <a:rPr dirty="0" sz="2600">
                <a:solidFill>
                  <a:srgbClr val="40458B"/>
                </a:solidFill>
                <a:latin typeface="Tahoma"/>
                <a:cs typeface="Tahoma"/>
              </a:rPr>
              <a:t>000</a:t>
            </a:r>
            <a:r>
              <a:rPr dirty="0" sz="2600" spc="-45">
                <a:solidFill>
                  <a:srgbClr val="40458B"/>
                </a:solidFill>
                <a:latin typeface="Tahoma"/>
                <a:cs typeface="Tahoma"/>
              </a:rPr>
              <a:t> </a:t>
            </a:r>
            <a:r>
              <a:rPr dirty="0" sz="2600" spc="-25">
                <a:solidFill>
                  <a:srgbClr val="40458B"/>
                </a:solidFill>
                <a:latin typeface="Tahoma"/>
                <a:cs typeface="Tahoma"/>
              </a:rPr>
              <a:t>011</a:t>
            </a:r>
            <a:endParaRPr sz="2600">
              <a:latin typeface="Tahoma"/>
              <a:cs typeface="Tahoma"/>
            </a:endParaRPr>
          </a:p>
        </p:txBody>
      </p:sp>
      <p:sp>
        <p:nvSpPr>
          <p:cNvPr id="10" name="object 10" descr=""/>
          <p:cNvSpPr txBox="1"/>
          <p:nvPr/>
        </p:nvSpPr>
        <p:spPr>
          <a:xfrm>
            <a:off x="1961769" y="2250245"/>
            <a:ext cx="2000250" cy="1168400"/>
          </a:xfrm>
          <a:prstGeom prst="rect">
            <a:avLst/>
          </a:prstGeom>
        </p:spPr>
        <p:txBody>
          <a:bodyPr wrap="square" lIns="0" tIns="12065" rIns="0" bIns="0" rtlCol="0" vert="horz">
            <a:spAutoFit/>
          </a:bodyPr>
          <a:lstStyle/>
          <a:p>
            <a:pPr marL="44450" marR="5080" indent="-31750">
              <a:lnSpc>
                <a:spcPct val="144200"/>
              </a:lnSpc>
              <a:spcBef>
                <a:spcPts val="95"/>
              </a:spcBef>
              <a:tabLst>
                <a:tab pos="1052830" algn="l"/>
              </a:tabLst>
            </a:pPr>
            <a:r>
              <a:rPr dirty="0" sz="2600">
                <a:solidFill>
                  <a:srgbClr val="40458B"/>
                </a:solidFill>
                <a:latin typeface="Tahoma"/>
                <a:cs typeface="Tahoma"/>
              </a:rPr>
              <a:t>and</a:t>
            </a:r>
            <a:r>
              <a:rPr dirty="0" sz="2600" spc="-20">
                <a:solidFill>
                  <a:srgbClr val="40458B"/>
                </a:solidFill>
                <a:latin typeface="Tahoma"/>
                <a:cs typeface="Tahoma"/>
              </a:rPr>
              <a:t> </a:t>
            </a:r>
            <a:r>
              <a:rPr dirty="0" sz="2600">
                <a:solidFill>
                  <a:srgbClr val="40458B"/>
                </a:solidFill>
                <a:latin typeface="Tahoma"/>
                <a:cs typeface="Tahoma"/>
              </a:rPr>
              <a:t>rd,</a:t>
            </a:r>
            <a:r>
              <a:rPr dirty="0" sz="2600" spc="-10">
                <a:solidFill>
                  <a:srgbClr val="40458B"/>
                </a:solidFill>
                <a:latin typeface="Tahoma"/>
                <a:cs typeface="Tahoma"/>
              </a:rPr>
              <a:t> rs</a:t>
            </a:r>
            <a:r>
              <a:rPr dirty="0" sz="2600" spc="-10">
                <a:solidFill>
                  <a:srgbClr val="40458B"/>
                </a:solidFill>
                <a:latin typeface="黑体"/>
                <a:cs typeface="黑体"/>
              </a:rPr>
              <a:t>，</a:t>
            </a:r>
            <a:r>
              <a:rPr dirty="0" sz="2600" spc="-10">
                <a:solidFill>
                  <a:srgbClr val="40458B"/>
                </a:solidFill>
                <a:latin typeface="Tahoma"/>
                <a:cs typeface="Tahoma"/>
              </a:rPr>
              <a:t>rt </a:t>
            </a:r>
            <a:r>
              <a:rPr dirty="0" sz="2600">
                <a:solidFill>
                  <a:srgbClr val="40458B"/>
                </a:solidFill>
                <a:latin typeface="Tahoma"/>
                <a:cs typeface="Tahoma"/>
              </a:rPr>
              <a:t>or</a:t>
            </a:r>
            <a:r>
              <a:rPr dirty="0" sz="2600" spc="-5">
                <a:solidFill>
                  <a:srgbClr val="40458B"/>
                </a:solidFill>
                <a:latin typeface="Tahoma"/>
                <a:cs typeface="Tahoma"/>
              </a:rPr>
              <a:t> </a:t>
            </a:r>
            <a:r>
              <a:rPr dirty="0" sz="2600" spc="-25">
                <a:solidFill>
                  <a:srgbClr val="40458B"/>
                </a:solidFill>
                <a:latin typeface="Tahoma"/>
                <a:cs typeface="Tahoma"/>
              </a:rPr>
              <a:t>rd,</a:t>
            </a:r>
            <a:r>
              <a:rPr dirty="0" sz="2600">
                <a:solidFill>
                  <a:srgbClr val="40458B"/>
                </a:solidFill>
                <a:latin typeface="Tahoma"/>
                <a:cs typeface="Tahoma"/>
              </a:rPr>
              <a:t>	</a:t>
            </a:r>
            <a:r>
              <a:rPr dirty="0" sz="2600" spc="-20">
                <a:solidFill>
                  <a:srgbClr val="40458B"/>
                </a:solidFill>
                <a:latin typeface="Tahoma"/>
                <a:cs typeface="Tahoma"/>
              </a:rPr>
              <a:t>rs</a:t>
            </a:r>
            <a:r>
              <a:rPr dirty="0" sz="2600" spc="-20">
                <a:solidFill>
                  <a:srgbClr val="40458B"/>
                </a:solidFill>
                <a:latin typeface="黑体"/>
                <a:cs typeface="黑体"/>
              </a:rPr>
              <a:t>，</a:t>
            </a:r>
            <a:r>
              <a:rPr dirty="0" sz="2600" spc="-20">
                <a:solidFill>
                  <a:srgbClr val="40458B"/>
                </a:solidFill>
                <a:latin typeface="Tahoma"/>
                <a:cs typeface="Tahoma"/>
              </a:rPr>
              <a:t>rt</a:t>
            </a:r>
            <a:endParaRPr sz="2600">
              <a:latin typeface="Tahoma"/>
              <a:cs typeface="Tahoma"/>
            </a:endParaRPr>
          </a:p>
        </p:txBody>
      </p:sp>
      <p:sp>
        <p:nvSpPr>
          <p:cNvPr id="11" name="object 11" descr=""/>
          <p:cNvSpPr txBox="1"/>
          <p:nvPr/>
        </p:nvSpPr>
        <p:spPr>
          <a:xfrm>
            <a:off x="1926717" y="4137786"/>
            <a:ext cx="1863089" cy="422275"/>
          </a:xfrm>
          <a:prstGeom prst="rect">
            <a:avLst/>
          </a:prstGeom>
        </p:spPr>
        <p:txBody>
          <a:bodyPr wrap="square" lIns="0" tIns="12700" rIns="0" bIns="0" rtlCol="0" vert="horz">
            <a:spAutoFit/>
          </a:bodyPr>
          <a:lstStyle/>
          <a:p>
            <a:pPr marL="12700">
              <a:lnSpc>
                <a:spcPct val="100000"/>
              </a:lnSpc>
              <a:spcBef>
                <a:spcPts val="100"/>
              </a:spcBef>
              <a:tabLst>
                <a:tab pos="1021080" algn="l"/>
              </a:tabLst>
            </a:pPr>
            <a:r>
              <a:rPr dirty="0" sz="2600">
                <a:solidFill>
                  <a:srgbClr val="40458B"/>
                </a:solidFill>
                <a:latin typeface="Tahoma"/>
                <a:cs typeface="Tahoma"/>
              </a:rPr>
              <a:t>or</a:t>
            </a:r>
            <a:r>
              <a:rPr dirty="0" sz="2600" spc="-5">
                <a:solidFill>
                  <a:srgbClr val="40458B"/>
                </a:solidFill>
                <a:latin typeface="Tahoma"/>
                <a:cs typeface="Tahoma"/>
              </a:rPr>
              <a:t> </a:t>
            </a:r>
            <a:r>
              <a:rPr dirty="0" sz="2600" spc="-25">
                <a:solidFill>
                  <a:srgbClr val="40458B"/>
                </a:solidFill>
                <a:latin typeface="Tahoma"/>
                <a:cs typeface="Tahoma"/>
              </a:rPr>
              <a:t>rd,</a:t>
            </a:r>
            <a:r>
              <a:rPr dirty="0" sz="2600">
                <a:solidFill>
                  <a:srgbClr val="40458B"/>
                </a:solidFill>
                <a:latin typeface="Tahoma"/>
                <a:cs typeface="Tahoma"/>
              </a:rPr>
              <a:t>	</a:t>
            </a:r>
            <a:r>
              <a:rPr dirty="0" sz="2600" spc="-20">
                <a:solidFill>
                  <a:srgbClr val="40458B"/>
                </a:solidFill>
                <a:latin typeface="Tahoma"/>
                <a:cs typeface="Tahoma"/>
              </a:rPr>
              <a:t>rs</a:t>
            </a:r>
            <a:r>
              <a:rPr dirty="0" sz="2600" spc="-20">
                <a:solidFill>
                  <a:srgbClr val="40458B"/>
                </a:solidFill>
                <a:latin typeface="黑体"/>
                <a:cs typeface="黑体"/>
              </a:rPr>
              <a:t>，</a:t>
            </a:r>
            <a:r>
              <a:rPr dirty="0" sz="2600" spc="-20">
                <a:solidFill>
                  <a:srgbClr val="40458B"/>
                </a:solidFill>
                <a:latin typeface="Tahoma"/>
                <a:cs typeface="Tahoma"/>
              </a:rPr>
              <a:t>rt</a:t>
            </a:r>
            <a:endParaRPr sz="2600">
              <a:latin typeface="Tahoma"/>
              <a:cs typeface="Tahoma"/>
            </a:endParaRPr>
          </a:p>
        </p:txBody>
      </p:sp>
      <p:sp>
        <p:nvSpPr>
          <p:cNvPr id="12" name="object 12" descr=""/>
          <p:cNvSpPr txBox="1"/>
          <p:nvPr/>
        </p:nvSpPr>
        <p:spPr>
          <a:xfrm>
            <a:off x="5929376" y="4137786"/>
            <a:ext cx="3649979" cy="422275"/>
          </a:xfrm>
          <a:prstGeom prst="rect">
            <a:avLst/>
          </a:prstGeom>
        </p:spPr>
        <p:txBody>
          <a:bodyPr wrap="square" lIns="0" tIns="12700" rIns="0" bIns="0" rtlCol="0" vert="horz">
            <a:spAutoFit/>
          </a:bodyPr>
          <a:lstStyle/>
          <a:p>
            <a:pPr marL="12700">
              <a:lnSpc>
                <a:spcPct val="100000"/>
              </a:lnSpc>
              <a:spcBef>
                <a:spcPts val="100"/>
              </a:spcBef>
            </a:pPr>
            <a:r>
              <a:rPr dirty="0" sz="2600" spc="-90">
                <a:solidFill>
                  <a:srgbClr val="40458B"/>
                </a:solidFill>
                <a:latin typeface="黑体"/>
                <a:cs typeface="黑体"/>
              </a:rPr>
              <a:t>指令功能： </a:t>
            </a:r>
            <a:r>
              <a:rPr dirty="0" sz="2600">
                <a:solidFill>
                  <a:srgbClr val="40458B"/>
                </a:solidFill>
                <a:latin typeface="Tahoma"/>
                <a:cs typeface="Tahoma"/>
              </a:rPr>
              <a:t>rd</a:t>
            </a:r>
            <a:r>
              <a:rPr dirty="0" sz="2600" spc="-5">
                <a:solidFill>
                  <a:srgbClr val="40458B"/>
                </a:solidFill>
                <a:latin typeface="Tahoma"/>
                <a:cs typeface="Tahoma"/>
              </a:rPr>
              <a:t> ← </a:t>
            </a:r>
            <a:r>
              <a:rPr dirty="0" sz="2600">
                <a:solidFill>
                  <a:srgbClr val="40458B"/>
                </a:solidFill>
                <a:latin typeface="Tahoma"/>
                <a:cs typeface="Tahoma"/>
              </a:rPr>
              <a:t>rs </a:t>
            </a:r>
            <a:r>
              <a:rPr dirty="0" sz="2600" spc="-25">
                <a:solidFill>
                  <a:srgbClr val="40458B"/>
                </a:solidFill>
                <a:latin typeface="楷体"/>
                <a:cs typeface="楷体"/>
              </a:rPr>
              <a:t>∨rt</a:t>
            </a:r>
            <a:endParaRPr sz="2600">
              <a:latin typeface="楷体"/>
              <a:cs typeface="楷体"/>
            </a:endParaRPr>
          </a:p>
        </p:txBody>
      </p:sp>
      <p:sp>
        <p:nvSpPr>
          <p:cNvPr id="13" name="object 13" descr=""/>
          <p:cNvSpPr txBox="1"/>
          <p:nvPr/>
        </p:nvSpPr>
        <p:spPr>
          <a:xfrm>
            <a:off x="1437894" y="5652617"/>
            <a:ext cx="927417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FF0000"/>
                </a:solidFill>
                <a:latin typeface="黑体"/>
                <a:cs typeface="黑体"/>
              </a:rPr>
              <a:t>注意</a:t>
            </a:r>
            <a:r>
              <a:rPr dirty="0" sz="2600" spc="-10">
                <a:solidFill>
                  <a:srgbClr val="FF0000"/>
                </a:solidFill>
                <a:latin typeface="Tahoma"/>
                <a:cs typeface="Tahoma"/>
              </a:rPr>
              <a:t>R</a:t>
            </a:r>
            <a:r>
              <a:rPr dirty="0" sz="2600" spc="-5">
                <a:solidFill>
                  <a:srgbClr val="FF0000"/>
                </a:solidFill>
                <a:latin typeface="黑体"/>
                <a:cs typeface="黑体"/>
              </a:rPr>
              <a:t>类指令操作码</a:t>
            </a:r>
            <a:r>
              <a:rPr dirty="0" sz="2600" spc="-105">
                <a:solidFill>
                  <a:srgbClr val="40458B"/>
                </a:solidFill>
                <a:latin typeface="黑体"/>
                <a:cs typeface="黑体"/>
              </a:rPr>
              <a:t>： 最高</a:t>
            </a:r>
            <a:r>
              <a:rPr dirty="0" sz="2600" spc="-30">
                <a:solidFill>
                  <a:srgbClr val="40458B"/>
                </a:solidFill>
                <a:latin typeface="Tahoma"/>
                <a:cs typeface="Tahoma"/>
              </a:rPr>
              <a:t>6</a:t>
            </a:r>
            <a:r>
              <a:rPr dirty="0" sz="2600">
                <a:solidFill>
                  <a:srgbClr val="40458B"/>
                </a:solidFill>
                <a:latin typeface="黑体"/>
                <a:cs typeface="黑体"/>
              </a:rPr>
              <a:t>位</a:t>
            </a:r>
            <a:r>
              <a:rPr dirty="0" sz="2600" spc="-30">
                <a:solidFill>
                  <a:srgbClr val="40458B"/>
                </a:solidFill>
                <a:latin typeface="Tahoma"/>
                <a:cs typeface="Tahoma"/>
              </a:rPr>
              <a:t>000000</a:t>
            </a:r>
            <a:r>
              <a:rPr dirty="0" sz="2600">
                <a:solidFill>
                  <a:srgbClr val="40458B"/>
                </a:solidFill>
                <a:latin typeface="黑体"/>
                <a:cs typeface="黑体"/>
              </a:rPr>
              <a:t>与</a:t>
            </a:r>
            <a:r>
              <a:rPr dirty="0" sz="2600" spc="-10">
                <a:solidFill>
                  <a:srgbClr val="40458B"/>
                </a:solidFill>
                <a:latin typeface="Tahoma"/>
                <a:cs typeface="Tahoma"/>
              </a:rPr>
              <a:t>funct</a:t>
            </a:r>
            <a:r>
              <a:rPr dirty="0" sz="2600" spc="-15">
                <a:solidFill>
                  <a:srgbClr val="40458B"/>
                </a:solidFill>
                <a:latin typeface="黑体"/>
                <a:cs typeface="黑体"/>
              </a:rPr>
              <a:t>结合确定指令功能</a:t>
            </a:r>
            <a:endParaRPr sz="2600">
              <a:latin typeface="黑体"/>
              <a:cs typeface="黑体"/>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pic>
        <p:nvPicPr>
          <p:cNvPr id="3" name="object 3" descr=""/>
          <p:cNvPicPr/>
          <p:nvPr/>
        </p:nvPicPr>
        <p:blipFill>
          <a:blip r:embed="rId2" cstate="print"/>
          <a:stretch>
            <a:fillRect/>
          </a:stretch>
        </p:blipFill>
        <p:spPr>
          <a:xfrm>
            <a:off x="8932679" y="1879980"/>
            <a:ext cx="219075" cy="231775"/>
          </a:xfrm>
          <a:prstGeom prst="rect">
            <a:avLst/>
          </a:prstGeom>
        </p:spPr>
      </p:pic>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latin typeface="微软雅黑"/>
                <a:cs typeface="微软雅黑"/>
              </a:rPr>
              <a:t>	2.6.4</a:t>
            </a:r>
            <a:r>
              <a:rPr dirty="0" spc="-20">
                <a:solidFill>
                  <a:srgbClr val="4F55AC"/>
                </a:solidFill>
                <a:latin typeface="微软雅黑"/>
                <a:cs typeface="微软雅黑"/>
              </a:rPr>
              <a:t> </a:t>
            </a:r>
            <a:r>
              <a:rPr dirty="0">
                <a:solidFill>
                  <a:srgbClr val="4F55AC"/>
                </a:solidFill>
                <a:latin typeface="微软雅黑"/>
                <a:cs typeface="微软雅黑"/>
              </a:rPr>
              <a:t>MIPS</a:t>
            </a:r>
            <a:r>
              <a:rPr dirty="0" spc="-10">
                <a:solidFill>
                  <a:srgbClr val="4F55AC"/>
                </a:solidFill>
                <a:latin typeface="微软雅黑"/>
                <a:cs typeface="微软雅黑"/>
              </a:rPr>
              <a:t>指令格</a:t>
            </a:r>
            <a:r>
              <a:rPr dirty="0" spc="-50">
                <a:solidFill>
                  <a:srgbClr val="4F55AC"/>
                </a:solidFill>
                <a:latin typeface="微软雅黑"/>
                <a:cs typeface="微软雅黑"/>
              </a:rPr>
              <a:t>式</a:t>
            </a:r>
            <a:r>
              <a:rPr dirty="0">
                <a:solidFill>
                  <a:srgbClr val="4F55AC"/>
                </a:solidFill>
                <a:latin typeface="微软雅黑"/>
                <a:cs typeface="微软雅黑"/>
              </a:rPr>
              <a:t>	</a:t>
            </a:r>
          </a:p>
        </p:txBody>
      </p:sp>
      <p:grpSp>
        <p:nvGrpSpPr>
          <p:cNvPr id="5" name="object 5" descr=""/>
          <p:cNvGrpSpPr/>
          <p:nvPr/>
        </p:nvGrpSpPr>
        <p:grpSpPr>
          <a:xfrm>
            <a:off x="2063750" y="5157787"/>
            <a:ext cx="7705725" cy="1079500"/>
            <a:chOff x="2063750" y="5157787"/>
            <a:chExt cx="7705725" cy="1079500"/>
          </a:xfrm>
        </p:grpSpPr>
        <p:sp>
          <p:nvSpPr>
            <p:cNvPr id="6" name="object 6" descr=""/>
            <p:cNvSpPr/>
            <p:nvPr/>
          </p:nvSpPr>
          <p:spPr>
            <a:xfrm>
              <a:off x="2063750" y="5157787"/>
              <a:ext cx="7705725" cy="1079500"/>
            </a:xfrm>
            <a:custGeom>
              <a:avLst/>
              <a:gdLst/>
              <a:ahLst/>
              <a:cxnLst/>
              <a:rect l="l" t="t" r="r" b="b"/>
              <a:pathLst>
                <a:path w="7705725" h="1079500">
                  <a:moveTo>
                    <a:pt x="7705725" y="0"/>
                  </a:moveTo>
                  <a:lnTo>
                    <a:pt x="0" y="0"/>
                  </a:lnTo>
                  <a:lnTo>
                    <a:pt x="0" y="1079500"/>
                  </a:lnTo>
                  <a:lnTo>
                    <a:pt x="7705725" y="1079500"/>
                  </a:lnTo>
                  <a:lnTo>
                    <a:pt x="7705725" y="0"/>
                  </a:lnTo>
                  <a:close/>
                </a:path>
              </a:pathLst>
            </a:custGeom>
            <a:solidFill>
              <a:srgbClr val="FFFFCC"/>
            </a:solidFill>
          </p:spPr>
          <p:txBody>
            <a:bodyPr wrap="square" lIns="0" tIns="0" rIns="0" bIns="0" rtlCol="0"/>
            <a:lstStyle/>
            <a:p/>
          </p:txBody>
        </p:sp>
        <p:sp>
          <p:nvSpPr>
            <p:cNvPr id="7" name="object 7" descr=""/>
            <p:cNvSpPr/>
            <p:nvPr/>
          </p:nvSpPr>
          <p:spPr>
            <a:xfrm>
              <a:off x="2322763" y="5290036"/>
              <a:ext cx="7228840" cy="615315"/>
            </a:xfrm>
            <a:custGeom>
              <a:avLst/>
              <a:gdLst/>
              <a:ahLst/>
              <a:cxnLst/>
              <a:rect l="l" t="t" r="r" b="b"/>
              <a:pathLst>
                <a:path w="7228840" h="615314">
                  <a:moveTo>
                    <a:pt x="0" y="615304"/>
                  </a:moveTo>
                  <a:lnTo>
                    <a:pt x="7228679" y="615304"/>
                  </a:lnTo>
                  <a:lnTo>
                    <a:pt x="7228679" y="0"/>
                  </a:lnTo>
                  <a:lnTo>
                    <a:pt x="0" y="0"/>
                  </a:lnTo>
                  <a:lnTo>
                    <a:pt x="0" y="615304"/>
                  </a:lnTo>
                  <a:close/>
                </a:path>
                <a:path w="7228840" h="615314">
                  <a:moveTo>
                    <a:pt x="1458053" y="28"/>
                  </a:moveTo>
                  <a:lnTo>
                    <a:pt x="1461228" y="615304"/>
                  </a:lnTo>
                </a:path>
              </a:pathLst>
            </a:custGeom>
            <a:ln w="19283">
              <a:solidFill>
                <a:srgbClr val="000000"/>
              </a:solidFill>
            </a:ln>
          </p:spPr>
          <p:txBody>
            <a:bodyPr wrap="square" lIns="0" tIns="0" rIns="0" bIns="0" rtlCol="0"/>
            <a:lstStyle/>
            <a:p/>
          </p:txBody>
        </p:sp>
      </p:grpSp>
      <p:sp>
        <p:nvSpPr>
          <p:cNvPr id="8" name="object 8" descr=""/>
          <p:cNvSpPr txBox="1"/>
          <p:nvPr/>
        </p:nvSpPr>
        <p:spPr>
          <a:xfrm>
            <a:off x="1782317" y="957313"/>
            <a:ext cx="8887460" cy="5269865"/>
          </a:xfrm>
          <a:prstGeom prst="rect">
            <a:avLst/>
          </a:prstGeom>
        </p:spPr>
        <p:txBody>
          <a:bodyPr wrap="square" lIns="0" tIns="182245" rIns="0" bIns="0" rtlCol="0" vert="horz">
            <a:spAutoFit/>
          </a:bodyPr>
          <a:lstStyle/>
          <a:p>
            <a:pPr marL="354965" indent="-342265">
              <a:lnSpc>
                <a:spcPct val="100000"/>
              </a:lnSpc>
              <a:spcBef>
                <a:spcPts val="1435"/>
              </a:spcBef>
              <a:buClr>
                <a:srgbClr val="40458B"/>
              </a:buClr>
              <a:buSzPct val="114285"/>
              <a:buFont typeface="Wingdings"/>
              <a:buChar char=""/>
              <a:tabLst>
                <a:tab pos="354965" algn="l"/>
              </a:tabLst>
            </a:pPr>
            <a:r>
              <a:rPr dirty="0" sz="2800" spc="-10">
                <a:solidFill>
                  <a:srgbClr val="172152"/>
                </a:solidFill>
                <a:latin typeface="Tahoma"/>
                <a:cs typeface="Tahoma"/>
              </a:rPr>
              <a:t>J</a:t>
            </a:r>
            <a:r>
              <a:rPr dirty="0" sz="2800" spc="-30">
                <a:solidFill>
                  <a:srgbClr val="172152"/>
                </a:solidFill>
                <a:latin typeface="黑体"/>
                <a:cs typeface="黑体"/>
              </a:rPr>
              <a:t>类指令</a:t>
            </a:r>
            <a:r>
              <a:rPr dirty="0" sz="2800">
                <a:solidFill>
                  <a:srgbClr val="172152"/>
                </a:solidFill>
                <a:latin typeface="Tahoma"/>
                <a:cs typeface="Tahoma"/>
              </a:rPr>
              <a:t>-</a:t>
            </a:r>
            <a:r>
              <a:rPr dirty="0" sz="2800" spc="-40">
                <a:solidFill>
                  <a:srgbClr val="172152"/>
                </a:solidFill>
                <a:latin typeface="黑体"/>
                <a:cs typeface="黑体"/>
              </a:rPr>
              <a:t>无条件转移</a:t>
            </a:r>
            <a:endParaRPr sz="2800">
              <a:latin typeface="黑体"/>
              <a:cs typeface="黑体"/>
            </a:endParaRPr>
          </a:p>
          <a:p>
            <a:pPr lvl="1" marL="696595" indent="-272415">
              <a:lnSpc>
                <a:spcPct val="100000"/>
              </a:lnSpc>
              <a:spcBef>
                <a:spcPts val="1345"/>
              </a:spcBef>
              <a:buSzPct val="88636"/>
              <a:buFont typeface="Wingdings"/>
              <a:buChar char=""/>
              <a:tabLst>
                <a:tab pos="696595" algn="l"/>
              </a:tabLst>
            </a:pPr>
            <a:r>
              <a:rPr dirty="0" sz="2200" spc="-30">
                <a:solidFill>
                  <a:srgbClr val="006FC0"/>
                </a:solidFill>
                <a:latin typeface="黑体"/>
                <a:cs typeface="黑体"/>
              </a:rPr>
              <a:t>包括跳转指令，跳转并链接指令，自陷指令，异常返</a:t>
            </a:r>
            <a:r>
              <a:rPr dirty="0" sz="2200" spc="-25">
                <a:solidFill>
                  <a:srgbClr val="006FC0"/>
                </a:solidFill>
                <a:latin typeface="黑体"/>
                <a:cs typeface="黑体"/>
              </a:rPr>
              <a:t></a:t>
            </a:r>
            <a:r>
              <a:rPr dirty="0" sz="2200" spc="-40">
                <a:solidFill>
                  <a:srgbClr val="006FC0"/>
                </a:solidFill>
                <a:latin typeface="黑体"/>
                <a:cs typeface="黑体"/>
              </a:rPr>
              <a:t>指令。</a:t>
            </a:r>
            <a:endParaRPr sz="2200">
              <a:latin typeface="黑体"/>
              <a:cs typeface="黑体"/>
            </a:endParaRPr>
          </a:p>
          <a:p>
            <a:pPr lvl="1" marL="697230" marR="5080" indent="-273050">
              <a:lnSpc>
                <a:spcPct val="130000"/>
              </a:lnSpc>
              <a:spcBef>
                <a:spcPts val="525"/>
              </a:spcBef>
              <a:buSzPct val="88636"/>
              <a:buFont typeface="Wingdings"/>
              <a:buChar char=""/>
              <a:tabLst>
                <a:tab pos="697230" algn="l"/>
              </a:tabLst>
            </a:pPr>
            <a:r>
              <a:rPr dirty="0" sz="2200" spc="-30">
                <a:solidFill>
                  <a:srgbClr val="006FC0"/>
                </a:solidFill>
                <a:latin typeface="黑体"/>
                <a:cs typeface="黑体"/>
              </a:rPr>
              <a:t>在这类指令中，指令字的低</a:t>
            </a:r>
            <a:r>
              <a:rPr dirty="0" sz="2200" spc="-20">
                <a:solidFill>
                  <a:srgbClr val="006FC0"/>
                </a:solidFill>
                <a:latin typeface="Tahoma"/>
                <a:cs typeface="Tahoma"/>
              </a:rPr>
              <a:t>26</a:t>
            </a:r>
            <a:r>
              <a:rPr dirty="0" sz="2200" spc="-30">
                <a:solidFill>
                  <a:srgbClr val="006FC0"/>
                </a:solidFill>
                <a:latin typeface="黑体"/>
                <a:cs typeface="黑体"/>
              </a:rPr>
              <a:t>位是偏移量，左移</a:t>
            </a:r>
            <a:r>
              <a:rPr dirty="0" sz="2200" spc="-30">
                <a:solidFill>
                  <a:srgbClr val="FF0000"/>
                </a:solidFill>
                <a:latin typeface="黑体"/>
                <a:cs typeface="黑体"/>
              </a:rPr>
              <a:t>两位</a:t>
            </a:r>
            <a:r>
              <a:rPr dirty="0" sz="2200" spc="-30">
                <a:solidFill>
                  <a:srgbClr val="006FC0"/>
                </a:solidFill>
                <a:latin typeface="黑体"/>
                <a:cs typeface="黑体"/>
              </a:rPr>
              <a:t>，它与</a:t>
            </a:r>
            <a:r>
              <a:rPr dirty="0" sz="2200" spc="-20">
                <a:solidFill>
                  <a:srgbClr val="006FC0"/>
                </a:solidFill>
                <a:latin typeface="Tahoma"/>
                <a:cs typeface="Tahoma"/>
              </a:rPr>
              <a:t>PC</a:t>
            </a:r>
            <a:r>
              <a:rPr dirty="0" sz="2200" spc="-35">
                <a:solidFill>
                  <a:srgbClr val="006FC0"/>
                </a:solidFill>
                <a:latin typeface="黑体"/>
                <a:cs typeface="黑体"/>
              </a:rPr>
              <a:t>值相加形成跳转的地址。</a:t>
            </a:r>
            <a:endParaRPr sz="2200">
              <a:latin typeface="黑体"/>
              <a:cs typeface="黑体"/>
            </a:endParaRPr>
          </a:p>
          <a:p>
            <a:pPr lvl="2" marL="1308100" indent="-360045">
              <a:lnSpc>
                <a:spcPct val="100000"/>
              </a:lnSpc>
              <a:spcBef>
                <a:spcPts val="1235"/>
              </a:spcBef>
              <a:buClr>
                <a:srgbClr val="4668F5"/>
              </a:buClr>
              <a:buSzPct val="72500"/>
              <a:buFont typeface="Wingdings"/>
              <a:buChar char=""/>
              <a:tabLst>
                <a:tab pos="1308100" algn="l"/>
              </a:tabLst>
            </a:pPr>
            <a:r>
              <a:rPr dirty="0" sz="2000" spc="-10" b="1">
                <a:solidFill>
                  <a:srgbClr val="FF0000"/>
                </a:solidFill>
                <a:latin typeface="黑体"/>
                <a:cs typeface="黑体"/>
              </a:rPr>
              <a:t>寻址空间</a:t>
            </a:r>
            <a:r>
              <a:rPr dirty="0" sz="2000" spc="-15" b="1">
                <a:solidFill>
                  <a:srgbClr val="FF0000"/>
                </a:solidFill>
                <a:latin typeface="黑体"/>
                <a:cs typeface="黑体"/>
              </a:rPr>
              <a:t>0---</a:t>
            </a:r>
            <a:r>
              <a:rPr dirty="0" sz="2000" spc="-25" b="1">
                <a:solidFill>
                  <a:srgbClr val="FF0000"/>
                </a:solidFill>
                <a:latin typeface="黑体"/>
                <a:cs typeface="黑体"/>
              </a:rPr>
              <a:t>64M</a:t>
            </a:r>
            <a:endParaRPr sz="2000">
              <a:latin typeface="黑体"/>
              <a:cs typeface="黑体"/>
            </a:endParaRPr>
          </a:p>
          <a:p>
            <a:pPr lvl="2" marL="1308100" indent="-360045">
              <a:lnSpc>
                <a:spcPct val="100000"/>
              </a:lnSpc>
              <a:spcBef>
                <a:spcPts val="1200"/>
              </a:spcBef>
              <a:buClr>
                <a:srgbClr val="4668F5"/>
              </a:buClr>
              <a:buSzPct val="72500"/>
              <a:buFont typeface="Wingdings"/>
              <a:buChar char=""/>
              <a:tabLst>
                <a:tab pos="1308100" algn="l"/>
              </a:tabLst>
            </a:pPr>
            <a:r>
              <a:rPr dirty="0" sz="2000" spc="-20" b="1">
                <a:solidFill>
                  <a:srgbClr val="FF0000"/>
                </a:solidFill>
                <a:latin typeface="黑体"/>
                <a:cs typeface="黑体"/>
              </a:rPr>
              <a:t>为什么左移两位</a:t>
            </a:r>
            <a:r>
              <a:rPr dirty="0" sz="2000" spc="-10" b="1">
                <a:solidFill>
                  <a:srgbClr val="FF0000"/>
                </a:solidFill>
                <a:latin typeface="黑体"/>
                <a:cs typeface="黑体"/>
              </a:rPr>
              <a:t>（</a:t>
            </a:r>
            <a:r>
              <a:rPr dirty="0" sz="2000" spc="-5" b="1">
                <a:solidFill>
                  <a:srgbClr val="FF0000"/>
                </a:solidFill>
                <a:latin typeface="黑体"/>
                <a:cs typeface="黑体"/>
              </a:rPr>
              <a:t>变为</a:t>
            </a:r>
            <a:r>
              <a:rPr dirty="0" sz="2000" spc="-15" b="1">
                <a:solidFill>
                  <a:srgbClr val="FF0000"/>
                </a:solidFill>
                <a:latin typeface="黑体"/>
                <a:cs typeface="黑体"/>
              </a:rPr>
              <a:t>28</a:t>
            </a:r>
            <a:r>
              <a:rPr dirty="0" sz="2000" spc="-20" b="1">
                <a:solidFill>
                  <a:srgbClr val="FF0000"/>
                </a:solidFill>
                <a:latin typeface="黑体"/>
                <a:cs typeface="黑体"/>
              </a:rPr>
              <a:t>位</a:t>
            </a:r>
            <a:r>
              <a:rPr dirty="0" sz="2000" spc="-25" b="1">
                <a:solidFill>
                  <a:srgbClr val="FF0000"/>
                </a:solidFill>
                <a:latin typeface="黑体"/>
                <a:cs typeface="黑体"/>
              </a:rPr>
              <a:t>）？</a:t>
            </a:r>
            <a:endParaRPr sz="2000">
              <a:latin typeface="黑体"/>
              <a:cs typeface="黑体"/>
            </a:endParaRPr>
          </a:p>
          <a:p>
            <a:pPr marL="948055">
              <a:lnSpc>
                <a:spcPct val="100000"/>
              </a:lnSpc>
              <a:spcBef>
                <a:spcPts val="1200"/>
              </a:spcBef>
            </a:pPr>
            <a:r>
              <a:rPr dirty="0" sz="2000" spc="-10" b="1">
                <a:solidFill>
                  <a:srgbClr val="FF0000"/>
                </a:solidFill>
                <a:latin typeface="黑体"/>
                <a:cs typeface="黑体"/>
              </a:rPr>
              <a:t>（联系</a:t>
            </a:r>
            <a:r>
              <a:rPr dirty="0" sz="2000" spc="-15" b="1">
                <a:solidFill>
                  <a:srgbClr val="FF0000"/>
                </a:solidFill>
                <a:latin typeface="黑体"/>
                <a:cs typeface="黑体"/>
              </a:rPr>
              <a:t>32</a:t>
            </a:r>
            <a:r>
              <a:rPr dirty="0" sz="2000" spc="-20" b="1">
                <a:solidFill>
                  <a:srgbClr val="FF0000"/>
                </a:solidFill>
                <a:latin typeface="黑体"/>
                <a:cs typeface="黑体"/>
              </a:rPr>
              <a:t>位指令字长，整数边界存储，确保</a:t>
            </a:r>
            <a:r>
              <a:rPr dirty="0" sz="2000" spc="-15" b="1">
                <a:solidFill>
                  <a:srgbClr val="FF0000"/>
                </a:solidFill>
                <a:latin typeface="黑体"/>
                <a:cs typeface="黑体"/>
              </a:rPr>
              <a:t>PC</a:t>
            </a:r>
            <a:r>
              <a:rPr dirty="0" sz="2000" spc="-20" b="1">
                <a:solidFill>
                  <a:srgbClr val="FF0000"/>
                </a:solidFill>
                <a:latin typeface="黑体"/>
                <a:cs typeface="黑体"/>
              </a:rPr>
              <a:t>指向跳转指令起始地址</a:t>
            </a:r>
            <a:r>
              <a:rPr dirty="0" sz="2000" spc="-50" b="1">
                <a:solidFill>
                  <a:srgbClr val="FF0000"/>
                </a:solidFill>
                <a:latin typeface="黑体"/>
                <a:cs typeface="黑体"/>
              </a:rPr>
              <a:t>）</a:t>
            </a:r>
            <a:endParaRPr sz="2000">
              <a:latin typeface="黑体"/>
              <a:cs typeface="黑体"/>
            </a:endParaRPr>
          </a:p>
          <a:p>
            <a:pPr>
              <a:lnSpc>
                <a:spcPct val="100000"/>
              </a:lnSpc>
              <a:spcBef>
                <a:spcPts val="1025"/>
              </a:spcBef>
            </a:pPr>
            <a:endParaRPr sz="2000">
              <a:latin typeface="黑体"/>
              <a:cs typeface="黑体"/>
            </a:endParaRPr>
          </a:p>
          <a:p>
            <a:pPr marL="1214755">
              <a:lnSpc>
                <a:spcPct val="100000"/>
              </a:lnSpc>
              <a:tabLst>
                <a:tab pos="4827905" algn="l"/>
              </a:tabLst>
            </a:pPr>
            <a:r>
              <a:rPr dirty="0" sz="2000" spc="-50" b="1">
                <a:latin typeface="Times New Roman"/>
                <a:cs typeface="Times New Roman"/>
              </a:rPr>
              <a:t>6</a:t>
            </a:r>
            <a:r>
              <a:rPr dirty="0" sz="2000" b="1">
                <a:latin typeface="Times New Roman"/>
                <a:cs typeface="Times New Roman"/>
              </a:rPr>
              <a:t>	</a:t>
            </a:r>
            <a:r>
              <a:rPr dirty="0" sz="2000" spc="-25" b="1">
                <a:latin typeface="Times New Roman"/>
                <a:cs typeface="Times New Roman"/>
              </a:rPr>
              <a:t>26</a:t>
            </a:r>
            <a:endParaRPr sz="2000">
              <a:latin typeface="Times New Roman"/>
              <a:cs typeface="Times New Roman"/>
            </a:endParaRPr>
          </a:p>
          <a:p>
            <a:pPr marL="943610">
              <a:lnSpc>
                <a:spcPct val="100000"/>
              </a:lnSpc>
              <a:spcBef>
                <a:spcPts val="1720"/>
              </a:spcBef>
              <a:tabLst>
                <a:tab pos="3856990" algn="l"/>
              </a:tabLst>
            </a:pPr>
            <a:r>
              <a:rPr dirty="0" sz="2000" spc="-180">
                <a:latin typeface="宋体"/>
                <a:cs typeface="宋体"/>
              </a:rPr>
              <a:t>操</a:t>
            </a:r>
            <a:r>
              <a:rPr dirty="0" sz="2000" spc="-190">
                <a:latin typeface="宋体"/>
                <a:cs typeface="宋体"/>
              </a:rPr>
              <a:t>作</a:t>
            </a:r>
            <a:r>
              <a:rPr dirty="0" sz="2000" spc="-50">
                <a:latin typeface="宋体"/>
                <a:cs typeface="宋体"/>
              </a:rPr>
              <a:t>码</a:t>
            </a:r>
            <a:r>
              <a:rPr dirty="0" sz="2000">
                <a:latin typeface="宋体"/>
                <a:cs typeface="宋体"/>
              </a:rPr>
              <a:t>	</a:t>
            </a:r>
            <a:r>
              <a:rPr dirty="0" baseline="1388" sz="3000" spc="-270">
                <a:latin typeface="宋体"/>
                <a:cs typeface="宋体"/>
              </a:rPr>
              <a:t>与</a:t>
            </a:r>
            <a:r>
              <a:rPr dirty="0" baseline="1388" sz="3000" spc="-787">
                <a:latin typeface="宋体"/>
                <a:cs typeface="宋体"/>
              </a:rPr>
              <a:t> </a:t>
            </a:r>
            <a:r>
              <a:rPr dirty="0" baseline="1388" sz="3000" spc="-195" b="1">
                <a:latin typeface="Times New Roman"/>
                <a:cs typeface="Times New Roman"/>
              </a:rPr>
              <a:t>PC</a:t>
            </a:r>
            <a:r>
              <a:rPr dirty="0" baseline="1388" sz="3000" spc="-120" b="1">
                <a:latin typeface="Times New Roman"/>
                <a:cs typeface="Times New Roman"/>
              </a:rPr>
              <a:t> </a:t>
            </a:r>
            <a:r>
              <a:rPr dirty="0" baseline="1388" sz="3000" spc="-270">
                <a:latin typeface="宋体"/>
                <a:cs typeface="宋体"/>
              </a:rPr>
              <a:t>相</a:t>
            </a:r>
            <a:r>
              <a:rPr dirty="0" baseline="1388" sz="3000" spc="-284">
                <a:latin typeface="宋体"/>
                <a:cs typeface="宋体"/>
              </a:rPr>
              <a:t>加</a:t>
            </a:r>
            <a:r>
              <a:rPr dirty="0" baseline="1388" sz="3000" spc="-292">
                <a:latin typeface="宋体"/>
                <a:cs typeface="宋体"/>
              </a:rPr>
              <a:t>的偏</a:t>
            </a:r>
            <a:r>
              <a:rPr dirty="0" baseline="1388" sz="3000" spc="-270">
                <a:latin typeface="宋体"/>
                <a:cs typeface="宋体"/>
              </a:rPr>
              <a:t>移</a:t>
            </a:r>
            <a:r>
              <a:rPr dirty="0" baseline="1388" sz="3000" spc="-75">
                <a:latin typeface="宋体"/>
                <a:cs typeface="宋体"/>
              </a:rPr>
              <a:t>量</a:t>
            </a:r>
            <a:endParaRPr baseline="1388" sz="3000">
              <a:latin typeface="宋体"/>
              <a:cs typeface="宋体"/>
            </a:endParaRPr>
          </a:p>
          <a:p>
            <a:pPr marL="565150">
              <a:lnSpc>
                <a:spcPct val="100000"/>
              </a:lnSpc>
              <a:spcBef>
                <a:spcPts val="1240"/>
              </a:spcBef>
              <a:tabLst>
                <a:tab pos="1751330" algn="l"/>
                <a:tab pos="2074545" algn="l"/>
                <a:tab pos="7525384" algn="l"/>
              </a:tabLst>
            </a:pPr>
            <a:r>
              <a:rPr dirty="0" sz="2000" spc="-50" b="1">
                <a:latin typeface="Times New Roman"/>
                <a:cs typeface="Times New Roman"/>
              </a:rPr>
              <a:t>0</a:t>
            </a:r>
            <a:r>
              <a:rPr dirty="0" sz="2000" b="1">
                <a:latin typeface="Times New Roman"/>
                <a:cs typeface="Times New Roman"/>
              </a:rPr>
              <a:t>	</a:t>
            </a:r>
            <a:r>
              <a:rPr dirty="0" sz="2000" spc="-50" b="1">
                <a:latin typeface="Times New Roman"/>
                <a:cs typeface="Times New Roman"/>
              </a:rPr>
              <a:t>5</a:t>
            </a:r>
            <a:r>
              <a:rPr dirty="0" sz="2000" b="1">
                <a:latin typeface="Times New Roman"/>
                <a:cs typeface="Times New Roman"/>
              </a:rPr>
              <a:t>	</a:t>
            </a:r>
            <a:r>
              <a:rPr dirty="0" sz="2000" spc="-50" b="1">
                <a:latin typeface="Times New Roman"/>
                <a:cs typeface="Times New Roman"/>
              </a:rPr>
              <a:t>6</a:t>
            </a:r>
            <a:r>
              <a:rPr dirty="0" sz="2000" b="1">
                <a:latin typeface="Times New Roman"/>
                <a:cs typeface="Times New Roman"/>
              </a:rPr>
              <a:t>	</a:t>
            </a:r>
            <a:r>
              <a:rPr dirty="0" sz="2000" spc="-25" b="1">
                <a:latin typeface="Times New Roman"/>
                <a:cs typeface="Times New Roman"/>
              </a:rPr>
              <a:t>31</a:t>
            </a:r>
            <a:endParaRPr sz="2000">
              <a:latin typeface="Times New Roman"/>
              <a:cs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descr=""/>
          <p:cNvSpPr txBox="1"/>
          <p:nvPr/>
        </p:nvSpPr>
        <p:spPr>
          <a:xfrm>
            <a:off x="774293" y="957313"/>
            <a:ext cx="9723120" cy="2513330"/>
          </a:xfrm>
          <a:prstGeom prst="rect">
            <a:avLst/>
          </a:prstGeom>
        </p:spPr>
        <p:txBody>
          <a:bodyPr wrap="square" lIns="0" tIns="182245" rIns="0" bIns="0" rtlCol="0" vert="horz">
            <a:spAutoFit/>
          </a:bodyPr>
          <a:lstStyle/>
          <a:p>
            <a:pPr marL="354965" indent="-342265">
              <a:lnSpc>
                <a:spcPct val="100000"/>
              </a:lnSpc>
              <a:spcBef>
                <a:spcPts val="1435"/>
              </a:spcBef>
              <a:buClr>
                <a:srgbClr val="40458B"/>
              </a:buClr>
              <a:buSzPct val="114285"/>
              <a:buFont typeface="Wingdings"/>
              <a:buChar char=""/>
              <a:tabLst>
                <a:tab pos="354965" algn="l"/>
              </a:tabLst>
            </a:pPr>
            <a:r>
              <a:rPr dirty="0" sz="2800" spc="-10">
                <a:solidFill>
                  <a:srgbClr val="172152"/>
                </a:solidFill>
                <a:latin typeface="Tahoma"/>
                <a:cs typeface="Tahoma"/>
              </a:rPr>
              <a:t>J</a:t>
            </a:r>
            <a:r>
              <a:rPr dirty="0" sz="2800" spc="-35">
                <a:solidFill>
                  <a:srgbClr val="172152"/>
                </a:solidFill>
                <a:latin typeface="黑体"/>
                <a:cs typeface="黑体"/>
              </a:rPr>
              <a:t>类指令</a:t>
            </a:r>
            <a:endParaRPr sz="2800">
              <a:latin typeface="黑体"/>
              <a:cs typeface="黑体"/>
            </a:endParaRPr>
          </a:p>
          <a:p>
            <a:pPr lvl="1" marL="696595" marR="5080" indent="-273050">
              <a:lnSpc>
                <a:spcPct val="130000"/>
              </a:lnSpc>
              <a:spcBef>
                <a:spcPts val="550"/>
              </a:spcBef>
              <a:buSzPct val="88636"/>
              <a:buFont typeface="Wingdings"/>
              <a:buChar char=""/>
              <a:tabLst>
                <a:tab pos="696595" algn="l"/>
              </a:tabLst>
            </a:pPr>
            <a:r>
              <a:rPr dirty="0" sz="2200" spc="-30">
                <a:solidFill>
                  <a:srgbClr val="006FC0"/>
                </a:solidFill>
                <a:latin typeface="黑体"/>
                <a:cs typeface="黑体"/>
              </a:rPr>
              <a:t>在这类指令中，指令字的低</a:t>
            </a:r>
            <a:r>
              <a:rPr dirty="0" sz="2200" spc="-20">
                <a:solidFill>
                  <a:srgbClr val="006FC0"/>
                </a:solidFill>
                <a:latin typeface="Tahoma"/>
                <a:cs typeface="Tahoma"/>
              </a:rPr>
              <a:t>26</a:t>
            </a:r>
            <a:r>
              <a:rPr dirty="0" sz="2200" spc="-30">
                <a:solidFill>
                  <a:srgbClr val="006FC0"/>
                </a:solidFill>
                <a:latin typeface="黑体"/>
                <a:cs typeface="黑体"/>
              </a:rPr>
              <a:t>位是偏移量，左移</a:t>
            </a:r>
            <a:r>
              <a:rPr dirty="0" sz="2200" spc="-30">
                <a:solidFill>
                  <a:srgbClr val="FF0000"/>
                </a:solidFill>
                <a:latin typeface="黑体"/>
                <a:cs typeface="黑体"/>
              </a:rPr>
              <a:t>两位</a:t>
            </a:r>
            <a:r>
              <a:rPr dirty="0" sz="2200" spc="-30">
                <a:solidFill>
                  <a:srgbClr val="006FC0"/>
                </a:solidFill>
                <a:latin typeface="黑体"/>
                <a:cs typeface="黑体"/>
              </a:rPr>
              <a:t>，它与</a:t>
            </a:r>
            <a:r>
              <a:rPr dirty="0" sz="2200" spc="-25">
                <a:solidFill>
                  <a:srgbClr val="006FC0"/>
                </a:solidFill>
                <a:latin typeface="Tahoma"/>
                <a:cs typeface="Tahoma"/>
              </a:rPr>
              <a:t>PC</a:t>
            </a:r>
            <a:r>
              <a:rPr dirty="0" sz="2200" spc="-35">
                <a:solidFill>
                  <a:srgbClr val="006FC0"/>
                </a:solidFill>
                <a:latin typeface="黑体"/>
                <a:cs typeface="黑体"/>
              </a:rPr>
              <a:t>值相加形成跳转的地址。</a:t>
            </a:r>
            <a:endParaRPr sz="2200">
              <a:latin typeface="黑体"/>
              <a:cs typeface="黑体"/>
            </a:endParaRPr>
          </a:p>
          <a:p>
            <a:pPr lvl="2" marL="1307465" indent="-359410">
              <a:lnSpc>
                <a:spcPct val="100000"/>
              </a:lnSpc>
              <a:spcBef>
                <a:spcPts val="1235"/>
              </a:spcBef>
              <a:buClr>
                <a:srgbClr val="4668F5"/>
              </a:buClr>
              <a:buSzPct val="72500"/>
              <a:buFont typeface="Wingdings"/>
              <a:buChar char=""/>
              <a:tabLst>
                <a:tab pos="1307465" algn="l"/>
              </a:tabLst>
            </a:pPr>
            <a:r>
              <a:rPr dirty="0" sz="2000" spc="-20" b="1">
                <a:solidFill>
                  <a:srgbClr val="FF0000"/>
                </a:solidFill>
                <a:latin typeface="黑体"/>
                <a:cs typeface="黑体"/>
              </a:rPr>
              <a:t>为什么左移两位</a:t>
            </a:r>
            <a:r>
              <a:rPr dirty="0" sz="2000" spc="-10" b="1">
                <a:solidFill>
                  <a:srgbClr val="FF0000"/>
                </a:solidFill>
                <a:latin typeface="黑体"/>
                <a:cs typeface="黑体"/>
              </a:rPr>
              <a:t>（</a:t>
            </a:r>
            <a:r>
              <a:rPr dirty="0" sz="2000" spc="-20" b="1">
                <a:solidFill>
                  <a:srgbClr val="FF0000"/>
                </a:solidFill>
                <a:latin typeface="黑体"/>
                <a:cs typeface="黑体"/>
              </a:rPr>
              <a:t>最低两位为00）？</a:t>
            </a:r>
            <a:endParaRPr sz="2000">
              <a:latin typeface="黑体"/>
              <a:cs typeface="黑体"/>
            </a:endParaRPr>
          </a:p>
          <a:p>
            <a:pPr marL="1308100">
              <a:lnSpc>
                <a:spcPct val="100000"/>
              </a:lnSpc>
              <a:spcBef>
                <a:spcPts val="840"/>
              </a:spcBef>
            </a:pPr>
            <a:r>
              <a:rPr dirty="0" sz="2000" spc="-10" b="1">
                <a:solidFill>
                  <a:srgbClr val="FF0000"/>
                </a:solidFill>
                <a:latin typeface="宋体"/>
                <a:cs typeface="宋体"/>
              </a:rPr>
              <a:t>（联系</a:t>
            </a:r>
            <a:r>
              <a:rPr dirty="0" sz="2000" spc="-10" b="1">
                <a:solidFill>
                  <a:srgbClr val="FF0000"/>
                </a:solidFill>
                <a:latin typeface="Tahoma"/>
                <a:cs typeface="Tahoma"/>
              </a:rPr>
              <a:t>32</a:t>
            </a:r>
            <a:r>
              <a:rPr dirty="0" sz="2000" spc="-20" b="1">
                <a:solidFill>
                  <a:srgbClr val="FF0000"/>
                </a:solidFill>
                <a:latin typeface="宋体"/>
                <a:cs typeface="宋体"/>
              </a:rPr>
              <a:t>位指令字长，整数边界存储，确保</a:t>
            </a:r>
            <a:r>
              <a:rPr dirty="0" sz="2000" spc="-10" b="1">
                <a:solidFill>
                  <a:srgbClr val="FF0000"/>
                </a:solidFill>
                <a:latin typeface="Tahoma"/>
                <a:cs typeface="Tahoma"/>
              </a:rPr>
              <a:t>PC</a:t>
            </a:r>
            <a:r>
              <a:rPr dirty="0" sz="2000" spc="-20" b="1">
                <a:solidFill>
                  <a:srgbClr val="FF0000"/>
                </a:solidFill>
                <a:latin typeface="宋体"/>
                <a:cs typeface="宋体"/>
              </a:rPr>
              <a:t>指向跳转指令起始地址</a:t>
            </a:r>
            <a:r>
              <a:rPr dirty="0" sz="2000" spc="-50" b="1">
                <a:solidFill>
                  <a:srgbClr val="FF0000"/>
                </a:solidFill>
                <a:latin typeface="宋体"/>
                <a:cs typeface="宋体"/>
              </a:rPr>
              <a:t>）</a:t>
            </a:r>
            <a:endParaRPr sz="2000">
              <a:latin typeface="宋体"/>
              <a:cs typeface="宋体"/>
            </a:endParaRPr>
          </a:p>
        </p:txBody>
      </p:sp>
      <p:sp>
        <p:nvSpPr>
          <p:cNvPr id="4" name="object 4"/>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latin typeface="微软雅黑"/>
                <a:cs typeface="微软雅黑"/>
              </a:rPr>
              <a:t>	2.6.4</a:t>
            </a:r>
            <a:r>
              <a:rPr dirty="0" spc="-20">
                <a:solidFill>
                  <a:srgbClr val="4F55AC"/>
                </a:solidFill>
                <a:latin typeface="微软雅黑"/>
                <a:cs typeface="微软雅黑"/>
              </a:rPr>
              <a:t> </a:t>
            </a:r>
            <a:r>
              <a:rPr dirty="0">
                <a:solidFill>
                  <a:srgbClr val="4F55AC"/>
                </a:solidFill>
                <a:latin typeface="微软雅黑"/>
                <a:cs typeface="微软雅黑"/>
              </a:rPr>
              <a:t>MIPS</a:t>
            </a:r>
            <a:r>
              <a:rPr dirty="0" spc="-10">
                <a:solidFill>
                  <a:srgbClr val="4F55AC"/>
                </a:solidFill>
                <a:latin typeface="微软雅黑"/>
                <a:cs typeface="微软雅黑"/>
              </a:rPr>
              <a:t>指令格</a:t>
            </a:r>
            <a:r>
              <a:rPr dirty="0" spc="-50">
                <a:solidFill>
                  <a:srgbClr val="4F55AC"/>
                </a:solidFill>
                <a:latin typeface="微软雅黑"/>
                <a:cs typeface="微软雅黑"/>
              </a:rPr>
              <a:t>式</a:t>
            </a:r>
            <a:r>
              <a:rPr dirty="0">
                <a:solidFill>
                  <a:srgbClr val="4F55AC"/>
                </a:solidFill>
                <a:latin typeface="微软雅黑"/>
                <a:cs typeface="微软雅黑"/>
              </a:rPr>
              <a:t>	</a:t>
            </a:r>
          </a:p>
        </p:txBody>
      </p:sp>
      <p:sp>
        <p:nvSpPr>
          <p:cNvPr id="5" name="object 5" descr=""/>
          <p:cNvSpPr/>
          <p:nvPr/>
        </p:nvSpPr>
        <p:spPr>
          <a:xfrm>
            <a:off x="2675001" y="4005262"/>
            <a:ext cx="6229350" cy="1800225"/>
          </a:xfrm>
          <a:custGeom>
            <a:avLst/>
            <a:gdLst/>
            <a:ahLst/>
            <a:cxnLst/>
            <a:rect l="l" t="t" r="r" b="b"/>
            <a:pathLst>
              <a:path w="6229350" h="1800225">
                <a:moveTo>
                  <a:pt x="6229350" y="0"/>
                </a:moveTo>
                <a:lnTo>
                  <a:pt x="0" y="0"/>
                </a:lnTo>
                <a:lnTo>
                  <a:pt x="0" y="1800225"/>
                </a:lnTo>
                <a:lnTo>
                  <a:pt x="6229350" y="1800225"/>
                </a:lnTo>
                <a:lnTo>
                  <a:pt x="6229350" y="0"/>
                </a:lnTo>
                <a:close/>
              </a:path>
            </a:pathLst>
          </a:custGeom>
          <a:solidFill>
            <a:srgbClr val="FFFFCC"/>
          </a:solidFill>
        </p:spPr>
        <p:txBody>
          <a:bodyPr wrap="square" lIns="0" tIns="0" rIns="0" bIns="0" rtlCol="0"/>
          <a:lstStyle/>
          <a:p/>
        </p:txBody>
      </p:sp>
      <p:sp>
        <p:nvSpPr>
          <p:cNvPr id="6" name="object 6" descr=""/>
          <p:cNvSpPr txBox="1"/>
          <p:nvPr/>
        </p:nvSpPr>
        <p:spPr>
          <a:xfrm>
            <a:off x="2753995" y="4297807"/>
            <a:ext cx="1581785" cy="1215390"/>
          </a:xfrm>
          <a:prstGeom prst="rect">
            <a:avLst/>
          </a:prstGeom>
        </p:spPr>
        <p:txBody>
          <a:bodyPr wrap="square" lIns="0" tIns="12700" rIns="0" bIns="0" rtlCol="0" vert="horz">
            <a:spAutoFit/>
          </a:bodyPr>
          <a:lstStyle/>
          <a:p>
            <a:pPr marL="12700">
              <a:lnSpc>
                <a:spcPct val="100000"/>
              </a:lnSpc>
              <a:spcBef>
                <a:spcPts val="100"/>
              </a:spcBef>
            </a:pPr>
            <a:r>
              <a:rPr dirty="0" sz="2600" spc="-10">
                <a:solidFill>
                  <a:srgbClr val="40458B"/>
                </a:solidFill>
                <a:latin typeface="Tahoma"/>
                <a:cs typeface="Tahoma"/>
              </a:rPr>
              <a:t>0x00…00H</a:t>
            </a:r>
            <a:endParaRPr sz="2600">
              <a:latin typeface="Tahoma"/>
              <a:cs typeface="Tahoma"/>
            </a:endParaRPr>
          </a:p>
          <a:p>
            <a:pPr marL="12700">
              <a:lnSpc>
                <a:spcPct val="100000"/>
              </a:lnSpc>
              <a:spcBef>
                <a:spcPts val="5"/>
              </a:spcBef>
            </a:pPr>
            <a:r>
              <a:rPr dirty="0" sz="2600" spc="-10">
                <a:solidFill>
                  <a:srgbClr val="40458B"/>
                </a:solidFill>
                <a:latin typeface="Tahoma"/>
                <a:cs typeface="Tahoma"/>
              </a:rPr>
              <a:t>0x00…04H</a:t>
            </a:r>
            <a:endParaRPr sz="2600">
              <a:latin typeface="Tahoma"/>
              <a:cs typeface="Tahoma"/>
            </a:endParaRPr>
          </a:p>
          <a:p>
            <a:pPr marL="12700">
              <a:lnSpc>
                <a:spcPct val="100000"/>
              </a:lnSpc>
            </a:pPr>
            <a:r>
              <a:rPr dirty="0" sz="2600" spc="-10">
                <a:solidFill>
                  <a:srgbClr val="40458B"/>
                </a:solidFill>
                <a:latin typeface="Tahoma"/>
                <a:cs typeface="Tahoma"/>
              </a:rPr>
              <a:t>0x00…08H</a:t>
            </a:r>
            <a:endParaRPr sz="2600">
              <a:latin typeface="Tahoma"/>
              <a:cs typeface="Tahoma"/>
            </a:endParaRPr>
          </a:p>
        </p:txBody>
      </p:sp>
      <p:sp>
        <p:nvSpPr>
          <p:cNvPr id="7" name="object 7" descr=""/>
          <p:cNvSpPr txBox="1"/>
          <p:nvPr/>
        </p:nvSpPr>
        <p:spPr>
          <a:xfrm>
            <a:off x="5334380" y="3903090"/>
            <a:ext cx="2341880" cy="1609725"/>
          </a:xfrm>
          <a:prstGeom prst="rect">
            <a:avLst/>
          </a:prstGeom>
        </p:spPr>
        <p:txBody>
          <a:bodyPr wrap="square" lIns="0" tIns="12700" rIns="0" bIns="0" rtlCol="0" vert="horz">
            <a:spAutoFit/>
          </a:bodyPr>
          <a:lstStyle/>
          <a:p>
            <a:pPr marL="12700">
              <a:lnSpc>
                <a:spcPts val="3115"/>
              </a:lnSpc>
              <a:spcBef>
                <a:spcPts val="100"/>
              </a:spcBef>
            </a:pPr>
            <a:r>
              <a:rPr dirty="0" sz="2600" spc="-15">
                <a:solidFill>
                  <a:srgbClr val="40458B"/>
                </a:solidFill>
                <a:latin typeface="黑体"/>
                <a:cs typeface="黑体"/>
              </a:rPr>
              <a:t>对应二进制表示</a:t>
            </a:r>
            <a:endParaRPr sz="2600">
              <a:latin typeface="黑体"/>
              <a:cs typeface="黑体"/>
            </a:endParaRPr>
          </a:p>
          <a:p>
            <a:pPr marL="332740">
              <a:lnSpc>
                <a:spcPts val="3115"/>
              </a:lnSpc>
            </a:pPr>
            <a:r>
              <a:rPr dirty="0" sz="2600" spc="-10">
                <a:solidFill>
                  <a:srgbClr val="40458B"/>
                </a:solidFill>
                <a:latin typeface="Tahoma"/>
                <a:cs typeface="Tahoma"/>
              </a:rPr>
              <a:t>…..00</a:t>
            </a:r>
            <a:r>
              <a:rPr dirty="0" sz="2600" spc="-10">
                <a:solidFill>
                  <a:srgbClr val="FF0000"/>
                </a:solidFill>
                <a:latin typeface="Tahoma"/>
                <a:cs typeface="Tahoma"/>
              </a:rPr>
              <a:t>00</a:t>
            </a:r>
            <a:endParaRPr sz="2600">
              <a:latin typeface="Tahoma"/>
              <a:cs typeface="Tahoma"/>
            </a:endParaRPr>
          </a:p>
          <a:p>
            <a:pPr marL="332740">
              <a:lnSpc>
                <a:spcPct val="100000"/>
              </a:lnSpc>
              <a:spcBef>
                <a:spcPts val="5"/>
              </a:spcBef>
            </a:pPr>
            <a:r>
              <a:rPr dirty="0" sz="2600" spc="-10">
                <a:solidFill>
                  <a:srgbClr val="40458B"/>
                </a:solidFill>
                <a:latin typeface="Tahoma"/>
                <a:cs typeface="Tahoma"/>
              </a:rPr>
              <a:t>…..01</a:t>
            </a:r>
            <a:r>
              <a:rPr dirty="0" sz="2600" spc="-10">
                <a:solidFill>
                  <a:srgbClr val="FF0000"/>
                </a:solidFill>
                <a:latin typeface="Tahoma"/>
                <a:cs typeface="Tahoma"/>
              </a:rPr>
              <a:t>00</a:t>
            </a:r>
            <a:endParaRPr sz="2600">
              <a:latin typeface="Tahoma"/>
              <a:cs typeface="Tahoma"/>
            </a:endParaRPr>
          </a:p>
          <a:p>
            <a:pPr marL="332740">
              <a:lnSpc>
                <a:spcPct val="100000"/>
              </a:lnSpc>
            </a:pPr>
            <a:r>
              <a:rPr dirty="0" sz="2600" spc="-10">
                <a:solidFill>
                  <a:srgbClr val="40458B"/>
                </a:solidFill>
                <a:latin typeface="Tahoma"/>
                <a:cs typeface="Tahoma"/>
              </a:rPr>
              <a:t>…..10</a:t>
            </a:r>
            <a:r>
              <a:rPr dirty="0" sz="2600" spc="-10">
                <a:solidFill>
                  <a:srgbClr val="FF0000"/>
                </a:solidFill>
                <a:latin typeface="Tahoma"/>
                <a:cs typeface="Tahoma"/>
              </a:rPr>
              <a:t>00</a:t>
            </a:r>
            <a:endParaRPr sz="2600">
              <a:latin typeface="Tahoma"/>
              <a:cs typeface="Tahoma"/>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latin typeface="微软雅黑"/>
                <a:cs typeface="微软雅黑"/>
              </a:rPr>
              <a:t>	J</a:t>
            </a:r>
            <a:r>
              <a:rPr dirty="0" spc="-10">
                <a:solidFill>
                  <a:srgbClr val="4F55AC"/>
                </a:solidFill>
                <a:latin typeface="微软雅黑"/>
                <a:cs typeface="微软雅黑"/>
              </a:rPr>
              <a:t>类指</a:t>
            </a:r>
            <a:r>
              <a:rPr dirty="0" spc="-50">
                <a:solidFill>
                  <a:srgbClr val="4F55AC"/>
                </a:solidFill>
                <a:latin typeface="微软雅黑"/>
                <a:cs typeface="微软雅黑"/>
              </a:rPr>
              <a:t>令</a:t>
            </a:r>
            <a:r>
              <a:rPr dirty="0">
                <a:solidFill>
                  <a:srgbClr val="4F55AC"/>
                </a:solidFill>
                <a:latin typeface="微软雅黑"/>
                <a:cs typeface="微软雅黑"/>
              </a:rPr>
              <a:t>	</a:t>
            </a:r>
          </a:p>
        </p:txBody>
      </p:sp>
      <p:grpSp>
        <p:nvGrpSpPr>
          <p:cNvPr id="4" name="object 4" descr=""/>
          <p:cNvGrpSpPr/>
          <p:nvPr/>
        </p:nvGrpSpPr>
        <p:grpSpPr>
          <a:xfrm>
            <a:off x="2865501" y="1287525"/>
            <a:ext cx="7705725" cy="1079500"/>
            <a:chOff x="2865501" y="1287525"/>
            <a:chExt cx="7705725" cy="1079500"/>
          </a:xfrm>
        </p:grpSpPr>
        <p:sp>
          <p:nvSpPr>
            <p:cNvPr id="5" name="object 5" descr=""/>
            <p:cNvSpPr/>
            <p:nvPr/>
          </p:nvSpPr>
          <p:spPr>
            <a:xfrm>
              <a:off x="2865501" y="1287525"/>
              <a:ext cx="7705725" cy="1079500"/>
            </a:xfrm>
            <a:custGeom>
              <a:avLst/>
              <a:gdLst/>
              <a:ahLst/>
              <a:cxnLst/>
              <a:rect l="l" t="t" r="r" b="b"/>
              <a:pathLst>
                <a:path w="7705725" h="1079500">
                  <a:moveTo>
                    <a:pt x="7705725" y="0"/>
                  </a:moveTo>
                  <a:lnTo>
                    <a:pt x="0" y="0"/>
                  </a:lnTo>
                  <a:lnTo>
                    <a:pt x="0" y="1079500"/>
                  </a:lnTo>
                  <a:lnTo>
                    <a:pt x="7705725" y="1079500"/>
                  </a:lnTo>
                  <a:lnTo>
                    <a:pt x="7705725" y="0"/>
                  </a:lnTo>
                  <a:close/>
                </a:path>
              </a:pathLst>
            </a:custGeom>
            <a:solidFill>
              <a:srgbClr val="FFFFCC"/>
            </a:solidFill>
          </p:spPr>
          <p:txBody>
            <a:bodyPr wrap="square" lIns="0" tIns="0" rIns="0" bIns="0" rtlCol="0"/>
            <a:lstStyle/>
            <a:p/>
          </p:txBody>
        </p:sp>
        <p:sp>
          <p:nvSpPr>
            <p:cNvPr id="6" name="object 6" descr=""/>
            <p:cNvSpPr/>
            <p:nvPr/>
          </p:nvSpPr>
          <p:spPr>
            <a:xfrm>
              <a:off x="3124387" y="1419774"/>
              <a:ext cx="7228840" cy="615315"/>
            </a:xfrm>
            <a:custGeom>
              <a:avLst/>
              <a:gdLst/>
              <a:ahLst/>
              <a:cxnLst/>
              <a:rect l="l" t="t" r="r" b="b"/>
              <a:pathLst>
                <a:path w="7228840" h="615314">
                  <a:moveTo>
                    <a:pt x="0" y="615304"/>
                  </a:moveTo>
                  <a:lnTo>
                    <a:pt x="7228679" y="615304"/>
                  </a:lnTo>
                  <a:lnTo>
                    <a:pt x="7228679" y="0"/>
                  </a:lnTo>
                  <a:lnTo>
                    <a:pt x="0" y="0"/>
                  </a:lnTo>
                  <a:lnTo>
                    <a:pt x="0" y="615304"/>
                  </a:lnTo>
                  <a:close/>
                </a:path>
                <a:path w="7228840" h="615314">
                  <a:moveTo>
                    <a:pt x="1458053" y="28"/>
                  </a:moveTo>
                  <a:lnTo>
                    <a:pt x="1461228" y="615304"/>
                  </a:lnTo>
                </a:path>
              </a:pathLst>
            </a:custGeom>
            <a:ln w="19283">
              <a:solidFill>
                <a:srgbClr val="000000"/>
              </a:solidFill>
            </a:ln>
          </p:spPr>
          <p:txBody>
            <a:bodyPr wrap="square" lIns="0" tIns="0" rIns="0" bIns="0" rtlCol="0"/>
            <a:lstStyle/>
            <a:p/>
          </p:txBody>
        </p:sp>
      </p:grpSp>
      <p:sp>
        <p:nvSpPr>
          <p:cNvPr id="7" name="object 7" descr=""/>
          <p:cNvSpPr txBox="1"/>
          <p:nvPr/>
        </p:nvSpPr>
        <p:spPr>
          <a:xfrm>
            <a:off x="2071242" y="1038843"/>
            <a:ext cx="8286115" cy="1983105"/>
          </a:xfrm>
          <a:prstGeom prst="rect">
            <a:avLst/>
          </a:prstGeom>
        </p:spPr>
        <p:txBody>
          <a:bodyPr wrap="square" lIns="0" tIns="14604" rIns="0" bIns="0" rtlCol="0" vert="horz">
            <a:spAutoFit/>
          </a:bodyPr>
          <a:lstStyle/>
          <a:p>
            <a:pPr marL="1727835">
              <a:lnSpc>
                <a:spcPct val="100000"/>
              </a:lnSpc>
              <a:spcBef>
                <a:spcPts val="114"/>
              </a:spcBef>
              <a:tabLst>
                <a:tab pos="5340985" algn="l"/>
              </a:tabLst>
            </a:pPr>
            <a:r>
              <a:rPr dirty="0" sz="2000" spc="-50" b="1">
                <a:latin typeface="Times New Roman"/>
                <a:cs typeface="Times New Roman"/>
              </a:rPr>
              <a:t>6</a:t>
            </a:r>
            <a:r>
              <a:rPr dirty="0" sz="2000" b="1">
                <a:latin typeface="Times New Roman"/>
                <a:cs typeface="Times New Roman"/>
              </a:rPr>
              <a:t>	</a:t>
            </a:r>
            <a:r>
              <a:rPr dirty="0" sz="2000" spc="-25" b="1">
                <a:latin typeface="Times New Roman"/>
                <a:cs typeface="Times New Roman"/>
              </a:rPr>
              <a:t>26</a:t>
            </a:r>
            <a:endParaRPr sz="2000">
              <a:latin typeface="Times New Roman"/>
              <a:cs typeface="Times New Roman"/>
            </a:endParaRPr>
          </a:p>
          <a:p>
            <a:pPr algn="ctr" marR="399415">
              <a:lnSpc>
                <a:spcPct val="100000"/>
              </a:lnSpc>
              <a:spcBef>
                <a:spcPts val="1720"/>
              </a:spcBef>
              <a:tabLst>
                <a:tab pos="2913380" algn="l"/>
              </a:tabLst>
            </a:pPr>
            <a:r>
              <a:rPr dirty="0" sz="2000" spc="-180">
                <a:latin typeface="宋体"/>
                <a:cs typeface="宋体"/>
              </a:rPr>
              <a:t>操</a:t>
            </a:r>
            <a:r>
              <a:rPr dirty="0" sz="2000" spc="-190">
                <a:latin typeface="宋体"/>
                <a:cs typeface="宋体"/>
              </a:rPr>
              <a:t>作</a:t>
            </a:r>
            <a:r>
              <a:rPr dirty="0" sz="2000" spc="-50">
                <a:latin typeface="宋体"/>
                <a:cs typeface="宋体"/>
              </a:rPr>
              <a:t>码</a:t>
            </a:r>
            <a:r>
              <a:rPr dirty="0" sz="2000">
                <a:latin typeface="宋体"/>
                <a:cs typeface="宋体"/>
              </a:rPr>
              <a:t>	</a:t>
            </a:r>
            <a:r>
              <a:rPr dirty="0" baseline="1388" sz="3000" spc="-270">
                <a:latin typeface="宋体"/>
                <a:cs typeface="宋体"/>
              </a:rPr>
              <a:t>与</a:t>
            </a:r>
            <a:r>
              <a:rPr dirty="0" baseline="1388" sz="3000" spc="-787">
                <a:latin typeface="宋体"/>
                <a:cs typeface="宋体"/>
              </a:rPr>
              <a:t> </a:t>
            </a:r>
            <a:r>
              <a:rPr dirty="0" baseline="1388" sz="3000" spc="-195" b="1">
                <a:latin typeface="Times New Roman"/>
                <a:cs typeface="Times New Roman"/>
              </a:rPr>
              <a:t>PC</a:t>
            </a:r>
            <a:r>
              <a:rPr dirty="0" baseline="1388" sz="3000" spc="-120" b="1">
                <a:latin typeface="Times New Roman"/>
                <a:cs typeface="Times New Roman"/>
              </a:rPr>
              <a:t> </a:t>
            </a:r>
            <a:r>
              <a:rPr dirty="0" baseline="1388" sz="3000" spc="-270">
                <a:latin typeface="宋体"/>
                <a:cs typeface="宋体"/>
              </a:rPr>
              <a:t>相</a:t>
            </a:r>
            <a:r>
              <a:rPr dirty="0" baseline="1388" sz="3000" spc="-284">
                <a:latin typeface="宋体"/>
                <a:cs typeface="宋体"/>
              </a:rPr>
              <a:t>加</a:t>
            </a:r>
            <a:r>
              <a:rPr dirty="0" baseline="1388" sz="3000" spc="-292">
                <a:latin typeface="宋体"/>
                <a:cs typeface="宋体"/>
              </a:rPr>
              <a:t>的偏</a:t>
            </a:r>
            <a:r>
              <a:rPr dirty="0" baseline="1388" sz="3000" spc="-270">
                <a:latin typeface="宋体"/>
                <a:cs typeface="宋体"/>
              </a:rPr>
              <a:t>移</a:t>
            </a:r>
            <a:r>
              <a:rPr dirty="0" baseline="1388" sz="3000" spc="-75">
                <a:latin typeface="宋体"/>
                <a:cs typeface="宋体"/>
              </a:rPr>
              <a:t>量</a:t>
            </a:r>
            <a:endParaRPr baseline="1388" sz="3000">
              <a:latin typeface="宋体"/>
              <a:cs typeface="宋体"/>
            </a:endParaRPr>
          </a:p>
          <a:p>
            <a:pPr marL="1077595">
              <a:lnSpc>
                <a:spcPct val="100000"/>
              </a:lnSpc>
              <a:spcBef>
                <a:spcPts val="1240"/>
              </a:spcBef>
              <a:tabLst>
                <a:tab pos="2264410" algn="l"/>
                <a:tab pos="2587625" algn="l"/>
                <a:tab pos="8037830" algn="l"/>
              </a:tabLst>
            </a:pPr>
            <a:r>
              <a:rPr dirty="0" sz="2000" spc="-50" b="1">
                <a:latin typeface="Times New Roman"/>
                <a:cs typeface="Times New Roman"/>
              </a:rPr>
              <a:t>0</a:t>
            </a:r>
            <a:r>
              <a:rPr dirty="0" sz="2000" b="1">
                <a:latin typeface="Times New Roman"/>
                <a:cs typeface="Times New Roman"/>
              </a:rPr>
              <a:t>	</a:t>
            </a:r>
            <a:r>
              <a:rPr dirty="0" sz="2000" spc="-50" b="1">
                <a:latin typeface="Times New Roman"/>
                <a:cs typeface="Times New Roman"/>
              </a:rPr>
              <a:t>5</a:t>
            </a:r>
            <a:r>
              <a:rPr dirty="0" sz="2000" b="1">
                <a:latin typeface="Times New Roman"/>
                <a:cs typeface="Times New Roman"/>
              </a:rPr>
              <a:t>	</a:t>
            </a:r>
            <a:r>
              <a:rPr dirty="0" sz="2000" spc="-50" b="1">
                <a:latin typeface="Times New Roman"/>
                <a:cs typeface="Times New Roman"/>
              </a:rPr>
              <a:t>6</a:t>
            </a:r>
            <a:r>
              <a:rPr dirty="0" sz="2000" b="1">
                <a:latin typeface="Times New Roman"/>
                <a:cs typeface="Times New Roman"/>
              </a:rPr>
              <a:t>	</a:t>
            </a:r>
            <a:r>
              <a:rPr dirty="0" sz="2000" spc="-55" b="1">
                <a:latin typeface="Times New Roman"/>
                <a:cs typeface="Times New Roman"/>
              </a:rPr>
              <a:t>31</a:t>
            </a:r>
            <a:endParaRPr sz="2000">
              <a:latin typeface="Times New Roman"/>
              <a:cs typeface="Times New Roman"/>
            </a:endParaRPr>
          </a:p>
          <a:p>
            <a:pPr algn="ctr" marR="402590">
              <a:lnSpc>
                <a:spcPct val="100000"/>
              </a:lnSpc>
              <a:spcBef>
                <a:spcPts val="2115"/>
              </a:spcBef>
              <a:tabLst>
                <a:tab pos="549910" algn="l"/>
                <a:tab pos="1800860" algn="l"/>
                <a:tab pos="5604510" algn="l"/>
              </a:tabLst>
            </a:pPr>
            <a:r>
              <a:rPr dirty="0" sz="2600" spc="-50">
                <a:solidFill>
                  <a:srgbClr val="40458B"/>
                </a:solidFill>
                <a:latin typeface="Tahoma"/>
                <a:cs typeface="Tahoma"/>
              </a:rPr>
              <a:t>J</a:t>
            </a:r>
            <a:r>
              <a:rPr dirty="0" sz="2600">
                <a:solidFill>
                  <a:srgbClr val="40458B"/>
                </a:solidFill>
                <a:latin typeface="Tahoma"/>
                <a:cs typeface="Tahoma"/>
              </a:rPr>
              <a:t>	</a:t>
            </a:r>
            <a:r>
              <a:rPr dirty="0" sz="2600" spc="-20">
                <a:solidFill>
                  <a:srgbClr val="40458B"/>
                </a:solidFill>
                <a:latin typeface="Tahoma"/>
                <a:cs typeface="Tahoma"/>
              </a:rPr>
              <a:t>next</a:t>
            </a:r>
            <a:r>
              <a:rPr dirty="0" sz="2600">
                <a:solidFill>
                  <a:srgbClr val="40458B"/>
                </a:solidFill>
                <a:latin typeface="Tahoma"/>
                <a:cs typeface="Tahoma"/>
              </a:rPr>
              <a:t>	</a:t>
            </a:r>
            <a:r>
              <a:rPr dirty="0" sz="2600" spc="-10">
                <a:solidFill>
                  <a:srgbClr val="40458B"/>
                </a:solidFill>
                <a:latin typeface="Tahoma"/>
                <a:cs typeface="Tahoma"/>
              </a:rPr>
              <a:t>#next</a:t>
            </a:r>
            <a:r>
              <a:rPr dirty="0" sz="2600" spc="-10">
                <a:solidFill>
                  <a:srgbClr val="40458B"/>
                </a:solidFill>
                <a:latin typeface="黑体"/>
                <a:cs typeface="黑体"/>
              </a:rPr>
              <a:t>，</a:t>
            </a:r>
            <a:r>
              <a:rPr dirty="0" sz="2600">
                <a:solidFill>
                  <a:srgbClr val="40458B"/>
                </a:solidFill>
                <a:latin typeface="黑体"/>
                <a:cs typeface="黑体"/>
              </a:rPr>
              <a:t>标号，偏</a:t>
            </a:r>
            <a:r>
              <a:rPr dirty="0" sz="2600" spc="-15">
                <a:solidFill>
                  <a:srgbClr val="40458B"/>
                </a:solidFill>
                <a:latin typeface="黑体"/>
                <a:cs typeface="黑体"/>
              </a:rPr>
              <a:t>移</a:t>
            </a:r>
            <a:r>
              <a:rPr dirty="0" sz="2600" spc="-50">
                <a:solidFill>
                  <a:srgbClr val="40458B"/>
                </a:solidFill>
                <a:latin typeface="黑体"/>
                <a:cs typeface="黑体"/>
              </a:rPr>
              <a:t>量</a:t>
            </a:r>
            <a:r>
              <a:rPr dirty="0" sz="2600">
                <a:solidFill>
                  <a:srgbClr val="40458B"/>
                </a:solidFill>
                <a:latin typeface="黑体"/>
                <a:cs typeface="黑体"/>
              </a:rPr>
              <a:t>	功能</a:t>
            </a:r>
            <a:r>
              <a:rPr dirty="0" sz="2600" spc="-10">
                <a:solidFill>
                  <a:srgbClr val="40458B"/>
                </a:solidFill>
                <a:latin typeface="黑体"/>
                <a:cs typeface="黑体"/>
              </a:rPr>
              <a:t>：</a:t>
            </a:r>
            <a:r>
              <a:rPr dirty="0" sz="2600" spc="-10">
                <a:solidFill>
                  <a:srgbClr val="40458B"/>
                </a:solidFill>
                <a:latin typeface="Tahoma"/>
                <a:cs typeface="Tahoma"/>
              </a:rPr>
              <a:t>PC←add</a:t>
            </a:r>
            <a:endParaRPr sz="2600">
              <a:latin typeface="Tahoma"/>
              <a:cs typeface="Tahoma"/>
            </a:endParaRPr>
          </a:p>
        </p:txBody>
      </p:sp>
      <p:sp>
        <p:nvSpPr>
          <p:cNvPr id="8" name="object 8" descr=""/>
          <p:cNvSpPr txBox="1"/>
          <p:nvPr/>
        </p:nvSpPr>
        <p:spPr>
          <a:xfrm>
            <a:off x="3143250" y="3295650"/>
            <a:ext cx="6996430" cy="492125"/>
          </a:xfrm>
          <a:prstGeom prst="rect">
            <a:avLst/>
          </a:prstGeom>
          <a:ln w="9525">
            <a:solidFill>
              <a:srgbClr val="FF0000"/>
            </a:solidFill>
          </a:ln>
        </p:spPr>
        <p:txBody>
          <a:bodyPr wrap="square" lIns="0" tIns="46990" rIns="0" bIns="0" rtlCol="0" vert="horz">
            <a:spAutoFit/>
          </a:bodyPr>
          <a:lstStyle/>
          <a:p>
            <a:pPr marL="91440">
              <a:lnSpc>
                <a:spcPct val="100000"/>
              </a:lnSpc>
              <a:spcBef>
                <a:spcPts val="370"/>
              </a:spcBef>
            </a:pPr>
            <a:r>
              <a:rPr dirty="0" sz="2600" spc="-5">
                <a:solidFill>
                  <a:srgbClr val="40458B"/>
                </a:solidFill>
                <a:latin typeface="黑体"/>
                <a:cs typeface="黑体"/>
              </a:rPr>
              <a:t>跳转目标地址</a:t>
            </a:r>
            <a:r>
              <a:rPr dirty="0" sz="2600" spc="-10">
                <a:solidFill>
                  <a:srgbClr val="40458B"/>
                </a:solidFill>
                <a:latin typeface="Tahoma"/>
                <a:cs typeface="Tahoma"/>
              </a:rPr>
              <a:t>add=PC+4</a:t>
            </a:r>
            <a:r>
              <a:rPr dirty="0" sz="2600" spc="-10">
                <a:solidFill>
                  <a:srgbClr val="40458B"/>
                </a:solidFill>
                <a:latin typeface="黑体"/>
                <a:cs typeface="黑体"/>
              </a:rPr>
              <a:t>（高位</a:t>
            </a:r>
            <a:r>
              <a:rPr dirty="0" sz="2600">
                <a:solidFill>
                  <a:srgbClr val="40458B"/>
                </a:solidFill>
                <a:latin typeface="黑体"/>
                <a:cs typeface="黑体"/>
              </a:rPr>
              <a:t>）</a:t>
            </a:r>
            <a:r>
              <a:rPr dirty="0" sz="2600" spc="330">
                <a:solidFill>
                  <a:srgbClr val="40458B"/>
                </a:solidFill>
                <a:latin typeface="黑体"/>
                <a:cs typeface="黑体"/>
              </a:rPr>
              <a:t> </a:t>
            </a:r>
            <a:r>
              <a:rPr dirty="0" sz="2600" spc="-5">
                <a:solidFill>
                  <a:srgbClr val="40458B"/>
                </a:solidFill>
                <a:latin typeface="Tahoma"/>
                <a:cs typeface="Tahoma"/>
              </a:rPr>
              <a:t>## </a:t>
            </a:r>
            <a:r>
              <a:rPr dirty="0" sz="2600" spc="-20">
                <a:solidFill>
                  <a:srgbClr val="40458B"/>
                </a:solidFill>
                <a:latin typeface="黑体"/>
                <a:cs typeface="黑体"/>
              </a:rPr>
              <a:t>偏移量</a:t>
            </a:r>
            <a:endParaRPr sz="2600">
              <a:latin typeface="黑体"/>
              <a:cs typeface="黑体"/>
            </a:endParaRPr>
          </a:p>
        </p:txBody>
      </p:sp>
      <p:grpSp>
        <p:nvGrpSpPr>
          <p:cNvPr id="9" name="object 9" descr=""/>
          <p:cNvGrpSpPr/>
          <p:nvPr/>
        </p:nvGrpSpPr>
        <p:grpSpPr>
          <a:xfrm>
            <a:off x="6235763" y="3878262"/>
            <a:ext cx="225425" cy="488950"/>
            <a:chOff x="6235763" y="3878262"/>
            <a:chExt cx="225425" cy="488950"/>
          </a:xfrm>
        </p:grpSpPr>
        <p:sp>
          <p:nvSpPr>
            <p:cNvPr id="10" name="object 10" descr=""/>
            <p:cNvSpPr/>
            <p:nvPr/>
          </p:nvSpPr>
          <p:spPr>
            <a:xfrm>
              <a:off x="6240526" y="3883025"/>
              <a:ext cx="215900" cy="479425"/>
            </a:xfrm>
            <a:custGeom>
              <a:avLst/>
              <a:gdLst/>
              <a:ahLst/>
              <a:cxnLst/>
              <a:rect l="l" t="t" r="r" b="b"/>
              <a:pathLst>
                <a:path w="215900" h="479425">
                  <a:moveTo>
                    <a:pt x="161925" y="0"/>
                  </a:moveTo>
                  <a:lnTo>
                    <a:pt x="53975" y="0"/>
                  </a:lnTo>
                  <a:lnTo>
                    <a:pt x="53975" y="371220"/>
                  </a:lnTo>
                  <a:lnTo>
                    <a:pt x="0" y="371220"/>
                  </a:lnTo>
                  <a:lnTo>
                    <a:pt x="107950" y="479425"/>
                  </a:lnTo>
                  <a:lnTo>
                    <a:pt x="215900" y="371220"/>
                  </a:lnTo>
                  <a:lnTo>
                    <a:pt x="161925" y="371220"/>
                  </a:lnTo>
                  <a:lnTo>
                    <a:pt x="161925" y="0"/>
                  </a:lnTo>
                  <a:close/>
                </a:path>
              </a:pathLst>
            </a:custGeom>
            <a:solidFill>
              <a:srgbClr val="EBD782"/>
            </a:solidFill>
          </p:spPr>
          <p:txBody>
            <a:bodyPr wrap="square" lIns="0" tIns="0" rIns="0" bIns="0" rtlCol="0"/>
            <a:lstStyle/>
            <a:p/>
          </p:txBody>
        </p:sp>
        <p:sp>
          <p:nvSpPr>
            <p:cNvPr id="11" name="object 11" descr=""/>
            <p:cNvSpPr/>
            <p:nvPr/>
          </p:nvSpPr>
          <p:spPr>
            <a:xfrm>
              <a:off x="6240526" y="3883025"/>
              <a:ext cx="215900" cy="479425"/>
            </a:xfrm>
            <a:custGeom>
              <a:avLst/>
              <a:gdLst/>
              <a:ahLst/>
              <a:cxnLst/>
              <a:rect l="l" t="t" r="r" b="b"/>
              <a:pathLst>
                <a:path w="215900" h="479425">
                  <a:moveTo>
                    <a:pt x="0" y="371220"/>
                  </a:moveTo>
                  <a:lnTo>
                    <a:pt x="53975" y="371220"/>
                  </a:lnTo>
                  <a:lnTo>
                    <a:pt x="53975" y="0"/>
                  </a:lnTo>
                  <a:lnTo>
                    <a:pt x="161925" y="0"/>
                  </a:lnTo>
                  <a:lnTo>
                    <a:pt x="161925" y="371220"/>
                  </a:lnTo>
                  <a:lnTo>
                    <a:pt x="215900" y="371220"/>
                  </a:lnTo>
                  <a:lnTo>
                    <a:pt x="107950" y="479425"/>
                  </a:lnTo>
                  <a:lnTo>
                    <a:pt x="0" y="371220"/>
                  </a:lnTo>
                  <a:close/>
                </a:path>
              </a:pathLst>
            </a:custGeom>
            <a:ln w="9525">
              <a:solidFill>
                <a:srgbClr val="40458B"/>
              </a:solidFill>
            </a:ln>
          </p:spPr>
          <p:txBody>
            <a:bodyPr wrap="square" lIns="0" tIns="0" rIns="0" bIns="0" rtlCol="0"/>
            <a:lstStyle/>
            <a:p/>
          </p:txBody>
        </p:sp>
      </p:grpSp>
      <p:sp>
        <p:nvSpPr>
          <p:cNvPr id="12" name="object 12" descr=""/>
          <p:cNvSpPr txBox="1"/>
          <p:nvPr/>
        </p:nvSpPr>
        <p:spPr>
          <a:xfrm>
            <a:off x="2208276" y="4362450"/>
            <a:ext cx="8253730" cy="492125"/>
          </a:xfrm>
          <a:prstGeom prst="rect">
            <a:avLst/>
          </a:prstGeom>
          <a:ln w="9525">
            <a:solidFill>
              <a:srgbClr val="FF0000"/>
            </a:solidFill>
          </a:ln>
        </p:spPr>
        <p:txBody>
          <a:bodyPr wrap="square" lIns="0" tIns="46990" rIns="0" bIns="0" rtlCol="0" vert="horz">
            <a:spAutoFit/>
          </a:bodyPr>
          <a:lstStyle/>
          <a:p>
            <a:pPr marL="91440">
              <a:lnSpc>
                <a:spcPct val="100000"/>
              </a:lnSpc>
              <a:spcBef>
                <a:spcPts val="370"/>
              </a:spcBef>
            </a:pPr>
            <a:r>
              <a:rPr dirty="0" sz="2600" spc="-5">
                <a:solidFill>
                  <a:srgbClr val="40458B"/>
                </a:solidFill>
                <a:latin typeface="黑体"/>
                <a:cs typeface="黑体"/>
              </a:rPr>
              <a:t>跳转目标地址</a:t>
            </a:r>
            <a:r>
              <a:rPr dirty="0" sz="2600" spc="-10">
                <a:solidFill>
                  <a:srgbClr val="40458B"/>
                </a:solidFill>
                <a:latin typeface="Tahoma"/>
                <a:cs typeface="Tahoma"/>
              </a:rPr>
              <a:t>add=PC+4</a:t>
            </a:r>
            <a:r>
              <a:rPr dirty="0" sz="2600" spc="-10">
                <a:solidFill>
                  <a:srgbClr val="40458B"/>
                </a:solidFill>
                <a:latin typeface="黑体"/>
                <a:cs typeface="黑体"/>
              </a:rPr>
              <a:t>（高位</a:t>
            </a:r>
            <a:r>
              <a:rPr dirty="0" sz="2600">
                <a:solidFill>
                  <a:srgbClr val="40458B"/>
                </a:solidFill>
                <a:latin typeface="黑体"/>
                <a:cs typeface="黑体"/>
              </a:rPr>
              <a:t>）</a:t>
            </a:r>
            <a:r>
              <a:rPr dirty="0" sz="2600" spc="365">
                <a:solidFill>
                  <a:srgbClr val="40458B"/>
                </a:solidFill>
                <a:latin typeface="黑体"/>
                <a:cs typeface="黑体"/>
              </a:rPr>
              <a:t> </a:t>
            </a:r>
            <a:r>
              <a:rPr dirty="0" sz="2600" spc="5">
                <a:solidFill>
                  <a:srgbClr val="40458B"/>
                </a:solidFill>
                <a:latin typeface="Tahoma"/>
                <a:cs typeface="Tahoma"/>
              </a:rPr>
              <a:t>## </a:t>
            </a:r>
            <a:r>
              <a:rPr dirty="0" sz="2600" spc="-15">
                <a:solidFill>
                  <a:srgbClr val="40458B"/>
                </a:solidFill>
                <a:latin typeface="黑体"/>
                <a:cs typeface="黑体"/>
              </a:rPr>
              <a:t>偏移量左移两位</a:t>
            </a:r>
            <a:endParaRPr sz="2600">
              <a:latin typeface="黑体"/>
              <a:cs typeface="黑体"/>
            </a:endParaRPr>
          </a:p>
        </p:txBody>
      </p:sp>
      <p:sp>
        <p:nvSpPr>
          <p:cNvPr id="13" name="object 13" descr=""/>
          <p:cNvSpPr txBox="1"/>
          <p:nvPr/>
        </p:nvSpPr>
        <p:spPr>
          <a:xfrm>
            <a:off x="1558925" y="5403850"/>
            <a:ext cx="9864725" cy="494030"/>
          </a:xfrm>
          <a:prstGeom prst="rect">
            <a:avLst/>
          </a:prstGeom>
          <a:ln w="9525">
            <a:solidFill>
              <a:srgbClr val="FF0000"/>
            </a:solidFill>
          </a:ln>
        </p:spPr>
        <p:txBody>
          <a:bodyPr wrap="square" lIns="0" tIns="46990" rIns="0" bIns="0" rtlCol="0" vert="horz">
            <a:spAutoFit/>
          </a:bodyPr>
          <a:lstStyle/>
          <a:p>
            <a:pPr marL="91440">
              <a:lnSpc>
                <a:spcPct val="100000"/>
              </a:lnSpc>
              <a:spcBef>
                <a:spcPts val="370"/>
              </a:spcBef>
            </a:pPr>
            <a:r>
              <a:rPr dirty="0" sz="2600" spc="-5">
                <a:solidFill>
                  <a:srgbClr val="40458B"/>
                </a:solidFill>
                <a:latin typeface="黑体"/>
                <a:cs typeface="黑体"/>
              </a:rPr>
              <a:t>跳转目标地址</a:t>
            </a:r>
            <a:r>
              <a:rPr dirty="0" sz="2600" spc="-10">
                <a:solidFill>
                  <a:srgbClr val="40458B"/>
                </a:solidFill>
                <a:latin typeface="Tahoma"/>
                <a:cs typeface="Tahoma"/>
              </a:rPr>
              <a:t>add=PC+4</a:t>
            </a:r>
            <a:r>
              <a:rPr dirty="0" sz="2600" spc="-10">
                <a:solidFill>
                  <a:srgbClr val="40458B"/>
                </a:solidFill>
                <a:latin typeface="黑体"/>
                <a:cs typeface="黑体"/>
              </a:rPr>
              <a:t>（高</a:t>
            </a:r>
            <a:r>
              <a:rPr dirty="0" sz="2600" spc="-30">
                <a:solidFill>
                  <a:srgbClr val="40458B"/>
                </a:solidFill>
                <a:latin typeface="Tahoma"/>
                <a:cs typeface="Tahoma"/>
              </a:rPr>
              <a:t>36</a:t>
            </a:r>
            <a:r>
              <a:rPr dirty="0" sz="2600">
                <a:solidFill>
                  <a:srgbClr val="40458B"/>
                </a:solidFill>
                <a:latin typeface="黑体"/>
                <a:cs typeface="黑体"/>
              </a:rPr>
              <a:t>位）</a:t>
            </a:r>
            <a:r>
              <a:rPr dirty="0" sz="2600" spc="350">
                <a:solidFill>
                  <a:srgbClr val="40458B"/>
                </a:solidFill>
                <a:latin typeface="黑体"/>
                <a:cs typeface="黑体"/>
              </a:rPr>
              <a:t> </a:t>
            </a:r>
            <a:r>
              <a:rPr dirty="0" sz="2600">
                <a:solidFill>
                  <a:srgbClr val="40458B"/>
                </a:solidFill>
                <a:latin typeface="Tahoma"/>
                <a:cs typeface="Tahoma"/>
              </a:rPr>
              <a:t>## </a:t>
            </a:r>
            <a:r>
              <a:rPr dirty="0" sz="2600" spc="-5">
                <a:solidFill>
                  <a:srgbClr val="40458B"/>
                </a:solidFill>
                <a:latin typeface="黑体"/>
                <a:cs typeface="黑体"/>
              </a:rPr>
              <a:t>偏移量</a:t>
            </a:r>
            <a:r>
              <a:rPr dirty="0" sz="2600" spc="-30">
                <a:solidFill>
                  <a:srgbClr val="40458B"/>
                </a:solidFill>
                <a:latin typeface="Tahoma"/>
                <a:cs typeface="Tahoma"/>
              </a:rPr>
              <a:t>26</a:t>
            </a:r>
            <a:r>
              <a:rPr dirty="0" sz="2600">
                <a:solidFill>
                  <a:srgbClr val="40458B"/>
                </a:solidFill>
                <a:latin typeface="黑体"/>
                <a:cs typeface="黑体"/>
              </a:rPr>
              <a:t>位</a:t>
            </a:r>
            <a:r>
              <a:rPr dirty="0" sz="2600" spc="-15">
                <a:solidFill>
                  <a:srgbClr val="40458B"/>
                </a:solidFill>
                <a:latin typeface="Tahoma"/>
                <a:cs typeface="Tahoma"/>
              </a:rPr>
              <a:t>+</a:t>
            </a:r>
            <a:r>
              <a:rPr dirty="0" sz="2600" spc="-15">
                <a:solidFill>
                  <a:srgbClr val="40458B"/>
                </a:solidFill>
                <a:latin typeface="黑体"/>
                <a:cs typeface="黑体"/>
              </a:rPr>
              <a:t>左移两位</a:t>
            </a:r>
            <a:endParaRPr sz="2600">
              <a:latin typeface="黑体"/>
              <a:cs typeface="黑体"/>
            </a:endParaRPr>
          </a:p>
        </p:txBody>
      </p:sp>
      <p:grpSp>
        <p:nvGrpSpPr>
          <p:cNvPr id="14" name="object 14" descr=""/>
          <p:cNvGrpSpPr/>
          <p:nvPr/>
        </p:nvGrpSpPr>
        <p:grpSpPr>
          <a:xfrm>
            <a:off x="6329362" y="4930711"/>
            <a:ext cx="227329" cy="487680"/>
            <a:chOff x="6329362" y="4930711"/>
            <a:chExt cx="227329" cy="487680"/>
          </a:xfrm>
        </p:grpSpPr>
        <p:sp>
          <p:nvSpPr>
            <p:cNvPr id="15" name="object 15" descr=""/>
            <p:cNvSpPr/>
            <p:nvPr/>
          </p:nvSpPr>
          <p:spPr>
            <a:xfrm>
              <a:off x="6334125" y="4935473"/>
              <a:ext cx="217804" cy="478155"/>
            </a:xfrm>
            <a:custGeom>
              <a:avLst/>
              <a:gdLst/>
              <a:ahLst/>
              <a:cxnLst/>
              <a:rect l="l" t="t" r="r" b="b"/>
              <a:pathLst>
                <a:path w="217804" h="478154">
                  <a:moveTo>
                    <a:pt x="163067" y="0"/>
                  </a:moveTo>
                  <a:lnTo>
                    <a:pt x="54355" y="0"/>
                  </a:lnTo>
                  <a:lnTo>
                    <a:pt x="54355" y="369950"/>
                  </a:lnTo>
                  <a:lnTo>
                    <a:pt x="0" y="369950"/>
                  </a:lnTo>
                  <a:lnTo>
                    <a:pt x="108712" y="477900"/>
                  </a:lnTo>
                  <a:lnTo>
                    <a:pt x="217550" y="369950"/>
                  </a:lnTo>
                  <a:lnTo>
                    <a:pt x="163067" y="369950"/>
                  </a:lnTo>
                  <a:lnTo>
                    <a:pt x="163067" y="0"/>
                  </a:lnTo>
                  <a:close/>
                </a:path>
              </a:pathLst>
            </a:custGeom>
            <a:solidFill>
              <a:srgbClr val="EBD782"/>
            </a:solidFill>
          </p:spPr>
          <p:txBody>
            <a:bodyPr wrap="square" lIns="0" tIns="0" rIns="0" bIns="0" rtlCol="0"/>
            <a:lstStyle/>
            <a:p/>
          </p:txBody>
        </p:sp>
        <p:sp>
          <p:nvSpPr>
            <p:cNvPr id="16" name="object 16" descr=""/>
            <p:cNvSpPr/>
            <p:nvPr/>
          </p:nvSpPr>
          <p:spPr>
            <a:xfrm>
              <a:off x="6334125" y="4935473"/>
              <a:ext cx="217804" cy="478155"/>
            </a:xfrm>
            <a:custGeom>
              <a:avLst/>
              <a:gdLst/>
              <a:ahLst/>
              <a:cxnLst/>
              <a:rect l="l" t="t" r="r" b="b"/>
              <a:pathLst>
                <a:path w="217804" h="478154">
                  <a:moveTo>
                    <a:pt x="0" y="369950"/>
                  </a:moveTo>
                  <a:lnTo>
                    <a:pt x="54355" y="369950"/>
                  </a:lnTo>
                  <a:lnTo>
                    <a:pt x="54355" y="0"/>
                  </a:lnTo>
                  <a:lnTo>
                    <a:pt x="163067" y="0"/>
                  </a:lnTo>
                  <a:lnTo>
                    <a:pt x="163067" y="369950"/>
                  </a:lnTo>
                  <a:lnTo>
                    <a:pt x="217550" y="369950"/>
                  </a:lnTo>
                  <a:lnTo>
                    <a:pt x="108712" y="477900"/>
                  </a:lnTo>
                  <a:lnTo>
                    <a:pt x="0" y="369950"/>
                  </a:lnTo>
                  <a:close/>
                </a:path>
              </a:pathLst>
            </a:custGeom>
            <a:ln w="9525">
              <a:solidFill>
                <a:srgbClr val="40458B"/>
              </a:solidFill>
            </a:ln>
          </p:spPr>
          <p:txBody>
            <a:bodyPr wrap="square" lIns="0" tIns="0" rIns="0" bIns="0" rtlCol="0"/>
            <a:lstStyle/>
            <a:p/>
          </p:txBody>
        </p:sp>
      </p:grpSp>
      <p:grpSp>
        <p:nvGrpSpPr>
          <p:cNvPr id="17" name="object 17" descr=""/>
          <p:cNvGrpSpPr/>
          <p:nvPr/>
        </p:nvGrpSpPr>
        <p:grpSpPr>
          <a:xfrm>
            <a:off x="6329362" y="5959475"/>
            <a:ext cx="227329" cy="487680"/>
            <a:chOff x="6329362" y="5959475"/>
            <a:chExt cx="227329" cy="487680"/>
          </a:xfrm>
        </p:grpSpPr>
        <p:sp>
          <p:nvSpPr>
            <p:cNvPr id="18" name="object 18" descr=""/>
            <p:cNvSpPr/>
            <p:nvPr/>
          </p:nvSpPr>
          <p:spPr>
            <a:xfrm>
              <a:off x="6334125" y="5964237"/>
              <a:ext cx="217804" cy="478155"/>
            </a:xfrm>
            <a:custGeom>
              <a:avLst/>
              <a:gdLst/>
              <a:ahLst/>
              <a:cxnLst/>
              <a:rect l="l" t="t" r="r" b="b"/>
              <a:pathLst>
                <a:path w="217804" h="478154">
                  <a:moveTo>
                    <a:pt x="163067" y="0"/>
                  </a:moveTo>
                  <a:lnTo>
                    <a:pt x="54355" y="0"/>
                  </a:lnTo>
                  <a:lnTo>
                    <a:pt x="54355" y="369951"/>
                  </a:lnTo>
                  <a:lnTo>
                    <a:pt x="0" y="369951"/>
                  </a:lnTo>
                  <a:lnTo>
                    <a:pt x="108712" y="477837"/>
                  </a:lnTo>
                  <a:lnTo>
                    <a:pt x="217550" y="369951"/>
                  </a:lnTo>
                  <a:lnTo>
                    <a:pt x="163067" y="369951"/>
                  </a:lnTo>
                  <a:lnTo>
                    <a:pt x="163067" y="0"/>
                  </a:lnTo>
                  <a:close/>
                </a:path>
              </a:pathLst>
            </a:custGeom>
            <a:solidFill>
              <a:srgbClr val="EBD782"/>
            </a:solidFill>
          </p:spPr>
          <p:txBody>
            <a:bodyPr wrap="square" lIns="0" tIns="0" rIns="0" bIns="0" rtlCol="0"/>
            <a:lstStyle/>
            <a:p/>
          </p:txBody>
        </p:sp>
        <p:sp>
          <p:nvSpPr>
            <p:cNvPr id="19" name="object 19" descr=""/>
            <p:cNvSpPr/>
            <p:nvPr/>
          </p:nvSpPr>
          <p:spPr>
            <a:xfrm>
              <a:off x="6334125" y="5964237"/>
              <a:ext cx="217804" cy="478155"/>
            </a:xfrm>
            <a:custGeom>
              <a:avLst/>
              <a:gdLst/>
              <a:ahLst/>
              <a:cxnLst/>
              <a:rect l="l" t="t" r="r" b="b"/>
              <a:pathLst>
                <a:path w="217804" h="478154">
                  <a:moveTo>
                    <a:pt x="0" y="369951"/>
                  </a:moveTo>
                  <a:lnTo>
                    <a:pt x="54355" y="369951"/>
                  </a:lnTo>
                  <a:lnTo>
                    <a:pt x="54355" y="0"/>
                  </a:lnTo>
                  <a:lnTo>
                    <a:pt x="163067" y="0"/>
                  </a:lnTo>
                  <a:lnTo>
                    <a:pt x="163067" y="369951"/>
                  </a:lnTo>
                  <a:lnTo>
                    <a:pt x="217550" y="369951"/>
                  </a:lnTo>
                  <a:lnTo>
                    <a:pt x="108712" y="477837"/>
                  </a:lnTo>
                  <a:lnTo>
                    <a:pt x="0" y="369951"/>
                  </a:lnTo>
                  <a:close/>
                </a:path>
              </a:pathLst>
            </a:custGeom>
            <a:ln w="9525">
              <a:solidFill>
                <a:srgbClr val="40458B"/>
              </a:solidFill>
            </a:ln>
          </p:spPr>
          <p:txBody>
            <a:bodyPr wrap="square" lIns="0" tIns="0" rIns="0" bIns="0" rtlCol="0"/>
            <a:lstStyle/>
            <a:p/>
          </p:txBody>
        </p:sp>
      </p:grpSp>
      <p:sp>
        <p:nvSpPr>
          <p:cNvPr id="20" name="object 20" descr=""/>
          <p:cNvSpPr txBox="1"/>
          <p:nvPr/>
        </p:nvSpPr>
        <p:spPr>
          <a:xfrm>
            <a:off x="6639306" y="6084519"/>
            <a:ext cx="251015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40458B"/>
                </a:solidFill>
                <a:latin typeface="黑体"/>
                <a:cs typeface="黑体"/>
              </a:rPr>
              <a:t>最终赋给</a:t>
            </a:r>
            <a:r>
              <a:rPr dirty="0" sz="2600" spc="-10">
                <a:solidFill>
                  <a:srgbClr val="40458B"/>
                </a:solidFill>
                <a:latin typeface="Tahoma"/>
                <a:cs typeface="Tahoma"/>
              </a:rPr>
              <a:t>PC=add</a:t>
            </a:r>
            <a:endParaRPr sz="2600">
              <a:latin typeface="Tahoma"/>
              <a:cs typeface="Tahoma"/>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0" y="4703762"/>
            <a:ext cx="12192000" cy="2154555"/>
            <a:chOff x="0" y="4703762"/>
            <a:chExt cx="12192000" cy="2154555"/>
          </a:xfrm>
        </p:grpSpPr>
        <p:sp>
          <p:nvSpPr>
            <p:cNvPr id="3" name="object 3"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4" name="object 4" descr=""/>
            <p:cNvSpPr/>
            <p:nvPr/>
          </p:nvSpPr>
          <p:spPr>
            <a:xfrm>
              <a:off x="1631950" y="4708525"/>
              <a:ext cx="9712325" cy="1892300"/>
            </a:xfrm>
            <a:custGeom>
              <a:avLst/>
              <a:gdLst/>
              <a:ahLst/>
              <a:cxnLst/>
              <a:rect l="l" t="t" r="r" b="b"/>
              <a:pathLst>
                <a:path w="9712325" h="1892300">
                  <a:moveTo>
                    <a:pt x="0" y="1892300"/>
                  </a:moveTo>
                  <a:lnTo>
                    <a:pt x="9712325" y="1892300"/>
                  </a:lnTo>
                  <a:lnTo>
                    <a:pt x="9712325" y="0"/>
                  </a:lnTo>
                  <a:lnTo>
                    <a:pt x="0" y="0"/>
                  </a:lnTo>
                  <a:lnTo>
                    <a:pt x="0" y="1892300"/>
                  </a:lnTo>
                  <a:close/>
                </a:path>
              </a:pathLst>
            </a:custGeom>
            <a:ln w="9525">
              <a:solidFill>
                <a:srgbClr val="FF0000"/>
              </a:solidFill>
            </a:ln>
          </p:spPr>
          <p:txBody>
            <a:bodyPr wrap="square" lIns="0" tIns="0" rIns="0" bIns="0" rtlCol="0"/>
            <a:lstStyle/>
            <a:p/>
          </p:txBody>
        </p:sp>
        <p:pic>
          <p:nvPicPr>
            <p:cNvPr id="5" name="object 5" descr=""/>
            <p:cNvPicPr/>
            <p:nvPr/>
          </p:nvPicPr>
          <p:blipFill>
            <a:blip r:embed="rId2" cstate="print"/>
            <a:stretch>
              <a:fillRect/>
            </a:stretch>
          </p:blipFill>
          <p:spPr>
            <a:xfrm>
              <a:off x="4361588" y="5545556"/>
              <a:ext cx="257175" cy="273050"/>
            </a:xfrm>
            <a:prstGeom prst="rect">
              <a:avLst/>
            </a:prstGeom>
          </p:spPr>
        </p:pic>
      </p:grpSp>
      <p:sp>
        <p:nvSpPr>
          <p:cNvPr id="6" name="object 6"/>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1028045" algn="l"/>
              </a:tabLst>
            </a:pPr>
            <a:r>
              <a:rPr dirty="0" spc="740">
                <a:solidFill>
                  <a:srgbClr val="4F55AC"/>
                </a:solidFill>
                <a:latin typeface="微软雅黑"/>
                <a:cs typeface="微软雅黑"/>
              </a:rPr>
              <a:t> </a:t>
            </a:r>
            <a:r>
              <a:rPr dirty="0">
                <a:solidFill>
                  <a:srgbClr val="4F55AC"/>
                </a:solidFill>
                <a:latin typeface="微软雅黑"/>
                <a:cs typeface="微软雅黑"/>
              </a:rPr>
              <a:t>J类指</a:t>
            </a:r>
            <a:r>
              <a:rPr dirty="0" spc="-50">
                <a:solidFill>
                  <a:srgbClr val="4F55AC"/>
                </a:solidFill>
                <a:latin typeface="微软雅黑"/>
                <a:cs typeface="微软雅黑"/>
              </a:rPr>
              <a:t>令</a:t>
            </a:r>
            <a:r>
              <a:rPr dirty="0">
                <a:solidFill>
                  <a:srgbClr val="4F55AC"/>
                </a:solidFill>
                <a:latin typeface="微软雅黑"/>
                <a:cs typeface="微软雅黑"/>
              </a:rPr>
              <a:t>	</a:t>
            </a:r>
          </a:p>
        </p:txBody>
      </p:sp>
      <p:sp>
        <p:nvSpPr>
          <p:cNvPr id="7" name="object 7" descr=""/>
          <p:cNvSpPr/>
          <p:nvPr/>
        </p:nvSpPr>
        <p:spPr>
          <a:xfrm>
            <a:off x="2986151" y="884300"/>
            <a:ext cx="7705725" cy="1079500"/>
          </a:xfrm>
          <a:custGeom>
            <a:avLst/>
            <a:gdLst/>
            <a:ahLst/>
            <a:cxnLst/>
            <a:rect l="l" t="t" r="r" b="b"/>
            <a:pathLst>
              <a:path w="7705725" h="1079500">
                <a:moveTo>
                  <a:pt x="7705725" y="0"/>
                </a:moveTo>
                <a:lnTo>
                  <a:pt x="0" y="0"/>
                </a:lnTo>
                <a:lnTo>
                  <a:pt x="0" y="1079500"/>
                </a:lnTo>
                <a:lnTo>
                  <a:pt x="7705725" y="1079500"/>
                </a:lnTo>
                <a:lnTo>
                  <a:pt x="7705725" y="0"/>
                </a:lnTo>
                <a:close/>
              </a:path>
            </a:pathLst>
          </a:custGeom>
          <a:solidFill>
            <a:srgbClr val="FFFFCC"/>
          </a:solidFill>
        </p:spPr>
        <p:txBody>
          <a:bodyPr wrap="square" lIns="0" tIns="0" rIns="0" bIns="0" rtlCol="0"/>
          <a:lstStyle/>
          <a:p/>
        </p:txBody>
      </p:sp>
      <p:sp>
        <p:nvSpPr>
          <p:cNvPr id="8" name="object 8" descr=""/>
          <p:cNvSpPr txBox="1"/>
          <p:nvPr/>
        </p:nvSpPr>
        <p:spPr>
          <a:xfrm>
            <a:off x="3195888" y="1173648"/>
            <a:ext cx="1459865" cy="615315"/>
          </a:xfrm>
          <a:prstGeom prst="rect">
            <a:avLst/>
          </a:prstGeom>
          <a:solidFill>
            <a:srgbClr val="FFFFCC"/>
          </a:solidFill>
          <a:ln w="21567">
            <a:solidFill>
              <a:srgbClr val="000000"/>
            </a:solidFill>
          </a:ln>
        </p:spPr>
        <p:txBody>
          <a:bodyPr wrap="square" lIns="0" tIns="156845" rIns="0" bIns="0" rtlCol="0" vert="horz">
            <a:spAutoFit/>
          </a:bodyPr>
          <a:lstStyle/>
          <a:p>
            <a:pPr marL="403225">
              <a:lnSpc>
                <a:spcPct val="100000"/>
              </a:lnSpc>
              <a:spcBef>
                <a:spcPts val="1235"/>
              </a:spcBef>
            </a:pPr>
            <a:r>
              <a:rPr dirty="0" sz="2000" spc="-145">
                <a:latin typeface="宋体"/>
                <a:cs typeface="宋体"/>
              </a:rPr>
              <a:t>操作码</a:t>
            </a:r>
            <a:endParaRPr sz="2000">
              <a:latin typeface="宋体"/>
              <a:cs typeface="宋体"/>
            </a:endParaRPr>
          </a:p>
        </p:txBody>
      </p:sp>
      <p:sp>
        <p:nvSpPr>
          <p:cNvPr id="9" name="object 9" descr=""/>
          <p:cNvSpPr txBox="1"/>
          <p:nvPr/>
        </p:nvSpPr>
        <p:spPr>
          <a:xfrm>
            <a:off x="3858000" y="792717"/>
            <a:ext cx="3873500" cy="332740"/>
          </a:xfrm>
          <a:prstGeom prst="rect">
            <a:avLst/>
          </a:prstGeom>
        </p:spPr>
        <p:txBody>
          <a:bodyPr wrap="square" lIns="0" tIns="14604" rIns="0" bIns="0" rtlCol="0" vert="horz">
            <a:spAutoFit/>
          </a:bodyPr>
          <a:lstStyle/>
          <a:p>
            <a:pPr marL="12700">
              <a:lnSpc>
                <a:spcPct val="100000"/>
              </a:lnSpc>
              <a:spcBef>
                <a:spcPts val="114"/>
              </a:spcBef>
              <a:tabLst>
                <a:tab pos="3625215" algn="l"/>
              </a:tabLst>
            </a:pPr>
            <a:r>
              <a:rPr dirty="0" sz="2000" spc="-50" b="1">
                <a:latin typeface="Times New Roman"/>
                <a:cs typeface="Times New Roman"/>
              </a:rPr>
              <a:t>6</a:t>
            </a:r>
            <a:r>
              <a:rPr dirty="0" sz="2000" b="1">
                <a:latin typeface="Times New Roman"/>
                <a:cs typeface="Times New Roman"/>
              </a:rPr>
              <a:t>	</a:t>
            </a:r>
            <a:r>
              <a:rPr dirty="0" sz="2000" spc="-55" b="1">
                <a:latin typeface="Times New Roman"/>
                <a:cs typeface="Times New Roman"/>
              </a:rPr>
              <a:t>26</a:t>
            </a:r>
            <a:endParaRPr sz="2000">
              <a:latin typeface="Times New Roman"/>
              <a:cs typeface="Times New Roman"/>
            </a:endParaRPr>
          </a:p>
        </p:txBody>
      </p:sp>
      <p:sp>
        <p:nvSpPr>
          <p:cNvPr id="10" name="object 10" descr=""/>
          <p:cNvSpPr txBox="1"/>
          <p:nvPr/>
        </p:nvSpPr>
        <p:spPr>
          <a:xfrm>
            <a:off x="4655529" y="1173648"/>
            <a:ext cx="5769610" cy="615315"/>
          </a:xfrm>
          <a:prstGeom prst="rect">
            <a:avLst/>
          </a:prstGeom>
          <a:solidFill>
            <a:srgbClr val="FFFFCC"/>
          </a:solidFill>
          <a:ln w="20163">
            <a:solidFill>
              <a:srgbClr val="000000"/>
            </a:solidFill>
          </a:ln>
        </p:spPr>
        <p:txBody>
          <a:bodyPr wrap="square" lIns="0" tIns="153035" rIns="0" bIns="0" rtlCol="0" vert="horz">
            <a:spAutoFit/>
          </a:bodyPr>
          <a:lstStyle/>
          <a:p>
            <a:pPr algn="ctr">
              <a:lnSpc>
                <a:spcPct val="100000"/>
              </a:lnSpc>
              <a:spcBef>
                <a:spcPts val="1205"/>
              </a:spcBef>
            </a:pPr>
            <a:r>
              <a:rPr dirty="0" sz="2000" spc="-355">
                <a:latin typeface="宋体"/>
                <a:cs typeface="宋体"/>
              </a:rPr>
              <a:t>与 </a:t>
            </a:r>
            <a:r>
              <a:rPr dirty="0" sz="2000" spc="-130" b="1">
                <a:latin typeface="Times New Roman"/>
                <a:cs typeface="Times New Roman"/>
              </a:rPr>
              <a:t>PC</a:t>
            </a:r>
            <a:r>
              <a:rPr dirty="0" sz="2000" spc="-80" b="1">
                <a:latin typeface="Times New Roman"/>
                <a:cs typeface="Times New Roman"/>
              </a:rPr>
              <a:t> </a:t>
            </a:r>
            <a:r>
              <a:rPr dirty="0" sz="2000" spc="-175">
                <a:latin typeface="宋体"/>
                <a:cs typeface="宋体"/>
              </a:rPr>
              <a:t>相加的偏移量</a:t>
            </a:r>
            <a:endParaRPr sz="2000">
              <a:latin typeface="宋体"/>
              <a:cs typeface="宋体"/>
            </a:endParaRPr>
          </a:p>
        </p:txBody>
      </p:sp>
      <p:sp>
        <p:nvSpPr>
          <p:cNvPr id="11" name="object 11" descr=""/>
          <p:cNvSpPr txBox="1"/>
          <p:nvPr/>
        </p:nvSpPr>
        <p:spPr>
          <a:xfrm>
            <a:off x="1378966" y="1778017"/>
            <a:ext cx="9728200" cy="1362075"/>
          </a:xfrm>
          <a:prstGeom prst="rect">
            <a:avLst/>
          </a:prstGeom>
        </p:spPr>
        <p:txBody>
          <a:bodyPr wrap="square" lIns="0" tIns="14604" rIns="0" bIns="0" rtlCol="0" vert="horz">
            <a:spAutoFit/>
          </a:bodyPr>
          <a:lstStyle/>
          <a:p>
            <a:pPr marL="1841500">
              <a:lnSpc>
                <a:spcPct val="100000"/>
              </a:lnSpc>
              <a:spcBef>
                <a:spcPts val="114"/>
              </a:spcBef>
              <a:tabLst>
                <a:tab pos="3027680" algn="l"/>
                <a:tab pos="3351529" algn="l"/>
                <a:tab pos="8801735" algn="l"/>
              </a:tabLst>
            </a:pPr>
            <a:r>
              <a:rPr dirty="0" sz="2000" spc="-50" b="1">
                <a:latin typeface="Times New Roman"/>
                <a:cs typeface="Times New Roman"/>
              </a:rPr>
              <a:t>0</a:t>
            </a:r>
            <a:r>
              <a:rPr dirty="0" sz="2000" b="1">
                <a:latin typeface="Times New Roman"/>
                <a:cs typeface="Times New Roman"/>
              </a:rPr>
              <a:t>	</a:t>
            </a:r>
            <a:r>
              <a:rPr dirty="0" sz="2000" spc="-50" b="1">
                <a:latin typeface="Times New Roman"/>
                <a:cs typeface="Times New Roman"/>
              </a:rPr>
              <a:t>5</a:t>
            </a:r>
            <a:r>
              <a:rPr dirty="0" sz="2000" b="1">
                <a:latin typeface="Times New Roman"/>
                <a:cs typeface="Times New Roman"/>
              </a:rPr>
              <a:t>	</a:t>
            </a:r>
            <a:r>
              <a:rPr dirty="0" sz="2000" spc="-50" b="1">
                <a:latin typeface="Times New Roman"/>
                <a:cs typeface="Times New Roman"/>
              </a:rPr>
              <a:t>6</a:t>
            </a:r>
            <a:r>
              <a:rPr dirty="0" sz="2000" b="1">
                <a:latin typeface="Times New Roman"/>
                <a:cs typeface="Times New Roman"/>
              </a:rPr>
              <a:t>	</a:t>
            </a:r>
            <a:r>
              <a:rPr dirty="0" sz="2000" spc="-25" b="1">
                <a:latin typeface="Times New Roman"/>
                <a:cs typeface="Times New Roman"/>
              </a:rPr>
              <a:t>31</a:t>
            </a:r>
            <a:endParaRPr sz="2000">
              <a:latin typeface="Times New Roman"/>
              <a:cs typeface="Times New Roman"/>
            </a:endParaRPr>
          </a:p>
          <a:p>
            <a:pPr marL="12700">
              <a:lnSpc>
                <a:spcPct val="100000"/>
              </a:lnSpc>
              <a:spcBef>
                <a:spcPts val="1864"/>
              </a:spcBef>
              <a:tabLst>
                <a:tab pos="812165" algn="l"/>
                <a:tab pos="2063114" algn="l"/>
              </a:tabLst>
            </a:pPr>
            <a:r>
              <a:rPr dirty="0" sz="2600" spc="-25">
                <a:solidFill>
                  <a:srgbClr val="40458B"/>
                </a:solidFill>
                <a:latin typeface="Tahoma"/>
                <a:cs typeface="Tahoma"/>
              </a:rPr>
              <a:t>Jal</a:t>
            </a:r>
            <a:r>
              <a:rPr dirty="0" sz="2600">
                <a:solidFill>
                  <a:srgbClr val="40458B"/>
                </a:solidFill>
                <a:latin typeface="Tahoma"/>
                <a:cs typeface="Tahoma"/>
              </a:rPr>
              <a:t>	</a:t>
            </a:r>
            <a:r>
              <a:rPr dirty="0" sz="2600" spc="-20">
                <a:solidFill>
                  <a:srgbClr val="40458B"/>
                </a:solidFill>
                <a:latin typeface="Tahoma"/>
                <a:cs typeface="Tahoma"/>
              </a:rPr>
              <a:t>next</a:t>
            </a:r>
            <a:r>
              <a:rPr dirty="0" sz="2600">
                <a:solidFill>
                  <a:srgbClr val="40458B"/>
                </a:solidFill>
                <a:latin typeface="Tahoma"/>
                <a:cs typeface="Tahoma"/>
              </a:rPr>
              <a:t>	#next</a:t>
            </a:r>
            <a:r>
              <a:rPr dirty="0" sz="2600" spc="-15">
                <a:solidFill>
                  <a:srgbClr val="40458B"/>
                </a:solidFill>
                <a:latin typeface="黑体"/>
                <a:cs typeface="黑体"/>
              </a:rPr>
              <a:t>，标号，偏移量，例如函数调用</a:t>
            </a:r>
            <a:endParaRPr sz="2600">
              <a:latin typeface="黑体"/>
              <a:cs typeface="黑体"/>
            </a:endParaRPr>
          </a:p>
          <a:p>
            <a:pPr marL="2076450">
              <a:lnSpc>
                <a:spcPct val="100000"/>
              </a:lnSpc>
              <a:tabLst>
                <a:tab pos="6044565" algn="l"/>
              </a:tabLst>
            </a:pPr>
            <a:r>
              <a:rPr dirty="0" sz="2600">
                <a:solidFill>
                  <a:srgbClr val="40458B"/>
                </a:solidFill>
                <a:latin typeface="黑体"/>
                <a:cs typeface="黑体"/>
              </a:rPr>
              <a:t>指令功能</a:t>
            </a:r>
            <a:r>
              <a:rPr dirty="0" sz="2600" spc="-10">
                <a:solidFill>
                  <a:srgbClr val="40458B"/>
                </a:solidFill>
                <a:latin typeface="黑体"/>
                <a:cs typeface="黑体"/>
              </a:rPr>
              <a:t>：</a:t>
            </a:r>
            <a:r>
              <a:rPr dirty="0" sz="2600" spc="-10">
                <a:solidFill>
                  <a:srgbClr val="40458B"/>
                </a:solidFill>
                <a:latin typeface="Tahoma"/>
                <a:cs typeface="Tahoma"/>
              </a:rPr>
              <a:t>R31←PC+4</a:t>
            </a:r>
            <a:r>
              <a:rPr dirty="0" sz="2600">
                <a:solidFill>
                  <a:srgbClr val="40458B"/>
                </a:solidFill>
                <a:latin typeface="Tahoma"/>
                <a:cs typeface="Tahoma"/>
              </a:rPr>
              <a:t>	PC←add</a:t>
            </a:r>
            <a:r>
              <a:rPr dirty="0" sz="2600" spc="-15">
                <a:solidFill>
                  <a:srgbClr val="40458B"/>
                </a:solidFill>
                <a:latin typeface="Tahoma"/>
                <a:cs typeface="Tahoma"/>
              </a:rPr>
              <a:t> </a:t>
            </a:r>
            <a:r>
              <a:rPr dirty="0" sz="2600">
                <a:solidFill>
                  <a:srgbClr val="40458B"/>
                </a:solidFill>
                <a:latin typeface="黑体"/>
                <a:cs typeface="黑体"/>
              </a:rPr>
              <a:t>（同上条</a:t>
            </a:r>
            <a:r>
              <a:rPr dirty="0" sz="2600" spc="-15">
                <a:solidFill>
                  <a:srgbClr val="40458B"/>
                </a:solidFill>
                <a:latin typeface="黑体"/>
                <a:cs typeface="黑体"/>
              </a:rPr>
              <a:t>指</a:t>
            </a:r>
            <a:r>
              <a:rPr dirty="0" sz="2600">
                <a:solidFill>
                  <a:srgbClr val="40458B"/>
                </a:solidFill>
                <a:latin typeface="黑体"/>
                <a:cs typeface="黑体"/>
              </a:rPr>
              <a:t>令</a:t>
            </a:r>
            <a:r>
              <a:rPr dirty="0" sz="2600" spc="-50">
                <a:solidFill>
                  <a:srgbClr val="40458B"/>
                </a:solidFill>
                <a:latin typeface="黑体"/>
                <a:cs typeface="黑体"/>
              </a:rPr>
              <a:t>）</a:t>
            </a:r>
            <a:endParaRPr sz="2600">
              <a:latin typeface="黑体"/>
              <a:cs typeface="黑体"/>
            </a:endParaRPr>
          </a:p>
        </p:txBody>
      </p:sp>
      <p:sp>
        <p:nvSpPr>
          <p:cNvPr id="12" name="object 12" descr=""/>
          <p:cNvSpPr txBox="1"/>
          <p:nvPr/>
        </p:nvSpPr>
        <p:spPr>
          <a:xfrm>
            <a:off x="3143250" y="3489325"/>
            <a:ext cx="6996430" cy="492125"/>
          </a:xfrm>
          <a:prstGeom prst="rect">
            <a:avLst/>
          </a:prstGeom>
          <a:ln w="9525">
            <a:solidFill>
              <a:srgbClr val="FF0000"/>
            </a:solidFill>
          </a:ln>
        </p:spPr>
        <p:txBody>
          <a:bodyPr wrap="square" lIns="0" tIns="46990" rIns="0" bIns="0" rtlCol="0" vert="horz">
            <a:spAutoFit/>
          </a:bodyPr>
          <a:lstStyle/>
          <a:p>
            <a:pPr marL="91440">
              <a:lnSpc>
                <a:spcPct val="100000"/>
              </a:lnSpc>
              <a:spcBef>
                <a:spcPts val="370"/>
              </a:spcBef>
              <a:tabLst>
                <a:tab pos="6034405" algn="l"/>
              </a:tabLst>
            </a:pPr>
            <a:r>
              <a:rPr dirty="0" sz="2600">
                <a:solidFill>
                  <a:srgbClr val="40458B"/>
                </a:solidFill>
                <a:latin typeface="黑体"/>
                <a:cs typeface="黑体"/>
              </a:rPr>
              <a:t>过程同上</a:t>
            </a:r>
            <a:r>
              <a:rPr dirty="0" sz="2600" spc="-15">
                <a:solidFill>
                  <a:srgbClr val="40458B"/>
                </a:solidFill>
                <a:latin typeface="黑体"/>
                <a:cs typeface="黑体"/>
              </a:rPr>
              <a:t>，</a:t>
            </a:r>
            <a:r>
              <a:rPr dirty="0" sz="2600">
                <a:solidFill>
                  <a:srgbClr val="40458B"/>
                </a:solidFill>
                <a:latin typeface="黑体"/>
                <a:cs typeface="黑体"/>
              </a:rPr>
              <a:t>最终</a:t>
            </a:r>
            <a:r>
              <a:rPr dirty="0" sz="2600" spc="-15">
                <a:solidFill>
                  <a:srgbClr val="40458B"/>
                </a:solidFill>
                <a:latin typeface="黑体"/>
                <a:cs typeface="黑体"/>
              </a:rPr>
              <a:t>跳</a:t>
            </a:r>
            <a:r>
              <a:rPr dirty="0" sz="2600">
                <a:solidFill>
                  <a:srgbClr val="40458B"/>
                </a:solidFill>
                <a:latin typeface="黑体"/>
                <a:cs typeface="黑体"/>
              </a:rPr>
              <a:t>转指</a:t>
            </a:r>
            <a:r>
              <a:rPr dirty="0" sz="2600" spc="-15">
                <a:solidFill>
                  <a:srgbClr val="40458B"/>
                </a:solidFill>
                <a:latin typeface="黑体"/>
                <a:cs typeface="黑体"/>
              </a:rPr>
              <a:t>令</a:t>
            </a:r>
            <a:r>
              <a:rPr dirty="0" sz="2600">
                <a:solidFill>
                  <a:srgbClr val="40458B"/>
                </a:solidFill>
                <a:latin typeface="黑体"/>
                <a:cs typeface="黑体"/>
              </a:rPr>
              <a:t>的目</a:t>
            </a:r>
            <a:r>
              <a:rPr dirty="0" sz="2600" spc="-10">
                <a:solidFill>
                  <a:srgbClr val="40458B"/>
                </a:solidFill>
                <a:latin typeface="黑体"/>
                <a:cs typeface="黑体"/>
              </a:rPr>
              <a:t>标</a:t>
            </a:r>
            <a:r>
              <a:rPr dirty="0" sz="2600" spc="-10">
                <a:solidFill>
                  <a:srgbClr val="40458B"/>
                </a:solidFill>
                <a:latin typeface="Tahoma"/>
                <a:cs typeface="Tahoma"/>
              </a:rPr>
              <a:t>pc=add</a:t>
            </a:r>
            <a:r>
              <a:rPr dirty="0" sz="2600">
                <a:solidFill>
                  <a:srgbClr val="40458B"/>
                </a:solidFill>
                <a:latin typeface="Tahoma"/>
                <a:cs typeface="Tahoma"/>
              </a:rPr>
              <a:t>	</a:t>
            </a:r>
            <a:r>
              <a:rPr dirty="0" sz="2600" spc="-50">
                <a:solidFill>
                  <a:srgbClr val="FF0000"/>
                </a:solidFill>
                <a:latin typeface="黑体"/>
                <a:cs typeface="黑体"/>
              </a:rPr>
              <a:t>但</a:t>
            </a:r>
            <a:endParaRPr sz="2600">
              <a:latin typeface="黑体"/>
              <a:cs typeface="黑体"/>
            </a:endParaRPr>
          </a:p>
        </p:txBody>
      </p:sp>
      <p:grpSp>
        <p:nvGrpSpPr>
          <p:cNvPr id="13" name="object 13" descr=""/>
          <p:cNvGrpSpPr/>
          <p:nvPr/>
        </p:nvGrpSpPr>
        <p:grpSpPr>
          <a:xfrm>
            <a:off x="6235763" y="4071937"/>
            <a:ext cx="225425" cy="488950"/>
            <a:chOff x="6235763" y="4071937"/>
            <a:chExt cx="225425" cy="488950"/>
          </a:xfrm>
        </p:grpSpPr>
        <p:sp>
          <p:nvSpPr>
            <p:cNvPr id="14" name="object 14" descr=""/>
            <p:cNvSpPr/>
            <p:nvPr/>
          </p:nvSpPr>
          <p:spPr>
            <a:xfrm>
              <a:off x="6240526" y="4076700"/>
              <a:ext cx="215900" cy="479425"/>
            </a:xfrm>
            <a:custGeom>
              <a:avLst/>
              <a:gdLst/>
              <a:ahLst/>
              <a:cxnLst/>
              <a:rect l="l" t="t" r="r" b="b"/>
              <a:pathLst>
                <a:path w="215900" h="479425">
                  <a:moveTo>
                    <a:pt x="161925" y="0"/>
                  </a:moveTo>
                  <a:lnTo>
                    <a:pt x="53975" y="0"/>
                  </a:lnTo>
                  <a:lnTo>
                    <a:pt x="53975" y="371220"/>
                  </a:lnTo>
                  <a:lnTo>
                    <a:pt x="0" y="371220"/>
                  </a:lnTo>
                  <a:lnTo>
                    <a:pt x="107950" y="479425"/>
                  </a:lnTo>
                  <a:lnTo>
                    <a:pt x="215900" y="371220"/>
                  </a:lnTo>
                  <a:lnTo>
                    <a:pt x="161925" y="371220"/>
                  </a:lnTo>
                  <a:lnTo>
                    <a:pt x="161925" y="0"/>
                  </a:lnTo>
                  <a:close/>
                </a:path>
              </a:pathLst>
            </a:custGeom>
            <a:solidFill>
              <a:srgbClr val="EBD782"/>
            </a:solidFill>
          </p:spPr>
          <p:txBody>
            <a:bodyPr wrap="square" lIns="0" tIns="0" rIns="0" bIns="0" rtlCol="0"/>
            <a:lstStyle/>
            <a:p/>
          </p:txBody>
        </p:sp>
        <p:sp>
          <p:nvSpPr>
            <p:cNvPr id="15" name="object 15" descr=""/>
            <p:cNvSpPr/>
            <p:nvPr/>
          </p:nvSpPr>
          <p:spPr>
            <a:xfrm>
              <a:off x="6240526" y="4076700"/>
              <a:ext cx="215900" cy="479425"/>
            </a:xfrm>
            <a:custGeom>
              <a:avLst/>
              <a:gdLst/>
              <a:ahLst/>
              <a:cxnLst/>
              <a:rect l="l" t="t" r="r" b="b"/>
              <a:pathLst>
                <a:path w="215900" h="479425">
                  <a:moveTo>
                    <a:pt x="0" y="371220"/>
                  </a:moveTo>
                  <a:lnTo>
                    <a:pt x="53975" y="371220"/>
                  </a:lnTo>
                  <a:lnTo>
                    <a:pt x="53975" y="0"/>
                  </a:lnTo>
                  <a:lnTo>
                    <a:pt x="161925" y="0"/>
                  </a:lnTo>
                  <a:lnTo>
                    <a:pt x="161925" y="371220"/>
                  </a:lnTo>
                  <a:lnTo>
                    <a:pt x="215900" y="371220"/>
                  </a:lnTo>
                  <a:lnTo>
                    <a:pt x="107950" y="479425"/>
                  </a:lnTo>
                  <a:lnTo>
                    <a:pt x="0" y="371220"/>
                  </a:lnTo>
                  <a:close/>
                </a:path>
              </a:pathLst>
            </a:custGeom>
            <a:ln w="9525">
              <a:solidFill>
                <a:srgbClr val="40458B"/>
              </a:solidFill>
            </a:ln>
          </p:spPr>
          <p:txBody>
            <a:bodyPr wrap="square" lIns="0" tIns="0" rIns="0" bIns="0" rtlCol="0"/>
            <a:lstStyle/>
            <a:p/>
          </p:txBody>
        </p:sp>
      </p:grpSp>
      <p:sp>
        <p:nvSpPr>
          <p:cNvPr id="16" name="object 16" descr=""/>
          <p:cNvSpPr txBox="1"/>
          <p:nvPr/>
        </p:nvSpPr>
        <p:spPr>
          <a:xfrm>
            <a:off x="2342388" y="4661640"/>
            <a:ext cx="7611745" cy="1808480"/>
          </a:xfrm>
          <a:prstGeom prst="rect">
            <a:avLst/>
          </a:prstGeom>
        </p:spPr>
        <p:txBody>
          <a:bodyPr wrap="square" lIns="0" tIns="12065" rIns="0" bIns="0" rtlCol="0" vert="horz">
            <a:spAutoFit/>
          </a:bodyPr>
          <a:lstStyle/>
          <a:p>
            <a:pPr marL="1652270" marR="377825" indent="-1652270">
              <a:lnSpc>
                <a:spcPct val="150000"/>
              </a:lnSpc>
              <a:spcBef>
                <a:spcPts val="95"/>
              </a:spcBef>
              <a:tabLst>
                <a:tab pos="2315845" algn="l"/>
              </a:tabLst>
            </a:pPr>
            <a:r>
              <a:rPr dirty="0" sz="2600" spc="-10">
                <a:solidFill>
                  <a:srgbClr val="40458B"/>
                </a:solidFill>
                <a:latin typeface="Tahoma"/>
                <a:cs typeface="Tahoma"/>
              </a:rPr>
              <a:t>R31=PC+4</a:t>
            </a:r>
            <a:r>
              <a:rPr dirty="0" sz="2600" spc="-10">
                <a:solidFill>
                  <a:srgbClr val="40458B"/>
                </a:solidFill>
                <a:latin typeface="黑体"/>
                <a:cs typeface="黑体"/>
              </a:rPr>
              <a:t>（</a:t>
            </a:r>
            <a:r>
              <a:rPr dirty="0" sz="2600">
                <a:solidFill>
                  <a:srgbClr val="40458B"/>
                </a:solidFill>
                <a:latin typeface="黑体"/>
                <a:cs typeface="黑体"/>
              </a:rPr>
              <a:t>当前跳转</a:t>
            </a:r>
            <a:r>
              <a:rPr dirty="0" sz="2600" spc="-15">
                <a:solidFill>
                  <a:srgbClr val="40458B"/>
                </a:solidFill>
                <a:latin typeface="黑体"/>
                <a:cs typeface="黑体"/>
              </a:rPr>
              <a:t>指</a:t>
            </a:r>
            <a:r>
              <a:rPr dirty="0" sz="2600">
                <a:solidFill>
                  <a:srgbClr val="40458B"/>
                </a:solidFill>
                <a:latin typeface="黑体"/>
                <a:cs typeface="黑体"/>
              </a:rPr>
              <a:t>令的</a:t>
            </a:r>
            <a:r>
              <a:rPr dirty="0" sz="2600" spc="-15">
                <a:solidFill>
                  <a:srgbClr val="40458B"/>
                </a:solidFill>
                <a:latin typeface="黑体"/>
                <a:cs typeface="黑体"/>
              </a:rPr>
              <a:t>下</a:t>
            </a:r>
            <a:r>
              <a:rPr dirty="0" sz="2600">
                <a:solidFill>
                  <a:srgbClr val="40458B"/>
                </a:solidFill>
                <a:latin typeface="黑体"/>
                <a:cs typeface="黑体"/>
              </a:rPr>
              <a:t>一条</a:t>
            </a:r>
            <a:r>
              <a:rPr dirty="0" sz="2600" spc="-15">
                <a:solidFill>
                  <a:srgbClr val="40458B"/>
                </a:solidFill>
                <a:latin typeface="黑体"/>
                <a:cs typeface="黑体"/>
              </a:rPr>
              <a:t>指</a:t>
            </a:r>
            <a:r>
              <a:rPr dirty="0" sz="2600">
                <a:solidFill>
                  <a:srgbClr val="40458B"/>
                </a:solidFill>
                <a:latin typeface="黑体"/>
                <a:cs typeface="黑体"/>
              </a:rPr>
              <a:t>令地</a:t>
            </a:r>
            <a:r>
              <a:rPr dirty="0" sz="2600" spc="-15">
                <a:solidFill>
                  <a:srgbClr val="40458B"/>
                </a:solidFill>
                <a:latin typeface="黑体"/>
                <a:cs typeface="黑体"/>
              </a:rPr>
              <a:t>址</a:t>
            </a:r>
            <a:r>
              <a:rPr dirty="0" sz="2600" spc="-25">
                <a:solidFill>
                  <a:srgbClr val="40458B"/>
                </a:solidFill>
                <a:latin typeface="黑体"/>
                <a:cs typeface="黑体"/>
              </a:rPr>
              <a:t>），</a:t>
            </a:r>
            <a:r>
              <a:rPr dirty="0" sz="2600" spc="-50">
                <a:solidFill>
                  <a:srgbClr val="40458B"/>
                </a:solidFill>
                <a:latin typeface="黑体"/>
                <a:cs typeface="黑体"/>
              </a:rPr>
              <a:t>返</a:t>
            </a:r>
            <a:r>
              <a:rPr dirty="0" sz="2600">
                <a:solidFill>
                  <a:srgbClr val="40458B"/>
                </a:solidFill>
                <a:latin typeface="黑体"/>
                <a:cs typeface="黑体"/>
              </a:rPr>
              <a:t>	地</a:t>
            </a:r>
            <a:r>
              <a:rPr dirty="0" sz="2600" spc="-20">
                <a:solidFill>
                  <a:srgbClr val="40458B"/>
                </a:solidFill>
                <a:latin typeface="黑体"/>
                <a:cs typeface="黑体"/>
              </a:rPr>
              <a:t>址</a:t>
            </a:r>
            <a:r>
              <a:rPr dirty="0" sz="2600">
                <a:solidFill>
                  <a:srgbClr val="40458B"/>
                </a:solidFill>
                <a:latin typeface="黑体"/>
                <a:cs typeface="黑体"/>
              </a:rPr>
              <a:t>存放</a:t>
            </a:r>
            <a:r>
              <a:rPr dirty="0" sz="2600" spc="-15">
                <a:solidFill>
                  <a:srgbClr val="40458B"/>
                </a:solidFill>
                <a:latin typeface="黑体"/>
                <a:cs typeface="黑体"/>
              </a:rPr>
              <a:t>于</a:t>
            </a:r>
            <a:r>
              <a:rPr dirty="0" sz="2600" spc="-25">
                <a:solidFill>
                  <a:srgbClr val="40458B"/>
                </a:solidFill>
                <a:latin typeface="Tahoma"/>
                <a:cs typeface="Tahoma"/>
              </a:rPr>
              <a:t>R31</a:t>
            </a:r>
            <a:endParaRPr sz="2600">
              <a:latin typeface="Tahoma"/>
              <a:cs typeface="Tahoma"/>
            </a:endParaRPr>
          </a:p>
          <a:p>
            <a:pPr>
              <a:lnSpc>
                <a:spcPct val="100000"/>
              </a:lnSpc>
              <a:spcBef>
                <a:spcPts val="1560"/>
              </a:spcBef>
            </a:pPr>
            <a:r>
              <a:rPr dirty="0" sz="2600" spc="-20">
                <a:solidFill>
                  <a:srgbClr val="40458B"/>
                </a:solidFill>
                <a:latin typeface="黑体"/>
                <a:cs typeface="黑体"/>
              </a:rPr>
              <a:t>联系汇编中的函数调用，子程序调用、中断、循环等</a:t>
            </a:r>
            <a:endParaRPr sz="2600">
              <a:latin typeface="黑体"/>
              <a:cs typeface="黑体"/>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378966" y="157733"/>
            <a:ext cx="1438275" cy="513715"/>
          </a:xfrm>
          <a:prstGeom prst="rect"/>
        </p:spPr>
        <p:txBody>
          <a:bodyPr wrap="square" lIns="0" tIns="12700" rIns="0" bIns="0" rtlCol="0" vert="horz">
            <a:spAutoFit/>
          </a:bodyPr>
          <a:lstStyle/>
          <a:p>
            <a:pPr marL="12700">
              <a:lnSpc>
                <a:spcPct val="100000"/>
              </a:lnSpc>
              <a:spcBef>
                <a:spcPts val="100"/>
              </a:spcBef>
            </a:pPr>
            <a:r>
              <a:rPr dirty="0" u="none">
                <a:solidFill>
                  <a:srgbClr val="4F55AC"/>
                </a:solidFill>
                <a:latin typeface="微软雅黑"/>
                <a:cs typeface="微软雅黑"/>
              </a:rPr>
              <a:t>J</a:t>
            </a:r>
            <a:r>
              <a:rPr dirty="0" u="none" spc="-20">
                <a:solidFill>
                  <a:srgbClr val="4F55AC"/>
                </a:solidFill>
                <a:latin typeface="微软雅黑"/>
                <a:cs typeface="微软雅黑"/>
              </a:rPr>
              <a:t>类指令</a:t>
            </a:r>
          </a:p>
        </p:txBody>
      </p:sp>
      <p:sp>
        <p:nvSpPr>
          <p:cNvPr id="9" name="object 9" descr=""/>
          <p:cNvSpPr/>
          <p:nvPr/>
        </p:nvSpPr>
        <p:spPr>
          <a:xfrm>
            <a:off x="2986151" y="765175"/>
            <a:ext cx="7705725" cy="1370330"/>
          </a:xfrm>
          <a:custGeom>
            <a:avLst/>
            <a:gdLst/>
            <a:ahLst/>
            <a:cxnLst/>
            <a:rect l="l" t="t" r="r" b="b"/>
            <a:pathLst>
              <a:path w="7705725" h="1370330">
                <a:moveTo>
                  <a:pt x="7705725" y="0"/>
                </a:moveTo>
                <a:lnTo>
                  <a:pt x="0" y="0"/>
                </a:lnTo>
                <a:lnTo>
                  <a:pt x="0" y="1370076"/>
                </a:lnTo>
                <a:lnTo>
                  <a:pt x="7705725" y="1370076"/>
                </a:lnTo>
                <a:lnTo>
                  <a:pt x="7705725" y="0"/>
                </a:lnTo>
                <a:close/>
              </a:path>
            </a:pathLst>
          </a:custGeom>
          <a:solidFill>
            <a:srgbClr val="FFFFCC"/>
          </a:solidFill>
        </p:spPr>
        <p:txBody>
          <a:bodyPr wrap="square" lIns="0" tIns="0" rIns="0" bIns="0" rtlCol="0"/>
          <a:lstStyle/>
          <a:p/>
        </p:txBody>
      </p:sp>
      <p:pic>
        <p:nvPicPr>
          <p:cNvPr id="10" name="object 10" descr=""/>
          <p:cNvPicPr/>
          <p:nvPr/>
        </p:nvPicPr>
        <p:blipFill>
          <a:blip r:embed="rId2" cstate="print"/>
          <a:stretch>
            <a:fillRect/>
          </a:stretch>
        </p:blipFill>
        <p:spPr>
          <a:xfrm>
            <a:off x="2906924" y="5318759"/>
            <a:ext cx="257175" cy="273050"/>
          </a:xfrm>
          <a:prstGeom prst="rect">
            <a:avLst/>
          </a:prstGeom>
        </p:spPr>
      </p:pic>
      <p:sp>
        <p:nvSpPr>
          <p:cNvPr id="11" name="object 11" descr=""/>
          <p:cNvSpPr txBox="1"/>
          <p:nvPr/>
        </p:nvSpPr>
        <p:spPr>
          <a:xfrm>
            <a:off x="1205890" y="2848482"/>
            <a:ext cx="10472420" cy="2800350"/>
          </a:xfrm>
          <a:prstGeom prst="rect">
            <a:avLst/>
          </a:prstGeom>
        </p:spPr>
        <p:txBody>
          <a:bodyPr wrap="square" lIns="0" tIns="13335" rIns="0" bIns="0" rtlCol="0" vert="horz">
            <a:spAutoFit/>
          </a:bodyPr>
          <a:lstStyle/>
          <a:p>
            <a:pPr marL="12700">
              <a:lnSpc>
                <a:spcPct val="100000"/>
              </a:lnSpc>
              <a:spcBef>
                <a:spcPts val="105"/>
              </a:spcBef>
              <a:tabLst>
                <a:tab pos="683260" algn="l"/>
              </a:tabLst>
            </a:pPr>
            <a:r>
              <a:rPr dirty="0" sz="2600" spc="-25">
                <a:solidFill>
                  <a:srgbClr val="40458B"/>
                </a:solidFill>
                <a:latin typeface="Tahoma"/>
                <a:cs typeface="Tahoma"/>
              </a:rPr>
              <a:t>Jr</a:t>
            </a:r>
            <a:r>
              <a:rPr dirty="0" sz="2600">
                <a:solidFill>
                  <a:srgbClr val="40458B"/>
                </a:solidFill>
                <a:latin typeface="Tahoma"/>
                <a:cs typeface="Tahoma"/>
              </a:rPr>
              <a:t>	</a:t>
            </a:r>
            <a:r>
              <a:rPr dirty="0" sz="2600" spc="-25">
                <a:solidFill>
                  <a:srgbClr val="40458B"/>
                </a:solidFill>
                <a:latin typeface="Tahoma"/>
                <a:cs typeface="Tahoma"/>
              </a:rPr>
              <a:t>rs</a:t>
            </a:r>
            <a:endParaRPr sz="2600">
              <a:latin typeface="Tahoma"/>
              <a:cs typeface="Tahoma"/>
            </a:endParaRPr>
          </a:p>
          <a:p>
            <a:pPr>
              <a:lnSpc>
                <a:spcPct val="100000"/>
              </a:lnSpc>
              <a:spcBef>
                <a:spcPts val="3100"/>
              </a:spcBef>
            </a:pPr>
            <a:endParaRPr sz="2600">
              <a:latin typeface="Tahoma"/>
              <a:cs typeface="Tahoma"/>
            </a:endParaRPr>
          </a:p>
          <a:p>
            <a:pPr marL="12700">
              <a:lnSpc>
                <a:spcPct val="100000"/>
              </a:lnSpc>
            </a:pPr>
            <a:r>
              <a:rPr dirty="0" sz="2600">
                <a:solidFill>
                  <a:srgbClr val="40458B"/>
                </a:solidFill>
                <a:latin typeface="Tahoma"/>
                <a:cs typeface="Tahoma"/>
              </a:rPr>
              <a:t>#</a:t>
            </a:r>
            <a:r>
              <a:rPr dirty="0" sz="2600" spc="-15">
                <a:solidFill>
                  <a:srgbClr val="40458B"/>
                </a:solidFill>
                <a:latin typeface="黑体"/>
                <a:cs typeface="黑体"/>
              </a:rPr>
              <a:t>也是跳转指令，即将</a:t>
            </a:r>
            <a:r>
              <a:rPr dirty="0" sz="2600" spc="-10">
                <a:solidFill>
                  <a:srgbClr val="40458B"/>
                </a:solidFill>
                <a:latin typeface="Tahoma"/>
                <a:cs typeface="Tahoma"/>
              </a:rPr>
              <a:t>rs</a:t>
            </a:r>
            <a:r>
              <a:rPr dirty="0" sz="2600" spc="-10">
                <a:solidFill>
                  <a:srgbClr val="40458B"/>
                </a:solidFill>
                <a:latin typeface="黑体"/>
                <a:cs typeface="黑体"/>
              </a:rPr>
              <a:t>内容写入</a:t>
            </a:r>
            <a:r>
              <a:rPr dirty="0" sz="2600" spc="-25">
                <a:solidFill>
                  <a:srgbClr val="40458B"/>
                </a:solidFill>
                <a:latin typeface="Tahoma"/>
                <a:cs typeface="Tahoma"/>
              </a:rPr>
              <a:t>PC</a:t>
            </a:r>
            <a:endParaRPr sz="2600">
              <a:latin typeface="Tahoma"/>
              <a:cs typeface="Tahoma"/>
            </a:endParaRPr>
          </a:p>
          <a:p>
            <a:pPr marL="12700" marR="5080" indent="103505">
              <a:lnSpc>
                <a:spcPct val="150000"/>
              </a:lnSpc>
              <a:tabLst>
                <a:tab pos="1996439" algn="l"/>
                <a:tab pos="3467735" algn="l"/>
              </a:tabLst>
            </a:pPr>
            <a:r>
              <a:rPr dirty="0" sz="2600">
                <a:solidFill>
                  <a:srgbClr val="40458B"/>
                </a:solidFill>
                <a:latin typeface="黑体"/>
                <a:cs typeface="黑体"/>
              </a:rPr>
              <a:t>如果指令指</a:t>
            </a:r>
            <a:r>
              <a:rPr dirty="0" sz="2600" spc="-15">
                <a:solidFill>
                  <a:srgbClr val="40458B"/>
                </a:solidFill>
                <a:latin typeface="黑体"/>
                <a:cs typeface="黑体"/>
              </a:rPr>
              <a:t>定</a:t>
            </a:r>
            <a:r>
              <a:rPr dirty="0" sz="2600" spc="-10">
                <a:solidFill>
                  <a:srgbClr val="40458B"/>
                </a:solidFill>
                <a:latin typeface="Tahoma"/>
                <a:cs typeface="Tahoma"/>
              </a:rPr>
              <a:t>rs</a:t>
            </a:r>
            <a:r>
              <a:rPr dirty="0" sz="2600">
                <a:solidFill>
                  <a:srgbClr val="40458B"/>
                </a:solidFill>
                <a:latin typeface="黑体"/>
                <a:cs typeface="黑体"/>
              </a:rPr>
              <a:t>是</a:t>
            </a:r>
            <a:r>
              <a:rPr dirty="0" sz="2600" spc="-25">
                <a:solidFill>
                  <a:srgbClr val="40458B"/>
                </a:solidFill>
                <a:latin typeface="Tahoma"/>
                <a:cs typeface="Tahoma"/>
              </a:rPr>
              <a:t>R31</a:t>
            </a:r>
            <a:r>
              <a:rPr dirty="0" sz="2600">
                <a:solidFill>
                  <a:srgbClr val="40458B"/>
                </a:solidFill>
                <a:latin typeface="Tahoma"/>
                <a:cs typeface="Tahoma"/>
              </a:rPr>
              <a:t>	</a:t>
            </a:r>
            <a:r>
              <a:rPr dirty="0" sz="2600">
                <a:solidFill>
                  <a:srgbClr val="40458B"/>
                </a:solidFill>
                <a:latin typeface="黑体"/>
                <a:cs typeface="黑体"/>
              </a:rPr>
              <a:t>例如</a:t>
            </a:r>
            <a:r>
              <a:rPr dirty="0" sz="2600">
                <a:solidFill>
                  <a:srgbClr val="40458B"/>
                </a:solidFill>
                <a:latin typeface="Tahoma"/>
                <a:cs typeface="Tahoma"/>
              </a:rPr>
              <a:t>Jr</a:t>
            </a:r>
            <a:r>
              <a:rPr dirty="0" sz="2600" spc="-15">
                <a:solidFill>
                  <a:srgbClr val="40458B"/>
                </a:solidFill>
                <a:latin typeface="Tahoma"/>
                <a:cs typeface="Tahoma"/>
              </a:rPr>
              <a:t> </a:t>
            </a:r>
            <a:r>
              <a:rPr dirty="0" sz="2600" spc="-20">
                <a:solidFill>
                  <a:srgbClr val="40458B"/>
                </a:solidFill>
                <a:latin typeface="Tahoma"/>
                <a:cs typeface="Tahoma"/>
              </a:rPr>
              <a:t>R31</a:t>
            </a:r>
            <a:r>
              <a:rPr dirty="0" sz="2600" spc="-20">
                <a:solidFill>
                  <a:srgbClr val="40458B"/>
                </a:solidFill>
                <a:latin typeface="黑体"/>
                <a:cs typeface="黑体"/>
              </a:rPr>
              <a:t>，</a:t>
            </a:r>
            <a:r>
              <a:rPr dirty="0" sz="2600">
                <a:solidFill>
                  <a:srgbClr val="40458B"/>
                </a:solidFill>
                <a:latin typeface="黑体"/>
                <a:cs typeface="黑体"/>
              </a:rPr>
              <a:t>则</a:t>
            </a:r>
            <a:r>
              <a:rPr dirty="0" sz="2600" spc="-25">
                <a:solidFill>
                  <a:srgbClr val="40458B"/>
                </a:solidFill>
                <a:latin typeface="Tahoma"/>
                <a:cs typeface="Tahoma"/>
              </a:rPr>
              <a:t>Jr</a:t>
            </a:r>
            <a:r>
              <a:rPr dirty="0" sz="2600">
                <a:solidFill>
                  <a:srgbClr val="40458B"/>
                </a:solidFill>
                <a:latin typeface="黑体"/>
                <a:cs typeface="黑体"/>
              </a:rPr>
              <a:t>和</a:t>
            </a:r>
            <a:r>
              <a:rPr dirty="0" sz="2600">
                <a:solidFill>
                  <a:srgbClr val="40458B"/>
                </a:solidFill>
                <a:latin typeface="Tahoma"/>
                <a:cs typeface="Tahoma"/>
              </a:rPr>
              <a:t>Jal </a:t>
            </a:r>
            <a:r>
              <a:rPr dirty="0" sz="2600">
                <a:solidFill>
                  <a:srgbClr val="40458B"/>
                </a:solidFill>
                <a:latin typeface="黑体"/>
                <a:cs typeface="黑体"/>
              </a:rPr>
              <a:t>指令组合</a:t>
            </a:r>
            <a:r>
              <a:rPr dirty="0" sz="2600" spc="-15">
                <a:solidFill>
                  <a:srgbClr val="40458B"/>
                </a:solidFill>
                <a:latin typeface="黑体"/>
                <a:cs typeface="黑体"/>
              </a:rPr>
              <a:t>使</a:t>
            </a:r>
            <a:r>
              <a:rPr dirty="0" sz="2600">
                <a:solidFill>
                  <a:srgbClr val="40458B"/>
                </a:solidFill>
                <a:latin typeface="黑体"/>
                <a:cs typeface="黑体"/>
              </a:rPr>
              <a:t>用，</a:t>
            </a:r>
            <a:r>
              <a:rPr dirty="0" sz="2600" spc="-500">
                <a:solidFill>
                  <a:srgbClr val="40458B"/>
                </a:solidFill>
                <a:latin typeface="黑体"/>
                <a:cs typeface="黑体"/>
              </a:rPr>
              <a:t> </a:t>
            </a:r>
            <a:r>
              <a:rPr dirty="0" sz="2600">
                <a:solidFill>
                  <a:srgbClr val="40458B"/>
                </a:solidFill>
                <a:latin typeface="黑体"/>
                <a:cs typeface="黑体"/>
              </a:rPr>
              <a:t>此时</a:t>
            </a:r>
            <a:r>
              <a:rPr dirty="0" sz="2600" spc="-25">
                <a:solidFill>
                  <a:srgbClr val="40458B"/>
                </a:solidFill>
                <a:latin typeface="Tahoma"/>
                <a:cs typeface="Tahoma"/>
              </a:rPr>
              <a:t>Jr</a:t>
            </a:r>
            <a:r>
              <a:rPr dirty="0" sz="2600" spc="-50">
                <a:solidFill>
                  <a:srgbClr val="40458B"/>
                </a:solidFill>
                <a:latin typeface="黑体"/>
                <a:cs typeface="黑体"/>
              </a:rPr>
              <a:t>是</a:t>
            </a:r>
            <a:r>
              <a:rPr dirty="0" sz="2600">
                <a:solidFill>
                  <a:srgbClr val="40458B"/>
                </a:solidFill>
                <a:latin typeface="黑体"/>
                <a:cs typeface="黑体"/>
              </a:rPr>
              <a:t>从子程</a:t>
            </a:r>
            <a:r>
              <a:rPr dirty="0" sz="2600" spc="-15">
                <a:solidFill>
                  <a:srgbClr val="40458B"/>
                </a:solidFill>
                <a:latin typeface="黑体"/>
                <a:cs typeface="黑体"/>
              </a:rPr>
              <a:t>序</a:t>
            </a:r>
            <a:r>
              <a:rPr dirty="0" sz="2600" spc="-50">
                <a:solidFill>
                  <a:srgbClr val="40458B"/>
                </a:solidFill>
                <a:latin typeface="黑体"/>
                <a:cs typeface="黑体"/>
              </a:rPr>
              <a:t>返</a:t>
            </a:r>
            <a:r>
              <a:rPr dirty="0" sz="2600">
                <a:solidFill>
                  <a:srgbClr val="40458B"/>
                </a:solidFill>
                <a:latin typeface="黑体"/>
                <a:cs typeface="黑体"/>
              </a:rPr>
              <a:t>	的</a:t>
            </a:r>
            <a:r>
              <a:rPr dirty="0" sz="2600" spc="-15">
                <a:solidFill>
                  <a:srgbClr val="40458B"/>
                </a:solidFill>
                <a:latin typeface="黑体"/>
                <a:cs typeface="黑体"/>
              </a:rPr>
              <a:t>指</a:t>
            </a:r>
            <a:r>
              <a:rPr dirty="0" sz="2600" spc="-50">
                <a:solidFill>
                  <a:srgbClr val="40458B"/>
                </a:solidFill>
                <a:latin typeface="黑体"/>
                <a:cs typeface="黑体"/>
              </a:rPr>
              <a:t>令</a:t>
            </a:r>
            <a:endParaRPr sz="2600">
              <a:latin typeface="黑体"/>
              <a:cs typeface="黑体"/>
            </a:endParaRPr>
          </a:p>
        </p:txBody>
      </p:sp>
      <p:sp>
        <p:nvSpPr>
          <p:cNvPr id="12" name="object 12" descr=""/>
          <p:cNvSpPr txBox="1"/>
          <p:nvPr/>
        </p:nvSpPr>
        <p:spPr>
          <a:xfrm>
            <a:off x="3825146" y="718386"/>
            <a:ext cx="137795" cy="345440"/>
          </a:xfrm>
          <a:prstGeom prst="rect">
            <a:avLst/>
          </a:prstGeom>
        </p:spPr>
        <p:txBody>
          <a:bodyPr wrap="square" lIns="0" tIns="12065" rIns="0" bIns="0" rtlCol="0" vert="horz">
            <a:spAutoFit/>
          </a:bodyPr>
          <a:lstStyle/>
          <a:p>
            <a:pPr marL="12700">
              <a:lnSpc>
                <a:spcPct val="100000"/>
              </a:lnSpc>
              <a:spcBef>
                <a:spcPts val="95"/>
              </a:spcBef>
            </a:pPr>
            <a:r>
              <a:rPr dirty="0" sz="2100" spc="-114" b="1">
                <a:latin typeface="Times New Roman"/>
                <a:cs typeface="Times New Roman"/>
              </a:rPr>
              <a:t>6</a:t>
            </a:r>
            <a:endParaRPr sz="2100">
              <a:latin typeface="Times New Roman"/>
              <a:cs typeface="Times New Roman"/>
            </a:endParaRPr>
          </a:p>
        </p:txBody>
      </p:sp>
      <p:sp>
        <p:nvSpPr>
          <p:cNvPr id="13" name="object 13" descr=""/>
          <p:cNvSpPr txBox="1"/>
          <p:nvPr/>
        </p:nvSpPr>
        <p:spPr>
          <a:xfrm>
            <a:off x="5044732" y="711965"/>
            <a:ext cx="137795" cy="345440"/>
          </a:xfrm>
          <a:prstGeom prst="rect">
            <a:avLst/>
          </a:prstGeom>
        </p:spPr>
        <p:txBody>
          <a:bodyPr wrap="square" lIns="0" tIns="12065" rIns="0" bIns="0" rtlCol="0" vert="horz">
            <a:spAutoFit/>
          </a:bodyPr>
          <a:lstStyle/>
          <a:p>
            <a:pPr marL="12700">
              <a:lnSpc>
                <a:spcPct val="100000"/>
              </a:lnSpc>
              <a:spcBef>
                <a:spcPts val="95"/>
              </a:spcBef>
            </a:pPr>
            <a:r>
              <a:rPr dirty="0" sz="2100" spc="-114" b="1">
                <a:latin typeface="Times New Roman"/>
                <a:cs typeface="Times New Roman"/>
              </a:rPr>
              <a:t>5</a:t>
            </a:r>
            <a:endParaRPr sz="2100">
              <a:latin typeface="Times New Roman"/>
              <a:cs typeface="Times New Roman"/>
            </a:endParaRPr>
          </a:p>
        </p:txBody>
      </p:sp>
      <p:sp>
        <p:nvSpPr>
          <p:cNvPr id="14" name="object 14" descr=""/>
          <p:cNvSpPr txBox="1"/>
          <p:nvPr/>
        </p:nvSpPr>
        <p:spPr>
          <a:xfrm>
            <a:off x="6013574" y="711965"/>
            <a:ext cx="137795" cy="345440"/>
          </a:xfrm>
          <a:prstGeom prst="rect">
            <a:avLst/>
          </a:prstGeom>
        </p:spPr>
        <p:txBody>
          <a:bodyPr wrap="square" lIns="0" tIns="12065" rIns="0" bIns="0" rtlCol="0" vert="horz">
            <a:spAutoFit/>
          </a:bodyPr>
          <a:lstStyle/>
          <a:p>
            <a:pPr marL="12700">
              <a:lnSpc>
                <a:spcPct val="100000"/>
              </a:lnSpc>
              <a:spcBef>
                <a:spcPts val="95"/>
              </a:spcBef>
            </a:pPr>
            <a:r>
              <a:rPr dirty="0" sz="2100" spc="-114" b="1">
                <a:latin typeface="Times New Roman"/>
                <a:cs typeface="Times New Roman"/>
              </a:rPr>
              <a:t>5</a:t>
            </a:r>
            <a:endParaRPr sz="2100">
              <a:latin typeface="Times New Roman"/>
              <a:cs typeface="Times New Roman"/>
            </a:endParaRPr>
          </a:p>
        </p:txBody>
      </p:sp>
      <p:sp>
        <p:nvSpPr>
          <p:cNvPr id="15" name="object 15" descr=""/>
          <p:cNvSpPr txBox="1"/>
          <p:nvPr/>
        </p:nvSpPr>
        <p:spPr>
          <a:xfrm>
            <a:off x="9282135" y="711965"/>
            <a:ext cx="137795" cy="345440"/>
          </a:xfrm>
          <a:prstGeom prst="rect">
            <a:avLst/>
          </a:prstGeom>
        </p:spPr>
        <p:txBody>
          <a:bodyPr wrap="square" lIns="0" tIns="12065" rIns="0" bIns="0" rtlCol="0" vert="horz">
            <a:spAutoFit/>
          </a:bodyPr>
          <a:lstStyle/>
          <a:p>
            <a:pPr marL="12700">
              <a:lnSpc>
                <a:spcPct val="100000"/>
              </a:lnSpc>
              <a:spcBef>
                <a:spcPts val="95"/>
              </a:spcBef>
            </a:pPr>
            <a:r>
              <a:rPr dirty="0" sz="2100" spc="-114" b="1">
                <a:latin typeface="Times New Roman"/>
                <a:cs typeface="Times New Roman"/>
              </a:rPr>
              <a:t>6</a:t>
            </a:r>
            <a:endParaRPr sz="2100">
              <a:latin typeface="Times New Roman"/>
              <a:cs typeface="Times New Roman"/>
            </a:endParaRPr>
          </a:p>
        </p:txBody>
      </p:sp>
      <p:sp>
        <p:nvSpPr>
          <p:cNvPr id="16" name="object 16" descr=""/>
          <p:cNvSpPr txBox="1"/>
          <p:nvPr/>
        </p:nvSpPr>
        <p:spPr>
          <a:xfrm>
            <a:off x="6982999" y="718386"/>
            <a:ext cx="137795" cy="345440"/>
          </a:xfrm>
          <a:prstGeom prst="rect">
            <a:avLst/>
          </a:prstGeom>
        </p:spPr>
        <p:txBody>
          <a:bodyPr wrap="square" lIns="0" tIns="12065" rIns="0" bIns="0" rtlCol="0" vert="horz">
            <a:spAutoFit/>
          </a:bodyPr>
          <a:lstStyle/>
          <a:p>
            <a:pPr marL="12700">
              <a:lnSpc>
                <a:spcPct val="100000"/>
              </a:lnSpc>
              <a:spcBef>
                <a:spcPts val="95"/>
              </a:spcBef>
            </a:pPr>
            <a:r>
              <a:rPr dirty="0" sz="2100" spc="-114" b="1">
                <a:latin typeface="Times New Roman"/>
                <a:cs typeface="Times New Roman"/>
              </a:rPr>
              <a:t>5</a:t>
            </a:r>
            <a:endParaRPr sz="2100">
              <a:latin typeface="Times New Roman"/>
              <a:cs typeface="Times New Roman"/>
            </a:endParaRPr>
          </a:p>
        </p:txBody>
      </p:sp>
      <p:sp>
        <p:nvSpPr>
          <p:cNvPr id="17" name="object 17" descr=""/>
          <p:cNvSpPr txBox="1"/>
          <p:nvPr/>
        </p:nvSpPr>
        <p:spPr>
          <a:xfrm>
            <a:off x="3206324" y="1717457"/>
            <a:ext cx="137795" cy="345440"/>
          </a:xfrm>
          <a:prstGeom prst="rect">
            <a:avLst/>
          </a:prstGeom>
        </p:spPr>
        <p:txBody>
          <a:bodyPr wrap="square" lIns="0" tIns="12065" rIns="0" bIns="0" rtlCol="0" vert="horz">
            <a:spAutoFit/>
          </a:bodyPr>
          <a:lstStyle/>
          <a:p>
            <a:pPr marL="12700">
              <a:lnSpc>
                <a:spcPct val="100000"/>
              </a:lnSpc>
              <a:spcBef>
                <a:spcPts val="95"/>
              </a:spcBef>
            </a:pPr>
            <a:r>
              <a:rPr dirty="0" sz="2100" spc="-114" b="1">
                <a:latin typeface="Times New Roman"/>
                <a:cs typeface="Times New Roman"/>
              </a:rPr>
              <a:t>0</a:t>
            </a:r>
            <a:endParaRPr sz="2100">
              <a:latin typeface="Times New Roman"/>
              <a:cs typeface="Times New Roman"/>
            </a:endParaRPr>
          </a:p>
        </p:txBody>
      </p:sp>
      <p:sp>
        <p:nvSpPr>
          <p:cNvPr id="18" name="object 18" descr=""/>
          <p:cNvSpPr txBox="1"/>
          <p:nvPr/>
        </p:nvSpPr>
        <p:spPr>
          <a:xfrm>
            <a:off x="4327290" y="1723878"/>
            <a:ext cx="446405" cy="345440"/>
          </a:xfrm>
          <a:prstGeom prst="rect">
            <a:avLst/>
          </a:prstGeom>
        </p:spPr>
        <p:txBody>
          <a:bodyPr wrap="square" lIns="0" tIns="12065" rIns="0" bIns="0" rtlCol="0" vert="horz">
            <a:spAutoFit/>
          </a:bodyPr>
          <a:lstStyle/>
          <a:p>
            <a:pPr marL="12700">
              <a:lnSpc>
                <a:spcPct val="100000"/>
              </a:lnSpc>
              <a:spcBef>
                <a:spcPts val="95"/>
              </a:spcBef>
              <a:tabLst>
                <a:tab pos="321310" algn="l"/>
              </a:tabLst>
            </a:pPr>
            <a:r>
              <a:rPr dirty="0" sz="2100" spc="-50" b="1">
                <a:latin typeface="Times New Roman"/>
                <a:cs typeface="Times New Roman"/>
              </a:rPr>
              <a:t>5</a:t>
            </a:r>
            <a:r>
              <a:rPr dirty="0" sz="2100" b="1">
                <a:latin typeface="Times New Roman"/>
                <a:cs typeface="Times New Roman"/>
              </a:rPr>
              <a:t>	</a:t>
            </a:r>
            <a:r>
              <a:rPr dirty="0" sz="2100" spc="-114" b="1">
                <a:latin typeface="Times New Roman"/>
                <a:cs typeface="Times New Roman"/>
              </a:rPr>
              <a:t>6</a:t>
            </a:r>
            <a:endParaRPr sz="2100">
              <a:latin typeface="Times New Roman"/>
              <a:cs typeface="Times New Roman"/>
            </a:endParaRPr>
          </a:p>
        </p:txBody>
      </p:sp>
      <p:sp>
        <p:nvSpPr>
          <p:cNvPr id="19" name="object 19" descr=""/>
          <p:cNvSpPr txBox="1"/>
          <p:nvPr/>
        </p:nvSpPr>
        <p:spPr>
          <a:xfrm>
            <a:off x="9743177" y="1723878"/>
            <a:ext cx="247015" cy="345440"/>
          </a:xfrm>
          <a:prstGeom prst="rect">
            <a:avLst/>
          </a:prstGeom>
        </p:spPr>
        <p:txBody>
          <a:bodyPr wrap="square" lIns="0" tIns="12065" rIns="0" bIns="0" rtlCol="0" vert="horz">
            <a:spAutoFit/>
          </a:bodyPr>
          <a:lstStyle/>
          <a:p>
            <a:pPr marL="12700">
              <a:lnSpc>
                <a:spcPct val="100000"/>
              </a:lnSpc>
              <a:spcBef>
                <a:spcPts val="95"/>
              </a:spcBef>
            </a:pPr>
            <a:r>
              <a:rPr dirty="0" sz="2100" spc="-160" b="1">
                <a:latin typeface="Times New Roman"/>
                <a:cs typeface="Times New Roman"/>
              </a:rPr>
              <a:t>31</a:t>
            </a:r>
            <a:endParaRPr sz="2100">
              <a:latin typeface="Times New Roman"/>
              <a:cs typeface="Times New Roman"/>
            </a:endParaRPr>
          </a:p>
        </p:txBody>
      </p:sp>
      <p:sp>
        <p:nvSpPr>
          <p:cNvPr id="20" name="object 20" descr=""/>
          <p:cNvSpPr txBox="1"/>
          <p:nvPr/>
        </p:nvSpPr>
        <p:spPr>
          <a:xfrm>
            <a:off x="5296108" y="1723878"/>
            <a:ext cx="3672840" cy="345440"/>
          </a:xfrm>
          <a:prstGeom prst="rect">
            <a:avLst/>
          </a:prstGeom>
        </p:spPr>
        <p:txBody>
          <a:bodyPr wrap="square" lIns="0" tIns="12065" rIns="0" bIns="0" rtlCol="0" vert="horz">
            <a:spAutoFit/>
          </a:bodyPr>
          <a:lstStyle/>
          <a:p>
            <a:pPr marL="12700">
              <a:lnSpc>
                <a:spcPct val="100000"/>
              </a:lnSpc>
              <a:spcBef>
                <a:spcPts val="95"/>
              </a:spcBef>
              <a:tabLst>
                <a:tab pos="409575" algn="l"/>
                <a:tab pos="1033780" algn="l"/>
                <a:tab pos="1395730" algn="l"/>
                <a:tab pos="2054860" algn="l"/>
                <a:tab pos="2416810" algn="l"/>
                <a:tab pos="3053080" algn="l"/>
                <a:tab pos="3438525" algn="l"/>
              </a:tabLst>
            </a:pPr>
            <a:r>
              <a:rPr dirty="0" sz="2100" spc="-25" b="1">
                <a:latin typeface="Times New Roman"/>
                <a:cs typeface="Times New Roman"/>
              </a:rPr>
              <a:t>10</a:t>
            </a:r>
            <a:r>
              <a:rPr dirty="0" sz="2100" b="1">
                <a:latin typeface="Times New Roman"/>
                <a:cs typeface="Times New Roman"/>
              </a:rPr>
              <a:t>	</a:t>
            </a:r>
            <a:r>
              <a:rPr dirty="0" sz="2100" spc="-25" b="1">
                <a:latin typeface="Times New Roman"/>
                <a:cs typeface="Times New Roman"/>
              </a:rPr>
              <a:t>11</a:t>
            </a:r>
            <a:r>
              <a:rPr dirty="0" sz="2100" b="1">
                <a:latin typeface="Times New Roman"/>
                <a:cs typeface="Times New Roman"/>
              </a:rPr>
              <a:t>	</a:t>
            </a:r>
            <a:r>
              <a:rPr dirty="0" sz="2100" spc="-25" b="1">
                <a:latin typeface="Times New Roman"/>
                <a:cs typeface="Times New Roman"/>
              </a:rPr>
              <a:t>15</a:t>
            </a:r>
            <a:r>
              <a:rPr dirty="0" sz="2100" b="1">
                <a:latin typeface="Times New Roman"/>
                <a:cs typeface="Times New Roman"/>
              </a:rPr>
              <a:t>	</a:t>
            </a:r>
            <a:r>
              <a:rPr dirty="0" sz="2100" spc="-25" b="1">
                <a:latin typeface="Times New Roman"/>
                <a:cs typeface="Times New Roman"/>
              </a:rPr>
              <a:t>16</a:t>
            </a:r>
            <a:r>
              <a:rPr dirty="0" sz="2100" b="1">
                <a:latin typeface="Times New Roman"/>
                <a:cs typeface="Times New Roman"/>
              </a:rPr>
              <a:t>	</a:t>
            </a:r>
            <a:r>
              <a:rPr dirty="0" sz="2100" spc="-25" b="1">
                <a:latin typeface="Times New Roman"/>
                <a:cs typeface="Times New Roman"/>
              </a:rPr>
              <a:t>20</a:t>
            </a:r>
            <a:r>
              <a:rPr dirty="0" sz="2100" b="1">
                <a:latin typeface="Times New Roman"/>
                <a:cs typeface="Times New Roman"/>
              </a:rPr>
              <a:t>	</a:t>
            </a:r>
            <a:r>
              <a:rPr dirty="0" sz="2100" spc="-25" b="1">
                <a:latin typeface="Times New Roman"/>
                <a:cs typeface="Times New Roman"/>
              </a:rPr>
              <a:t>21</a:t>
            </a:r>
            <a:r>
              <a:rPr dirty="0" sz="2100" b="1">
                <a:latin typeface="Times New Roman"/>
                <a:cs typeface="Times New Roman"/>
              </a:rPr>
              <a:t>	</a:t>
            </a:r>
            <a:r>
              <a:rPr dirty="0" sz="2100" spc="-25" b="1">
                <a:latin typeface="Times New Roman"/>
                <a:cs typeface="Times New Roman"/>
              </a:rPr>
              <a:t>25</a:t>
            </a:r>
            <a:r>
              <a:rPr dirty="0" sz="2100" b="1">
                <a:latin typeface="Times New Roman"/>
                <a:cs typeface="Times New Roman"/>
              </a:rPr>
              <a:t>	</a:t>
            </a:r>
            <a:r>
              <a:rPr dirty="0" sz="2100" spc="-160" b="1">
                <a:latin typeface="Times New Roman"/>
                <a:cs typeface="Times New Roman"/>
              </a:rPr>
              <a:t>26</a:t>
            </a:r>
            <a:endParaRPr sz="2100">
              <a:latin typeface="Times New Roman"/>
              <a:cs typeface="Times New Roman"/>
            </a:endParaRPr>
          </a:p>
        </p:txBody>
      </p:sp>
      <p:sp>
        <p:nvSpPr>
          <p:cNvPr id="21" name="object 21" descr=""/>
          <p:cNvSpPr txBox="1"/>
          <p:nvPr/>
        </p:nvSpPr>
        <p:spPr>
          <a:xfrm>
            <a:off x="8109260" y="711965"/>
            <a:ext cx="137795" cy="345440"/>
          </a:xfrm>
          <a:prstGeom prst="rect">
            <a:avLst/>
          </a:prstGeom>
        </p:spPr>
        <p:txBody>
          <a:bodyPr wrap="square" lIns="0" tIns="12065" rIns="0" bIns="0" rtlCol="0" vert="horz">
            <a:spAutoFit/>
          </a:bodyPr>
          <a:lstStyle/>
          <a:p>
            <a:pPr marL="12700">
              <a:lnSpc>
                <a:spcPct val="100000"/>
              </a:lnSpc>
              <a:spcBef>
                <a:spcPts val="95"/>
              </a:spcBef>
            </a:pPr>
            <a:r>
              <a:rPr dirty="0" sz="2100" spc="-114" b="1">
                <a:latin typeface="Times New Roman"/>
                <a:cs typeface="Times New Roman"/>
              </a:rPr>
              <a:t>5</a:t>
            </a:r>
            <a:endParaRPr sz="2100">
              <a:latin typeface="Times New Roman"/>
              <a:cs typeface="Times New Roman"/>
            </a:endParaRPr>
          </a:p>
        </p:txBody>
      </p:sp>
      <p:graphicFrame>
        <p:nvGraphicFramePr>
          <p:cNvPr id="22" name="object 22" descr=""/>
          <p:cNvGraphicFramePr>
            <a:graphicFrameLocks noGrp="1"/>
          </p:cNvGraphicFramePr>
          <p:nvPr/>
        </p:nvGraphicFramePr>
        <p:xfrm>
          <a:off x="3191204" y="1092142"/>
          <a:ext cx="7252334" cy="635635"/>
        </p:xfrm>
        <a:graphic>
          <a:graphicData uri="http://schemas.openxmlformats.org/drawingml/2006/table">
            <a:tbl>
              <a:tblPr firstRow="1" bandRow="1">
                <a:tableStyleId>{2D5ABB26-0587-4C30-8999-92F81FD0307C}</a:tableStyleId>
              </a:tblPr>
              <a:tblGrid>
                <a:gridCol w="1396365"/>
                <a:gridCol w="1317624"/>
                <a:gridCol w="1022350"/>
                <a:gridCol w="1021714"/>
                <a:gridCol w="1022350"/>
                <a:gridCol w="1377950"/>
              </a:tblGrid>
              <a:tr h="635635">
                <a:tc>
                  <a:txBody>
                    <a:bodyPr/>
                    <a:lstStyle/>
                    <a:p>
                      <a:pPr marL="33020">
                        <a:lnSpc>
                          <a:spcPts val="2780"/>
                        </a:lnSpc>
                      </a:pPr>
                      <a:r>
                        <a:rPr dirty="0" sz="2600" b="1">
                          <a:solidFill>
                            <a:srgbClr val="C00000"/>
                          </a:solidFill>
                          <a:latin typeface="Tahoma"/>
                          <a:cs typeface="Tahoma"/>
                        </a:rPr>
                        <a:t>0</a:t>
                      </a:r>
                      <a:r>
                        <a:rPr dirty="0" sz="2600" spc="-595" b="1">
                          <a:solidFill>
                            <a:srgbClr val="C00000"/>
                          </a:solidFill>
                          <a:latin typeface="Tahoma"/>
                          <a:cs typeface="Tahoma"/>
                        </a:rPr>
                        <a:t>0</a:t>
                      </a:r>
                      <a:r>
                        <a:rPr dirty="0" baseline="-30423" sz="3150" spc="-2295">
                          <a:latin typeface="宋体"/>
                          <a:cs typeface="宋体"/>
                        </a:rPr>
                        <a:t>操</a:t>
                      </a:r>
                      <a:r>
                        <a:rPr dirty="0" sz="2600" spc="-505" b="1">
                          <a:solidFill>
                            <a:srgbClr val="C00000"/>
                          </a:solidFill>
                          <a:latin typeface="Tahoma"/>
                          <a:cs typeface="Tahoma"/>
                        </a:rPr>
                        <a:t>0</a:t>
                      </a:r>
                      <a:r>
                        <a:rPr dirty="0" baseline="-30423" sz="3150" spc="-1320">
                          <a:latin typeface="宋体"/>
                          <a:cs typeface="宋体"/>
                        </a:rPr>
                        <a:t>作</a:t>
                      </a:r>
                      <a:r>
                        <a:rPr dirty="0" sz="2600" spc="-1155" b="1">
                          <a:solidFill>
                            <a:srgbClr val="C00000"/>
                          </a:solidFill>
                          <a:latin typeface="Tahoma"/>
                          <a:cs typeface="Tahoma"/>
                        </a:rPr>
                        <a:t>0</a:t>
                      </a:r>
                      <a:r>
                        <a:rPr dirty="0" baseline="-30423" sz="3150" spc="-1455">
                          <a:latin typeface="宋体"/>
                          <a:cs typeface="宋体"/>
                        </a:rPr>
                        <a:t>码</a:t>
                      </a:r>
                      <a:r>
                        <a:rPr dirty="0" sz="2600" spc="-25" b="1">
                          <a:solidFill>
                            <a:srgbClr val="C00000"/>
                          </a:solidFill>
                          <a:latin typeface="Tahoma"/>
                          <a:cs typeface="Tahoma"/>
                        </a:rPr>
                        <a:t>00</a:t>
                      </a:r>
                      <a:endParaRPr sz="2600">
                        <a:latin typeface="Tahoma"/>
                        <a:cs typeface="Tahoma"/>
                      </a:endParaRPr>
                    </a:p>
                  </a:txBody>
                  <a:tcPr marL="0" marR="0" marB="0" marT="0">
                    <a:lnL w="28575">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FFFFCC"/>
                    </a:solidFill>
                  </a:tcPr>
                </a:tc>
                <a:tc>
                  <a:txBody>
                    <a:bodyPr/>
                    <a:lstStyle/>
                    <a:p>
                      <a:pPr marL="425450">
                        <a:lnSpc>
                          <a:spcPts val="2830"/>
                        </a:lnSpc>
                        <a:tabLst>
                          <a:tab pos="989330" algn="l"/>
                        </a:tabLst>
                      </a:pPr>
                      <a:r>
                        <a:rPr dirty="0" baseline="-27777" sz="3600" spc="-37" b="1">
                          <a:latin typeface="Times New Roman"/>
                          <a:cs typeface="Times New Roman"/>
                        </a:rPr>
                        <a:t>rs</a:t>
                      </a:r>
                      <a:r>
                        <a:rPr dirty="0" baseline="-27777" sz="3600" b="1">
                          <a:latin typeface="Times New Roman"/>
                          <a:cs typeface="Times New Roman"/>
                        </a:rPr>
                        <a:t>	</a:t>
                      </a:r>
                      <a:r>
                        <a:rPr dirty="0" sz="2000" spc="-25" b="1">
                          <a:solidFill>
                            <a:srgbClr val="C00000"/>
                          </a:solidFill>
                          <a:latin typeface="Tahoma"/>
                          <a:cs typeface="Tahoma"/>
                        </a:rPr>
                        <a:t>00</a:t>
                      </a:r>
                      <a:endParaRPr sz="2000">
                        <a:latin typeface="Tahoma"/>
                        <a:cs typeface="Tahoma"/>
                      </a:endParaRPr>
                    </a:p>
                  </a:txBody>
                  <a:tcPr marL="0" marR="0" marB="0" marT="0">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FFFFCC"/>
                    </a:solidFill>
                  </a:tcPr>
                </a:tc>
                <a:tc>
                  <a:txBody>
                    <a:bodyPr/>
                    <a:lstStyle/>
                    <a:p>
                      <a:pPr marL="372110">
                        <a:lnSpc>
                          <a:spcPts val="2830"/>
                        </a:lnSpc>
                      </a:pPr>
                      <a:r>
                        <a:rPr dirty="0" sz="2000" spc="-1170" b="1">
                          <a:solidFill>
                            <a:srgbClr val="C00000"/>
                          </a:solidFill>
                          <a:latin typeface="Tahoma"/>
                          <a:cs typeface="Tahoma"/>
                        </a:rPr>
                        <a:t>0</a:t>
                      </a:r>
                      <a:r>
                        <a:rPr dirty="0" baseline="-27777" sz="3600" spc="-52" b="1">
                          <a:latin typeface="Times New Roman"/>
                          <a:cs typeface="Times New Roman"/>
                        </a:rPr>
                        <a:t>r</a:t>
                      </a:r>
                      <a:r>
                        <a:rPr dirty="0" baseline="-27777" sz="3600" spc="-922" b="1">
                          <a:latin typeface="Times New Roman"/>
                          <a:cs typeface="Times New Roman"/>
                        </a:rPr>
                        <a:t>t</a:t>
                      </a:r>
                      <a:r>
                        <a:rPr dirty="0" sz="2000" spc="-55" b="1">
                          <a:solidFill>
                            <a:srgbClr val="C00000"/>
                          </a:solidFill>
                          <a:latin typeface="Tahoma"/>
                          <a:cs typeface="Tahoma"/>
                        </a:rPr>
                        <a:t>0</a:t>
                      </a:r>
                      <a:r>
                        <a:rPr dirty="0" sz="2000" spc="-45" b="1">
                          <a:solidFill>
                            <a:srgbClr val="C00000"/>
                          </a:solidFill>
                          <a:latin typeface="Tahoma"/>
                          <a:cs typeface="Tahoma"/>
                        </a:rPr>
                        <a:t>0</a:t>
                      </a:r>
                      <a:endParaRPr sz="2000">
                        <a:latin typeface="Tahoma"/>
                        <a:cs typeface="Tahoma"/>
                      </a:endParaRPr>
                    </a:p>
                  </a:txBody>
                  <a:tcPr marL="0" marR="0" marB="0" marT="0">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FFFFCC"/>
                    </a:solidFill>
                  </a:tcPr>
                </a:tc>
                <a:tc>
                  <a:txBody>
                    <a:bodyPr/>
                    <a:lstStyle/>
                    <a:p>
                      <a:pPr algn="ctr">
                        <a:lnSpc>
                          <a:spcPct val="100000"/>
                        </a:lnSpc>
                        <a:spcBef>
                          <a:spcPts val="1170"/>
                        </a:spcBef>
                      </a:pPr>
                      <a:r>
                        <a:rPr dirty="0" sz="2400" spc="-25" b="1">
                          <a:latin typeface="Times New Roman"/>
                          <a:cs typeface="Times New Roman"/>
                        </a:rPr>
                        <a:t>rd</a:t>
                      </a:r>
                      <a:endParaRPr sz="2400">
                        <a:latin typeface="Times New Roman"/>
                        <a:cs typeface="Times New Roman"/>
                      </a:endParaRPr>
                    </a:p>
                  </a:txBody>
                  <a:tcPr marL="0" marR="0" marB="0" marT="148590">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FFFFCC"/>
                    </a:solidFill>
                  </a:tcPr>
                </a:tc>
                <a:tc>
                  <a:txBody>
                    <a:bodyPr/>
                    <a:lstStyle/>
                    <a:p>
                      <a:pPr algn="ctr" marR="2540">
                        <a:lnSpc>
                          <a:spcPts val="1775"/>
                        </a:lnSpc>
                        <a:spcBef>
                          <a:spcPts val="20"/>
                        </a:spcBef>
                      </a:pPr>
                      <a:r>
                        <a:rPr dirty="0" sz="2000" b="1">
                          <a:solidFill>
                            <a:srgbClr val="C00000"/>
                          </a:solidFill>
                          <a:latin typeface="Tahoma"/>
                          <a:cs typeface="Tahoma"/>
                        </a:rPr>
                        <a:t>00</a:t>
                      </a:r>
                      <a:r>
                        <a:rPr dirty="0" sz="2000" spc="-10" b="1">
                          <a:solidFill>
                            <a:srgbClr val="C00000"/>
                          </a:solidFill>
                          <a:latin typeface="Tahoma"/>
                          <a:cs typeface="Tahoma"/>
                        </a:rPr>
                        <a:t> </a:t>
                      </a:r>
                      <a:r>
                        <a:rPr dirty="0" sz="2000" spc="-25" b="1">
                          <a:solidFill>
                            <a:srgbClr val="C00000"/>
                          </a:solidFill>
                          <a:latin typeface="Tahoma"/>
                          <a:cs typeface="Tahoma"/>
                        </a:rPr>
                        <a:t>000</a:t>
                      </a:r>
                      <a:endParaRPr sz="2000">
                        <a:latin typeface="Tahoma"/>
                        <a:cs typeface="Tahoma"/>
                      </a:endParaRPr>
                    </a:p>
                    <a:p>
                      <a:pPr algn="ctr" marL="17145">
                        <a:lnSpc>
                          <a:spcPts val="2255"/>
                        </a:lnSpc>
                      </a:pPr>
                      <a:r>
                        <a:rPr dirty="0" sz="2400" spc="-20" b="1">
                          <a:latin typeface="Times New Roman"/>
                          <a:cs typeface="Times New Roman"/>
                        </a:rPr>
                        <a:t>sham</a:t>
                      </a:r>
                      <a:endParaRPr sz="2400">
                        <a:latin typeface="Times New Roman"/>
                        <a:cs typeface="Times New Roman"/>
                      </a:endParaRPr>
                    </a:p>
                  </a:txBody>
                  <a:tcPr marL="0" marR="0" marB="0" marT="2540">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solidFill>
                      <a:srgbClr val="FFFFCC"/>
                    </a:solidFill>
                  </a:tcPr>
                </a:tc>
                <a:tc>
                  <a:txBody>
                    <a:bodyPr/>
                    <a:lstStyle/>
                    <a:p>
                      <a:pPr marL="431800">
                        <a:lnSpc>
                          <a:spcPct val="100000"/>
                        </a:lnSpc>
                        <a:spcBef>
                          <a:spcPts val="1170"/>
                        </a:spcBef>
                      </a:pPr>
                      <a:r>
                        <a:rPr dirty="0" sz="2400" spc="-10" b="1">
                          <a:latin typeface="Times New Roman"/>
                          <a:cs typeface="Times New Roman"/>
                        </a:rPr>
                        <a:t>funct</a:t>
                      </a:r>
                      <a:endParaRPr sz="2400">
                        <a:latin typeface="Times New Roman"/>
                        <a:cs typeface="Times New Roman"/>
                      </a:endParaRPr>
                    </a:p>
                  </a:txBody>
                  <a:tcPr marL="0" marR="0" marB="0" marT="148590">
                    <a:lnL w="1905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CC"/>
                    </a:solidFill>
                  </a:tcPr>
                </a:tc>
              </a:tr>
            </a:tbl>
          </a:graphicData>
        </a:graphic>
      </p:graphicFrame>
      <p:sp>
        <p:nvSpPr>
          <p:cNvPr id="23" name="object 23" descr=""/>
          <p:cNvSpPr txBox="1"/>
          <p:nvPr/>
        </p:nvSpPr>
        <p:spPr>
          <a:xfrm>
            <a:off x="291490" y="1014476"/>
            <a:ext cx="2576830" cy="422275"/>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40458B"/>
                </a:solidFill>
                <a:latin typeface="Tahoma"/>
                <a:cs typeface="Tahoma"/>
              </a:rPr>
              <a:t>Jr</a:t>
            </a:r>
            <a:r>
              <a:rPr dirty="0" sz="2600" spc="-10">
                <a:solidFill>
                  <a:srgbClr val="40458B"/>
                </a:solidFill>
                <a:latin typeface="Tahoma"/>
                <a:cs typeface="Tahoma"/>
              </a:rPr>
              <a:t> </a:t>
            </a:r>
            <a:r>
              <a:rPr dirty="0" sz="2600">
                <a:solidFill>
                  <a:srgbClr val="40458B"/>
                </a:solidFill>
                <a:latin typeface="黑体"/>
                <a:cs typeface="黑体"/>
              </a:rPr>
              <a:t>属于</a:t>
            </a:r>
            <a:r>
              <a:rPr dirty="0" sz="2600">
                <a:solidFill>
                  <a:srgbClr val="40458B"/>
                </a:solidFill>
                <a:latin typeface="Tahoma"/>
                <a:cs typeface="Tahoma"/>
              </a:rPr>
              <a:t>R</a:t>
            </a:r>
            <a:r>
              <a:rPr dirty="0" sz="2600" spc="-20">
                <a:solidFill>
                  <a:srgbClr val="40458B"/>
                </a:solidFill>
                <a:latin typeface="黑体"/>
                <a:cs typeface="黑体"/>
              </a:rPr>
              <a:t>类型指令</a:t>
            </a:r>
            <a:endParaRPr sz="2600">
              <a:latin typeface="黑体"/>
              <a:cs typeface="黑体"/>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494790" algn="l"/>
                <a:tab pos="11028045" algn="l"/>
              </a:tabLst>
            </a:pPr>
            <a:r>
              <a:rPr dirty="0">
                <a:solidFill>
                  <a:srgbClr val="4F55AC"/>
                </a:solidFill>
                <a:latin typeface="微软雅黑"/>
                <a:cs typeface="微软雅黑"/>
              </a:rPr>
              <a:t>	I</a:t>
            </a:r>
            <a:r>
              <a:rPr dirty="0" spc="-10">
                <a:solidFill>
                  <a:srgbClr val="4F55AC"/>
                </a:solidFill>
                <a:latin typeface="微软雅黑"/>
                <a:cs typeface="微软雅黑"/>
              </a:rPr>
              <a:t>类指令中的分支指令</a:t>
            </a:r>
            <a:r>
              <a:rPr dirty="0" spc="-20">
                <a:solidFill>
                  <a:srgbClr val="4F55AC"/>
                </a:solidFill>
                <a:latin typeface="微软雅黑"/>
                <a:cs typeface="微软雅黑"/>
              </a:rPr>
              <a:t>或</a:t>
            </a:r>
            <a:r>
              <a:rPr dirty="0" spc="-10">
                <a:solidFill>
                  <a:srgbClr val="4F55AC"/>
                </a:solidFill>
                <a:latin typeface="微软雅黑"/>
                <a:cs typeface="微软雅黑"/>
              </a:rPr>
              <a:t>条件</a:t>
            </a:r>
            <a:r>
              <a:rPr dirty="0" spc="-20">
                <a:solidFill>
                  <a:srgbClr val="4F55AC"/>
                </a:solidFill>
                <a:latin typeface="微软雅黑"/>
                <a:cs typeface="微软雅黑"/>
              </a:rPr>
              <a:t>转</a:t>
            </a:r>
            <a:r>
              <a:rPr dirty="0" spc="-10">
                <a:solidFill>
                  <a:srgbClr val="4F55AC"/>
                </a:solidFill>
                <a:latin typeface="微软雅黑"/>
                <a:cs typeface="微软雅黑"/>
              </a:rPr>
              <a:t>移指</a:t>
            </a:r>
            <a:r>
              <a:rPr dirty="0" spc="-50">
                <a:solidFill>
                  <a:srgbClr val="4F55AC"/>
                </a:solidFill>
                <a:latin typeface="微软雅黑"/>
                <a:cs typeface="微软雅黑"/>
              </a:rPr>
              <a:t>令</a:t>
            </a:r>
            <a:r>
              <a:rPr dirty="0">
                <a:solidFill>
                  <a:srgbClr val="4F55AC"/>
                </a:solidFill>
                <a:latin typeface="微软雅黑"/>
                <a:cs typeface="微软雅黑"/>
              </a:rPr>
              <a:t>	</a:t>
            </a:r>
          </a:p>
        </p:txBody>
      </p:sp>
      <p:sp>
        <p:nvSpPr>
          <p:cNvPr id="4" name="object 4" descr=""/>
          <p:cNvSpPr/>
          <p:nvPr/>
        </p:nvSpPr>
        <p:spPr>
          <a:xfrm>
            <a:off x="1271650" y="796925"/>
            <a:ext cx="9474200" cy="1368425"/>
          </a:xfrm>
          <a:custGeom>
            <a:avLst/>
            <a:gdLst/>
            <a:ahLst/>
            <a:cxnLst/>
            <a:rect l="l" t="t" r="r" b="b"/>
            <a:pathLst>
              <a:path w="9474200" h="1368425">
                <a:moveTo>
                  <a:pt x="9474200" y="0"/>
                </a:moveTo>
                <a:lnTo>
                  <a:pt x="0" y="0"/>
                </a:lnTo>
                <a:lnTo>
                  <a:pt x="0" y="1368425"/>
                </a:lnTo>
                <a:lnTo>
                  <a:pt x="9474200" y="1368425"/>
                </a:lnTo>
                <a:lnTo>
                  <a:pt x="9474200" y="0"/>
                </a:lnTo>
                <a:close/>
              </a:path>
            </a:pathLst>
          </a:custGeom>
          <a:solidFill>
            <a:srgbClr val="F4E8B4"/>
          </a:solidFill>
        </p:spPr>
        <p:txBody>
          <a:bodyPr wrap="square" lIns="0" tIns="0" rIns="0" bIns="0" rtlCol="0"/>
          <a:lstStyle/>
          <a:p/>
        </p:txBody>
      </p:sp>
      <p:graphicFrame>
        <p:nvGraphicFramePr>
          <p:cNvPr id="5" name="object 5" descr=""/>
          <p:cNvGraphicFramePr>
            <a:graphicFrameLocks noGrp="1"/>
          </p:cNvGraphicFramePr>
          <p:nvPr/>
        </p:nvGraphicFramePr>
        <p:xfrm>
          <a:off x="1330146" y="1178158"/>
          <a:ext cx="9361805" cy="546735"/>
        </p:xfrm>
        <a:graphic>
          <a:graphicData uri="http://schemas.openxmlformats.org/drawingml/2006/table">
            <a:tbl>
              <a:tblPr firstRow="1" bandRow="1">
                <a:tableStyleId>{2D5ABB26-0587-4C30-8999-92F81FD0307C}</a:tableStyleId>
              </a:tblPr>
              <a:tblGrid>
                <a:gridCol w="1869439"/>
                <a:gridCol w="1383030"/>
                <a:gridCol w="1383029"/>
                <a:gridCol w="4632325"/>
              </a:tblGrid>
              <a:tr h="546735">
                <a:tc>
                  <a:txBody>
                    <a:bodyPr/>
                    <a:lstStyle/>
                    <a:p>
                      <a:pPr marL="516890">
                        <a:lnSpc>
                          <a:spcPct val="100000"/>
                        </a:lnSpc>
                        <a:spcBef>
                          <a:spcPts val="1075"/>
                        </a:spcBef>
                      </a:pPr>
                      <a:r>
                        <a:rPr dirty="0" sz="1800" spc="515">
                          <a:latin typeface="宋体"/>
                          <a:cs typeface="宋体"/>
                        </a:rPr>
                        <a:t>操作码</a:t>
                      </a:r>
                      <a:endParaRPr sz="1800">
                        <a:latin typeface="宋体"/>
                        <a:cs typeface="宋体"/>
                      </a:endParaRPr>
                    </a:p>
                  </a:txBody>
                  <a:tcPr marL="0" marR="0" marB="0" marT="136525">
                    <a:lnL w="19050">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F4E8B4"/>
                    </a:solidFill>
                  </a:tcPr>
                </a:tc>
                <a:tc>
                  <a:txBody>
                    <a:bodyPr/>
                    <a:lstStyle/>
                    <a:p>
                      <a:pPr algn="ctr" marL="75565">
                        <a:lnSpc>
                          <a:spcPct val="100000"/>
                        </a:lnSpc>
                        <a:spcBef>
                          <a:spcPts val="515"/>
                        </a:spcBef>
                      </a:pPr>
                      <a:r>
                        <a:rPr dirty="0" sz="2100" spc="229" b="1">
                          <a:latin typeface="Times New Roman"/>
                          <a:cs typeface="Times New Roman"/>
                        </a:rPr>
                        <a:t>rs</a:t>
                      </a:r>
                      <a:endParaRPr sz="2100">
                        <a:latin typeface="Times New Roman"/>
                        <a:cs typeface="Times New Roman"/>
                      </a:endParaRPr>
                    </a:p>
                  </a:txBody>
                  <a:tcPr marL="0" marR="0" marB="0" marT="65405">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F4E8B4"/>
                    </a:solidFill>
                  </a:tcPr>
                </a:tc>
                <a:tc>
                  <a:txBody>
                    <a:bodyPr/>
                    <a:lstStyle/>
                    <a:p>
                      <a:pPr algn="ctr" marR="77470">
                        <a:lnSpc>
                          <a:spcPct val="100000"/>
                        </a:lnSpc>
                        <a:spcBef>
                          <a:spcPts val="610"/>
                        </a:spcBef>
                      </a:pPr>
                      <a:r>
                        <a:rPr dirty="0" sz="2100" spc="210" b="1">
                          <a:latin typeface="Times New Roman"/>
                          <a:cs typeface="Times New Roman"/>
                        </a:rPr>
                        <a:t>rt</a:t>
                      </a:r>
                      <a:endParaRPr sz="2100">
                        <a:latin typeface="Times New Roman"/>
                        <a:cs typeface="Times New Roman"/>
                      </a:endParaRPr>
                    </a:p>
                  </a:txBody>
                  <a:tcPr marL="0" marR="0" marB="0" marT="77470">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F4E8B4"/>
                    </a:solidFill>
                  </a:tcPr>
                </a:tc>
                <a:tc>
                  <a:txBody>
                    <a:bodyPr/>
                    <a:lstStyle/>
                    <a:p>
                      <a:pPr marL="1205865">
                        <a:lnSpc>
                          <a:spcPct val="100000"/>
                        </a:lnSpc>
                        <a:spcBef>
                          <a:spcPts val="1075"/>
                        </a:spcBef>
                      </a:pPr>
                      <a:r>
                        <a:rPr dirty="0" sz="1800" spc="525">
                          <a:latin typeface="宋体"/>
                          <a:cs typeface="宋体"/>
                        </a:rPr>
                        <a:t>立即数</a:t>
                      </a:r>
                      <a:r>
                        <a:rPr dirty="0" sz="1800" spc="290">
                          <a:latin typeface="宋体"/>
                          <a:cs typeface="宋体"/>
                        </a:rPr>
                        <a:t>（</a:t>
                      </a:r>
                      <a:r>
                        <a:rPr dirty="0" sz="1800" spc="290" b="1">
                          <a:latin typeface="Times New Roman"/>
                          <a:cs typeface="Times New Roman"/>
                        </a:rPr>
                        <a:t>immediate</a:t>
                      </a:r>
                      <a:r>
                        <a:rPr dirty="0" sz="1800" spc="290">
                          <a:latin typeface="宋体"/>
                          <a:cs typeface="宋体"/>
                        </a:rPr>
                        <a:t>）</a:t>
                      </a:r>
                      <a:endParaRPr sz="1800">
                        <a:latin typeface="宋体"/>
                        <a:cs typeface="宋体"/>
                      </a:endParaRPr>
                    </a:p>
                  </a:txBody>
                  <a:tcPr marL="0" marR="0" marB="0" marT="136525">
                    <a:lnL w="2857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4E8B4"/>
                    </a:solidFill>
                  </a:tcPr>
                </a:tc>
              </a:tr>
            </a:tbl>
          </a:graphicData>
        </a:graphic>
      </p:graphicFrame>
      <p:sp>
        <p:nvSpPr>
          <p:cNvPr id="6" name="object 6" descr=""/>
          <p:cNvSpPr txBox="1"/>
          <p:nvPr/>
        </p:nvSpPr>
        <p:spPr>
          <a:xfrm>
            <a:off x="2187507" y="849959"/>
            <a:ext cx="6137275" cy="299085"/>
          </a:xfrm>
          <a:prstGeom prst="rect">
            <a:avLst/>
          </a:prstGeom>
        </p:spPr>
        <p:txBody>
          <a:bodyPr wrap="square" lIns="0" tIns="11430" rIns="0" bIns="0" rtlCol="0" vert="horz">
            <a:spAutoFit/>
          </a:bodyPr>
          <a:lstStyle/>
          <a:p>
            <a:pPr marL="12700">
              <a:lnSpc>
                <a:spcPct val="100000"/>
              </a:lnSpc>
              <a:spcBef>
                <a:spcPts val="90"/>
              </a:spcBef>
              <a:tabLst>
                <a:tab pos="1672589" algn="l"/>
                <a:tab pos="2917190" algn="l"/>
                <a:tab pos="5822950" algn="l"/>
              </a:tabLst>
            </a:pPr>
            <a:r>
              <a:rPr dirty="0" sz="1800" spc="220" b="1">
                <a:latin typeface="Times New Roman"/>
                <a:cs typeface="Times New Roman"/>
              </a:rPr>
              <a:t>6</a:t>
            </a:r>
            <a:r>
              <a:rPr dirty="0" sz="1800" b="1">
                <a:latin typeface="Times New Roman"/>
                <a:cs typeface="Times New Roman"/>
              </a:rPr>
              <a:t>	</a:t>
            </a:r>
            <a:r>
              <a:rPr dirty="0" sz="1800" spc="220" b="1">
                <a:latin typeface="Times New Roman"/>
                <a:cs typeface="Times New Roman"/>
              </a:rPr>
              <a:t>5</a:t>
            </a:r>
            <a:r>
              <a:rPr dirty="0" sz="1800" b="1">
                <a:latin typeface="Times New Roman"/>
                <a:cs typeface="Times New Roman"/>
              </a:rPr>
              <a:t>	</a:t>
            </a:r>
            <a:r>
              <a:rPr dirty="0" sz="1800" spc="220" b="1">
                <a:latin typeface="Times New Roman"/>
                <a:cs typeface="Times New Roman"/>
              </a:rPr>
              <a:t>5</a:t>
            </a:r>
            <a:r>
              <a:rPr dirty="0" sz="1800" b="1">
                <a:latin typeface="Times New Roman"/>
                <a:cs typeface="Times New Roman"/>
              </a:rPr>
              <a:t>	</a:t>
            </a:r>
            <a:r>
              <a:rPr dirty="0" sz="1800" spc="250" b="1">
                <a:latin typeface="Times New Roman"/>
                <a:cs typeface="Times New Roman"/>
              </a:rPr>
              <a:t>16</a:t>
            </a:r>
            <a:endParaRPr sz="1800">
              <a:latin typeface="Times New Roman"/>
              <a:cs typeface="Times New Roman"/>
            </a:endParaRPr>
          </a:p>
        </p:txBody>
      </p:sp>
      <p:sp>
        <p:nvSpPr>
          <p:cNvPr id="7" name="object 7" descr=""/>
          <p:cNvSpPr txBox="1"/>
          <p:nvPr/>
        </p:nvSpPr>
        <p:spPr>
          <a:xfrm>
            <a:off x="1358148" y="1732611"/>
            <a:ext cx="175260" cy="299085"/>
          </a:xfrm>
          <a:prstGeom prst="rect">
            <a:avLst/>
          </a:prstGeom>
        </p:spPr>
        <p:txBody>
          <a:bodyPr wrap="square" lIns="0" tIns="11430" rIns="0" bIns="0" rtlCol="0" vert="horz">
            <a:spAutoFit/>
          </a:bodyPr>
          <a:lstStyle/>
          <a:p>
            <a:pPr marL="12700">
              <a:lnSpc>
                <a:spcPct val="100000"/>
              </a:lnSpc>
              <a:spcBef>
                <a:spcPts val="90"/>
              </a:spcBef>
            </a:pPr>
            <a:r>
              <a:rPr dirty="0" sz="1800" spc="220" b="1">
                <a:latin typeface="Times New Roman"/>
                <a:cs typeface="Times New Roman"/>
              </a:rPr>
              <a:t>0</a:t>
            </a:r>
            <a:endParaRPr sz="1800">
              <a:latin typeface="Times New Roman"/>
              <a:cs typeface="Times New Roman"/>
            </a:endParaRPr>
          </a:p>
        </p:txBody>
      </p:sp>
      <p:sp>
        <p:nvSpPr>
          <p:cNvPr id="8" name="object 8" descr=""/>
          <p:cNvSpPr txBox="1"/>
          <p:nvPr/>
        </p:nvSpPr>
        <p:spPr>
          <a:xfrm>
            <a:off x="2879428" y="1735692"/>
            <a:ext cx="589915" cy="299085"/>
          </a:xfrm>
          <a:prstGeom prst="rect">
            <a:avLst/>
          </a:prstGeom>
        </p:spPr>
        <p:txBody>
          <a:bodyPr wrap="square" lIns="0" tIns="11430" rIns="0" bIns="0" rtlCol="0" vert="horz">
            <a:spAutoFit/>
          </a:bodyPr>
          <a:lstStyle/>
          <a:p>
            <a:pPr marL="12700">
              <a:lnSpc>
                <a:spcPct val="100000"/>
              </a:lnSpc>
              <a:spcBef>
                <a:spcPts val="90"/>
              </a:spcBef>
              <a:tabLst>
                <a:tab pos="426720" algn="l"/>
              </a:tabLst>
            </a:pPr>
            <a:r>
              <a:rPr dirty="0" sz="1800" spc="220" b="1">
                <a:latin typeface="Times New Roman"/>
                <a:cs typeface="Times New Roman"/>
              </a:rPr>
              <a:t>5</a:t>
            </a:r>
            <a:r>
              <a:rPr dirty="0" sz="1800" b="1">
                <a:latin typeface="Times New Roman"/>
                <a:cs typeface="Times New Roman"/>
              </a:rPr>
              <a:t>	</a:t>
            </a:r>
            <a:r>
              <a:rPr dirty="0" sz="1800" spc="220" b="1">
                <a:latin typeface="Times New Roman"/>
                <a:cs typeface="Times New Roman"/>
              </a:rPr>
              <a:t>6</a:t>
            </a:r>
            <a:endParaRPr sz="1800">
              <a:latin typeface="Times New Roman"/>
              <a:cs typeface="Times New Roman"/>
            </a:endParaRPr>
          </a:p>
        </p:txBody>
      </p:sp>
      <p:sp>
        <p:nvSpPr>
          <p:cNvPr id="9" name="object 9" descr=""/>
          <p:cNvSpPr txBox="1"/>
          <p:nvPr/>
        </p:nvSpPr>
        <p:spPr>
          <a:xfrm>
            <a:off x="4195814" y="1735692"/>
            <a:ext cx="829944" cy="299085"/>
          </a:xfrm>
          <a:prstGeom prst="rect">
            <a:avLst/>
          </a:prstGeom>
        </p:spPr>
        <p:txBody>
          <a:bodyPr wrap="square" lIns="0" tIns="11430" rIns="0" bIns="0" rtlCol="0" vert="horz">
            <a:spAutoFit/>
          </a:bodyPr>
          <a:lstStyle/>
          <a:p>
            <a:pPr marL="12700">
              <a:lnSpc>
                <a:spcPct val="100000"/>
              </a:lnSpc>
              <a:spcBef>
                <a:spcPts val="90"/>
              </a:spcBef>
              <a:tabLst>
                <a:tab pos="545465" algn="l"/>
              </a:tabLst>
            </a:pPr>
            <a:r>
              <a:rPr dirty="0" sz="1800" spc="245" b="1">
                <a:latin typeface="Times New Roman"/>
                <a:cs typeface="Times New Roman"/>
              </a:rPr>
              <a:t>10</a:t>
            </a:r>
            <a:r>
              <a:rPr dirty="0" sz="1800" b="1">
                <a:latin typeface="Times New Roman"/>
                <a:cs typeface="Times New Roman"/>
              </a:rPr>
              <a:t>	</a:t>
            </a:r>
            <a:r>
              <a:rPr dirty="0" sz="1800" spc="120" b="1">
                <a:latin typeface="Times New Roman"/>
                <a:cs typeface="Times New Roman"/>
              </a:rPr>
              <a:t>11</a:t>
            </a:r>
            <a:endParaRPr sz="1800">
              <a:latin typeface="Times New Roman"/>
              <a:cs typeface="Times New Roman"/>
            </a:endParaRPr>
          </a:p>
        </p:txBody>
      </p:sp>
      <p:sp>
        <p:nvSpPr>
          <p:cNvPr id="10" name="object 10" descr=""/>
          <p:cNvSpPr txBox="1"/>
          <p:nvPr/>
        </p:nvSpPr>
        <p:spPr>
          <a:xfrm>
            <a:off x="5578736" y="1735692"/>
            <a:ext cx="808990" cy="299085"/>
          </a:xfrm>
          <a:prstGeom prst="rect">
            <a:avLst/>
          </a:prstGeom>
        </p:spPr>
        <p:txBody>
          <a:bodyPr wrap="square" lIns="0" tIns="11430" rIns="0" bIns="0" rtlCol="0" vert="horz">
            <a:spAutoFit/>
          </a:bodyPr>
          <a:lstStyle/>
          <a:p>
            <a:pPr marL="12700">
              <a:lnSpc>
                <a:spcPct val="100000"/>
              </a:lnSpc>
              <a:spcBef>
                <a:spcPts val="90"/>
              </a:spcBef>
              <a:tabLst>
                <a:tab pos="494665" algn="l"/>
              </a:tabLst>
            </a:pPr>
            <a:r>
              <a:rPr dirty="0" sz="1800" spc="245" b="1">
                <a:latin typeface="Times New Roman"/>
                <a:cs typeface="Times New Roman"/>
              </a:rPr>
              <a:t>15</a:t>
            </a:r>
            <a:r>
              <a:rPr dirty="0" sz="1800" b="1">
                <a:latin typeface="Times New Roman"/>
                <a:cs typeface="Times New Roman"/>
              </a:rPr>
              <a:t>	</a:t>
            </a:r>
            <a:r>
              <a:rPr dirty="0" sz="1800" spc="250" b="1">
                <a:latin typeface="Times New Roman"/>
                <a:cs typeface="Times New Roman"/>
              </a:rPr>
              <a:t>16</a:t>
            </a:r>
            <a:endParaRPr sz="1800">
              <a:latin typeface="Times New Roman"/>
              <a:cs typeface="Times New Roman"/>
            </a:endParaRPr>
          </a:p>
        </p:txBody>
      </p:sp>
      <p:sp>
        <p:nvSpPr>
          <p:cNvPr id="11" name="object 11" descr=""/>
          <p:cNvSpPr txBox="1"/>
          <p:nvPr/>
        </p:nvSpPr>
        <p:spPr>
          <a:xfrm>
            <a:off x="10211017" y="1735692"/>
            <a:ext cx="326390" cy="299085"/>
          </a:xfrm>
          <a:prstGeom prst="rect">
            <a:avLst/>
          </a:prstGeom>
        </p:spPr>
        <p:txBody>
          <a:bodyPr wrap="square" lIns="0" tIns="11430" rIns="0" bIns="0" rtlCol="0" vert="horz">
            <a:spAutoFit/>
          </a:bodyPr>
          <a:lstStyle/>
          <a:p>
            <a:pPr marL="12700">
              <a:lnSpc>
                <a:spcPct val="100000"/>
              </a:lnSpc>
              <a:spcBef>
                <a:spcPts val="90"/>
              </a:spcBef>
            </a:pPr>
            <a:r>
              <a:rPr dirty="0" sz="1800" spc="250" b="1">
                <a:latin typeface="Times New Roman"/>
                <a:cs typeface="Times New Roman"/>
              </a:rPr>
              <a:t>31</a:t>
            </a:r>
            <a:endParaRPr sz="1800">
              <a:latin typeface="Times New Roman"/>
              <a:cs typeface="Times New Roman"/>
            </a:endParaRPr>
          </a:p>
        </p:txBody>
      </p:sp>
      <p:sp>
        <p:nvSpPr>
          <p:cNvPr id="12" name="object 12" descr=""/>
          <p:cNvSpPr txBox="1"/>
          <p:nvPr/>
        </p:nvSpPr>
        <p:spPr>
          <a:xfrm>
            <a:off x="162864" y="2556129"/>
            <a:ext cx="5112385" cy="2713990"/>
          </a:xfrm>
          <a:prstGeom prst="rect">
            <a:avLst/>
          </a:prstGeom>
        </p:spPr>
        <p:txBody>
          <a:bodyPr wrap="square" lIns="0" tIns="13335" rIns="0" bIns="0" rtlCol="0" vert="horz">
            <a:spAutoFit/>
          </a:bodyPr>
          <a:lstStyle/>
          <a:p>
            <a:pPr marL="77470">
              <a:lnSpc>
                <a:spcPct val="100000"/>
              </a:lnSpc>
              <a:spcBef>
                <a:spcPts val="105"/>
              </a:spcBef>
            </a:pPr>
            <a:r>
              <a:rPr dirty="0" sz="2600" spc="-15">
                <a:solidFill>
                  <a:srgbClr val="40458B"/>
                </a:solidFill>
                <a:latin typeface="黑体"/>
                <a:cs typeface="黑体"/>
              </a:rPr>
              <a:t>指令格式：</a:t>
            </a:r>
            <a:endParaRPr sz="2600">
              <a:latin typeface="黑体"/>
              <a:cs typeface="黑体"/>
            </a:endParaRPr>
          </a:p>
          <a:p>
            <a:pPr marL="77470">
              <a:lnSpc>
                <a:spcPct val="100000"/>
              </a:lnSpc>
              <a:tabLst>
                <a:tab pos="822960" algn="l"/>
                <a:tab pos="2872740" algn="l"/>
              </a:tabLst>
            </a:pPr>
            <a:r>
              <a:rPr dirty="0" sz="2600" spc="-25">
                <a:solidFill>
                  <a:srgbClr val="40458B"/>
                </a:solidFill>
                <a:latin typeface="Tahoma"/>
                <a:cs typeface="Tahoma"/>
              </a:rPr>
              <a:t>beq</a:t>
            </a:r>
            <a:r>
              <a:rPr dirty="0" sz="2600">
                <a:solidFill>
                  <a:srgbClr val="40458B"/>
                </a:solidFill>
                <a:latin typeface="Tahoma"/>
                <a:cs typeface="Tahoma"/>
              </a:rPr>
              <a:t>	rs,</a:t>
            </a:r>
            <a:r>
              <a:rPr dirty="0" sz="2600" spc="-15">
                <a:solidFill>
                  <a:srgbClr val="40458B"/>
                </a:solidFill>
                <a:latin typeface="Tahoma"/>
                <a:cs typeface="Tahoma"/>
              </a:rPr>
              <a:t> </a:t>
            </a:r>
            <a:r>
              <a:rPr dirty="0" sz="2600">
                <a:solidFill>
                  <a:srgbClr val="40458B"/>
                </a:solidFill>
                <a:latin typeface="Tahoma"/>
                <a:cs typeface="Tahoma"/>
              </a:rPr>
              <a:t>rt,</a:t>
            </a:r>
            <a:r>
              <a:rPr dirty="0" sz="2600" spc="-25">
                <a:solidFill>
                  <a:srgbClr val="40458B"/>
                </a:solidFill>
                <a:latin typeface="Tahoma"/>
                <a:cs typeface="Tahoma"/>
              </a:rPr>
              <a:t> imm</a:t>
            </a:r>
            <a:r>
              <a:rPr dirty="0" sz="2600">
                <a:solidFill>
                  <a:srgbClr val="40458B"/>
                </a:solidFill>
                <a:latin typeface="Tahoma"/>
                <a:cs typeface="Tahoma"/>
              </a:rPr>
              <a:t>	#</a:t>
            </a:r>
            <a:r>
              <a:rPr dirty="0" sz="2600" spc="-15">
                <a:solidFill>
                  <a:srgbClr val="40458B"/>
                </a:solidFill>
                <a:latin typeface="黑体"/>
                <a:cs typeface="黑体"/>
              </a:rPr>
              <a:t>条件转移指令</a:t>
            </a:r>
            <a:endParaRPr sz="2600">
              <a:latin typeface="黑体"/>
              <a:cs typeface="黑体"/>
            </a:endParaRPr>
          </a:p>
          <a:p>
            <a:pPr marL="12700">
              <a:lnSpc>
                <a:spcPct val="100000"/>
              </a:lnSpc>
              <a:spcBef>
                <a:spcPts val="2800"/>
              </a:spcBef>
            </a:pPr>
            <a:r>
              <a:rPr dirty="0" sz="2600" spc="-130">
                <a:solidFill>
                  <a:srgbClr val="40458B"/>
                </a:solidFill>
                <a:latin typeface="黑体"/>
                <a:cs typeface="黑体"/>
              </a:rPr>
              <a:t>过程： </a:t>
            </a:r>
            <a:r>
              <a:rPr dirty="0" sz="2600">
                <a:solidFill>
                  <a:srgbClr val="FF0000"/>
                </a:solidFill>
                <a:latin typeface="Tahoma"/>
                <a:cs typeface="Tahoma"/>
              </a:rPr>
              <a:t>if</a:t>
            </a:r>
            <a:r>
              <a:rPr dirty="0" sz="2600" spc="5">
                <a:solidFill>
                  <a:srgbClr val="FF0000"/>
                </a:solidFill>
                <a:latin typeface="Tahoma"/>
                <a:cs typeface="Tahoma"/>
              </a:rPr>
              <a:t> </a:t>
            </a:r>
            <a:r>
              <a:rPr dirty="0" sz="2600" spc="-10">
                <a:solidFill>
                  <a:srgbClr val="FF0000"/>
                </a:solidFill>
                <a:latin typeface="黑体"/>
                <a:cs typeface="黑体"/>
              </a:rPr>
              <a:t>（</a:t>
            </a:r>
            <a:r>
              <a:rPr dirty="0" sz="2600" spc="-10">
                <a:solidFill>
                  <a:srgbClr val="FF0000"/>
                </a:solidFill>
                <a:latin typeface="Tahoma"/>
                <a:cs typeface="Tahoma"/>
              </a:rPr>
              <a:t>rs==rt</a:t>
            </a:r>
            <a:r>
              <a:rPr dirty="0" sz="2600" spc="-10">
                <a:solidFill>
                  <a:srgbClr val="FF0000"/>
                </a:solidFill>
                <a:latin typeface="黑体"/>
                <a:cs typeface="黑体"/>
              </a:rPr>
              <a:t>）</a:t>
            </a:r>
            <a:endParaRPr sz="2600">
              <a:latin typeface="黑体"/>
              <a:cs typeface="黑体"/>
            </a:endParaRPr>
          </a:p>
          <a:p>
            <a:pPr algn="ctr" marL="28575">
              <a:lnSpc>
                <a:spcPct val="100000"/>
              </a:lnSpc>
              <a:spcBef>
                <a:spcPts val="1480"/>
              </a:spcBef>
            </a:pPr>
            <a:r>
              <a:rPr dirty="0" sz="2400" spc="-10">
                <a:solidFill>
                  <a:srgbClr val="282C58"/>
                </a:solidFill>
                <a:latin typeface="Tahoma"/>
                <a:cs typeface="Tahoma"/>
              </a:rPr>
              <a:t>PC←</a:t>
            </a:r>
            <a:r>
              <a:rPr dirty="0" sz="2400" spc="-15">
                <a:solidFill>
                  <a:srgbClr val="282C58"/>
                </a:solidFill>
                <a:latin typeface="黑体"/>
                <a:cs typeface="黑体"/>
              </a:rPr>
              <a:t>分支地址</a:t>
            </a:r>
            <a:endParaRPr sz="2400">
              <a:latin typeface="黑体"/>
              <a:cs typeface="黑体"/>
            </a:endParaRPr>
          </a:p>
          <a:p>
            <a:pPr marL="1148080">
              <a:lnSpc>
                <a:spcPct val="100000"/>
              </a:lnSpc>
              <a:spcBef>
                <a:spcPts val="1520"/>
              </a:spcBef>
            </a:pPr>
            <a:r>
              <a:rPr dirty="0" sz="2600" spc="-20">
                <a:solidFill>
                  <a:srgbClr val="282C58"/>
                </a:solidFill>
                <a:latin typeface="Tahoma"/>
                <a:cs typeface="Tahoma"/>
              </a:rPr>
              <a:t>else</a:t>
            </a:r>
            <a:endParaRPr sz="2600">
              <a:latin typeface="Tahoma"/>
              <a:cs typeface="Tahoma"/>
            </a:endParaRPr>
          </a:p>
        </p:txBody>
      </p:sp>
      <p:sp>
        <p:nvSpPr>
          <p:cNvPr id="13" name="object 13" descr=""/>
          <p:cNvSpPr txBox="1"/>
          <p:nvPr/>
        </p:nvSpPr>
        <p:spPr>
          <a:xfrm>
            <a:off x="1687195" y="5432856"/>
            <a:ext cx="4163695"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282C58"/>
                </a:solidFill>
                <a:latin typeface="Tahoma"/>
                <a:cs typeface="Tahoma"/>
              </a:rPr>
              <a:t>PC←</a:t>
            </a:r>
            <a:r>
              <a:rPr dirty="0" sz="2400">
                <a:solidFill>
                  <a:srgbClr val="282C58"/>
                </a:solidFill>
                <a:latin typeface="黑体"/>
                <a:cs typeface="黑体"/>
              </a:rPr>
              <a:t>下一条指令地址</a:t>
            </a:r>
            <a:r>
              <a:rPr dirty="0" sz="2400" spc="-10">
                <a:solidFill>
                  <a:srgbClr val="282C58"/>
                </a:solidFill>
                <a:latin typeface="黑体"/>
                <a:cs typeface="黑体"/>
              </a:rPr>
              <a:t>（</a:t>
            </a:r>
            <a:r>
              <a:rPr dirty="0" sz="2400" spc="-10">
                <a:solidFill>
                  <a:srgbClr val="282C58"/>
                </a:solidFill>
                <a:latin typeface="Tahoma"/>
                <a:cs typeface="Tahoma"/>
              </a:rPr>
              <a:t>PC+4</a:t>
            </a:r>
            <a:r>
              <a:rPr dirty="0" sz="2400" spc="-10">
                <a:solidFill>
                  <a:srgbClr val="282C58"/>
                </a:solidFill>
                <a:latin typeface="黑体"/>
                <a:cs typeface="黑体"/>
              </a:rPr>
              <a:t>）</a:t>
            </a:r>
            <a:endParaRPr sz="2400">
              <a:latin typeface="黑体"/>
              <a:cs typeface="黑体"/>
            </a:endParaRPr>
          </a:p>
        </p:txBody>
      </p:sp>
      <p:sp>
        <p:nvSpPr>
          <p:cNvPr id="14" name="object 14" descr=""/>
          <p:cNvSpPr txBox="1"/>
          <p:nvPr/>
        </p:nvSpPr>
        <p:spPr>
          <a:xfrm>
            <a:off x="6215126" y="2654554"/>
            <a:ext cx="5902960" cy="1011555"/>
          </a:xfrm>
          <a:prstGeom prst="rect">
            <a:avLst/>
          </a:prstGeom>
        </p:spPr>
        <p:txBody>
          <a:bodyPr wrap="square" lIns="0" tIns="13335" rIns="0" bIns="0" rtlCol="0" vert="horz">
            <a:spAutoFit/>
          </a:bodyPr>
          <a:lstStyle/>
          <a:p>
            <a:pPr marL="38100">
              <a:lnSpc>
                <a:spcPct val="100000"/>
              </a:lnSpc>
              <a:spcBef>
                <a:spcPts val="105"/>
              </a:spcBef>
            </a:pPr>
            <a:r>
              <a:rPr dirty="0" sz="2600" spc="25">
                <a:solidFill>
                  <a:srgbClr val="40458B"/>
                </a:solidFill>
                <a:latin typeface="黑体"/>
                <a:cs typeface="黑体"/>
              </a:rPr>
              <a:t>分支地址计算 ：</a:t>
            </a:r>
            <a:endParaRPr sz="2600">
              <a:latin typeface="黑体"/>
              <a:cs typeface="黑体"/>
            </a:endParaRPr>
          </a:p>
          <a:p>
            <a:pPr marL="141605">
              <a:lnSpc>
                <a:spcPct val="100000"/>
              </a:lnSpc>
              <a:spcBef>
                <a:spcPts val="1755"/>
              </a:spcBef>
            </a:pPr>
            <a:r>
              <a:rPr dirty="0" sz="2400" spc="-10">
                <a:solidFill>
                  <a:srgbClr val="FF0000"/>
                </a:solidFill>
                <a:latin typeface="黑体"/>
                <a:cs typeface="黑体"/>
              </a:rPr>
              <a:t>分支地址</a:t>
            </a:r>
            <a:r>
              <a:rPr dirty="0" sz="2400" spc="-25">
                <a:solidFill>
                  <a:srgbClr val="FF0000"/>
                </a:solidFill>
                <a:latin typeface="Tahoma"/>
                <a:cs typeface="Tahoma"/>
              </a:rPr>
              <a:t>=</a:t>
            </a:r>
            <a:r>
              <a:rPr dirty="0" sz="2400" spc="-10">
                <a:solidFill>
                  <a:srgbClr val="FF0000"/>
                </a:solidFill>
                <a:latin typeface="黑体"/>
                <a:cs typeface="黑体"/>
              </a:rPr>
              <a:t>当前</a:t>
            </a:r>
            <a:r>
              <a:rPr dirty="0" sz="2400">
                <a:solidFill>
                  <a:srgbClr val="FF0000"/>
                </a:solidFill>
                <a:latin typeface="Tahoma"/>
                <a:cs typeface="Tahoma"/>
              </a:rPr>
              <a:t>PC</a:t>
            </a:r>
            <a:r>
              <a:rPr dirty="0" sz="2400" spc="40">
                <a:solidFill>
                  <a:srgbClr val="FF0000"/>
                </a:solidFill>
                <a:latin typeface="Tahoma"/>
                <a:cs typeface="Tahoma"/>
              </a:rPr>
              <a:t>+ </a:t>
            </a:r>
            <a:r>
              <a:rPr dirty="0" sz="2400" spc="-20">
                <a:solidFill>
                  <a:srgbClr val="FF0000"/>
                </a:solidFill>
                <a:latin typeface="Tahoma"/>
                <a:cs typeface="Tahoma"/>
              </a:rPr>
              <a:t>SF</a:t>
            </a:r>
            <a:r>
              <a:rPr dirty="0" baseline="24305" sz="2400" spc="-30">
                <a:solidFill>
                  <a:srgbClr val="FF0000"/>
                </a:solidFill>
                <a:latin typeface="Tahoma"/>
                <a:cs typeface="Tahoma"/>
              </a:rPr>
              <a:t>46</a:t>
            </a:r>
            <a:r>
              <a:rPr dirty="0" sz="2400" spc="-20">
                <a:solidFill>
                  <a:srgbClr val="FF0000"/>
                </a:solidFill>
                <a:latin typeface="Tahoma"/>
                <a:cs typeface="Tahoma"/>
              </a:rPr>
              <a:t>##</a:t>
            </a:r>
            <a:r>
              <a:rPr dirty="0" sz="2400" spc="-10">
                <a:solidFill>
                  <a:srgbClr val="FF0000"/>
                </a:solidFill>
                <a:latin typeface="黑体"/>
                <a:cs typeface="黑体"/>
              </a:rPr>
              <a:t>偏移量左移</a:t>
            </a:r>
            <a:r>
              <a:rPr dirty="0" sz="2400" spc="-25">
                <a:solidFill>
                  <a:srgbClr val="FF0000"/>
                </a:solidFill>
                <a:latin typeface="Tahoma"/>
                <a:cs typeface="Tahoma"/>
              </a:rPr>
              <a:t>2</a:t>
            </a:r>
            <a:r>
              <a:rPr dirty="0" sz="2400" spc="-50">
                <a:solidFill>
                  <a:srgbClr val="FF0000"/>
                </a:solidFill>
                <a:latin typeface="黑体"/>
                <a:cs typeface="黑体"/>
              </a:rPr>
              <a:t>位</a:t>
            </a:r>
            <a:endParaRPr sz="2400">
              <a:latin typeface="黑体"/>
              <a:cs typeface="黑体"/>
            </a:endParaRPr>
          </a:p>
        </p:txBody>
      </p:sp>
      <p:sp>
        <p:nvSpPr>
          <p:cNvPr id="15" name="object 15" descr=""/>
          <p:cNvSpPr txBox="1"/>
          <p:nvPr/>
        </p:nvSpPr>
        <p:spPr>
          <a:xfrm>
            <a:off x="6240526" y="4194104"/>
            <a:ext cx="3430904" cy="2404110"/>
          </a:xfrm>
          <a:prstGeom prst="rect">
            <a:avLst/>
          </a:prstGeom>
        </p:spPr>
        <p:txBody>
          <a:bodyPr wrap="square" lIns="0" tIns="211455" rIns="0" bIns="0" rtlCol="0" vert="horz">
            <a:spAutoFit/>
          </a:bodyPr>
          <a:lstStyle/>
          <a:p>
            <a:pPr marL="12700">
              <a:lnSpc>
                <a:spcPct val="100000"/>
              </a:lnSpc>
              <a:spcBef>
                <a:spcPts val="1665"/>
              </a:spcBef>
            </a:pPr>
            <a:r>
              <a:rPr dirty="0" sz="2400" spc="-85">
                <a:solidFill>
                  <a:srgbClr val="FF0000"/>
                </a:solidFill>
                <a:latin typeface="黑体"/>
                <a:cs typeface="黑体"/>
              </a:rPr>
              <a:t>联系程序： </a:t>
            </a:r>
            <a:r>
              <a:rPr dirty="0" sz="2600">
                <a:solidFill>
                  <a:srgbClr val="FF0000"/>
                </a:solidFill>
                <a:latin typeface="Tahoma"/>
                <a:cs typeface="Tahoma"/>
              </a:rPr>
              <a:t>if</a:t>
            </a:r>
            <a:r>
              <a:rPr dirty="0" sz="2600" spc="5">
                <a:solidFill>
                  <a:srgbClr val="FF0000"/>
                </a:solidFill>
                <a:latin typeface="Tahoma"/>
                <a:cs typeface="Tahoma"/>
              </a:rPr>
              <a:t> </a:t>
            </a:r>
            <a:r>
              <a:rPr dirty="0" sz="2600" spc="-10">
                <a:solidFill>
                  <a:srgbClr val="FF0000"/>
                </a:solidFill>
                <a:latin typeface="黑体"/>
                <a:cs typeface="黑体"/>
              </a:rPr>
              <a:t>（</a:t>
            </a:r>
            <a:r>
              <a:rPr dirty="0" sz="2600" spc="-10">
                <a:solidFill>
                  <a:srgbClr val="FF0000"/>
                </a:solidFill>
                <a:latin typeface="Tahoma"/>
                <a:cs typeface="Tahoma"/>
              </a:rPr>
              <a:t>a==b</a:t>
            </a:r>
            <a:r>
              <a:rPr dirty="0" sz="2600" spc="-10">
                <a:solidFill>
                  <a:srgbClr val="FF0000"/>
                </a:solidFill>
                <a:latin typeface="黑体"/>
                <a:cs typeface="黑体"/>
              </a:rPr>
              <a:t>）</a:t>
            </a:r>
            <a:endParaRPr sz="2600">
              <a:latin typeface="黑体"/>
              <a:cs typeface="黑体"/>
            </a:endParaRPr>
          </a:p>
          <a:p>
            <a:pPr marL="1870710">
              <a:lnSpc>
                <a:spcPct val="100000"/>
              </a:lnSpc>
              <a:spcBef>
                <a:spcPts val="1560"/>
              </a:spcBef>
            </a:pPr>
            <a:r>
              <a:rPr dirty="0" sz="2600" spc="-20">
                <a:solidFill>
                  <a:srgbClr val="FF0000"/>
                </a:solidFill>
                <a:latin typeface="黑体"/>
                <a:cs typeface="黑体"/>
              </a:rPr>
              <a:t>。。。</a:t>
            </a:r>
            <a:endParaRPr sz="2600">
              <a:latin typeface="黑体"/>
              <a:cs typeface="黑体"/>
            </a:endParaRPr>
          </a:p>
          <a:p>
            <a:pPr marL="1870710">
              <a:lnSpc>
                <a:spcPct val="100000"/>
              </a:lnSpc>
              <a:spcBef>
                <a:spcPts val="1560"/>
              </a:spcBef>
            </a:pPr>
            <a:r>
              <a:rPr dirty="0" sz="2600" spc="-20">
                <a:solidFill>
                  <a:srgbClr val="FF0000"/>
                </a:solidFill>
                <a:latin typeface="Tahoma"/>
                <a:cs typeface="Tahoma"/>
              </a:rPr>
              <a:t>else</a:t>
            </a:r>
            <a:endParaRPr sz="2600">
              <a:latin typeface="Tahoma"/>
              <a:cs typeface="Tahoma"/>
            </a:endParaRPr>
          </a:p>
          <a:p>
            <a:pPr marL="1870710">
              <a:lnSpc>
                <a:spcPct val="100000"/>
              </a:lnSpc>
              <a:spcBef>
                <a:spcPts val="1565"/>
              </a:spcBef>
            </a:pPr>
            <a:r>
              <a:rPr dirty="0" sz="2600" spc="-20">
                <a:solidFill>
                  <a:srgbClr val="FF0000"/>
                </a:solidFill>
                <a:latin typeface="黑体"/>
                <a:cs typeface="黑体"/>
              </a:rPr>
              <a:t>。。。</a:t>
            </a:r>
            <a:endParaRPr sz="2600">
              <a:latin typeface="黑体"/>
              <a:cs typeface="黑体"/>
            </a:endParaRPr>
          </a:p>
        </p:txBody>
      </p:sp>
      <p:sp>
        <p:nvSpPr>
          <p:cNvPr id="16" name="object 16" descr=""/>
          <p:cNvSpPr/>
          <p:nvPr/>
        </p:nvSpPr>
        <p:spPr>
          <a:xfrm>
            <a:off x="5808726" y="2505075"/>
            <a:ext cx="0" cy="3587750"/>
          </a:xfrm>
          <a:custGeom>
            <a:avLst/>
            <a:gdLst/>
            <a:ahLst/>
            <a:cxnLst/>
            <a:rect l="l" t="t" r="r" b="b"/>
            <a:pathLst>
              <a:path w="0" h="3587750">
                <a:moveTo>
                  <a:pt x="0" y="0"/>
                </a:moveTo>
                <a:lnTo>
                  <a:pt x="0" y="3587750"/>
                </a:lnTo>
              </a:path>
            </a:pathLst>
          </a:custGeom>
          <a:ln w="9525">
            <a:solidFill>
              <a:srgbClr val="40458B"/>
            </a:solidFill>
          </a:ln>
        </p:spPr>
        <p:txBody>
          <a:bodyPr wrap="square" lIns="0" tIns="0" rIns="0" bIns="0" rtlCol="0"/>
          <a:lstStyle/>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sp>
        <p:nvSpPr>
          <p:cNvPr id="3" name="object 3"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4" name="object 4" descr=""/>
          <p:cNvSpPr txBox="1"/>
          <p:nvPr/>
        </p:nvSpPr>
        <p:spPr>
          <a:xfrm>
            <a:off x="2517394" y="1482039"/>
            <a:ext cx="5657850" cy="422909"/>
          </a:xfrm>
          <a:prstGeom prst="rect">
            <a:avLst/>
          </a:prstGeom>
        </p:spPr>
        <p:txBody>
          <a:bodyPr wrap="square" lIns="0" tIns="13335" rIns="0" bIns="0" rtlCol="0" vert="horz">
            <a:spAutoFit/>
          </a:bodyPr>
          <a:lstStyle/>
          <a:p>
            <a:pPr marL="12700">
              <a:lnSpc>
                <a:spcPct val="100000"/>
              </a:lnSpc>
              <a:spcBef>
                <a:spcPts val="105"/>
              </a:spcBef>
              <a:tabLst>
                <a:tab pos="5313680" algn="l"/>
              </a:tabLst>
            </a:pPr>
            <a:r>
              <a:rPr dirty="0" sz="2600" spc="-10">
                <a:latin typeface="微软雅黑"/>
                <a:cs typeface="微软雅黑"/>
              </a:rPr>
              <a:t>关于MIPS</a:t>
            </a:r>
            <a:r>
              <a:rPr dirty="0" sz="2600">
                <a:latin typeface="微软雅黑"/>
                <a:cs typeface="微软雅黑"/>
              </a:rPr>
              <a:t>指令系</a:t>
            </a:r>
            <a:r>
              <a:rPr dirty="0" sz="2600" spc="-25">
                <a:latin typeface="微软雅黑"/>
                <a:cs typeface="微软雅黑"/>
              </a:rPr>
              <a:t>统</a:t>
            </a:r>
            <a:r>
              <a:rPr dirty="0" sz="2600">
                <a:latin typeface="微软雅黑"/>
                <a:cs typeface="微软雅黑"/>
              </a:rPr>
              <a:t>说法</a:t>
            </a:r>
            <a:r>
              <a:rPr dirty="0" sz="2600" spc="-20">
                <a:latin typeface="微软雅黑"/>
                <a:cs typeface="微软雅黑"/>
              </a:rPr>
              <a:t>错</a:t>
            </a:r>
            <a:r>
              <a:rPr dirty="0" sz="2600">
                <a:latin typeface="微软雅黑"/>
                <a:cs typeface="微软雅黑"/>
              </a:rPr>
              <a:t>误的</a:t>
            </a:r>
            <a:r>
              <a:rPr dirty="0" sz="2600" spc="-20">
                <a:latin typeface="微软雅黑"/>
                <a:cs typeface="微软雅黑"/>
              </a:rPr>
              <a:t>是</a:t>
            </a:r>
            <a:r>
              <a:rPr dirty="0" sz="2600" spc="-50">
                <a:latin typeface="微软雅黑"/>
                <a:cs typeface="微软雅黑"/>
              </a:rPr>
              <a:t>（</a:t>
            </a:r>
            <a:r>
              <a:rPr dirty="0" sz="2600">
                <a:latin typeface="微软雅黑"/>
                <a:cs typeface="微软雅黑"/>
              </a:rPr>
              <a:t>	</a:t>
            </a:r>
            <a:r>
              <a:rPr dirty="0" sz="2600" spc="-50">
                <a:latin typeface="微软雅黑"/>
                <a:cs typeface="微软雅黑"/>
              </a:rPr>
              <a:t>）</a:t>
            </a:r>
            <a:endParaRPr sz="2600">
              <a:latin typeface="微软雅黑"/>
              <a:cs typeface="微软雅黑"/>
            </a:endParaRPr>
          </a:p>
        </p:txBody>
      </p:sp>
      <p:sp>
        <p:nvSpPr>
          <p:cNvPr id="5" name="object 5" descr=""/>
          <p:cNvSpPr txBox="1"/>
          <p:nvPr/>
        </p:nvSpPr>
        <p:spPr>
          <a:xfrm>
            <a:off x="3431794" y="2590038"/>
            <a:ext cx="3483610"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MIPS</a:t>
            </a:r>
            <a:r>
              <a:rPr dirty="0" sz="2600" spc="-15">
                <a:latin typeface="微软雅黑"/>
                <a:cs typeface="微软雅黑"/>
              </a:rPr>
              <a:t>属于精简指令系统</a:t>
            </a:r>
            <a:endParaRPr sz="2600">
              <a:latin typeface="微软雅黑"/>
              <a:cs typeface="微软雅黑"/>
            </a:endParaRPr>
          </a:p>
        </p:txBody>
      </p:sp>
      <p:sp>
        <p:nvSpPr>
          <p:cNvPr id="6" name="object 6" descr=""/>
          <p:cNvSpPr txBox="1"/>
          <p:nvPr/>
        </p:nvSpPr>
        <p:spPr>
          <a:xfrm>
            <a:off x="3431794" y="3447415"/>
            <a:ext cx="6128385" cy="422275"/>
          </a:xfrm>
          <a:prstGeom prst="rect">
            <a:avLst/>
          </a:prstGeom>
        </p:spPr>
        <p:txBody>
          <a:bodyPr wrap="square" lIns="0" tIns="13335" rIns="0" bIns="0" rtlCol="0" vert="horz">
            <a:spAutoFit/>
          </a:bodyPr>
          <a:lstStyle/>
          <a:p>
            <a:pPr marL="12700">
              <a:lnSpc>
                <a:spcPct val="100000"/>
              </a:lnSpc>
              <a:spcBef>
                <a:spcPts val="105"/>
              </a:spcBef>
            </a:pPr>
            <a:r>
              <a:rPr dirty="0" sz="2600" spc="-5">
                <a:latin typeface="微软雅黑"/>
                <a:cs typeface="微软雅黑"/>
              </a:rPr>
              <a:t>三种类型的</a:t>
            </a:r>
            <a:r>
              <a:rPr dirty="0" sz="2600" spc="-10">
                <a:latin typeface="微软雅黑"/>
                <a:cs typeface="微软雅黑"/>
              </a:rPr>
              <a:t>MIPS</a:t>
            </a:r>
            <a:r>
              <a:rPr dirty="0" sz="2600" spc="-20">
                <a:latin typeface="微软雅黑"/>
                <a:cs typeface="微软雅黑"/>
              </a:rPr>
              <a:t>指令操作码长度各不相同</a:t>
            </a:r>
            <a:endParaRPr sz="2600">
              <a:latin typeface="微软雅黑"/>
              <a:cs typeface="微软雅黑"/>
            </a:endParaRPr>
          </a:p>
        </p:txBody>
      </p:sp>
      <p:sp>
        <p:nvSpPr>
          <p:cNvPr id="7" name="object 7" descr=""/>
          <p:cNvSpPr txBox="1"/>
          <p:nvPr/>
        </p:nvSpPr>
        <p:spPr>
          <a:xfrm>
            <a:off x="3431794" y="4304487"/>
            <a:ext cx="2823845" cy="422909"/>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MIPS</a:t>
            </a:r>
            <a:r>
              <a:rPr dirty="0" sz="2600" spc="-20">
                <a:latin typeface="微软雅黑"/>
                <a:cs typeface="微软雅黑"/>
              </a:rPr>
              <a:t>指令长度固定</a:t>
            </a:r>
            <a:endParaRPr sz="2600">
              <a:latin typeface="微软雅黑"/>
              <a:cs typeface="微软雅黑"/>
            </a:endParaRPr>
          </a:p>
        </p:txBody>
      </p:sp>
      <p:sp>
        <p:nvSpPr>
          <p:cNvPr id="8" name="object 8" descr=""/>
          <p:cNvSpPr txBox="1"/>
          <p:nvPr/>
        </p:nvSpPr>
        <p:spPr>
          <a:xfrm>
            <a:off x="3431794" y="5161864"/>
            <a:ext cx="5466080" cy="422909"/>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MIPS</a:t>
            </a:r>
            <a:r>
              <a:rPr dirty="0" sz="2600" spc="-25">
                <a:latin typeface="微软雅黑"/>
                <a:cs typeface="微软雅黑"/>
              </a:rPr>
              <a:t>指令的寻址方式蕴含在操作码中</a:t>
            </a:r>
            <a:endParaRPr sz="2600">
              <a:latin typeface="微软雅黑"/>
              <a:cs typeface="微软雅黑"/>
            </a:endParaRPr>
          </a:p>
        </p:txBody>
      </p:sp>
      <p:grpSp>
        <p:nvGrpSpPr>
          <p:cNvPr id="9" name="object 9" descr=""/>
          <p:cNvGrpSpPr/>
          <p:nvPr/>
        </p:nvGrpSpPr>
        <p:grpSpPr>
          <a:xfrm>
            <a:off x="2632075" y="2551176"/>
            <a:ext cx="527050" cy="527050"/>
            <a:chOff x="2632075" y="2551176"/>
            <a:chExt cx="527050" cy="527050"/>
          </a:xfrm>
        </p:grpSpPr>
        <p:sp>
          <p:nvSpPr>
            <p:cNvPr id="10" name="object 10" descr=""/>
            <p:cNvSpPr/>
            <p:nvPr/>
          </p:nvSpPr>
          <p:spPr>
            <a:xfrm>
              <a:off x="2638425" y="25575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1" name="object 11" descr=""/>
            <p:cNvSpPr/>
            <p:nvPr/>
          </p:nvSpPr>
          <p:spPr>
            <a:xfrm>
              <a:off x="2638425" y="25575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2" name="object 12" descr=""/>
          <p:cNvSpPr txBox="1"/>
          <p:nvPr/>
        </p:nvSpPr>
        <p:spPr>
          <a:xfrm>
            <a:off x="2811907" y="2673223"/>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3" name="object 13" descr=""/>
          <p:cNvGrpSpPr/>
          <p:nvPr/>
        </p:nvGrpSpPr>
        <p:grpSpPr>
          <a:xfrm>
            <a:off x="2625725" y="3401948"/>
            <a:ext cx="539750" cy="539750"/>
            <a:chOff x="2625725" y="3401948"/>
            <a:chExt cx="539750" cy="539750"/>
          </a:xfrm>
        </p:grpSpPr>
        <p:sp>
          <p:nvSpPr>
            <p:cNvPr id="14" name="object 14" descr=""/>
            <p:cNvSpPr/>
            <p:nvPr/>
          </p:nvSpPr>
          <p:spPr>
            <a:xfrm>
              <a:off x="2638425" y="3414648"/>
              <a:ext cx="514350" cy="514350"/>
            </a:xfrm>
            <a:custGeom>
              <a:avLst/>
              <a:gdLst/>
              <a:ahLst/>
              <a:cxnLst/>
              <a:rect l="l" t="t" r="r" b="b"/>
              <a:pathLst>
                <a:path w="514350" h="514350">
                  <a:moveTo>
                    <a:pt x="257175" y="0"/>
                  </a:moveTo>
                  <a:lnTo>
                    <a:pt x="210960" y="4145"/>
                  </a:lnTo>
                  <a:lnTo>
                    <a:pt x="167457" y="16095"/>
                  </a:lnTo>
                  <a:lnTo>
                    <a:pt x="127395" y="35122"/>
                  </a:lnTo>
                  <a:lnTo>
                    <a:pt x="91500" y="60500"/>
                  </a:lnTo>
                  <a:lnTo>
                    <a:pt x="60500" y="91500"/>
                  </a:lnTo>
                  <a:lnTo>
                    <a:pt x="35122" y="127395"/>
                  </a:lnTo>
                  <a:lnTo>
                    <a:pt x="16095" y="167457"/>
                  </a:lnTo>
                  <a:lnTo>
                    <a:pt x="4145" y="210960"/>
                  </a:lnTo>
                  <a:lnTo>
                    <a:pt x="0" y="257175"/>
                  </a:lnTo>
                  <a:lnTo>
                    <a:pt x="4145" y="303423"/>
                  </a:lnTo>
                  <a:lnTo>
                    <a:pt x="16095" y="346943"/>
                  </a:lnTo>
                  <a:lnTo>
                    <a:pt x="35122" y="387011"/>
                  </a:lnTo>
                  <a:lnTo>
                    <a:pt x="60500" y="422902"/>
                  </a:lnTo>
                  <a:lnTo>
                    <a:pt x="91500" y="453891"/>
                  </a:lnTo>
                  <a:lnTo>
                    <a:pt x="127395" y="479255"/>
                  </a:lnTo>
                  <a:lnTo>
                    <a:pt x="167457" y="498269"/>
                  </a:lnTo>
                  <a:lnTo>
                    <a:pt x="210960" y="510209"/>
                  </a:lnTo>
                  <a:lnTo>
                    <a:pt x="257175" y="514350"/>
                  </a:lnTo>
                  <a:lnTo>
                    <a:pt x="303389" y="510209"/>
                  </a:lnTo>
                  <a:lnTo>
                    <a:pt x="346892" y="498269"/>
                  </a:lnTo>
                  <a:lnTo>
                    <a:pt x="386954" y="479255"/>
                  </a:lnTo>
                  <a:lnTo>
                    <a:pt x="422849" y="453891"/>
                  </a:lnTo>
                  <a:lnTo>
                    <a:pt x="453849" y="422902"/>
                  </a:lnTo>
                  <a:lnTo>
                    <a:pt x="479227" y="387011"/>
                  </a:lnTo>
                  <a:lnTo>
                    <a:pt x="498254" y="346943"/>
                  </a:lnTo>
                  <a:lnTo>
                    <a:pt x="510204" y="303423"/>
                  </a:lnTo>
                  <a:lnTo>
                    <a:pt x="514350" y="257175"/>
                  </a:lnTo>
                  <a:lnTo>
                    <a:pt x="510204" y="210960"/>
                  </a:lnTo>
                  <a:lnTo>
                    <a:pt x="498254" y="167457"/>
                  </a:lnTo>
                  <a:lnTo>
                    <a:pt x="479227" y="127395"/>
                  </a:lnTo>
                  <a:lnTo>
                    <a:pt x="453849" y="91500"/>
                  </a:lnTo>
                  <a:lnTo>
                    <a:pt x="422849" y="60500"/>
                  </a:lnTo>
                  <a:lnTo>
                    <a:pt x="386954" y="35122"/>
                  </a:lnTo>
                  <a:lnTo>
                    <a:pt x="346892" y="16095"/>
                  </a:lnTo>
                  <a:lnTo>
                    <a:pt x="303389" y="4145"/>
                  </a:lnTo>
                  <a:lnTo>
                    <a:pt x="257175" y="0"/>
                  </a:lnTo>
                  <a:close/>
                </a:path>
              </a:pathLst>
            </a:custGeom>
            <a:solidFill>
              <a:srgbClr val="00FF00"/>
            </a:solidFill>
          </p:spPr>
          <p:txBody>
            <a:bodyPr wrap="square" lIns="0" tIns="0" rIns="0" bIns="0" rtlCol="0"/>
            <a:lstStyle/>
            <a:p/>
          </p:txBody>
        </p:sp>
        <p:sp>
          <p:nvSpPr>
            <p:cNvPr id="15" name="object 15" descr=""/>
            <p:cNvSpPr/>
            <p:nvPr/>
          </p:nvSpPr>
          <p:spPr>
            <a:xfrm>
              <a:off x="2638425" y="3414648"/>
              <a:ext cx="514350" cy="514350"/>
            </a:xfrm>
            <a:custGeom>
              <a:avLst/>
              <a:gdLst/>
              <a:ahLst/>
              <a:cxnLst/>
              <a:rect l="l" t="t" r="r" b="b"/>
              <a:pathLst>
                <a:path w="514350" h="514350">
                  <a:moveTo>
                    <a:pt x="0" y="257175"/>
                  </a:moveTo>
                  <a:lnTo>
                    <a:pt x="4145" y="210960"/>
                  </a:lnTo>
                  <a:lnTo>
                    <a:pt x="16095" y="167457"/>
                  </a:lnTo>
                  <a:lnTo>
                    <a:pt x="35122" y="127395"/>
                  </a:lnTo>
                  <a:lnTo>
                    <a:pt x="60500" y="91500"/>
                  </a:lnTo>
                  <a:lnTo>
                    <a:pt x="91500" y="60500"/>
                  </a:lnTo>
                  <a:lnTo>
                    <a:pt x="127395" y="35122"/>
                  </a:lnTo>
                  <a:lnTo>
                    <a:pt x="167457" y="16095"/>
                  </a:lnTo>
                  <a:lnTo>
                    <a:pt x="210960" y="4145"/>
                  </a:lnTo>
                  <a:lnTo>
                    <a:pt x="257175" y="0"/>
                  </a:lnTo>
                  <a:lnTo>
                    <a:pt x="303389" y="4145"/>
                  </a:lnTo>
                  <a:lnTo>
                    <a:pt x="346892" y="16095"/>
                  </a:lnTo>
                  <a:lnTo>
                    <a:pt x="386954" y="35122"/>
                  </a:lnTo>
                  <a:lnTo>
                    <a:pt x="422849" y="60500"/>
                  </a:lnTo>
                  <a:lnTo>
                    <a:pt x="453849" y="91500"/>
                  </a:lnTo>
                  <a:lnTo>
                    <a:pt x="479227" y="127395"/>
                  </a:lnTo>
                  <a:lnTo>
                    <a:pt x="498254" y="167457"/>
                  </a:lnTo>
                  <a:lnTo>
                    <a:pt x="510204" y="210960"/>
                  </a:lnTo>
                  <a:lnTo>
                    <a:pt x="514350" y="257175"/>
                  </a:lnTo>
                  <a:lnTo>
                    <a:pt x="510204" y="303423"/>
                  </a:lnTo>
                  <a:lnTo>
                    <a:pt x="498254" y="346943"/>
                  </a:lnTo>
                  <a:lnTo>
                    <a:pt x="479227" y="387011"/>
                  </a:lnTo>
                  <a:lnTo>
                    <a:pt x="453849" y="422902"/>
                  </a:lnTo>
                  <a:lnTo>
                    <a:pt x="422849" y="453891"/>
                  </a:lnTo>
                  <a:lnTo>
                    <a:pt x="386954" y="479255"/>
                  </a:lnTo>
                  <a:lnTo>
                    <a:pt x="346892" y="498269"/>
                  </a:lnTo>
                  <a:lnTo>
                    <a:pt x="303389" y="510209"/>
                  </a:lnTo>
                  <a:lnTo>
                    <a:pt x="257175" y="514350"/>
                  </a:lnTo>
                  <a:lnTo>
                    <a:pt x="210960" y="510209"/>
                  </a:lnTo>
                  <a:lnTo>
                    <a:pt x="167457" y="498269"/>
                  </a:lnTo>
                  <a:lnTo>
                    <a:pt x="127395" y="479255"/>
                  </a:lnTo>
                  <a:lnTo>
                    <a:pt x="91500" y="453891"/>
                  </a:lnTo>
                  <a:lnTo>
                    <a:pt x="60500" y="422902"/>
                  </a:lnTo>
                  <a:lnTo>
                    <a:pt x="35122" y="387011"/>
                  </a:lnTo>
                  <a:lnTo>
                    <a:pt x="16095" y="346943"/>
                  </a:lnTo>
                  <a:lnTo>
                    <a:pt x="4145" y="303423"/>
                  </a:lnTo>
                  <a:lnTo>
                    <a:pt x="0" y="257175"/>
                  </a:lnTo>
                  <a:close/>
                </a:path>
              </a:pathLst>
            </a:custGeom>
            <a:ln w="25400">
              <a:solidFill>
                <a:srgbClr val="000000"/>
              </a:solidFill>
            </a:ln>
          </p:spPr>
          <p:txBody>
            <a:bodyPr wrap="square" lIns="0" tIns="0" rIns="0" bIns="0" rtlCol="0"/>
            <a:lstStyle/>
            <a:p/>
          </p:txBody>
        </p:sp>
      </p:grpSp>
      <p:sp>
        <p:nvSpPr>
          <p:cNvPr id="16" name="object 16" descr=""/>
          <p:cNvSpPr txBox="1"/>
          <p:nvPr/>
        </p:nvSpPr>
        <p:spPr>
          <a:xfrm>
            <a:off x="2819780" y="3530600"/>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grpSp>
        <p:nvGrpSpPr>
          <p:cNvPr id="17" name="object 17" descr=""/>
          <p:cNvGrpSpPr/>
          <p:nvPr/>
        </p:nvGrpSpPr>
        <p:grpSpPr>
          <a:xfrm>
            <a:off x="2632075" y="4265548"/>
            <a:ext cx="527050" cy="527050"/>
            <a:chOff x="2632075" y="4265548"/>
            <a:chExt cx="527050" cy="527050"/>
          </a:xfrm>
        </p:grpSpPr>
        <p:sp>
          <p:nvSpPr>
            <p:cNvPr id="18" name="object 18" descr=""/>
            <p:cNvSpPr/>
            <p:nvPr/>
          </p:nvSpPr>
          <p:spPr>
            <a:xfrm>
              <a:off x="2638425" y="4271898"/>
              <a:ext cx="514350" cy="514350"/>
            </a:xfrm>
            <a:custGeom>
              <a:avLst/>
              <a:gdLst/>
              <a:ahLst/>
              <a:cxnLst/>
              <a:rect l="l" t="t" r="r" b="b"/>
              <a:pathLst>
                <a:path w="514350" h="514350">
                  <a:moveTo>
                    <a:pt x="257175" y="0"/>
                  </a:moveTo>
                  <a:lnTo>
                    <a:pt x="210960" y="4145"/>
                  </a:lnTo>
                  <a:lnTo>
                    <a:pt x="167457" y="16095"/>
                  </a:lnTo>
                  <a:lnTo>
                    <a:pt x="127395" y="35122"/>
                  </a:lnTo>
                  <a:lnTo>
                    <a:pt x="91500" y="60500"/>
                  </a:lnTo>
                  <a:lnTo>
                    <a:pt x="60500" y="91500"/>
                  </a:lnTo>
                  <a:lnTo>
                    <a:pt x="35122" y="127395"/>
                  </a:lnTo>
                  <a:lnTo>
                    <a:pt x="16095" y="167457"/>
                  </a:lnTo>
                  <a:lnTo>
                    <a:pt x="4145" y="210960"/>
                  </a:lnTo>
                  <a:lnTo>
                    <a:pt x="0" y="257175"/>
                  </a:lnTo>
                  <a:lnTo>
                    <a:pt x="4145" y="303423"/>
                  </a:lnTo>
                  <a:lnTo>
                    <a:pt x="16095" y="346943"/>
                  </a:lnTo>
                  <a:lnTo>
                    <a:pt x="35122" y="387011"/>
                  </a:lnTo>
                  <a:lnTo>
                    <a:pt x="60500" y="422902"/>
                  </a:lnTo>
                  <a:lnTo>
                    <a:pt x="91500" y="453891"/>
                  </a:lnTo>
                  <a:lnTo>
                    <a:pt x="127395" y="479255"/>
                  </a:lnTo>
                  <a:lnTo>
                    <a:pt x="167457" y="498269"/>
                  </a:lnTo>
                  <a:lnTo>
                    <a:pt x="210960" y="510209"/>
                  </a:lnTo>
                  <a:lnTo>
                    <a:pt x="257175" y="514350"/>
                  </a:lnTo>
                  <a:lnTo>
                    <a:pt x="303389" y="510209"/>
                  </a:lnTo>
                  <a:lnTo>
                    <a:pt x="346892" y="498269"/>
                  </a:lnTo>
                  <a:lnTo>
                    <a:pt x="386954" y="479255"/>
                  </a:lnTo>
                  <a:lnTo>
                    <a:pt x="422849" y="453891"/>
                  </a:lnTo>
                  <a:lnTo>
                    <a:pt x="453849" y="422902"/>
                  </a:lnTo>
                  <a:lnTo>
                    <a:pt x="479227" y="387011"/>
                  </a:lnTo>
                  <a:lnTo>
                    <a:pt x="498254" y="346943"/>
                  </a:lnTo>
                  <a:lnTo>
                    <a:pt x="510204" y="303423"/>
                  </a:lnTo>
                  <a:lnTo>
                    <a:pt x="514350" y="257175"/>
                  </a:lnTo>
                  <a:lnTo>
                    <a:pt x="510204" y="210960"/>
                  </a:lnTo>
                  <a:lnTo>
                    <a:pt x="498254" y="167457"/>
                  </a:lnTo>
                  <a:lnTo>
                    <a:pt x="479227" y="127395"/>
                  </a:lnTo>
                  <a:lnTo>
                    <a:pt x="453849" y="91500"/>
                  </a:lnTo>
                  <a:lnTo>
                    <a:pt x="422849" y="60500"/>
                  </a:lnTo>
                  <a:lnTo>
                    <a:pt x="386954" y="35122"/>
                  </a:lnTo>
                  <a:lnTo>
                    <a:pt x="346892" y="16095"/>
                  </a:lnTo>
                  <a:lnTo>
                    <a:pt x="303389" y="4145"/>
                  </a:lnTo>
                  <a:lnTo>
                    <a:pt x="257175" y="0"/>
                  </a:lnTo>
                  <a:close/>
                </a:path>
              </a:pathLst>
            </a:custGeom>
            <a:solidFill>
              <a:srgbClr val="808080"/>
            </a:solidFill>
          </p:spPr>
          <p:txBody>
            <a:bodyPr wrap="square" lIns="0" tIns="0" rIns="0" bIns="0" rtlCol="0"/>
            <a:lstStyle/>
            <a:p/>
          </p:txBody>
        </p:sp>
        <p:sp>
          <p:nvSpPr>
            <p:cNvPr id="19" name="object 19" descr=""/>
            <p:cNvSpPr/>
            <p:nvPr/>
          </p:nvSpPr>
          <p:spPr>
            <a:xfrm>
              <a:off x="2638425" y="4271898"/>
              <a:ext cx="514350" cy="514350"/>
            </a:xfrm>
            <a:custGeom>
              <a:avLst/>
              <a:gdLst/>
              <a:ahLst/>
              <a:cxnLst/>
              <a:rect l="l" t="t" r="r" b="b"/>
              <a:pathLst>
                <a:path w="514350" h="514350">
                  <a:moveTo>
                    <a:pt x="0" y="257175"/>
                  </a:moveTo>
                  <a:lnTo>
                    <a:pt x="4145" y="210960"/>
                  </a:lnTo>
                  <a:lnTo>
                    <a:pt x="16095" y="167457"/>
                  </a:lnTo>
                  <a:lnTo>
                    <a:pt x="35122" y="127395"/>
                  </a:lnTo>
                  <a:lnTo>
                    <a:pt x="60500" y="91500"/>
                  </a:lnTo>
                  <a:lnTo>
                    <a:pt x="91500" y="60500"/>
                  </a:lnTo>
                  <a:lnTo>
                    <a:pt x="127395" y="35122"/>
                  </a:lnTo>
                  <a:lnTo>
                    <a:pt x="167457" y="16095"/>
                  </a:lnTo>
                  <a:lnTo>
                    <a:pt x="210960" y="4145"/>
                  </a:lnTo>
                  <a:lnTo>
                    <a:pt x="257175" y="0"/>
                  </a:lnTo>
                  <a:lnTo>
                    <a:pt x="303389" y="4145"/>
                  </a:lnTo>
                  <a:lnTo>
                    <a:pt x="346892" y="16095"/>
                  </a:lnTo>
                  <a:lnTo>
                    <a:pt x="386954" y="35122"/>
                  </a:lnTo>
                  <a:lnTo>
                    <a:pt x="422849" y="60500"/>
                  </a:lnTo>
                  <a:lnTo>
                    <a:pt x="453849" y="91500"/>
                  </a:lnTo>
                  <a:lnTo>
                    <a:pt x="479227" y="127395"/>
                  </a:lnTo>
                  <a:lnTo>
                    <a:pt x="498254" y="167457"/>
                  </a:lnTo>
                  <a:lnTo>
                    <a:pt x="510204" y="210960"/>
                  </a:lnTo>
                  <a:lnTo>
                    <a:pt x="514350" y="257175"/>
                  </a:lnTo>
                  <a:lnTo>
                    <a:pt x="510204" y="303423"/>
                  </a:lnTo>
                  <a:lnTo>
                    <a:pt x="498254" y="346943"/>
                  </a:lnTo>
                  <a:lnTo>
                    <a:pt x="479227" y="387011"/>
                  </a:lnTo>
                  <a:lnTo>
                    <a:pt x="453849" y="422902"/>
                  </a:lnTo>
                  <a:lnTo>
                    <a:pt x="422849" y="453891"/>
                  </a:lnTo>
                  <a:lnTo>
                    <a:pt x="386954" y="479255"/>
                  </a:lnTo>
                  <a:lnTo>
                    <a:pt x="346892" y="498269"/>
                  </a:lnTo>
                  <a:lnTo>
                    <a:pt x="303389" y="510209"/>
                  </a:lnTo>
                  <a:lnTo>
                    <a:pt x="257175" y="514350"/>
                  </a:lnTo>
                  <a:lnTo>
                    <a:pt x="210960" y="510209"/>
                  </a:lnTo>
                  <a:lnTo>
                    <a:pt x="167457" y="498269"/>
                  </a:lnTo>
                  <a:lnTo>
                    <a:pt x="127395" y="479255"/>
                  </a:lnTo>
                  <a:lnTo>
                    <a:pt x="91500" y="453891"/>
                  </a:lnTo>
                  <a:lnTo>
                    <a:pt x="60500" y="422902"/>
                  </a:lnTo>
                  <a:lnTo>
                    <a:pt x="35122" y="387011"/>
                  </a:lnTo>
                  <a:lnTo>
                    <a:pt x="16095" y="346943"/>
                  </a:lnTo>
                  <a:lnTo>
                    <a:pt x="4145" y="303423"/>
                  </a:lnTo>
                  <a:lnTo>
                    <a:pt x="0" y="257175"/>
                  </a:lnTo>
                  <a:close/>
                </a:path>
              </a:pathLst>
            </a:custGeom>
            <a:ln w="12700">
              <a:solidFill>
                <a:srgbClr val="000000"/>
              </a:solidFill>
            </a:ln>
          </p:spPr>
          <p:txBody>
            <a:bodyPr wrap="square" lIns="0" tIns="0" rIns="0" bIns="0" rtlCol="0"/>
            <a:lstStyle/>
            <a:p/>
          </p:txBody>
        </p:sp>
      </p:grpSp>
      <p:sp>
        <p:nvSpPr>
          <p:cNvPr id="20" name="object 20" descr=""/>
          <p:cNvSpPr txBox="1"/>
          <p:nvPr/>
        </p:nvSpPr>
        <p:spPr>
          <a:xfrm>
            <a:off x="2814954" y="4387977"/>
            <a:ext cx="16129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C</a:t>
            </a:r>
            <a:endParaRPr sz="1600">
              <a:latin typeface="微软雅黑"/>
              <a:cs typeface="微软雅黑"/>
            </a:endParaRPr>
          </a:p>
        </p:txBody>
      </p:sp>
      <p:grpSp>
        <p:nvGrpSpPr>
          <p:cNvPr id="21" name="object 21" descr=""/>
          <p:cNvGrpSpPr/>
          <p:nvPr/>
        </p:nvGrpSpPr>
        <p:grpSpPr>
          <a:xfrm>
            <a:off x="2632075" y="5122798"/>
            <a:ext cx="527050" cy="527685"/>
            <a:chOff x="2632075" y="5122798"/>
            <a:chExt cx="527050" cy="527685"/>
          </a:xfrm>
        </p:grpSpPr>
        <p:sp>
          <p:nvSpPr>
            <p:cNvPr id="22" name="object 22" descr=""/>
            <p:cNvSpPr/>
            <p:nvPr/>
          </p:nvSpPr>
          <p:spPr>
            <a:xfrm>
              <a:off x="2638425" y="5129148"/>
              <a:ext cx="514350" cy="514984"/>
            </a:xfrm>
            <a:custGeom>
              <a:avLst/>
              <a:gdLst/>
              <a:ahLst/>
              <a:cxnLst/>
              <a:rect l="l" t="t" r="r" b="b"/>
              <a:pathLst>
                <a:path w="514350" h="514985">
                  <a:moveTo>
                    <a:pt x="257175" y="0"/>
                  </a:moveTo>
                  <a:lnTo>
                    <a:pt x="210960" y="4145"/>
                  </a:lnTo>
                  <a:lnTo>
                    <a:pt x="167457" y="16096"/>
                  </a:lnTo>
                  <a:lnTo>
                    <a:pt x="127395" y="35127"/>
                  </a:lnTo>
                  <a:lnTo>
                    <a:pt x="91500" y="60511"/>
                  </a:lnTo>
                  <a:lnTo>
                    <a:pt x="60500" y="91521"/>
                  </a:lnTo>
                  <a:lnTo>
                    <a:pt x="35122" y="127432"/>
                  </a:lnTo>
                  <a:lnTo>
                    <a:pt x="16095" y="167517"/>
                  </a:lnTo>
                  <a:lnTo>
                    <a:pt x="4145" y="211049"/>
                  </a:lnTo>
                  <a:lnTo>
                    <a:pt x="0" y="257301"/>
                  </a:lnTo>
                  <a:lnTo>
                    <a:pt x="4145" y="303514"/>
                  </a:lnTo>
                  <a:lnTo>
                    <a:pt x="16095" y="347011"/>
                  </a:lnTo>
                  <a:lnTo>
                    <a:pt x="35122" y="387065"/>
                  </a:lnTo>
                  <a:lnTo>
                    <a:pt x="60500" y="422950"/>
                  </a:lnTo>
                  <a:lnTo>
                    <a:pt x="91500" y="453939"/>
                  </a:lnTo>
                  <a:lnTo>
                    <a:pt x="127395" y="479307"/>
                  </a:lnTo>
                  <a:lnTo>
                    <a:pt x="167457" y="498326"/>
                  </a:lnTo>
                  <a:lnTo>
                    <a:pt x="210960" y="510270"/>
                  </a:lnTo>
                  <a:lnTo>
                    <a:pt x="257175" y="514413"/>
                  </a:lnTo>
                  <a:lnTo>
                    <a:pt x="303389" y="510270"/>
                  </a:lnTo>
                  <a:lnTo>
                    <a:pt x="346892" y="498326"/>
                  </a:lnTo>
                  <a:lnTo>
                    <a:pt x="386954" y="479307"/>
                  </a:lnTo>
                  <a:lnTo>
                    <a:pt x="422849" y="453939"/>
                  </a:lnTo>
                  <a:lnTo>
                    <a:pt x="453849" y="422950"/>
                  </a:lnTo>
                  <a:lnTo>
                    <a:pt x="479227" y="387065"/>
                  </a:lnTo>
                  <a:lnTo>
                    <a:pt x="498254" y="347011"/>
                  </a:lnTo>
                  <a:lnTo>
                    <a:pt x="510204" y="303514"/>
                  </a:lnTo>
                  <a:lnTo>
                    <a:pt x="514350" y="257301"/>
                  </a:lnTo>
                  <a:lnTo>
                    <a:pt x="510204" y="211049"/>
                  </a:lnTo>
                  <a:lnTo>
                    <a:pt x="498254" y="167517"/>
                  </a:lnTo>
                  <a:lnTo>
                    <a:pt x="479227" y="127432"/>
                  </a:lnTo>
                  <a:lnTo>
                    <a:pt x="453849" y="91521"/>
                  </a:lnTo>
                  <a:lnTo>
                    <a:pt x="422849" y="60511"/>
                  </a:lnTo>
                  <a:lnTo>
                    <a:pt x="386954" y="35127"/>
                  </a:lnTo>
                  <a:lnTo>
                    <a:pt x="346892" y="16096"/>
                  </a:lnTo>
                  <a:lnTo>
                    <a:pt x="303389" y="4145"/>
                  </a:lnTo>
                  <a:lnTo>
                    <a:pt x="257175" y="0"/>
                  </a:lnTo>
                  <a:close/>
                </a:path>
              </a:pathLst>
            </a:custGeom>
            <a:solidFill>
              <a:srgbClr val="808080"/>
            </a:solidFill>
          </p:spPr>
          <p:txBody>
            <a:bodyPr wrap="square" lIns="0" tIns="0" rIns="0" bIns="0" rtlCol="0"/>
            <a:lstStyle/>
            <a:p/>
          </p:txBody>
        </p:sp>
        <p:sp>
          <p:nvSpPr>
            <p:cNvPr id="23" name="object 23" descr=""/>
            <p:cNvSpPr/>
            <p:nvPr/>
          </p:nvSpPr>
          <p:spPr>
            <a:xfrm>
              <a:off x="2638425" y="5129148"/>
              <a:ext cx="514350" cy="514984"/>
            </a:xfrm>
            <a:custGeom>
              <a:avLst/>
              <a:gdLst/>
              <a:ahLst/>
              <a:cxnLst/>
              <a:rect l="l" t="t" r="r" b="b"/>
              <a:pathLst>
                <a:path w="514350" h="514985">
                  <a:moveTo>
                    <a:pt x="0" y="257301"/>
                  </a:moveTo>
                  <a:lnTo>
                    <a:pt x="4145" y="211049"/>
                  </a:lnTo>
                  <a:lnTo>
                    <a:pt x="16095" y="167517"/>
                  </a:lnTo>
                  <a:lnTo>
                    <a:pt x="35122" y="127432"/>
                  </a:lnTo>
                  <a:lnTo>
                    <a:pt x="60500" y="91521"/>
                  </a:lnTo>
                  <a:lnTo>
                    <a:pt x="91500" y="60511"/>
                  </a:lnTo>
                  <a:lnTo>
                    <a:pt x="127395" y="35127"/>
                  </a:lnTo>
                  <a:lnTo>
                    <a:pt x="167457" y="16096"/>
                  </a:lnTo>
                  <a:lnTo>
                    <a:pt x="210960" y="4145"/>
                  </a:lnTo>
                  <a:lnTo>
                    <a:pt x="257175" y="0"/>
                  </a:lnTo>
                  <a:lnTo>
                    <a:pt x="303389" y="4145"/>
                  </a:lnTo>
                  <a:lnTo>
                    <a:pt x="346892" y="16096"/>
                  </a:lnTo>
                  <a:lnTo>
                    <a:pt x="386954" y="35127"/>
                  </a:lnTo>
                  <a:lnTo>
                    <a:pt x="422849" y="60511"/>
                  </a:lnTo>
                  <a:lnTo>
                    <a:pt x="453849" y="91521"/>
                  </a:lnTo>
                  <a:lnTo>
                    <a:pt x="479227" y="127432"/>
                  </a:lnTo>
                  <a:lnTo>
                    <a:pt x="498254" y="167517"/>
                  </a:lnTo>
                  <a:lnTo>
                    <a:pt x="510204" y="211049"/>
                  </a:lnTo>
                  <a:lnTo>
                    <a:pt x="514350" y="257301"/>
                  </a:lnTo>
                  <a:lnTo>
                    <a:pt x="510204" y="303514"/>
                  </a:lnTo>
                  <a:lnTo>
                    <a:pt x="498254" y="347011"/>
                  </a:lnTo>
                  <a:lnTo>
                    <a:pt x="479227" y="387065"/>
                  </a:lnTo>
                  <a:lnTo>
                    <a:pt x="453849" y="422950"/>
                  </a:lnTo>
                  <a:lnTo>
                    <a:pt x="422849" y="453939"/>
                  </a:lnTo>
                  <a:lnTo>
                    <a:pt x="386954" y="479307"/>
                  </a:lnTo>
                  <a:lnTo>
                    <a:pt x="346892" y="498326"/>
                  </a:lnTo>
                  <a:lnTo>
                    <a:pt x="303389" y="510270"/>
                  </a:lnTo>
                  <a:lnTo>
                    <a:pt x="257175" y="514413"/>
                  </a:lnTo>
                  <a:lnTo>
                    <a:pt x="210960" y="510270"/>
                  </a:lnTo>
                  <a:lnTo>
                    <a:pt x="167457" y="498326"/>
                  </a:lnTo>
                  <a:lnTo>
                    <a:pt x="127395" y="479307"/>
                  </a:lnTo>
                  <a:lnTo>
                    <a:pt x="91500" y="453939"/>
                  </a:lnTo>
                  <a:lnTo>
                    <a:pt x="60500" y="422950"/>
                  </a:lnTo>
                  <a:lnTo>
                    <a:pt x="35122" y="387065"/>
                  </a:lnTo>
                  <a:lnTo>
                    <a:pt x="16095" y="347011"/>
                  </a:lnTo>
                  <a:lnTo>
                    <a:pt x="4145" y="303514"/>
                  </a:lnTo>
                  <a:lnTo>
                    <a:pt x="0" y="257301"/>
                  </a:lnTo>
                  <a:close/>
                </a:path>
              </a:pathLst>
            </a:custGeom>
            <a:ln w="12700">
              <a:solidFill>
                <a:srgbClr val="000000"/>
              </a:solidFill>
            </a:ln>
          </p:spPr>
          <p:txBody>
            <a:bodyPr wrap="square" lIns="0" tIns="0" rIns="0" bIns="0" rtlCol="0"/>
            <a:lstStyle/>
            <a:p/>
          </p:txBody>
        </p:sp>
      </p:grpSp>
      <p:sp>
        <p:nvSpPr>
          <p:cNvPr id="24" name="object 24" descr=""/>
          <p:cNvSpPr txBox="1"/>
          <p:nvPr/>
        </p:nvSpPr>
        <p:spPr>
          <a:xfrm>
            <a:off x="2805429" y="5245353"/>
            <a:ext cx="18034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D</a:t>
            </a:r>
            <a:endParaRPr sz="1600">
              <a:latin typeface="微软雅黑"/>
              <a:cs typeface="微软雅黑"/>
            </a:endParaRPr>
          </a:p>
        </p:txBody>
      </p:sp>
      <p:grpSp>
        <p:nvGrpSpPr>
          <p:cNvPr id="25" name="object 25" descr=""/>
          <p:cNvGrpSpPr/>
          <p:nvPr/>
        </p:nvGrpSpPr>
        <p:grpSpPr>
          <a:xfrm>
            <a:off x="7677150" y="5902325"/>
            <a:ext cx="1581150" cy="450850"/>
            <a:chOff x="7677150" y="5902325"/>
            <a:chExt cx="1581150" cy="450850"/>
          </a:xfrm>
        </p:grpSpPr>
        <p:sp>
          <p:nvSpPr>
            <p:cNvPr id="26" name="object 26" descr=""/>
            <p:cNvSpPr/>
            <p:nvPr/>
          </p:nvSpPr>
          <p:spPr>
            <a:xfrm>
              <a:off x="7696200" y="5921375"/>
              <a:ext cx="1543050" cy="412750"/>
            </a:xfrm>
            <a:custGeom>
              <a:avLst/>
              <a:gdLst/>
              <a:ahLst/>
              <a:cxnLst/>
              <a:rect l="l" t="t" r="r" b="b"/>
              <a:pathLst>
                <a:path w="1543050" h="412750">
                  <a:moveTo>
                    <a:pt x="1474216" y="0"/>
                  </a:moveTo>
                  <a:lnTo>
                    <a:pt x="68833" y="0"/>
                  </a:lnTo>
                  <a:lnTo>
                    <a:pt x="42058" y="5405"/>
                  </a:lnTo>
                  <a:lnTo>
                    <a:pt x="20177" y="20148"/>
                  </a:lnTo>
                  <a:lnTo>
                    <a:pt x="5415" y="42015"/>
                  </a:lnTo>
                  <a:lnTo>
                    <a:pt x="0" y="68795"/>
                  </a:lnTo>
                  <a:lnTo>
                    <a:pt x="0" y="343954"/>
                  </a:lnTo>
                  <a:lnTo>
                    <a:pt x="5415" y="370734"/>
                  </a:lnTo>
                  <a:lnTo>
                    <a:pt x="20177" y="392601"/>
                  </a:lnTo>
                  <a:lnTo>
                    <a:pt x="42058" y="407344"/>
                  </a:lnTo>
                  <a:lnTo>
                    <a:pt x="68833" y="412750"/>
                  </a:lnTo>
                  <a:lnTo>
                    <a:pt x="1474216" y="412750"/>
                  </a:lnTo>
                  <a:lnTo>
                    <a:pt x="1500991" y="407344"/>
                  </a:lnTo>
                  <a:lnTo>
                    <a:pt x="1522872" y="392601"/>
                  </a:lnTo>
                  <a:lnTo>
                    <a:pt x="1537634" y="370734"/>
                  </a:lnTo>
                  <a:lnTo>
                    <a:pt x="1543050" y="343954"/>
                  </a:lnTo>
                  <a:lnTo>
                    <a:pt x="1543050" y="68795"/>
                  </a:lnTo>
                  <a:lnTo>
                    <a:pt x="1537634" y="42015"/>
                  </a:lnTo>
                  <a:lnTo>
                    <a:pt x="1522872" y="20148"/>
                  </a:lnTo>
                  <a:lnTo>
                    <a:pt x="1500991" y="5405"/>
                  </a:lnTo>
                  <a:lnTo>
                    <a:pt x="1474216" y="0"/>
                  </a:lnTo>
                  <a:close/>
                </a:path>
              </a:pathLst>
            </a:custGeom>
            <a:solidFill>
              <a:srgbClr val="808080"/>
            </a:solidFill>
          </p:spPr>
          <p:txBody>
            <a:bodyPr wrap="square" lIns="0" tIns="0" rIns="0" bIns="0" rtlCol="0"/>
            <a:lstStyle/>
            <a:p/>
          </p:txBody>
        </p:sp>
        <p:sp>
          <p:nvSpPr>
            <p:cNvPr id="27" name="object 27" descr=""/>
            <p:cNvSpPr/>
            <p:nvPr/>
          </p:nvSpPr>
          <p:spPr>
            <a:xfrm>
              <a:off x="7696200" y="5921375"/>
              <a:ext cx="1543050" cy="412750"/>
            </a:xfrm>
            <a:custGeom>
              <a:avLst/>
              <a:gdLst/>
              <a:ahLst/>
              <a:cxnLst/>
              <a:rect l="l" t="t" r="r" b="b"/>
              <a:pathLst>
                <a:path w="1543050" h="412750">
                  <a:moveTo>
                    <a:pt x="0" y="68795"/>
                  </a:moveTo>
                  <a:lnTo>
                    <a:pt x="5415" y="42015"/>
                  </a:lnTo>
                  <a:lnTo>
                    <a:pt x="20177" y="20148"/>
                  </a:lnTo>
                  <a:lnTo>
                    <a:pt x="42058" y="5405"/>
                  </a:lnTo>
                  <a:lnTo>
                    <a:pt x="68833" y="0"/>
                  </a:lnTo>
                  <a:lnTo>
                    <a:pt x="1474216" y="0"/>
                  </a:lnTo>
                  <a:lnTo>
                    <a:pt x="1500991" y="5405"/>
                  </a:lnTo>
                  <a:lnTo>
                    <a:pt x="1522872" y="20148"/>
                  </a:lnTo>
                  <a:lnTo>
                    <a:pt x="1537634" y="42015"/>
                  </a:lnTo>
                  <a:lnTo>
                    <a:pt x="1543050" y="68795"/>
                  </a:lnTo>
                  <a:lnTo>
                    <a:pt x="1543050" y="343954"/>
                  </a:lnTo>
                  <a:lnTo>
                    <a:pt x="1537634" y="370734"/>
                  </a:lnTo>
                  <a:lnTo>
                    <a:pt x="1522872" y="392601"/>
                  </a:lnTo>
                  <a:lnTo>
                    <a:pt x="1500991" y="407344"/>
                  </a:lnTo>
                  <a:lnTo>
                    <a:pt x="1474216" y="412750"/>
                  </a:lnTo>
                  <a:lnTo>
                    <a:pt x="68833" y="412750"/>
                  </a:lnTo>
                  <a:lnTo>
                    <a:pt x="42058" y="407344"/>
                  </a:lnTo>
                  <a:lnTo>
                    <a:pt x="20177" y="392601"/>
                  </a:lnTo>
                  <a:lnTo>
                    <a:pt x="5415" y="370734"/>
                  </a:lnTo>
                  <a:lnTo>
                    <a:pt x="0" y="343954"/>
                  </a:lnTo>
                  <a:lnTo>
                    <a:pt x="0" y="68795"/>
                  </a:lnTo>
                  <a:close/>
                </a:path>
              </a:pathLst>
            </a:custGeom>
            <a:ln w="38100">
              <a:solidFill>
                <a:srgbClr val="000000"/>
              </a:solidFill>
            </a:ln>
          </p:spPr>
          <p:txBody>
            <a:bodyPr wrap="square" lIns="0" tIns="0" rIns="0" bIns="0" rtlCol="0"/>
            <a:lstStyle/>
            <a:p/>
          </p:txBody>
        </p:sp>
      </p:grpSp>
      <p:sp>
        <p:nvSpPr>
          <p:cNvPr id="28" name="object 28" descr=""/>
          <p:cNvSpPr txBox="1"/>
          <p:nvPr/>
        </p:nvSpPr>
        <p:spPr>
          <a:xfrm>
            <a:off x="8252841" y="5986983"/>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sp>
        <p:nvSpPr>
          <p:cNvPr id="29" name="object 29"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sp>
        <p:nvSpPr>
          <p:cNvPr id="30" name="object 30"/>
          <p:cNvSpPr txBox="1">
            <a:spLocks noGrp="1"/>
          </p:cNvSpPr>
          <p:nvPr>
            <p:ph type="title"/>
          </p:nvPr>
        </p:nvSpPr>
        <p:spPr>
          <a:xfrm>
            <a:off x="190500" y="0"/>
            <a:ext cx="8953500" cy="635000"/>
          </a:xfrm>
          <a:prstGeom prst="rect"/>
          <a:solidFill>
            <a:srgbClr val="F6F7F8"/>
          </a:solidFill>
        </p:spPr>
        <p:txBody>
          <a:bodyPr wrap="square" lIns="0" tIns="106045" rIns="0" bIns="0" rtlCol="0" vert="horz">
            <a:spAutoFit/>
          </a:bodyPr>
          <a:lstStyle/>
          <a:p>
            <a:pPr marL="154940">
              <a:lnSpc>
                <a:spcPct val="100000"/>
              </a:lnSpc>
              <a:spcBef>
                <a:spcPts val="835"/>
              </a:spcBef>
              <a:tabLst>
                <a:tab pos="1426845" algn="l"/>
              </a:tabLst>
            </a:pPr>
            <a:r>
              <a:rPr dirty="0" u="none" sz="2600" b="0">
                <a:solidFill>
                  <a:srgbClr val="000000"/>
                </a:solidFill>
                <a:latin typeface="微软雅黑"/>
                <a:cs typeface="微软雅黑"/>
              </a:rPr>
              <a:t>单选</a:t>
            </a:r>
            <a:r>
              <a:rPr dirty="0" u="none" sz="2600" spc="-50" b="0">
                <a:solidFill>
                  <a:srgbClr val="000000"/>
                </a:solidFill>
                <a:latin typeface="微软雅黑"/>
                <a:cs typeface="微软雅黑"/>
              </a:rPr>
              <a:t>题</a:t>
            </a:r>
            <a:r>
              <a:rPr dirty="0" u="none" sz="2600" b="0">
                <a:solidFill>
                  <a:srgbClr val="000000"/>
                </a:solidFill>
                <a:latin typeface="微软雅黑"/>
                <a:cs typeface="微软雅黑"/>
              </a:rPr>
              <a:t>	</a:t>
            </a:r>
            <a:r>
              <a:rPr dirty="0" u="none" baseline="-4166" sz="3000" b="0">
                <a:solidFill>
                  <a:srgbClr val="808080"/>
                </a:solidFill>
                <a:latin typeface="微软雅黑"/>
                <a:cs typeface="微软雅黑"/>
              </a:rPr>
              <a:t>1</a:t>
            </a:r>
            <a:r>
              <a:rPr dirty="0" u="none" baseline="-4166" sz="3000" spc="-75" b="0">
                <a:solidFill>
                  <a:srgbClr val="808080"/>
                </a:solidFill>
                <a:latin typeface="微软雅黑"/>
                <a:cs typeface="微软雅黑"/>
              </a:rPr>
              <a:t>分</a:t>
            </a:r>
            <a:endParaRPr baseline="-4166" sz="3000">
              <a:latin typeface="微软雅黑"/>
              <a:cs typeface="微软雅黑"/>
            </a:endParaRPr>
          </a:p>
        </p:txBody>
      </p:sp>
      <p:pic>
        <p:nvPicPr>
          <p:cNvPr id="31" name="object 31"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2.6.5</a:t>
            </a:r>
            <a:r>
              <a:rPr dirty="0" spc="-45">
                <a:solidFill>
                  <a:srgbClr val="4F55AC"/>
                </a:solidFill>
              </a:rPr>
              <a:t> </a:t>
            </a:r>
            <a:r>
              <a:rPr dirty="0">
                <a:solidFill>
                  <a:srgbClr val="4F55AC"/>
                </a:solidFill>
              </a:rPr>
              <a:t>MIPS</a:t>
            </a:r>
            <a:r>
              <a:rPr dirty="0" spc="-10">
                <a:solidFill>
                  <a:srgbClr val="4F55AC"/>
                </a:solidFill>
                <a:latin typeface="微软雅黑"/>
                <a:cs typeface="微软雅黑"/>
              </a:rPr>
              <a:t>的操</a:t>
            </a:r>
            <a:r>
              <a:rPr dirty="0" spc="-50">
                <a:solidFill>
                  <a:srgbClr val="4F55AC"/>
                </a:solidFill>
                <a:latin typeface="微软雅黑"/>
                <a:cs typeface="微软雅黑"/>
              </a:rPr>
              <a:t>作</a:t>
            </a:r>
            <a:r>
              <a:rPr dirty="0">
                <a:solidFill>
                  <a:srgbClr val="4F55AC"/>
                </a:solidFill>
                <a:latin typeface="微软雅黑"/>
                <a:cs typeface="微软雅黑"/>
              </a:rPr>
              <a:t>	</a:t>
            </a:r>
          </a:p>
        </p:txBody>
      </p:sp>
      <p:sp>
        <p:nvSpPr>
          <p:cNvPr id="4" name="object 4" descr=""/>
          <p:cNvSpPr txBox="1"/>
          <p:nvPr/>
        </p:nvSpPr>
        <p:spPr>
          <a:xfrm>
            <a:off x="2549398" y="1091113"/>
            <a:ext cx="5153660" cy="4359275"/>
          </a:xfrm>
          <a:prstGeom prst="rect">
            <a:avLst/>
          </a:prstGeom>
        </p:spPr>
        <p:txBody>
          <a:bodyPr wrap="square" lIns="0" tIns="245745" rIns="0" bIns="0" rtlCol="0" vert="horz">
            <a:spAutoFit/>
          </a:bodyPr>
          <a:lstStyle/>
          <a:p>
            <a:pPr marL="494665" indent="-456565">
              <a:lnSpc>
                <a:spcPct val="100000"/>
              </a:lnSpc>
              <a:spcBef>
                <a:spcPts val="1935"/>
              </a:spcBef>
              <a:buClr>
                <a:srgbClr val="40458B"/>
              </a:buClr>
              <a:buSzPct val="117857"/>
              <a:buFont typeface="Wingdings"/>
              <a:buChar char=""/>
              <a:tabLst>
                <a:tab pos="494665" algn="l"/>
              </a:tabLst>
            </a:pPr>
            <a:r>
              <a:rPr dirty="0" sz="2800" spc="-20">
                <a:solidFill>
                  <a:srgbClr val="172152"/>
                </a:solidFill>
                <a:latin typeface="黑体"/>
                <a:cs typeface="黑体"/>
              </a:rPr>
              <a:t>MIPS</a:t>
            </a:r>
            <a:r>
              <a:rPr dirty="0" sz="2800" spc="-40">
                <a:solidFill>
                  <a:srgbClr val="172152"/>
                </a:solidFill>
                <a:latin typeface="黑体"/>
                <a:cs typeface="黑体"/>
              </a:rPr>
              <a:t>指令操作可以分为四大类</a:t>
            </a:r>
            <a:endParaRPr sz="2800">
              <a:latin typeface="黑体"/>
              <a:cs typeface="黑体"/>
            </a:endParaRPr>
          </a:p>
          <a:p>
            <a:pPr lvl="1" marL="721360" indent="-272415">
              <a:lnSpc>
                <a:spcPct val="100000"/>
              </a:lnSpc>
              <a:spcBef>
                <a:spcPts val="1440"/>
              </a:spcBef>
              <a:buSzPct val="88636"/>
              <a:buFont typeface="Wingdings"/>
              <a:buChar char=""/>
              <a:tabLst>
                <a:tab pos="721360" algn="l"/>
              </a:tabLst>
            </a:pPr>
            <a:r>
              <a:rPr dirty="0" sz="2200" spc="-20">
                <a:solidFill>
                  <a:srgbClr val="006FC0"/>
                </a:solidFill>
                <a:latin typeface="Tahoma"/>
                <a:cs typeface="Tahoma"/>
              </a:rPr>
              <a:t>load</a:t>
            </a:r>
            <a:r>
              <a:rPr dirty="0" sz="2200" spc="-20">
                <a:solidFill>
                  <a:srgbClr val="006FC0"/>
                </a:solidFill>
                <a:latin typeface="黑体"/>
                <a:cs typeface="黑体"/>
              </a:rPr>
              <a:t>和</a:t>
            </a:r>
            <a:r>
              <a:rPr dirty="0" sz="2200" spc="-10">
                <a:solidFill>
                  <a:srgbClr val="006FC0"/>
                </a:solidFill>
                <a:latin typeface="Tahoma"/>
                <a:cs typeface="Tahoma"/>
              </a:rPr>
              <a:t>store</a:t>
            </a:r>
            <a:endParaRPr sz="2200">
              <a:latin typeface="Tahoma"/>
              <a:cs typeface="Tahoma"/>
            </a:endParaRPr>
          </a:p>
          <a:p>
            <a:pPr lvl="1" marL="721360" indent="-272415">
              <a:lnSpc>
                <a:spcPct val="100000"/>
              </a:lnSpc>
              <a:spcBef>
                <a:spcPts val="1320"/>
              </a:spcBef>
              <a:buSzPct val="88636"/>
              <a:buFont typeface="Wingdings"/>
              <a:buChar char=""/>
              <a:tabLst>
                <a:tab pos="721360" algn="l"/>
              </a:tabLst>
            </a:pPr>
            <a:r>
              <a:rPr dirty="0" sz="2200" spc="-20">
                <a:solidFill>
                  <a:srgbClr val="006FC0"/>
                </a:solidFill>
                <a:latin typeface="Tahoma"/>
                <a:cs typeface="Tahoma"/>
              </a:rPr>
              <a:t>ALU</a:t>
            </a:r>
            <a:r>
              <a:rPr dirty="0" sz="2200" spc="-35">
                <a:solidFill>
                  <a:srgbClr val="006FC0"/>
                </a:solidFill>
                <a:latin typeface="黑体"/>
                <a:cs typeface="黑体"/>
              </a:rPr>
              <a:t>操作</a:t>
            </a:r>
            <a:endParaRPr sz="2200">
              <a:latin typeface="黑体"/>
              <a:cs typeface="黑体"/>
            </a:endParaRPr>
          </a:p>
          <a:p>
            <a:pPr lvl="1" marL="721360" indent="-272415">
              <a:lnSpc>
                <a:spcPct val="100000"/>
              </a:lnSpc>
              <a:spcBef>
                <a:spcPts val="1320"/>
              </a:spcBef>
              <a:buSzPct val="88636"/>
              <a:buFont typeface="Wingdings"/>
              <a:buChar char=""/>
              <a:tabLst>
                <a:tab pos="721360" algn="l"/>
              </a:tabLst>
            </a:pPr>
            <a:r>
              <a:rPr dirty="0" sz="2200" spc="-35">
                <a:solidFill>
                  <a:srgbClr val="006FC0"/>
                </a:solidFill>
                <a:latin typeface="黑体"/>
                <a:cs typeface="黑体"/>
              </a:rPr>
              <a:t>分支与跳转</a:t>
            </a:r>
            <a:endParaRPr sz="2200">
              <a:latin typeface="黑体"/>
              <a:cs typeface="黑体"/>
            </a:endParaRPr>
          </a:p>
          <a:p>
            <a:pPr lvl="1" marL="721360" indent="-272415">
              <a:lnSpc>
                <a:spcPct val="100000"/>
              </a:lnSpc>
              <a:spcBef>
                <a:spcPts val="1320"/>
              </a:spcBef>
              <a:buSzPct val="88636"/>
              <a:buFont typeface="Wingdings"/>
              <a:buChar char=""/>
              <a:tabLst>
                <a:tab pos="721360" algn="l"/>
              </a:tabLst>
            </a:pPr>
            <a:r>
              <a:rPr dirty="0" sz="2200" spc="-35">
                <a:solidFill>
                  <a:srgbClr val="006FC0"/>
                </a:solidFill>
                <a:latin typeface="黑体"/>
                <a:cs typeface="黑体"/>
              </a:rPr>
              <a:t>浮点操作</a:t>
            </a:r>
            <a:endParaRPr sz="2200">
              <a:latin typeface="黑体"/>
              <a:cs typeface="黑体"/>
            </a:endParaRPr>
          </a:p>
          <a:p>
            <a:pPr marL="494665" indent="-456565">
              <a:lnSpc>
                <a:spcPct val="100000"/>
              </a:lnSpc>
              <a:spcBef>
                <a:spcPts val="1565"/>
              </a:spcBef>
              <a:buClr>
                <a:srgbClr val="40458B"/>
              </a:buClr>
              <a:buSzPct val="117857"/>
              <a:buFont typeface="Wingdings"/>
              <a:buChar char=""/>
              <a:tabLst>
                <a:tab pos="494665" algn="l"/>
              </a:tabLst>
            </a:pPr>
            <a:r>
              <a:rPr dirty="0" sz="2800" spc="-30">
                <a:solidFill>
                  <a:srgbClr val="172152"/>
                </a:solidFill>
                <a:latin typeface="黑体"/>
                <a:cs typeface="黑体"/>
              </a:rPr>
              <a:t>符号的意义</a:t>
            </a:r>
            <a:endParaRPr sz="2800">
              <a:latin typeface="黑体"/>
              <a:cs typeface="黑体"/>
            </a:endParaRPr>
          </a:p>
          <a:p>
            <a:pPr lvl="1" marL="1124585" indent="-457200">
              <a:lnSpc>
                <a:spcPct val="100000"/>
              </a:lnSpc>
              <a:spcBef>
                <a:spcPts val="1440"/>
              </a:spcBef>
              <a:buClr>
                <a:srgbClr val="006FC0"/>
              </a:buClr>
              <a:buSzPct val="88636"/>
              <a:buFont typeface="Wingdings"/>
              <a:buChar char=""/>
              <a:tabLst>
                <a:tab pos="1124585" algn="l"/>
              </a:tabLst>
            </a:pPr>
            <a:r>
              <a:rPr dirty="0" sz="2200" spc="-20">
                <a:solidFill>
                  <a:srgbClr val="D50092"/>
                </a:solidFill>
                <a:latin typeface="黑体"/>
                <a:cs typeface="黑体"/>
              </a:rPr>
              <a:t>x←</a:t>
            </a:r>
            <a:r>
              <a:rPr dirty="0" baseline="-21072" sz="2175" spc="-30">
                <a:solidFill>
                  <a:srgbClr val="D50092"/>
                </a:solidFill>
                <a:latin typeface="黑体"/>
                <a:cs typeface="黑体"/>
              </a:rPr>
              <a:t>n</a:t>
            </a:r>
            <a:r>
              <a:rPr dirty="0" sz="2200" spc="-20">
                <a:solidFill>
                  <a:srgbClr val="D50092"/>
                </a:solidFill>
                <a:latin typeface="黑体"/>
                <a:cs typeface="黑体"/>
              </a:rPr>
              <a:t>y：</a:t>
            </a:r>
            <a:r>
              <a:rPr dirty="0" sz="2200" spc="-30">
                <a:solidFill>
                  <a:srgbClr val="006FC0"/>
                </a:solidFill>
                <a:latin typeface="黑体"/>
                <a:cs typeface="黑体"/>
              </a:rPr>
              <a:t>从</a:t>
            </a:r>
            <a:r>
              <a:rPr dirty="0" sz="2200" spc="-25">
                <a:solidFill>
                  <a:srgbClr val="006FC0"/>
                </a:solidFill>
                <a:latin typeface="黑体"/>
                <a:cs typeface="黑体"/>
              </a:rPr>
              <a:t>y传送</a:t>
            </a:r>
            <a:r>
              <a:rPr dirty="0" sz="2200" spc="-10">
                <a:solidFill>
                  <a:srgbClr val="006FC0"/>
                </a:solidFill>
                <a:latin typeface="黑体"/>
                <a:cs typeface="黑体"/>
              </a:rPr>
              <a:t>n</a:t>
            </a:r>
            <a:r>
              <a:rPr dirty="0" sz="2200" spc="-25">
                <a:solidFill>
                  <a:srgbClr val="006FC0"/>
                </a:solidFill>
                <a:latin typeface="黑体"/>
                <a:cs typeface="黑体"/>
              </a:rPr>
              <a:t>位到</a:t>
            </a:r>
            <a:r>
              <a:rPr dirty="0" sz="2200" spc="-50">
                <a:solidFill>
                  <a:srgbClr val="006FC0"/>
                </a:solidFill>
                <a:latin typeface="黑体"/>
                <a:cs typeface="黑体"/>
              </a:rPr>
              <a:t>x</a:t>
            </a:r>
            <a:endParaRPr sz="2200">
              <a:latin typeface="黑体"/>
              <a:cs typeface="黑体"/>
            </a:endParaRPr>
          </a:p>
          <a:p>
            <a:pPr lvl="1" marL="1124585" indent="-457200">
              <a:lnSpc>
                <a:spcPct val="100000"/>
              </a:lnSpc>
              <a:spcBef>
                <a:spcPts val="1320"/>
              </a:spcBef>
              <a:buClr>
                <a:srgbClr val="006FC0"/>
              </a:buClr>
              <a:buSzPct val="88636"/>
              <a:buFont typeface="Wingdings"/>
              <a:buChar char=""/>
              <a:tabLst>
                <a:tab pos="1124585" algn="l"/>
              </a:tabLst>
            </a:pPr>
            <a:r>
              <a:rPr dirty="0" sz="2200" spc="-25">
                <a:solidFill>
                  <a:srgbClr val="D50092"/>
                </a:solidFill>
                <a:latin typeface="黑体"/>
                <a:cs typeface="黑体"/>
              </a:rPr>
              <a:t>x，y←z：</a:t>
            </a:r>
            <a:r>
              <a:rPr dirty="0" sz="2200" spc="-35">
                <a:solidFill>
                  <a:srgbClr val="006FC0"/>
                </a:solidFill>
                <a:latin typeface="黑体"/>
                <a:cs typeface="黑体"/>
              </a:rPr>
              <a:t>把</a:t>
            </a:r>
            <a:r>
              <a:rPr dirty="0" sz="2200" spc="-20">
                <a:solidFill>
                  <a:srgbClr val="006FC0"/>
                </a:solidFill>
                <a:latin typeface="黑体"/>
                <a:cs typeface="黑体"/>
              </a:rPr>
              <a:t>z</a:t>
            </a:r>
            <a:r>
              <a:rPr dirty="0" sz="2200" spc="-30">
                <a:solidFill>
                  <a:srgbClr val="006FC0"/>
                </a:solidFill>
                <a:latin typeface="黑体"/>
                <a:cs typeface="黑体"/>
              </a:rPr>
              <a:t>传送到</a:t>
            </a:r>
            <a:r>
              <a:rPr dirty="0" sz="2200" spc="-20">
                <a:solidFill>
                  <a:srgbClr val="006FC0"/>
                </a:solidFill>
                <a:latin typeface="黑体"/>
                <a:cs typeface="黑体"/>
              </a:rPr>
              <a:t>x</a:t>
            </a:r>
            <a:r>
              <a:rPr dirty="0" sz="2200" spc="-35">
                <a:solidFill>
                  <a:srgbClr val="006FC0"/>
                </a:solidFill>
                <a:latin typeface="黑体"/>
                <a:cs typeface="黑体"/>
              </a:rPr>
              <a:t>和</a:t>
            </a:r>
            <a:r>
              <a:rPr dirty="0" sz="2200" spc="-50">
                <a:solidFill>
                  <a:srgbClr val="006FC0"/>
                </a:solidFill>
                <a:latin typeface="黑体"/>
                <a:cs typeface="黑体"/>
              </a:rPr>
              <a:t>y</a:t>
            </a:r>
            <a:endParaRPr sz="2200">
              <a:latin typeface="黑体"/>
              <a:cs typeface="黑体"/>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sp>
        <p:nvSpPr>
          <p:cNvPr id="3" name="object 3" descr=""/>
          <p:cNvSpPr txBox="1"/>
          <p:nvPr/>
        </p:nvSpPr>
        <p:spPr>
          <a:xfrm>
            <a:off x="2517394" y="1482039"/>
            <a:ext cx="4144010" cy="422909"/>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MIPS</a:t>
            </a:r>
            <a:r>
              <a:rPr dirty="0" sz="2600" spc="-20">
                <a:latin typeface="微软雅黑"/>
                <a:cs typeface="微软雅黑"/>
              </a:rPr>
              <a:t>指令不包含哪类指令？</a:t>
            </a:r>
            <a:endParaRPr sz="2600">
              <a:latin typeface="微软雅黑"/>
              <a:cs typeface="微软雅黑"/>
            </a:endParaRPr>
          </a:p>
        </p:txBody>
      </p:sp>
      <p:sp>
        <p:nvSpPr>
          <p:cNvPr id="4" name="object 4" descr=""/>
          <p:cNvSpPr txBox="1"/>
          <p:nvPr/>
        </p:nvSpPr>
        <p:spPr>
          <a:xfrm>
            <a:off x="3431794" y="2883788"/>
            <a:ext cx="1919605"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Load</a:t>
            </a:r>
            <a:r>
              <a:rPr dirty="0" sz="2600">
                <a:latin typeface="微软雅黑"/>
                <a:cs typeface="微软雅黑"/>
              </a:rPr>
              <a:t>和</a:t>
            </a:r>
            <a:r>
              <a:rPr dirty="0" sz="2600" spc="-20">
                <a:latin typeface="微软雅黑"/>
                <a:cs typeface="微软雅黑"/>
              </a:rPr>
              <a:t>store</a:t>
            </a:r>
            <a:endParaRPr sz="2600">
              <a:latin typeface="微软雅黑"/>
              <a:cs typeface="微软雅黑"/>
            </a:endParaRPr>
          </a:p>
        </p:txBody>
      </p:sp>
      <p:sp>
        <p:nvSpPr>
          <p:cNvPr id="5" name="object 5" descr=""/>
          <p:cNvSpPr txBox="1"/>
          <p:nvPr/>
        </p:nvSpPr>
        <p:spPr>
          <a:xfrm>
            <a:off x="3431794" y="3741165"/>
            <a:ext cx="1332230" cy="422275"/>
          </a:xfrm>
          <a:prstGeom prst="rect">
            <a:avLst/>
          </a:prstGeom>
        </p:spPr>
        <p:txBody>
          <a:bodyPr wrap="square" lIns="0" tIns="12700" rIns="0" bIns="0" rtlCol="0" vert="horz">
            <a:spAutoFit/>
          </a:bodyPr>
          <a:lstStyle/>
          <a:p>
            <a:pPr marL="12700">
              <a:lnSpc>
                <a:spcPct val="100000"/>
              </a:lnSpc>
              <a:spcBef>
                <a:spcPts val="100"/>
              </a:spcBef>
            </a:pPr>
            <a:r>
              <a:rPr dirty="0" sz="2600" spc="-15">
                <a:latin typeface="微软雅黑"/>
                <a:cs typeface="微软雅黑"/>
              </a:rPr>
              <a:t>ALU</a:t>
            </a:r>
            <a:r>
              <a:rPr dirty="0" sz="2600" spc="-25">
                <a:latin typeface="微软雅黑"/>
                <a:cs typeface="微软雅黑"/>
              </a:rPr>
              <a:t>操作</a:t>
            </a:r>
            <a:endParaRPr sz="2600">
              <a:latin typeface="微软雅黑"/>
              <a:cs typeface="微软雅黑"/>
            </a:endParaRPr>
          </a:p>
        </p:txBody>
      </p:sp>
      <p:sp>
        <p:nvSpPr>
          <p:cNvPr id="6" name="object 6" descr=""/>
          <p:cNvSpPr txBox="1"/>
          <p:nvPr/>
        </p:nvSpPr>
        <p:spPr>
          <a:xfrm>
            <a:off x="3431794" y="4598670"/>
            <a:ext cx="1680845" cy="422275"/>
          </a:xfrm>
          <a:prstGeom prst="rect">
            <a:avLst/>
          </a:prstGeom>
        </p:spPr>
        <p:txBody>
          <a:bodyPr wrap="square" lIns="0" tIns="12700" rIns="0" bIns="0" rtlCol="0" vert="horz">
            <a:spAutoFit/>
          </a:bodyPr>
          <a:lstStyle/>
          <a:p>
            <a:pPr marL="12700">
              <a:lnSpc>
                <a:spcPct val="100000"/>
              </a:lnSpc>
              <a:spcBef>
                <a:spcPts val="100"/>
              </a:spcBef>
            </a:pPr>
            <a:r>
              <a:rPr dirty="0" sz="2600" spc="-10">
                <a:latin typeface="微软雅黑"/>
                <a:cs typeface="微软雅黑"/>
              </a:rPr>
              <a:t>分支与跳转</a:t>
            </a:r>
            <a:endParaRPr sz="2600">
              <a:latin typeface="微软雅黑"/>
              <a:cs typeface="微软雅黑"/>
            </a:endParaRPr>
          </a:p>
        </p:txBody>
      </p:sp>
      <p:sp>
        <p:nvSpPr>
          <p:cNvPr id="7" name="object 7" descr=""/>
          <p:cNvSpPr txBox="1"/>
          <p:nvPr/>
        </p:nvSpPr>
        <p:spPr>
          <a:xfrm>
            <a:off x="3431794" y="5456021"/>
            <a:ext cx="1350010" cy="422275"/>
          </a:xfrm>
          <a:prstGeom prst="rect">
            <a:avLst/>
          </a:prstGeom>
        </p:spPr>
        <p:txBody>
          <a:bodyPr wrap="square" lIns="0" tIns="12700" rIns="0" bIns="0" rtlCol="0" vert="horz">
            <a:spAutoFit/>
          </a:bodyPr>
          <a:lstStyle/>
          <a:p>
            <a:pPr marL="12700">
              <a:lnSpc>
                <a:spcPct val="100000"/>
              </a:lnSpc>
              <a:spcBef>
                <a:spcPts val="100"/>
              </a:spcBef>
            </a:pPr>
            <a:r>
              <a:rPr dirty="0" sz="2600" spc="-15">
                <a:latin typeface="微软雅黑"/>
                <a:cs typeface="微软雅黑"/>
              </a:rPr>
              <a:t>向量指令</a:t>
            </a:r>
            <a:endParaRPr sz="2600">
              <a:latin typeface="微软雅黑"/>
              <a:cs typeface="微软雅黑"/>
            </a:endParaRPr>
          </a:p>
        </p:txBody>
      </p:sp>
      <p:grpSp>
        <p:nvGrpSpPr>
          <p:cNvPr id="8" name="object 8" descr=""/>
          <p:cNvGrpSpPr/>
          <p:nvPr/>
        </p:nvGrpSpPr>
        <p:grpSpPr>
          <a:xfrm>
            <a:off x="2632075" y="2843276"/>
            <a:ext cx="527050" cy="527050"/>
            <a:chOff x="2632075" y="2843276"/>
            <a:chExt cx="527050" cy="527050"/>
          </a:xfrm>
        </p:grpSpPr>
        <p:sp>
          <p:nvSpPr>
            <p:cNvPr id="9" name="object 9" descr=""/>
            <p:cNvSpPr/>
            <p:nvPr/>
          </p:nvSpPr>
          <p:spPr>
            <a:xfrm>
              <a:off x="2638425" y="28496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0" name="object 10" descr=""/>
            <p:cNvSpPr/>
            <p:nvPr/>
          </p:nvSpPr>
          <p:spPr>
            <a:xfrm>
              <a:off x="2638425" y="28496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1" name="object 11" descr=""/>
          <p:cNvSpPr txBox="1"/>
          <p:nvPr/>
        </p:nvSpPr>
        <p:spPr>
          <a:xfrm>
            <a:off x="2811907" y="2965195"/>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2" name="object 12" descr=""/>
          <p:cNvGrpSpPr/>
          <p:nvPr/>
        </p:nvGrpSpPr>
        <p:grpSpPr>
          <a:xfrm>
            <a:off x="2632075" y="3700526"/>
            <a:ext cx="527050" cy="527050"/>
            <a:chOff x="2632075" y="3700526"/>
            <a:chExt cx="527050" cy="527050"/>
          </a:xfrm>
        </p:grpSpPr>
        <p:sp>
          <p:nvSpPr>
            <p:cNvPr id="13" name="object 13" descr=""/>
            <p:cNvSpPr/>
            <p:nvPr/>
          </p:nvSpPr>
          <p:spPr>
            <a:xfrm>
              <a:off x="2638425" y="370687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4" name="object 14" descr=""/>
            <p:cNvSpPr/>
            <p:nvPr/>
          </p:nvSpPr>
          <p:spPr>
            <a:xfrm>
              <a:off x="2638425" y="370687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5" name="object 15" descr=""/>
          <p:cNvSpPr txBox="1"/>
          <p:nvPr/>
        </p:nvSpPr>
        <p:spPr>
          <a:xfrm>
            <a:off x="2819780" y="3822572"/>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grpSp>
        <p:nvGrpSpPr>
          <p:cNvPr id="16" name="object 16" descr=""/>
          <p:cNvGrpSpPr/>
          <p:nvPr/>
        </p:nvGrpSpPr>
        <p:grpSpPr>
          <a:xfrm>
            <a:off x="2632075" y="4557776"/>
            <a:ext cx="527050" cy="527050"/>
            <a:chOff x="2632075" y="4557776"/>
            <a:chExt cx="527050" cy="527050"/>
          </a:xfrm>
        </p:grpSpPr>
        <p:sp>
          <p:nvSpPr>
            <p:cNvPr id="17" name="object 17" descr=""/>
            <p:cNvSpPr/>
            <p:nvPr/>
          </p:nvSpPr>
          <p:spPr>
            <a:xfrm>
              <a:off x="2638425" y="45641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8" name="object 18" descr=""/>
            <p:cNvSpPr/>
            <p:nvPr/>
          </p:nvSpPr>
          <p:spPr>
            <a:xfrm>
              <a:off x="2638425" y="45641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9" name="object 19" descr=""/>
          <p:cNvSpPr txBox="1"/>
          <p:nvPr/>
        </p:nvSpPr>
        <p:spPr>
          <a:xfrm>
            <a:off x="2814954" y="4679645"/>
            <a:ext cx="16129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C</a:t>
            </a:r>
            <a:endParaRPr sz="1600">
              <a:latin typeface="微软雅黑"/>
              <a:cs typeface="微软雅黑"/>
            </a:endParaRPr>
          </a:p>
        </p:txBody>
      </p:sp>
      <p:grpSp>
        <p:nvGrpSpPr>
          <p:cNvPr id="20" name="object 20" descr=""/>
          <p:cNvGrpSpPr/>
          <p:nvPr/>
        </p:nvGrpSpPr>
        <p:grpSpPr>
          <a:xfrm>
            <a:off x="2625725" y="5408676"/>
            <a:ext cx="539750" cy="539750"/>
            <a:chOff x="2625725" y="5408676"/>
            <a:chExt cx="539750" cy="539750"/>
          </a:xfrm>
        </p:grpSpPr>
        <p:sp>
          <p:nvSpPr>
            <p:cNvPr id="21" name="object 21" descr=""/>
            <p:cNvSpPr/>
            <p:nvPr/>
          </p:nvSpPr>
          <p:spPr>
            <a:xfrm>
              <a:off x="2638425" y="5421376"/>
              <a:ext cx="514350" cy="514350"/>
            </a:xfrm>
            <a:custGeom>
              <a:avLst/>
              <a:gdLst/>
              <a:ahLst/>
              <a:cxnLst/>
              <a:rect l="l" t="t" r="r" b="b"/>
              <a:pathLst>
                <a:path w="514350" h="514350">
                  <a:moveTo>
                    <a:pt x="257175" y="0"/>
                  </a:moveTo>
                  <a:lnTo>
                    <a:pt x="210960" y="4140"/>
                  </a:lnTo>
                  <a:lnTo>
                    <a:pt x="167457" y="16079"/>
                  </a:lnTo>
                  <a:lnTo>
                    <a:pt x="127395" y="35091"/>
                  </a:lnTo>
                  <a:lnTo>
                    <a:pt x="91500" y="60452"/>
                  </a:lnTo>
                  <a:lnTo>
                    <a:pt x="60500" y="91436"/>
                  </a:lnTo>
                  <a:lnTo>
                    <a:pt x="35122" y="127319"/>
                  </a:lnTo>
                  <a:lnTo>
                    <a:pt x="16095" y="167376"/>
                  </a:lnTo>
                  <a:lnTo>
                    <a:pt x="4145" y="210882"/>
                  </a:lnTo>
                  <a:lnTo>
                    <a:pt x="0" y="257111"/>
                  </a:lnTo>
                  <a:lnTo>
                    <a:pt x="4145" y="303339"/>
                  </a:lnTo>
                  <a:lnTo>
                    <a:pt x="16095" y="346849"/>
                  </a:lnTo>
                  <a:lnTo>
                    <a:pt x="35122" y="386913"/>
                  </a:lnTo>
                  <a:lnTo>
                    <a:pt x="60500" y="422807"/>
                  </a:lnTo>
                  <a:lnTo>
                    <a:pt x="91500" y="453803"/>
                  </a:lnTo>
                  <a:lnTo>
                    <a:pt x="127395" y="479175"/>
                  </a:lnTo>
                  <a:lnTo>
                    <a:pt x="167457" y="498197"/>
                  </a:lnTo>
                  <a:lnTo>
                    <a:pt x="210960" y="510143"/>
                  </a:lnTo>
                  <a:lnTo>
                    <a:pt x="257175" y="514286"/>
                  </a:lnTo>
                  <a:lnTo>
                    <a:pt x="303389" y="510143"/>
                  </a:lnTo>
                  <a:lnTo>
                    <a:pt x="346892" y="498197"/>
                  </a:lnTo>
                  <a:lnTo>
                    <a:pt x="386954" y="479175"/>
                  </a:lnTo>
                  <a:lnTo>
                    <a:pt x="422849" y="453803"/>
                  </a:lnTo>
                  <a:lnTo>
                    <a:pt x="453849" y="422807"/>
                  </a:lnTo>
                  <a:lnTo>
                    <a:pt x="479227" y="386913"/>
                  </a:lnTo>
                  <a:lnTo>
                    <a:pt x="498254" y="346849"/>
                  </a:lnTo>
                  <a:lnTo>
                    <a:pt x="510204" y="303339"/>
                  </a:lnTo>
                  <a:lnTo>
                    <a:pt x="514350" y="257111"/>
                  </a:lnTo>
                  <a:lnTo>
                    <a:pt x="510204" y="210882"/>
                  </a:lnTo>
                  <a:lnTo>
                    <a:pt x="498254" y="167376"/>
                  </a:lnTo>
                  <a:lnTo>
                    <a:pt x="479227" y="127319"/>
                  </a:lnTo>
                  <a:lnTo>
                    <a:pt x="453849" y="91436"/>
                  </a:lnTo>
                  <a:lnTo>
                    <a:pt x="422849" y="60452"/>
                  </a:lnTo>
                  <a:lnTo>
                    <a:pt x="386954" y="35091"/>
                  </a:lnTo>
                  <a:lnTo>
                    <a:pt x="346892" y="16079"/>
                  </a:lnTo>
                  <a:lnTo>
                    <a:pt x="303389" y="4140"/>
                  </a:lnTo>
                  <a:lnTo>
                    <a:pt x="257175" y="0"/>
                  </a:lnTo>
                  <a:close/>
                </a:path>
              </a:pathLst>
            </a:custGeom>
            <a:solidFill>
              <a:srgbClr val="00FF00"/>
            </a:solidFill>
          </p:spPr>
          <p:txBody>
            <a:bodyPr wrap="square" lIns="0" tIns="0" rIns="0" bIns="0" rtlCol="0"/>
            <a:lstStyle/>
            <a:p/>
          </p:txBody>
        </p:sp>
        <p:sp>
          <p:nvSpPr>
            <p:cNvPr id="22" name="object 22" descr=""/>
            <p:cNvSpPr/>
            <p:nvPr/>
          </p:nvSpPr>
          <p:spPr>
            <a:xfrm>
              <a:off x="2638425" y="5421376"/>
              <a:ext cx="514350" cy="514350"/>
            </a:xfrm>
            <a:custGeom>
              <a:avLst/>
              <a:gdLst/>
              <a:ahLst/>
              <a:cxnLst/>
              <a:rect l="l" t="t" r="r" b="b"/>
              <a:pathLst>
                <a:path w="514350" h="514350">
                  <a:moveTo>
                    <a:pt x="0" y="257111"/>
                  </a:moveTo>
                  <a:lnTo>
                    <a:pt x="4145" y="210882"/>
                  </a:lnTo>
                  <a:lnTo>
                    <a:pt x="16095" y="167376"/>
                  </a:lnTo>
                  <a:lnTo>
                    <a:pt x="35122" y="127319"/>
                  </a:lnTo>
                  <a:lnTo>
                    <a:pt x="60500" y="91436"/>
                  </a:lnTo>
                  <a:lnTo>
                    <a:pt x="91500" y="60452"/>
                  </a:lnTo>
                  <a:lnTo>
                    <a:pt x="127395" y="35091"/>
                  </a:lnTo>
                  <a:lnTo>
                    <a:pt x="167457" y="16079"/>
                  </a:lnTo>
                  <a:lnTo>
                    <a:pt x="210960" y="4140"/>
                  </a:lnTo>
                  <a:lnTo>
                    <a:pt x="257175" y="0"/>
                  </a:lnTo>
                  <a:lnTo>
                    <a:pt x="303389" y="4140"/>
                  </a:lnTo>
                  <a:lnTo>
                    <a:pt x="346892" y="16079"/>
                  </a:lnTo>
                  <a:lnTo>
                    <a:pt x="386954" y="35091"/>
                  </a:lnTo>
                  <a:lnTo>
                    <a:pt x="422849" y="60452"/>
                  </a:lnTo>
                  <a:lnTo>
                    <a:pt x="453849" y="91436"/>
                  </a:lnTo>
                  <a:lnTo>
                    <a:pt x="479227" y="127319"/>
                  </a:lnTo>
                  <a:lnTo>
                    <a:pt x="498254" y="167376"/>
                  </a:lnTo>
                  <a:lnTo>
                    <a:pt x="510204" y="210882"/>
                  </a:lnTo>
                  <a:lnTo>
                    <a:pt x="514350" y="257111"/>
                  </a:lnTo>
                  <a:lnTo>
                    <a:pt x="510204" y="303339"/>
                  </a:lnTo>
                  <a:lnTo>
                    <a:pt x="498254" y="346849"/>
                  </a:lnTo>
                  <a:lnTo>
                    <a:pt x="479227" y="386913"/>
                  </a:lnTo>
                  <a:lnTo>
                    <a:pt x="453849" y="422807"/>
                  </a:lnTo>
                  <a:lnTo>
                    <a:pt x="422849" y="453803"/>
                  </a:lnTo>
                  <a:lnTo>
                    <a:pt x="386954" y="479175"/>
                  </a:lnTo>
                  <a:lnTo>
                    <a:pt x="346892" y="498197"/>
                  </a:lnTo>
                  <a:lnTo>
                    <a:pt x="303389" y="510143"/>
                  </a:lnTo>
                  <a:lnTo>
                    <a:pt x="257175" y="514286"/>
                  </a:lnTo>
                  <a:lnTo>
                    <a:pt x="210960" y="510143"/>
                  </a:lnTo>
                  <a:lnTo>
                    <a:pt x="167457" y="498197"/>
                  </a:lnTo>
                  <a:lnTo>
                    <a:pt x="127395" y="479175"/>
                  </a:lnTo>
                  <a:lnTo>
                    <a:pt x="91500" y="453803"/>
                  </a:lnTo>
                  <a:lnTo>
                    <a:pt x="60500" y="422807"/>
                  </a:lnTo>
                  <a:lnTo>
                    <a:pt x="35122" y="386913"/>
                  </a:lnTo>
                  <a:lnTo>
                    <a:pt x="16095" y="346849"/>
                  </a:lnTo>
                  <a:lnTo>
                    <a:pt x="4145" y="303339"/>
                  </a:lnTo>
                  <a:lnTo>
                    <a:pt x="0" y="257111"/>
                  </a:lnTo>
                  <a:close/>
                </a:path>
              </a:pathLst>
            </a:custGeom>
            <a:ln w="25399">
              <a:solidFill>
                <a:srgbClr val="000000"/>
              </a:solidFill>
            </a:ln>
          </p:spPr>
          <p:txBody>
            <a:bodyPr wrap="square" lIns="0" tIns="0" rIns="0" bIns="0" rtlCol="0"/>
            <a:lstStyle/>
            <a:p/>
          </p:txBody>
        </p:sp>
      </p:grpSp>
      <p:sp>
        <p:nvSpPr>
          <p:cNvPr id="23" name="object 23" descr=""/>
          <p:cNvSpPr txBox="1"/>
          <p:nvPr/>
        </p:nvSpPr>
        <p:spPr>
          <a:xfrm>
            <a:off x="2805429" y="5537708"/>
            <a:ext cx="18034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D</a:t>
            </a:r>
            <a:endParaRPr sz="1600">
              <a:latin typeface="微软雅黑"/>
              <a:cs typeface="微软雅黑"/>
            </a:endParaRPr>
          </a:p>
        </p:txBody>
      </p:sp>
      <p:grpSp>
        <p:nvGrpSpPr>
          <p:cNvPr id="24" name="object 24" descr=""/>
          <p:cNvGrpSpPr/>
          <p:nvPr/>
        </p:nvGrpSpPr>
        <p:grpSpPr>
          <a:xfrm>
            <a:off x="7677150" y="6196012"/>
            <a:ext cx="1581150" cy="449580"/>
            <a:chOff x="7677150" y="6196012"/>
            <a:chExt cx="1581150" cy="449580"/>
          </a:xfrm>
        </p:grpSpPr>
        <p:sp>
          <p:nvSpPr>
            <p:cNvPr id="25" name="object 25" descr=""/>
            <p:cNvSpPr/>
            <p:nvPr/>
          </p:nvSpPr>
          <p:spPr>
            <a:xfrm>
              <a:off x="7696200" y="6215062"/>
              <a:ext cx="1543050" cy="411480"/>
            </a:xfrm>
            <a:custGeom>
              <a:avLst/>
              <a:gdLst/>
              <a:ahLst/>
              <a:cxnLst/>
              <a:rect l="l" t="t" r="r" b="b"/>
              <a:pathLst>
                <a:path w="1543050" h="411479">
                  <a:moveTo>
                    <a:pt x="1474470" y="0"/>
                  </a:moveTo>
                  <a:lnTo>
                    <a:pt x="68579" y="0"/>
                  </a:lnTo>
                  <a:lnTo>
                    <a:pt x="41898" y="5385"/>
                  </a:lnTo>
                  <a:lnTo>
                    <a:pt x="20097" y="20072"/>
                  </a:lnTo>
                  <a:lnTo>
                    <a:pt x="5393" y="41855"/>
                  </a:lnTo>
                  <a:lnTo>
                    <a:pt x="0" y="68529"/>
                  </a:lnTo>
                  <a:lnTo>
                    <a:pt x="0" y="342633"/>
                  </a:lnTo>
                  <a:lnTo>
                    <a:pt x="5393" y="369307"/>
                  </a:lnTo>
                  <a:lnTo>
                    <a:pt x="20097" y="391090"/>
                  </a:lnTo>
                  <a:lnTo>
                    <a:pt x="41898" y="405776"/>
                  </a:lnTo>
                  <a:lnTo>
                    <a:pt x="68579" y="411162"/>
                  </a:lnTo>
                  <a:lnTo>
                    <a:pt x="1474470" y="411162"/>
                  </a:lnTo>
                  <a:lnTo>
                    <a:pt x="1501151" y="405776"/>
                  </a:lnTo>
                  <a:lnTo>
                    <a:pt x="1522952" y="391090"/>
                  </a:lnTo>
                  <a:lnTo>
                    <a:pt x="1537656" y="369307"/>
                  </a:lnTo>
                  <a:lnTo>
                    <a:pt x="1543050" y="342633"/>
                  </a:lnTo>
                  <a:lnTo>
                    <a:pt x="1543050" y="68529"/>
                  </a:lnTo>
                  <a:lnTo>
                    <a:pt x="1537656" y="41855"/>
                  </a:lnTo>
                  <a:lnTo>
                    <a:pt x="1522952" y="20072"/>
                  </a:lnTo>
                  <a:lnTo>
                    <a:pt x="1501151" y="5385"/>
                  </a:lnTo>
                  <a:lnTo>
                    <a:pt x="1474470" y="0"/>
                  </a:lnTo>
                  <a:close/>
                </a:path>
              </a:pathLst>
            </a:custGeom>
            <a:solidFill>
              <a:srgbClr val="808080"/>
            </a:solidFill>
          </p:spPr>
          <p:txBody>
            <a:bodyPr wrap="square" lIns="0" tIns="0" rIns="0" bIns="0" rtlCol="0"/>
            <a:lstStyle/>
            <a:p/>
          </p:txBody>
        </p:sp>
        <p:sp>
          <p:nvSpPr>
            <p:cNvPr id="26" name="object 26" descr=""/>
            <p:cNvSpPr/>
            <p:nvPr/>
          </p:nvSpPr>
          <p:spPr>
            <a:xfrm>
              <a:off x="7696200" y="6215062"/>
              <a:ext cx="1543050" cy="411480"/>
            </a:xfrm>
            <a:custGeom>
              <a:avLst/>
              <a:gdLst/>
              <a:ahLst/>
              <a:cxnLst/>
              <a:rect l="l" t="t" r="r" b="b"/>
              <a:pathLst>
                <a:path w="1543050" h="411479">
                  <a:moveTo>
                    <a:pt x="0" y="68529"/>
                  </a:moveTo>
                  <a:lnTo>
                    <a:pt x="5393" y="41855"/>
                  </a:lnTo>
                  <a:lnTo>
                    <a:pt x="20097" y="20072"/>
                  </a:lnTo>
                  <a:lnTo>
                    <a:pt x="41898" y="5385"/>
                  </a:lnTo>
                  <a:lnTo>
                    <a:pt x="68579" y="0"/>
                  </a:lnTo>
                  <a:lnTo>
                    <a:pt x="1474470" y="0"/>
                  </a:lnTo>
                  <a:lnTo>
                    <a:pt x="1501151" y="5385"/>
                  </a:lnTo>
                  <a:lnTo>
                    <a:pt x="1522952" y="20072"/>
                  </a:lnTo>
                  <a:lnTo>
                    <a:pt x="1537656" y="41855"/>
                  </a:lnTo>
                  <a:lnTo>
                    <a:pt x="1543050" y="68529"/>
                  </a:lnTo>
                  <a:lnTo>
                    <a:pt x="1543050" y="342633"/>
                  </a:lnTo>
                  <a:lnTo>
                    <a:pt x="1537656" y="369307"/>
                  </a:lnTo>
                  <a:lnTo>
                    <a:pt x="1522952" y="391090"/>
                  </a:lnTo>
                  <a:lnTo>
                    <a:pt x="1501151" y="405776"/>
                  </a:lnTo>
                  <a:lnTo>
                    <a:pt x="1474470" y="411162"/>
                  </a:lnTo>
                  <a:lnTo>
                    <a:pt x="68579" y="411162"/>
                  </a:lnTo>
                  <a:lnTo>
                    <a:pt x="41898" y="405776"/>
                  </a:lnTo>
                  <a:lnTo>
                    <a:pt x="20097" y="391090"/>
                  </a:lnTo>
                  <a:lnTo>
                    <a:pt x="5393" y="369307"/>
                  </a:lnTo>
                  <a:lnTo>
                    <a:pt x="0" y="342633"/>
                  </a:lnTo>
                  <a:lnTo>
                    <a:pt x="0" y="68529"/>
                  </a:lnTo>
                  <a:close/>
                </a:path>
              </a:pathLst>
            </a:custGeom>
            <a:ln w="38100">
              <a:solidFill>
                <a:srgbClr val="000000"/>
              </a:solidFill>
            </a:ln>
          </p:spPr>
          <p:txBody>
            <a:bodyPr wrap="square" lIns="0" tIns="0" rIns="0" bIns="0" rtlCol="0"/>
            <a:lstStyle/>
            <a:p/>
          </p:txBody>
        </p:sp>
      </p:grpSp>
      <p:sp>
        <p:nvSpPr>
          <p:cNvPr id="27" name="object 27" descr=""/>
          <p:cNvSpPr txBox="1"/>
          <p:nvPr/>
        </p:nvSpPr>
        <p:spPr>
          <a:xfrm>
            <a:off x="8252841" y="6279896"/>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sp>
        <p:nvSpPr>
          <p:cNvPr id="28" name="object 28"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sp>
        <p:nvSpPr>
          <p:cNvPr id="29" name="object 29"/>
          <p:cNvSpPr txBox="1">
            <a:spLocks noGrp="1"/>
          </p:cNvSpPr>
          <p:nvPr>
            <p:ph type="title"/>
          </p:nvPr>
        </p:nvSpPr>
        <p:spPr>
          <a:xfrm>
            <a:off x="190500" y="0"/>
            <a:ext cx="8953500" cy="635000"/>
          </a:xfrm>
          <a:prstGeom prst="rect"/>
          <a:solidFill>
            <a:srgbClr val="F6F7F8"/>
          </a:solidFill>
        </p:spPr>
        <p:txBody>
          <a:bodyPr wrap="square" lIns="0" tIns="106045" rIns="0" bIns="0" rtlCol="0" vert="horz">
            <a:spAutoFit/>
          </a:bodyPr>
          <a:lstStyle/>
          <a:p>
            <a:pPr marL="154940">
              <a:lnSpc>
                <a:spcPct val="100000"/>
              </a:lnSpc>
              <a:spcBef>
                <a:spcPts val="835"/>
              </a:spcBef>
              <a:tabLst>
                <a:tab pos="1426845" algn="l"/>
              </a:tabLst>
            </a:pPr>
            <a:r>
              <a:rPr dirty="0" u="none" sz="2600" b="0">
                <a:solidFill>
                  <a:srgbClr val="000000"/>
                </a:solidFill>
                <a:latin typeface="微软雅黑"/>
                <a:cs typeface="微软雅黑"/>
              </a:rPr>
              <a:t>单选</a:t>
            </a:r>
            <a:r>
              <a:rPr dirty="0" u="none" sz="2600" spc="-50" b="0">
                <a:solidFill>
                  <a:srgbClr val="000000"/>
                </a:solidFill>
                <a:latin typeface="微软雅黑"/>
                <a:cs typeface="微软雅黑"/>
              </a:rPr>
              <a:t>题</a:t>
            </a:r>
            <a:r>
              <a:rPr dirty="0" u="none" sz="2600" b="0">
                <a:solidFill>
                  <a:srgbClr val="000000"/>
                </a:solidFill>
                <a:latin typeface="微软雅黑"/>
                <a:cs typeface="微软雅黑"/>
              </a:rPr>
              <a:t>	</a:t>
            </a:r>
            <a:r>
              <a:rPr dirty="0" u="none" baseline="-4166" sz="3000" b="0">
                <a:solidFill>
                  <a:srgbClr val="808080"/>
                </a:solidFill>
                <a:latin typeface="微软雅黑"/>
                <a:cs typeface="微软雅黑"/>
              </a:rPr>
              <a:t>1</a:t>
            </a:r>
            <a:r>
              <a:rPr dirty="0" u="none" baseline="-4166" sz="3000" spc="-75" b="0">
                <a:solidFill>
                  <a:srgbClr val="808080"/>
                </a:solidFill>
                <a:latin typeface="微软雅黑"/>
                <a:cs typeface="微软雅黑"/>
              </a:rPr>
              <a:t>分</a:t>
            </a:r>
            <a:endParaRPr baseline="-4166" sz="3000">
              <a:latin typeface="微软雅黑"/>
              <a:cs typeface="微软雅黑"/>
            </a:endParaRPr>
          </a:p>
        </p:txBody>
      </p:sp>
      <p:pic>
        <p:nvPicPr>
          <p:cNvPr id="30" name="object 30"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2.6.5</a:t>
            </a:r>
            <a:r>
              <a:rPr dirty="0" spc="-40">
                <a:solidFill>
                  <a:srgbClr val="4F55AC"/>
                </a:solidFill>
              </a:rPr>
              <a:t> </a:t>
            </a:r>
            <a:r>
              <a:rPr dirty="0">
                <a:solidFill>
                  <a:srgbClr val="4F55AC"/>
                </a:solidFill>
              </a:rPr>
              <a:t>MIPS</a:t>
            </a:r>
            <a:r>
              <a:rPr dirty="0" spc="-10">
                <a:solidFill>
                  <a:srgbClr val="4F55AC"/>
                </a:solidFill>
                <a:latin typeface="微软雅黑"/>
                <a:cs typeface="微软雅黑"/>
              </a:rPr>
              <a:t>指令操</a:t>
            </a:r>
            <a:r>
              <a:rPr dirty="0" spc="-50">
                <a:solidFill>
                  <a:srgbClr val="4F55AC"/>
                </a:solidFill>
                <a:latin typeface="微软雅黑"/>
                <a:cs typeface="微软雅黑"/>
              </a:rPr>
              <a:t>作</a:t>
            </a:r>
            <a:r>
              <a:rPr dirty="0">
                <a:solidFill>
                  <a:srgbClr val="4F55AC"/>
                </a:solidFill>
                <a:latin typeface="微软雅黑"/>
                <a:cs typeface="微软雅黑"/>
              </a:rPr>
              <a:t>	</a:t>
            </a:r>
          </a:p>
        </p:txBody>
      </p:sp>
      <p:sp>
        <p:nvSpPr>
          <p:cNvPr id="4" name="object 4" descr=""/>
          <p:cNvSpPr txBox="1"/>
          <p:nvPr/>
        </p:nvSpPr>
        <p:spPr>
          <a:xfrm>
            <a:off x="2477770" y="1009540"/>
            <a:ext cx="6786245" cy="3602354"/>
          </a:xfrm>
          <a:prstGeom prst="rect">
            <a:avLst/>
          </a:prstGeom>
        </p:spPr>
        <p:txBody>
          <a:bodyPr wrap="square" lIns="0" tIns="250825" rIns="0" bIns="0" rtlCol="0" vert="horz">
            <a:spAutoFit/>
          </a:bodyPr>
          <a:lstStyle/>
          <a:p>
            <a:pPr marL="494665" indent="-456565">
              <a:lnSpc>
                <a:spcPct val="100000"/>
              </a:lnSpc>
              <a:spcBef>
                <a:spcPts val="1975"/>
              </a:spcBef>
              <a:buClr>
                <a:srgbClr val="40458B"/>
              </a:buClr>
              <a:buSzPct val="117857"/>
              <a:buFont typeface="Wingdings"/>
              <a:buChar char=""/>
              <a:tabLst>
                <a:tab pos="494665" algn="l"/>
              </a:tabLst>
            </a:pPr>
            <a:r>
              <a:rPr dirty="0" sz="2800" spc="-20">
                <a:solidFill>
                  <a:srgbClr val="172152"/>
                </a:solidFill>
                <a:latin typeface="黑体"/>
                <a:cs typeface="黑体"/>
              </a:rPr>
              <a:t>MIPS</a:t>
            </a:r>
            <a:r>
              <a:rPr dirty="0" sz="2800" spc="-40">
                <a:solidFill>
                  <a:srgbClr val="172152"/>
                </a:solidFill>
                <a:latin typeface="黑体"/>
                <a:cs typeface="黑体"/>
              </a:rPr>
              <a:t>指令操作可以分为四大类</a:t>
            </a:r>
            <a:endParaRPr sz="2800">
              <a:latin typeface="黑体"/>
              <a:cs typeface="黑体"/>
            </a:endParaRPr>
          </a:p>
          <a:p>
            <a:pPr lvl="1" marL="1118870" marR="30480" indent="-360045">
              <a:lnSpc>
                <a:spcPct val="130100"/>
              </a:lnSpc>
              <a:spcBef>
                <a:spcPts val="630"/>
              </a:spcBef>
              <a:buClr>
                <a:srgbClr val="4668F5"/>
              </a:buClr>
              <a:buSzPct val="90000"/>
              <a:buFont typeface="Wingdings"/>
              <a:buChar char=""/>
              <a:tabLst>
                <a:tab pos="1118870" algn="l"/>
              </a:tabLst>
            </a:pPr>
            <a:r>
              <a:rPr dirty="0" sz="2000" spc="-20" b="1">
                <a:solidFill>
                  <a:srgbClr val="6F2F9F"/>
                </a:solidFill>
                <a:latin typeface="黑体"/>
                <a:cs typeface="黑体"/>
              </a:rPr>
              <a:t>load</a:t>
            </a:r>
            <a:r>
              <a:rPr dirty="0" sz="2000" b="1">
                <a:solidFill>
                  <a:srgbClr val="6F2F9F"/>
                </a:solidFill>
                <a:latin typeface="黑体"/>
                <a:cs typeface="黑体"/>
              </a:rPr>
              <a:t>和</a:t>
            </a:r>
            <a:r>
              <a:rPr dirty="0" sz="2000" spc="-20" b="1">
                <a:solidFill>
                  <a:srgbClr val="6F2F9F"/>
                </a:solidFill>
                <a:latin typeface="黑体"/>
                <a:cs typeface="黑体"/>
              </a:rPr>
              <a:t>store：可以对</a:t>
            </a:r>
            <a:r>
              <a:rPr dirty="0" sz="2000" spc="-15" b="1">
                <a:solidFill>
                  <a:srgbClr val="6F2F9F"/>
                </a:solidFill>
                <a:latin typeface="黑体"/>
                <a:cs typeface="黑体"/>
              </a:rPr>
              <a:t>MIPS</a:t>
            </a:r>
            <a:r>
              <a:rPr dirty="0" sz="2000" spc="-25" b="1">
                <a:solidFill>
                  <a:srgbClr val="6F2F9F"/>
                </a:solidFill>
                <a:latin typeface="黑体"/>
                <a:cs typeface="黑体"/>
              </a:rPr>
              <a:t>的所有寄存器和浮点寄</a:t>
            </a:r>
            <a:r>
              <a:rPr dirty="0" sz="2000" spc="-15" b="1">
                <a:solidFill>
                  <a:srgbClr val="6F2F9F"/>
                </a:solidFill>
                <a:latin typeface="黑体"/>
                <a:cs typeface="黑体"/>
              </a:rPr>
              <a:t>存器进行</a:t>
            </a:r>
            <a:r>
              <a:rPr dirty="0" sz="2000" b="1">
                <a:solidFill>
                  <a:srgbClr val="6F2F9F"/>
                </a:solidFill>
                <a:latin typeface="黑体"/>
                <a:cs typeface="黑体"/>
              </a:rPr>
              <a:t>load</a:t>
            </a:r>
            <a:r>
              <a:rPr dirty="0" sz="2000" spc="-30" b="1">
                <a:solidFill>
                  <a:srgbClr val="6F2F9F"/>
                </a:solidFill>
                <a:latin typeface="黑体"/>
                <a:cs typeface="黑体"/>
              </a:rPr>
              <a:t> </a:t>
            </a:r>
            <a:r>
              <a:rPr dirty="0" sz="2000" spc="-15" b="1">
                <a:solidFill>
                  <a:srgbClr val="6F2F9F"/>
                </a:solidFill>
                <a:latin typeface="黑体"/>
                <a:cs typeface="黑体"/>
              </a:rPr>
              <a:t>（载入）</a:t>
            </a:r>
            <a:r>
              <a:rPr dirty="0" sz="2000" spc="-10" b="1">
                <a:solidFill>
                  <a:srgbClr val="6F2F9F"/>
                </a:solidFill>
                <a:latin typeface="黑体"/>
                <a:cs typeface="黑体"/>
              </a:rPr>
              <a:t>和store（</a:t>
            </a:r>
            <a:r>
              <a:rPr dirty="0" sz="2000" spc="-15" b="1">
                <a:solidFill>
                  <a:srgbClr val="6F2F9F"/>
                </a:solidFill>
                <a:latin typeface="黑体"/>
                <a:cs typeface="黑体"/>
              </a:rPr>
              <a:t>存储</a:t>
            </a:r>
            <a:r>
              <a:rPr dirty="0" sz="2000" spc="-20" b="1">
                <a:solidFill>
                  <a:srgbClr val="6F2F9F"/>
                </a:solidFill>
                <a:latin typeface="黑体"/>
                <a:cs typeface="黑体"/>
              </a:rPr>
              <a:t>）</a:t>
            </a:r>
            <a:r>
              <a:rPr dirty="0" sz="2000" spc="-25" b="1">
                <a:solidFill>
                  <a:srgbClr val="6F2F9F"/>
                </a:solidFill>
                <a:latin typeface="黑体"/>
                <a:cs typeface="黑体"/>
              </a:rPr>
              <a:t>操作，但</a:t>
            </a:r>
            <a:r>
              <a:rPr dirty="0" sz="2000" spc="-15" b="1">
                <a:solidFill>
                  <a:srgbClr val="6F2F9F"/>
                </a:solidFill>
                <a:latin typeface="黑体"/>
                <a:cs typeface="黑体"/>
              </a:rPr>
              <a:t>对通用寄存器</a:t>
            </a:r>
            <a:r>
              <a:rPr dirty="0" sz="2000" spc="-10" b="1">
                <a:solidFill>
                  <a:srgbClr val="6F2F9F"/>
                </a:solidFill>
                <a:latin typeface="黑体"/>
                <a:cs typeface="黑体"/>
              </a:rPr>
              <a:t>R0的</a:t>
            </a:r>
            <a:r>
              <a:rPr dirty="0" sz="2000" spc="-20" b="1">
                <a:solidFill>
                  <a:srgbClr val="6F2F9F"/>
                </a:solidFill>
                <a:latin typeface="黑体"/>
                <a:cs typeface="黑体"/>
              </a:rPr>
              <a:t>load操作没任何效果</a:t>
            </a:r>
            <a:endParaRPr sz="2000">
              <a:latin typeface="黑体"/>
              <a:cs typeface="黑体"/>
            </a:endParaRPr>
          </a:p>
          <a:p>
            <a:pPr marL="494665" indent="-456565">
              <a:lnSpc>
                <a:spcPct val="100000"/>
              </a:lnSpc>
              <a:spcBef>
                <a:spcPts val="1530"/>
              </a:spcBef>
              <a:buClr>
                <a:srgbClr val="40458B"/>
              </a:buClr>
              <a:buSzPct val="117857"/>
              <a:buFont typeface="Wingdings"/>
              <a:buChar char=""/>
              <a:tabLst>
                <a:tab pos="494665" algn="l"/>
              </a:tabLst>
            </a:pPr>
            <a:r>
              <a:rPr dirty="0" sz="2800" spc="-30">
                <a:solidFill>
                  <a:srgbClr val="172152"/>
                </a:solidFill>
                <a:latin typeface="黑体"/>
                <a:cs typeface="黑体"/>
              </a:rPr>
              <a:t>符号的意义</a:t>
            </a:r>
            <a:endParaRPr sz="2800">
              <a:latin typeface="黑体"/>
              <a:cs typeface="黑体"/>
            </a:endParaRPr>
          </a:p>
          <a:p>
            <a:pPr lvl="1" marL="1124585" indent="-457200">
              <a:lnSpc>
                <a:spcPct val="100000"/>
              </a:lnSpc>
              <a:spcBef>
                <a:spcPts val="1440"/>
              </a:spcBef>
              <a:buClr>
                <a:srgbClr val="006FC0"/>
              </a:buClr>
              <a:buSzPct val="88636"/>
              <a:buFont typeface="Wingdings"/>
              <a:buChar char=""/>
              <a:tabLst>
                <a:tab pos="1124585" algn="l"/>
              </a:tabLst>
            </a:pPr>
            <a:r>
              <a:rPr dirty="0" sz="2200" spc="-20">
                <a:solidFill>
                  <a:srgbClr val="D50092"/>
                </a:solidFill>
                <a:latin typeface="黑体"/>
                <a:cs typeface="黑体"/>
              </a:rPr>
              <a:t>x←</a:t>
            </a:r>
            <a:r>
              <a:rPr dirty="0" baseline="-21072" sz="2175" spc="-30">
                <a:solidFill>
                  <a:srgbClr val="D50092"/>
                </a:solidFill>
                <a:latin typeface="黑体"/>
                <a:cs typeface="黑体"/>
              </a:rPr>
              <a:t>n</a:t>
            </a:r>
            <a:r>
              <a:rPr dirty="0" sz="2200" spc="-20">
                <a:solidFill>
                  <a:srgbClr val="D50092"/>
                </a:solidFill>
                <a:latin typeface="黑体"/>
                <a:cs typeface="黑体"/>
              </a:rPr>
              <a:t>y：</a:t>
            </a:r>
            <a:r>
              <a:rPr dirty="0" sz="2200" spc="-35">
                <a:solidFill>
                  <a:srgbClr val="006FC0"/>
                </a:solidFill>
                <a:latin typeface="黑体"/>
                <a:cs typeface="黑体"/>
              </a:rPr>
              <a:t>从</a:t>
            </a:r>
            <a:r>
              <a:rPr dirty="0" sz="2200" spc="-30">
                <a:solidFill>
                  <a:srgbClr val="006FC0"/>
                </a:solidFill>
                <a:latin typeface="黑体"/>
                <a:cs typeface="黑体"/>
              </a:rPr>
              <a:t>y传送</a:t>
            </a:r>
            <a:r>
              <a:rPr dirty="0" sz="2200" spc="-20">
                <a:solidFill>
                  <a:srgbClr val="FF0000"/>
                </a:solidFill>
                <a:latin typeface="黑体"/>
                <a:cs typeface="黑体"/>
              </a:rPr>
              <a:t>n</a:t>
            </a:r>
            <a:r>
              <a:rPr dirty="0" sz="2200" spc="-30">
                <a:solidFill>
                  <a:srgbClr val="006FC0"/>
                </a:solidFill>
                <a:latin typeface="黑体"/>
                <a:cs typeface="黑体"/>
              </a:rPr>
              <a:t>位到</a:t>
            </a:r>
            <a:r>
              <a:rPr dirty="0" sz="2200" spc="-50">
                <a:solidFill>
                  <a:srgbClr val="006FC0"/>
                </a:solidFill>
                <a:latin typeface="黑体"/>
                <a:cs typeface="黑体"/>
              </a:rPr>
              <a:t>x</a:t>
            </a:r>
            <a:endParaRPr sz="2200">
              <a:latin typeface="黑体"/>
              <a:cs typeface="黑体"/>
            </a:endParaRPr>
          </a:p>
          <a:p>
            <a:pPr lvl="1" marL="1124585" indent="-457200">
              <a:lnSpc>
                <a:spcPct val="100000"/>
              </a:lnSpc>
              <a:spcBef>
                <a:spcPts val="1320"/>
              </a:spcBef>
              <a:buClr>
                <a:srgbClr val="006FC0"/>
              </a:buClr>
              <a:buSzPct val="88636"/>
              <a:buFont typeface="Wingdings"/>
              <a:buChar char=""/>
              <a:tabLst>
                <a:tab pos="1124585" algn="l"/>
              </a:tabLst>
            </a:pPr>
            <a:r>
              <a:rPr dirty="0" sz="2200" spc="-20">
                <a:solidFill>
                  <a:srgbClr val="D50092"/>
                </a:solidFill>
                <a:latin typeface="黑体"/>
                <a:cs typeface="黑体"/>
              </a:rPr>
              <a:t>x，y←z：</a:t>
            </a:r>
            <a:r>
              <a:rPr dirty="0" sz="2200" spc="-30">
                <a:solidFill>
                  <a:srgbClr val="006FC0"/>
                </a:solidFill>
                <a:latin typeface="黑体"/>
                <a:cs typeface="黑体"/>
              </a:rPr>
              <a:t>把</a:t>
            </a:r>
            <a:r>
              <a:rPr dirty="0" sz="2200" spc="-10">
                <a:solidFill>
                  <a:srgbClr val="006FC0"/>
                </a:solidFill>
                <a:latin typeface="黑体"/>
                <a:cs typeface="黑体"/>
              </a:rPr>
              <a:t>z</a:t>
            </a:r>
            <a:r>
              <a:rPr dirty="0" sz="2200" spc="-30">
                <a:solidFill>
                  <a:srgbClr val="006FC0"/>
                </a:solidFill>
                <a:latin typeface="黑体"/>
                <a:cs typeface="黑体"/>
              </a:rPr>
              <a:t>传送到</a:t>
            </a:r>
            <a:r>
              <a:rPr dirty="0" sz="2200" spc="-10">
                <a:solidFill>
                  <a:srgbClr val="006FC0"/>
                </a:solidFill>
                <a:latin typeface="黑体"/>
                <a:cs typeface="黑体"/>
              </a:rPr>
              <a:t>x</a:t>
            </a:r>
            <a:r>
              <a:rPr dirty="0" sz="2200" spc="-30">
                <a:solidFill>
                  <a:srgbClr val="006FC0"/>
                </a:solidFill>
                <a:latin typeface="黑体"/>
                <a:cs typeface="黑体"/>
              </a:rPr>
              <a:t>和</a:t>
            </a:r>
            <a:r>
              <a:rPr dirty="0" sz="2200" spc="-50">
                <a:solidFill>
                  <a:srgbClr val="006FC0"/>
                </a:solidFill>
                <a:latin typeface="黑体"/>
                <a:cs typeface="黑体"/>
              </a:rPr>
              <a:t>y</a:t>
            </a:r>
            <a:endParaRPr sz="2200">
              <a:latin typeface="黑体"/>
              <a:cs typeface="黑体"/>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2.6.5</a:t>
            </a:r>
            <a:r>
              <a:rPr dirty="0" spc="-40">
                <a:solidFill>
                  <a:srgbClr val="4F55AC"/>
                </a:solidFill>
              </a:rPr>
              <a:t> </a:t>
            </a:r>
            <a:r>
              <a:rPr dirty="0">
                <a:solidFill>
                  <a:srgbClr val="4F55AC"/>
                </a:solidFill>
              </a:rPr>
              <a:t>MIPS</a:t>
            </a:r>
            <a:r>
              <a:rPr dirty="0" spc="-10">
                <a:solidFill>
                  <a:srgbClr val="4F55AC"/>
                </a:solidFill>
                <a:latin typeface="微软雅黑"/>
                <a:cs typeface="微软雅黑"/>
              </a:rPr>
              <a:t>指令操</a:t>
            </a:r>
            <a:r>
              <a:rPr dirty="0" spc="-50">
                <a:solidFill>
                  <a:srgbClr val="4F55AC"/>
                </a:solidFill>
                <a:latin typeface="微软雅黑"/>
                <a:cs typeface="微软雅黑"/>
              </a:rPr>
              <a:t>作</a:t>
            </a:r>
            <a:r>
              <a:rPr dirty="0">
                <a:solidFill>
                  <a:srgbClr val="4F55AC"/>
                </a:solidFill>
                <a:latin typeface="微软雅黑"/>
                <a:cs typeface="微软雅黑"/>
              </a:rPr>
              <a:t>	</a:t>
            </a:r>
          </a:p>
        </p:txBody>
      </p:sp>
      <p:sp>
        <p:nvSpPr>
          <p:cNvPr id="4" name="object 4" descr=""/>
          <p:cNvSpPr txBox="1"/>
          <p:nvPr/>
        </p:nvSpPr>
        <p:spPr>
          <a:xfrm>
            <a:off x="1637919" y="1085850"/>
            <a:ext cx="8745855" cy="4829810"/>
          </a:xfrm>
          <a:prstGeom prst="rect">
            <a:avLst/>
          </a:prstGeom>
        </p:spPr>
        <p:txBody>
          <a:bodyPr wrap="square" lIns="0" tIns="13335" rIns="0" bIns="0" rtlCol="0" vert="horz">
            <a:spAutoFit/>
          </a:bodyPr>
          <a:lstStyle/>
          <a:p>
            <a:pPr marL="25400">
              <a:lnSpc>
                <a:spcPct val="100000"/>
              </a:lnSpc>
              <a:spcBef>
                <a:spcPts val="105"/>
              </a:spcBef>
            </a:pPr>
            <a:r>
              <a:rPr dirty="0" sz="2600" spc="-10">
                <a:solidFill>
                  <a:srgbClr val="40458B"/>
                </a:solidFill>
                <a:latin typeface="黑体"/>
                <a:cs typeface="黑体"/>
              </a:rPr>
              <a:t>MIPS</a:t>
            </a:r>
            <a:r>
              <a:rPr dirty="0" sz="2600" spc="-15">
                <a:solidFill>
                  <a:srgbClr val="40458B"/>
                </a:solidFill>
                <a:latin typeface="黑体"/>
                <a:cs typeface="黑体"/>
              </a:rPr>
              <a:t>指令符号的意义：</a:t>
            </a:r>
            <a:endParaRPr sz="2600">
              <a:latin typeface="黑体"/>
              <a:cs typeface="黑体"/>
            </a:endParaRPr>
          </a:p>
          <a:p>
            <a:pPr marL="595630" indent="-457200">
              <a:lnSpc>
                <a:spcPct val="100000"/>
              </a:lnSpc>
              <a:spcBef>
                <a:spcPts val="1590"/>
              </a:spcBef>
              <a:buClr>
                <a:srgbClr val="006FC0"/>
              </a:buClr>
              <a:buSzPct val="88636"/>
              <a:buFont typeface="Wingdings"/>
              <a:buChar char=""/>
              <a:tabLst>
                <a:tab pos="595630" algn="l"/>
              </a:tabLst>
            </a:pPr>
            <a:r>
              <a:rPr dirty="0" sz="2200" spc="-30">
                <a:solidFill>
                  <a:srgbClr val="D50092"/>
                </a:solidFill>
                <a:latin typeface="黑体"/>
                <a:cs typeface="黑体"/>
              </a:rPr>
              <a:t>下标：</a:t>
            </a:r>
            <a:r>
              <a:rPr dirty="0" sz="2200" spc="-35">
                <a:solidFill>
                  <a:srgbClr val="006FC0"/>
                </a:solidFill>
                <a:latin typeface="黑体"/>
                <a:cs typeface="黑体"/>
              </a:rPr>
              <a:t>表示字段中具体的位；</a:t>
            </a:r>
            <a:endParaRPr sz="2200">
              <a:latin typeface="黑体"/>
              <a:cs typeface="黑体"/>
            </a:endParaRPr>
          </a:p>
          <a:p>
            <a:pPr lvl="1" marL="804545" marR="17780" indent="-358775">
              <a:lnSpc>
                <a:spcPct val="120000"/>
              </a:lnSpc>
              <a:spcBef>
                <a:spcPts val="509"/>
              </a:spcBef>
              <a:buClr>
                <a:srgbClr val="4668F5"/>
              </a:buClr>
              <a:buSzPct val="72500"/>
              <a:buFont typeface="Wingdings"/>
              <a:buChar char=""/>
              <a:tabLst>
                <a:tab pos="804545" algn="l"/>
              </a:tabLst>
            </a:pPr>
            <a:r>
              <a:rPr dirty="0" sz="2000" spc="-20" b="1">
                <a:solidFill>
                  <a:srgbClr val="6F2F9F"/>
                </a:solidFill>
                <a:latin typeface="黑体"/>
                <a:cs typeface="黑体"/>
              </a:rPr>
              <a:t>对于指令和数据，按从最高位到最低位（</a:t>
            </a:r>
            <a:r>
              <a:rPr dirty="0" sz="2000" spc="-15" b="1">
                <a:solidFill>
                  <a:srgbClr val="6F2F9F"/>
                </a:solidFill>
                <a:latin typeface="黑体"/>
                <a:cs typeface="黑体"/>
              </a:rPr>
              <a:t>即从左到右</a:t>
            </a:r>
            <a:r>
              <a:rPr dirty="0" sz="2000" spc="-20" b="1">
                <a:solidFill>
                  <a:srgbClr val="6F2F9F"/>
                </a:solidFill>
                <a:latin typeface="黑体"/>
                <a:cs typeface="黑体"/>
              </a:rPr>
              <a:t>）</a:t>
            </a:r>
            <a:r>
              <a:rPr dirty="0" sz="2000" spc="-25" b="1">
                <a:solidFill>
                  <a:srgbClr val="6F2F9F"/>
                </a:solidFill>
                <a:latin typeface="黑体"/>
                <a:cs typeface="黑体"/>
              </a:rPr>
              <a:t>的顺序依次进行</a:t>
            </a:r>
            <a:r>
              <a:rPr dirty="0" sz="2000" spc="-15" b="1">
                <a:solidFill>
                  <a:srgbClr val="6F2F9F"/>
                </a:solidFill>
                <a:latin typeface="黑体"/>
                <a:cs typeface="黑体"/>
              </a:rPr>
              <a:t>编号，最高位为第</a:t>
            </a:r>
            <a:r>
              <a:rPr dirty="0" sz="2000" spc="-15" b="1">
                <a:solidFill>
                  <a:srgbClr val="6F2F9F"/>
                </a:solidFill>
                <a:latin typeface="宋体"/>
                <a:cs typeface="宋体"/>
              </a:rPr>
              <a:t>0</a:t>
            </a:r>
            <a:r>
              <a:rPr dirty="0" sz="2000" spc="-20" b="1">
                <a:solidFill>
                  <a:srgbClr val="6F2F9F"/>
                </a:solidFill>
                <a:latin typeface="黑体"/>
                <a:cs typeface="黑体"/>
              </a:rPr>
              <a:t>位，次高位为第</a:t>
            </a:r>
            <a:r>
              <a:rPr dirty="0" sz="2000" spc="-15" b="1">
                <a:solidFill>
                  <a:srgbClr val="6F2F9F"/>
                </a:solidFill>
                <a:latin typeface="宋体"/>
                <a:cs typeface="宋体"/>
              </a:rPr>
              <a:t>1</a:t>
            </a:r>
            <a:r>
              <a:rPr dirty="0" sz="2000" spc="-20" b="1">
                <a:solidFill>
                  <a:srgbClr val="6F2F9F"/>
                </a:solidFill>
                <a:latin typeface="黑体"/>
                <a:cs typeface="黑体"/>
              </a:rPr>
              <a:t>位，依此类推。</a:t>
            </a:r>
            <a:endParaRPr sz="2000">
              <a:latin typeface="黑体"/>
              <a:cs typeface="黑体"/>
            </a:endParaRPr>
          </a:p>
          <a:p>
            <a:pPr lvl="1" marL="804545" indent="-358140">
              <a:lnSpc>
                <a:spcPct val="100000"/>
              </a:lnSpc>
              <a:spcBef>
                <a:spcPts val="960"/>
              </a:spcBef>
              <a:buClr>
                <a:srgbClr val="4668F5"/>
              </a:buClr>
              <a:buSzPct val="72500"/>
              <a:buFont typeface="Wingdings"/>
              <a:buChar char=""/>
              <a:tabLst>
                <a:tab pos="804545" algn="l"/>
              </a:tabLst>
            </a:pPr>
            <a:r>
              <a:rPr dirty="0" sz="2000" spc="-20" b="1">
                <a:solidFill>
                  <a:srgbClr val="FF0000"/>
                </a:solidFill>
                <a:latin typeface="黑体"/>
                <a:cs typeface="黑体"/>
              </a:rPr>
              <a:t>下标可以是一个数字，也可以是一个范围</a:t>
            </a:r>
            <a:r>
              <a:rPr dirty="0" sz="2000" spc="-50" b="1">
                <a:solidFill>
                  <a:srgbClr val="6F2F9F"/>
                </a:solidFill>
                <a:latin typeface="黑体"/>
                <a:cs typeface="黑体"/>
              </a:rPr>
              <a:t>。</a:t>
            </a:r>
            <a:endParaRPr sz="2000">
              <a:latin typeface="黑体"/>
              <a:cs typeface="黑体"/>
            </a:endParaRPr>
          </a:p>
          <a:p>
            <a:pPr marL="446405">
              <a:lnSpc>
                <a:spcPct val="100000"/>
              </a:lnSpc>
              <a:spcBef>
                <a:spcPts val="960"/>
              </a:spcBef>
            </a:pPr>
            <a:r>
              <a:rPr dirty="0" sz="2000" spc="-5" b="1">
                <a:solidFill>
                  <a:srgbClr val="E14B04"/>
                </a:solidFill>
                <a:latin typeface="黑体"/>
                <a:cs typeface="黑体"/>
              </a:rPr>
              <a:t>例如：</a:t>
            </a:r>
            <a:r>
              <a:rPr dirty="0" sz="2000" spc="-10" b="1">
                <a:solidFill>
                  <a:srgbClr val="6F2F9F"/>
                </a:solidFill>
                <a:latin typeface="宋体"/>
                <a:cs typeface="宋体"/>
              </a:rPr>
              <a:t>Regs[R4]</a:t>
            </a:r>
            <a:r>
              <a:rPr dirty="0" baseline="-21367" sz="1950" spc="-15" b="1">
                <a:solidFill>
                  <a:srgbClr val="6F2F9F"/>
                </a:solidFill>
                <a:latin typeface="宋体"/>
                <a:cs typeface="宋体"/>
              </a:rPr>
              <a:t>0</a:t>
            </a:r>
            <a:r>
              <a:rPr dirty="0" sz="2000" spc="-20" b="1">
                <a:solidFill>
                  <a:srgbClr val="6F2F9F"/>
                </a:solidFill>
                <a:latin typeface="黑体"/>
                <a:cs typeface="黑体"/>
              </a:rPr>
              <a:t>：寄存器</a:t>
            </a:r>
            <a:r>
              <a:rPr dirty="0" sz="2000" spc="-10" b="1">
                <a:solidFill>
                  <a:srgbClr val="6F2F9F"/>
                </a:solidFill>
                <a:latin typeface="宋体"/>
                <a:cs typeface="宋体"/>
              </a:rPr>
              <a:t>R4</a:t>
            </a:r>
            <a:r>
              <a:rPr dirty="0" sz="2000" spc="-25" b="1">
                <a:solidFill>
                  <a:srgbClr val="6F2F9F"/>
                </a:solidFill>
                <a:latin typeface="黑体"/>
                <a:cs typeface="黑体"/>
              </a:rPr>
              <a:t>中内容的符号位</a:t>
            </a:r>
            <a:endParaRPr sz="2000">
              <a:latin typeface="黑体"/>
              <a:cs typeface="黑体"/>
            </a:endParaRPr>
          </a:p>
          <a:p>
            <a:pPr algn="ctr" marR="370205">
              <a:lnSpc>
                <a:spcPct val="100000"/>
              </a:lnSpc>
              <a:spcBef>
                <a:spcPts val="965"/>
              </a:spcBef>
            </a:pPr>
            <a:r>
              <a:rPr dirty="0" sz="2000" b="1">
                <a:solidFill>
                  <a:srgbClr val="6F2F9F"/>
                </a:solidFill>
                <a:latin typeface="宋体"/>
                <a:cs typeface="宋体"/>
              </a:rPr>
              <a:t>Regs[R4]</a:t>
            </a:r>
            <a:r>
              <a:rPr dirty="0" baseline="-21367" sz="1950" b="1">
                <a:solidFill>
                  <a:srgbClr val="6F2F9F"/>
                </a:solidFill>
                <a:latin typeface="宋体"/>
                <a:cs typeface="宋体"/>
              </a:rPr>
              <a:t>56-63</a:t>
            </a:r>
            <a:r>
              <a:rPr dirty="0" sz="2000" spc="-5" b="1">
                <a:solidFill>
                  <a:srgbClr val="6F2F9F"/>
                </a:solidFill>
                <a:latin typeface="黑体"/>
                <a:cs typeface="黑体"/>
              </a:rPr>
              <a:t>：共</a:t>
            </a:r>
            <a:r>
              <a:rPr dirty="0" sz="2000" spc="-15" b="1">
                <a:solidFill>
                  <a:srgbClr val="6F2F9F"/>
                </a:solidFill>
                <a:latin typeface="宋体"/>
                <a:cs typeface="宋体"/>
              </a:rPr>
              <a:t>8</a:t>
            </a:r>
            <a:r>
              <a:rPr dirty="0" sz="2000" spc="-15" b="1">
                <a:solidFill>
                  <a:srgbClr val="6F2F9F"/>
                </a:solidFill>
                <a:latin typeface="黑体"/>
                <a:cs typeface="黑体"/>
              </a:rPr>
              <a:t>位，寄存器</a:t>
            </a:r>
            <a:r>
              <a:rPr dirty="0" sz="2000" spc="-15" b="1">
                <a:solidFill>
                  <a:srgbClr val="6F2F9F"/>
                </a:solidFill>
                <a:latin typeface="宋体"/>
                <a:cs typeface="宋体"/>
              </a:rPr>
              <a:t>R4</a:t>
            </a:r>
            <a:r>
              <a:rPr dirty="0" sz="2000" spc="-25" b="1">
                <a:solidFill>
                  <a:srgbClr val="6F2F9F"/>
                </a:solidFill>
                <a:latin typeface="黑体"/>
                <a:cs typeface="黑体"/>
              </a:rPr>
              <a:t>内容的最低一个字节</a:t>
            </a:r>
            <a:endParaRPr sz="2000">
              <a:latin typeface="黑体"/>
              <a:cs typeface="黑体"/>
            </a:endParaRPr>
          </a:p>
          <a:p>
            <a:pPr marL="595630" indent="-457200">
              <a:lnSpc>
                <a:spcPct val="100000"/>
              </a:lnSpc>
              <a:spcBef>
                <a:spcPts val="1025"/>
              </a:spcBef>
              <a:buClr>
                <a:srgbClr val="006FC0"/>
              </a:buClr>
              <a:buSzPct val="88636"/>
              <a:buFont typeface="Wingdings"/>
              <a:buChar char=""/>
              <a:tabLst>
                <a:tab pos="595630" algn="l"/>
              </a:tabLst>
            </a:pPr>
            <a:r>
              <a:rPr dirty="0" sz="2200" spc="-20">
                <a:solidFill>
                  <a:srgbClr val="D50092"/>
                </a:solidFill>
                <a:latin typeface="黑体"/>
                <a:cs typeface="黑体"/>
              </a:rPr>
              <a:t>Mem：</a:t>
            </a:r>
            <a:r>
              <a:rPr dirty="0" sz="2200" spc="-35">
                <a:solidFill>
                  <a:srgbClr val="006FC0"/>
                </a:solidFill>
                <a:latin typeface="黑体"/>
                <a:cs typeface="黑体"/>
              </a:rPr>
              <a:t>表示主存；</a:t>
            </a:r>
            <a:endParaRPr sz="2200">
              <a:latin typeface="黑体"/>
              <a:cs typeface="黑体"/>
            </a:endParaRPr>
          </a:p>
          <a:p>
            <a:pPr lvl="1" marL="804545" indent="-358140">
              <a:lnSpc>
                <a:spcPct val="100000"/>
              </a:lnSpc>
              <a:spcBef>
                <a:spcPts val="990"/>
              </a:spcBef>
              <a:buClr>
                <a:srgbClr val="4668F5"/>
              </a:buClr>
              <a:buSzPct val="72500"/>
              <a:buFont typeface="Wingdings"/>
              <a:buChar char=""/>
              <a:tabLst>
                <a:tab pos="804545" algn="l"/>
              </a:tabLst>
            </a:pPr>
            <a:r>
              <a:rPr dirty="0" sz="2000" spc="-25" b="1">
                <a:solidFill>
                  <a:srgbClr val="6F2F9F"/>
                </a:solidFill>
                <a:latin typeface="黑体"/>
                <a:cs typeface="黑体"/>
              </a:rPr>
              <a:t>按字节寻址，可以传输任意个字节。</a:t>
            </a:r>
            <a:endParaRPr sz="2000">
              <a:latin typeface="黑体"/>
              <a:cs typeface="黑体"/>
            </a:endParaRPr>
          </a:p>
          <a:p>
            <a:pPr marL="595630" indent="-457200">
              <a:lnSpc>
                <a:spcPct val="100000"/>
              </a:lnSpc>
              <a:spcBef>
                <a:spcPts val="1025"/>
              </a:spcBef>
              <a:buClr>
                <a:srgbClr val="006FC0"/>
              </a:buClr>
              <a:buSzPct val="88636"/>
              <a:buFont typeface="Wingdings"/>
              <a:buChar char=""/>
              <a:tabLst>
                <a:tab pos="595630" algn="l"/>
              </a:tabLst>
            </a:pPr>
            <a:r>
              <a:rPr dirty="0" sz="2200" spc="-30">
                <a:solidFill>
                  <a:srgbClr val="D50092"/>
                </a:solidFill>
                <a:latin typeface="黑体"/>
                <a:cs typeface="黑体"/>
              </a:rPr>
              <a:t>上标：</a:t>
            </a:r>
            <a:r>
              <a:rPr dirty="0" sz="2200" spc="-35">
                <a:solidFill>
                  <a:srgbClr val="006FC0"/>
                </a:solidFill>
                <a:latin typeface="黑体"/>
                <a:cs typeface="黑体"/>
              </a:rPr>
              <a:t>用于表示对字段进行复制的次数。</a:t>
            </a:r>
            <a:endParaRPr sz="2200">
              <a:latin typeface="黑体"/>
              <a:cs typeface="黑体"/>
            </a:endParaRPr>
          </a:p>
          <a:p>
            <a:pPr marL="446405">
              <a:lnSpc>
                <a:spcPct val="100000"/>
              </a:lnSpc>
              <a:spcBef>
                <a:spcPts val="994"/>
              </a:spcBef>
            </a:pPr>
            <a:r>
              <a:rPr dirty="0" sz="2000" spc="-20" b="1">
                <a:solidFill>
                  <a:srgbClr val="E14B04"/>
                </a:solidFill>
                <a:latin typeface="黑体"/>
                <a:cs typeface="黑体"/>
              </a:rPr>
              <a:t>例如：</a:t>
            </a:r>
            <a:r>
              <a:rPr dirty="0" sz="2000" spc="-25" b="1">
                <a:solidFill>
                  <a:srgbClr val="6F2F9F"/>
                </a:solidFill>
                <a:latin typeface="黑体"/>
                <a:cs typeface="黑体"/>
              </a:rPr>
              <a:t>0</a:t>
            </a:r>
            <a:r>
              <a:rPr dirty="0" sz="2000" spc="-465" b="1">
                <a:solidFill>
                  <a:srgbClr val="6F2F9F"/>
                </a:solidFill>
                <a:latin typeface="黑体"/>
                <a:cs typeface="黑体"/>
              </a:rPr>
              <a:t> </a:t>
            </a:r>
            <a:r>
              <a:rPr dirty="0" baseline="25641" sz="1950" b="1">
                <a:solidFill>
                  <a:srgbClr val="6F2F9F"/>
                </a:solidFill>
                <a:latin typeface="黑体"/>
                <a:cs typeface="黑体"/>
              </a:rPr>
              <a:t>32</a:t>
            </a:r>
            <a:r>
              <a:rPr dirty="0" sz="2000" spc="-10" b="1">
                <a:solidFill>
                  <a:srgbClr val="6F2F9F"/>
                </a:solidFill>
                <a:latin typeface="黑体"/>
                <a:cs typeface="黑体"/>
              </a:rPr>
              <a:t>：一个</a:t>
            </a:r>
            <a:r>
              <a:rPr dirty="0" sz="2000" spc="-15" b="1">
                <a:solidFill>
                  <a:srgbClr val="6F2F9F"/>
                </a:solidFill>
                <a:latin typeface="黑体"/>
                <a:cs typeface="黑体"/>
              </a:rPr>
              <a:t>32位长的全0</a:t>
            </a:r>
            <a:r>
              <a:rPr dirty="0" sz="2000" spc="-30" b="1">
                <a:solidFill>
                  <a:srgbClr val="6F2F9F"/>
                </a:solidFill>
                <a:latin typeface="黑体"/>
                <a:cs typeface="黑体"/>
              </a:rPr>
              <a:t>字段</a:t>
            </a:r>
            <a:endParaRPr sz="2000">
              <a:latin typeface="黑体"/>
              <a:cs typeface="黑体"/>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2.6.5</a:t>
            </a:r>
            <a:r>
              <a:rPr dirty="0" spc="-40">
                <a:solidFill>
                  <a:srgbClr val="4F55AC"/>
                </a:solidFill>
              </a:rPr>
              <a:t> </a:t>
            </a:r>
            <a:r>
              <a:rPr dirty="0">
                <a:solidFill>
                  <a:srgbClr val="4F55AC"/>
                </a:solidFill>
              </a:rPr>
              <a:t>MIPS</a:t>
            </a:r>
            <a:r>
              <a:rPr dirty="0" spc="-10">
                <a:solidFill>
                  <a:srgbClr val="4F55AC"/>
                </a:solidFill>
                <a:latin typeface="微软雅黑"/>
                <a:cs typeface="微软雅黑"/>
              </a:rPr>
              <a:t>指令操</a:t>
            </a:r>
            <a:r>
              <a:rPr dirty="0" spc="-50">
                <a:solidFill>
                  <a:srgbClr val="4F55AC"/>
                </a:solidFill>
                <a:latin typeface="微软雅黑"/>
                <a:cs typeface="微软雅黑"/>
              </a:rPr>
              <a:t>作</a:t>
            </a:r>
            <a:r>
              <a:rPr dirty="0">
                <a:solidFill>
                  <a:srgbClr val="4F55AC"/>
                </a:solidFill>
                <a:latin typeface="微软雅黑"/>
                <a:cs typeface="微软雅黑"/>
              </a:rPr>
              <a:t>	</a:t>
            </a:r>
          </a:p>
        </p:txBody>
      </p:sp>
      <p:sp>
        <p:nvSpPr>
          <p:cNvPr id="4" name="object 4" descr=""/>
          <p:cNvSpPr txBox="1"/>
          <p:nvPr/>
        </p:nvSpPr>
        <p:spPr>
          <a:xfrm>
            <a:off x="1756917" y="3066414"/>
            <a:ext cx="2111375" cy="452120"/>
          </a:xfrm>
          <a:prstGeom prst="rect">
            <a:avLst/>
          </a:prstGeom>
        </p:spPr>
        <p:txBody>
          <a:bodyPr wrap="square" lIns="0" tIns="12065" rIns="0" bIns="0" rtlCol="0" vert="horz">
            <a:spAutoFit/>
          </a:bodyPr>
          <a:lstStyle/>
          <a:p>
            <a:pPr marL="38100">
              <a:lnSpc>
                <a:spcPct val="100000"/>
              </a:lnSpc>
              <a:spcBef>
                <a:spcPts val="95"/>
              </a:spcBef>
            </a:pPr>
            <a:r>
              <a:rPr dirty="0" sz="2800" spc="-20" b="1">
                <a:solidFill>
                  <a:srgbClr val="008000"/>
                </a:solidFill>
                <a:latin typeface="宋体"/>
                <a:cs typeface="宋体"/>
              </a:rPr>
              <a:t>Regs[R8]</a:t>
            </a:r>
            <a:r>
              <a:rPr dirty="0" baseline="-21021" sz="2775" spc="-30" b="1">
                <a:solidFill>
                  <a:srgbClr val="008000"/>
                </a:solidFill>
                <a:latin typeface="宋体"/>
                <a:cs typeface="宋体"/>
              </a:rPr>
              <a:t>32-</a:t>
            </a:r>
            <a:r>
              <a:rPr dirty="0" baseline="-21021" sz="2775" spc="-37" b="1">
                <a:solidFill>
                  <a:srgbClr val="008000"/>
                </a:solidFill>
                <a:latin typeface="宋体"/>
                <a:cs typeface="宋体"/>
              </a:rPr>
              <a:t>63</a:t>
            </a:r>
            <a:endParaRPr baseline="-21021" sz="2775">
              <a:latin typeface="宋体"/>
              <a:cs typeface="宋体"/>
            </a:endParaRPr>
          </a:p>
        </p:txBody>
      </p:sp>
      <p:sp>
        <p:nvSpPr>
          <p:cNvPr id="5" name="object 5" descr=""/>
          <p:cNvSpPr txBox="1"/>
          <p:nvPr/>
        </p:nvSpPr>
        <p:spPr>
          <a:xfrm>
            <a:off x="3966971" y="3153282"/>
            <a:ext cx="673735" cy="452120"/>
          </a:xfrm>
          <a:prstGeom prst="rect">
            <a:avLst/>
          </a:prstGeom>
        </p:spPr>
        <p:txBody>
          <a:bodyPr wrap="square" lIns="0" tIns="12065" rIns="0" bIns="0" rtlCol="0" vert="horz">
            <a:spAutoFit/>
          </a:bodyPr>
          <a:lstStyle/>
          <a:p>
            <a:pPr marL="38100">
              <a:lnSpc>
                <a:spcPct val="100000"/>
              </a:lnSpc>
              <a:spcBef>
                <a:spcPts val="95"/>
              </a:spcBef>
            </a:pPr>
            <a:r>
              <a:rPr dirty="0" baseline="13888" sz="4200" spc="-37" b="1">
                <a:solidFill>
                  <a:srgbClr val="008000"/>
                </a:solidFill>
                <a:latin typeface="宋体"/>
                <a:cs typeface="宋体"/>
              </a:rPr>
              <a:t>←</a:t>
            </a:r>
            <a:r>
              <a:rPr dirty="0" sz="1850" spc="-25" b="1">
                <a:solidFill>
                  <a:srgbClr val="008000"/>
                </a:solidFill>
                <a:latin typeface="宋体"/>
                <a:cs typeface="宋体"/>
              </a:rPr>
              <a:t>32</a:t>
            </a:r>
            <a:endParaRPr sz="1850">
              <a:latin typeface="宋体"/>
              <a:cs typeface="宋体"/>
            </a:endParaRPr>
          </a:p>
        </p:txBody>
      </p:sp>
      <p:sp>
        <p:nvSpPr>
          <p:cNvPr id="6" name="object 6" descr=""/>
          <p:cNvSpPr txBox="1"/>
          <p:nvPr/>
        </p:nvSpPr>
        <p:spPr>
          <a:xfrm>
            <a:off x="4741164" y="2852933"/>
            <a:ext cx="3664585" cy="1305560"/>
          </a:xfrm>
          <a:prstGeom prst="rect">
            <a:avLst/>
          </a:prstGeom>
        </p:spPr>
        <p:txBody>
          <a:bodyPr wrap="square" lIns="0" tIns="12065" rIns="0" bIns="0" rtlCol="0" vert="horz">
            <a:spAutoFit/>
          </a:bodyPr>
          <a:lstStyle/>
          <a:p>
            <a:pPr marL="103505" marR="30480" indent="-66040">
              <a:lnSpc>
                <a:spcPct val="150000"/>
              </a:lnSpc>
              <a:spcBef>
                <a:spcPts val="95"/>
              </a:spcBef>
            </a:pPr>
            <a:r>
              <a:rPr dirty="0" sz="2800" b="1">
                <a:solidFill>
                  <a:srgbClr val="008000"/>
                </a:solidFill>
                <a:latin typeface="宋体"/>
                <a:cs typeface="宋体"/>
              </a:rPr>
              <a:t>（Mem</a:t>
            </a:r>
            <a:r>
              <a:rPr dirty="0" sz="2800" spc="-55" b="1">
                <a:solidFill>
                  <a:srgbClr val="008000"/>
                </a:solidFill>
                <a:latin typeface="宋体"/>
                <a:cs typeface="宋体"/>
              </a:rPr>
              <a:t> </a:t>
            </a:r>
            <a:r>
              <a:rPr dirty="0" sz="2800" spc="-10" b="1">
                <a:solidFill>
                  <a:srgbClr val="008000"/>
                </a:solidFill>
                <a:latin typeface="宋体"/>
                <a:cs typeface="宋体"/>
              </a:rPr>
              <a:t>[Regs[R6]]</a:t>
            </a:r>
            <a:r>
              <a:rPr dirty="0" baseline="-21021" sz="2775" spc="-15" b="1">
                <a:solidFill>
                  <a:srgbClr val="008000"/>
                </a:solidFill>
                <a:latin typeface="宋体"/>
                <a:cs typeface="宋体"/>
              </a:rPr>
              <a:t>0</a:t>
            </a:r>
            <a:r>
              <a:rPr dirty="0" sz="2800" spc="-10" b="1">
                <a:solidFill>
                  <a:srgbClr val="008000"/>
                </a:solidFill>
                <a:latin typeface="宋体"/>
                <a:cs typeface="宋体"/>
              </a:rPr>
              <a:t>）</a:t>
            </a:r>
            <a:r>
              <a:rPr dirty="0" baseline="25525" sz="2775" spc="-15" b="1">
                <a:solidFill>
                  <a:srgbClr val="008000"/>
                </a:solidFill>
                <a:latin typeface="宋体"/>
                <a:cs typeface="宋体"/>
              </a:rPr>
              <a:t>24 </a:t>
            </a:r>
            <a:r>
              <a:rPr dirty="0" sz="2800" b="1">
                <a:solidFill>
                  <a:srgbClr val="008000"/>
                </a:solidFill>
                <a:latin typeface="宋体"/>
                <a:cs typeface="宋体"/>
              </a:rPr>
              <a:t>##</a:t>
            </a:r>
            <a:r>
              <a:rPr dirty="0" sz="2800" spc="-20" b="1">
                <a:solidFill>
                  <a:srgbClr val="008000"/>
                </a:solidFill>
                <a:latin typeface="宋体"/>
                <a:cs typeface="宋体"/>
              </a:rPr>
              <a:t> </a:t>
            </a:r>
            <a:r>
              <a:rPr dirty="0" sz="2800" b="1">
                <a:solidFill>
                  <a:srgbClr val="008000"/>
                </a:solidFill>
                <a:latin typeface="宋体"/>
                <a:cs typeface="宋体"/>
              </a:rPr>
              <a:t>Mem</a:t>
            </a:r>
            <a:r>
              <a:rPr dirty="0" sz="2800" spc="-15" b="1">
                <a:solidFill>
                  <a:srgbClr val="008000"/>
                </a:solidFill>
                <a:latin typeface="宋体"/>
                <a:cs typeface="宋体"/>
              </a:rPr>
              <a:t> </a:t>
            </a:r>
            <a:r>
              <a:rPr dirty="0" sz="2800" spc="-10" b="1">
                <a:solidFill>
                  <a:srgbClr val="008000"/>
                </a:solidFill>
                <a:latin typeface="宋体"/>
                <a:cs typeface="宋体"/>
              </a:rPr>
              <a:t>[Regs[R6]]</a:t>
            </a:r>
            <a:endParaRPr sz="2800">
              <a:latin typeface="宋体"/>
              <a:cs typeface="宋体"/>
            </a:endParaRPr>
          </a:p>
        </p:txBody>
      </p:sp>
      <p:sp>
        <p:nvSpPr>
          <p:cNvPr id="7" name="object 7" descr=""/>
          <p:cNvSpPr txBox="1"/>
          <p:nvPr/>
        </p:nvSpPr>
        <p:spPr>
          <a:xfrm>
            <a:off x="1756917" y="4107832"/>
            <a:ext cx="8740140" cy="1564005"/>
          </a:xfrm>
          <a:prstGeom prst="rect">
            <a:avLst/>
          </a:prstGeom>
        </p:spPr>
        <p:txBody>
          <a:bodyPr wrap="square" lIns="0" tIns="250825" rIns="0" bIns="0" rtlCol="0" vert="horz">
            <a:spAutoFit/>
          </a:bodyPr>
          <a:lstStyle/>
          <a:p>
            <a:pPr marL="38100">
              <a:lnSpc>
                <a:spcPct val="100000"/>
              </a:lnSpc>
              <a:spcBef>
                <a:spcPts val="1975"/>
              </a:spcBef>
            </a:pPr>
            <a:r>
              <a:rPr dirty="0" sz="2800" spc="-30" b="1">
                <a:solidFill>
                  <a:srgbClr val="172152"/>
                </a:solidFill>
                <a:latin typeface="宋体"/>
                <a:cs typeface="宋体"/>
              </a:rPr>
              <a:t>表示的意义是：</a:t>
            </a:r>
            <a:endParaRPr sz="2800">
              <a:latin typeface="宋体"/>
              <a:cs typeface="宋体"/>
            </a:endParaRPr>
          </a:p>
          <a:p>
            <a:pPr marL="1736089" marR="30480" indent="57785">
              <a:lnSpc>
                <a:spcPct val="130100"/>
              </a:lnSpc>
              <a:spcBef>
                <a:spcPts val="630"/>
              </a:spcBef>
            </a:pPr>
            <a:r>
              <a:rPr dirty="0" sz="2000" b="1">
                <a:solidFill>
                  <a:srgbClr val="6F2F9F"/>
                </a:solidFill>
                <a:latin typeface="黑体"/>
                <a:cs typeface="黑体"/>
              </a:rPr>
              <a:t>以</a:t>
            </a:r>
            <a:r>
              <a:rPr dirty="0" sz="2000" spc="-10" b="1">
                <a:solidFill>
                  <a:srgbClr val="6F2F9F"/>
                </a:solidFill>
                <a:latin typeface="宋体"/>
                <a:cs typeface="宋体"/>
              </a:rPr>
              <a:t>R6</a:t>
            </a:r>
            <a:r>
              <a:rPr dirty="0" sz="2000" spc="-20" b="1">
                <a:solidFill>
                  <a:srgbClr val="6F2F9F"/>
                </a:solidFill>
                <a:latin typeface="黑体"/>
                <a:cs typeface="黑体"/>
              </a:rPr>
              <a:t>的内容作为地址访问内存，得到的字节按符号位扩展为</a:t>
            </a:r>
            <a:r>
              <a:rPr dirty="0" sz="2000" spc="-25" b="1">
                <a:solidFill>
                  <a:srgbClr val="6F2F9F"/>
                </a:solidFill>
                <a:latin typeface="宋体"/>
                <a:cs typeface="宋体"/>
              </a:rPr>
              <a:t>32</a:t>
            </a:r>
            <a:r>
              <a:rPr dirty="0" sz="2000" spc="-10" b="1">
                <a:solidFill>
                  <a:srgbClr val="6F2F9F"/>
                </a:solidFill>
                <a:latin typeface="黑体"/>
                <a:cs typeface="黑体"/>
              </a:rPr>
              <a:t>位后存入</a:t>
            </a:r>
            <a:r>
              <a:rPr dirty="0" sz="2000" spc="-15" b="1">
                <a:solidFill>
                  <a:srgbClr val="6F2F9F"/>
                </a:solidFill>
                <a:latin typeface="宋体"/>
                <a:cs typeface="宋体"/>
              </a:rPr>
              <a:t>R8</a:t>
            </a:r>
            <a:r>
              <a:rPr dirty="0" sz="2000" spc="-10" b="1">
                <a:solidFill>
                  <a:srgbClr val="6F2F9F"/>
                </a:solidFill>
                <a:latin typeface="黑体"/>
                <a:cs typeface="黑体"/>
              </a:rPr>
              <a:t>的低</a:t>
            </a:r>
            <a:r>
              <a:rPr dirty="0" sz="2000" spc="-15" b="1">
                <a:solidFill>
                  <a:srgbClr val="6F2F9F"/>
                </a:solidFill>
                <a:latin typeface="宋体"/>
                <a:cs typeface="宋体"/>
              </a:rPr>
              <a:t>32</a:t>
            </a:r>
            <a:r>
              <a:rPr dirty="0" sz="2000" spc="-10" b="1">
                <a:solidFill>
                  <a:srgbClr val="6F2F9F"/>
                </a:solidFill>
                <a:latin typeface="黑体"/>
                <a:cs typeface="黑体"/>
              </a:rPr>
              <a:t>位，</a:t>
            </a:r>
            <a:r>
              <a:rPr dirty="0" sz="2000" spc="-10" b="1">
                <a:solidFill>
                  <a:srgbClr val="6F2F9F"/>
                </a:solidFill>
                <a:latin typeface="宋体"/>
                <a:cs typeface="宋体"/>
              </a:rPr>
              <a:t>R8</a:t>
            </a:r>
            <a:r>
              <a:rPr dirty="0" sz="2000" spc="-15" b="1">
                <a:solidFill>
                  <a:srgbClr val="6F2F9F"/>
                </a:solidFill>
                <a:latin typeface="黑体"/>
                <a:cs typeface="黑体"/>
              </a:rPr>
              <a:t>的高</a:t>
            </a:r>
            <a:r>
              <a:rPr dirty="0" sz="2000" spc="-10" b="1">
                <a:solidFill>
                  <a:srgbClr val="6F2F9F"/>
                </a:solidFill>
                <a:latin typeface="宋体"/>
                <a:cs typeface="宋体"/>
              </a:rPr>
              <a:t>32</a:t>
            </a:r>
            <a:r>
              <a:rPr dirty="0" sz="2000" spc="-10" b="1">
                <a:solidFill>
                  <a:srgbClr val="6F2F9F"/>
                </a:solidFill>
                <a:latin typeface="黑体"/>
                <a:cs typeface="黑体"/>
              </a:rPr>
              <a:t>位（</a:t>
            </a:r>
            <a:r>
              <a:rPr dirty="0" sz="2000" spc="-25" b="1">
                <a:solidFill>
                  <a:srgbClr val="6F2F9F"/>
                </a:solidFill>
                <a:latin typeface="黑体"/>
                <a:cs typeface="黑体"/>
              </a:rPr>
              <a:t>即</a:t>
            </a:r>
            <a:r>
              <a:rPr dirty="0" sz="2000" spc="-10" b="1">
                <a:solidFill>
                  <a:srgbClr val="6F2F9F"/>
                </a:solidFill>
                <a:latin typeface="宋体"/>
                <a:cs typeface="宋体"/>
              </a:rPr>
              <a:t>Regs[R8]</a:t>
            </a:r>
            <a:r>
              <a:rPr dirty="0" baseline="-21367" sz="1950" spc="-15" b="1">
                <a:solidFill>
                  <a:srgbClr val="6F2F9F"/>
                </a:solidFill>
                <a:latin typeface="宋体"/>
                <a:cs typeface="宋体"/>
              </a:rPr>
              <a:t>0-</a:t>
            </a:r>
            <a:r>
              <a:rPr dirty="0" baseline="-21367" sz="1950" b="1">
                <a:solidFill>
                  <a:srgbClr val="6F2F9F"/>
                </a:solidFill>
                <a:latin typeface="宋体"/>
                <a:cs typeface="宋体"/>
              </a:rPr>
              <a:t>31</a:t>
            </a:r>
            <a:r>
              <a:rPr dirty="0" sz="2000" b="1">
                <a:solidFill>
                  <a:srgbClr val="6F2F9F"/>
                </a:solidFill>
                <a:latin typeface="黑体"/>
                <a:cs typeface="黑体"/>
              </a:rPr>
              <a:t>）</a:t>
            </a:r>
            <a:r>
              <a:rPr dirty="0" sz="2000" spc="-30" b="1">
                <a:solidFill>
                  <a:srgbClr val="6F2F9F"/>
                </a:solidFill>
                <a:latin typeface="黑体"/>
                <a:cs typeface="黑体"/>
              </a:rPr>
              <a:t>不变。</a:t>
            </a:r>
            <a:endParaRPr sz="2000">
              <a:latin typeface="黑体"/>
              <a:cs typeface="黑体"/>
            </a:endParaRPr>
          </a:p>
        </p:txBody>
      </p:sp>
      <p:sp>
        <p:nvSpPr>
          <p:cNvPr id="8" name="object 8" descr=""/>
          <p:cNvSpPr txBox="1"/>
          <p:nvPr/>
        </p:nvSpPr>
        <p:spPr>
          <a:xfrm>
            <a:off x="1650619" y="1014476"/>
            <a:ext cx="8636635" cy="1883410"/>
          </a:xfrm>
          <a:prstGeom prst="rect">
            <a:avLst/>
          </a:prstGeom>
        </p:spPr>
        <p:txBody>
          <a:bodyPr wrap="square" lIns="0" tIns="13335" rIns="0" bIns="0" rtlCol="0" vert="horz">
            <a:spAutoFit/>
          </a:bodyPr>
          <a:lstStyle/>
          <a:p>
            <a:pPr marL="12700">
              <a:lnSpc>
                <a:spcPct val="100000"/>
              </a:lnSpc>
              <a:spcBef>
                <a:spcPts val="105"/>
              </a:spcBef>
            </a:pPr>
            <a:r>
              <a:rPr dirty="0" sz="2600" spc="-10">
                <a:solidFill>
                  <a:srgbClr val="40458B"/>
                </a:solidFill>
                <a:latin typeface="黑体"/>
                <a:cs typeface="黑体"/>
              </a:rPr>
              <a:t>MIPS</a:t>
            </a:r>
            <a:r>
              <a:rPr dirty="0" sz="2600" spc="-15">
                <a:solidFill>
                  <a:srgbClr val="40458B"/>
                </a:solidFill>
                <a:latin typeface="黑体"/>
                <a:cs typeface="黑体"/>
              </a:rPr>
              <a:t>指令符号的意义：</a:t>
            </a:r>
            <a:endParaRPr sz="2600">
              <a:latin typeface="黑体"/>
              <a:cs typeface="黑体"/>
            </a:endParaRPr>
          </a:p>
          <a:p>
            <a:pPr marL="1230630" marR="5080" indent="-457200">
              <a:lnSpc>
                <a:spcPct val="130000"/>
              </a:lnSpc>
              <a:spcBef>
                <a:spcPts val="1000"/>
              </a:spcBef>
              <a:buClr>
                <a:srgbClr val="006FC0"/>
              </a:buClr>
              <a:buSzPct val="88636"/>
              <a:buFont typeface="Wingdings"/>
              <a:buChar char=""/>
              <a:tabLst>
                <a:tab pos="1230630" algn="l"/>
              </a:tabLst>
            </a:pPr>
            <a:r>
              <a:rPr dirty="0" sz="2200" spc="-20">
                <a:solidFill>
                  <a:srgbClr val="D50092"/>
                </a:solidFill>
                <a:latin typeface="黑体"/>
                <a:cs typeface="黑体"/>
              </a:rPr>
              <a:t>符号</a:t>
            </a:r>
            <a:r>
              <a:rPr dirty="0" sz="2200" spc="-25">
                <a:solidFill>
                  <a:srgbClr val="D50092"/>
                </a:solidFill>
                <a:latin typeface="Tahoma"/>
                <a:cs typeface="Tahoma"/>
              </a:rPr>
              <a:t>##</a:t>
            </a:r>
            <a:r>
              <a:rPr dirty="0" sz="2200" spc="-25">
                <a:solidFill>
                  <a:srgbClr val="D50092"/>
                </a:solidFill>
                <a:latin typeface="黑体"/>
                <a:cs typeface="黑体"/>
              </a:rPr>
              <a:t>：</a:t>
            </a:r>
            <a:r>
              <a:rPr dirty="0" sz="2200" spc="-35">
                <a:solidFill>
                  <a:srgbClr val="006FC0"/>
                </a:solidFill>
                <a:latin typeface="黑体"/>
                <a:cs typeface="黑体"/>
              </a:rPr>
              <a:t>用于两个字段的拼接，并且可以出现在数据传送的任何一边。</a:t>
            </a:r>
            <a:endParaRPr sz="2200">
              <a:latin typeface="黑体"/>
              <a:cs typeface="黑体"/>
            </a:endParaRPr>
          </a:p>
          <a:p>
            <a:pPr marL="1384935">
              <a:lnSpc>
                <a:spcPct val="100000"/>
              </a:lnSpc>
              <a:spcBef>
                <a:spcPts val="1235"/>
              </a:spcBef>
            </a:pPr>
            <a:r>
              <a:rPr dirty="0" sz="2000" spc="-10" b="1">
                <a:solidFill>
                  <a:srgbClr val="E14B04"/>
                </a:solidFill>
                <a:latin typeface="宋体"/>
                <a:cs typeface="宋体"/>
              </a:rPr>
              <a:t>举例</a:t>
            </a:r>
            <a:r>
              <a:rPr dirty="0" sz="2000" spc="-10" b="1">
                <a:solidFill>
                  <a:srgbClr val="E14B04"/>
                </a:solidFill>
                <a:latin typeface="黑体"/>
                <a:cs typeface="黑体"/>
              </a:rPr>
              <a:t>：</a:t>
            </a:r>
            <a:r>
              <a:rPr dirty="0" sz="2000" spc="-10" b="1">
                <a:latin typeface="宋体"/>
                <a:cs typeface="宋体"/>
              </a:rPr>
              <a:t>R8、</a:t>
            </a:r>
            <a:r>
              <a:rPr dirty="0" sz="2000" spc="-20" b="1">
                <a:latin typeface="宋体"/>
                <a:cs typeface="宋体"/>
              </a:rPr>
              <a:t>R10：64</a:t>
            </a:r>
            <a:r>
              <a:rPr dirty="0" sz="2000" spc="-25" b="1">
                <a:latin typeface="宋体"/>
                <a:cs typeface="宋体"/>
              </a:rPr>
              <a:t>位的寄存器，则</a:t>
            </a:r>
            <a:endParaRPr sz="2000">
              <a:latin typeface="宋体"/>
              <a:cs typeface="宋体"/>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2.6.5</a:t>
            </a:r>
            <a:r>
              <a:rPr dirty="0" spc="-40">
                <a:solidFill>
                  <a:srgbClr val="4F55AC"/>
                </a:solidFill>
              </a:rPr>
              <a:t> </a:t>
            </a:r>
            <a:r>
              <a:rPr dirty="0">
                <a:solidFill>
                  <a:srgbClr val="4F55AC"/>
                </a:solidFill>
              </a:rPr>
              <a:t>MIPS</a:t>
            </a:r>
            <a:r>
              <a:rPr dirty="0" spc="-10">
                <a:solidFill>
                  <a:srgbClr val="4F55AC"/>
                </a:solidFill>
                <a:latin typeface="微软雅黑"/>
                <a:cs typeface="微软雅黑"/>
              </a:rPr>
              <a:t>指令操</a:t>
            </a:r>
            <a:r>
              <a:rPr dirty="0" spc="-50">
                <a:solidFill>
                  <a:srgbClr val="4F55AC"/>
                </a:solidFill>
                <a:latin typeface="微软雅黑"/>
                <a:cs typeface="微软雅黑"/>
              </a:rPr>
              <a:t>作</a:t>
            </a:r>
            <a:r>
              <a:rPr dirty="0">
                <a:solidFill>
                  <a:srgbClr val="4F55AC"/>
                </a:solidFill>
                <a:latin typeface="微软雅黑"/>
                <a:cs typeface="微软雅黑"/>
              </a:rPr>
              <a:t>	</a:t>
            </a:r>
          </a:p>
        </p:txBody>
      </p:sp>
      <p:sp>
        <p:nvSpPr>
          <p:cNvPr id="4" name="object 4" descr=""/>
          <p:cNvSpPr txBox="1"/>
          <p:nvPr/>
        </p:nvSpPr>
        <p:spPr>
          <a:xfrm>
            <a:off x="1612391" y="1046734"/>
            <a:ext cx="2111375" cy="452120"/>
          </a:xfrm>
          <a:prstGeom prst="rect">
            <a:avLst/>
          </a:prstGeom>
        </p:spPr>
        <p:txBody>
          <a:bodyPr wrap="square" lIns="0" tIns="12065" rIns="0" bIns="0" rtlCol="0" vert="horz">
            <a:spAutoFit/>
          </a:bodyPr>
          <a:lstStyle/>
          <a:p>
            <a:pPr marL="38100">
              <a:lnSpc>
                <a:spcPct val="100000"/>
              </a:lnSpc>
              <a:spcBef>
                <a:spcPts val="95"/>
              </a:spcBef>
            </a:pPr>
            <a:r>
              <a:rPr dirty="0" sz="2800" spc="-20" b="1">
                <a:solidFill>
                  <a:srgbClr val="006FC0"/>
                </a:solidFill>
                <a:latin typeface="宋体"/>
                <a:cs typeface="宋体"/>
              </a:rPr>
              <a:t>Regs[R8]</a:t>
            </a:r>
            <a:r>
              <a:rPr dirty="0" baseline="-21021" sz="2775" spc="-30" b="1">
                <a:solidFill>
                  <a:srgbClr val="006FC0"/>
                </a:solidFill>
                <a:latin typeface="宋体"/>
                <a:cs typeface="宋体"/>
              </a:rPr>
              <a:t>32-</a:t>
            </a:r>
            <a:r>
              <a:rPr dirty="0" baseline="-21021" sz="2775" spc="-37" b="1">
                <a:solidFill>
                  <a:srgbClr val="006FC0"/>
                </a:solidFill>
                <a:latin typeface="宋体"/>
                <a:cs typeface="宋体"/>
              </a:rPr>
              <a:t>63</a:t>
            </a:r>
            <a:endParaRPr baseline="-21021" sz="2775">
              <a:latin typeface="宋体"/>
              <a:cs typeface="宋体"/>
            </a:endParaRPr>
          </a:p>
        </p:txBody>
      </p:sp>
      <p:sp>
        <p:nvSpPr>
          <p:cNvPr id="5" name="object 5" descr=""/>
          <p:cNvSpPr txBox="1"/>
          <p:nvPr/>
        </p:nvSpPr>
        <p:spPr>
          <a:xfrm>
            <a:off x="3822446" y="1133602"/>
            <a:ext cx="673735" cy="452120"/>
          </a:xfrm>
          <a:prstGeom prst="rect">
            <a:avLst/>
          </a:prstGeom>
        </p:spPr>
        <p:txBody>
          <a:bodyPr wrap="square" lIns="0" tIns="12065" rIns="0" bIns="0" rtlCol="0" vert="horz">
            <a:spAutoFit/>
          </a:bodyPr>
          <a:lstStyle/>
          <a:p>
            <a:pPr marL="38100">
              <a:lnSpc>
                <a:spcPct val="100000"/>
              </a:lnSpc>
              <a:spcBef>
                <a:spcPts val="95"/>
              </a:spcBef>
            </a:pPr>
            <a:r>
              <a:rPr dirty="0" baseline="13888" sz="4200" spc="-37" b="1">
                <a:solidFill>
                  <a:srgbClr val="006FC0"/>
                </a:solidFill>
                <a:latin typeface="宋体"/>
                <a:cs typeface="宋体"/>
              </a:rPr>
              <a:t>←</a:t>
            </a:r>
            <a:r>
              <a:rPr dirty="0" sz="1850" spc="-25" b="1">
                <a:solidFill>
                  <a:srgbClr val="006FC0"/>
                </a:solidFill>
                <a:latin typeface="宋体"/>
                <a:cs typeface="宋体"/>
              </a:rPr>
              <a:t>32</a:t>
            </a:r>
            <a:endParaRPr sz="1850">
              <a:latin typeface="宋体"/>
              <a:cs typeface="宋体"/>
            </a:endParaRPr>
          </a:p>
        </p:txBody>
      </p:sp>
      <p:sp>
        <p:nvSpPr>
          <p:cNvPr id="6" name="object 6" descr=""/>
          <p:cNvSpPr txBox="1"/>
          <p:nvPr/>
        </p:nvSpPr>
        <p:spPr>
          <a:xfrm>
            <a:off x="4596638" y="832383"/>
            <a:ext cx="3664585" cy="1306830"/>
          </a:xfrm>
          <a:prstGeom prst="rect">
            <a:avLst/>
          </a:prstGeom>
        </p:spPr>
        <p:txBody>
          <a:bodyPr wrap="square" lIns="0" tIns="12700" rIns="0" bIns="0" rtlCol="0" vert="horz">
            <a:spAutoFit/>
          </a:bodyPr>
          <a:lstStyle/>
          <a:p>
            <a:pPr marL="103505" marR="30480" indent="-66040">
              <a:lnSpc>
                <a:spcPct val="150100"/>
              </a:lnSpc>
              <a:spcBef>
                <a:spcPts val="100"/>
              </a:spcBef>
            </a:pPr>
            <a:r>
              <a:rPr dirty="0" sz="2800" b="1">
                <a:solidFill>
                  <a:srgbClr val="006FC0"/>
                </a:solidFill>
                <a:latin typeface="宋体"/>
                <a:cs typeface="宋体"/>
              </a:rPr>
              <a:t>（Mem</a:t>
            </a:r>
            <a:r>
              <a:rPr dirty="0" sz="2800" spc="-50" b="1">
                <a:solidFill>
                  <a:srgbClr val="006FC0"/>
                </a:solidFill>
                <a:latin typeface="宋体"/>
                <a:cs typeface="宋体"/>
              </a:rPr>
              <a:t> </a:t>
            </a:r>
            <a:r>
              <a:rPr dirty="0" sz="2800" spc="-10" b="1">
                <a:solidFill>
                  <a:srgbClr val="006FC0"/>
                </a:solidFill>
                <a:latin typeface="宋体"/>
                <a:cs typeface="宋体"/>
              </a:rPr>
              <a:t>[Regs[R6]]</a:t>
            </a:r>
            <a:r>
              <a:rPr dirty="0" baseline="-21021" sz="2775" spc="-15" b="1">
                <a:solidFill>
                  <a:srgbClr val="006FC0"/>
                </a:solidFill>
                <a:latin typeface="宋体"/>
                <a:cs typeface="宋体"/>
              </a:rPr>
              <a:t>0</a:t>
            </a:r>
            <a:r>
              <a:rPr dirty="0" sz="2800" spc="-10" b="1">
                <a:solidFill>
                  <a:srgbClr val="006FC0"/>
                </a:solidFill>
                <a:latin typeface="宋体"/>
                <a:cs typeface="宋体"/>
              </a:rPr>
              <a:t>）</a:t>
            </a:r>
            <a:r>
              <a:rPr dirty="0" baseline="25525" sz="2775" spc="-15" b="1">
                <a:solidFill>
                  <a:srgbClr val="006FC0"/>
                </a:solidFill>
                <a:latin typeface="宋体"/>
                <a:cs typeface="宋体"/>
              </a:rPr>
              <a:t>24 </a:t>
            </a:r>
            <a:r>
              <a:rPr dirty="0" sz="2800" b="1">
                <a:solidFill>
                  <a:srgbClr val="006FC0"/>
                </a:solidFill>
                <a:latin typeface="宋体"/>
                <a:cs typeface="宋体"/>
              </a:rPr>
              <a:t>##</a:t>
            </a:r>
            <a:r>
              <a:rPr dirty="0" sz="2800" spc="-45" b="1">
                <a:solidFill>
                  <a:srgbClr val="006FC0"/>
                </a:solidFill>
                <a:latin typeface="宋体"/>
                <a:cs typeface="宋体"/>
              </a:rPr>
              <a:t> </a:t>
            </a:r>
            <a:r>
              <a:rPr dirty="0" sz="2800" b="1">
                <a:solidFill>
                  <a:srgbClr val="006FC0"/>
                </a:solidFill>
                <a:latin typeface="宋体"/>
                <a:cs typeface="宋体"/>
              </a:rPr>
              <a:t>Mem</a:t>
            </a:r>
            <a:r>
              <a:rPr dirty="0" sz="2800" spc="-40" b="1">
                <a:solidFill>
                  <a:srgbClr val="006FC0"/>
                </a:solidFill>
                <a:latin typeface="宋体"/>
                <a:cs typeface="宋体"/>
              </a:rPr>
              <a:t> </a:t>
            </a:r>
            <a:r>
              <a:rPr dirty="0" sz="2800" spc="-10" b="1">
                <a:solidFill>
                  <a:srgbClr val="006FC0"/>
                </a:solidFill>
                <a:latin typeface="宋体"/>
                <a:cs typeface="宋体"/>
              </a:rPr>
              <a:t>[Regs[R6]]</a:t>
            </a:r>
            <a:endParaRPr sz="2800">
              <a:latin typeface="宋体"/>
              <a:cs typeface="宋体"/>
            </a:endParaRPr>
          </a:p>
        </p:txBody>
      </p:sp>
      <p:sp>
        <p:nvSpPr>
          <p:cNvPr id="7" name="object 7" descr=""/>
          <p:cNvSpPr txBox="1"/>
          <p:nvPr/>
        </p:nvSpPr>
        <p:spPr>
          <a:xfrm>
            <a:off x="1599691" y="2113051"/>
            <a:ext cx="9045575" cy="3696335"/>
          </a:xfrm>
          <a:prstGeom prst="rect">
            <a:avLst/>
          </a:prstGeom>
        </p:spPr>
        <p:txBody>
          <a:bodyPr wrap="square" lIns="0" tIns="226060" rIns="0" bIns="0" rtlCol="0" vert="horz">
            <a:spAutoFit/>
          </a:bodyPr>
          <a:lstStyle/>
          <a:p>
            <a:pPr marL="50800">
              <a:lnSpc>
                <a:spcPct val="100000"/>
              </a:lnSpc>
              <a:spcBef>
                <a:spcPts val="1780"/>
              </a:spcBef>
            </a:pPr>
            <a:r>
              <a:rPr dirty="0" sz="2800" spc="-25" b="1">
                <a:solidFill>
                  <a:srgbClr val="008000"/>
                </a:solidFill>
                <a:latin typeface="宋体"/>
                <a:cs typeface="宋体"/>
              </a:rPr>
              <a:t>表示意义：</a:t>
            </a:r>
            <a:r>
              <a:rPr dirty="0" sz="2800" spc="-25" b="1">
                <a:solidFill>
                  <a:srgbClr val="FF0000"/>
                </a:solidFill>
                <a:latin typeface="宋体"/>
                <a:cs typeface="宋体"/>
              </a:rPr>
              <a:t>箭头</a:t>
            </a:r>
            <a:r>
              <a:rPr dirty="0" sz="2800" spc="-30" b="1">
                <a:solidFill>
                  <a:srgbClr val="008000"/>
                </a:solidFill>
                <a:latin typeface="宋体"/>
                <a:cs typeface="宋体"/>
              </a:rPr>
              <a:t>表示数据传输，</a:t>
            </a:r>
            <a:endParaRPr sz="2800">
              <a:latin typeface="宋体"/>
              <a:cs typeface="宋体"/>
            </a:endParaRPr>
          </a:p>
          <a:p>
            <a:pPr marL="230504">
              <a:lnSpc>
                <a:spcPct val="100000"/>
              </a:lnSpc>
              <a:spcBef>
                <a:spcPts val="1685"/>
              </a:spcBef>
            </a:pPr>
            <a:r>
              <a:rPr dirty="0" sz="2800" spc="-20" b="1">
                <a:solidFill>
                  <a:srgbClr val="FF0000"/>
                </a:solidFill>
                <a:latin typeface="宋体"/>
                <a:cs typeface="宋体"/>
              </a:rPr>
              <a:t>Regs[R8]</a:t>
            </a:r>
            <a:r>
              <a:rPr dirty="0" baseline="-21021" sz="2775" spc="-30" b="1">
                <a:solidFill>
                  <a:srgbClr val="FF0000"/>
                </a:solidFill>
                <a:latin typeface="宋体"/>
                <a:cs typeface="宋体"/>
              </a:rPr>
              <a:t>32-</a:t>
            </a:r>
            <a:r>
              <a:rPr dirty="0" baseline="-21021" sz="2775" b="1">
                <a:solidFill>
                  <a:srgbClr val="FF0000"/>
                </a:solidFill>
                <a:latin typeface="宋体"/>
                <a:cs typeface="宋体"/>
              </a:rPr>
              <a:t>63</a:t>
            </a:r>
            <a:r>
              <a:rPr dirty="0" baseline="-21021" sz="2775" spc="-232" b="1">
                <a:solidFill>
                  <a:srgbClr val="FF0000"/>
                </a:solidFill>
                <a:latin typeface="宋体"/>
                <a:cs typeface="宋体"/>
              </a:rPr>
              <a:t>  </a:t>
            </a:r>
            <a:r>
              <a:rPr dirty="0" sz="2800" spc="-25" b="1">
                <a:solidFill>
                  <a:srgbClr val="FF0000"/>
                </a:solidFill>
                <a:latin typeface="宋体"/>
                <a:cs typeface="宋体"/>
              </a:rPr>
              <a:t>表示</a:t>
            </a:r>
            <a:r>
              <a:rPr dirty="0" sz="2800" spc="-20" b="1">
                <a:solidFill>
                  <a:srgbClr val="008000"/>
                </a:solidFill>
                <a:latin typeface="宋体"/>
                <a:cs typeface="宋体"/>
              </a:rPr>
              <a:t>：R8</a:t>
            </a:r>
            <a:r>
              <a:rPr dirty="0" sz="2800" spc="-25" b="1">
                <a:solidFill>
                  <a:srgbClr val="008000"/>
                </a:solidFill>
                <a:latin typeface="宋体"/>
                <a:cs typeface="宋体"/>
              </a:rPr>
              <a:t>寄存器的低</a:t>
            </a:r>
            <a:r>
              <a:rPr dirty="0" sz="2800" spc="-20" b="1">
                <a:solidFill>
                  <a:srgbClr val="008000"/>
                </a:solidFill>
                <a:latin typeface="宋体"/>
                <a:cs typeface="宋体"/>
              </a:rPr>
              <a:t>32</a:t>
            </a:r>
            <a:r>
              <a:rPr dirty="0" sz="2800" spc="-35" b="1">
                <a:solidFill>
                  <a:srgbClr val="008000"/>
                </a:solidFill>
                <a:latin typeface="宋体"/>
                <a:cs typeface="宋体"/>
              </a:rPr>
              <a:t>位内容</a:t>
            </a:r>
            <a:endParaRPr sz="2800">
              <a:latin typeface="宋体"/>
              <a:cs typeface="宋体"/>
            </a:endParaRPr>
          </a:p>
          <a:p>
            <a:pPr marL="508000" marR="45720" indent="-277495">
              <a:lnSpc>
                <a:spcPct val="130000"/>
              </a:lnSpc>
              <a:spcBef>
                <a:spcPts val="670"/>
              </a:spcBef>
            </a:pPr>
            <a:r>
              <a:rPr dirty="0" sz="2800" spc="-20" b="1">
                <a:solidFill>
                  <a:srgbClr val="FF0000"/>
                </a:solidFill>
                <a:latin typeface="宋体"/>
                <a:cs typeface="宋体"/>
              </a:rPr>
              <a:t>（</a:t>
            </a:r>
            <a:r>
              <a:rPr dirty="0" sz="2800" spc="-20" b="1">
                <a:solidFill>
                  <a:srgbClr val="006FC0"/>
                </a:solidFill>
                <a:latin typeface="宋体"/>
                <a:cs typeface="宋体"/>
              </a:rPr>
              <a:t>Mem[Regs[R6]]</a:t>
            </a:r>
            <a:r>
              <a:rPr dirty="0" baseline="-21021" sz="2775" spc="-30" b="1">
                <a:solidFill>
                  <a:srgbClr val="00AF50"/>
                </a:solidFill>
                <a:latin typeface="宋体"/>
                <a:cs typeface="宋体"/>
              </a:rPr>
              <a:t>0</a:t>
            </a:r>
            <a:r>
              <a:rPr dirty="0" sz="2800" spc="-20" b="1">
                <a:solidFill>
                  <a:srgbClr val="FF0000"/>
                </a:solidFill>
                <a:latin typeface="宋体"/>
                <a:cs typeface="宋体"/>
              </a:rPr>
              <a:t>）</a:t>
            </a:r>
            <a:r>
              <a:rPr dirty="0" baseline="25525" sz="2775" spc="-30" b="1">
                <a:solidFill>
                  <a:srgbClr val="FF0000"/>
                </a:solidFill>
                <a:latin typeface="宋体"/>
                <a:cs typeface="宋体"/>
              </a:rPr>
              <a:t>24</a:t>
            </a:r>
            <a:r>
              <a:rPr dirty="0" sz="2800" spc="-25" b="1">
                <a:solidFill>
                  <a:srgbClr val="006FC0"/>
                </a:solidFill>
                <a:latin typeface="宋体"/>
                <a:cs typeface="宋体"/>
              </a:rPr>
              <a:t>表示</a:t>
            </a:r>
            <a:r>
              <a:rPr dirty="0" sz="2800" spc="-20" b="1">
                <a:solidFill>
                  <a:srgbClr val="006FC0"/>
                </a:solidFill>
                <a:latin typeface="宋体"/>
                <a:cs typeface="宋体"/>
              </a:rPr>
              <a:t>R6</a:t>
            </a:r>
            <a:r>
              <a:rPr dirty="0" sz="2800" spc="-30" b="1">
                <a:solidFill>
                  <a:srgbClr val="006FC0"/>
                </a:solidFill>
                <a:latin typeface="宋体"/>
                <a:cs typeface="宋体"/>
              </a:rPr>
              <a:t>的值作为访存地址所得到的内存单元内容</a:t>
            </a:r>
            <a:r>
              <a:rPr dirty="0" sz="2800" spc="-30" b="1">
                <a:solidFill>
                  <a:srgbClr val="008000"/>
                </a:solidFill>
                <a:latin typeface="宋体"/>
                <a:cs typeface="宋体"/>
              </a:rPr>
              <a:t>的最高位（符号位</a:t>
            </a:r>
            <a:r>
              <a:rPr dirty="0" sz="2800" spc="-20" b="1">
                <a:solidFill>
                  <a:srgbClr val="008000"/>
                </a:solidFill>
                <a:latin typeface="宋体"/>
                <a:cs typeface="宋体"/>
              </a:rPr>
              <a:t>）</a:t>
            </a:r>
            <a:r>
              <a:rPr dirty="0" sz="2800" spc="-30" b="1">
                <a:solidFill>
                  <a:srgbClr val="FF0000"/>
                </a:solidFill>
                <a:latin typeface="宋体"/>
                <a:cs typeface="宋体"/>
              </a:rPr>
              <a:t>并将其复制</a:t>
            </a:r>
            <a:r>
              <a:rPr dirty="0" sz="2800" b="1">
                <a:solidFill>
                  <a:srgbClr val="FF0000"/>
                </a:solidFill>
                <a:latin typeface="宋体"/>
                <a:cs typeface="宋体"/>
              </a:rPr>
              <a:t>24</a:t>
            </a:r>
            <a:r>
              <a:rPr dirty="0" sz="2800" spc="-50" b="1">
                <a:solidFill>
                  <a:srgbClr val="FF0000"/>
                </a:solidFill>
                <a:latin typeface="宋体"/>
                <a:cs typeface="宋体"/>
              </a:rPr>
              <a:t>次</a:t>
            </a:r>
            <a:endParaRPr sz="2800">
              <a:latin typeface="宋体"/>
              <a:cs typeface="宋体"/>
            </a:endParaRPr>
          </a:p>
          <a:p>
            <a:pPr marL="508000" marR="43180" indent="-277495">
              <a:lnSpc>
                <a:spcPct val="130000"/>
              </a:lnSpc>
              <a:spcBef>
                <a:spcPts val="675"/>
              </a:spcBef>
            </a:pPr>
            <a:r>
              <a:rPr dirty="0" sz="2800" b="1">
                <a:solidFill>
                  <a:srgbClr val="FF0000"/>
                </a:solidFill>
                <a:latin typeface="宋体"/>
                <a:cs typeface="宋体"/>
              </a:rPr>
              <a:t>## Mem</a:t>
            </a:r>
            <a:r>
              <a:rPr dirty="0" sz="2800" spc="-10" b="1">
                <a:solidFill>
                  <a:srgbClr val="FF0000"/>
                </a:solidFill>
                <a:latin typeface="宋体"/>
                <a:cs typeface="宋体"/>
              </a:rPr>
              <a:t> [</a:t>
            </a:r>
            <a:r>
              <a:rPr dirty="0" sz="2800" spc="-20" b="1">
                <a:solidFill>
                  <a:srgbClr val="FF0000"/>
                </a:solidFill>
                <a:latin typeface="宋体"/>
                <a:cs typeface="宋体"/>
              </a:rPr>
              <a:t>Regs[R6]]</a:t>
            </a:r>
            <a:r>
              <a:rPr dirty="0" sz="2800" spc="-25" b="1">
                <a:solidFill>
                  <a:srgbClr val="008000"/>
                </a:solidFill>
                <a:latin typeface="宋体"/>
                <a:cs typeface="宋体"/>
              </a:rPr>
              <a:t>：表示以</a:t>
            </a:r>
            <a:r>
              <a:rPr dirty="0" sz="2800" spc="-20" b="1">
                <a:solidFill>
                  <a:srgbClr val="008000"/>
                </a:solidFill>
                <a:latin typeface="宋体"/>
                <a:cs typeface="宋体"/>
              </a:rPr>
              <a:t>R6</a:t>
            </a:r>
            <a:r>
              <a:rPr dirty="0" sz="2800" spc="-30" b="1">
                <a:solidFill>
                  <a:srgbClr val="008000"/>
                </a:solidFill>
                <a:latin typeface="宋体"/>
                <a:cs typeface="宋体"/>
              </a:rPr>
              <a:t>寄存器间接寻址的存储单元对应内容的低</a:t>
            </a:r>
            <a:r>
              <a:rPr dirty="0" sz="2800" b="1">
                <a:solidFill>
                  <a:srgbClr val="FF0000"/>
                </a:solidFill>
                <a:latin typeface="宋体"/>
                <a:cs typeface="宋体"/>
              </a:rPr>
              <a:t>8</a:t>
            </a:r>
            <a:r>
              <a:rPr dirty="0" sz="2800" spc="-50" b="1">
                <a:solidFill>
                  <a:srgbClr val="008000"/>
                </a:solidFill>
                <a:latin typeface="宋体"/>
                <a:cs typeface="宋体"/>
              </a:rPr>
              <a:t>位</a:t>
            </a:r>
            <a:endParaRPr sz="2800">
              <a:latin typeface="宋体"/>
              <a:cs typeface="宋体"/>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2057683" y="1730428"/>
            <a:ext cx="7564595" cy="3402878"/>
          </a:xfrm>
          <a:prstGeom prst="rect">
            <a:avLst/>
          </a:prstGeom>
        </p:spPr>
      </p:pic>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2.6.5</a:t>
            </a:r>
            <a:r>
              <a:rPr dirty="0" spc="-40">
                <a:solidFill>
                  <a:srgbClr val="4F55AC"/>
                </a:solidFill>
              </a:rPr>
              <a:t> </a:t>
            </a:r>
            <a:r>
              <a:rPr dirty="0">
                <a:solidFill>
                  <a:srgbClr val="4F55AC"/>
                </a:solidFill>
              </a:rPr>
              <a:t>MIPS</a:t>
            </a:r>
            <a:r>
              <a:rPr dirty="0" spc="-10">
                <a:solidFill>
                  <a:srgbClr val="4F55AC"/>
                </a:solidFill>
                <a:latin typeface="微软雅黑"/>
                <a:cs typeface="微软雅黑"/>
              </a:rPr>
              <a:t>指令操</a:t>
            </a:r>
            <a:r>
              <a:rPr dirty="0" spc="-50">
                <a:solidFill>
                  <a:srgbClr val="4F55AC"/>
                </a:solidFill>
                <a:latin typeface="微软雅黑"/>
                <a:cs typeface="微软雅黑"/>
              </a:rPr>
              <a:t>作</a:t>
            </a:r>
            <a:r>
              <a:rPr dirty="0">
                <a:solidFill>
                  <a:srgbClr val="4F55AC"/>
                </a:solidFill>
                <a:latin typeface="微软雅黑"/>
                <a:cs typeface="微软雅黑"/>
              </a:rPr>
              <a:t>	</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176337" y="595312"/>
          <a:ext cx="11092180" cy="5784215"/>
        </p:xfrm>
        <a:graphic>
          <a:graphicData uri="http://schemas.openxmlformats.org/drawingml/2006/table">
            <a:tbl>
              <a:tblPr firstRow="1" bandRow="1">
                <a:tableStyleId>{2D5ABB26-0587-4C30-8999-92F81FD0307C}</a:tableStyleId>
              </a:tblPr>
              <a:tblGrid>
                <a:gridCol w="671830"/>
                <a:gridCol w="1871980"/>
                <a:gridCol w="2160905"/>
                <a:gridCol w="4537709"/>
                <a:gridCol w="1775459"/>
              </a:tblGrid>
              <a:tr h="82550">
                <a:tc>
                  <a:txBody>
                    <a:bodyPr/>
                    <a:lstStyle/>
                    <a:p>
                      <a:pPr>
                        <a:lnSpc>
                          <a:spcPct val="100000"/>
                        </a:lnSpc>
                      </a:pPr>
                      <a:endParaRPr sz="300">
                        <a:latin typeface="Times New Roman"/>
                        <a:cs typeface="Times New Roman"/>
                      </a:endParaRPr>
                    </a:p>
                  </a:txBody>
                  <a:tcPr marL="0" marR="0" marB="0" marT="0">
                    <a:lnR w="28575">
                      <a:solidFill>
                        <a:srgbClr val="40458B"/>
                      </a:solidFill>
                      <a:prstDash val="solid"/>
                    </a:lnR>
                    <a:lnB w="38100">
                      <a:solidFill>
                        <a:srgbClr val="2C44A3"/>
                      </a:solidFill>
                      <a:prstDash val="solid"/>
                    </a:lnB>
                  </a:tcPr>
                </a:tc>
                <a:tc>
                  <a:txBody>
                    <a:bodyPr/>
                    <a:lstStyle/>
                    <a:p>
                      <a:pPr>
                        <a:lnSpc>
                          <a:spcPct val="100000"/>
                        </a:lnSpc>
                      </a:pPr>
                      <a:endParaRPr sz="300">
                        <a:latin typeface="Times New Roman"/>
                        <a:cs typeface="Times New Roman"/>
                      </a:endParaRPr>
                    </a:p>
                  </a:txBody>
                  <a:tcPr marL="0" marR="0" marB="0" marT="0">
                    <a:lnL w="28575">
                      <a:solidFill>
                        <a:srgbClr val="40458B"/>
                      </a:solidFill>
                      <a:prstDash val="solid"/>
                    </a:lnL>
                    <a:lnR w="12700">
                      <a:solidFill>
                        <a:srgbClr val="40458B"/>
                      </a:solidFill>
                      <a:prstDash val="solid"/>
                    </a:lnR>
                    <a:lnT w="28575">
                      <a:solidFill>
                        <a:srgbClr val="40458B"/>
                      </a:solidFill>
                      <a:prstDash val="solid"/>
                    </a:lnT>
                    <a:lnB w="38100">
                      <a:solidFill>
                        <a:srgbClr val="2C44A3"/>
                      </a:solidFill>
                      <a:prstDash val="solid"/>
                    </a:lnB>
                  </a:tcPr>
                </a:tc>
                <a:tc>
                  <a:txBody>
                    <a:bodyPr/>
                    <a:lstStyle/>
                    <a:p>
                      <a:pPr>
                        <a:lnSpc>
                          <a:spcPct val="100000"/>
                        </a:lnSpc>
                      </a:pPr>
                      <a:endParaRPr sz="3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38100">
                      <a:solidFill>
                        <a:srgbClr val="2C44A3"/>
                      </a:solidFill>
                      <a:prstDash val="solid"/>
                    </a:lnB>
                  </a:tcPr>
                </a:tc>
                <a:tc>
                  <a:txBody>
                    <a:bodyPr/>
                    <a:lstStyle/>
                    <a:p>
                      <a:pPr>
                        <a:lnSpc>
                          <a:spcPct val="100000"/>
                        </a:lnSpc>
                      </a:pPr>
                      <a:endParaRPr sz="300">
                        <a:latin typeface="Times New Roman"/>
                        <a:cs typeface="Times New Roman"/>
                      </a:endParaRPr>
                    </a:p>
                  </a:txBody>
                  <a:tcPr marL="0" marR="0" marB="0" marT="0">
                    <a:lnL w="12700">
                      <a:solidFill>
                        <a:srgbClr val="40458B"/>
                      </a:solidFill>
                      <a:prstDash val="solid"/>
                    </a:lnL>
                    <a:lnR w="28575">
                      <a:solidFill>
                        <a:srgbClr val="40458B"/>
                      </a:solidFill>
                      <a:prstDash val="solid"/>
                    </a:lnR>
                    <a:lnT w="28575">
                      <a:solidFill>
                        <a:srgbClr val="40458B"/>
                      </a:solidFill>
                      <a:prstDash val="solid"/>
                    </a:lnT>
                    <a:lnB w="38100">
                      <a:solidFill>
                        <a:srgbClr val="2C44A3"/>
                      </a:solidFill>
                      <a:prstDash val="solid"/>
                    </a:lnB>
                  </a:tcPr>
                </a:tc>
                <a:tc>
                  <a:txBody>
                    <a:bodyPr/>
                    <a:lstStyle/>
                    <a:p>
                      <a:pPr>
                        <a:lnSpc>
                          <a:spcPct val="100000"/>
                        </a:lnSpc>
                      </a:pPr>
                      <a:endParaRPr sz="300">
                        <a:latin typeface="Times New Roman"/>
                        <a:cs typeface="Times New Roman"/>
                      </a:endParaRPr>
                    </a:p>
                  </a:txBody>
                  <a:tcPr marL="0" marR="0" marB="0" marT="0">
                    <a:lnL w="28575">
                      <a:solidFill>
                        <a:srgbClr val="40458B"/>
                      </a:solidFill>
                      <a:prstDash val="solid"/>
                    </a:lnL>
                    <a:lnB w="38100">
                      <a:solidFill>
                        <a:srgbClr val="2C44A3"/>
                      </a:solidFill>
                      <a:prstDash val="solid"/>
                    </a:lnB>
                  </a:tcPr>
                </a:tc>
              </a:tr>
              <a:tr h="351155">
                <a:tc rowSpan="12">
                  <a:txBody>
                    <a:bodyPr/>
                    <a:lstStyle/>
                    <a:p>
                      <a:pPr>
                        <a:lnSpc>
                          <a:spcPct val="100000"/>
                        </a:lnSpc>
                      </a:pPr>
                      <a:endParaRPr sz="1700">
                        <a:latin typeface="Times New Roman"/>
                        <a:cs typeface="Times New Roman"/>
                      </a:endParaRPr>
                    </a:p>
                  </a:txBody>
                  <a:tcPr marL="0" marR="0" marB="0" marT="0">
                    <a:lnR w="28575">
                      <a:solidFill>
                        <a:srgbClr val="40458B"/>
                      </a:solidFill>
                      <a:prstDash val="solid"/>
                    </a:lnR>
                    <a:lnT w="38100">
                      <a:solidFill>
                        <a:srgbClr val="2C44A3"/>
                      </a:solidFill>
                      <a:prstDash val="solid"/>
                    </a:lnT>
                  </a:tcPr>
                </a:tc>
                <a:tc>
                  <a:txBody>
                    <a:bodyPr/>
                    <a:lstStyle/>
                    <a:p>
                      <a:pPr marL="453390">
                        <a:lnSpc>
                          <a:spcPts val="2125"/>
                        </a:lnSpc>
                      </a:pPr>
                      <a:r>
                        <a:rPr dirty="0" sz="1900" spc="-35">
                          <a:solidFill>
                            <a:srgbClr val="E14B04"/>
                          </a:solidFill>
                          <a:latin typeface="黑体"/>
                          <a:cs typeface="黑体"/>
                        </a:rPr>
                        <a:t>指令举例</a:t>
                      </a:r>
                      <a:endParaRPr sz="1900">
                        <a:latin typeface="黑体"/>
                        <a:cs typeface="黑体"/>
                      </a:endParaRPr>
                    </a:p>
                  </a:txBody>
                  <a:tcPr marL="0" marR="0" marB="0" marT="0">
                    <a:lnL w="28575">
                      <a:solidFill>
                        <a:srgbClr val="40458B"/>
                      </a:solidFill>
                      <a:prstDash val="solid"/>
                    </a:lnL>
                    <a:lnR w="12700">
                      <a:solidFill>
                        <a:srgbClr val="40458B"/>
                      </a:solidFill>
                      <a:prstDash val="solid"/>
                    </a:lnR>
                    <a:lnT w="38100">
                      <a:solidFill>
                        <a:srgbClr val="2C44A3"/>
                      </a:solidFill>
                      <a:prstDash val="solid"/>
                    </a:lnT>
                    <a:lnB w="12700">
                      <a:solidFill>
                        <a:srgbClr val="40458B"/>
                      </a:solidFill>
                      <a:prstDash val="solid"/>
                    </a:lnB>
                  </a:tcPr>
                </a:tc>
                <a:tc>
                  <a:txBody>
                    <a:bodyPr/>
                    <a:lstStyle/>
                    <a:p>
                      <a:pPr marL="598170">
                        <a:lnSpc>
                          <a:spcPts val="2125"/>
                        </a:lnSpc>
                      </a:pPr>
                      <a:r>
                        <a:rPr dirty="0" sz="1900" spc="-35">
                          <a:solidFill>
                            <a:srgbClr val="E14B04"/>
                          </a:solidFill>
                          <a:latin typeface="黑体"/>
                          <a:cs typeface="黑体"/>
                        </a:rPr>
                        <a:t>指令名称</a:t>
                      </a:r>
                      <a:endParaRPr sz="1900">
                        <a:latin typeface="黑体"/>
                        <a:cs typeface="黑体"/>
                      </a:endParaRPr>
                    </a:p>
                  </a:txBody>
                  <a:tcPr marL="0" marR="0" marB="0" marT="0">
                    <a:lnL w="12700">
                      <a:solidFill>
                        <a:srgbClr val="40458B"/>
                      </a:solidFill>
                      <a:prstDash val="solid"/>
                    </a:lnL>
                    <a:lnR w="12700">
                      <a:solidFill>
                        <a:srgbClr val="40458B"/>
                      </a:solidFill>
                      <a:prstDash val="solid"/>
                    </a:lnR>
                    <a:lnT w="38100">
                      <a:solidFill>
                        <a:srgbClr val="2C44A3"/>
                      </a:solidFill>
                      <a:prstDash val="solid"/>
                    </a:lnT>
                    <a:lnB w="12700">
                      <a:solidFill>
                        <a:srgbClr val="40458B"/>
                      </a:solidFill>
                      <a:prstDash val="solid"/>
                    </a:lnB>
                  </a:tcPr>
                </a:tc>
                <a:tc>
                  <a:txBody>
                    <a:bodyPr/>
                    <a:lstStyle/>
                    <a:p>
                      <a:pPr algn="ctr" marL="1905">
                        <a:lnSpc>
                          <a:spcPts val="2125"/>
                        </a:lnSpc>
                      </a:pPr>
                      <a:r>
                        <a:rPr dirty="0" sz="1900" spc="-150">
                          <a:solidFill>
                            <a:srgbClr val="E14B04"/>
                          </a:solidFill>
                          <a:latin typeface="黑体"/>
                          <a:cs typeface="黑体"/>
                        </a:rPr>
                        <a:t>含 义</a:t>
                      </a:r>
                      <a:endParaRPr sz="1900">
                        <a:latin typeface="黑体"/>
                        <a:cs typeface="黑体"/>
                      </a:endParaRPr>
                    </a:p>
                  </a:txBody>
                  <a:tcPr marL="0" marR="0" marB="0" marT="0">
                    <a:lnL w="12700">
                      <a:solidFill>
                        <a:srgbClr val="40458B"/>
                      </a:solidFill>
                      <a:prstDash val="solid"/>
                    </a:lnL>
                    <a:lnR w="28575">
                      <a:solidFill>
                        <a:srgbClr val="40458B"/>
                      </a:solidFill>
                      <a:prstDash val="solid"/>
                    </a:lnR>
                    <a:lnT w="38100">
                      <a:solidFill>
                        <a:srgbClr val="2C44A3"/>
                      </a:solidFill>
                      <a:prstDash val="solid"/>
                    </a:lnT>
                    <a:lnB w="12700">
                      <a:solidFill>
                        <a:srgbClr val="40458B"/>
                      </a:solidFill>
                      <a:prstDash val="solid"/>
                    </a:lnB>
                  </a:tcPr>
                </a:tc>
                <a:tc rowSpan="12">
                  <a:txBody>
                    <a:bodyPr/>
                    <a:lstStyle/>
                    <a:p>
                      <a:pPr>
                        <a:lnSpc>
                          <a:spcPct val="100000"/>
                        </a:lnSpc>
                      </a:pPr>
                      <a:endParaRPr sz="1700">
                        <a:latin typeface="Times New Roman"/>
                        <a:cs typeface="Times New Roman"/>
                      </a:endParaRPr>
                    </a:p>
                  </a:txBody>
                  <a:tcPr marL="0" marR="0" marB="0" marT="0">
                    <a:lnL w="28575">
                      <a:solidFill>
                        <a:srgbClr val="40458B"/>
                      </a:solidFill>
                      <a:prstDash val="solid"/>
                    </a:lnL>
                    <a:lnT w="38100">
                      <a:solidFill>
                        <a:srgbClr val="2C44A3"/>
                      </a:solidFill>
                      <a:prstDash val="solid"/>
                    </a:lnT>
                  </a:tcPr>
                </a:tc>
              </a:tr>
              <a:tr h="396875">
                <a:tc vMerge="1">
                  <a:txBody>
                    <a:bodyPr/>
                    <a:lstStyle/>
                    <a:p>
                      <a:pPr/>
                    </a:p>
                  </a:txBody>
                  <a:tcPr marL="0" marR="0" marB="0" marT="0">
                    <a:lnR w="28575">
                      <a:solidFill>
                        <a:srgbClr val="40458B"/>
                      </a:solidFill>
                      <a:prstDash val="solid"/>
                    </a:lnR>
                    <a:lnT w="38100">
                      <a:solidFill>
                        <a:srgbClr val="2C44A3"/>
                      </a:solidFill>
                      <a:prstDash val="solid"/>
                    </a:lnT>
                  </a:tcPr>
                </a:tc>
                <a:tc>
                  <a:txBody>
                    <a:bodyPr/>
                    <a:lstStyle/>
                    <a:p>
                      <a:pPr marL="91440">
                        <a:lnSpc>
                          <a:spcPct val="100000"/>
                        </a:lnSpc>
                        <a:spcBef>
                          <a:spcPts val="475"/>
                        </a:spcBef>
                      </a:pPr>
                      <a:r>
                        <a:rPr dirty="0" sz="1700">
                          <a:solidFill>
                            <a:srgbClr val="40458B"/>
                          </a:solidFill>
                          <a:latin typeface="黑体"/>
                          <a:cs typeface="黑体"/>
                        </a:rPr>
                        <a:t>LD </a:t>
                      </a:r>
                      <a:r>
                        <a:rPr dirty="0" sz="1700" spc="-10">
                          <a:solidFill>
                            <a:srgbClr val="40458B"/>
                          </a:solidFill>
                          <a:latin typeface="黑体"/>
                          <a:cs typeface="黑体"/>
                        </a:rPr>
                        <a:t>R2，20(R3)</a:t>
                      </a:r>
                      <a:endParaRPr sz="1700">
                        <a:latin typeface="黑体"/>
                        <a:cs typeface="黑体"/>
                      </a:endParaRPr>
                    </a:p>
                  </a:txBody>
                  <a:tcPr marL="0" marR="0" marB="0" marT="6032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475"/>
                        </a:spcBef>
                      </a:pPr>
                      <a:r>
                        <a:rPr dirty="0" sz="1700" spc="-15">
                          <a:solidFill>
                            <a:srgbClr val="40458B"/>
                          </a:solidFill>
                          <a:latin typeface="黑体"/>
                          <a:cs typeface="黑体"/>
                        </a:rPr>
                        <a:t>装入双字</a:t>
                      </a:r>
                      <a:endParaRPr sz="1700">
                        <a:latin typeface="黑体"/>
                        <a:cs typeface="黑体"/>
                      </a:endParaRPr>
                    </a:p>
                  </a:txBody>
                  <a:tcPr marL="0" marR="0" marB="0" marT="603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475"/>
                        </a:spcBef>
                      </a:pPr>
                      <a:r>
                        <a:rPr dirty="0" sz="1700">
                          <a:solidFill>
                            <a:srgbClr val="40458B"/>
                          </a:solidFill>
                          <a:latin typeface="黑体"/>
                          <a:cs typeface="黑体"/>
                        </a:rPr>
                        <a:t>Regs[R2]←</a:t>
                      </a:r>
                      <a:r>
                        <a:rPr dirty="0" baseline="-20202" sz="1650">
                          <a:solidFill>
                            <a:srgbClr val="40458B"/>
                          </a:solidFill>
                          <a:latin typeface="黑体"/>
                          <a:cs typeface="黑体"/>
                        </a:rPr>
                        <a:t>64</a:t>
                      </a:r>
                      <a:r>
                        <a:rPr dirty="0" baseline="-20202" sz="1650" spc="22">
                          <a:solidFill>
                            <a:srgbClr val="40458B"/>
                          </a:solidFill>
                          <a:latin typeface="黑体"/>
                          <a:cs typeface="黑体"/>
                        </a:rPr>
                        <a:t> </a:t>
                      </a:r>
                      <a:r>
                        <a:rPr dirty="0" sz="1700" spc="-10">
                          <a:solidFill>
                            <a:srgbClr val="40458B"/>
                          </a:solidFill>
                          <a:latin typeface="黑体"/>
                          <a:cs typeface="黑体"/>
                        </a:rPr>
                        <a:t>Mem[20+Regs[R3]]</a:t>
                      </a:r>
                      <a:endParaRPr sz="1700">
                        <a:latin typeface="黑体"/>
                        <a:cs typeface="黑体"/>
                      </a:endParaRPr>
                    </a:p>
                  </a:txBody>
                  <a:tcPr marL="0" marR="0" marB="0" marT="6032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vMerge="1">
                  <a:txBody>
                    <a:bodyPr/>
                    <a:lstStyle/>
                    <a:p>
                      <a:pPr/>
                    </a:p>
                  </a:txBody>
                  <a:tcPr marL="0" marR="0" marB="0" marT="0">
                    <a:lnL w="28575">
                      <a:solidFill>
                        <a:srgbClr val="40458B"/>
                      </a:solidFill>
                      <a:prstDash val="solid"/>
                    </a:lnL>
                    <a:lnT w="38100">
                      <a:solidFill>
                        <a:srgbClr val="2C44A3"/>
                      </a:solidFill>
                      <a:prstDash val="solid"/>
                    </a:lnT>
                  </a:tcPr>
                </a:tc>
              </a:tr>
              <a:tr h="708025">
                <a:tc vMerge="1">
                  <a:txBody>
                    <a:bodyPr/>
                    <a:lstStyle/>
                    <a:p>
                      <a:pPr/>
                    </a:p>
                  </a:txBody>
                  <a:tcPr marL="0" marR="0" marB="0" marT="0">
                    <a:lnR w="28575">
                      <a:solidFill>
                        <a:srgbClr val="40458B"/>
                      </a:solidFill>
                      <a:prstDash val="solid"/>
                    </a:lnR>
                    <a:lnT w="38100">
                      <a:solidFill>
                        <a:srgbClr val="2C44A3"/>
                      </a:solidFill>
                      <a:prstDash val="solid"/>
                    </a:lnT>
                  </a:tcPr>
                </a:tc>
                <a:tc>
                  <a:txBody>
                    <a:bodyPr/>
                    <a:lstStyle/>
                    <a:p>
                      <a:pPr marL="91440">
                        <a:lnSpc>
                          <a:spcPct val="100000"/>
                        </a:lnSpc>
                        <a:spcBef>
                          <a:spcPts val="480"/>
                        </a:spcBef>
                      </a:pPr>
                      <a:r>
                        <a:rPr dirty="0" sz="1700">
                          <a:solidFill>
                            <a:srgbClr val="40458B"/>
                          </a:solidFill>
                          <a:latin typeface="黑体"/>
                          <a:cs typeface="黑体"/>
                        </a:rPr>
                        <a:t>LW </a:t>
                      </a:r>
                      <a:r>
                        <a:rPr dirty="0" sz="1700" spc="-10">
                          <a:solidFill>
                            <a:srgbClr val="40458B"/>
                          </a:solidFill>
                          <a:latin typeface="黑体"/>
                          <a:cs typeface="黑体"/>
                        </a:rPr>
                        <a:t>R2，40(R3)</a:t>
                      </a:r>
                      <a:endParaRPr sz="1700">
                        <a:latin typeface="黑体"/>
                        <a:cs typeface="黑体"/>
                      </a:endParaRPr>
                    </a:p>
                  </a:txBody>
                  <a:tcPr marL="0" marR="0" marB="0" marT="6096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480"/>
                        </a:spcBef>
                      </a:pPr>
                      <a:r>
                        <a:rPr dirty="0" sz="1700" spc="-20">
                          <a:solidFill>
                            <a:srgbClr val="40458B"/>
                          </a:solidFill>
                          <a:latin typeface="黑体"/>
                          <a:cs typeface="黑体"/>
                        </a:rPr>
                        <a:t>装入字</a:t>
                      </a:r>
                      <a:endParaRPr sz="1700">
                        <a:latin typeface="黑体"/>
                        <a:cs typeface="黑体"/>
                      </a:endParaRPr>
                    </a:p>
                  </a:txBody>
                  <a:tcPr marL="0" marR="0" marB="0" marT="609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480"/>
                        </a:spcBef>
                      </a:pPr>
                      <a:r>
                        <a:rPr dirty="0" sz="1700">
                          <a:solidFill>
                            <a:srgbClr val="40458B"/>
                          </a:solidFill>
                          <a:latin typeface="黑体"/>
                          <a:cs typeface="黑体"/>
                        </a:rPr>
                        <a:t>Regs[R2]←</a:t>
                      </a:r>
                      <a:r>
                        <a:rPr dirty="0" baseline="-20202" sz="1650">
                          <a:solidFill>
                            <a:srgbClr val="40458B"/>
                          </a:solidFill>
                          <a:latin typeface="黑体"/>
                          <a:cs typeface="黑体"/>
                        </a:rPr>
                        <a:t>64 </a:t>
                      </a:r>
                      <a:r>
                        <a:rPr dirty="0" sz="1700">
                          <a:solidFill>
                            <a:srgbClr val="40458B"/>
                          </a:solidFill>
                          <a:latin typeface="黑体"/>
                          <a:cs typeface="黑体"/>
                        </a:rPr>
                        <a:t>(Mem[40+Regs[R3]]</a:t>
                      </a:r>
                      <a:r>
                        <a:rPr dirty="0" baseline="-20202" sz="1650">
                          <a:solidFill>
                            <a:srgbClr val="40458B"/>
                          </a:solidFill>
                          <a:latin typeface="黑体"/>
                          <a:cs typeface="黑体"/>
                        </a:rPr>
                        <a:t>0</a:t>
                      </a:r>
                      <a:r>
                        <a:rPr dirty="0" sz="1700">
                          <a:solidFill>
                            <a:srgbClr val="40458B"/>
                          </a:solidFill>
                          <a:latin typeface="黑体"/>
                          <a:cs typeface="黑体"/>
                        </a:rPr>
                        <a:t>)</a:t>
                      </a:r>
                      <a:r>
                        <a:rPr dirty="0" baseline="25252" sz="1650">
                          <a:solidFill>
                            <a:srgbClr val="40458B"/>
                          </a:solidFill>
                          <a:latin typeface="黑体"/>
                          <a:cs typeface="黑体"/>
                        </a:rPr>
                        <a:t>32</a:t>
                      </a:r>
                      <a:r>
                        <a:rPr dirty="0" baseline="25252" sz="1650" spc="7">
                          <a:solidFill>
                            <a:srgbClr val="40458B"/>
                          </a:solidFill>
                          <a:latin typeface="黑体"/>
                          <a:cs typeface="黑体"/>
                        </a:rPr>
                        <a:t> </a:t>
                      </a:r>
                      <a:r>
                        <a:rPr dirty="0" sz="1700" spc="-25">
                          <a:solidFill>
                            <a:srgbClr val="40458B"/>
                          </a:solidFill>
                          <a:latin typeface="黑体"/>
                          <a:cs typeface="黑体"/>
                        </a:rPr>
                        <a:t>##</a:t>
                      </a:r>
                      <a:endParaRPr sz="1700">
                        <a:latin typeface="黑体"/>
                        <a:cs typeface="黑体"/>
                      </a:endParaRPr>
                    </a:p>
                    <a:p>
                      <a:pPr marL="92075">
                        <a:lnSpc>
                          <a:spcPct val="100000"/>
                        </a:lnSpc>
                        <a:spcBef>
                          <a:spcPts val="405"/>
                        </a:spcBef>
                      </a:pPr>
                      <a:r>
                        <a:rPr dirty="0" sz="1700" spc="-10">
                          <a:solidFill>
                            <a:srgbClr val="40458B"/>
                          </a:solidFill>
                          <a:latin typeface="黑体"/>
                          <a:cs typeface="黑体"/>
                        </a:rPr>
                        <a:t>Mem[40+Regs[R3]]</a:t>
                      </a:r>
                      <a:endParaRPr sz="1700">
                        <a:latin typeface="黑体"/>
                        <a:cs typeface="黑体"/>
                      </a:endParaRPr>
                    </a:p>
                  </a:txBody>
                  <a:tcPr marL="0" marR="0" marB="0" marT="6096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vMerge="1">
                  <a:txBody>
                    <a:bodyPr/>
                    <a:lstStyle/>
                    <a:p>
                      <a:pPr/>
                    </a:p>
                  </a:txBody>
                  <a:tcPr marL="0" marR="0" marB="0" marT="0">
                    <a:lnL w="28575">
                      <a:solidFill>
                        <a:srgbClr val="40458B"/>
                      </a:solidFill>
                      <a:prstDash val="solid"/>
                    </a:lnL>
                    <a:lnT w="38100">
                      <a:solidFill>
                        <a:srgbClr val="2C44A3"/>
                      </a:solidFill>
                      <a:prstDash val="solid"/>
                    </a:lnT>
                  </a:tcPr>
                </a:tc>
              </a:tr>
              <a:tr h="708025">
                <a:tc vMerge="1">
                  <a:txBody>
                    <a:bodyPr/>
                    <a:lstStyle/>
                    <a:p>
                      <a:pPr/>
                    </a:p>
                  </a:txBody>
                  <a:tcPr marL="0" marR="0" marB="0" marT="0">
                    <a:lnR w="28575">
                      <a:solidFill>
                        <a:srgbClr val="40458B"/>
                      </a:solidFill>
                      <a:prstDash val="solid"/>
                    </a:lnR>
                    <a:lnT w="38100">
                      <a:solidFill>
                        <a:srgbClr val="2C44A3"/>
                      </a:solidFill>
                      <a:prstDash val="solid"/>
                    </a:lnT>
                  </a:tcPr>
                </a:tc>
                <a:tc>
                  <a:txBody>
                    <a:bodyPr/>
                    <a:lstStyle/>
                    <a:p>
                      <a:pPr marL="91440">
                        <a:lnSpc>
                          <a:spcPct val="100000"/>
                        </a:lnSpc>
                        <a:spcBef>
                          <a:spcPts val="475"/>
                        </a:spcBef>
                      </a:pPr>
                      <a:r>
                        <a:rPr dirty="0" sz="1700">
                          <a:solidFill>
                            <a:srgbClr val="40458B"/>
                          </a:solidFill>
                          <a:latin typeface="黑体"/>
                          <a:cs typeface="黑体"/>
                        </a:rPr>
                        <a:t>LB</a:t>
                      </a:r>
                      <a:r>
                        <a:rPr dirty="0" sz="1700" spc="-5">
                          <a:solidFill>
                            <a:srgbClr val="40458B"/>
                          </a:solidFill>
                          <a:latin typeface="黑体"/>
                          <a:cs typeface="黑体"/>
                        </a:rPr>
                        <a:t> </a:t>
                      </a:r>
                      <a:r>
                        <a:rPr dirty="0" sz="1700" spc="-10">
                          <a:solidFill>
                            <a:srgbClr val="40458B"/>
                          </a:solidFill>
                          <a:latin typeface="黑体"/>
                          <a:cs typeface="黑体"/>
                        </a:rPr>
                        <a:t>R2，30(R3)</a:t>
                      </a:r>
                      <a:endParaRPr sz="1700">
                        <a:latin typeface="黑体"/>
                        <a:cs typeface="黑体"/>
                      </a:endParaRPr>
                    </a:p>
                  </a:txBody>
                  <a:tcPr marL="0" marR="0" marB="0" marT="6032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475"/>
                        </a:spcBef>
                      </a:pPr>
                      <a:r>
                        <a:rPr dirty="0" sz="1700" spc="-20">
                          <a:solidFill>
                            <a:srgbClr val="40458B"/>
                          </a:solidFill>
                          <a:latin typeface="黑体"/>
                          <a:cs typeface="黑体"/>
                        </a:rPr>
                        <a:t>装入字节</a:t>
                      </a:r>
                      <a:endParaRPr sz="1700">
                        <a:latin typeface="黑体"/>
                        <a:cs typeface="黑体"/>
                      </a:endParaRPr>
                    </a:p>
                  </a:txBody>
                  <a:tcPr marL="0" marR="0" marB="0" marT="603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475"/>
                        </a:spcBef>
                      </a:pPr>
                      <a:r>
                        <a:rPr dirty="0" sz="1700">
                          <a:solidFill>
                            <a:srgbClr val="40458B"/>
                          </a:solidFill>
                          <a:latin typeface="黑体"/>
                          <a:cs typeface="黑体"/>
                        </a:rPr>
                        <a:t>Regs[R2]←</a:t>
                      </a:r>
                      <a:r>
                        <a:rPr dirty="0" baseline="-20202" sz="1650">
                          <a:solidFill>
                            <a:srgbClr val="40458B"/>
                          </a:solidFill>
                          <a:latin typeface="黑体"/>
                          <a:cs typeface="黑体"/>
                        </a:rPr>
                        <a:t>64</a:t>
                      </a:r>
                      <a:r>
                        <a:rPr dirty="0" baseline="-20202" sz="1650" spc="-37">
                          <a:solidFill>
                            <a:srgbClr val="40458B"/>
                          </a:solidFill>
                          <a:latin typeface="黑体"/>
                          <a:cs typeface="黑体"/>
                        </a:rPr>
                        <a:t> </a:t>
                      </a:r>
                      <a:r>
                        <a:rPr dirty="0" sz="1700">
                          <a:solidFill>
                            <a:srgbClr val="40458B"/>
                          </a:solidFill>
                          <a:latin typeface="黑体"/>
                          <a:cs typeface="黑体"/>
                        </a:rPr>
                        <a:t>(Mem[30+Regs[R3]]</a:t>
                      </a:r>
                      <a:r>
                        <a:rPr dirty="0" baseline="-20202" sz="1650">
                          <a:solidFill>
                            <a:srgbClr val="40458B"/>
                          </a:solidFill>
                          <a:latin typeface="黑体"/>
                          <a:cs typeface="黑体"/>
                        </a:rPr>
                        <a:t>0</a:t>
                      </a:r>
                      <a:r>
                        <a:rPr dirty="0" sz="1700">
                          <a:solidFill>
                            <a:srgbClr val="40458B"/>
                          </a:solidFill>
                          <a:latin typeface="黑体"/>
                          <a:cs typeface="黑体"/>
                        </a:rPr>
                        <a:t>)</a:t>
                      </a:r>
                      <a:r>
                        <a:rPr dirty="0" baseline="25252" sz="1650">
                          <a:solidFill>
                            <a:srgbClr val="40458B"/>
                          </a:solidFill>
                          <a:latin typeface="黑体"/>
                          <a:cs typeface="黑体"/>
                        </a:rPr>
                        <a:t>56</a:t>
                      </a:r>
                      <a:r>
                        <a:rPr dirty="0" baseline="25252" sz="1650" spc="382">
                          <a:solidFill>
                            <a:srgbClr val="40458B"/>
                          </a:solidFill>
                          <a:latin typeface="黑体"/>
                          <a:cs typeface="黑体"/>
                        </a:rPr>
                        <a:t> </a:t>
                      </a:r>
                      <a:r>
                        <a:rPr dirty="0" sz="1700" spc="-25">
                          <a:solidFill>
                            <a:srgbClr val="40458B"/>
                          </a:solidFill>
                          <a:latin typeface="黑体"/>
                          <a:cs typeface="黑体"/>
                        </a:rPr>
                        <a:t>##</a:t>
                      </a:r>
                      <a:endParaRPr sz="1700">
                        <a:latin typeface="黑体"/>
                        <a:cs typeface="黑体"/>
                      </a:endParaRPr>
                    </a:p>
                    <a:p>
                      <a:pPr marL="92075">
                        <a:lnSpc>
                          <a:spcPct val="100000"/>
                        </a:lnSpc>
                        <a:spcBef>
                          <a:spcPts val="415"/>
                        </a:spcBef>
                      </a:pPr>
                      <a:r>
                        <a:rPr dirty="0" sz="1700" spc="-10">
                          <a:solidFill>
                            <a:srgbClr val="40458B"/>
                          </a:solidFill>
                          <a:latin typeface="黑体"/>
                          <a:cs typeface="黑体"/>
                        </a:rPr>
                        <a:t>Mem[30+Regs[R3]]</a:t>
                      </a:r>
                      <a:endParaRPr sz="1700">
                        <a:latin typeface="黑体"/>
                        <a:cs typeface="黑体"/>
                      </a:endParaRPr>
                    </a:p>
                  </a:txBody>
                  <a:tcPr marL="0" marR="0" marB="0" marT="6032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vMerge="1">
                  <a:txBody>
                    <a:bodyPr/>
                    <a:lstStyle/>
                    <a:p>
                      <a:pPr/>
                    </a:p>
                  </a:txBody>
                  <a:tcPr marL="0" marR="0" marB="0" marT="0">
                    <a:lnL w="28575">
                      <a:solidFill>
                        <a:srgbClr val="40458B"/>
                      </a:solidFill>
                      <a:prstDash val="solid"/>
                    </a:lnL>
                    <a:lnT w="38100">
                      <a:solidFill>
                        <a:srgbClr val="2C44A3"/>
                      </a:solidFill>
                      <a:prstDash val="solid"/>
                    </a:lnT>
                  </a:tcPr>
                </a:tc>
              </a:tr>
              <a:tr h="396875">
                <a:tc vMerge="1">
                  <a:txBody>
                    <a:bodyPr/>
                    <a:lstStyle/>
                    <a:p>
                      <a:pPr/>
                    </a:p>
                  </a:txBody>
                  <a:tcPr marL="0" marR="0" marB="0" marT="0">
                    <a:lnR w="28575">
                      <a:solidFill>
                        <a:srgbClr val="40458B"/>
                      </a:solidFill>
                      <a:prstDash val="solid"/>
                    </a:lnR>
                    <a:lnT w="38100">
                      <a:solidFill>
                        <a:srgbClr val="2C44A3"/>
                      </a:solidFill>
                      <a:prstDash val="solid"/>
                    </a:lnT>
                  </a:tcPr>
                </a:tc>
                <a:tc>
                  <a:txBody>
                    <a:bodyPr/>
                    <a:lstStyle/>
                    <a:p>
                      <a:pPr marL="91440">
                        <a:lnSpc>
                          <a:spcPct val="100000"/>
                        </a:lnSpc>
                        <a:spcBef>
                          <a:spcPts val="480"/>
                        </a:spcBef>
                      </a:pPr>
                      <a:r>
                        <a:rPr dirty="0" sz="1700">
                          <a:solidFill>
                            <a:srgbClr val="40458B"/>
                          </a:solidFill>
                          <a:latin typeface="黑体"/>
                          <a:cs typeface="黑体"/>
                        </a:rPr>
                        <a:t>LBU </a:t>
                      </a:r>
                      <a:r>
                        <a:rPr dirty="0" sz="1700" spc="-10">
                          <a:solidFill>
                            <a:srgbClr val="40458B"/>
                          </a:solidFill>
                          <a:latin typeface="黑体"/>
                          <a:cs typeface="黑体"/>
                        </a:rPr>
                        <a:t>R2，40(R3)</a:t>
                      </a:r>
                      <a:endParaRPr sz="1700">
                        <a:latin typeface="黑体"/>
                        <a:cs typeface="黑体"/>
                      </a:endParaRPr>
                    </a:p>
                  </a:txBody>
                  <a:tcPr marL="0" marR="0" marB="0" marT="6096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480"/>
                        </a:spcBef>
                      </a:pPr>
                      <a:r>
                        <a:rPr dirty="0" sz="1700" spc="-15">
                          <a:solidFill>
                            <a:srgbClr val="40458B"/>
                          </a:solidFill>
                          <a:latin typeface="黑体"/>
                          <a:cs typeface="黑体"/>
                        </a:rPr>
                        <a:t>装入无符号字节</a:t>
                      </a:r>
                      <a:endParaRPr sz="1700">
                        <a:latin typeface="黑体"/>
                        <a:cs typeface="黑体"/>
                      </a:endParaRPr>
                    </a:p>
                  </a:txBody>
                  <a:tcPr marL="0" marR="0" marB="0" marT="609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480"/>
                        </a:spcBef>
                      </a:pPr>
                      <a:r>
                        <a:rPr dirty="0" sz="1700">
                          <a:solidFill>
                            <a:srgbClr val="40458B"/>
                          </a:solidFill>
                          <a:latin typeface="黑体"/>
                          <a:cs typeface="黑体"/>
                        </a:rPr>
                        <a:t>Regs[R2]←</a:t>
                      </a:r>
                      <a:r>
                        <a:rPr dirty="0" baseline="-20202" sz="1650">
                          <a:solidFill>
                            <a:srgbClr val="40458B"/>
                          </a:solidFill>
                          <a:latin typeface="黑体"/>
                          <a:cs typeface="黑体"/>
                        </a:rPr>
                        <a:t>64</a:t>
                      </a:r>
                      <a:r>
                        <a:rPr dirty="0" baseline="-20202" sz="1650" spc="22">
                          <a:solidFill>
                            <a:srgbClr val="40458B"/>
                          </a:solidFill>
                          <a:latin typeface="黑体"/>
                          <a:cs typeface="黑体"/>
                        </a:rPr>
                        <a:t> </a:t>
                      </a:r>
                      <a:r>
                        <a:rPr dirty="0" sz="1700">
                          <a:solidFill>
                            <a:srgbClr val="40458B"/>
                          </a:solidFill>
                          <a:latin typeface="黑体"/>
                          <a:cs typeface="黑体"/>
                        </a:rPr>
                        <a:t>0</a:t>
                      </a:r>
                      <a:r>
                        <a:rPr dirty="0" baseline="25252" sz="1650">
                          <a:solidFill>
                            <a:srgbClr val="40458B"/>
                          </a:solidFill>
                          <a:latin typeface="黑体"/>
                          <a:cs typeface="黑体"/>
                        </a:rPr>
                        <a:t>56</a:t>
                      </a:r>
                      <a:r>
                        <a:rPr dirty="0" baseline="25252" sz="1650" spc="450">
                          <a:solidFill>
                            <a:srgbClr val="40458B"/>
                          </a:solidFill>
                          <a:latin typeface="黑体"/>
                          <a:cs typeface="黑体"/>
                        </a:rPr>
                        <a:t> </a:t>
                      </a:r>
                      <a:r>
                        <a:rPr dirty="0" sz="1700">
                          <a:solidFill>
                            <a:srgbClr val="40458B"/>
                          </a:solidFill>
                          <a:latin typeface="黑体"/>
                          <a:cs typeface="黑体"/>
                        </a:rPr>
                        <a:t>##</a:t>
                      </a:r>
                      <a:r>
                        <a:rPr dirty="0" sz="1700" spc="10">
                          <a:solidFill>
                            <a:srgbClr val="40458B"/>
                          </a:solidFill>
                          <a:latin typeface="黑体"/>
                          <a:cs typeface="黑体"/>
                        </a:rPr>
                        <a:t> </a:t>
                      </a:r>
                      <a:r>
                        <a:rPr dirty="0" sz="1700" spc="-10">
                          <a:solidFill>
                            <a:srgbClr val="40458B"/>
                          </a:solidFill>
                          <a:latin typeface="黑体"/>
                          <a:cs typeface="黑体"/>
                        </a:rPr>
                        <a:t>Mem[40+Regs[R3]]</a:t>
                      </a:r>
                      <a:endParaRPr sz="1700">
                        <a:latin typeface="黑体"/>
                        <a:cs typeface="黑体"/>
                      </a:endParaRPr>
                    </a:p>
                  </a:txBody>
                  <a:tcPr marL="0" marR="0" marB="0" marT="6096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vMerge="1">
                  <a:txBody>
                    <a:bodyPr/>
                    <a:lstStyle/>
                    <a:p>
                      <a:pPr/>
                    </a:p>
                  </a:txBody>
                  <a:tcPr marL="0" marR="0" marB="0" marT="0">
                    <a:lnL w="28575">
                      <a:solidFill>
                        <a:srgbClr val="40458B"/>
                      </a:solidFill>
                      <a:prstDash val="solid"/>
                    </a:lnL>
                    <a:lnT w="38100">
                      <a:solidFill>
                        <a:srgbClr val="2C44A3"/>
                      </a:solidFill>
                      <a:prstDash val="solid"/>
                    </a:lnT>
                  </a:tcPr>
                </a:tc>
              </a:tr>
              <a:tr h="759460">
                <a:tc vMerge="1">
                  <a:txBody>
                    <a:bodyPr/>
                    <a:lstStyle/>
                    <a:p>
                      <a:pPr/>
                    </a:p>
                  </a:txBody>
                  <a:tcPr marL="0" marR="0" marB="0" marT="0">
                    <a:lnR w="28575">
                      <a:solidFill>
                        <a:srgbClr val="40458B"/>
                      </a:solidFill>
                      <a:prstDash val="solid"/>
                    </a:lnR>
                    <a:lnT w="38100">
                      <a:solidFill>
                        <a:srgbClr val="2C44A3"/>
                      </a:solidFill>
                      <a:prstDash val="solid"/>
                    </a:lnT>
                  </a:tcPr>
                </a:tc>
                <a:tc>
                  <a:txBody>
                    <a:bodyPr/>
                    <a:lstStyle/>
                    <a:p>
                      <a:pPr marL="91440">
                        <a:lnSpc>
                          <a:spcPct val="100000"/>
                        </a:lnSpc>
                        <a:spcBef>
                          <a:spcPts val="480"/>
                        </a:spcBef>
                      </a:pPr>
                      <a:r>
                        <a:rPr dirty="0" sz="1700">
                          <a:solidFill>
                            <a:srgbClr val="40458B"/>
                          </a:solidFill>
                          <a:latin typeface="黑体"/>
                          <a:cs typeface="黑体"/>
                        </a:rPr>
                        <a:t>LH </a:t>
                      </a:r>
                      <a:r>
                        <a:rPr dirty="0" sz="1700" spc="-10">
                          <a:solidFill>
                            <a:srgbClr val="40458B"/>
                          </a:solidFill>
                          <a:latin typeface="黑体"/>
                          <a:cs typeface="黑体"/>
                        </a:rPr>
                        <a:t>R2，30(R3)</a:t>
                      </a:r>
                      <a:endParaRPr sz="1700">
                        <a:latin typeface="黑体"/>
                        <a:cs typeface="黑体"/>
                      </a:endParaRPr>
                    </a:p>
                  </a:txBody>
                  <a:tcPr marL="0" marR="0" marB="0" marT="6096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480"/>
                        </a:spcBef>
                      </a:pPr>
                      <a:r>
                        <a:rPr dirty="0" sz="1700" spc="-15">
                          <a:solidFill>
                            <a:srgbClr val="40458B"/>
                          </a:solidFill>
                          <a:latin typeface="黑体"/>
                          <a:cs typeface="黑体"/>
                        </a:rPr>
                        <a:t>装入半字</a:t>
                      </a:r>
                      <a:endParaRPr sz="1700">
                        <a:latin typeface="黑体"/>
                        <a:cs typeface="黑体"/>
                      </a:endParaRPr>
                    </a:p>
                  </a:txBody>
                  <a:tcPr marL="0" marR="0" marB="0" marT="609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480"/>
                        </a:spcBef>
                      </a:pPr>
                      <a:r>
                        <a:rPr dirty="0" sz="1700">
                          <a:solidFill>
                            <a:srgbClr val="40458B"/>
                          </a:solidFill>
                          <a:latin typeface="黑体"/>
                          <a:cs typeface="黑体"/>
                        </a:rPr>
                        <a:t>Regs[R2]←</a:t>
                      </a:r>
                      <a:r>
                        <a:rPr dirty="0" baseline="-20202" sz="1650">
                          <a:solidFill>
                            <a:srgbClr val="40458B"/>
                          </a:solidFill>
                          <a:latin typeface="黑体"/>
                          <a:cs typeface="黑体"/>
                        </a:rPr>
                        <a:t>64</a:t>
                      </a:r>
                      <a:r>
                        <a:rPr dirty="0" baseline="-20202" sz="1650" spc="7">
                          <a:solidFill>
                            <a:srgbClr val="40458B"/>
                          </a:solidFill>
                          <a:latin typeface="黑体"/>
                          <a:cs typeface="黑体"/>
                        </a:rPr>
                        <a:t> </a:t>
                      </a:r>
                      <a:r>
                        <a:rPr dirty="0" sz="1700">
                          <a:solidFill>
                            <a:srgbClr val="40458B"/>
                          </a:solidFill>
                          <a:latin typeface="黑体"/>
                          <a:cs typeface="黑体"/>
                        </a:rPr>
                        <a:t>(Mem[30+Regs[R3]]</a:t>
                      </a:r>
                      <a:r>
                        <a:rPr dirty="0" baseline="-20202" sz="1650">
                          <a:solidFill>
                            <a:srgbClr val="40458B"/>
                          </a:solidFill>
                          <a:latin typeface="黑体"/>
                          <a:cs typeface="黑体"/>
                        </a:rPr>
                        <a:t>0</a:t>
                      </a:r>
                      <a:r>
                        <a:rPr dirty="0" sz="1700">
                          <a:solidFill>
                            <a:srgbClr val="40458B"/>
                          </a:solidFill>
                          <a:latin typeface="黑体"/>
                          <a:cs typeface="黑体"/>
                        </a:rPr>
                        <a:t>)</a:t>
                      </a:r>
                      <a:r>
                        <a:rPr dirty="0" baseline="25252" sz="1650">
                          <a:solidFill>
                            <a:srgbClr val="40458B"/>
                          </a:solidFill>
                          <a:latin typeface="黑体"/>
                          <a:cs typeface="黑体"/>
                        </a:rPr>
                        <a:t>48</a:t>
                      </a:r>
                      <a:r>
                        <a:rPr dirty="0" baseline="25252" sz="1650" spc="442">
                          <a:solidFill>
                            <a:srgbClr val="40458B"/>
                          </a:solidFill>
                          <a:latin typeface="黑体"/>
                          <a:cs typeface="黑体"/>
                        </a:rPr>
                        <a:t> </a:t>
                      </a:r>
                      <a:r>
                        <a:rPr dirty="0" sz="1700" spc="-25">
                          <a:solidFill>
                            <a:srgbClr val="40458B"/>
                          </a:solidFill>
                          <a:latin typeface="黑体"/>
                          <a:cs typeface="黑体"/>
                        </a:rPr>
                        <a:t>##</a:t>
                      </a:r>
                      <a:endParaRPr sz="1700">
                        <a:latin typeface="黑体"/>
                        <a:cs typeface="黑体"/>
                      </a:endParaRPr>
                    </a:p>
                    <a:p>
                      <a:pPr marL="92075">
                        <a:lnSpc>
                          <a:spcPct val="100000"/>
                        </a:lnSpc>
                        <a:spcBef>
                          <a:spcPts val="815"/>
                        </a:spcBef>
                      </a:pPr>
                      <a:r>
                        <a:rPr dirty="0" sz="1700">
                          <a:solidFill>
                            <a:srgbClr val="40458B"/>
                          </a:solidFill>
                          <a:latin typeface="黑体"/>
                          <a:cs typeface="黑体"/>
                        </a:rPr>
                        <a:t>Mem[30+Regs[R3]]##</a:t>
                      </a:r>
                      <a:r>
                        <a:rPr dirty="0" sz="1700" spc="-30">
                          <a:solidFill>
                            <a:srgbClr val="40458B"/>
                          </a:solidFill>
                          <a:latin typeface="黑体"/>
                          <a:cs typeface="黑体"/>
                        </a:rPr>
                        <a:t> </a:t>
                      </a:r>
                      <a:r>
                        <a:rPr dirty="0" sz="1700" spc="-10">
                          <a:solidFill>
                            <a:srgbClr val="40458B"/>
                          </a:solidFill>
                          <a:latin typeface="黑体"/>
                          <a:cs typeface="黑体"/>
                        </a:rPr>
                        <a:t>Mem[31+Regs[R3]]</a:t>
                      </a:r>
                      <a:endParaRPr sz="1700">
                        <a:latin typeface="黑体"/>
                        <a:cs typeface="黑体"/>
                      </a:endParaRPr>
                    </a:p>
                  </a:txBody>
                  <a:tcPr marL="0" marR="0" marB="0" marT="6096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vMerge="1">
                  <a:txBody>
                    <a:bodyPr/>
                    <a:lstStyle/>
                    <a:p>
                      <a:pPr/>
                    </a:p>
                  </a:txBody>
                  <a:tcPr marL="0" marR="0" marB="0" marT="0">
                    <a:lnL w="28575">
                      <a:solidFill>
                        <a:srgbClr val="40458B"/>
                      </a:solidFill>
                      <a:prstDash val="solid"/>
                    </a:lnL>
                    <a:lnT w="38100">
                      <a:solidFill>
                        <a:srgbClr val="2C44A3"/>
                      </a:solidFill>
                      <a:prstDash val="solid"/>
                    </a:lnT>
                  </a:tcPr>
                </a:tc>
              </a:tr>
              <a:tr h="396875">
                <a:tc vMerge="1">
                  <a:txBody>
                    <a:bodyPr/>
                    <a:lstStyle/>
                    <a:p>
                      <a:pPr/>
                    </a:p>
                  </a:txBody>
                  <a:tcPr marL="0" marR="0" marB="0" marT="0">
                    <a:lnR w="28575">
                      <a:solidFill>
                        <a:srgbClr val="40458B"/>
                      </a:solidFill>
                      <a:prstDash val="solid"/>
                    </a:lnR>
                    <a:lnT w="38100">
                      <a:solidFill>
                        <a:srgbClr val="2C44A3"/>
                      </a:solidFill>
                      <a:prstDash val="solid"/>
                    </a:lnT>
                  </a:tcPr>
                </a:tc>
                <a:tc>
                  <a:txBody>
                    <a:bodyPr/>
                    <a:lstStyle/>
                    <a:p>
                      <a:pPr marL="91440">
                        <a:lnSpc>
                          <a:spcPct val="100000"/>
                        </a:lnSpc>
                        <a:spcBef>
                          <a:spcPts val="484"/>
                        </a:spcBef>
                      </a:pPr>
                      <a:r>
                        <a:rPr dirty="0" sz="1700">
                          <a:solidFill>
                            <a:srgbClr val="40458B"/>
                          </a:solidFill>
                          <a:latin typeface="黑体"/>
                          <a:cs typeface="黑体"/>
                        </a:rPr>
                        <a:t>L.S </a:t>
                      </a:r>
                      <a:r>
                        <a:rPr dirty="0" sz="1700" spc="-10">
                          <a:solidFill>
                            <a:srgbClr val="40458B"/>
                          </a:solidFill>
                          <a:latin typeface="黑体"/>
                          <a:cs typeface="黑体"/>
                        </a:rPr>
                        <a:t>F2，60(R4)</a:t>
                      </a:r>
                      <a:endParaRPr sz="1700">
                        <a:latin typeface="黑体"/>
                        <a:cs typeface="黑体"/>
                      </a:endParaRPr>
                    </a:p>
                  </a:txBody>
                  <a:tcPr marL="0" marR="0" marB="0" marT="61594">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484"/>
                        </a:spcBef>
                      </a:pPr>
                      <a:r>
                        <a:rPr dirty="0" sz="1700" spc="-15">
                          <a:solidFill>
                            <a:srgbClr val="40458B"/>
                          </a:solidFill>
                          <a:latin typeface="黑体"/>
                          <a:cs typeface="黑体"/>
                        </a:rPr>
                        <a:t>装入单精度浮点数</a:t>
                      </a:r>
                      <a:endParaRPr sz="1700">
                        <a:latin typeface="黑体"/>
                        <a:cs typeface="黑体"/>
                      </a:endParaRPr>
                    </a:p>
                  </a:txBody>
                  <a:tcPr marL="0" marR="0" marB="0" marT="61594">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484"/>
                        </a:spcBef>
                      </a:pPr>
                      <a:r>
                        <a:rPr dirty="0" sz="1700">
                          <a:solidFill>
                            <a:srgbClr val="40458B"/>
                          </a:solidFill>
                          <a:latin typeface="黑体"/>
                          <a:cs typeface="黑体"/>
                        </a:rPr>
                        <a:t>Regs[F2]←</a:t>
                      </a:r>
                      <a:r>
                        <a:rPr dirty="0" baseline="-20202" sz="1650">
                          <a:solidFill>
                            <a:srgbClr val="40458B"/>
                          </a:solidFill>
                          <a:latin typeface="黑体"/>
                          <a:cs typeface="黑体"/>
                        </a:rPr>
                        <a:t>64 </a:t>
                      </a:r>
                      <a:r>
                        <a:rPr dirty="0" sz="1700">
                          <a:solidFill>
                            <a:srgbClr val="40458B"/>
                          </a:solidFill>
                          <a:latin typeface="黑体"/>
                          <a:cs typeface="黑体"/>
                        </a:rPr>
                        <a:t>Mem[60+Regs[R4]]</a:t>
                      </a:r>
                      <a:r>
                        <a:rPr dirty="0" sz="1700" spc="-15">
                          <a:solidFill>
                            <a:srgbClr val="40458B"/>
                          </a:solidFill>
                          <a:latin typeface="黑体"/>
                          <a:cs typeface="黑体"/>
                        </a:rPr>
                        <a:t> </a:t>
                      </a:r>
                      <a:r>
                        <a:rPr dirty="0" sz="1700">
                          <a:solidFill>
                            <a:srgbClr val="40458B"/>
                          </a:solidFill>
                          <a:latin typeface="黑体"/>
                          <a:cs typeface="黑体"/>
                        </a:rPr>
                        <a:t>##</a:t>
                      </a:r>
                      <a:r>
                        <a:rPr dirty="0" sz="1700" spc="-10">
                          <a:solidFill>
                            <a:srgbClr val="40458B"/>
                          </a:solidFill>
                          <a:latin typeface="黑体"/>
                          <a:cs typeface="黑体"/>
                        </a:rPr>
                        <a:t> </a:t>
                      </a:r>
                      <a:r>
                        <a:rPr dirty="0" sz="1700" spc="-25">
                          <a:solidFill>
                            <a:srgbClr val="40458B"/>
                          </a:solidFill>
                          <a:latin typeface="黑体"/>
                          <a:cs typeface="黑体"/>
                        </a:rPr>
                        <a:t>0</a:t>
                      </a:r>
                      <a:r>
                        <a:rPr dirty="0" baseline="25252" sz="1650" spc="-37">
                          <a:solidFill>
                            <a:srgbClr val="40458B"/>
                          </a:solidFill>
                          <a:latin typeface="黑体"/>
                          <a:cs typeface="黑体"/>
                        </a:rPr>
                        <a:t>32</a:t>
                      </a:r>
                      <a:endParaRPr baseline="25252" sz="1650">
                        <a:latin typeface="黑体"/>
                        <a:cs typeface="黑体"/>
                      </a:endParaRPr>
                    </a:p>
                  </a:txBody>
                  <a:tcPr marL="0" marR="0" marB="0" marT="61594">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vMerge="1">
                  <a:txBody>
                    <a:bodyPr/>
                    <a:lstStyle/>
                    <a:p>
                      <a:pPr/>
                    </a:p>
                  </a:txBody>
                  <a:tcPr marL="0" marR="0" marB="0" marT="0">
                    <a:lnL w="28575">
                      <a:solidFill>
                        <a:srgbClr val="40458B"/>
                      </a:solidFill>
                      <a:prstDash val="solid"/>
                    </a:lnL>
                    <a:lnT w="38100">
                      <a:solidFill>
                        <a:srgbClr val="2C44A3"/>
                      </a:solidFill>
                      <a:prstDash val="solid"/>
                    </a:lnT>
                  </a:tcPr>
                </a:tc>
              </a:tr>
              <a:tr h="396875">
                <a:tc vMerge="1">
                  <a:txBody>
                    <a:bodyPr/>
                    <a:lstStyle/>
                    <a:p>
                      <a:pPr/>
                    </a:p>
                  </a:txBody>
                  <a:tcPr marL="0" marR="0" marB="0" marT="0">
                    <a:lnR w="28575">
                      <a:solidFill>
                        <a:srgbClr val="40458B"/>
                      </a:solidFill>
                      <a:prstDash val="solid"/>
                    </a:lnR>
                    <a:lnT w="38100">
                      <a:solidFill>
                        <a:srgbClr val="2C44A3"/>
                      </a:solidFill>
                      <a:prstDash val="solid"/>
                    </a:lnT>
                  </a:tcPr>
                </a:tc>
                <a:tc>
                  <a:txBody>
                    <a:bodyPr/>
                    <a:lstStyle/>
                    <a:p>
                      <a:pPr marL="91440">
                        <a:lnSpc>
                          <a:spcPct val="100000"/>
                        </a:lnSpc>
                        <a:spcBef>
                          <a:spcPts val="484"/>
                        </a:spcBef>
                      </a:pPr>
                      <a:r>
                        <a:rPr dirty="0" sz="1700">
                          <a:solidFill>
                            <a:srgbClr val="40458B"/>
                          </a:solidFill>
                          <a:latin typeface="黑体"/>
                          <a:cs typeface="黑体"/>
                        </a:rPr>
                        <a:t>L.D </a:t>
                      </a:r>
                      <a:r>
                        <a:rPr dirty="0" sz="1700" spc="-10">
                          <a:solidFill>
                            <a:srgbClr val="40458B"/>
                          </a:solidFill>
                          <a:latin typeface="黑体"/>
                          <a:cs typeface="黑体"/>
                        </a:rPr>
                        <a:t>F2，40(R3)</a:t>
                      </a:r>
                      <a:endParaRPr sz="1700">
                        <a:latin typeface="黑体"/>
                        <a:cs typeface="黑体"/>
                      </a:endParaRPr>
                    </a:p>
                  </a:txBody>
                  <a:tcPr marL="0" marR="0" marB="0" marT="61594">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484"/>
                        </a:spcBef>
                      </a:pPr>
                      <a:r>
                        <a:rPr dirty="0" sz="1700" spc="-15">
                          <a:solidFill>
                            <a:srgbClr val="40458B"/>
                          </a:solidFill>
                          <a:latin typeface="黑体"/>
                          <a:cs typeface="黑体"/>
                        </a:rPr>
                        <a:t>装入双精度浮点数</a:t>
                      </a:r>
                      <a:endParaRPr sz="1700">
                        <a:latin typeface="黑体"/>
                        <a:cs typeface="黑体"/>
                      </a:endParaRPr>
                    </a:p>
                  </a:txBody>
                  <a:tcPr marL="0" marR="0" marB="0" marT="61594">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484"/>
                        </a:spcBef>
                      </a:pPr>
                      <a:r>
                        <a:rPr dirty="0" sz="1700">
                          <a:solidFill>
                            <a:srgbClr val="40458B"/>
                          </a:solidFill>
                          <a:latin typeface="黑体"/>
                          <a:cs typeface="黑体"/>
                        </a:rPr>
                        <a:t>Regs[F2]←</a:t>
                      </a:r>
                      <a:r>
                        <a:rPr dirty="0" baseline="-20202" sz="1650">
                          <a:solidFill>
                            <a:srgbClr val="40458B"/>
                          </a:solidFill>
                          <a:latin typeface="黑体"/>
                          <a:cs typeface="黑体"/>
                        </a:rPr>
                        <a:t>64</a:t>
                      </a:r>
                      <a:r>
                        <a:rPr dirty="0" baseline="-20202" sz="1650" spc="457">
                          <a:solidFill>
                            <a:srgbClr val="40458B"/>
                          </a:solidFill>
                          <a:latin typeface="黑体"/>
                          <a:cs typeface="黑体"/>
                        </a:rPr>
                        <a:t> </a:t>
                      </a:r>
                      <a:r>
                        <a:rPr dirty="0" sz="1700" spc="-10">
                          <a:solidFill>
                            <a:srgbClr val="40458B"/>
                          </a:solidFill>
                          <a:latin typeface="黑体"/>
                          <a:cs typeface="黑体"/>
                        </a:rPr>
                        <a:t>Mem[40+Regs[R3]]</a:t>
                      </a:r>
                      <a:endParaRPr sz="1700">
                        <a:latin typeface="黑体"/>
                        <a:cs typeface="黑体"/>
                      </a:endParaRPr>
                    </a:p>
                  </a:txBody>
                  <a:tcPr marL="0" marR="0" marB="0" marT="61594">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vMerge="1">
                  <a:txBody>
                    <a:bodyPr/>
                    <a:lstStyle/>
                    <a:p>
                      <a:pPr/>
                    </a:p>
                  </a:txBody>
                  <a:tcPr marL="0" marR="0" marB="0" marT="0">
                    <a:lnL w="28575">
                      <a:solidFill>
                        <a:srgbClr val="40458B"/>
                      </a:solidFill>
                      <a:prstDash val="solid"/>
                    </a:lnL>
                    <a:lnT w="38100">
                      <a:solidFill>
                        <a:srgbClr val="2C44A3"/>
                      </a:solidFill>
                      <a:prstDash val="solid"/>
                    </a:lnT>
                  </a:tcPr>
                </a:tc>
              </a:tr>
              <a:tr h="396875">
                <a:tc vMerge="1">
                  <a:txBody>
                    <a:bodyPr/>
                    <a:lstStyle/>
                    <a:p>
                      <a:pPr/>
                    </a:p>
                  </a:txBody>
                  <a:tcPr marL="0" marR="0" marB="0" marT="0">
                    <a:lnR w="28575">
                      <a:solidFill>
                        <a:srgbClr val="40458B"/>
                      </a:solidFill>
                      <a:prstDash val="solid"/>
                    </a:lnR>
                    <a:lnT w="38100">
                      <a:solidFill>
                        <a:srgbClr val="2C44A3"/>
                      </a:solidFill>
                      <a:prstDash val="solid"/>
                    </a:lnT>
                  </a:tcPr>
                </a:tc>
                <a:tc>
                  <a:txBody>
                    <a:bodyPr/>
                    <a:lstStyle/>
                    <a:p>
                      <a:pPr marL="91440">
                        <a:lnSpc>
                          <a:spcPct val="100000"/>
                        </a:lnSpc>
                        <a:spcBef>
                          <a:spcPts val="484"/>
                        </a:spcBef>
                      </a:pPr>
                      <a:r>
                        <a:rPr dirty="0" sz="1700">
                          <a:solidFill>
                            <a:srgbClr val="40458B"/>
                          </a:solidFill>
                          <a:latin typeface="黑体"/>
                          <a:cs typeface="黑体"/>
                        </a:rPr>
                        <a:t>SD </a:t>
                      </a:r>
                      <a:r>
                        <a:rPr dirty="0" sz="1700" spc="-10">
                          <a:solidFill>
                            <a:srgbClr val="40458B"/>
                          </a:solidFill>
                          <a:latin typeface="黑体"/>
                          <a:cs typeface="黑体"/>
                        </a:rPr>
                        <a:t>R4，300(R5)</a:t>
                      </a:r>
                      <a:endParaRPr sz="1700">
                        <a:latin typeface="黑体"/>
                        <a:cs typeface="黑体"/>
                      </a:endParaRPr>
                    </a:p>
                  </a:txBody>
                  <a:tcPr marL="0" marR="0" marB="0" marT="61594">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484"/>
                        </a:spcBef>
                      </a:pPr>
                      <a:r>
                        <a:rPr dirty="0" sz="1700" spc="-15">
                          <a:solidFill>
                            <a:srgbClr val="40458B"/>
                          </a:solidFill>
                          <a:latin typeface="黑体"/>
                          <a:cs typeface="黑体"/>
                        </a:rPr>
                        <a:t>保存双字</a:t>
                      </a:r>
                      <a:endParaRPr sz="1700">
                        <a:latin typeface="黑体"/>
                        <a:cs typeface="黑体"/>
                      </a:endParaRPr>
                    </a:p>
                  </a:txBody>
                  <a:tcPr marL="0" marR="0" marB="0" marT="61594">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484"/>
                        </a:spcBef>
                      </a:pPr>
                      <a:r>
                        <a:rPr dirty="0" sz="1700">
                          <a:solidFill>
                            <a:srgbClr val="40458B"/>
                          </a:solidFill>
                          <a:latin typeface="黑体"/>
                          <a:cs typeface="黑体"/>
                        </a:rPr>
                        <a:t>Mem[300+Regs[R5]]←</a:t>
                      </a:r>
                      <a:r>
                        <a:rPr dirty="0" baseline="-20202" sz="1650">
                          <a:solidFill>
                            <a:srgbClr val="40458B"/>
                          </a:solidFill>
                          <a:latin typeface="黑体"/>
                          <a:cs typeface="黑体"/>
                        </a:rPr>
                        <a:t>64 </a:t>
                      </a:r>
                      <a:r>
                        <a:rPr dirty="0" sz="1700" spc="-10">
                          <a:solidFill>
                            <a:srgbClr val="40458B"/>
                          </a:solidFill>
                          <a:latin typeface="黑体"/>
                          <a:cs typeface="黑体"/>
                        </a:rPr>
                        <a:t>Regs[R4]</a:t>
                      </a:r>
                      <a:endParaRPr sz="1700">
                        <a:latin typeface="黑体"/>
                        <a:cs typeface="黑体"/>
                      </a:endParaRPr>
                    </a:p>
                  </a:txBody>
                  <a:tcPr marL="0" marR="0" marB="0" marT="61594">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vMerge="1">
                  <a:txBody>
                    <a:bodyPr/>
                    <a:lstStyle/>
                    <a:p>
                      <a:pPr/>
                    </a:p>
                  </a:txBody>
                  <a:tcPr marL="0" marR="0" marB="0" marT="0">
                    <a:lnL w="28575">
                      <a:solidFill>
                        <a:srgbClr val="40458B"/>
                      </a:solidFill>
                      <a:prstDash val="solid"/>
                    </a:lnL>
                    <a:lnT w="38100">
                      <a:solidFill>
                        <a:srgbClr val="2C44A3"/>
                      </a:solidFill>
                      <a:prstDash val="solid"/>
                    </a:lnT>
                  </a:tcPr>
                </a:tc>
              </a:tr>
              <a:tr h="396875">
                <a:tc vMerge="1">
                  <a:txBody>
                    <a:bodyPr/>
                    <a:lstStyle/>
                    <a:p>
                      <a:pPr/>
                    </a:p>
                  </a:txBody>
                  <a:tcPr marL="0" marR="0" marB="0" marT="0">
                    <a:lnR w="28575">
                      <a:solidFill>
                        <a:srgbClr val="40458B"/>
                      </a:solidFill>
                      <a:prstDash val="solid"/>
                    </a:lnR>
                    <a:lnT w="38100">
                      <a:solidFill>
                        <a:srgbClr val="2C44A3"/>
                      </a:solidFill>
                      <a:prstDash val="solid"/>
                    </a:lnT>
                  </a:tcPr>
                </a:tc>
                <a:tc>
                  <a:txBody>
                    <a:bodyPr/>
                    <a:lstStyle/>
                    <a:p>
                      <a:pPr marL="91440">
                        <a:lnSpc>
                          <a:spcPct val="100000"/>
                        </a:lnSpc>
                        <a:spcBef>
                          <a:spcPts val="484"/>
                        </a:spcBef>
                      </a:pPr>
                      <a:r>
                        <a:rPr dirty="0" sz="1700">
                          <a:solidFill>
                            <a:srgbClr val="40458B"/>
                          </a:solidFill>
                          <a:latin typeface="黑体"/>
                          <a:cs typeface="黑体"/>
                        </a:rPr>
                        <a:t>SW</a:t>
                      </a:r>
                      <a:r>
                        <a:rPr dirty="0" sz="1700" spc="-15">
                          <a:solidFill>
                            <a:srgbClr val="40458B"/>
                          </a:solidFill>
                          <a:latin typeface="黑体"/>
                          <a:cs typeface="黑体"/>
                        </a:rPr>
                        <a:t> </a:t>
                      </a:r>
                      <a:r>
                        <a:rPr dirty="0" sz="1700" spc="-10">
                          <a:solidFill>
                            <a:srgbClr val="40458B"/>
                          </a:solidFill>
                          <a:latin typeface="黑体"/>
                          <a:cs typeface="黑体"/>
                        </a:rPr>
                        <a:t>R4，300(R5)</a:t>
                      </a:r>
                      <a:endParaRPr sz="1700">
                        <a:latin typeface="黑体"/>
                        <a:cs typeface="黑体"/>
                      </a:endParaRPr>
                    </a:p>
                  </a:txBody>
                  <a:tcPr marL="0" marR="0" marB="0" marT="61594">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484"/>
                        </a:spcBef>
                      </a:pPr>
                      <a:r>
                        <a:rPr dirty="0" sz="1700" spc="-25">
                          <a:solidFill>
                            <a:srgbClr val="40458B"/>
                          </a:solidFill>
                          <a:latin typeface="黑体"/>
                          <a:cs typeface="黑体"/>
                        </a:rPr>
                        <a:t>保存字</a:t>
                      </a:r>
                      <a:endParaRPr sz="1700">
                        <a:latin typeface="黑体"/>
                        <a:cs typeface="黑体"/>
                      </a:endParaRPr>
                    </a:p>
                  </a:txBody>
                  <a:tcPr marL="0" marR="0" marB="0" marT="61594">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484"/>
                        </a:spcBef>
                      </a:pPr>
                      <a:r>
                        <a:rPr dirty="0" sz="1700">
                          <a:solidFill>
                            <a:srgbClr val="40458B"/>
                          </a:solidFill>
                          <a:latin typeface="黑体"/>
                          <a:cs typeface="黑体"/>
                        </a:rPr>
                        <a:t>Mem[300+Regs[R5]]←</a:t>
                      </a:r>
                      <a:r>
                        <a:rPr dirty="0" baseline="-20202" sz="1650">
                          <a:solidFill>
                            <a:srgbClr val="40458B"/>
                          </a:solidFill>
                          <a:latin typeface="黑体"/>
                          <a:cs typeface="黑体"/>
                        </a:rPr>
                        <a:t>32</a:t>
                      </a:r>
                      <a:r>
                        <a:rPr dirty="0" baseline="-20202" sz="1650" spc="307">
                          <a:solidFill>
                            <a:srgbClr val="40458B"/>
                          </a:solidFill>
                          <a:latin typeface="黑体"/>
                          <a:cs typeface="黑体"/>
                        </a:rPr>
                        <a:t> </a:t>
                      </a:r>
                      <a:r>
                        <a:rPr dirty="0" sz="1700" spc="-10">
                          <a:solidFill>
                            <a:srgbClr val="40458B"/>
                          </a:solidFill>
                          <a:latin typeface="黑体"/>
                          <a:cs typeface="黑体"/>
                        </a:rPr>
                        <a:t>Regs[R4]</a:t>
                      </a:r>
                      <a:endParaRPr sz="1700">
                        <a:latin typeface="黑体"/>
                        <a:cs typeface="黑体"/>
                      </a:endParaRPr>
                    </a:p>
                  </a:txBody>
                  <a:tcPr marL="0" marR="0" marB="0" marT="61594">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vMerge="1">
                  <a:txBody>
                    <a:bodyPr/>
                    <a:lstStyle/>
                    <a:p>
                      <a:pPr/>
                    </a:p>
                  </a:txBody>
                  <a:tcPr marL="0" marR="0" marB="0" marT="0">
                    <a:lnL w="28575">
                      <a:solidFill>
                        <a:srgbClr val="40458B"/>
                      </a:solidFill>
                      <a:prstDash val="solid"/>
                    </a:lnL>
                    <a:lnT w="38100">
                      <a:solidFill>
                        <a:srgbClr val="2C44A3"/>
                      </a:solidFill>
                      <a:prstDash val="solid"/>
                    </a:lnT>
                  </a:tcPr>
                </a:tc>
              </a:tr>
              <a:tr h="396875">
                <a:tc vMerge="1">
                  <a:txBody>
                    <a:bodyPr/>
                    <a:lstStyle/>
                    <a:p>
                      <a:pPr/>
                    </a:p>
                  </a:txBody>
                  <a:tcPr marL="0" marR="0" marB="0" marT="0">
                    <a:lnR w="28575">
                      <a:solidFill>
                        <a:srgbClr val="40458B"/>
                      </a:solidFill>
                      <a:prstDash val="solid"/>
                    </a:lnR>
                    <a:lnT w="38100">
                      <a:solidFill>
                        <a:srgbClr val="2C44A3"/>
                      </a:solidFill>
                      <a:prstDash val="solid"/>
                    </a:lnT>
                  </a:tcPr>
                </a:tc>
                <a:tc>
                  <a:txBody>
                    <a:bodyPr/>
                    <a:lstStyle/>
                    <a:p>
                      <a:pPr marL="91440">
                        <a:lnSpc>
                          <a:spcPct val="100000"/>
                        </a:lnSpc>
                        <a:spcBef>
                          <a:spcPts val="484"/>
                        </a:spcBef>
                      </a:pPr>
                      <a:r>
                        <a:rPr dirty="0" sz="1700">
                          <a:solidFill>
                            <a:srgbClr val="40458B"/>
                          </a:solidFill>
                          <a:latin typeface="黑体"/>
                          <a:cs typeface="黑体"/>
                        </a:rPr>
                        <a:t>S.S </a:t>
                      </a:r>
                      <a:r>
                        <a:rPr dirty="0" sz="1700" spc="-10">
                          <a:solidFill>
                            <a:srgbClr val="40458B"/>
                          </a:solidFill>
                          <a:latin typeface="黑体"/>
                          <a:cs typeface="黑体"/>
                        </a:rPr>
                        <a:t>F2，40(R2)</a:t>
                      </a:r>
                      <a:endParaRPr sz="1700">
                        <a:latin typeface="黑体"/>
                        <a:cs typeface="黑体"/>
                      </a:endParaRPr>
                    </a:p>
                  </a:txBody>
                  <a:tcPr marL="0" marR="0" marB="0" marT="61594">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484"/>
                        </a:spcBef>
                      </a:pPr>
                      <a:r>
                        <a:rPr dirty="0" sz="1700" spc="-15">
                          <a:solidFill>
                            <a:srgbClr val="40458B"/>
                          </a:solidFill>
                          <a:latin typeface="黑体"/>
                          <a:cs typeface="黑体"/>
                        </a:rPr>
                        <a:t>保存单精度浮点数</a:t>
                      </a:r>
                      <a:endParaRPr sz="1700">
                        <a:latin typeface="黑体"/>
                        <a:cs typeface="黑体"/>
                      </a:endParaRPr>
                    </a:p>
                  </a:txBody>
                  <a:tcPr marL="0" marR="0" marB="0" marT="61594">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484"/>
                        </a:spcBef>
                      </a:pPr>
                      <a:r>
                        <a:rPr dirty="0" sz="1700">
                          <a:solidFill>
                            <a:srgbClr val="40458B"/>
                          </a:solidFill>
                          <a:latin typeface="黑体"/>
                          <a:cs typeface="黑体"/>
                        </a:rPr>
                        <a:t>Mem[40+Regs[R2]]←</a:t>
                      </a:r>
                      <a:r>
                        <a:rPr dirty="0" baseline="-20202" sz="1650">
                          <a:solidFill>
                            <a:srgbClr val="40458B"/>
                          </a:solidFill>
                          <a:latin typeface="黑体"/>
                          <a:cs typeface="黑体"/>
                        </a:rPr>
                        <a:t>32</a:t>
                      </a:r>
                      <a:r>
                        <a:rPr dirty="0" baseline="-20202" sz="1650" spc="-30">
                          <a:solidFill>
                            <a:srgbClr val="40458B"/>
                          </a:solidFill>
                          <a:latin typeface="黑体"/>
                          <a:cs typeface="黑体"/>
                        </a:rPr>
                        <a:t> </a:t>
                      </a:r>
                      <a:r>
                        <a:rPr dirty="0" sz="1700">
                          <a:solidFill>
                            <a:srgbClr val="40458B"/>
                          </a:solidFill>
                          <a:latin typeface="黑体"/>
                          <a:cs typeface="黑体"/>
                        </a:rPr>
                        <a:t>Regs[F2]</a:t>
                      </a:r>
                      <a:r>
                        <a:rPr dirty="0" sz="1700" spc="-10">
                          <a:solidFill>
                            <a:srgbClr val="40458B"/>
                          </a:solidFill>
                          <a:latin typeface="黑体"/>
                          <a:cs typeface="黑体"/>
                        </a:rPr>
                        <a:t> </a:t>
                      </a:r>
                      <a:r>
                        <a:rPr dirty="0" baseline="-20202" sz="1650" spc="-15">
                          <a:solidFill>
                            <a:srgbClr val="40458B"/>
                          </a:solidFill>
                          <a:latin typeface="黑体"/>
                          <a:cs typeface="黑体"/>
                        </a:rPr>
                        <a:t>0</a:t>
                      </a:r>
                      <a:r>
                        <a:rPr dirty="0" baseline="-20202" sz="1650" spc="-15">
                          <a:solidFill>
                            <a:srgbClr val="40458B"/>
                          </a:solidFill>
                          <a:latin typeface="Times New Roman"/>
                          <a:cs typeface="Times New Roman"/>
                        </a:rPr>
                        <a:t>··</a:t>
                      </a:r>
                      <a:r>
                        <a:rPr dirty="0" baseline="-20202" sz="1650" spc="-15">
                          <a:solidFill>
                            <a:srgbClr val="40458B"/>
                          </a:solidFill>
                          <a:latin typeface="黑体"/>
                          <a:cs typeface="黑体"/>
                        </a:rPr>
                        <a:t>31</a:t>
                      </a:r>
                      <a:endParaRPr baseline="-20202" sz="1650">
                        <a:latin typeface="黑体"/>
                        <a:cs typeface="黑体"/>
                      </a:endParaRPr>
                    </a:p>
                  </a:txBody>
                  <a:tcPr marL="0" marR="0" marB="0" marT="61594">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vMerge="1">
                  <a:txBody>
                    <a:bodyPr/>
                    <a:lstStyle/>
                    <a:p>
                      <a:pPr/>
                    </a:p>
                  </a:txBody>
                  <a:tcPr marL="0" marR="0" marB="0" marT="0">
                    <a:lnL w="28575">
                      <a:solidFill>
                        <a:srgbClr val="40458B"/>
                      </a:solidFill>
                      <a:prstDash val="solid"/>
                    </a:lnL>
                    <a:lnT w="38100">
                      <a:solidFill>
                        <a:srgbClr val="2C44A3"/>
                      </a:solidFill>
                      <a:prstDash val="solid"/>
                    </a:lnT>
                  </a:tcPr>
                </a:tc>
              </a:tr>
              <a:tr h="396875">
                <a:tc vMerge="1">
                  <a:txBody>
                    <a:bodyPr/>
                    <a:lstStyle/>
                    <a:p>
                      <a:pPr/>
                    </a:p>
                  </a:txBody>
                  <a:tcPr marL="0" marR="0" marB="0" marT="0">
                    <a:lnR w="28575">
                      <a:solidFill>
                        <a:srgbClr val="40458B"/>
                      </a:solidFill>
                      <a:prstDash val="solid"/>
                    </a:lnR>
                    <a:lnT w="38100">
                      <a:solidFill>
                        <a:srgbClr val="2C44A3"/>
                      </a:solidFill>
                      <a:prstDash val="solid"/>
                    </a:lnT>
                  </a:tcPr>
                </a:tc>
                <a:tc>
                  <a:txBody>
                    <a:bodyPr/>
                    <a:lstStyle/>
                    <a:p>
                      <a:pPr marL="91440">
                        <a:lnSpc>
                          <a:spcPct val="100000"/>
                        </a:lnSpc>
                        <a:spcBef>
                          <a:spcPts val="484"/>
                        </a:spcBef>
                      </a:pPr>
                      <a:r>
                        <a:rPr dirty="0" sz="1700">
                          <a:solidFill>
                            <a:srgbClr val="40458B"/>
                          </a:solidFill>
                          <a:latin typeface="黑体"/>
                          <a:cs typeface="黑体"/>
                        </a:rPr>
                        <a:t>SH </a:t>
                      </a:r>
                      <a:r>
                        <a:rPr dirty="0" sz="1700" spc="-10">
                          <a:solidFill>
                            <a:srgbClr val="40458B"/>
                          </a:solidFill>
                          <a:latin typeface="黑体"/>
                          <a:cs typeface="黑体"/>
                        </a:rPr>
                        <a:t>R5，502(R4)</a:t>
                      </a:r>
                      <a:endParaRPr sz="1700">
                        <a:latin typeface="黑体"/>
                        <a:cs typeface="黑体"/>
                      </a:endParaRPr>
                    </a:p>
                  </a:txBody>
                  <a:tcPr marL="0" marR="0" marB="0" marT="61594">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1440">
                        <a:lnSpc>
                          <a:spcPct val="100000"/>
                        </a:lnSpc>
                        <a:spcBef>
                          <a:spcPts val="484"/>
                        </a:spcBef>
                      </a:pPr>
                      <a:r>
                        <a:rPr dirty="0" sz="1700" spc="-15">
                          <a:solidFill>
                            <a:srgbClr val="40458B"/>
                          </a:solidFill>
                          <a:latin typeface="黑体"/>
                          <a:cs typeface="黑体"/>
                        </a:rPr>
                        <a:t>保存半字</a:t>
                      </a:r>
                      <a:endParaRPr sz="1700">
                        <a:latin typeface="黑体"/>
                        <a:cs typeface="黑体"/>
                      </a:endParaRPr>
                    </a:p>
                  </a:txBody>
                  <a:tcPr marL="0" marR="0" marB="0" marT="61594">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00000"/>
                        </a:lnSpc>
                        <a:spcBef>
                          <a:spcPts val="484"/>
                        </a:spcBef>
                      </a:pPr>
                      <a:r>
                        <a:rPr dirty="0" sz="1700">
                          <a:solidFill>
                            <a:srgbClr val="40458B"/>
                          </a:solidFill>
                          <a:latin typeface="黑体"/>
                          <a:cs typeface="黑体"/>
                        </a:rPr>
                        <a:t>Mem[502+Regs[R4]]←</a:t>
                      </a:r>
                      <a:r>
                        <a:rPr dirty="0" baseline="-20202" sz="1650">
                          <a:solidFill>
                            <a:srgbClr val="40458B"/>
                          </a:solidFill>
                          <a:latin typeface="黑体"/>
                          <a:cs typeface="黑体"/>
                        </a:rPr>
                        <a:t>16</a:t>
                      </a:r>
                      <a:r>
                        <a:rPr dirty="0" baseline="-20202" sz="1650" spc="390">
                          <a:solidFill>
                            <a:srgbClr val="40458B"/>
                          </a:solidFill>
                          <a:latin typeface="黑体"/>
                          <a:cs typeface="黑体"/>
                        </a:rPr>
                        <a:t> </a:t>
                      </a:r>
                      <a:r>
                        <a:rPr dirty="0" sz="1700">
                          <a:solidFill>
                            <a:srgbClr val="40458B"/>
                          </a:solidFill>
                          <a:latin typeface="黑体"/>
                          <a:cs typeface="黑体"/>
                        </a:rPr>
                        <a:t>Regs[R5] </a:t>
                      </a:r>
                      <a:r>
                        <a:rPr dirty="0" baseline="-20202" sz="1650" spc="-15">
                          <a:solidFill>
                            <a:srgbClr val="40458B"/>
                          </a:solidFill>
                          <a:latin typeface="黑体"/>
                          <a:cs typeface="黑体"/>
                        </a:rPr>
                        <a:t>48</a:t>
                      </a:r>
                      <a:r>
                        <a:rPr dirty="0" baseline="-20202" sz="1650" spc="-15">
                          <a:solidFill>
                            <a:srgbClr val="40458B"/>
                          </a:solidFill>
                          <a:latin typeface="Times New Roman"/>
                          <a:cs typeface="Times New Roman"/>
                        </a:rPr>
                        <a:t>··</a:t>
                      </a:r>
                      <a:r>
                        <a:rPr dirty="0" baseline="-20202" sz="1650" spc="-15">
                          <a:solidFill>
                            <a:srgbClr val="40458B"/>
                          </a:solidFill>
                          <a:latin typeface="黑体"/>
                          <a:cs typeface="黑体"/>
                        </a:rPr>
                        <a:t>.63</a:t>
                      </a:r>
                      <a:endParaRPr baseline="-20202" sz="1650">
                        <a:latin typeface="黑体"/>
                        <a:cs typeface="黑体"/>
                      </a:endParaRPr>
                    </a:p>
                  </a:txBody>
                  <a:tcPr marL="0" marR="0" marB="0" marT="61594">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c vMerge="1">
                  <a:txBody>
                    <a:bodyPr/>
                    <a:lstStyle/>
                    <a:p>
                      <a:pPr/>
                    </a:p>
                  </a:txBody>
                  <a:tcPr marL="0" marR="0" marB="0" marT="0">
                    <a:lnL w="28575">
                      <a:solidFill>
                        <a:srgbClr val="40458B"/>
                      </a:solidFill>
                      <a:prstDash val="solid"/>
                    </a:lnL>
                    <a:lnT w="38100">
                      <a:solidFill>
                        <a:srgbClr val="2C44A3"/>
                      </a:solidFill>
                      <a:prstDash val="solid"/>
                    </a:lnT>
                  </a:tcPr>
                </a:tc>
              </a:tr>
            </a:tbl>
          </a:graphicData>
        </a:graphic>
      </p:graphicFrame>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3173729" y="126237"/>
            <a:ext cx="5197475" cy="452120"/>
          </a:xfrm>
          <a:prstGeom prst="rect"/>
        </p:spPr>
        <p:txBody>
          <a:bodyPr wrap="square" lIns="0" tIns="12065" rIns="0" bIns="0" rtlCol="0" vert="horz">
            <a:spAutoFit/>
          </a:bodyPr>
          <a:lstStyle/>
          <a:p>
            <a:pPr marL="12700">
              <a:lnSpc>
                <a:spcPct val="100000"/>
              </a:lnSpc>
              <a:spcBef>
                <a:spcPts val="95"/>
              </a:spcBef>
            </a:pPr>
            <a:r>
              <a:rPr dirty="0" u="none" sz="2800" spc="-25">
                <a:solidFill>
                  <a:srgbClr val="4F55AC"/>
                </a:solidFill>
              </a:rPr>
              <a:t>MIPS</a:t>
            </a:r>
            <a:r>
              <a:rPr dirty="0" u="none" sz="2800" spc="-20">
                <a:solidFill>
                  <a:srgbClr val="4F55AC"/>
                </a:solidFill>
              </a:rPr>
              <a:t>指令举例--</a:t>
            </a:r>
            <a:r>
              <a:rPr dirty="0" u="none" sz="2800" spc="-25" b="0">
                <a:solidFill>
                  <a:srgbClr val="001F5F"/>
                </a:solidFill>
                <a:latin typeface="黑体"/>
                <a:cs typeface="黑体"/>
              </a:rPr>
              <a:t>load</a:t>
            </a:r>
            <a:r>
              <a:rPr dirty="0" u="none" sz="2800" spc="-35" b="0">
                <a:solidFill>
                  <a:srgbClr val="001F5F"/>
                </a:solidFill>
                <a:latin typeface="黑体"/>
                <a:cs typeface="黑体"/>
              </a:rPr>
              <a:t>和</a:t>
            </a:r>
            <a:r>
              <a:rPr dirty="0" u="none" sz="2800" spc="-15" b="0">
                <a:solidFill>
                  <a:srgbClr val="001F5F"/>
                </a:solidFill>
                <a:latin typeface="黑体"/>
                <a:cs typeface="黑体"/>
              </a:rPr>
              <a:t>store</a:t>
            </a:r>
            <a:r>
              <a:rPr dirty="0" u="none" sz="2800" spc="-45" b="0">
                <a:solidFill>
                  <a:srgbClr val="001F5F"/>
                </a:solidFill>
                <a:latin typeface="黑体"/>
                <a:cs typeface="黑体"/>
              </a:rPr>
              <a:t>指令</a:t>
            </a:r>
            <a:endParaRPr sz="2800">
              <a:latin typeface="黑体"/>
              <a:cs typeface="黑体"/>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86182" rIns="0" bIns="0" rtlCol="0" vert="horz">
            <a:spAutoFit/>
          </a:bodyPr>
          <a:lstStyle/>
          <a:p>
            <a:pPr marL="12700">
              <a:lnSpc>
                <a:spcPct val="100000"/>
              </a:lnSpc>
              <a:spcBef>
                <a:spcPts val="95"/>
              </a:spcBef>
              <a:tabLst>
                <a:tab pos="1423670" algn="l"/>
                <a:tab pos="11028045" algn="l"/>
              </a:tabLst>
            </a:pPr>
            <a:r>
              <a:rPr dirty="0" sz="2800">
                <a:solidFill>
                  <a:srgbClr val="40458B"/>
                </a:solidFill>
              </a:rPr>
              <a:t>	</a:t>
            </a:r>
            <a:r>
              <a:rPr dirty="0" sz="2800" spc="-10">
                <a:solidFill>
                  <a:srgbClr val="40458B"/>
                </a:solidFill>
              </a:rPr>
              <a:t>3.</a:t>
            </a:r>
            <a:r>
              <a:rPr dirty="0" sz="2800" spc="-610">
                <a:solidFill>
                  <a:srgbClr val="40458B"/>
                </a:solidFill>
              </a:rPr>
              <a:t> </a:t>
            </a:r>
            <a:r>
              <a:rPr dirty="0" sz="2800">
                <a:solidFill>
                  <a:srgbClr val="001F5F"/>
                </a:solidFill>
              </a:rPr>
              <a:t>load</a:t>
            </a:r>
            <a:r>
              <a:rPr dirty="0" sz="2800" spc="-40">
                <a:solidFill>
                  <a:srgbClr val="001F5F"/>
                </a:solidFill>
                <a:latin typeface="微软雅黑"/>
                <a:cs typeface="微软雅黑"/>
              </a:rPr>
              <a:t>和</a:t>
            </a:r>
            <a:r>
              <a:rPr dirty="0" sz="2800">
                <a:solidFill>
                  <a:srgbClr val="001F5F"/>
                </a:solidFill>
              </a:rPr>
              <a:t>store</a:t>
            </a:r>
            <a:r>
              <a:rPr dirty="0" sz="2800" spc="-40">
                <a:solidFill>
                  <a:srgbClr val="001F5F"/>
                </a:solidFill>
                <a:latin typeface="微软雅黑"/>
                <a:cs typeface="微软雅黑"/>
              </a:rPr>
              <a:t>指</a:t>
            </a:r>
            <a:r>
              <a:rPr dirty="0" sz="2800" spc="-50">
                <a:solidFill>
                  <a:srgbClr val="001F5F"/>
                </a:solidFill>
                <a:latin typeface="微软雅黑"/>
                <a:cs typeface="微软雅黑"/>
              </a:rPr>
              <a:t>令</a:t>
            </a:r>
            <a:r>
              <a:rPr dirty="0" sz="2800">
                <a:solidFill>
                  <a:srgbClr val="001F5F"/>
                </a:solidFill>
                <a:latin typeface="微软雅黑"/>
                <a:cs typeface="微软雅黑"/>
              </a:rPr>
              <a:t>	</a:t>
            </a:r>
            <a:endParaRPr sz="2800">
              <a:latin typeface="微软雅黑"/>
              <a:cs typeface="微软雅黑"/>
            </a:endParaRPr>
          </a:p>
        </p:txBody>
      </p:sp>
      <p:graphicFrame>
        <p:nvGraphicFramePr>
          <p:cNvPr id="4" name="object 4" descr=""/>
          <p:cNvGraphicFramePr>
            <a:graphicFrameLocks noGrp="1"/>
          </p:cNvGraphicFramePr>
          <p:nvPr/>
        </p:nvGraphicFramePr>
        <p:xfrm>
          <a:off x="1716087" y="728662"/>
          <a:ext cx="8836025" cy="5861684"/>
        </p:xfrm>
        <a:graphic>
          <a:graphicData uri="http://schemas.openxmlformats.org/drawingml/2006/table">
            <a:tbl>
              <a:tblPr firstRow="1" bandRow="1">
                <a:tableStyleId>{2D5ABB26-0587-4C30-8999-92F81FD0307C}</a:tableStyleId>
              </a:tblPr>
              <a:tblGrid>
                <a:gridCol w="2033270"/>
                <a:gridCol w="2160905"/>
                <a:gridCol w="4537709"/>
              </a:tblGrid>
              <a:tr h="455295">
                <a:tc>
                  <a:txBody>
                    <a:bodyPr/>
                    <a:lstStyle/>
                    <a:p>
                      <a:pPr marL="506730">
                        <a:lnSpc>
                          <a:spcPct val="100000"/>
                        </a:lnSpc>
                        <a:spcBef>
                          <a:spcPts val="515"/>
                        </a:spcBef>
                      </a:pPr>
                      <a:r>
                        <a:rPr dirty="0" sz="2000" spc="-15">
                          <a:solidFill>
                            <a:srgbClr val="E14B04"/>
                          </a:solidFill>
                          <a:latin typeface="黑体"/>
                          <a:cs typeface="黑体"/>
                        </a:rPr>
                        <a:t>指令举例</a:t>
                      </a:r>
                      <a:endParaRPr sz="2000">
                        <a:latin typeface="黑体"/>
                        <a:cs typeface="黑体"/>
                      </a:endParaRPr>
                    </a:p>
                  </a:txBody>
                  <a:tcPr marL="0" marR="0" marB="0" marT="6540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569595">
                        <a:lnSpc>
                          <a:spcPct val="100000"/>
                        </a:lnSpc>
                        <a:spcBef>
                          <a:spcPts val="515"/>
                        </a:spcBef>
                      </a:pPr>
                      <a:r>
                        <a:rPr dirty="0" sz="2000" spc="-15">
                          <a:solidFill>
                            <a:srgbClr val="E14B04"/>
                          </a:solidFill>
                          <a:latin typeface="黑体"/>
                          <a:cs typeface="黑体"/>
                        </a:rPr>
                        <a:t>指令名称</a:t>
                      </a:r>
                      <a:endParaRPr sz="2000">
                        <a:latin typeface="黑体"/>
                        <a:cs typeface="黑体"/>
                      </a:endParaRPr>
                    </a:p>
                  </a:txBody>
                  <a:tcPr marL="0" marR="0" marB="0" marT="6540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515"/>
                        </a:spcBef>
                      </a:pPr>
                      <a:r>
                        <a:rPr dirty="0" sz="2000" spc="-145">
                          <a:solidFill>
                            <a:srgbClr val="E14B04"/>
                          </a:solidFill>
                          <a:latin typeface="黑体"/>
                          <a:cs typeface="黑体"/>
                        </a:rPr>
                        <a:t>含 义</a:t>
                      </a:r>
                      <a:endParaRPr sz="2000">
                        <a:latin typeface="黑体"/>
                        <a:cs typeface="黑体"/>
                      </a:endParaRPr>
                    </a:p>
                  </a:txBody>
                  <a:tcPr marL="0" marR="0" marB="0" marT="6540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423545">
                <a:tc>
                  <a:txBody>
                    <a:bodyPr/>
                    <a:lstStyle/>
                    <a:p>
                      <a:pPr marL="91440">
                        <a:lnSpc>
                          <a:spcPct val="100000"/>
                        </a:lnSpc>
                        <a:spcBef>
                          <a:spcPts val="500"/>
                        </a:spcBef>
                      </a:pPr>
                      <a:r>
                        <a:rPr dirty="0" sz="1800">
                          <a:solidFill>
                            <a:srgbClr val="40458B"/>
                          </a:solidFill>
                          <a:latin typeface="黑体"/>
                          <a:cs typeface="黑体"/>
                        </a:rPr>
                        <a:t>LD </a:t>
                      </a:r>
                      <a:r>
                        <a:rPr dirty="0" sz="1800" spc="-10">
                          <a:solidFill>
                            <a:srgbClr val="40458B"/>
                          </a:solidFill>
                          <a:latin typeface="黑体"/>
                          <a:cs typeface="黑体"/>
                        </a:rPr>
                        <a:t>R2，20(R3)</a:t>
                      </a:r>
                      <a:endParaRPr sz="1800">
                        <a:latin typeface="黑体"/>
                        <a:cs typeface="黑体"/>
                      </a:endParaRPr>
                    </a:p>
                  </a:txBody>
                  <a:tcPr marL="0" marR="0" marB="0" marT="6350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500"/>
                        </a:spcBef>
                      </a:pPr>
                      <a:r>
                        <a:rPr dirty="0" sz="1800" spc="-15">
                          <a:solidFill>
                            <a:srgbClr val="40458B"/>
                          </a:solidFill>
                          <a:latin typeface="黑体"/>
                          <a:cs typeface="黑体"/>
                        </a:rPr>
                        <a:t>装入双字</a:t>
                      </a:r>
                      <a:endParaRPr sz="1800">
                        <a:latin typeface="黑体"/>
                        <a:cs typeface="黑体"/>
                      </a:endParaRPr>
                    </a:p>
                  </a:txBody>
                  <a:tcPr marL="0" marR="0" marB="0" marT="635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0"/>
                        </a:spcBef>
                      </a:pPr>
                      <a:r>
                        <a:rPr dirty="0" sz="1800">
                          <a:solidFill>
                            <a:srgbClr val="40458B"/>
                          </a:solidFill>
                          <a:latin typeface="黑体"/>
                          <a:cs typeface="黑体"/>
                        </a:rPr>
                        <a:t>Regs[R2]←</a:t>
                      </a:r>
                      <a:r>
                        <a:rPr dirty="0" baseline="-20833" sz="1800">
                          <a:solidFill>
                            <a:srgbClr val="40458B"/>
                          </a:solidFill>
                          <a:latin typeface="黑体"/>
                          <a:cs typeface="黑体"/>
                        </a:rPr>
                        <a:t>64 </a:t>
                      </a:r>
                      <a:r>
                        <a:rPr dirty="0" sz="1800" spc="-10">
                          <a:solidFill>
                            <a:srgbClr val="40458B"/>
                          </a:solidFill>
                          <a:latin typeface="黑体"/>
                          <a:cs typeface="黑体"/>
                        </a:rPr>
                        <a:t>Mem[20+Regs[R3]]</a:t>
                      </a:r>
                      <a:endParaRPr sz="1800">
                        <a:latin typeface="黑体"/>
                        <a:cs typeface="黑体"/>
                      </a:endParaRPr>
                    </a:p>
                  </a:txBody>
                  <a:tcPr marL="0" marR="0" marB="0" marT="635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2229485">
                <a:tc>
                  <a:txBody>
                    <a:bodyPr/>
                    <a:lstStyle/>
                    <a:p>
                      <a:pPr marL="91440">
                        <a:lnSpc>
                          <a:spcPct val="100000"/>
                        </a:lnSpc>
                        <a:spcBef>
                          <a:spcPts val="500"/>
                        </a:spcBef>
                      </a:pPr>
                      <a:r>
                        <a:rPr dirty="0" sz="1800">
                          <a:solidFill>
                            <a:srgbClr val="40458B"/>
                          </a:solidFill>
                          <a:latin typeface="黑体"/>
                          <a:cs typeface="黑体"/>
                        </a:rPr>
                        <a:t>LW </a:t>
                      </a:r>
                      <a:r>
                        <a:rPr dirty="0" sz="1800" spc="-10">
                          <a:solidFill>
                            <a:srgbClr val="40458B"/>
                          </a:solidFill>
                          <a:latin typeface="黑体"/>
                          <a:cs typeface="黑体"/>
                        </a:rPr>
                        <a:t>R2，40(R3)</a:t>
                      </a:r>
                      <a:endParaRPr sz="1800">
                        <a:latin typeface="黑体"/>
                        <a:cs typeface="黑体"/>
                      </a:endParaRPr>
                    </a:p>
                  </a:txBody>
                  <a:tcPr marL="0" marR="0" marB="0" marT="6350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500"/>
                        </a:spcBef>
                      </a:pPr>
                      <a:r>
                        <a:rPr dirty="0" sz="1800" spc="-20">
                          <a:solidFill>
                            <a:srgbClr val="40458B"/>
                          </a:solidFill>
                          <a:latin typeface="黑体"/>
                          <a:cs typeface="黑体"/>
                        </a:rPr>
                        <a:t>装入字</a:t>
                      </a:r>
                      <a:endParaRPr sz="1800">
                        <a:latin typeface="黑体"/>
                        <a:cs typeface="黑体"/>
                      </a:endParaRPr>
                    </a:p>
                  </a:txBody>
                  <a:tcPr marL="0" marR="0" marB="0" marT="635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0"/>
                        </a:spcBef>
                      </a:pPr>
                      <a:r>
                        <a:rPr dirty="0" sz="1800">
                          <a:solidFill>
                            <a:srgbClr val="40458B"/>
                          </a:solidFill>
                          <a:latin typeface="黑体"/>
                          <a:cs typeface="黑体"/>
                        </a:rPr>
                        <a:t>Regs[R2]←</a:t>
                      </a:r>
                      <a:r>
                        <a:rPr dirty="0" baseline="-20833" sz="1800">
                          <a:solidFill>
                            <a:srgbClr val="40458B"/>
                          </a:solidFill>
                          <a:latin typeface="黑体"/>
                          <a:cs typeface="黑体"/>
                        </a:rPr>
                        <a:t>64 </a:t>
                      </a:r>
                      <a:r>
                        <a:rPr dirty="0" sz="1800">
                          <a:solidFill>
                            <a:srgbClr val="40458B"/>
                          </a:solidFill>
                          <a:latin typeface="黑体"/>
                          <a:cs typeface="黑体"/>
                        </a:rPr>
                        <a:t>(Mem[40+Regs[R3]]</a:t>
                      </a:r>
                      <a:r>
                        <a:rPr dirty="0" baseline="-20833" sz="1800">
                          <a:solidFill>
                            <a:srgbClr val="40458B"/>
                          </a:solidFill>
                          <a:latin typeface="黑体"/>
                          <a:cs typeface="黑体"/>
                        </a:rPr>
                        <a:t>0</a:t>
                      </a:r>
                      <a:r>
                        <a:rPr dirty="0" sz="1800">
                          <a:solidFill>
                            <a:srgbClr val="40458B"/>
                          </a:solidFill>
                          <a:latin typeface="黑体"/>
                          <a:cs typeface="黑体"/>
                        </a:rPr>
                        <a:t>)</a:t>
                      </a:r>
                      <a:r>
                        <a:rPr dirty="0" baseline="25462" sz="1800">
                          <a:solidFill>
                            <a:srgbClr val="40458B"/>
                          </a:solidFill>
                          <a:latin typeface="黑体"/>
                          <a:cs typeface="黑体"/>
                        </a:rPr>
                        <a:t>32 </a:t>
                      </a:r>
                      <a:r>
                        <a:rPr dirty="0" sz="1800" spc="-25">
                          <a:solidFill>
                            <a:srgbClr val="40458B"/>
                          </a:solidFill>
                          <a:latin typeface="黑体"/>
                          <a:cs typeface="黑体"/>
                        </a:rPr>
                        <a:t>##</a:t>
                      </a:r>
                      <a:endParaRPr sz="1800">
                        <a:latin typeface="黑体"/>
                        <a:cs typeface="黑体"/>
                      </a:endParaRPr>
                    </a:p>
                    <a:p>
                      <a:pPr marL="92075">
                        <a:lnSpc>
                          <a:spcPct val="100000"/>
                        </a:lnSpc>
                        <a:spcBef>
                          <a:spcPts val="434"/>
                        </a:spcBef>
                      </a:pPr>
                      <a:r>
                        <a:rPr dirty="0" sz="1800" spc="-10">
                          <a:solidFill>
                            <a:srgbClr val="40458B"/>
                          </a:solidFill>
                          <a:latin typeface="黑体"/>
                          <a:cs typeface="黑体"/>
                        </a:rPr>
                        <a:t>Mem[40+Regs[R3]]</a:t>
                      </a:r>
                      <a:endParaRPr sz="1800">
                        <a:latin typeface="黑体"/>
                        <a:cs typeface="黑体"/>
                      </a:endParaRPr>
                    </a:p>
                    <a:p>
                      <a:pPr>
                        <a:lnSpc>
                          <a:spcPct val="100000"/>
                        </a:lnSpc>
                        <a:spcBef>
                          <a:spcPts val="1385"/>
                        </a:spcBef>
                      </a:pPr>
                      <a:endParaRPr sz="1800">
                        <a:latin typeface="Times New Roman"/>
                        <a:cs typeface="Times New Roman"/>
                      </a:endParaRPr>
                    </a:p>
                    <a:p>
                      <a:pPr marL="92075" marR="207645">
                        <a:lnSpc>
                          <a:spcPct val="120000"/>
                        </a:lnSpc>
                        <a:spcBef>
                          <a:spcPts val="5"/>
                        </a:spcBef>
                      </a:pPr>
                      <a:r>
                        <a:rPr dirty="0" sz="1800">
                          <a:solidFill>
                            <a:srgbClr val="FF0000"/>
                          </a:solidFill>
                          <a:latin typeface="黑体"/>
                          <a:cs typeface="黑体"/>
                        </a:rPr>
                        <a:t>取Mem[40+Regs[R3]]</a:t>
                      </a:r>
                      <a:r>
                        <a:rPr dirty="0" sz="1800" spc="-40">
                          <a:solidFill>
                            <a:srgbClr val="FF0000"/>
                          </a:solidFill>
                          <a:latin typeface="黑体"/>
                          <a:cs typeface="黑体"/>
                        </a:rPr>
                        <a:t> 内容的</a:t>
                      </a:r>
                      <a:r>
                        <a:rPr dirty="0" sz="1800">
                          <a:solidFill>
                            <a:srgbClr val="FF0000"/>
                          </a:solidFill>
                          <a:latin typeface="黑体"/>
                          <a:cs typeface="黑体"/>
                        </a:rPr>
                        <a:t>32</a:t>
                      </a:r>
                      <a:r>
                        <a:rPr dirty="0" sz="1800" spc="-10">
                          <a:solidFill>
                            <a:srgbClr val="FF0000"/>
                          </a:solidFill>
                          <a:latin typeface="黑体"/>
                          <a:cs typeface="黑体"/>
                        </a:rPr>
                        <a:t>位，符号位</a:t>
                      </a:r>
                      <a:r>
                        <a:rPr dirty="0" sz="1800">
                          <a:solidFill>
                            <a:srgbClr val="FF0000"/>
                          </a:solidFill>
                          <a:latin typeface="黑体"/>
                          <a:cs typeface="黑体"/>
                        </a:rPr>
                        <a:t>扩展32位，共64</a:t>
                      </a:r>
                      <a:r>
                        <a:rPr dirty="0" sz="1800" spc="-50">
                          <a:solidFill>
                            <a:srgbClr val="FF0000"/>
                          </a:solidFill>
                          <a:latin typeface="黑体"/>
                          <a:cs typeface="黑体"/>
                        </a:rPr>
                        <a:t>位</a:t>
                      </a:r>
                      <a:endParaRPr sz="1800">
                        <a:latin typeface="黑体"/>
                        <a:cs typeface="黑体"/>
                      </a:endParaRPr>
                    </a:p>
                  </a:txBody>
                  <a:tcPr marL="0" marR="0" marB="0" marT="635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748030">
                <a:tc rowSpan="2">
                  <a:txBody>
                    <a:bodyPr/>
                    <a:lstStyle/>
                    <a:p>
                      <a:pPr marL="91440">
                        <a:lnSpc>
                          <a:spcPct val="100000"/>
                        </a:lnSpc>
                        <a:spcBef>
                          <a:spcPts val="505"/>
                        </a:spcBef>
                      </a:pPr>
                      <a:r>
                        <a:rPr dirty="0" sz="1800">
                          <a:solidFill>
                            <a:srgbClr val="40458B"/>
                          </a:solidFill>
                          <a:latin typeface="黑体"/>
                          <a:cs typeface="黑体"/>
                        </a:rPr>
                        <a:t>LB </a:t>
                      </a:r>
                      <a:r>
                        <a:rPr dirty="0" sz="1800" spc="-10">
                          <a:solidFill>
                            <a:srgbClr val="40458B"/>
                          </a:solidFill>
                          <a:latin typeface="黑体"/>
                          <a:cs typeface="黑体"/>
                        </a:rPr>
                        <a:t>R2，30(R3)</a:t>
                      </a:r>
                      <a:endParaRPr sz="1800">
                        <a:latin typeface="黑体"/>
                        <a:cs typeface="黑体"/>
                      </a:endParaRPr>
                    </a:p>
                  </a:txBody>
                  <a:tcPr marL="0" marR="0" marB="0" marT="6413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505"/>
                        </a:spcBef>
                      </a:pPr>
                      <a:r>
                        <a:rPr dirty="0" sz="1800" spc="-15">
                          <a:solidFill>
                            <a:srgbClr val="40458B"/>
                          </a:solidFill>
                          <a:latin typeface="黑体"/>
                          <a:cs typeface="黑体"/>
                        </a:rPr>
                        <a:t>装入字节</a:t>
                      </a:r>
                      <a:endParaRPr sz="1800">
                        <a:latin typeface="黑体"/>
                        <a:cs typeface="黑体"/>
                      </a:endParaRPr>
                    </a:p>
                  </a:txBody>
                  <a:tcPr marL="0" marR="0" marB="0" marT="6413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pPr>
                      <a:r>
                        <a:rPr dirty="0" sz="1800">
                          <a:solidFill>
                            <a:srgbClr val="40458B"/>
                          </a:solidFill>
                          <a:latin typeface="黑体"/>
                          <a:cs typeface="黑体"/>
                        </a:rPr>
                        <a:t>Regs[R2]←</a:t>
                      </a:r>
                      <a:r>
                        <a:rPr dirty="0" baseline="-20833" sz="1800">
                          <a:solidFill>
                            <a:srgbClr val="40458B"/>
                          </a:solidFill>
                          <a:latin typeface="黑体"/>
                          <a:cs typeface="黑体"/>
                        </a:rPr>
                        <a:t>64 </a:t>
                      </a:r>
                      <a:r>
                        <a:rPr dirty="0" sz="1800">
                          <a:solidFill>
                            <a:srgbClr val="40458B"/>
                          </a:solidFill>
                          <a:latin typeface="黑体"/>
                          <a:cs typeface="黑体"/>
                        </a:rPr>
                        <a:t>(Mem[30+Regs[R3]]</a:t>
                      </a:r>
                      <a:r>
                        <a:rPr dirty="0" baseline="-20833" sz="1800">
                          <a:solidFill>
                            <a:srgbClr val="40458B"/>
                          </a:solidFill>
                          <a:latin typeface="黑体"/>
                          <a:cs typeface="黑体"/>
                        </a:rPr>
                        <a:t>0</a:t>
                      </a:r>
                      <a:r>
                        <a:rPr dirty="0" sz="1800">
                          <a:solidFill>
                            <a:srgbClr val="40458B"/>
                          </a:solidFill>
                          <a:latin typeface="黑体"/>
                          <a:cs typeface="黑体"/>
                        </a:rPr>
                        <a:t>)</a:t>
                      </a:r>
                      <a:r>
                        <a:rPr dirty="0" baseline="25462" sz="1800">
                          <a:solidFill>
                            <a:srgbClr val="40458B"/>
                          </a:solidFill>
                          <a:latin typeface="黑体"/>
                          <a:cs typeface="黑体"/>
                        </a:rPr>
                        <a:t>56</a:t>
                      </a:r>
                      <a:r>
                        <a:rPr dirty="0" baseline="25462" sz="1800" spc="450">
                          <a:solidFill>
                            <a:srgbClr val="40458B"/>
                          </a:solidFill>
                          <a:latin typeface="黑体"/>
                          <a:cs typeface="黑体"/>
                        </a:rPr>
                        <a:t> </a:t>
                      </a:r>
                      <a:r>
                        <a:rPr dirty="0" sz="1800" spc="-25">
                          <a:solidFill>
                            <a:srgbClr val="40458B"/>
                          </a:solidFill>
                          <a:latin typeface="黑体"/>
                          <a:cs typeface="黑体"/>
                        </a:rPr>
                        <a:t>##</a:t>
                      </a:r>
                      <a:endParaRPr sz="1800">
                        <a:latin typeface="黑体"/>
                        <a:cs typeface="黑体"/>
                      </a:endParaRPr>
                    </a:p>
                    <a:p>
                      <a:pPr marL="92075">
                        <a:lnSpc>
                          <a:spcPct val="100000"/>
                        </a:lnSpc>
                        <a:spcBef>
                          <a:spcPts val="430"/>
                        </a:spcBef>
                      </a:pPr>
                      <a:r>
                        <a:rPr dirty="0" sz="1800" spc="-10">
                          <a:solidFill>
                            <a:srgbClr val="40458B"/>
                          </a:solidFill>
                          <a:latin typeface="黑体"/>
                          <a:cs typeface="黑体"/>
                        </a:rPr>
                        <a:t>Mem[30+Regs[R3]]</a:t>
                      </a:r>
                      <a:endParaRPr sz="1800">
                        <a:latin typeface="黑体"/>
                        <a:cs typeface="黑体"/>
                      </a:endParaRPr>
                    </a:p>
                  </a:txBody>
                  <a:tcPr marL="0" marR="0" marB="0" marT="6413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748030">
                <a:tc vMerge="1">
                  <a:txBody>
                    <a:bodyPr/>
                    <a:lstStyle/>
                    <a:p>
                      <a:pPr/>
                    </a:p>
                  </a:txBody>
                  <a:tcPr marL="0" marR="0" marB="0" marT="6413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gridSpan="2">
                  <a:txBody>
                    <a:bodyPr/>
                    <a:lstStyle/>
                    <a:p>
                      <a:pPr marL="205740">
                        <a:lnSpc>
                          <a:spcPct val="100000"/>
                        </a:lnSpc>
                        <a:spcBef>
                          <a:spcPts val="505"/>
                        </a:spcBef>
                      </a:pPr>
                      <a:r>
                        <a:rPr dirty="0" sz="1800">
                          <a:solidFill>
                            <a:srgbClr val="FF0000"/>
                          </a:solidFill>
                          <a:latin typeface="黑体"/>
                          <a:cs typeface="黑体"/>
                        </a:rPr>
                        <a:t>取出Mem[30+Regs[R3]]</a:t>
                      </a:r>
                      <a:r>
                        <a:rPr dirty="0" sz="1800" spc="-15">
                          <a:solidFill>
                            <a:srgbClr val="FF0000"/>
                          </a:solidFill>
                          <a:latin typeface="黑体"/>
                          <a:cs typeface="黑体"/>
                        </a:rPr>
                        <a:t> 对应的低</a:t>
                      </a:r>
                      <a:r>
                        <a:rPr dirty="0" sz="1800">
                          <a:solidFill>
                            <a:srgbClr val="FF0000"/>
                          </a:solidFill>
                          <a:latin typeface="黑体"/>
                          <a:cs typeface="黑体"/>
                        </a:rPr>
                        <a:t>8</a:t>
                      </a:r>
                      <a:r>
                        <a:rPr dirty="0" sz="1800" spc="-5">
                          <a:solidFill>
                            <a:srgbClr val="FF0000"/>
                          </a:solidFill>
                          <a:latin typeface="黑体"/>
                          <a:cs typeface="黑体"/>
                        </a:rPr>
                        <a:t>位内容，然后做符号位扩展</a:t>
                      </a:r>
                      <a:endParaRPr sz="1800">
                        <a:latin typeface="黑体"/>
                        <a:cs typeface="黑体"/>
                      </a:endParaRPr>
                    </a:p>
                    <a:p>
                      <a:pPr marL="91440">
                        <a:lnSpc>
                          <a:spcPct val="100000"/>
                        </a:lnSpc>
                        <a:spcBef>
                          <a:spcPts val="430"/>
                        </a:spcBef>
                        <a:tabLst>
                          <a:tab pos="2606675" algn="l"/>
                        </a:tabLst>
                      </a:pPr>
                      <a:r>
                        <a:rPr dirty="0" sz="1800" spc="-10">
                          <a:solidFill>
                            <a:srgbClr val="FF0000"/>
                          </a:solidFill>
                          <a:latin typeface="黑体"/>
                          <a:cs typeface="黑体"/>
                        </a:rPr>
                        <a:t>(Mem[30+Regs[R3]]</a:t>
                      </a:r>
                      <a:r>
                        <a:rPr dirty="0" baseline="-20833" sz="1800" spc="-15">
                          <a:solidFill>
                            <a:srgbClr val="FF0000"/>
                          </a:solidFill>
                          <a:latin typeface="黑体"/>
                          <a:cs typeface="黑体"/>
                        </a:rPr>
                        <a:t>0</a:t>
                      </a:r>
                      <a:r>
                        <a:rPr dirty="0" sz="1800" spc="-10">
                          <a:solidFill>
                            <a:srgbClr val="FF0000"/>
                          </a:solidFill>
                          <a:latin typeface="黑体"/>
                          <a:cs typeface="黑体"/>
                        </a:rPr>
                        <a:t>)</a:t>
                      </a:r>
                      <a:r>
                        <a:rPr dirty="0" baseline="25462" sz="1800" spc="-15">
                          <a:solidFill>
                            <a:srgbClr val="FF0000"/>
                          </a:solidFill>
                          <a:latin typeface="黑体"/>
                          <a:cs typeface="黑体"/>
                        </a:rPr>
                        <a:t>56</a:t>
                      </a:r>
                      <a:r>
                        <a:rPr dirty="0" baseline="25462" sz="1800">
                          <a:solidFill>
                            <a:srgbClr val="FF0000"/>
                          </a:solidFill>
                          <a:latin typeface="黑体"/>
                          <a:cs typeface="黑体"/>
                        </a:rPr>
                        <a:t>	</a:t>
                      </a:r>
                      <a:r>
                        <a:rPr dirty="0" sz="1800" spc="-10">
                          <a:solidFill>
                            <a:srgbClr val="FF0000"/>
                          </a:solidFill>
                          <a:latin typeface="黑体"/>
                          <a:cs typeface="黑体"/>
                        </a:rPr>
                        <a:t>，56</a:t>
                      </a:r>
                      <a:r>
                        <a:rPr dirty="0" sz="1800" spc="-20">
                          <a:solidFill>
                            <a:srgbClr val="FF0000"/>
                          </a:solidFill>
                          <a:latin typeface="黑体"/>
                          <a:cs typeface="黑体"/>
                        </a:rPr>
                        <a:t>位符号位扩展</a:t>
                      </a:r>
                      <a:endParaRPr sz="1800">
                        <a:latin typeface="黑体"/>
                        <a:cs typeface="黑体"/>
                      </a:endParaRPr>
                    </a:p>
                  </a:txBody>
                  <a:tcPr marL="0" marR="0" marB="0" marT="6413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r>
              <a:tr h="419100">
                <a:tc>
                  <a:txBody>
                    <a:bodyPr/>
                    <a:lstStyle/>
                    <a:p>
                      <a:pPr>
                        <a:lnSpc>
                          <a:spcPct val="100000"/>
                        </a:lnSpc>
                      </a:pPr>
                      <a:endParaRPr sz="1800">
                        <a:latin typeface="Times New Roman"/>
                        <a:cs typeface="Times New Roman"/>
                      </a:endParaRPr>
                    </a:p>
                  </a:txBody>
                  <a:tcPr marL="0" marR="0" marB="0" marT="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19100">
                <a:tc>
                  <a:txBody>
                    <a:bodyPr/>
                    <a:lstStyle/>
                    <a:p>
                      <a:pPr>
                        <a:lnSpc>
                          <a:spcPct val="100000"/>
                        </a:lnSpc>
                      </a:pPr>
                      <a:endParaRPr sz="1800">
                        <a:latin typeface="Times New Roman"/>
                        <a:cs typeface="Times New Roman"/>
                      </a:endParaRPr>
                    </a:p>
                  </a:txBody>
                  <a:tcPr marL="0" marR="0" marB="0" marT="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19100">
                <a:tc>
                  <a:txBody>
                    <a:bodyPr/>
                    <a:lstStyle/>
                    <a:p>
                      <a:pPr marL="91440">
                        <a:lnSpc>
                          <a:spcPct val="100000"/>
                        </a:lnSpc>
                        <a:spcBef>
                          <a:spcPts val="509"/>
                        </a:spcBef>
                      </a:pPr>
                      <a:r>
                        <a:rPr dirty="0" sz="1800">
                          <a:solidFill>
                            <a:srgbClr val="40458B"/>
                          </a:solidFill>
                          <a:latin typeface="黑体"/>
                          <a:cs typeface="黑体"/>
                        </a:rPr>
                        <a:t>SH </a:t>
                      </a:r>
                      <a:r>
                        <a:rPr dirty="0" sz="1800" spc="-10">
                          <a:solidFill>
                            <a:srgbClr val="40458B"/>
                          </a:solidFill>
                          <a:latin typeface="黑体"/>
                          <a:cs typeface="黑体"/>
                        </a:rPr>
                        <a:t>R5，502(R4)</a:t>
                      </a:r>
                      <a:endParaRPr sz="1800">
                        <a:latin typeface="黑体"/>
                        <a:cs typeface="黑体"/>
                      </a:endParaRPr>
                    </a:p>
                  </a:txBody>
                  <a:tcPr marL="0" marR="0" marB="0" marT="64769">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1440">
                        <a:lnSpc>
                          <a:spcPct val="100000"/>
                        </a:lnSpc>
                        <a:spcBef>
                          <a:spcPts val="509"/>
                        </a:spcBef>
                      </a:pPr>
                      <a:r>
                        <a:rPr dirty="0" sz="1800" spc="-15">
                          <a:solidFill>
                            <a:srgbClr val="40458B"/>
                          </a:solidFill>
                          <a:latin typeface="黑体"/>
                          <a:cs typeface="黑体"/>
                        </a:rPr>
                        <a:t>保存半字</a:t>
                      </a:r>
                      <a:endParaRPr sz="1800">
                        <a:latin typeface="黑体"/>
                        <a:cs typeface="黑体"/>
                      </a:endParaRPr>
                    </a:p>
                  </a:txBody>
                  <a:tcPr marL="0" marR="0" marB="0" marT="64769">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00000"/>
                        </a:lnSpc>
                        <a:spcBef>
                          <a:spcPts val="509"/>
                        </a:spcBef>
                      </a:pPr>
                      <a:r>
                        <a:rPr dirty="0" sz="1800">
                          <a:solidFill>
                            <a:srgbClr val="40458B"/>
                          </a:solidFill>
                          <a:latin typeface="黑体"/>
                          <a:cs typeface="黑体"/>
                        </a:rPr>
                        <a:t>Mem[502+Regs[R4]]←</a:t>
                      </a:r>
                      <a:r>
                        <a:rPr dirty="0" baseline="-20833" sz="1800">
                          <a:solidFill>
                            <a:srgbClr val="40458B"/>
                          </a:solidFill>
                          <a:latin typeface="黑体"/>
                          <a:cs typeface="黑体"/>
                        </a:rPr>
                        <a:t>16</a:t>
                      </a:r>
                      <a:r>
                        <a:rPr dirty="0" baseline="-20833" sz="1800" spc="450">
                          <a:solidFill>
                            <a:srgbClr val="40458B"/>
                          </a:solidFill>
                          <a:latin typeface="黑体"/>
                          <a:cs typeface="黑体"/>
                        </a:rPr>
                        <a:t> </a:t>
                      </a:r>
                      <a:r>
                        <a:rPr dirty="0" sz="1800">
                          <a:solidFill>
                            <a:srgbClr val="40458B"/>
                          </a:solidFill>
                          <a:latin typeface="黑体"/>
                          <a:cs typeface="黑体"/>
                        </a:rPr>
                        <a:t>Regs[R5] </a:t>
                      </a:r>
                      <a:r>
                        <a:rPr dirty="0" baseline="-20833" sz="1800" spc="-15">
                          <a:solidFill>
                            <a:srgbClr val="40458B"/>
                          </a:solidFill>
                          <a:latin typeface="黑体"/>
                          <a:cs typeface="黑体"/>
                        </a:rPr>
                        <a:t>48</a:t>
                      </a:r>
                      <a:r>
                        <a:rPr dirty="0" baseline="-20833" sz="1800" spc="-15">
                          <a:solidFill>
                            <a:srgbClr val="40458B"/>
                          </a:solidFill>
                          <a:latin typeface="Times New Roman"/>
                          <a:cs typeface="Times New Roman"/>
                        </a:rPr>
                        <a:t>··</a:t>
                      </a:r>
                      <a:r>
                        <a:rPr dirty="0" baseline="-20833" sz="1800" spc="-15">
                          <a:solidFill>
                            <a:srgbClr val="40458B"/>
                          </a:solidFill>
                          <a:latin typeface="黑体"/>
                          <a:cs typeface="黑体"/>
                        </a:rPr>
                        <a:t>.63</a:t>
                      </a:r>
                      <a:endParaRPr baseline="-20833" sz="1800">
                        <a:latin typeface="黑体"/>
                        <a:cs typeface="黑体"/>
                      </a:endParaRPr>
                    </a:p>
                  </a:txBody>
                  <a:tcPr marL="0" marR="0" marB="0" marT="64769">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994" y="52832"/>
            <a:ext cx="2783205" cy="391160"/>
          </a:xfrm>
          <a:prstGeom prst="rect"/>
        </p:spPr>
        <p:txBody>
          <a:bodyPr wrap="square" lIns="0" tIns="12700" rIns="0" bIns="0" rtlCol="0" vert="horz">
            <a:spAutoFit/>
          </a:bodyPr>
          <a:lstStyle/>
          <a:p>
            <a:pPr marL="12700">
              <a:lnSpc>
                <a:spcPct val="100000"/>
              </a:lnSpc>
              <a:spcBef>
                <a:spcPts val="100"/>
              </a:spcBef>
            </a:pPr>
            <a:r>
              <a:rPr dirty="0" u="none" sz="2400">
                <a:solidFill>
                  <a:srgbClr val="40458B"/>
                </a:solidFill>
              </a:rPr>
              <a:t>3</a:t>
            </a:r>
            <a:r>
              <a:rPr dirty="0" u="none" sz="2400" spc="-5">
                <a:solidFill>
                  <a:srgbClr val="40458B"/>
                </a:solidFill>
              </a:rPr>
              <a:t>. </a:t>
            </a:r>
            <a:r>
              <a:rPr dirty="0" u="none" sz="2400" spc="-20">
                <a:solidFill>
                  <a:srgbClr val="4F55AC"/>
                </a:solidFill>
              </a:rPr>
              <a:t>load</a:t>
            </a:r>
            <a:r>
              <a:rPr dirty="0" u="none" sz="2400">
                <a:solidFill>
                  <a:srgbClr val="4F55AC"/>
                </a:solidFill>
                <a:latin typeface="微软雅黑"/>
                <a:cs typeface="微软雅黑"/>
              </a:rPr>
              <a:t>和</a:t>
            </a:r>
            <a:r>
              <a:rPr dirty="0" u="none" sz="2400" spc="-20">
                <a:solidFill>
                  <a:srgbClr val="4F55AC"/>
                </a:solidFill>
              </a:rPr>
              <a:t>store</a:t>
            </a:r>
            <a:r>
              <a:rPr dirty="0" u="none" sz="2400" spc="-25">
                <a:solidFill>
                  <a:srgbClr val="4F55AC"/>
                </a:solidFill>
                <a:latin typeface="微软雅黑"/>
                <a:cs typeface="微软雅黑"/>
              </a:rPr>
              <a:t>指令</a:t>
            </a:r>
            <a:endParaRPr sz="2400">
              <a:latin typeface="微软雅黑"/>
              <a:cs typeface="微软雅黑"/>
            </a:endParaRPr>
          </a:p>
        </p:txBody>
      </p:sp>
      <p:graphicFrame>
        <p:nvGraphicFramePr>
          <p:cNvPr id="3" name="object 3" descr=""/>
          <p:cNvGraphicFramePr>
            <a:graphicFrameLocks noGrp="1"/>
          </p:cNvGraphicFramePr>
          <p:nvPr/>
        </p:nvGraphicFramePr>
        <p:xfrm>
          <a:off x="2084387" y="595312"/>
          <a:ext cx="8674100" cy="6247130"/>
        </p:xfrm>
        <a:graphic>
          <a:graphicData uri="http://schemas.openxmlformats.org/drawingml/2006/table">
            <a:tbl>
              <a:tblPr firstRow="1" bandRow="1">
                <a:tableStyleId>{2D5ABB26-0587-4C30-8999-92F81FD0307C}</a:tableStyleId>
              </a:tblPr>
              <a:tblGrid>
                <a:gridCol w="1871980"/>
                <a:gridCol w="2160905"/>
                <a:gridCol w="4537710"/>
              </a:tblGrid>
              <a:tr h="455930">
                <a:tc>
                  <a:txBody>
                    <a:bodyPr/>
                    <a:lstStyle/>
                    <a:p>
                      <a:pPr marL="424180">
                        <a:lnSpc>
                          <a:spcPct val="100000"/>
                        </a:lnSpc>
                        <a:spcBef>
                          <a:spcPts val="515"/>
                        </a:spcBef>
                      </a:pPr>
                      <a:r>
                        <a:rPr dirty="0" sz="2000" spc="-15">
                          <a:solidFill>
                            <a:srgbClr val="E14B04"/>
                          </a:solidFill>
                          <a:latin typeface="黑体"/>
                          <a:cs typeface="黑体"/>
                        </a:rPr>
                        <a:t>指令举例</a:t>
                      </a:r>
                      <a:endParaRPr sz="2000">
                        <a:latin typeface="黑体"/>
                        <a:cs typeface="黑体"/>
                      </a:endParaRPr>
                    </a:p>
                  </a:txBody>
                  <a:tcPr marL="0" marR="0" marB="0" marT="6540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569595">
                        <a:lnSpc>
                          <a:spcPct val="100000"/>
                        </a:lnSpc>
                        <a:spcBef>
                          <a:spcPts val="515"/>
                        </a:spcBef>
                      </a:pPr>
                      <a:r>
                        <a:rPr dirty="0" sz="2000" spc="-15">
                          <a:solidFill>
                            <a:srgbClr val="E14B04"/>
                          </a:solidFill>
                          <a:latin typeface="黑体"/>
                          <a:cs typeface="黑体"/>
                        </a:rPr>
                        <a:t>指令名称</a:t>
                      </a:r>
                      <a:endParaRPr sz="2000">
                        <a:latin typeface="黑体"/>
                        <a:cs typeface="黑体"/>
                      </a:endParaRPr>
                    </a:p>
                  </a:txBody>
                  <a:tcPr marL="0" marR="0" marB="0" marT="6540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515"/>
                        </a:spcBef>
                      </a:pPr>
                      <a:r>
                        <a:rPr dirty="0" sz="2000" spc="-145">
                          <a:solidFill>
                            <a:srgbClr val="E14B04"/>
                          </a:solidFill>
                          <a:latin typeface="黑体"/>
                          <a:cs typeface="黑体"/>
                        </a:rPr>
                        <a:t>含 义</a:t>
                      </a:r>
                      <a:endParaRPr sz="2000">
                        <a:latin typeface="黑体"/>
                        <a:cs typeface="黑体"/>
                      </a:endParaRPr>
                    </a:p>
                  </a:txBody>
                  <a:tcPr marL="0" marR="0" marB="0" marT="6540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1900555">
                <a:tc>
                  <a:txBody>
                    <a:bodyPr/>
                    <a:lstStyle/>
                    <a:p>
                      <a:pPr marL="91440">
                        <a:lnSpc>
                          <a:spcPct val="100000"/>
                        </a:lnSpc>
                        <a:spcBef>
                          <a:spcPts val="505"/>
                        </a:spcBef>
                      </a:pPr>
                      <a:r>
                        <a:rPr dirty="0" sz="1800">
                          <a:solidFill>
                            <a:srgbClr val="40458B"/>
                          </a:solidFill>
                          <a:latin typeface="黑体"/>
                          <a:cs typeface="黑体"/>
                        </a:rPr>
                        <a:t>LBU </a:t>
                      </a:r>
                      <a:r>
                        <a:rPr dirty="0" sz="1800" spc="-10">
                          <a:solidFill>
                            <a:srgbClr val="40458B"/>
                          </a:solidFill>
                          <a:latin typeface="黑体"/>
                          <a:cs typeface="黑体"/>
                        </a:rPr>
                        <a:t>R2，40(R3)</a:t>
                      </a:r>
                      <a:endParaRPr sz="1800">
                        <a:latin typeface="黑体"/>
                        <a:cs typeface="黑体"/>
                      </a:endParaRPr>
                    </a:p>
                  </a:txBody>
                  <a:tcPr marL="0" marR="0" marB="0" marT="6413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505"/>
                        </a:spcBef>
                      </a:pPr>
                      <a:r>
                        <a:rPr dirty="0" sz="1800" spc="-10">
                          <a:solidFill>
                            <a:srgbClr val="40458B"/>
                          </a:solidFill>
                          <a:latin typeface="黑体"/>
                          <a:cs typeface="黑体"/>
                        </a:rPr>
                        <a:t>装入无符号字节</a:t>
                      </a:r>
                      <a:endParaRPr sz="1800">
                        <a:latin typeface="黑体"/>
                        <a:cs typeface="黑体"/>
                      </a:endParaRPr>
                    </a:p>
                  </a:txBody>
                  <a:tcPr marL="0" marR="0" marB="0" marT="6413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pPr>
                      <a:r>
                        <a:rPr dirty="0" sz="1800">
                          <a:solidFill>
                            <a:srgbClr val="40458B"/>
                          </a:solidFill>
                          <a:latin typeface="黑体"/>
                          <a:cs typeface="黑体"/>
                        </a:rPr>
                        <a:t>Regs[R2]←</a:t>
                      </a:r>
                      <a:r>
                        <a:rPr dirty="0" baseline="-20833" sz="1800">
                          <a:solidFill>
                            <a:srgbClr val="40458B"/>
                          </a:solidFill>
                          <a:latin typeface="黑体"/>
                          <a:cs typeface="黑体"/>
                        </a:rPr>
                        <a:t>64 </a:t>
                      </a:r>
                      <a:r>
                        <a:rPr dirty="0" sz="1800">
                          <a:solidFill>
                            <a:srgbClr val="40458B"/>
                          </a:solidFill>
                          <a:latin typeface="黑体"/>
                          <a:cs typeface="黑体"/>
                        </a:rPr>
                        <a:t>0</a:t>
                      </a:r>
                      <a:r>
                        <a:rPr dirty="0" baseline="25462" sz="1800">
                          <a:solidFill>
                            <a:srgbClr val="40458B"/>
                          </a:solidFill>
                          <a:latin typeface="黑体"/>
                          <a:cs typeface="黑体"/>
                        </a:rPr>
                        <a:t>56</a:t>
                      </a:r>
                      <a:r>
                        <a:rPr dirty="0" baseline="25462" sz="1800" spc="450">
                          <a:solidFill>
                            <a:srgbClr val="40458B"/>
                          </a:solidFill>
                          <a:latin typeface="黑体"/>
                          <a:cs typeface="黑体"/>
                        </a:rPr>
                        <a:t> </a:t>
                      </a:r>
                      <a:r>
                        <a:rPr dirty="0" sz="1800">
                          <a:solidFill>
                            <a:srgbClr val="40458B"/>
                          </a:solidFill>
                          <a:latin typeface="黑体"/>
                          <a:cs typeface="黑体"/>
                        </a:rPr>
                        <a:t>## </a:t>
                      </a:r>
                      <a:r>
                        <a:rPr dirty="0" sz="1800" spc="-10">
                          <a:solidFill>
                            <a:srgbClr val="40458B"/>
                          </a:solidFill>
                          <a:latin typeface="黑体"/>
                          <a:cs typeface="黑体"/>
                        </a:rPr>
                        <a:t>Mem[40+Regs[R3]]</a:t>
                      </a:r>
                      <a:endParaRPr sz="1800">
                        <a:latin typeface="黑体"/>
                        <a:cs typeface="黑体"/>
                      </a:endParaRPr>
                    </a:p>
                    <a:p>
                      <a:pPr>
                        <a:lnSpc>
                          <a:spcPct val="100000"/>
                        </a:lnSpc>
                        <a:spcBef>
                          <a:spcPts val="1380"/>
                        </a:spcBef>
                      </a:pPr>
                      <a:endParaRPr sz="1800">
                        <a:latin typeface="Times New Roman"/>
                        <a:cs typeface="Times New Roman"/>
                      </a:endParaRPr>
                    </a:p>
                    <a:p>
                      <a:pPr marL="92075" marR="1693545">
                        <a:lnSpc>
                          <a:spcPct val="120100"/>
                        </a:lnSpc>
                      </a:pPr>
                      <a:r>
                        <a:rPr dirty="0" sz="1800">
                          <a:solidFill>
                            <a:srgbClr val="FF0000"/>
                          </a:solidFill>
                          <a:latin typeface="黑体"/>
                          <a:cs typeface="黑体"/>
                        </a:rPr>
                        <a:t>0</a:t>
                      </a:r>
                      <a:r>
                        <a:rPr dirty="0" baseline="25462" sz="1800">
                          <a:solidFill>
                            <a:srgbClr val="FF0000"/>
                          </a:solidFill>
                          <a:latin typeface="黑体"/>
                          <a:cs typeface="黑体"/>
                        </a:rPr>
                        <a:t>56</a:t>
                      </a:r>
                      <a:r>
                        <a:rPr dirty="0" sz="1800">
                          <a:solidFill>
                            <a:srgbClr val="FF0000"/>
                          </a:solidFill>
                          <a:latin typeface="黑体"/>
                          <a:cs typeface="黑体"/>
                        </a:rPr>
                        <a:t>复制56个0即0</a:t>
                      </a:r>
                      <a:r>
                        <a:rPr dirty="0" sz="1800" spc="-15">
                          <a:solidFill>
                            <a:srgbClr val="FF0000"/>
                          </a:solidFill>
                          <a:latin typeface="黑体"/>
                          <a:cs typeface="黑体"/>
                        </a:rPr>
                        <a:t>扩展，取</a:t>
                      </a:r>
                      <a:r>
                        <a:rPr dirty="0" sz="1800" spc="-50">
                          <a:solidFill>
                            <a:srgbClr val="FF0000"/>
                          </a:solidFill>
                          <a:latin typeface="黑体"/>
                          <a:cs typeface="黑体"/>
                        </a:rPr>
                        <a:t> </a:t>
                      </a:r>
                      <a:r>
                        <a:rPr dirty="0" sz="1800">
                          <a:solidFill>
                            <a:srgbClr val="FF0000"/>
                          </a:solidFill>
                          <a:latin typeface="黑体"/>
                          <a:cs typeface="黑体"/>
                        </a:rPr>
                        <a:t>Mem[40+Regs[R3]] 的低8</a:t>
                      </a:r>
                      <a:r>
                        <a:rPr dirty="0" sz="1800" spc="-50">
                          <a:solidFill>
                            <a:srgbClr val="FF0000"/>
                          </a:solidFill>
                          <a:latin typeface="黑体"/>
                          <a:cs typeface="黑体"/>
                        </a:rPr>
                        <a:t>位</a:t>
                      </a:r>
                      <a:endParaRPr sz="1800">
                        <a:latin typeface="黑体"/>
                        <a:cs typeface="黑体"/>
                      </a:endParaRPr>
                    </a:p>
                  </a:txBody>
                  <a:tcPr marL="0" marR="0" marB="0" marT="6413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2282825">
                <a:tc>
                  <a:txBody>
                    <a:bodyPr/>
                    <a:lstStyle/>
                    <a:p>
                      <a:pPr marL="91440">
                        <a:lnSpc>
                          <a:spcPct val="100000"/>
                        </a:lnSpc>
                        <a:spcBef>
                          <a:spcPts val="505"/>
                        </a:spcBef>
                      </a:pPr>
                      <a:r>
                        <a:rPr dirty="0" sz="1800">
                          <a:solidFill>
                            <a:srgbClr val="40458B"/>
                          </a:solidFill>
                          <a:latin typeface="黑体"/>
                          <a:cs typeface="黑体"/>
                        </a:rPr>
                        <a:t>LH </a:t>
                      </a:r>
                      <a:r>
                        <a:rPr dirty="0" sz="1800" spc="-10">
                          <a:solidFill>
                            <a:srgbClr val="40458B"/>
                          </a:solidFill>
                          <a:latin typeface="黑体"/>
                          <a:cs typeface="黑体"/>
                        </a:rPr>
                        <a:t>R2，30(R3)</a:t>
                      </a:r>
                      <a:endParaRPr sz="1800">
                        <a:latin typeface="黑体"/>
                        <a:cs typeface="黑体"/>
                      </a:endParaRPr>
                    </a:p>
                  </a:txBody>
                  <a:tcPr marL="0" marR="0" marB="0" marT="6413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505"/>
                        </a:spcBef>
                      </a:pPr>
                      <a:r>
                        <a:rPr dirty="0" sz="1800" spc="-15">
                          <a:solidFill>
                            <a:srgbClr val="40458B"/>
                          </a:solidFill>
                          <a:latin typeface="黑体"/>
                          <a:cs typeface="黑体"/>
                        </a:rPr>
                        <a:t>装入半字</a:t>
                      </a:r>
                      <a:endParaRPr sz="1800">
                        <a:latin typeface="黑体"/>
                        <a:cs typeface="黑体"/>
                      </a:endParaRPr>
                    </a:p>
                  </a:txBody>
                  <a:tcPr marL="0" marR="0" marB="0" marT="6413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pPr>
                      <a:r>
                        <a:rPr dirty="0" sz="1800">
                          <a:solidFill>
                            <a:srgbClr val="40458B"/>
                          </a:solidFill>
                          <a:latin typeface="黑体"/>
                          <a:cs typeface="黑体"/>
                        </a:rPr>
                        <a:t>Regs[R2]←</a:t>
                      </a:r>
                      <a:r>
                        <a:rPr dirty="0" baseline="-20833" sz="1800">
                          <a:solidFill>
                            <a:srgbClr val="40458B"/>
                          </a:solidFill>
                          <a:latin typeface="黑体"/>
                          <a:cs typeface="黑体"/>
                        </a:rPr>
                        <a:t>64 </a:t>
                      </a:r>
                      <a:r>
                        <a:rPr dirty="0" sz="1800">
                          <a:solidFill>
                            <a:srgbClr val="40458B"/>
                          </a:solidFill>
                          <a:latin typeface="黑体"/>
                          <a:cs typeface="黑体"/>
                        </a:rPr>
                        <a:t>(Mem[30+Regs[R3]]</a:t>
                      </a:r>
                      <a:r>
                        <a:rPr dirty="0" baseline="-20833" sz="1800">
                          <a:solidFill>
                            <a:srgbClr val="40458B"/>
                          </a:solidFill>
                          <a:latin typeface="黑体"/>
                          <a:cs typeface="黑体"/>
                        </a:rPr>
                        <a:t>0</a:t>
                      </a:r>
                      <a:r>
                        <a:rPr dirty="0" sz="1800">
                          <a:solidFill>
                            <a:srgbClr val="40458B"/>
                          </a:solidFill>
                          <a:latin typeface="黑体"/>
                          <a:cs typeface="黑体"/>
                        </a:rPr>
                        <a:t>)</a:t>
                      </a:r>
                      <a:r>
                        <a:rPr dirty="0" baseline="25462" sz="1800">
                          <a:solidFill>
                            <a:srgbClr val="40458B"/>
                          </a:solidFill>
                          <a:latin typeface="黑体"/>
                          <a:cs typeface="黑体"/>
                        </a:rPr>
                        <a:t>48</a:t>
                      </a:r>
                      <a:r>
                        <a:rPr dirty="0" baseline="25462" sz="1800" spc="450">
                          <a:solidFill>
                            <a:srgbClr val="40458B"/>
                          </a:solidFill>
                          <a:latin typeface="黑体"/>
                          <a:cs typeface="黑体"/>
                        </a:rPr>
                        <a:t> </a:t>
                      </a:r>
                      <a:r>
                        <a:rPr dirty="0" sz="1800" spc="-25">
                          <a:solidFill>
                            <a:srgbClr val="40458B"/>
                          </a:solidFill>
                          <a:latin typeface="黑体"/>
                          <a:cs typeface="黑体"/>
                        </a:rPr>
                        <a:t>##</a:t>
                      </a:r>
                      <a:endParaRPr sz="1800">
                        <a:latin typeface="黑体"/>
                        <a:cs typeface="黑体"/>
                      </a:endParaRPr>
                    </a:p>
                    <a:p>
                      <a:pPr marL="92075">
                        <a:lnSpc>
                          <a:spcPct val="100000"/>
                        </a:lnSpc>
                        <a:spcBef>
                          <a:spcPts val="865"/>
                        </a:spcBef>
                      </a:pPr>
                      <a:r>
                        <a:rPr dirty="0" sz="1800">
                          <a:solidFill>
                            <a:srgbClr val="40458B"/>
                          </a:solidFill>
                          <a:latin typeface="黑体"/>
                          <a:cs typeface="黑体"/>
                        </a:rPr>
                        <a:t>Mem[30+Regs[R3]]## </a:t>
                      </a:r>
                      <a:r>
                        <a:rPr dirty="0" sz="1800" spc="-10">
                          <a:solidFill>
                            <a:srgbClr val="40458B"/>
                          </a:solidFill>
                          <a:latin typeface="黑体"/>
                          <a:cs typeface="黑体"/>
                        </a:rPr>
                        <a:t>Mem[31+Regs[R3]]</a:t>
                      </a:r>
                      <a:endParaRPr sz="1800">
                        <a:latin typeface="黑体"/>
                        <a:cs typeface="黑体"/>
                      </a:endParaRPr>
                    </a:p>
                    <a:p>
                      <a:pPr marL="92075" marR="93345">
                        <a:lnSpc>
                          <a:spcPct val="120000"/>
                        </a:lnSpc>
                        <a:spcBef>
                          <a:spcPts val="430"/>
                        </a:spcBef>
                        <a:tabLst>
                          <a:tab pos="3482975" algn="l"/>
                        </a:tabLst>
                      </a:pPr>
                      <a:r>
                        <a:rPr dirty="0" sz="1800">
                          <a:solidFill>
                            <a:srgbClr val="FF0000"/>
                          </a:solidFill>
                          <a:latin typeface="黑体"/>
                          <a:cs typeface="黑体"/>
                        </a:rPr>
                        <a:t>装入半字：需要访问两个字节，30,31为</a:t>
                      </a:r>
                      <a:r>
                        <a:rPr dirty="0" sz="1800" spc="-50">
                          <a:solidFill>
                            <a:srgbClr val="FF0000"/>
                          </a:solidFill>
                          <a:latin typeface="黑体"/>
                          <a:cs typeface="黑体"/>
                        </a:rPr>
                        <a:t>相</a:t>
                      </a:r>
                      <a:r>
                        <a:rPr dirty="0" sz="1800">
                          <a:solidFill>
                            <a:srgbClr val="FF0000"/>
                          </a:solidFill>
                          <a:latin typeface="黑体"/>
                          <a:cs typeface="黑体"/>
                        </a:rPr>
                        <a:t>对寄存器内容的偏移量，因为内存按字节</a:t>
                      </a:r>
                      <a:r>
                        <a:rPr dirty="0" sz="1800" spc="-50">
                          <a:solidFill>
                            <a:srgbClr val="FF0000"/>
                          </a:solidFill>
                          <a:latin typeface="黑体"/>
                          <a:cs typeface="黑体"/>
                        </a:rPr>
                        <a:t>编</a:t>
                      </a:r>
                      <a:r>
                        <a:rPr dirty="0" sz="1800">
                          <a:solidFill>
                            <a:srgbClr val="FF0000"/>
                          </a:solidFill>
                          <a:latin typeface="黑体"/>
                          <a:cs typeface="黑体"/>
                        </a:rPr>
                        <a:t>址，最后以 </a:t>
                      </a:r>
                      <a:r>
                        <a:rPr dirty="0" sz="1800" spc="-10">
                          <a:solidFill>
                            <a:srgbClr val="FF0000"/>
                          </a:solidFill>
                          <a:latin typeface="黑体"/>
                          <a:cs typeface="黑体"/>
                        </a:rPr>
                        <a:t>Mem[30+Regs[R3]]</a:t>
                      </a:r>
                      <a:r>
                        <a:rPr dirty="0" baseline="-20833" sz="1800" spc="-15">
                          <a:solidFill>
                            <a:srgbClr val="FF0000"/>
                          </a:solidFill>
                          <a:latin typeface="黑体"/>
                          <a:cs typeface="黑体"/>
                        </a:rPr>
                        <a:t>0</a:t>
                      </a:r>
                      <a:r>
                        <a:rPr dirty="0" baseline="-20833" sz="1800">
                          <a:solidFill>
                            <a:srgbClr val="FF0000"/>
                          </a:solidFill>
                          <a:latin typeface="黑体"/>
                          <a:cs typeface="黑体"/>
                        </a:rPr>
                        <a:t>	</a:t>
                      </a:r>
                      <a:r>
                        <a:rPr dirty="0" sz="1800">
                          <a:solidFill>
                            <a:srgbClr val="FF0000"/>
                          </a:solidFill>
                          <a:latin typeface="黑体"/>
                          <a:cs typeface="黑体"/>
                        </a:rPr>
                        <a:t>这个字</a:t>
                      </a:r>
                      <a:r>
                        <a:rPr dirty="0" sz="1800" spc="-50">
                          <a:solidFill>
                            <a:srgbClr val="FF0000"/>
                          </a:solidFill>
                          <a:latin typeface="黑体"/>
                          <a:cs typeface="黑体"/>
                        </a:rPr>
                        <a:t>节</a:t>
                      </a:r>
                      <a:r>
                        <a:rPr dirty="0" sz="1800">
                          <a:solidFill>
                            <a:srgbClr val="FF0000"/>
                          </a:solidFill>
                          <a:latin typeface="黑体"/>
                          <a:cs typeface="黑体"/>
                        </a:rPr>
                        <a:t>对应的符号位扩展48</a:t>
                      </a:r>
                      <a:r>
                        <a:rPr dirty="0" sz="1800" spc="-50">
                          <a:solidFill>
                            <a:srgbClr val="FF0000"/>
                          </a:solidFill>
                          <a:latin typeface="黑体"/>
                          <a:cs typeface="黑体"/>
                        </a:rPr>
                        <a:t>位</a:t>
                      </a:r>
                      <a:endParaRPr sz="1800">
                        <a:latin typeface="黑体"/>
                        <a:cs typeface="黑体"/>
                      </a:endParaRPr>
                    </a:p>
                  </a:txBody>
                  <a:tcPr marL="0" marR="0" marB="0" marT="6413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1315720">
                <a:tc>
                  <a:txBody>
                    <a:bodyPr/>
                    <a:lstStyle/>
                    <a:p>
                      <a:pPr marL="91440">
                        <a:lnSpc>
                          <a:spcPct val="100000"/>
                        </a:lnSpc>
                        <a:spcBef>
                          <a:spcPts val="509"/>
                        </a:spcBef>
                      </a:pPr>
                      <a:r>
                        <a:rPr dirty="0" sz="1800">
                          <a:solidFill>
                            <a:srgbClr val="40458B"/>
                          </a:solidFill>
                          <a:latin typeface="黑体"/>
                          <a:cs typeface="黑体"/>
                        </a:rPr>
                        <a:t>L.S </a:t>
                      </a:r>
                      <a:r>
                        <a:rPr dirty="0" sz="1800" spc="-10">
                          <a:solidFill>
                            <a:srgbClr val="40458B"/>
                          </a:solidFill>
                          <a:latin typeface="黑体"/>
                          <a:cs typeface="黑体"/>
                        </a:rPr>
                        <a:t>R2，60(R4)</a:t>
                      </a:r>
                      <a:endParaRPr sz="1800">
                        <a:latin typeface="黑体"/>
                        <a:cs typeface="黑体"/>
                      </a:endParaRPr>
                    </a:p>
                  </a:txBody>
                  <a:tcPr marL="0" marR="0" marB="0" marT="64769">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509"/>
                        </a:spcBef>
                      </a:pPr>
                      <a:r>
                        <a:rPr dirty="0" sz="1800" spc="-15">
                          <a:solidFill>
                            <a:srgbClr val="40458B"/>
                          </a:solidFill>
                          <a:latin typeface="黑体"/>
                          <a:cs typeface="黑体"/>
                        </a:rPr>
                        <a:t>装入半字</a:t>
                      </a:r>
                      <a:endParaRPr sz="1800">
                        <a:latin typeface="黑体"/>
                        <a:cs typeface="黑体"/>
                      </a:endParaRPr>
                    </a:p>
                  </a:txBody>
                  <a:tcPr marL="0" marR="0" marB="0" marT="64769">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9"/>
                        </a:spcBef>
                      </a:pPr>
                      <a:r>
                        <a:rPr dirty="0" sz="1800">
                          <a:solidFill>
                            <a:srgbClr val="40458B"/>
                          </a:solidFill>
                          <a:latin typeface="黑体"/>
                          <a:cs typeface="黑体"/>
                        </a:rPr>
                        <a:t>Regs[R2]←</a:t>
                      </a:r>
                      <a:r>
                        <a:rPr dirty="0" baseline="-20833" sz="1800">
                          <a:solidFill>
                            <a:srgbClr val="40458B"/>
                          </a:solidFill>
                          <a:latin typeface="黑体"/>
                          <a:cs typeface="黑体"/>
                        </a:rPr>
                        <a:t>64 </a:t>
                      </a:r>
                      <a:r>
                        <a:rPr dirty="0" sz="1800">
                          <a:solidFill>
                            <a:srgbClr val="40458B"/>
                          </a:solidFill>
                          <a:latin typeface="黑体"/>
                          <a:cs typeface="黑体"/>
                        </a:rPr>
                        <a:t>Mem[60+Regs[R4]] ## </a:t>
                      </a:r>
                      <a:r>
                        <a:rPr dirty="0" sz="1800" spc="-25">
                          <a:solidFill>
                            <a:srgbClr val="40458B"/>
                          </a:solidFill>
                          <a:latin typeface="黑体"/>
                          <a:cs typeface="黑体"/>
                        </a:rPr>
                        <a:t>0</a:t>
                      </a:r>
                      <a:r>
                        <a:rPr dirty="0" baseline="25462" sz="1800" spc="-37">
                          <a:solidFill>
                            <a:srgbClr val="40458B"/>
                          </a:solidFill>
                          <a:latin typeface="黑体"/>
                          <a:cs typeface="黑体"/>
                        </a:rPr>
                        <a:t>32</a:t>
                      </a:r>
                      <a:endParaRPr baseline="25462" sz="1800">
                        <a:latin typeface="黑体"/>
                        <a:cs typeface="黑体"/>
                      </a:endParaRPr>
                    </a:p>
                    <a:p>
                      <a:pPr marL="92075">
                        <a:lnSpc>
                          <a:spcPct val="100000"/>
                        </a:lnSpc>
                        <a:spcBef>
                          <a:spcPts val="860"/>
                        </a:spcBef>
                      </a:pPr>
                      <a:r>
                        <a:rPr dirty="0" sz="1800" spc="-15">
                          <a:solidFill>
                            <a:srgbClr val="40458B"/>
                          </a:solidFill>
                          <a:latin typeface="黑体"/>
                          <a:cs typeface="黑体"/>
                        </a:rPr>
                        <a:t>从存储器中读取单精度浮点数到寄存器中</a:t>
                      </a:r>
                      <a:endParaRPr sz="1800">
                        <a:latin typeface="黑体"/>
                        <a:cs typeface="黑体"/>
                      </a:endParaRPr>
                    </a:p>
                  </a:txBody>
                  <a:tcPr marL="0" marR="0" marB="0" marT="64769">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292100">
                <a:tc>
                  <a:txBody>
                    <a:bodyPr/>
                    <a:lstStyle/>
                    <a:p>
                      <a:pPr marL="91440">
                        <a:lnSpc>
                          <a:spcPts val="1689"/>
                        </a:lnSpc>
                        <a:spcBef>
                          <a:spcPts val="509"/>
                        </a:spcBef>
                      </a:pPr>
                      <a:r>
                        <a:rPr dirty="0" sz="1800">
                          <a:solidFill>
                            <a:srgbClr val="40458B"/>
                          </a:solidFill>
                          <a:latin typeface="黑体"/>
                          <a:cs typeface="黑体"/>
                        </a:rPr>
                        <a:t>L.D </a:t>
                      </a:r>
                      <a:r>
                        <a:rPr dirty="0" sz="1800" spc="-10">
                          <a:solidFill>
                            <a:srgbClr val="40458B"/>
                          </a:solidFill>
                          <a:latin typeface="黑体"/>
                          <a:cs typeface="黑体"/>
                        </a:rPr>
                        <a:t>F2，40(R3)</a:t>
                      </a:r>
                      <a:endParaRPr sz="1800">
                        <a:latin typeface="黑体"/>
                        <a:cs typeface="黑体"/>
                      </a:endParaRPr>
                    </a:p>
                  </a:txBody>
                  <a:tcPr marL="0" marR="0" marB="0" marT="64769">
                    <a:lnL w="28575">
                      <a:solidFill>
                        <a:srgbClr val="40458B"/>
                      </a:solidFill>
                      <a:prstDash val="solid"/>
                    </a:lnL>
                    <a:lnR w="12700">
                      <a:solidFill>
                        <a:srgbClr val="40458B"/>
                      </a:solidFill>
                      <a:prstDash val="solid"/>
                    </a:lnR>
                    <a:lnT w="12700">
                      <a:solidFill>
                        <a:srgbClr val="40458B"/>
                      </a:solidFill>
                      <a:prstDash val="solid"/>
                    </a:lnT>
                  </a:tcPr>
                </a:tc>
                <a:tc>
                  <a:txBody>
                    <a:bodyPr/>
                    <a:lstStyle/>
                    <a:p>
                      <a:pPr marL="91440">
                        <a:lnSpc>
                          <a:spcPts val="1689"/>
                        </a:lnSpc>
                        <a:spcBef>
                          <a:spcPts val="509"/>
                        </a:spcBef>
                      </a:pPr>
                      <a:r>
                        <a:rPr dirty="0" sz="1800" spc="-10">
                          <a:solidFill>
                            <a:srgbClr val="40458B"/>
                          </a:solidFill>
                          <a:latin typeface="黑体"/>
                          <a:cs typeface="黑体"/>
                        </a:rPr>
                        <a:t>装入双精度浮点数</a:t>
                      </a:r>
                      <a:endParaRPr sz="1800">
                        <a:latin typeface="黑体"/>
                        <a:cs typeface="黑体"/>
                      </a:endParaRPr>
                    </a:p>
                  </a:txBody>
                  <a:tcPr marL="0" marR="0" marB="0" marT="64769">
                    <a:lnL w="12700">
                      <a:solidFill>
                        <a:srgbClr val="40458B"/>
                      </a:solidFill>
                      <a:prstDash val="solid"/>
                    </a:lnL>
                    <a:lnR w="12700">
                      <a:solidFill>
                        <a:srgbClr val="40458B"/>
                      </a:solidFill>
                      <a:prstDash val="solid"/>
                    </a:lnR>
                    <a:lnT w="12700">
                      <a:solidFill>
                        <a:srgbClr val="40458B"/>
                      </a:solidFill>
                      <a:prstDash val="solid"/>
                    </a:lnT>
                  </a:tcPr>
                </a:tc>
                <a:tc>
                  <a:txBody>
                    <a:bodyPr/>
                    <a:lstStyle/>
                    <a:p>
                      <a:pPr marL="92075">
                        <a:lnSpc>
                          <a:spcPts val="1689"/>
                        </a:lnSpc>
                        <a:spcBef>
                          <a:spcPts val="509"/>
                        </a:spcBef>
                        <a:tabLst>
                          <a:tab pos="1501775" algn="l"/>
                        </a:tabLst>
                      </a:pPr>
                      <a:r>
                        <a:rPr dirty="0" sz="1800" spc="-10">
                          <a:solidFill>
                            <a:srgbClr val="40458B"/>
                          </a:solidFill>
                          <a:latin typeface="黑体"/>
                          <a:cs typeface="黑体"/>
                        </a:rPr>
                        <a:t>Regs[F2]←</a:t>
                      </a:r>
                      <a:r>
                        <a:rPr dirty="0" sz="1800">
                          <a:solidFill>
                            <a:srgbClr val="40458B"/>
                          </a:solidFill>
                          <a:latin typeface="黑体"/>
                          <a:cs typeface="黑体"/>
                        </a:rPr>
                        <a:t>	</a:t>
                      </a:r>
                      <a:r>
                        <a:rPr dirty="0" sz="1800" spc="-10">
                          <a:solidFill>
                            <a:srgbClr val="40458B"/>
                          </a:solidFill>
                          <a:latin typeface="黑体"/>
                          <a:cs typeface="黑体"/>
                        </a:rPr>
                        <a:t>Mem[40+Regs[R3]]</a:t>
                      </a:r>
                      <a:endParaRPr sz="1800">
                        <a:latin typeface="黑体"/>
                        <a:cs typeface="黑体"/>
                      </a:endParaRPr>
                    </a:p>
                  </a:txBody>
                  <a:tcPr marL="0" marR="0" marB="0" marT="64769">
                    <a:lnL w="12700">
                      <a:solidFill>
                        <a:srgbClr val="40458B"/>
                      </a:solidFill>
                      <a:prstDash val="solid"/>
                    </a:lnL>
                    <a:lnR w="28575">
                      <a:solidFill>
                        <a:srgbClr val="40458B"/>
                      </a:solidFill>
                      <a:prstDash val="solid"/>
                    </a:lnR>
                    <a:lnT w="12700">
                      <a:solidFill>
                        <a:srgbClr val="40458B"/>
                      </a:solidFill>
                      <a:prstDash val="solid"/>
                    </a:lnT>
                  </a:tcPr>
                </a:tc>
              </a:tr>
            </a:tbl>
          </a:graphicData>
        </a:graphic>
      </p:graphicFrame>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994" y="661873"/>
            <a:ext cx="1554480" cy="391795"/>
          </a:xfrm>
          <a:prstGeom prst="rect"/>
        </p:spPr>
        <p:txBody>
          <a:bodyPr wrap="square" lIns="0" tIns="12700" rIns="0" bIns="0" rtlCol="0" vert="horz">
            <a:spAutoFit/>
          </a:bodyPr>
          <a:lstStyle/>
          <a:p>
            <a:pPr marL="12700">
              <a:lnSpc>
                <a:spcPct val="100000"/>
              </a:lnSpc>
              <a:spcBef>
                <a:spcPts val="100"/>
              </a:spcBef>
            </a:pPr>
            <a:r>
              <a:rPr dirty="0" u="none" sz="2400">
                <a:solidFill>
                  <a:srgbClr val="40458B"/>
                </a:solidFill>
              </a:rPr>
              <a:t>4</a:t>
            </a:r>
            <a:r>
              <a:rPr dirty="0" u="none" sz="2400" spc="-5">
                <a:solidFill>
                  <a:srgbClr val="40458B"/>
                </a:solidFill>
              </a:rPr>
              <a:t>. </a:t>
            </a:r>
            <a:r>
              <a:rPr dirty="0" u="none" sz="2400" spc="-10">
                <a:solidFill>
                  <a:srgbClr val="4F55AC"/>
                </a:solidFill>
              </a:rPr>
              <a:t>ALU</a:t>
            </a:r>
            <a:r>
              <a:rPr dirty="0" u="none" sz="2400" spc="-30">
                <a:solidFill>
                  <a:srgbClr val="4F55AC"/>
                </a:solidFill>
                <a:latin typeface="微软雅黑"/>
                <a:cs typeface="微软雅黑"/>
              </a:rPr>
              <a:t>指令</a:t>
            </a:r>
            <a:endParaRPr sz="2400">
              <a:latin typeface="微软雅黑"/>
              <a:cs typeface="微软雅黑"/>
            </a:endParaRPr>
          </a:p>
        </p:txBody>
      </p:sp>
      <p:sp>
        <p:nvSpPr>
          <p:cNvPr id="3" name="object 3" descr=""/>
          <p:cNvSpPr txBox="1"/>
          <p:nvPr/>
        </p:nvSpPr>
        <p:spPr>
          <a:xfrm>
            <a:off x="2784094" y="1043432"/>
            <a:ext cx="5615940" cy="635635"/>
          </a:xfrm>
          <a:prstGeom prst="rect">
            <a:avLst/>
          </a:prstGeom>
        </p:spPr>
        <p:txBody>
          <a:bodyPr wrap="square" lIns="0" tIns="13335" rIns="0" bIns="0" rtlCol="0" vert="horz">
            <a:spAutoFit/>
          </a:bodyPr>
          <a:lstStyle/>
          <a:p>
            <a:pPr algn="ctr">
              <a:lnSpc>
                <a:spcPct val="100000"/>
              </a:lnSpc>
              <a:spcBef>
                <a:spcPts val="105"/>
              </a:spcBef>
            </a:pPr>
            <a:r>
              <a:rPr dirty="0" sz="2000" spc="-10">
                <a:solidFill>
                  <a:srgbClr val="4F55AC"/>
                </a:solidFill>
                <a:latin typeface="黑体"/>
                <a:cs typeface="黑体"/>
              </a:rPr>
              <a:t>寄存器－寄存器型（RR</a:t>
            </a:r>
            <a:r>
              <a:rPr dirty="0" sz="2000">
                <a:solidFill>
                  <a:srgbClr val="4F55AC"/>
                </a:solidFill>
                <a:latin typeface="黑体"/>
                <a:cs typeface="黑体"/>
              </a:rPr>
              <a:t>型</a:t>
            </a:r>
            <a:r>
              <a:rPr dirty="0" sz="2000" spc="-15">
                <a:solidFill>
                  <a:srgbClr val="4F55AC"/>
                </a:solidFill>
                <a:latin typeface="黑体"/>
                <a:cs typeface="黑体"/>
              </a:rPr>
              <a:t>）</a:t>
            </a:r>
            <a:r>
              <a:rPr dirty="0" sz="2000" spc="-20">
                <a:solidFill>
                  <a:srgbClr val="4F55AC"/>
                </a:solidFill>
                <a:latin typeface="黑体"/>
                <a:cs typeface="黑体"/>
              </a:rPr>
              <a:t>指令或立即数型</a:t>
            </a:r>
            <a:endParaRPr sz="2000">
              <a:latin typeface="黑体"/>
              <a:cs typeface="黑体"/>
            </a:endParaRPr>
          </a:p>
          <a:p>
            <a:pPr algn="ctr">
              <a:lnSpc>
                <a:spcPct val="100000"/>
              </a:lnSpc>
            </a:pPr>
            <a:r>
              <a:rPr dirty="0" sz="2000" spc="-20">
                <a:solidFill>
                  <a:srgbClr val="4F55AC"/>
                </a:solidFill>
                <a:latin typeface="黑体"/>
                <a:cs typeface="黑体"/>
              </a:rPr>
              <a:t>算术和逻辑操作：加、减、与、或、异或和移位等</a:t>
            </a:r>
            <a:endParaRPr sz="2000">
              <a:latin typeface="黑体"/>
              <a:cs typeface="黑体"/>
            </a:endParaRPr>
          </a:p>
        </p:txBody>
      </p:sp>
      <p:graphicFrame>
        <p:nvGraphicFramePr>
          <p:cNvPr id="4" name="object 4" descr=""/>
          <p:cNvGraphicFramePr>
            <a:graphicFrameLocks noGrp="1"/>
          </p:cNvGraphicFramePr>
          <p:nvPr/>
        </p:nvGraphicFramePr>
        <p:xfrm>
          <a:off x="1905063" y="2262187"/>
          <a:ext cx="8455025" cy="4433570"/>
        </p:xfrm>
        <a:graphic>
          <a:graphicData uri="http://schemas.openxmlformats.org/drawingml/2006/table">
            <a:tbl>
              <a:tblPr firstRow="1" bandRow="1">
                <a:tableStyleId>{2D5ABB26-0587-4C30-8999-92F81FD0307C}</a:tableStyleId>
              </a:tblPr>
              <a:tblGrid>
                <a:gridCol w="2468245"/>
                <a:gridCol w="2324100"/>
                <a:gridCol w="3557904"/>
              </a:tblGrid>
              <a:tr h="494665">
                <a:tc>
                  <a:txBody>
                    <a:bodyPr/>
                    <a:lstStyle/>
                    <a:p>
                      <a:pPr marL="722630">
                        <a:lnSpc>
                          <a:spcPct val="100000"/>
                        </a:lnSpc>
                        <a:spcBef>
                          <a:spcPts val="515"/>
                        </a:spcBef>
                      </a:pPr>
                      <a:r>
                        <a:rPr dirty="0" sz="2000" spc="-15">
                          <a:solidFill>
                            <a:srgbClr val="E14B04"/>
                          </a:solidFill>
                          <a:latin typeface="黑体"/>
                          <a:cs typeface="黑体"/>
                        </a:rPr>
                        <a:t>指令举例</a:t>
                      </a:r>
                      <a:endParaRPr sz="2000">
                        <a:latin typeface="黑体"/>
                        <a:cs typeface="黑体"/>
                      </a:endParaRPr>
                    </a:p>
                  </a:txBody>
                  <a:tcPr marL="0" marR="0" marB="0" marT="6540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651510">
                        <a:lnSpc>
                          <a:spcPct val="100000"/>
                        </a:lnSpc>
                        <a:spcBef>
                          <a:spcPts val="515"/>
                        </a:spcBef>
                      </a:pPr>
                      <a:r>
                        <a:rPr dirty="0" sz="2000" spc="-15">
                          <a:solidFill>
                            <a:srgbClr val="E14B04"/>
                          </a:solidFill>
                          <a:latin typeface="黑体"/>
                          <a:cs typeface="黑体"/>
                        </a:rPr>
                        <a:t>指令名称</a:t>
                      </a:r>
                      <a:endParaRPr sz="2000">
                        <a:latin typeface="黑体"/>
                        <a:cs typeface="黑体"/>
                      </a:endParaRPr>
                    </a:p>
                  </a:txBody>
                  <a:tcPr marL="0" marR="0" marB="0" marT="6540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635">
                        <a:lnSpc>
                          <a:spcPct val="100000"/>
                        </a:lnSpc>
                        <a:spcBef>
                          <a:spcPts val="515"/>
                        </a:spcBef>
                      </a:pPr>
                      <a:r>
                        <a:rPr dirty="0" sz="2000" spc="-25">
                          <a:solidFill>
                            <a:srgbClr val="E14B04"/>
                          </a:solidFill>
                          <a:latin typeface="黑体"/>
                          <a:cs typeface="黑体"/>
                        </a:rPr>
                        <a:t>含义</a:t>
                      </a:r>
                      <a:endParaRPr sz="2000">
                        <a:latin typeface="黑体"/>
                        <a:cs typeface="黑体"/>
                      </a:endParaRPr>
                    </a:p>
                  </a:txBody>
                  <a:tcPr marL="0" marR="0" marB="0" marT="6540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494665">
                <a:tc>
                  <a:txBody>
                    <a:bodyPr/>
                    <a:lstStyle/>
                    <a:p>
                      <a:pPr marL="91440">
                        <a:lnSpc>
                          <a:spcPct val="100000"/>
                        </a:lnSpc>
                        <a:spcBef>
                          <a:spcPts val="500"/>
                        </a:spcBef>
                        <a:tabLst>
                          <a:tab pos="1005840" algn="l"/>
                        </a:tabLst>
                      </a:pPr>
                      <a:r>
                        <a:rPr dirty="0" sz="1800" spc="-10">
                          <a:solidFill>
                            <a:srgbClr val="40458B"/>
                          </a:solidFill>
                          <a:latin typeface="黑体"/>
                          <a:cs typeface="黑体"/>
                        </a:rPr>
                        <a:t>DADDU</a:t>
                      </a:r>
                      <a:r>
                        <a:rPr dirty="0" sz="1800">
                          <a:solidFill>
                            <a:srgbClr val="40458B"/>
                          </a:solidFill>
                          <a:latin typeface="黑体"/>
                          <a:cs typeface="黑体"/>
                        </a:rPr>
                        <a:t>	</a:t>
                      </a:r>
                      <a:r>
                        <a:rPr dirty="0" sz="1800" spc="-10">
                          <a:solidFill>
                            <a:srgbClr val="40458B"/>
                          </a:solidFill>
                          <a:latin typeface="黑体"/>
                          <a:cs typeface="黑体"/>
                        </a:rPr>
                        <a:t>R1，R2，R3</a:t>
                      </a:r>
                      <a:endParaRPr sz="1800">
                        <a:latin typeface="黑体"/>
                        <a:cs typeface="黑体"/>
                      </a:endParaRPr>
                    </a:p>
                  </a:txBody>
                  <a:tcPr marL="0" marR="0" marB="0" marT="6350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500"/>
                        </a:spcBef>
                      </a:pPr>
                      <a:r>
                        <a:rPr dirty="0" sz="1800" spc="-15">
                          <a:solidFill>
                            <a:srgbClr val="40458B"/>
                          </a:solidFill>
                          <a:latin typeface="黑体"/>
                          <a:cs typeface="黑体"/>
                        </a:rPr>
                        <a:t>无符号加</a:t>
                      </a:r>
                      <a:endParaRPr sz="1800">
                        <a:latin typeface="黑体"/>
                        <a:cs typeface="黑体"/>
                      </a:endParaRPr>
                    </a:p>
                  </a:txBody>
                  <a:tcPr marL="0" marR="0" marB="0" marT="635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0"/>
                        </a:spcBef>
                      </a:pPr>
                      <a:r>
                        <a:rPr dirty="0" sz="1800">
                          <a:solidFill>
                            <a:srgbClr val="40458B"/>
                          </a:solidFill>
                          <a:latin typeface="黑体"/>
                          <a:cs typeface="黑体"/>
                        </a:rPr>
                        <a:t>Regs[R1]← Regs[R2]+ </a:t>
                      </a:r>
                      <a:r>
                        <a:rPr dirty="0" sz="1800" spc="-10">
                          <a:solidFill>
                            <a:srgbClr val="40458B"/>
                          </a:solidFill>
                          <a:latin typeface="黑体"/>
                          <a:cs typeface="黑体"/>
                        </a:rPr>
                        <a:t>Regs[R3]</a:t>
                      </a:r>
                      <a:endParaRPr sz="1800">
                        <a:latin typeface="黑体"/>
                        <a:cs typeface="黑体"/>
                      </a:endParaRPr>
                    </a:p>
                  </a:txBody>
                  <a:tcPr marL="0" marR="0" marB="0" marT="635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95934">
                <a:tc>
                  <a:txBody>
                    <a:bodyPr/>
                    <a:lstStyle/>
                    <a:p>
                      <a:pPr marL="91440">
                        <a:lnSpc>
                          <a:spcPct val="100000"/>
                        </a:lnSpc>
                        <a:spcBef>
                          <a:spcPts val="500"/>
                        </a:spcBef>
                        <a:tabLst>
                          <a:tab pos="1005840" algn="l"/>
                        </a:tabLst>
                      </a:pPr>
                      <a:r>
                        <a:rPr dirty="0" sz="1800" spc="-10">
                          <a:solidFill>
                            <a:srgbClr val="40458B"/>
                          </a:solidFill>
                          <a:latin typeface="黑体"/>
                          <a:cs typeface="黑体"/>
                        </a:rPr>
                        <a:t>DADDIU</a:t>
                      </a:r>
                      <a:r>
                        <a:rPr dirty="0" sz="1800">
                          <a:solidFill>
                            <a:srgbClr val="40458B"/>
                          </a:solidFill>
                          <a:latin typeface="黑体"/>
                          <a:cs typeface="黑体"/>
                        </a:rPr>
                        <a:t>	</a:t>
                      </a:r>
                      <a:r>
                        <a:rPr dirty="0" sz="1800" spc="-10">
                          <a:solidFill>
                            <a:srgbClr val="40458B"/>
                          </a:solidFill>
                          <a:latin typeface="黑体"/>
                          <a:cs typeface="黑体"/>
                        </a:rPr>
                        <a:t>R4，R5，#6</a:t>
                      </a:r>
                      <a:endParaRPr sz="1800">
                        <a:latin typeface="黑体"/>
                        <a:cs typeface="黑体"/>
                      </a:endParaRPr>
                    </a:p>
                  </a:txBody>
                  <a:tcPr marL="0" marR="0" marB="0" marT="6350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500"/>
                        </a:spcBef>
                      </a:pPr>
                      <a:r>
                        <a:rPr dirty="0" sz="1800" spc="-10">
                          <a:solidFill>
                            <a:srgbClr val="40458B"/>
                          </a:solidFill>
                          <a:latin typeface="黑体"/>
                          <a:cs typeface="黑体"/>
                        </a:rPr>
                        <a:t>加无符号立即数</a:t>
                      </a:r>
                      <a:endParaRPr sz="1800">
                        <a:latin typeface="黑体"/>
                        <a:cs typeface="黑体"/>
                      </a:endParaRPr>
                    </a:p>
                  </a:txBody>
                  <a:tcPr marL="0" marR="0" marB="0" marT="635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0"/>
                        </a:spcBef>
                      </a:pPr>
                      <a:r>
                        <a:rPr dirty="0" sz="1800">
                          <a:solidFill>
                            <a:srgbClr val="40458B"/>
                          </a:solidFill>
                          <a:latin typeface="黑体"/>
                          <a:cs typeface="黑体"/>
                        </a:rPr>
                        <a:t>Regs[R4]← </a:t>
                      </a:r>
                      <a:r>
                        <a:rPr dirty="0" sz="1800" spc="-10">
                          <a:solidFill>
                            <a:srgbClr val="40458B"/>
                          </a:solidFill>
                          <a:latin typeface="黑体"/>
                          <a:cs typeface="黑体"/>
                        </a:rPr>
                        <a:t>Regs[R5]+6</a:t>
                      </a:r>
                      <a:endParaRPr sz="1800">
                        <a:latin typeface="黑体"/>
                        <a:cs typeface="黑体"/>
                      </a:endParaRPr>
                    </a:p>
                  </a:txBody>
                  <a:tcPr marL="0" marR="0" marB="0" marT="635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1131570">
                <a:tc>
                  <a:txBody>
                    <a:bodyPr/>
                    <a:lstStyle/>
                    <a:p>
                      <a:pPr marL="91440">
                        <a:lnSpc>
                          <a:spcPct val="100000"/>
                        </a:lnSpc>
                        <a:spcBef>
                          <a:spcPts val="505"/>
                        </a:spcBef>
                        <a:tabLst>
                          <a:tab pos="1005840" algn="l"/>
                        </a:tabLst>
                      </a:pPr>
                      <a:r>
                        <a:rPr dirty="0" sz="1800" spc="-25">
                          <a:solidFill>
                            <a:srgbClr val="40458B"/>
                          </a:solidFill>
                          <a:latin typeface="黑体"/>
                          <a:cs typeface="黑体"/>
                        </a:rPr>
                        <a:t>LUI</a:t>
                      </a:r>
                      <a:r>
                        <a:rPr dirty="0" sz="1800">
                          <a:solidFill>
                            <a:srgbClr val="40458B"/>
                          </a:solidFill>
                          <a:latin typeface="黑体"/>
                          <a:cs typeface="黑体"/>
                        </a:rPr>
                        <a:t>	</a:t>
                      </a:r>
                      <a:r>
                        <a:rPr dirty="0" sz="1800" spc="-10">
                          <a:solidFill>
                            <a:srgbClr val="40458B"/>
                          </a:solidFill>
                          <a:latin typeface="黑体"/>
                          <a:cs typeface="黑体"/>
                        </a:rPr>
                        <a:t>R1，#4</a:t>
                      </a:r>
                      <a:endParaRPr sz="1800">
                        <a:latin typeface="黑体"/>
                        <a:cs typeface="黑体"/>
                      </a:endParaRPr>
                    </a:p>
                  </a:txBody>
                  <a:tcPr marL="0" marR="0" marB="0" marT="6413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marR="167005">
                        <a:lnSpc>
                          <a:spcPct val="120000"/>
                        </a:lnSpc>
                        <a:spcBef>
                          <a:spcPts val="70"/>
                        </a:spcBef>
                      </a:pPr>
                      <a:r>
                        <a:rPr dirty="0" sz="1800" spc="-10">
                          <a:solidFill>
                            <a:srgbClr val="40458B"/>
                          </a:solidFill>
                          <a:latin typeface="黑体"/>
                          <a:cs typeface="黑体"/>
                        </a:rPr>
                        <a:t>把立即数装入到一个</a:t>
                      </a:r>
                      <a:r>
                        <a:rPr dirty="0" sz="1800">
                          <a:solidFill>
                            <a:srgbClr val="40458B"/>
                          </a:solidFill>
                          <a:latin typeface="黑体"/>
                          <a:cs typeface="黑体"/>
                        </a:rPr>
                        <a:t>字的高16</a:t>
                      </a:r>
                      <a:r>
                        <a:rPr dirty="0" sz="1800" spc="-50">
                          <a:solidFill>
                            <a:srgbClr val="40458B"/>
                          </a:solidFill>
                          <a:latin typeface="黑体"/>
                          <a:cs typeface="黑体"/>
                        </a:rPr>
                        <a:t>位</a:t>
                      </a:r>
                      <a:endParaRPr sz="1800">
                        <a:latin typeface="黑体"/>
                        <a:cs typeface="黑体"/>
                      </a:endParaRPr>
                    </a:p>
                  </a:txBody>
                  <a:tcPr marL="0" marR="0" marB="0" marT="88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pPr>
                      <a:r>
                        <a:rPr dirty="0" sz="1800">
                          <a:solidFill>
                            <a:srgbClr val="40458B"/>
                          </a:solidFill>
                          <a:latin typeface="黑体"/>
                          <a:cs typeface="黑体"/>
                        </a:rPr>
                        <a:t>Regs[R1]←</a:t>
                      </a:r>
                      <a:r>
                        <a:rPr dirty="0" sz="1800" spc="-5">
                          <a:solidFill>
                            <a:srgbClr val="40458B"/>
                          </a:solidFill>
                          <a:latin typeface="黑体"/>
                          <a:cs typeface="黑体"/>
                        </a:rPr>
                        <a:t> </a:t>
                      </a:r>
                      <a:r>
                        <a:rPr dirty="0" sz="1800">
                          <a:solidFill>
                            <a:srgbClr val="40458B"/>
                          </a:solidFill>
                          <a:latin typeface="黑体"/>
                          <a:cs typeface="黑体"/>
                        </a:rPr>
                        <a:t>0</a:t>
                      </a:r>
                      <a:r>
                        <a:rPr dirty="0" baseline="25462" sz="1800">
                          <a:solidFill>
                            <a:srgbClr val="40458B"/>
                          </a:solidFill>
                          <a:latin typeface="黑体"/>
                          <a:cs typeface="黑体"/>
                        </a:rPr>
                        <a:t>32</a:t>
                      </a:r>
                      <a:r>
                        <a:rPr dirty="0" baseline="25462" sz="1800" spc="450">
                          <a:solidFill>
                            <a:srgbClr val="40458B"/>
                          </a:solidFill>
                          <a:latin typeface="黑体"/>
                          <a:cs typeface="黑体"/>
                        </a:rPr>
                        <a:t> </a:t>
                      </a:r>
                      <a:r>
                        <a:rPr dirty="0" sz="1800">
                          <a:solidFill>
                            <a:srgbClr val="40458B"/>
                          </a:solidFill>
                          <a:latin typeface="黑体"/>
                          <a:cs typeface="黑体"/>
                        </a:rPr>
                        <a:t>## 4 ## </a:t>
                      </a:r>
                      <a:r>
                        <a:rPr dirty="0" sz="1800" spc="-25">
                          <a:solidFill>
                            <a:srgbClr val="40458B"/>
                          </a:solidFill>
                          <a:latin typeface="黑体"/>
                          <a:cs typeface="黑体"/>
                        </a:rPr>
                        <a:t>0</a:t>
                      </a:r>
                      <a:r>
                        <a:rPr dirty="0" baseline="25462" sz="1800" spc="-37">
                          <a:solidFill>
                            <a:srgbClr val="40458B"/>
                          </a:solidFill>
                          <a:latin typeface="黑体"/>
                          <a:cs typeface="黑体"/>
                        </a:rPr>
                        <a:t>16</a:t>
                      </a:r>
                      <a:endParaRPr baseline="25462" sz="1800">
                        <a:latin typeface="黑体"/>
                        <a:cs typeface="黑体"/>
                      </a:endParaRPr>
                    </a:p>
                    <a:p>
                      <a:pPr marL="92075" marR="258445">
                        <a:lnSpc>
                          <a:spcPct val="120000"/>
                        </a:lnSpc>
                        <a:spcBef>
                          <a:spcPts val="430"/>
                        </a:spcBef>
                      </a:pPr>
                      <a:r>
                        <a:rPr dirty="0" sz="1800">
                          <a:solidFill>
                            <a:srgbClr val="FF0000"/>
                          </a:solidFill>
                          <a:latin typeface="黑体"/>
                          <a:cs typeface="黑体"/>
                        </a:rPr>
                        <a:t>把一个16</a:t>
                      </a:r>
                      <a:r>
                        <a:rPr dirty="0" sz="1800" spc="-5">
                          <a:solidFill>
                            <a:srgbClr val="FF0000"/>
                          </a:solidFill>
                          <a:latin typeface="黑体"/>
                          <a:cs typeface="黑体"/>
                        </a:rPr>
                        <a:t>位的立即数装入到寄存</a:t>
                      </a:r>
                      <a:r>
                        <a:rPr dirty="0" sz="1800">
                          <a:solidFill>
                            <a:srgbClr val="FF0000"/>
                          </a:solidFill>
                          <a:latin typeface="黑体"/>
                          <a:cs typeface="黑体"/>
                        </a:rPr>
                        <a:t>器的高16位，低16位补</a:t>
                      </a:r>
                      <a:r>
                        <a:rPr dirty="0" sz="1800" spc="-50">
                          <a:solidFill>
                            <a:srgbClr val="FF0000"/>
                          </a:solidFill>
                          <a:latin typeface="黑体"/>
                          <a:cs typeface="黑体"/>
                        </a:rPr>
                        <a:t>0</a:t>
                      </a:r>
                      <a:endParaRPr sz="1800">
                        <a:latin typeface="黑体"/>
                        <a:cs typeface="黑体"/>
                      </a:endParaRPr>
                    </a:p>
                  </a:txBody>
                  <a:tcPr marL="0" marR="0" marB="0" marT="6413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748030">
                <a:tc>
                  <a:txBody>
                    <a:bodyPr/>
                    <a:lstStyle/>
                    <a:p>
                      <a:pPr marL="91440">
                        <a:lnSpc>
                          <a:spcPct val="100000"/>
                        </a:lnSpc>
                        <a:spcBef>
                          <a:spcPts val="505"/>
                        </a:spcBef>
                        <a:tabLst>
                          <a:tab pos="1005840" algn="l"/>
                        </a:tabLst>
                      </a:pPr>
                      <a:r>
                        <a:rPr dirty="0" sz="1800" spc="-20">
                          <a:solidFill>
                            <a:srgbClr val="40458B"/>
                          </a:solidFill>
                          <a:latin typeface="黑体"/>
                          <a:cs typeface="黑体"/>
                        </a:rPr>
                        <a:t>DSLL</a:t>
                      </a:r>
                      <a:r>
                        <a:rPr dirty="0" sz="1800">
                          <a:solidFill>
                            <a:srgbClr val="40458B"/>
                          </a:solidFill>
                          <a:latin typeface="黑体"/>
                          <a:cs typeface="黑体"/>
                        </a:rPr>
                        <a:t>	</a:t>
                      </a:r>
                      <a:r>
                        <a:rPr dirty="0" sz="1800" spc="-10">
                          <a:solidFill>
                            <a:srgbClr val="40458B"/>
                          </a:solidFill>
                          <a:latin typeface="黑体"/>
                          <a:cs typeface="黑体"/>
                        </a:rPr>
                        <a:t>R1，R2，#5</a:t>
                      </a:r>
                      <a:endParaRPr sz="1800">
                        <a:latin typeface="黑体"/>
                        <a:cs typeface="黑体"/>
                      </a:endParaRPr>
                    </a:p>
                  </a:txBody>
                  <a:tcPr marL="0" marR="0" marB="0" marT="6413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marR="280670">
                        <a:lnSpc>
                          <a:spcPct val="120000"/>
                        </a:lnSpc>
                        <a:spcBef>
                          <a:spcPts val="75"/>
                        </a:spcBef>
                      </a:pPr>
                      <a:r>
                        <a:rPr dirty="0" sz="1800" spc="-25">
                          <a:solidFill>
                            <a:srgbClr val="40458B"/>
                          </a:solidFill>
                          <a:latin typeface="黑体"/>
                          <a:cs typeface="黑体"/>
                        </a:rPr>
                        <a:t>双字逻辑左移 ，同</a:t>
                      </a:r>
                      <a:r>
                        <a:rPr dirty="0" sz="1800" spc="-20">
                          <a:solidFill>
                            <a:srgbClr val="40458B"/>
                          </a:solidFill>
                          <a:latin typeface="黑体"/>
                          <a:cs typeface="黑体"/>
                        </a:rPr>
                        <a:t>理右移</a:t>
                      </a:r>
                      <a:endParaRPr sz="1800">
                        <a:latin typeface="黑体"/>
                        <a:cs typeface="黑体"/>
                      </a:endParaRPr>
                    </a:p>
                  </a:txBody>
                  <a:tcPr marL="0" marR="0" marB="0" marT="95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pPr>
                      <a:r>
                        <a:rPr dirty="0" sz="1800">
                          <a:solidFill>
                            <a:srgbClr val="40458B"/>
                          </a:solidFill>
                          <a:latin typeface="黑体"/>
                          <a:cs typeface="黑体"/>
                        </a:rPr>
                        <a:t>Regs[R1]← </a:t>
                      </a:r>
                      <a:r>
                        <a:rPr dirty="0" sz="1800" spc="-10">
                          <a:solidFill>
                            <a:srgbClr val="40458B"/>
                          </a:solidFill>
                          <a:latin typeface="黑体"/>
                          <a:cs typeface="黑体"/>
                        </a:rPr>
                        <a:t>Regs[R2]&lt;&lt;5</a:t>
                      </a:r>
                      <a:endParaRPr sz="1800">
                        <a:latin typeface="黑体"/>
                        <a:cs typeface="黑体"/>
                      </a:endParaRPr>
                    </a:p>
                  </a:txBody>
                  <a:tcPr marL="0" marR="0" marB="0" marT="6413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1068705">
                <a:tc>
                  <a:txBody>
                    <a:bodyPr/>
                    <a:lstStyle/>
                    <a:p>
                      <a:pPr marL="91440">
                        <a:lnSpc>
                          <a:spcPct val="100000"/>
                        </a:lnSpc>
                        <a:spcBef>
                          <a:spcPts val="505"/>
                        </a:spcBef>
                        <a:tabLst>
                          <a:tab pos="1005840" algn="l"/>
                        </a:tabLst>
                      </a:pPr>
                      <a:r>
                        <a:rPr dirty="0" sz="1800" spc="-20">
                          <a:solidFill>
                            <a:srgbClr val="40458B"/>
                          </a:solidFill>
                          <a:latin typeface="黑体"/>
                          <a:cs typeface="黑体"/>
                        </a:rPr>
                        <a:t>DSLT</a:t>
                      </a:r>
                      <a:r>
                        <a:rPr dirty="0" sz="1800">
                          <a:solidFill>
                            <a:srgbClr val="40458B"/>
                          </a:solidFill>
                          <a:latin typeface="黑体"/>
                          <a:cs typeface="黑体"/>
                        </a:rPr>
                        <a:t>	</a:t>
                      </a:r>
                      <a:r>
                        <a:rPr dirty="0" sz="1800" spc="-10">
                          <a:solidFill>
                            <a:srgbClr val="40458B"/>
                          </a:solidFill>
                          <a:latin typeface="黑体"/>
                          <a:cs typeface="黑体"/>
                        </a:rPr>
                        <a:t>R1，R2，R3</a:t>
                      </a:r>
                      <a:endParaRPr sz="1800">
                        <a:latin typeface="黑体"/>
                        <a:cs typeface="黑体"/>
                      </a:endParaRPr>
                    </a:p>
                  </a:txBody>
                  <a:tcPr marL="0" marR="0" marB="0" marT="64135">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1440">
                        <a:lnSpc>
                          <a:spcPct val="100000"/>
                        </a:lnSpc>
                        <a:spcBef>
                          <a:spcPts val="505"/>
                        </a:spcBef>
                      </a:pPr>
                      <a:r>
                        <a:rPr dirty="0" sz="1800" spc="-25">
                          <a:solidFill>
                            <a:srgbClr val="40458B"/>
                          </a:solidFill>
                          <a:latin typeface="黑体"/>
                          <a:cs typeface="黑体"/>
                        </a:rPr>
                        <a:t>置小于</a:t>
                      </a:r>
                      <a:endParaRPr sz="1800">
                        <a:latin typeface="黑体"/>
                        <a:cs typeface="黑体"/>
                      </a:endParaRPr>
                    </a:p>
                  </a:txBody>
                  <a:tcPr marL="0" marR="0" marB="0" marT="6413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00000"/>
                        </a:lnSpc>
                        <a:spcBef>
                          <a:spcPts val="505"/>
                        </a:spcBef>
                      </a:pPr>
                      <a:r>
                        <a:rPr dirty="0" sz="1800">
                          <a:solidFill>
                            <a:srgbClr val="40458B"/>
                          </a:solidFill>
                          <a:latin typeface="黑体"/>
                          <a:cs typeface="黑体"/>
                        </a:rPr>
                        <a:t>If(Regs[R2]&lt;</a:t>
                      </a:r>
                      <a:r>
                        <a:rPr dirty="0" sz="1800" spc="-60">
                          <a:solidFill>
                            <a:srgbClr val="40458B"/>
                          </a:solidFill>
                          <a:latin typeface="黑体"/>
                          <a:cs typeface="黑体"/>
                        </a:rPr>
                        <a:t> </a:t>
                      </a:r>
                      <a:r>
                        <a:rPr dirty="0" sz="1800" spc="-10">
                          <a:solidFill>
                            <a:srgbClr val="40458B"/>
                          </a:solidFill>
                          <a:latin typeface="黑体"/>
                          <a:cs typeface="黑体"/>
                        </a:rPr>
                        <a:t>Regs[R3])</a:t>
                      </a:r>
                      <a:endParaRPr sz="1800">
                        <a:latin typeface="黑体"/>
                        <a:cs typeface="黑体"/>
                      </a:endParaRPr>
                    </a:p>
                    <a:p>
                      <a:pPr marL="92075">
                        <a:lnSpc>
                          <a:spcPct val="100000"/>
                        </a:lnSpc>
                        <a:spcBef>
                          <a:spcPts val="865"/>
                        </a:spcBef>
                      </a:pPr>
                      <a:r>
                        <a:rPr dirty="0" sz="1800">
                          <a:solidFill>
                            <a:srgbClr val="40458B"/>
                          </a:solidFill>
                          <a:latin typeface="黑体"/>
                          <a:cs typeface="黑体"/>
                        </a:rPr>
                        <a:t>Regs[R1]← 1 else </a:t>
                      </a:r>
                      <a:r>
                        <a:rPr dirty="0" sz="1800" spc="-10">
                          <a:solidFill>
                            <a:srgbClr val="40458B"/>
                          </a:solidFill>
                          <a:latin typeface="黑体"/>
                          <a:cs typeface="黑体"/>
                        </a:rPr>
                        <a:t>Regs[R1]←0</a:t>
                      </a:r>
                      <a:endParaRPr sz="1800">
                        <a:latin typeface="黑体"/>
                        <a:cs typeface="黑体"/>
                      </a:endParaRPr>
                    </a:p>
                  </a:txBody>
                  <a:tcPr marL="0" marR="0" marB="0" marT="64135">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solidFill>
                  <a:srgbClr val="4F55AC"/>
                </a:solidFill>
              </a:rPr>
              <a:t>	2.6.5</a:t>
            </a:r>
            <a:r>
              <a:rPr dirty="0" spc="-40">
                <a:solidFill>
                  <a:srgbClr val="4F55AC"/>
                </a:solidFill>
              </a:rPr>
              <a:t> </a:t>
            </a:r>
            <a:r>
              <a:rPr dirty="0">
                <a:solidFill>
                  <a:srgbClr val="4F55AC"/>
                </a:solidFill>
              </a:rPr>
              <a:t>MIPS</a:t>
            </a:r>
            <a:r>
              <a:rPr dirty="0" spc="-10">
                <a:solidFill>
                  <a:srgbClr val="4F55AC"/>
                </a:solidFill>
                <a:latin typeface="微软雅黑"/>
                <a:cs typeface="微软雅黑"/>
              </a:rPr>
              <a:t>指令操</a:t>
            </a:r>
            <a:r>
              <a:rPr dirty="0" spc="-50">
                <a:solidFill>
                  <a:srgbClr val="4F55AC"/>
                </a:solidFill>
                <a:latin typeface="微软雅黑"/>
                <a:cs typeface="微软雅黑"/>
              </a:rPr>
              <a:t>作</a:t>
            </a:r>
            <a:r>
              <a:rPr dirty="0">
                <a:solidFill>
                  <a:srgbClr val="4F55AC"/>
                </a:solidFill>
                <a:latin typeface="微软雅黑"/>
                <a:cs typeface="微软雅黑"/>
              </a:rPr>
              <a:t>	</a:t>
            </a:r>
          </a:p>
        </p:txBody>
      </p:sp>
      <p:sp>
        <p:nvSpPr>
          <p:cNvPr id="4" name="object 4" descr=""/>
          <p:cNvSpPr txBox="1"/>
          <p:nvPr/>
        </p:nvSpPr>
        <p:spPr>
          <a:xfrm>
            <a:off x="2627757" y="1039520"/>
            <a:ext cx="6311900" cy="2865120"/>
          </a:xfrm>
          <a:prstGeom prst="rect">
            <a:avLst/>
          </a:prstGeom>
        </p:spPr>
        <p:txBody>
          <a:bodyPr wrap="square" lIns="0" tIns="12700" rIns="0" bIns="0" rtlCol="0" vert="horz">
            <a:spAutoFit/>
          </a:bodyPr>
          <a:lstStyle/>
          <a:p>
            <a:pPr marL="12700" marR="5080">
              <a:lnSpc>
                <a:spcPct val="150000"/>
              </a:lnSpc>
              <a:spcBef>
                <a:spcPts val="100"/>
              </a:spcBef>
            </a:pPr>
            <a:r>
              <a:rPr dirty="0" sz="2200" spc="-10">
                <a:solidFill>
                  <a:srgbClr val="006FC0"/>
                </a:solidFill>
                <a:latin typeface="黑体"/>
                <a:cs typeface="黑体"/>
              </a:rPr>
              <a:t>R0</a:t>
            </a:r>
            <a:r>
              <a:rPr dirty="0" sz="2200" spc="-30">
                <a:solidFill>
                  <a:srgbClr val="006FC0"/>
                </a:solidFill>
                <a:latin typeface="黑体"/>
                <a:cs typeface="黑体"/>
              </a:rPr>
              <a:t>的值永远是</a:t>
            </a:r>
            <a:r>
              <a:rPr dirty="0" sz="2200" spc="-25">
                <a:solidFill>
                  <a:srgbClr val="006FC0"/>
                </a:solidFill>
                <a:latin typeface="黑体"/>
                <a:cs typeface="黑体"/>
              </a:rPr>
              <a:t>0</a:t>
            </a:r>
            <a:r>
              <a:rPr dirty="0" sz="2200" spc="-35">
                <a:solidFill>
                  <a:srgbClr val="006FC0"/>
                </a:solidFill>
                <a:latin typeface="黑体"/>
                <a:cs typeface="黑体"/>
              </a:rPr>
              <a:t>，它可以用来合成一些常用的操作。</a:t>
            </a:r>
            <a:r>
              <a:rPr dirty="0" sz="2200" spc="-40">
                <a:solidFill>
                  <a:srgbClr val="E14B04"/>
                </a:solidFill>
                <a:latin typeface="黑体"/>
                <a:cs typeface="黑体"/>
              </a:rPr>
              <a:t>例如：</a:t>
            </a:r>
            <a:endParaRPr sz="2200">
              <a:latin typeface="黑体"/>
              <a:cs typeface="黑体"/>
            </a:endParaRPr>
          </a:p>
          <a:p>
            <a:pPr marL="320040">
              <a:lnSpc>
                <a:spcPct val="100000"/>
              </a:lnSpc>
              <a:spcBef>
                <a:spcPts val="1235"/>
              </a:spcBef>
            </a:pPr>
            <a:r>
              <a:rPr dirty="0" sz="2000" b="1">
                <a:solidFill>
                  <a:srgbClr val="008000"/>
                </a:solidFill>
                <a:latin typeface="宋体"/>
                <a:cs typeface="宋体"/>
              </a:rPr>
              <a:t>DADDIU</a:t>
            </a:r>
            <a:r>
              <a:rPr dirty="0" sz="2000" spc="-65" b="1">
                <a:solidFill>
                  <a:srgbClr val="008000"/>
                </a:solidFill>
                <a:latin typeface="宋体"/>
                <a:cs typeface="宋体"/>
              </a:rPr>
              <a:t> </a:t>
            </a:r>
            <a:r>
              <a:rPr dirty="0" sz="2000" spc="-10" b="1">
                <a:solidFill>
                  <a:srgbClr val="008000"/>
                </a:solidFill>
                <a:latin typeface="宋体"/>
                <a:cs typeface="宋体"/>
              </a:rPr>
              <a:t>R1</a:t>
            </a:r>
            <a:r>
              <a:rPr dirty="0" sz="2000" spc="-10" b="1">
                <a:solidFill>
                  <a:srgbClr val="008000"/>
                </a:solidFill>
                <a:latin typeface="黑体"/>
                <a:cs typeface="黑体"/>
              </a:rPr>
              <a:t>，</a:t>
            </a:r>
            <a:r>
              <a:rPr dirty="0" sz="2000" spc="-10" b="1">
                <a:solidFill>
                  <a:srgbClr val="008000"/>
                </a:solidFill>
                <a:latin typeface="宋体"/>
                <a:cs typeface="宋体"/>
              </a:rPr>
              <a:t>R0</a:t>
            </a:r>
            <a:r>
              <a:rPr dirty="0" sz="2000" spc="-10" b="1">
                <a:solidFill>
                  <a:srgbClr val="008000"/>
                </a:solidFill>
                <a:latin typeface="黑体"/>
                <a:cs typeface="黑体"/>
              </a:rPr>
              <a:t>，</a:t>
            </a:r>
            <a:r>
              <a:rPr dirty="0" sz="2000" spc="-10" b="1">
                <a:solidFill>
                  <a:srgbClr val="008000"/>
                </a:solidFill>
                <a:latin typeface="宋体"/>
                <a:cs typeface="宋体"/>
              </a:rPr>
              <a:t>#100</a:t>
            </a:r>
            <a:endParaRPr sz="2000">
              <a:latin typeface="宋体"/>
              <a:cs typeface="宋体"/>
            </a:endParaRPr>
          </a:p>
          <a:p>
            <a:pPr marL="320040" marR="1490980" indent="1801495">
              <a:lnSpc>
                <a:spcPct val="150000"/>
              </a:lnSpc>
            </a:pPr>
            <a:r>
              <a:rPr dirty="0" sz="2000" spc="-10" b="1">
                <a:solidFill>
                  <a:srgbClr val="6F2F9F"/>
                </a:solidFill>
                <a:latin typeface="黑体"/>
                <a:cs typeface="黑体"/>
              </a:rPr>
              <a:t>给寄存器</a:t>
            </a:r>
            <a:r>
              <a:rPr dirty="0" sz="2000" spc="-10" b="1">
                <a:solidFill>
                  <a:srgbClr val="6F2F9F"/>
                </a:solidFill>
                <a:latin typeface="宋体"/>
                <a:cs typeface="宋体"/>
              </a:rPr>
              <a:t>R1</a:t>
            </a:r>
            <a:r>
              <a:rPr dirty="0" sz="2000" spc="-15" b="1">
                <a:solidFill>
                  <a:srgbClr val="6F2F9F"/>
                </a:solidFill>
                <a:latin typeface="黑体"/>
                <a:cs typeface="黑体"/>
              </a:rPr>
              <a:t>装入常数</a:t>
            </a:r>
            <a:r>
              <a:rPr dirty="0" sz="2000" spc="-25" b="1">
                <a:solidFill>
                  <a:srgbClr val="6F2F9F"/>
                </a:solidFill>
                <a:latin typeface="宋体"/>
                <a:cs typeface="宋体"/>
              </a:rPr>
              <a:t>100 </a:t>
            </a:r>
            <a:r>
              <a:rPr dirty="0" sz="2000" b="1">
                <a:solidFill>
                  <a:srgbClr val="008000"/>
                </a:solidFill>
                <a:latin typeface="宋体"/>
                <a:cs typeface="宋体"/>
              </a:rPr>
              <a:t>DADD</a:t>
            </a:r>
            <a:r>
              <a:rPr dirty="0" sz="2000" spc="-45" b="1">
                <a:solidFill>
                  <a:srgbClr val="008000"/>
                </a:solidFill>
                <a:latin typeface="宋体"/>
                <a:cs typeface="宋体"/>
              </a:rPr>
              <a:t> </a:t>
            </a:r>
            <a:r>
              <a:rPr dirty="0" sz="2000" spc="-10" b="1">
                <a:solidFill>
                  <a:srgbClr val="008000"/>
                </a:solidFill>
                <a:latin typeface="宋体"/>
                <a:cs typeface="宋体"/>
              </a:rPr>
              <a:t>R1</a:t>
            </a:r>
            <a:r>
              <a:rPr dirty="0" sz="2000" spc="-10" b="1">
                <a:solidFill>
                  <a:srgbClr val="008000"/>
                </a:solidFill>
                <a:latin typeface="黑体"/>
                <a:cs typeface="黑体"/>
              </a:rPr>
              <a:t>，</a:t>
            </a:r>
            <a:r>
              <a:rPr dirty="0" sz="2000" spc="-10" b="1">
                <a:solidFill>
                  <a:srgbClr val="008000"/>
                </a:solidFill>
                <a:latin typeface="宋体"/>
                <a:cs typeface="宋体"/>
              </a:rPr>
              <a:t>R0</a:t>
            </a:r>
            <a:r>
              <a:rPr dirty="0" sz="2000" spc="-10" b="1">
                <a:solidFill>
                  <a:srgbClr val="008000"/>
                </a:solidFill>
                <a:latin typeface="黑体"/>
                <a:cs typeface="黑体"/>
              </a:rPr>
              <a:t>，</a:t>
            </a:r>
            <a:r>
              <a:rPr dirty="0" sz="2000" spc="-10" b="1">
                <a:solidFill>
                  <a:srgbClr val="008000"/>
                </a:solidFill>
                <a:latin typeface="宋体"/>
                <a:cs typeface="宋体"/>
              </a:rPr>
              <a:t>R2</a:t>
            </a:r>
            <a:endParaRPr sz="2000">
              <a:latin typeface="宋体"/>
              <a:cs typeface="宋体"/>
            </a:endParaRPr>
          </a:p>
          <a:p>
            <a:pPr marL="2122170">
              <a:lnSpc>
                <a:spcPct val="100000"/>
              </a:lnSpc>
              <a:spcBef>
                <a:spcPts val="1200"/>
              </a:spcBef>
            </a:pPr>
            <a:r>
              <a:rPr dirty="0" sz="2000" spc="-10" b="1">
                <a:solidFill>
                  <a:srgbClr val="6F2F9F"/>
                </a:solidFill>
                <a:latin typeface="黑体"/>
                <a:cs typeface="黑体"/>
              </a:rPr>
              <a:t>把寄存器</a:t>
            </a:r>
            <a:r>
              <a:rPr dirty="0" sz="2000" spc="-10" b="1">
                <a:solidFill>
                  <a:srgbClr val="6F2F9F"/>
                </a:solidFill>
                <a:latin typeface="宋体"/>
                <a:cs typeface="宋体"/>
              </a:rPr>
              <a:t>R2</a:t>
            </a:r>
            <a:r>
              <a:rPr dirty="0" sz="2000" spc="-20" b="1">
                <a:solidFill>
                  <a:srgbClr val="6F2F9F"/>
                </a:solidFill>
                <a:latin typeface="黑体"/>
                <a:cs typeface="黑体"/>
              </a:rPr>
              <a:t>中的数据传送到寄存器</a:t>
            </a:r>
            <a:r>
              <a:rPr dirty="0" sz="2000" spc="-25" b="1">
                <a:solidFill>
                  <a:srgbClr val="6F2F9F"/>
                </a:solidFill>
                <a:latin typeface="宋体"/>
                <a:cs typeface="宋体"/>
              </a:rPr>
              <a:t>R1</a:t>
            </a:r>
            <a:endParaRPr sz="2000">
              <a:latin typeface="宋体"/>
              <a:cs typeface="宋体"/>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t>	2.6.6</a:t>
            </a:r>
            <a:r>
              <a:rPr dirty="0" spc="-55"/>
              <a:t> </a:t>
            </a:r>
            <a:r>
              <a:rPr dirty="0"/>
              <a:t>MIPS</a:t>
            </a:r>
            <a:r>
              <a:rPr dirty="0">
                <a:latin typeface="微软雅黑"/>
                <a:cs typeface="微软雅黑"/>
              </a:rPr>
              <a:t>的控制</a:t>
            </a:r>
            <a:r>
              <a:rPr dirty="0" spc="-25">
                <a:latin typeface="微软雅黑"/>
                <a:cs typeface="微软雅黑"/>
              </a:rPr>
              <a:t>指</a:t>
            </a:r>
            <a:r>
              <a:rPr dirty="0" spc="-50">
                <a:latin typeface="微软雅黑"/>
                <a:cs typeface="微软雅黑"/>
              </a:rPr>
              <a:t>令</a:t>
            </a:r>
            <a:r>
              <a:rPr dirty="0">
                <a:latin typeface="微软雅黑"/>
                <a:cs typeface="微软雅黑"/>
              </a:rPr>
              <a:t>	</a:t>
            </a:r>
          </a:p>
        </p:txBody>
      </p:sp>
      <p:sp>
        <p:nvSpPr>
          <p:cNvPr id="4" name="object 4" descr=""/>
          <p:cNvSpPr txBox="1"/>
          <p:nvPr/>
        </p:nvSpPr>
        <p:spPr>
          <a:xfrm>
            <a:off x="2574798" y="2321561"/>
            <a:ext cx="7947659" cy="1228090"/>
          </a:xfrm>
          <a:prstGeom prst="rect">
            <a:avLst/>
          </a:prstGeom>
        </p:spPr>
        <p:txBody>
          <a:bodyPr wrap="square" lIns="0" tIns="134620" rIns="0" bIns="0" rtlCol="0" vert="horz">
            <a:spAutoFit/>
          </a:bodyPr>
          <a:lstStyle/>
          <a:p>
            <a:pPr marL="469265" indent="-456565">
              <a:lnSpc>
                <a:spcPct val="100000"/>
              </a:lnSpc>
              <a:spcBef>
                <a:spcPts val="1060"/>
              </a:spcBef>
              <a:buClr>
                <a:srgbClr val="40458B"/>
              </a:buClr>
              <a:buSzPct val="117857"/>
              <a:buFont typeface="Wingdings"/>
              <a:buChar char=""/>
              <a:tabLst>
                <a:tab pos="469265" algn="l"/>
              </a:tabLst>
            </a:pPr>
            <a:r>
              <a:rPr dirty="0" sz="2800" spc="-40">
                <a:solidFill>
                  <a:srgbClr val="172152"/>
                </a:solidFill>
                <a:latin typeface="黑体"/>
                <a:cs typeface="黑体"/>
              </a:rPr>
              <a:t>由一组跳转和一组分支指令来实现控制流的改变</a:t>
            </a:r>
            <a:endParaRPr sz="2800">
              <a:latin typeface="黑体"/>
              <a:cs typeface="黑体"/>
            </a:endParaRPr>
          </a:p>
          <a:p>
            <a:pPr marL="469265" indent="-456565">
              <a:lnSpc>
                <a:spcPct val="100000"/>
              </a:lnSpc>
              <a:spcBef>
                <a:spcPts val="1680"/>
              </a:spcBef>
              <a:buClr>
                <a:srgbClr val="40458B"/>
              </a:buClr>
              <a:buSzPct val="117857"/>
              <a:buFont typeface="Wingdings"/>
              <a:buChar char=""/>
              <a:tabLst>
                <a:tab pos="469265" algn="l"/>
              </a:tabLst>
            </a:pPr>
            <a:r>
              <a:rPr dirty="0" sz="2800" spc="-30">
                <a:solidFill>
                  <a:srgbClr val="172152"/>
                </a:solidFill>
                <a:latin typeface="黑体"/>
                <a:cs typeface="黑体"/>
              </a:rPr>
              <a:t>典型的</a:t>
            </a:r>
            <a:r>
              <a:rPr dirty="0" sz="2800" spc="-25">
                <a:solidFill>
                  <a:srgbClr val="172152"/>
                </a:solidFill>
                <a:latin typeface="黑体"/>
                <a:cs typeface="黑体"/>
              </a:rPr>
              <a:t>MIPS</a:t>
            </a:r>
            <a:r>
              <a:rPr dirty="0" sz="2800" spc="-40">
                <a:solidFill>
                  <a:srgbClr val="172152"/>
                </a:solidFill>
                <a:latin typeface="黑体"/>
                <a:cs typeface="黑体"/>
              </a:rPr>
              <a:t>控制指令</a:t>
            </a:r>
            <a:endParaRPr sz="2800">
              <a:latin typeface="黑体"/>
              <a:cs typeface="黑体"/>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t>	2.6.6</a:t>
            </a:r>
            <a:r>
              <a:rPr dirty="0" spc="-55"/>
              <a:t> </a:t>
            </a:r>
            <a:r>
              <a:rPr dirty="0"/>
              <a:t>MIPS</a:t>
            </a:r>
            <a:r>
              <a:rPr dirty="0">
                <a:latin typeface="微软雅黑"/>
                <a:cs typeface="微软雅黑"/>
              </a:rPr>
              <a:t>的控制</a:t>
            </a:r>
            <a:r>
              <a:rPr dirty="0" spc="-25">
                <a:latin typeface="微软雅黑"/>
                <a:cs typeface="微软雅黑"/>
              </a:rPr>
              <a:t>指</a:t>
            </a:r>
            <a:r>
              <a:rPr dirty="0" spc="-50">
                <a:latin typeface="微软雅黑"/>
                <a:cs typeface="微软雅黑"/>
              </a:rPr>
              <a:t>令</a:t>
            </a:r>
            <a:r>
              <a:rPr dirty="0">
                <a:latin typeface="微软雅黑"/>
                <a:cs typeface="微软雅黑"/>
              </a:rPr>
              <a:t>	</a:t>
            </a:r>
          </a:p>
        </p:txBody>
      </p:sp>
      <p:pic>
        <p:nvPicPr>
          <p:cNvPr id="4" name="object 4" descr=""/>
          <p:cNvPicPr/>
          <p:nvPr/>
        </p:nvPicPr>
        <p:blipFill>
          <a:blip r:embed="rId2" cstate="print"/>
          <a:stretch>
            <a:fillRect/>
          </a:stretch>
        </p:blipFill>
        <p:spPr>
          <a:xfrm>
            <a:off x="8301637" y="4902327"/>
            <a:ext cx="200025" cy="209550"/>
          </a:xfrm>
          <a:prstGeom prst="rect">
            <a:avLst/>
          </a:prstGeom>
        </p:spPr>
      </p:pic>
      <p:sp>
        <p:nvSpPr>
          <p:cNvPr id="5" name="object 5" descr=""/>
          <p:cNvSpPr txBox="1"/>
          <p:nvPr/>
        </p:nvSpPr>
        <p:spPr>
          <a:xfrm>
            <a:off x="1602994" y="955143"/>
            <a:ext cx="8736330" cy="4540250"/>
          </a:xfrm>
          <a:prstGeom prst="rect">
            <a:avLst/>
          </a:prstGeom>
        </p:spPr>
        <p:txBody>
          <a:bodyPr wrap="square" lIns="0" tIns="90170" rIns="0" bIns="0" rtlCol="0" vert="horz">
            <a:spAutoFit/>
          </a:bodyPr>
          <a:lstStyle/>
          <a:p>
            <a:pPr marL="354965" indent="-342265">
              <a:lnSpc>
                <a:spcPct val="100000"/>
              </a:lnSpc>
              <a:spcBef>
                <a:spcPts val="710"/>
              </a:spcBef>
              <a:buClr>
                <a:srgbClr val="40458B"/>
              </a:buClr>
              <a:buSzPct val="114285"/>
              <a:buFont typeface="Wingdings"/>
              <a:buChar char=""/>
              <a:tabLst>
                <a:tab pos="354965" algn="l"/>
              </a:tabLst>
            </a:pPr>
            <a:r>
              <a:rPr dirty="0" sz="2800" spc="-40">
                <a:solidFill>
                  <a:srgbClr val="172152"/>
                </a:solidFill>
                <a:latin typeface="黑体"/>
                <a:cs typeface="黑体"/>
              </a:rPr>
              <a:t>跳转指令</a:t>
            </a:r>
            <a:endParaRPr sz="2800">
              <a:latin typeface="黑体"/>
              <a:cs typeface="黑体"/>
            </a:endParaRPr>
          </a:p>
          <a:p>
            <a:pPr lvl="1" marL="1099185" indent="-457200">
              <a:lnSpc>
                <a:spcPct val="100000"/>
              </a:lnSpc>
              <a:spcBef>
                <a:spcPts val="780"/>
              </a:spcBef>
              <a:buSzPct val="88636"/>
              <a:buFont typeface="Wingdings"/>
              <a:buChar char=""/>
              <a:tabLst>
                <a:tab pos="1099185" algn="l"/>
              </a:tabLst>
            </a:pPr>
            <a:r>
              <a:rPr dirty="0" sz="2200" spc="-35">
                <a:solidFill>
                  <a:srgbClr val="006FC0"/>
                </a:solidFill>
                <a:latin typeface="黑体"/>
                <a:cs typeface="黑体"/>
              </a:rPr>
              <a:t>根据跳转指令确定目标地址的方式不同以及跳转时是否链接，</a:t>
            </a:r>
            <a:endParaRPr sz="2200">
              <a:latin typeface="黑体"/>
              <a:cs typeface="黑体"/>
            </a:endParaRPr>
          </a:p>
          <a:p>
            <a:pPr marL="1099185">
              <a:lnSpc>
                <a:spcPct val="100000"/>
              </a:lnSpc>
              <a:spcBef>
                <a:spcPts val="265"/>
              </a:spcBef>
            </a:pPr>
            <a:r>
              <a:rPr dirty="0" sz="2200" spc="-30">
                <a:solidFill>
                  <a:srgbClr val="006FC0"/>
                </a:solidFill>
                <a:latin typeface="黑体"/>
                <a:cs typeface="黑体"/>
              </a:rPr>
              <a:t>可以把跳转指令分成4</a:t>
            </a:r>
            <a:r>
              <a:rPr dirty="0" sz="2200" spc="-40">
                <a:solidFill>
                  <a:srgbClr val="006FC0"/>
                </a:solidFill>
                <a:latin typeface="黑体"/>
                <a:cs typeface="黑体"/>
              </a:rPr>
              <a:t>种。</a:t>
            </a:r>
            <a:endParaRPr sz="2200">
              <a:latin typeface="黑体"/>
              <a:cs typeface="黑体"/>
            </a:endParaRPr>
          </a:p>
          <a:p>
            <a:pPr lvl="1" marL="1099185" indent="-457200">
              <a:lnSpc>
                <a:spcPct val="100000"/>
              </a:lnSpc>
              <a:spcBef>
                <a:spcPts val="790"/>
              </a:spcBef>
              <a:buSzPct val="88636"/>
              <a:buFont typeface="Wingdings"/>
              <a:buChar char=""/>
              <a:tabLst>
                <a:tab pos="1099185" algn="l"/>
              </a:tabLst>
            </a:pPr>
            <a:r>
              <a:rPr dirty="0" sz="2200" spc="-35">
                <a:solidFill>
                  <a:srgbClr val="006FC0"/>
                </a:solidFill>
                <a:latin typeface="黑体"/>
                <a:cs typeface="黑体"/>
              </a:rPr>
              <a:t>确定目标地址的方式</a:t>
            </a:r>
            <a:endParaRPr sz="2200">
              <a:latin typeface="黑体"/>
              <a:cs typeface="黑体"/>
            </a:endParaRPr>
          </a:p>
          <a:p>
            <a:pPr lvl="2" marL="1307465" indent="-359410">
              <a:lnSpc>
                <a:spcPct val="100000"/>
              </a:lnSpc>
              <a:spcBef>
                <a:spcPts val="740"/>
              </a:spcBef>
              <a:buClr>
                <a:srgbClr val="4668F5"/>
              </a:buClr>
              <a:buSzPct val="72500"/>
              <a:buFont typeface="Wingdings"/>
              <a:buChar char=""/>
              <a:tabLst>
                <a:tab pos="1307465" algn="l"/>
              </a:tabLst>
            </a:pPr>
            <a:r>
              <a:rPr dirty="0" sz="2000" spc="-15" b="1">
                <a:solidFill>
                  <a:srgbClr val="6F2F9F"/>
                </a:solidFill>
                <a:latin typeface="黑体"/>
                <a:cs typeface="黑体"/>
              </a:rPr>
              <a:t>把指令中的</a:t>
            </a:r>
            <a:r>
              <a:rPr dirty="0" sz="2000" spc="-15" b="1">
                <a:solidFill>
                  <a:srgbClr val="9933FF"/>
                </a:solidFill>
                <a:latin typeface="黑体"/>
                <a:cs typeface="黑体"/>
              </a:rPr>
              <a:t>26</a:t>
            </a:r>
            <a:r>
              <a:rPr dirty="0" sz="2000" spc="-20" b="1">
                <a:solidFill>
                  <a:srgbClr val="6F2F9F"/>
                </a:solidFill>
                <a:latin typeface="黑体"/>
                <a:cs typeface="黑体"/>
              </a:rPr>
              <a:t>位偏移量左移</a:t>
            </a:r>
            <a:r>
              <a:rPr dirty="0" sz="2000" spc="-10" b="1">
                <a:solidFill>
                  <a:srgbClr val="9933FF"/>
                </a:solidFill>
                <a:latin typeface="黑体"/>
                <a:cs typeface="黑体"/>
              </a:rPr>
              <a:t>2</a:t>
            </a:r>
            <a:r>
              <a:rPr dirty="0" sz="2000" spc="-10" b="1">
                <a:solidFill>
                  <a:srgbClr val="6F2F9F"/>
                </a:solidFill>
                <a:latin typeface="黑体"/>
                <a:cs typeface="黑体"/>
              </a:rPr>
              <a:t>位（</a:t>
            </a:r>
            <a:r>
              <a:rPr dirty="0" sz="2000" spc="-15" b="1">
                <a:solidFill>
                  <a:srgbClr val="6F2F9F"/>
                </a:solidFill>
                <a:latin typeface="黑体"/>
                <a:cs typeface="黑体"/>
              </a:rPr>
              <a:t>因为指令字长都是</a:t>
            </a:r>
            <a:r>
              <a:rPr dirty="0" sz="2000" spc="-20" b="1">
                <a:solidFill>
                  <a:srgbClr val="6F2F9F"/>
                </a:solidFill>
                <a:latin typeface="黑体"/>
                <a:cs typeface="黑体"/>
              </a:rPr>
              <a:t>4</a:t>
            </a:r>
            <a:r>
              <a:rPr dirty="0" sz="2000" spc="-15" b="1">
                <a:solidFill>
                  <a:srgbClr val="6F2F9F"/>
                </a:solidFill>
                <a:latin typeface="黑体"/>
                <a:cs typeface="黑体"/>
              </a:rPr>
              <a:t>个字节，</a:t>
            </a:r>
            <a:r>
              <a:rPr dirty="0" sz="2000" spc="-40" b="1">
                <a:solidFill>
                  <a:srgbClr val="FF0000"/>
                </a:solidFill>
                <a:latin typeface="黑体"/>
                <a:cs typeface="黑体"/>
              </a:rPr>
              <a:t>联系</a:t>
            </a:r>
            <a:endParaRPr sz="2000">
              <a:latin typeface="黑体"/>
              <a:cs typeface="黑体"/>
            </a:endParaRPr>
          </a:p>
          <a:p>
            <a:pPr marL="1308100">
              <a:lnSpc>
                <a:spcPct val="100000"/>
              </a:lnSpc>
              <a:spcBef>
                <a:spcPts val="245"/>
              </a:spcBef>
            </a:pPr>
            <a:r>
              <a:rPr dirty="0" sz="2000" spc="-20" b="1">
                <a:solidFill>
                  <a:srgbClr val="FF0000"/>
                </a:solidFill>
                <a:latin typeface="黑体"/>
                <a:cs typeface="黑体"/>
              </a:rPr>
              <a:t>哪一部分知识？</a:t>
            </a:r>
            <a:r>
              <a:rPr dirty="0" sz="2000" spc="-10" b="1">
                <a:solidFill>
                  <a:srgbClr val="6F2F9F"/>
                </a:solidFill>
                <a:latin typeface="黑体"/>
                <a:cs typeface="黑体"/>
              </a:rPr>
              <a:t>）</a:t>
            </a:r>
            <a:r>
              <a:rPr dirty="0" sz="2000" spc="-20" b="1">
                <a:solidFill>
                  <a:srgbClr val="6F2F9F"/>
                </a:solidFill>
                <a:latin typeface="黑体"/>
                <a:cs typeface="黑体"/>
              </a:rPr>
              <a:t>后，替换程序计数器的低</a:t>
            </a:r>
            <a:r>
              <a:rPr dirty="0" sz="2000" spc="-15" b="1">
                <a:solidFill>
                  <a:srgbClr val="9933FF"/>
                </a:solidFill>
                <a:latin typeface="黑体"/>
                <a:cs typeface="黑体"/>
              </a:rPr>
              <a:t>28</a:t>
            </a:r>
            <a:r>
              <a:rPr dirty="0" sz="2000" spc="-30" b="1">
                <a:solidFill>
                  <a:srgbClr val="6F2F9F"/>
                </a:solidFill>
                <a:latin typeface="黑体"/>
                <a:cs typeface="黑体"/>
              </a:rPr>
              <a:t>位；</a:t>
            </a:r>
            <a:endParaRPr sz="2000">
              <a:latin typeface="黑体"/>
              <a:cs typeface="黑体"/>
            </a:endParaRPr>
          </a:p>
          <a:p>
            <a:pPr lvl="2" marL="1307465" indent="-359410">
              <a:lnSpc>
                <a:spcPct val="100000"/>
              </a:lnSpc>
              <a:spcBef>
                <a:spcPts val="720"/>
              </a:spcBef>
              <a:buClr>
                <a:srgbClr val="4668F5"/>
              </a:buClr>
              <a:buSzPct val="72500"/>
              <a:buFont typeface="Wingdings"/>
              <a:buChar char=""/>
              <a:tabLst>
                <a:tab pos="1307465" algn="l"/>
              </a:tabLst>
            </a:pPr>
            <a:r>
              <a:rPr dirty="0" sz="2000" spc="-10" b="1">
                <a:solidFill>
                  <a:srgbClr val="FF0000"/>
                </a:solidFill>
                <a:latin typeface="黑体"/>
                <a:cs typeface="黑体"/>
              </a:rPr>
              <a:t>间接跳转</a:t>
            </a:r>
            <a:r>
              <a:rPr dirty="0" sz="2000" spc="-25" b="1">
                <a:solidFill>
                  <a:srgbClr val="6F2F9F"/>
                </a:solidFill>
                <a:latin typeface="黑体"/>
                <a:cs typeface="黑体"/>
              </a:rPr>
              <a:t>：由指令中指定的一个寄存器来给出转移目标地址。</a:t>
            </a:r>
            <a:endParaRPr sz="2000">
              <a:latin typeface="黑体"/>
              <a:cs typeface="黑体"/>
            </a:endParaRPr>
          </a:p>
          <a:p>
            <a:pPr lvl="1" marL="1099185" indent="-457200">
              <a:lnSpc>
                <a:spcPct val="100000"/>
              </a:lnSpc>
              <a:spcBef>
                <a:spcPts val="770"/>
              </a:spcBef>
              <a:buSzPct val="88636"/>
              <a:buFont typeface="Wingdings"/>
              <a:buChar char=""/>
              <a:tabLst>
                <a:tab pos="1099185" algn="l"/>
              </a:tabLst>
            </a:pPr>
            <a:r>
              <a:rPr dirty="0" sz="2200" spc="-35">
                <a:solidFill>
                  <a:srgbClr val="006FC0"/>
                </a:solidFill>
                <a:latin typeface="黑体"/>
                <a:cs typeface="黑体"/>
              </a:rPr>
              <a:t>跳转的两种类型</a:t>
            </a:r>
            <a:endParaRPr sz="2200">
              <a:latin typeface="黑体"/>
              <a:cs typeface="黑体"/>
            </a:endParaRPr>
          </a:p>
          <a:p>
            <a:pPr lvl="2" marL="1307465" indent="-359410">
              <a:lnSpc>
                <a:spcPct val="100000"/>
              </a:lnSpc>
              <a:spcBef>
                <a:spcPts val="745"/>
              </a:spcBef>
              <a:buClr>
                <a:srgbClr val="4668F5"/>
              </a:buClr>
              <a:buSzPct val="72500"/>
              <a:buFont typeface="Wingdings"/>
              <a:buChar char=""/>
              <a:tabLst>
                <a:tab pos="1307465" algn="l"/>
              </a:tabLst>
            </a:pPr>
            <a:r>
              <a:rPr dirty="0" sz="2000" spc="-15" b="1">
                <a:solidFill>
                  <a:srgbClr val="FF0000"/>
                </a:solidFill>
                <a:latin typeface="黑体"/>
                <a:cs typeface="黑体"/>
              </a:rPr>
              <a:t>简单跳转：</a:t>
            </a:r>
            <a:r>
              <a:rPr dirty="0" sz="2000" spc="-25" b="1">
                <a:solidFill>
                  <a:srgbClr val="6F2F9F"/>
                </a:solidFill>
                <a:latin typeface="黑体"/>
                <a:cs typeface="黑体"/>
              </a:rPr>
              <a:t>把目标地址送入程序计数器。</a:t>
            </a:r>
            <a:endParaRPr sz="2000">
              <a:latin typeface="黑体"/>
              <a:cs typeface="黑体"/>
            </a:endParaRPr>
          </a:p>
          <a:p>
            <a:pPr lvl="2" marL="1308100" marR="12700" indent="-360045">
              <a:lnSpc>
                <a:spcPct val="110000"/>
              </a:lnSpc>
              <a:spcBef>
                <a:spcPts val="480"/>
              </a:spcBef>
              <a:buClr>
                <a:srgbClr val="4668F5"/>
              </a:buClr>
              <a:buSzPct val="72500"/>
              <a:buFont typeface="Wingdings"/>
              <a:buChar char=""/>
              <a:tabLst>
                <a:tab pos="1308100" algn="l"/>
                <a:tab pos="6928484" algn="l"/>
              </a:tabLst>
            </a:pPr>
            <a:r>
              <a:rPr dirty="0" sz="2000" spc="-10" b="1">
                <a:solidFill>
                  <a:srgbClr val="FF0000"/>
                </a:solidFill>
                <a:latin typeface="黑体"/>
                <a:cs typeface="黑体"/>
              </a:rPr>
              <a:t>跳转并链</a:t>
            </a:r>
            <a:r>
              <a:rPr dirty="0" sz="2000" spc="-20" b="1">
                <a:solidFill>
                  <a:srgbClr val="FF0000"/>
                </a:solidFill>
                <a:latin typeface="黑体"/>
                <a:cs typeface="黑体"/>
              </a:rPr>
              <a:t>接</a:t>
            </a:r>
            <a:r>
              <a:rPr dirty="0" sz="2000" spc="-10" b="1">
                <a:solidFill>
                  <a:srgbClr val="FF0000"/>
                </a:solidFill>
                <a:latin typeface="黑体"/>
                <a:cs typeface="黑体"/>
              </a:rPr>
              <a:t>：</a:t>
            </a:r>
            <a:r>
              <a:rPr dirty="0" sz="2000" spc="-10" b="1">
                <a:solidFill>
                  <a:srgbClr val="6F2F9F"/>
                </a:solidFill>
                <a:latin typeface="黑体"/>
                <a:cs typeface="黑体"/>
              </a:rPr>
              <a:t>把目标地</a:t>
            </a:r>
            <a:r>
              <a:rPr dirty="0" sz="2000" spc="-20" b="1">
                <a:solidFill>
                  <a:srgbClr val="6F2F9F"/>
                </a:solidFill>
                <a:latin typeface="黑体"/>
                <a:cs typeface="黑体"/>
              </a:rPr>
              <a:t>址送</a:t>
            </a:r>
            <a:r>
              <a:rPr dirty="0" sz="2000" spc="-10" b="1">
                <a:solidFill>
                  <a:srgbClr val="6F2F9F"/>
                </a:solidFill>
                <a:latin typeface="黑体"/>
                <a:cs typeface="黑体"/>
              </a:rPr>
              <a:t>入程序计</a:t>
            </a:r>
            <a:r>
              <a:rPr dirty="0" sz="2000" spc="-20" b="1">
                <a:solidFill>
                  <a:srgbClr val="6F2F9F"/>
                </a:solidFill>
                <a:latin typeface="黑体"/>
                <a:cs typeface="黑体"/>
              </a:rPr>
              <a:t>数器</a:t>
            </a:r>
            <a:r>
              <a:rPr dirty="0" sz="2000" spc="-10" b="1">
                <a:solidFill>
                  <a:srgbClr val="6F2F9F"/>
                </a:solidFill>
                <a:latin typeface="黑体"/>
                <a:cs typeface="黑体"/>
              </a:rPr>
              <a:t>，把</a:t>
            </a:r>
            <a:r>
              <a:rPr dirty="0" sz="2000" spc="-50" b="1">
                <a:solidFill>
                  <a:srgbClr val="6F2F9F"/>
                </a:solidFill>
                <a:latin typeface="黑体"/>
                <a:cs typeface="黑体"/>
              </a:rPr>
              <a:t>返</a:t>
            </a:r>
            <a:r>
              <a:rPr dirty="0" sz="2000" b="1">
                <a:solidFill>
                  <a:srgbClr val="6F2F9F"/>
                </a:solidFill>
                <a:latin typeface="黑体"/>
                <a:cs typeface="黑体"/>
              </a:rPr>
              <a:t>	</a:t>
            </a:r>
            <a:r>
              <a:rPr dirty="0" sz="2000" spc="-20" b="1">
                <a:solidFill>
                  <a:srgbClr val="6F2F9F"/>
                </a:solidFill>
                <a:latin typeface="黑体"/>
                <a:cs typeface="黑体"/>
              </a:rPr>
              <a:t>地址</a:t>
            </a:r>
            <a:r>
              <a:rPr dirty="0" sz="2000" spc="-10" b="1">
                <a:solidFill>
                  <a:srgbClr val="6F2F9F"/>
                </a:solidFill>
                <a:latin typeface="黑体"/>
                <a:cs typeface="黑体"/>
              </a:rPr>
              <a:t>（即顺序</a:t>
            </a:r>
            <a:r>
              <a:rPr dirty="0" sz="2000" spc="-50" b="1">
                <a:solidFill>
                  <a:srgbClr val="6F2F9F"/>
                </a:solidFill>
                <a:latin typeface="黑体"/>
                <a:cs typeface="黑体"/>
              </a:rPr>
              <a:t>下</a:t>
            </a:r>
            <a:r>
              <a:rPr dirty="0" sz="2000" b="1">
                <a:solidFill>
                  <a:srgbClr val="6F2F9F"/>
                </a:solidFill>
                <a:latin typeface="黑体"/>
                <a:cs typeface="黑体"/>
              </a:rPr>
              <a:t>一条</a:t>
            </a:r>
            <a:r>
              <a:rPr dirty="0" sz="2000" spc="-10" b="1">
                <a:solidFill>
                  <a:srgbClr val="6F2F9F"/>
                </a:solidFill>
                <a:latin typeface="黑体"/>
                <a:cs typeface="黑体"/>
              </a:rPr>
              <a:t>指令的</a:t>
            </a:r>
            <a:r>
              <a:rPr dirty="0" sz="2000" spc="-20" b="1">
                <a:solidFill>
                  <a:srgbClr val="6F2F9F"/>
                </a:solidFill>
                <a:latin typeface="黑体"/>
                <a:cs typeface="黑体"/>
              </a:rPr>
              <a:t>地</a:t>
            </a:r>
            <a:r>
              <a:rPr dirty="0" sz="2000" spc="-10" b="1">
                <a:solidFill>
                  <a:srgbClr val="6F2F9F"/>
                </a:solidFill>
                <a:latin typeface="黑体"/>
                <a:cs typeface="黑体"/>
              </a:rPr>
              <a:t>址）</a:t>
            </a:r>
            <a:r>
              <a:rPr dirty="0" sz="2000" spc="-20" b="1">
                <a:solidFill>
                  <a:srgbClr val="6F2F9F"/>
                </a:solidFill>
                <a:latin typeface="黑体"/>
                <a:cs typeface="黑体"/>
              </a:rPr>
              <a:t>放</a:t>
            </a:r>
            <a:r>
              <a:rPr dirty="0" sz="2000" spc="-10" b="1">
                <a:solidFill>
                  <a:srgbClr val="6F2F9F"/>
                </a:solidFill>
                <a:latin typeface="黑体"/>
                <a:cs typeface="黑体"/>
              </a:rPr>
              <a:t>入寄存</a:t>
            </a:r>
            <a:r>
              <a:rPr dirty="0" sz="2000" b="1">
                <a:solidFill>
                  <a:srgbClr val="6F2F9F"/>
                </a:solidFill>
                <a:latin typeface="黑体"/>
                <a:cs typeface="黑体"/>
              </a:rPr>
              <a:t>器</a:t>
            </a:r>
            <a:r>
              <a:rPr dirty="0" sz="2000" spc="-20" b="1">
                <a:solidFill>
                  <a:srgbClr val="9933FF"/>
                </a:solidFill>
                <a:latin typeface="宋体"/>
                <a:cs typeface="宋体"/>
              </a:rPr>
              <a:t>R31</a:t>
            </a:r>
            <a:r>
              <a:rPr dirty="0" sz="2000" spc="-50" b="1">
                <a:solidFill>
                  <a:srgbClr val="6F2F9F"/>
                </a:solidFill>
                <a:latin typeface="黑体"/>
                <a:cs typeface="黑体"/>
              </a:rPr>
              <a:t>。</a:t>
            </a:r>
            <a:endParaRPr sz="2000">
              <a:latin typeface="黑体"/>
              <a:cs typeface="黑体"/>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833562" y="1038288"/>
          <a:ext cx="8745855" cy="5803265"/>
        </p:xfrm>
        <a:graphic>
          <a:graphicData uri="http://schemas.openxmlformats.org/drawingml/2006/table">
            <a:tbl>
              <a:tblPr firstRow="1" bandRow="1">
                <a:tableStyleId>{2D5ABB26-0587-4C30-8999-92F81FD0307C}</a:tableStyleId>
              </a:tblPr>
              <a:tblGrid>
                <a:gridCol w="2305050"/>
                <a:gridCol w="2087879"/>
                <a:gridCol w="4248150"/>
              </a:tblGrid>
              <a:tr h="497205">
                <a:tc>
                  <a:txBody>
                    <a:bodyPr/>
                    <a:lstStyle/>
                    <a:p>
                      <a:pPr marL="641985">
                        <a:lnSpc>
                          <a:spcPct val="100000"/>
                        </a:lnSpc>
                        <a:spcBef>
                          <a:spcPts val="515"/>
                        </a:spcBef>
                      </a:pPr>
                      <a:r>
                        <a:rPr dirty="0" sz="2000" spc="-15">
                          <a:solidFill>
                            <a:srgbClr val="E14B04"/>
                          </a:solidFill>
                          <a:latin typeface="黑体"/>
                          <a:cs typeface="黑体"/>
                        </a:rPr>
                        <a:t>指令举例</a:t>
                      </a:r>
                      <a:endParaRPr sz="2000">
                        <a:latin typeface="黑体"/>
                        <a:cs typeface="黑体"/>
                      </a:endParaRPr>
                    </a:p>
                  </a:txBody>
                  <a:tcPr marL="0" marR="0" marB="0" marT="6540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532765">
                        <a:lnSpc>
                          <a:spcPct val="100000"/>
                        </a:lnSpc>
                        <a:spcBef>
                          <a:spcPts val="515"/>
                        </a:spcBef>
                      </a:pPr>
                      <a:r>
                        <a:rPr dirty="0" sz="2000" spc="-15">
                          <a:solidFill>
                            <a:srgbClr val="E14B04"/>
                          </a:solidFill>
                          <a:latin typeface="黑体"/>
                          <a:cs typeface="黑体"/>
                        </a:rPr>
                        <a:t>指令名称</a:t>
                      </a:r>
                      <a:endParaRPr sz="2000">
                        <a:latin typeface="黑体"/>
                        <a:cs typeface="黑体"/>
                      </a:endParaRPr>
                    </a:p>
                  </a:txBody>
                  <a:tcPr marL="0" marR="0" marB="0" marT="6540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635">
                        <a:lnSpc>
                          <a:spcPct val="100000"/>
                        </a:lnSpc>
                        <a:spcBef>
                          <a:spcPts val="515"/>
                        </a:spcBef>
                      </a:pPr>
                      <a:r>
                        <a:rPr dirty="0" sz="2000" spc="-25">
                          <a:solidFill>
                            <a:srgbClr val="E14B04"/>
                          </a:solidFill>
                          <a:latin typeface="黑体"/>
                          <a:cs typeface="黑体"/>
                        </a:rPr>
                        <a:t>含义</a:t>
                      </a:r>
                      <a:endParaRPr sz="2000">
                        <a:latin typeface="黑体"/>
                        <a:cs typeface="黑体"/>
                      </a:endParaRPr>
                    </a:p>
                  </a:txBody>
                  <a:tcPr marL="0" marR="0" marB="0" marT="6540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803275">
                <a:tc>
                  <a:txBody>
                    <a:bodyPr/>
                    <a:lstStyle/>
                    <a:p>
                      <a:pPr marL="91440">
                        <a:lnSpc>
                          <a:spcPct val="100000"/>
                        </a:lnSpc>
                        <a:spcBef>
                          <a:spcPts val="500"/>
                        </a:spcBef>
                        <a:tabLst>
                          <a:tab pos="662940" algn="l"/>
                        </a:tabLst>
                      </a:pPr>
                      <a:r>
                        <a:rPr dirty="0" sz="1800" spc="-50">
                          <a:solidFill>
                            <a:srgbClr val="40458B"/>
                          </a:solidFill>
                          <a:latin typeface="黑体"/>
                          <a:cs typeface="黑体"/>
                        </a:rPr>
                        <a:t>J</a:t>
                      </a:r>
                      <a:r>
                        <a:rPr dirty="0" sz="1800">
                          <a:solidFill>
                            <a:srgbClr val="40458B"/>
                          </a:solidFill>
                          <a:latin typeface="黑体"/>
                          <a:cs typeface="黑体"/>
                        </a:rPr>
                        <a:t>	</a:t>
                      </a:r>
                      <a:r>
                        <a:rPr dirty="0" sz="1800" spc="-20">
                          <a:solidFill>
                            <a:srgbClr val="40458B"/>
                          </a:solidFill>
                          <a:latin typeface="黑体"/>
                          <a:cs typeface="黑体"/>
                        </a:rPr>
                        <a:t>name</a:t>
                      </a:r>
                      <a:endParaRPr sz="1800">
                        <a:latin typeface="黑体"/>
                        <a:cs typeface="黑体"/>
                      </a:endParaRPr>
                    </a:p>
                  </a:txBody>
                  <a:tcPr marL="0" marR="0" marB="0" marT="6350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273050">
                        <a:lnSpc>
                          <a:spcPct val="120000"/>
                        </a:lnSpc>
                        <a:spcBef>
                          <a:spcPts val="70"/>
                        </a:spcBef>
                      </a:pPr>
                      <a:r>
                        <a:rPr dirty="0" sz="1800" spc="-40">
                          <a:solidFill>
                            <a:srgbClr val="40458B"/>
                          </a:solidFill>
                          <a:latin typeface="黑体"/>
                          <a:cs typeface="黑体"/>
                        </a:rPr>
                        <a:t>跳转 ，</a:t>
                      </a:r>
                      <a:r>
                        <a:rPr dirty="0" sz="1800" spc="-15">
                          <a:solidFill>
                            <a:srgbClr val="FF0000"/>
                          </a:solidFill>
                          <a:latin typeface="黑体"/>
                          <a:cs typeface="黑体"/>
                        </a:rPr>
                        <a:t>无条件跳</a:t>
                      </a:r>
                      <a:r>
                        <a:rPr dirty="0" sz="1800" spc="-20">
                          <a:solidFill>
                            <a:srgbClr val="FF0000"/>
                          </a:solidFill>
                          <a:latin typeface="黑体"/>
                          <a:cs typeface="黑体"/>
                        </a:rPr>
                        <a:t>转指令</a:t>
                      </a:r>
                      <a:endParaRPr sz="1800">
                        <a:latin typeface="黑体"/>
                        <a:cs typeface="黑体"/>
                      </a:endParaRPr>
                    </a:p>
                  </a:txBody>
                  <a:tcPr marL="0" marR="0" marB="0" marT="88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0"/>
                        </a:spcBef>
                      </a:pPr>
                      <a:r>
                        <a:rPr dirty="0" sz="1800">
                          <a:solidFill>
                            <a:srgbClr val="40458B"/>
                          </a:solidFill>
                          <a:latin typeface="黑体"/>
                          <a:cs typeface="黑体"/>
                        </a:rPr>
                        <a:t>PC</a:t>
                      </a:r>
                      <a:r>
                        <a:rPr dirty="0" sz="1800" spc="-10">
                          <a:solidFill>
                            <a:srgbClr val="40458B"/>
                          </a:solidFill>
                          <a:latin typeface="黑体"/>
                          <a:cs typeface="黑体"/>
                        </a:rPr>
                        <a:t> </a:t>
                      </a:r>
                      <a:r>
                        <a:rPr dirty="0" baseline="-20833" sz="1800">
                          <a:solidFill>
                            <a:srgbClr val="40458B"/>
                          </a:solidFill>
                          <a:latin typeface="黑体"/>
                          <a:cs typeface="黑体"/>
                        </a:rPr>
                        <a:t>36</a:t>
                      </a:r>
                      <a:r>
                        <a:rPr dirty="0" baseline="-20833" sz="1800">
                          <a:solidFill>
                            <a:srgbClr val="40458B"/>
                          </a:solidFill>
                          <a:latin typeface="Times New Roman"/>
                          <a:cs typeface="Times New Roman"/>
                        </a:rPr>
                        <a:t>··</a:t>
                      </a:r>
                      <a:r>
                        <a:rPr dirty="0" baseline="-20833" sz="1800">
                          <a:solidFill>
                            <a:srgbClr val="40458B"/>
                          </a:solidFill>
                          <a:latin typeface="黑体"/>
                          <a:cs typeface="黑体"/>
                        </a:rPr>
                        <a:t>63</a:t>
                      </a:r>
                      <a:r>
                        <a:rPr dirty="0" sz="1800">
                          <a:solidFill>
                            <a:srgbClr val="40458B"/>
                          </a:solidFill>
                          <a:latin typeface="黑体"/>
                          <a:cs typeface="黑体"/>
                        </a:rPr>
                        <a:t>← </a:t>
                      </a:r>
                      <a:r>
                        <a:rPr dirty="0" sz="1800" spc="-20">
                          <a:solidFill>
                            <a:srgbClr val="40458B"/>
                          </a:solidFill>
                          <a:latin typeface="黑体"/>
                          <a:cs typeface="黑体"/>
                        </a:rPr>
                        <a:t>name</a:t>
                      </a:r>
                      <a:endParaRPr sz="1800">
                        <a:latin typeface="黑体"/>
                        <a:cs typeface="黑体"/>
                      </a:endParaRPr>
                    </a:p>
                    <a:p>
                      <a:pPr marL="92075">
                        <a:lnSpc>
                          <a:spcPct val="100000"/>
                        </a:lnSpc>
                        <a:spcBef>
                          <a:spcPts val="865"/>
                        </a:spcBef>
                      </a:pPr>
                      <a:r>
                        <a:rPr dirty="0" sz="1800">
                          <a:solidFill>
                            <a:srgbClr val="40458B"/>
                          </a:solidFill>
                          <a:latin typeface="黑体"/>
                          <a:cs typeface="黑体"/>
                        </a:rPr>
                        <a:t>例如 J 0X1000 #跳转到内存地址</a:t>
                      </a:r>
                      <a:r>
                        <a:rPr dirty="0" sz="1800" spc="-10">
                          <a:solidFill>
                            <a:srgbClr val="40458B"/>
                          </a:solidFill>
                          <a:latin typeface="黑体"/>
                          <a:cs typeface="黑体"/>
                        </a:rPr>
                        <a:t>0x1000</a:t>
                      </a:r>
                      <a:endParaRPr sz="1800">
                        <a:latin typeface="黑体"/>
                        <a:cs typeface="黑体"/>
                      </a:endParaRPr>
                    </a:p>
                  </a:txBody>
                  <a:tcPr marL="0" marR="0" marB="0" marT="635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1516380">
                <a:tc>
                  <a:txBody>
                    <a:bodyPr/>
                    <a:lstStyle/>
                    <a:p>
                      <a:pPr marL="91440">
                        <a:lnSpc>
                          <a:spcPct val="100000"/>
                        </a:lnSpc>
                        <a:spcBef>
                          <a:spcPts val="500"/>
                        </a:spcBef>
                        <a:tabLst>
                          <a:tab pos="662940" algn="l"/>
                        </a:tabLst>
                      </a:pPr>
                      <a:r>
                        <a:rPr dirty="0" sz="1800" spc="-25">
                          <a:solidFill>
                            <a:srgbClr val="40458B"/>
                          </a:solidFill>
                          <a:latin typeface="黑体"/>
                          <a:cs typeface="黑体"/>
                        </a:rPr>
                        <a:t>JAL</a:t>
                      </a:r>
                      <a:r>
                        <a:rPr dirty="0" sz="1800">
                          <a:solidFill>
                            <a:srgbClr val="40458B"/>
                          </a:solidFill>
                          <a:latin typeface="黑体"/>
                          <a:cs typeface="黑体"/>
                        </a:rPr>
                        <a:t>	</a:t>
                      </a:r>
                      <a:r>
                        <a:rPr dirty="0" sz="1800" spc="-20">
                          <a:solidFill>
                            <a:srgbClr val="40458B"/>
                          </a:solidFill>
                          <a:latin typeface="黑体"/>
                          <a:cs typeface="黑体"/>
                        </a:rPr>
                        <a:t>name</a:t>
                      </a:r>
                      <a:endParaRPr sz="1800">
                        <a:latin typeface="黑体"/>
                        <a:cs typeface="黑体"/>
                      </a:endParaRPr>
                    </a:p>
                  </a:txBody>
                  <a:tcPr marL="0" marR="0" marB="0" marT="6350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0"/>
                        </a:spcBef>
                      </a:pPr>
                      <a:r>
                        <a:rPr dirty="0" sz="1800" spc="-20">
                          <a:solidFill>
                            <a:srgbClr val="40458B"/>
                          </a:solidFill>
                          <a:latin typeface="黑体"/>
                          <a:cs typeface="黑体"/>
                        </a:rPr>
                        <a:t>跳转并链接</a:t>
                      </a:r>
                      <a:endParaRPr sz="1800">
                        <a:latin typeface="黑体"/>
                        <a:cs typeface="黑体"/>
                      </a:endParaRPr>
                    </a:p>
                    <a:p>
                      <a:pPr algn="just" marL="92075" marR="158750">
                        <a:lnSpc>
                          <a:spcPct val="120000"/>
                        </a:lnSpc>
                        <a:spcBef>
                          <a:spcPts val="434"/>
                        </a:spcBef>
                      </a:pPr>
                      <a:r>
                        <a:rPr dirty="0" sz="1800" spc="-10">
                          <a:solidFill>
                            <a:srgbClr val="FF0000"/>
                          </a:solidFill>
                          <a:latin typeface="黑体"/>
                          <a:cs typeface="黑体"/>
                        </a:rPr>
                        <a:t>带链接的无条件跳转指令，相当于调</a:t>
                      </a:r>
                      <a:r>
                        <a:rPr dirty="0" sz="1800" spc="-50">
                          <a:solidFill>
                            <a:srgbClr val="FF0000"/>
                          </a:solidFill>
                          <a:latin typeface="黑体"/>
                          <a:cs typeface="黑体"/>
                        </a:rPr>
                        <a:t>用</a:t>
                      </a:r>
                      <a:endParaRPr sz="1800">
                        <a:latin typeface="黑体"/>
                        <a:cs typeface="黑体"/>
                      </a:endParaRPr>
                    </a:p>
                  </a:txBody>
                  <a:tcPr marL="0" marR="0" marB="0" marT="635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0"/>
                        </a:spcBef>
                      </a:pPr>
                      <a:r>
                        <a:rPr dirty="0" sz="1800">
                          <a:solidFill>
                            <a:srgbClr val="40458B"/>
                          </a:solidFill>
                          <a:latin typeface="黑体"/>
                          <a:cs typeface="黑体"/>
                        </a:rPr>
                        <a:t>Regs[R31]←PC+4；PC</a:t>
                      </a:r>
                      <a:r>
                        <a:rPr dirty="0" sz="1800" spc="-95">
                          <a:solidFill>
                            <a:srgbClr val="40458B"/>
                          </a:solidFill>
                          <a:latin typeface="黑体"/>
                          <a:cs typeface="黑体"/>
                        </a:rPr>
                        <a:t> </a:t>
                      </a:r>
                      <a:r>
                        <a:rPr dirty="0" baseline="-20833" sz="1800" spc="-15">
                          <a:solidFill>
                            <a:srgbClr val="40458B"/>
                          </a:solidFill>
                          <a:latin typeface="黑体"/>
                          <a:cs typeface="黑体"/>
                        </a:rPr>
                        <a:t>36</a:t>
                      </a:r>
                      <a:r>
                        <a:rPr dirty="0" baseline="-20833" sz="1800" spc="-15">
                          <a:solidFill>
                            <a:srgbClr val="40458B"/>
                          </a:solidFill>
                          <a:latin typeface="Times New Roman"/>
                          <a:cs typeface="Times New Roman"/>
                        </a:rPr>
                        <a:t>··</a:t>
                      </a:r>
                      <a:r>
                        <a:rPr dirty="0" baseline="-20833" sz="1800" spc="-15">
                          <a:solidFill>
                            <a:srgbClr val="40458B"/>
                          </a:solidFill>
                          <a:latin typeface="黑体"/>
                          <a:cs typeface="黑体"/>
                        </a:rPr>
                        <a:t>63</a:t>
                      </a:r>
                      <a:r>
                        <a:rPr dirty="0" sz="1800" spc="-10">
                          <a:solidFill>
                            <a:srgbClr val="40458B"/>
                          </a:solidFill>
                          <a:latin typeface="黑体"/>
                          <a:cs typeface="黑体"/>
                        </a:rPr>
                        <a:t>←name；</a:t>
                      </a:r>
                      <a:endParaRPr sz="1800">
                        <a:latin typeface="黑体"/>
                        <a:cs typeface="黑体"/>
                      </a:endParaRPr>
                    </a:p>
                    <a:p>
                      <a:pPr marL="92075">
                        <a:lnSpc>
                          <a:spcPct val="100000"/>
                        </a:lnSpc>
                        <a:spcBef>
                          <a:spcPts val="865"/>
                        </a:spcBef>
                      </a:pPr>
                      <a:r>
                        <a:rPr dirty="0" sz="1800" spc="-10">
                          <a:solidFill>
                            <a:srgbClr val="40458B"/>
                          </a:solidFill>
                          <a:latin typeface="黑体"/>
                          <a:cs typeface="黑体"/>
                        </a:rPr>
                        <a:t>((PC+4)－2</a:t>
                      </a:r>
                      <a:r>
                        <a:rPr dirty="0" baseline="25462" sz="1800" spc="-15">
                          <a:solidFill>
                            <a:srgbClr val="40458B"/>
                          </a:solidFill>
                          <a:latin typeface="黑体"/>
                          <a:cs typeface="黑体"/>
                        </a:rPr>
                        <a:t>27</a:t>
                      </a:r>
                      <a:r>
                        <a:rPr dirty="0" sz="1800" spc="-10">
                          <a:solidFill>
                            <a:srgbClr val="40458B"/>
                          </a:solidFill>
                          <a:latin typeface="黑体"/>
                          <a:cs typeface="黑体"/>
                        </a:rPr>
                        <a:t>)≤name＜((PC+4)+2</a:t>
                      </a:r>
                      <a:r>
                        <a:rPr dirty="0" baseline="25462" sz="1800" spc="-15">
                          <a:solidFill>
                            <a:srgbClr val="40458B"/>
                          </a:solidFill>
                          <a:latin typeface="黑体"/>
                          <a:cs typeface="黑体"/>
                        </a:rPr>
                        <a:t>27</a:t>
                      </a:r>
                      <a:r>
                        <a:rPr dirty="0" sz="1800" spc="-10">
                          <a:solidFill>
                            <a:srgbClr val="40458B"/>
                          </a:solidFill>
                          <a:latin typeface="黑体"/>
                          <a:cs typeface="黑体"/>
                        </a:rPr>
                        <a:t>)</a:t>
                      </a:r>
                      <a:endParaRPr sz="1800">
                        <a:latin typeface="黑体"/>
                        <a:cs typeface="黑体"/>
                      </a:endParaRPr>
                    </a:p>
                    <a:p>
                      <a:pPr marL="92075" marR="147320">
                        <a:lnSpc>
                          <a:spcPct val="120000"/>
                        </a:lnSpc>
                        <a:spcBef>
                          <a:spcPts val="434"/>
                        </a:spcBef>
                      </a:pPr>
                      <a:r>
                        <a:rPr dirty="0" sz="1800">
                          <a:solidFill>
                            <a:srgbClr val="40458B"/>
                          </a:solidFill>
                          <a:latin typeface="黑体"/>
                          <a:cs typeface="黑体"/>
                        </a:rPr>
                        <a:t>1、先将下一条指令保存</a:t>
                      </a:r>
                      <a:r>
                        <a:rPr dirty="0" sz="1800" spc="-10">
                          <a:solidFill>
                            <a:srgbClr val="40458B"/>
                          </a:solidFill>
                          <a:latin typeface="黑体"/>
                          <a:cs typeface="黑体"/>
                        </a:rPr>
                        <a:t>R31；2</a:t>
                      </a:r>
                      <a:r>
                        <a:rPr dirty="0" sz="1800" spc="-15">
                          <a:solidFill>
                            <a:srgbClr val="40458B"/>
                          </a:solidFill>
                          <a:latin typeface="黑体"/>
                          <a:cs typeface="黑体"/>
                        </a:rPr>
                        <a:t>、然后跳</a:t>
                      </a:r>
                      <a:r>
                        <a:rPr dirty="0" sz="1800" spc="-10">
                          <a:solidFill>
                            <a:srgbClr val="40458B"/>
                          </a:solidFill>
                          <a:latin typeface="黑体"/>
                          <a:cs typeface="黑体"/>
                        </a:rPr>
                        <a:t>转到目标地址；</a:t>
                      </a:r>
                      <a:endParaRPr sz="1800">
                        <a:latin typeface="黑体"/>
                        <a:cs typeface="黑体"/>
                      </a:endParaRPr>
                    </a:p>
                  </a:txBody>
                  <a:tcPr marL="0" marR="0" marB="0" marT="635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70534">
                <a:tc>
                  <a:txBody>
                    <a:bodyPr/>
                    <a:lstStyle/>
                    <a:p>
                      <a:pPr marL="91440">
                        <a:lnSpc>
                          <a:spcPct val="100000"/>
                        </a:lnSpc>
                        <a:spcBef>
                          <a:spcPts val="505"/>
                        </a:spcBef>
                        <a:tabLst>
                          <a:tab pos="777240" algn="l"/>
                        </a:tabLst>
                      </a:pPr>
                      <a:r>
                        <a:rPr dirty="0" sz="1800" spc="-20">
                          <a:solidFill>
                            <a:srgbClr val="40458B"/>
                          </a:solidFill>
                          <a:latin typeface="黑体"/>
                          <a:cs typeface="黑体"/>
                        </a:rPr>
                        <a:t>JALR</a:t>
                      </a:r>
                      <a:r>
                        <a:rPr dirty="0" sz="1800">
                          <a:solidFill>
                            <a:srgbClr val="40458B"/>
                          </a:solidFill>
                          <a:latin typeface="黑体"/>
                          <a:cs typeface="黑体"/>
                        </a:rPr>
                        <a:t>	</a:t>
                      </a:r>
                      <a:r>
                        <a:rPr dirty="0" sz="1800" spc="-25">
                          <a:solidFill>
                            <a:srgbClr val="40458B"/>
                          </a:solidFill>
                          <a:latin typeface="黑体"/>
                          <a:cs typeface="黑体"/>
                        </a:rPr>
                        <a:t>R3</a:t>
                      </a:r>
                      <a:endParaRPr sz="1800">
                        <a:latin typeface="黑体"/>
                        <a:cs typeface="黑体"/>
                      </a:endParaRPr>
                    </a:p>
                  </a:txBody>
                  <a:tcPr marL="0" marR="0" marB="0" marT="6413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pPr>
                      <a:r>
                        <a:rPr dirty="0" sz="1800" spc="-10">
                          <a:solidFill>
                            <a:srgbClr val="40458B"/>
                          </a:solidFill>
                          <a:latin typeface="黑体"/>
                          <a:cs typeface="黑体"/>
                        </a:rPr>
                        <a:t>寄存器跳转并链接</a:t>
                      </a:r>
                      <a:endParaRPr sz="1800">
                        <a:latin typeface="黑体"/>
                        <a:cs typeface="黑体"/>
                      </a:endParaRPr>
                    </a:p>
                  </a:txBody>
                  <a:tcPr marL="0" marR="0" marB="0" marT="6413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pPr>
                      <a:r>
                        <a:rPr dirty="0" sz="1800">
                          <a:solidFill>
                            <a:srgbClr val="40458B"/>
                          </a:solidFill>
                          <a:latin typeface="黑体"/>
                          <a:cs typeface="黑体"/>
                        </a:rPr>
                        <a:t>Regs[R31]←PC+4；PC← </a:t>
                      </a:r>
                      <a:r>
                        <a:rPr dirty="0" sz="1800" spc="-10">
                          <a:solidFill>
                            <a:srgbClr val="40458B"/>
                          </a:solidFill>
                          <a:latin typeface="黑体"/>
                          <a:cs typeface="黑体"/>
                        </a:rPr>
                        <a:t>Regs[R3]</a:t>
                      </a:r>
                      <a:endParaRPr sz="1800">
                        <a:latin typeface="黑体"/>
                        <a:cs typeface="黑体"/>
                      </a:endParaRPr>
                    </a:p>
                  </a:txBody>
                  <a:tcPr marL="0" marR="0" marB="0" marT="6413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95934">
                <a:tc>
                  <a:txBody>
                    <a:bodyPr/>
                    <a:lstStyle/>
                    <a:p>
                      <a:pPr marL="91440">
                        <a:lnSpc>
                          <a:spcPct val="100000"/>
                        </a:lnSpc>
                        <a:spcBef>
                          <a:spcPts val="505"/>
                        </a:spcBef>
                        <a:tabLst>
                          <a:tab pos="548640" algn="l"/>
                        </a:tabLst>
                      </a:pPr>
                      <a:r>
                        <a:rPr dirty="0" sz="1800" spc="-25">
                          <a:solidFill>
                            <a:srgbClr val="40458B"/>
                          </a:solidFill>
                          <a:latin typeface="黑体"/>
                          <a:cs typeface="黑体"/>
                        </a:rPr>
                        <a:t>JR</a:t>
                      </a:r>
                      <a:r>
                        <a:rPr dirty="0" sz="1800">
                          <a:solidFill>
                            <a:srgbClr val="40458B"/>
                          </a:solidFill>
                          <a:latin typeface="黑体"/>
                          <a:cs typeface="黑体"/>
                        </a:rPr>
                        <a:t>	</a:t>
                      </a:r>
                      <a:r>
                        <a:rPr dirty="0" sz="1800" spc="-25">
                          <a:solidFill>
                            <a:srgbClr val="40458B"/>
                          </a:solidFill>
                          <a:latin typeface="黑体"/>
                          <a:cs typeface="黑体"/>
                        </a:rPr>
                        <a:t>R5</a:t>
                      </a:r>
                      <a:endParaRPr sz="1800">
                        <a:latin typeface="黑体"/>
                        <a:cs typeface="黑体"/>
                      </a:endParaRPr>
                    </a:p>
                  </a:txBody>
                  <a:tcPr marL="0" marR="0" marB="0" marT="6413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pPr>
                      <a:r>
                        <a:rPr dirty="0" sz="1800" spc="-10">
                          <a:solidFill>
                            <a:srgbClr val="40458B"/>
                          </a:solidFill>
                          <a:latin typeface="黑体"/>
                          <a:cs typeface="黑体"/>
                        </a:rPr>
                        <a:t>寄存器跳转</a:t>
                      </a:r>
                      <a:endParaRPr sz="1800">
                        <a:latin typeface="黑体"/>
                        <a:cs typeface="黑体"/>
                      </a:endParaRPr>
                    </a:p>
                  </a:txBody>
                  <a:tcPr marL="0" marR="0" marB="0" marT="6413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pPr>
                      <a:r>
                        <a:rPr dirty="0" sz="1800">
                          <a:solidFill>
                            <a:srgbClr val="40458B"/>
                          </a:solidFill>
                          <a:latin typeface="黑体"/>
                          <a:cs typeface="黑体"/>
                        </a:rPr>
                        <a:t>PC← </a:t>
                      </a:r>
                      <a:r>
                        <a:rPr dirty="0" sz="1800" spc="-10">
                          <a:solidFill>
                            <a:srgbClr val="40458B"/>
                          </a:solidFill>
                          <a:latin typeface="黑体"/>
                          <a:cs typeface="黑体"/>
                        </a:rPr>
                        <a:t>Regs[R5]</a:t>
                      </a:r>
                      <a:endParaRPr sz="1800">
                        <a:latin typeface="黑体"/>
                        <a:cs typeface="黑体"/>
                      </a:endParaRPr>
                    </a:p>
                  </a:txBody>
                  <a:tcPr marL="0" marR="0" marB="0" marT="6413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03275">
                <a:tc>
                  <a:txBody>
                    <a:bodyPr/>
                    <a:lstStyle/>
                    <a:p>
                      <a:pPr marL="91440">
                        <a:lnSpc>
                          <a:spcPct val="100000"/>
                        </a:lnSpc>
                        <a:spcBef>
                          <a:spcPts val="505"/>
                        </a:spcBef>
                      </a:pPr>
                      <a:r>
                        <a:rPr dirty="0" sz="1800">
                          <a:solidFill>
                            <a:srgbClr val="40458B"/>
                          </a:solidFill>
                          <a:latin typeface="黑体"/>
                          <a:cs typeface="黑体"/>
                        </a:rPr>
                        <a:t>BEQZ </a:t>
                      </a:r>
                      <a:r>
                        <a:rPr dirty="0" sz="1800" spc="-10">
                          <a:solidFill>
                            <a:srgbClr val="40458B"/>
                          </a:solidFill>
                          <a:latin typeface="黑体"/>
                          <a:cs typeface="黑体"/>
                        </a:rPr>
                        <a:t>R4，name</a:t>
                      </a:r>
                      <a:endParaRPr sz="1800">
                        <a:latin typeface="黑体"/>
                        <a:cs typeface="黑体"/>
                      </a:endParaRPr>
                    </a:p>
                  </a:txBody>
                  <a:tcPr marL="0" marR="0" marB="0" marT="6413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pPr>
                      <a:r>
                        <a:rPr dirty="0" sz="1800" spc="-10">
                          <a:solidFill>
                            <a:srgbClr val="40458B"/>
                          </a:solidFill>
                          <a:latin typeface="黑体"/>
                          <a:cs typeface="黑体"/>
                        </a:rPr>
                        <a:t>等于零时分支</a:t>
                      </a:r>
                      <a:endParaRPr sz="1800">
                        <a:latin typeface="黑体"/>
                        <a:cs typeface="黑体"/>
                      </a:endParaRPr>
                    </a:p>
                  </a:txBody>
                  <a:tcPr marL="0" marR="0" marB="0" marT="6413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tabLst>
                          <a:tab pos="2149475" algn="l"/>
                          <a:tab pos="3292475" algn="l"/>
                        </a:tabLst>
                      </a:pPr>
                      <a:r>
                        <a:rPr dirty="0" sz="1800">
                          <a:solidFill>
                            <a:srgbClr val="40458B"/>
                          </a:solidFill>
                          <a:latin typeface="黑体"/>
                          <a:cs typeface="黑体"/>
                        </a:rPr>
                        <a:t>if(Regs[R4]== </a:t>
                      </a:r>
                      <a:r>
                        <a:rPr dirty="0" sz="1800" spc="-25">
                          <a:solidFill>
                            <a:srgbClr val="40458B"/>
                          </a:solidFill>
                          <a:latin typeface="黑体"/>
                          <a:cs typeface="黑体"/>
                        </a:rPr>
                        <a:t>0)</a:t>
                      </a:r>
                      <a:r>
                        <a:rPr dirty="0" sz="1800">
                          <a:solidFill>
                            <a:srgbClr val="40458B"/>
                          </a:solidFill>
                          <a:latin typeface="黑体"/>
                          <a:cs typeface="黑体"/>
                        </a:rPr>
                        <a:t>	</a:t>
                      </a:r>
                      <a:r>
                        <a:rPr dirty="0" sz="1800" spc="-10">
                          <a:solidFill>
                            <a:srgbClr val="40458B"/>
                          </a:solidFill>
                          <a:latin typeface="黑体"/>
                          <a:cs typeface="黑体"/>
                        </a:rPr>
                        <a:t>PC←name</a:t>
                      </a:r>
                      <a:r>
                        <a:rPr dirty="0" sz="1800">
                          <a:solidFill>
                            <a:srgbClr val="40458B"/>
                          </a:solidFill>
                          <a:latin typeface="黑体"/>
                          <a:cs typeface="黑体"/>
                        </a:rPr>
                        <a:t>	</a:t>
                      </a:r>
                      <a:r>
                        <a:rPr dirty="0" sz="1800" spc="-50">
                          <a:solidFill>
                            <a:srgbClr val="40458B"/>
                          </a:solidFill>
                          <a:latin typeface="黑体"/>
                          <a:cs typeface="黑体"/>
                        </a:rPr>
                        <a:t>；</a:t>
                      </a:r>
                      <a:endParaRPr sz="1800">
                        <a:latin typeface="黑体"/>
                        <a:cs typeface="黑体"/>
                      </a:endParaRPr>
                    </a:p>
                    <a:p>
                      <a:pPr marL="92075">
                        <a:lnSpc>
                          <a:spcPct val="100000"/>
                        </a:lnSpc>
                        <a:spcBef>
                          <a:spcPts val="865"/>
                        </a:spcBef>
                      </a:pPr>
                      <a:r>
                        <a:rPr dirty="0" sz="1800" spc="-10">
                          <a:solidFill>
                            <a:srgbClr val="40458B"/>
                          </a:solidFill>
                          <a:latin typeface="黑体"/>
                          <a:cs typeface="黑体"/>
                        </a:rPr>
                        <a:t>((PC+4)－2</a:t>
                      </a:r>
                      <a:r>
                        <a:rPr dirty="0" baseline="25462" sz="1800" spc="-15">
                          <a:solidFill>
                            <a:srgbClr val="40458B"/>
                          </a:solidFill>
                          <a:latin typeface="黑体"/>
                          <a:cs typeface="黑体"/>
                        </a:rPr>
                        <a:t>17</a:t>
                      </a:r>
                      <a:r>
                        <a:rPr dirty="0" sz="1800" spc="-10">
                          <a:solidFill>
                            <a:srgbClr val="40458B"/>
                          </a:solidFill>
                          <a:latin typeface="黑体"/>
                          <a:cs typeface="黑体"/>
                        </a:rPr>
                        <a:t>)≤name＜((PC+4)+2</a:t>
                      </a:r>
                      <a:r>
                        <a:rPr dirty="0" baseline="25462" sz="1800" spc="-15">
                          <a:solidFill>
                            <a:srgbClr val="40458B"/>
                          </a:solidFill>
                          <a:latin typeface="黑体"/>
                          <a:cs typeface="黑体"/>
                        </a:rPr>
                        <a:t>17</a:t>
                      </a:r>
                      <a:r>
                        <a:rPr dirty="0" sz="1800" spc="-10">
                          <a:solidFill>
                            <a:srgbClr val="40458B"/>
                          </a:solidFill>
                          <a:latin typeface="黑体"/>
                          <a:cs typeface="黑体"/>
                        </a:rPr>
                        <a:t>)</a:t>
                      </a:r>
                      <a:endParaRPr sz="1800">
                        <a:latin typeface="黑体"/>
                        <a:cs typeface="黑体"/>
                      </a:endParaRPr>
                    </a:p>
                  </a:txBody>
                  <a:tcPr marL="0" marR="0" marB="0" marT="6413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03275">
                <a:tc>
                  <a:txBody>
                    <a:bodyPr/>
                    <a:lstStyle/>
                    <a:p>
                      <a:pPr marL="91440">
                        <a:lnSpc>
                          <a:spcPct val="100000"/>
                        </a:lnSpc>
                        <a:spcBef>
                          <a:spcPts val="509"/>
                        </a:spcBef>
                        <a:tabLst>
                          <a:tab pos="662940" algn="l"/>
                        </a:tabLst>
                      </a:pPr>
                      <a:r>
                        <a:rPr dirty="0" sz="1800" spc="-25">
                          <a:solidFill>
                            <a:srgbClr val="40458B"/>
                          </a:solidFill>
                          <a:latin typeface="黑体"/>
                          <a:cs typeface="黑体"/>
                        </a:rPr>
                        <a:t>BNE</a:t>
                      </a:r>
                      <a:r>
                        <a:rPr dirty="0" sz="1800">
                          <a:solidFill>
                            <a:srgbClr val="40458B"/>
                          </a:solidFill>
                          <a:latin typeface="黑体"/>
                          <a:cs typeface="黑体"/>
                        </a:rPr>
                        <a:t>	</a:t>
                      </a:r>
                      <a:r>
                        <a:rPr dirty="0" sz="1800" spc="-10">
                          <a:solidFill>
                            <a:srgbClr val="40458B"/>
                          </a:solidFill>
                          <a:latin typeface="黑体"/>
                          <a:cs typeface="黑体"/>
                        </a:rPr>
                        <a:t>R3，R4，name</a:t>
                      </a:r>
                      <a:endParaRPr sz="1800">
                        <a:latin typeface="黑体"/>
                        <a:cs typeface="黑体"/>
                      </a:endParaRPr>
                    </a:p>
                  </a:txBody>
                  <a:tcPr marL="0" marR="0" marB="0" marT="64769">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9"/>
                        </a:spcBef>
                      </a:pPr>
                      <a:r>
                        <a:rPr dirty="0" sz="1800" spc="-10">
                          <a:solidFill>
                            <a:srgbClr val="40458B"/>
                          </a:solidFill>
                          <a:latin typeface="黑体"/>
                          <a:cs typeface="黑体"/>
                        </a:rPr>
                        <a:t>不相等时分支</a:t>
                      </a:r>
                      <a:endParaRPr sz="1800">
                        <a:latin typeface="黑体"/>
                        <a:cs typeface="黑体"/>
                      </a:endParaRPr>
                    </a:p>
                  </a:txBody>
                  <a:tcPr marL="0" marR="0" marB="0" marT="64769">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9"/>
                        </a:spcBef>
                      </a:pPr>
                      <a:r>
                        <a:rPr dirty="0" sz="1800">
                          <a:solidFill>
                            <a:srgbClr val="40458B"/>
                          </a:solidFill>
                          <a:latin typeface="黑体"/>
                          <a:cs typeface="黑体"/>
                        </a:rPr>
                        <a:t>if(Regs[R3]!= Regs[R4]) </a:t>
                      </a:r>
                      <a:r>
                        <a:rPr dirty="0" sz="1800" spc="-10">
                          <a:solidFill>
                            <a:srgbClr val="40458B"/>
                          </a:solidFill>
                          <a:latin typeface="黑体"/>
                          <a:cs typeface="黑体"/>
                        </a:rPr>
                        <a:t>PC←name</a:t>
                      </a:r>
                      <a:endParaRPr sz="1800">
                        <a:latin typeface="黑体"/>
                        <a:cs typeface="黑体"/>
                      </a:endParaRPr>
                    </a:p>
                    <a:p>
                      <a:pPr marL="92075">
                        <a:lnSpc>
                          <a:spcPct val="100000"/>
                        </a:lnSpc>
                        <a:spcBef>
                          <a:spcPts val="865"/>
                        </a:spcBef>
                      </a:pPr>
                      <a:r>
                        <a:rPr dirty="0" sz="1800" spc="-10">
                          <a:solidFill>
                            <a:srgbClr val="40458B"/>
                          </a:solidFill>
                          <a:latin typeface="黑体"/>
                          <a:cs typeface="黑体"/>
                        </a:rPr>
                        <a:t>((PC+4)－2</a:t>
                      </a:r>
                      <a:r>
                        <a:rPr dirty="0" baseline="25462" sz="1800" spc="-15">
                          <a:solidFill>
                            <a:srgbClr val="40458B"/>
                          </a:solidFill>
                          <a:latin typeface="黑体"/>
                          <a:cs typeface="黑体"/>
                        </a:rPr>
                        <a:t>17</a:t>
                      </a:r>
                      <a:r>
                        <a:rPr dirty="0" sz="1800" spc="-10">
                          <a:solidFill>
                            <a:srgbClr val="40458B"/>
                          </a:solidFill>
                          <a:latin typeface="黑体"/>
                          <a:cs typeface="黑体"/>
                        </a:rPr>
                        <a:t>)≤name＜((PC+4)+2</a:t>
                      </a:r>
                      <a:r>
                        <a:rPr dirty="0" baseline="25462" sz="1800" spc="-15">
                          <a:solidFill>
                            <a:srgbClr val="40458B"/>
                          </a:solidFill>
                          <a:latin typeface="黑体"/>
                          <a:cs typeface="黑体"/>
                        </a:rPr>
                        <a:t>17</a:t>
                      </a:r>
                      <a:r>
                        <a:rPr dirty="0" sz="1800" spc="-10">
                          <a:solidFill>
                            <a:srgbClr val="40458B"/>
                          </a:solidFill>
                          <a:latin typeface="黑体"/>
                          <a:cs typeface="黑体"/>
                        </a:rPr>
                        <a:t>)</a:t>
                      </a:r>
                      <a:endParaRPr sz="1800">
                        <a:latin typeface="黑体"/>
                        <a:cs typeface="黑体"/>
                      </a:endParaRPr>
                    </a:p>
                  </a:txBody>
                  <a:tcPr marL="0" marR="0" marB="0" marT="64769">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13384">
                <a:tc>
                  <a:txBody>
                    <a:bodyPr/>
                    <a:lstStyle/>
                    <a:p>
                      <a:pPr marL="91440">
                        <a:lnSpc>
                          <a:spcPct val="100000"/>
                        </a:lnSpc>
                        <a:spcBef>
                          <a:spcPts val="509"/>
                        </a:spcBef>
                      </a:pPr>
                      <a:r>
                        <a:rPr dirty="0" sz="1800">
                          <a:solidFill>
                            <a:srgbClr val="40458B"/>
                          </a:solidFill>
                          <a:latin typeface="黑体"/>
                          <a:cs typeface="黑体"/>
                        </a:rPr>
                        <a:t>MOVZ </a:t>
                      </a:r>
                      <a:r>
                        <a:rPr dirty="0" sz="1800" spc="-10">
                          <a:solidFill>
                            <a:srgbClr val="40458B"/>
                          </a:solidFill>
                          <a:latin typeface="黑体"/>
                          <a:cs typeface="黑体"/>
                        </a:rPr>
                        <a:t>R1，R2，R3</a:t>
                      </a:r>
                      <a:endParaRPr sz="1800">
                        <a:latin typeface="黑体"/>
                        <a:cs typeface="黑体"/>
                      </a:endParaRPr>
                    </a:p>
                  </a:txBody>
                  <a:tcPr marL="0" marR="0" marB="0" marT="64769">
                    <a:lnL w="28575">
                      <a:solidFill>
                        <a:srgbClr val="40458B"/>
                      </a:solidFill>
                      <a:prstDash val="solid"/>
                    </a:lnL>
                    <a:lnR w="12700">
                      <a:solidFill>
                        <a:srgbClr val="40458B"/>
                      </a:solidFill>
                      <a:prstDash val="solid"/>
                    </a:lnR>
                    <a:lnT w="12700">
                      <a:solidFill>
                        <a:srgbClr val="40458B"/>
                      </a:solidFill>
                      <a:prstDash val="solid"/>
                    </a:lnT>
                  </a:tcPr>
                </a:tc>
                <a:tc>
                  <a:txBody>
                    <a:bodyPr/>
                    <a:lstStyle/>
                    <a:p>
                      <a:pPr marL="92075">
                        <a:lnSpc>
                          <a:spcPct val="100000"/>
                        </a:lnSpc>
                        <a:spcBef>
                          <a:spcPts val="509"/>
                        </a:spcBef>
                      </a:pPr>
                      <a:r>
                        <a:rPr dirty="0" sz="1800" spc="-10">
                          <a:solidFill>
                            <a:srgbClr val="40458B"/>
                          </a:solidFill>
                          <a:latin typeface="黑体"/>
                          <a:cs typeface="黑体"/>
                        </a:rPr>
                        <a:t>等于零时移动</a:t>
                      </a:r>
                      <a:endParaRPr sz="1800">
                        <a:latin typeface="黑体"/>
                        <a:cs typeface="黑体"/>
                      </a:endParaRPr>
                    </a:p>
                  </a:txBody>
                  <a:tcPr marL="0" marR="0" marB="0" marT="64769">
                    <a:lnL w="12700">
                      <a:solidFill>
                        <a:srgbClr val="40458B"/>
                      </a:solidFill>
                      <a:prstDash val="solid"/>
                    </a:lnL>
                    <a:lnR w="12700">
                      <a:solidFill>
                        <a:srgbClr val="40458B"/>
                      </a:solidFill>
                      <a:prstDash val="solid"/>
                    </a:lnR>
                    <a:lnT w="12700">
                      <a:solidFill>
                        <a:srgbClr val="40458B"/>
                      </a:solidFill>
                      <a:prstDash val="solid"/>
                    </a:lnT>
                  </a:tcPr>
                </a:tc>
                <a:tc>
                  <a:txBody>
                    <a:bodyPr/>
                    <a:lstStyle/>
                    <a:p>
                      <a:pPr marL="92075">
                        <a:lnSpc>
                          <a:spcPct val="100000"/>
                        </a:lnSpc>
                        <a:spcBef>
                          <a:spcPts val="509"/>
                        </a:spcBef>
                      </a:pPr>
                      <a:r>
                        <a:rPr dirty="0" sz="1800">
                          <a:solidFill>
                            <a:srgbClr val="40458B"/>
                          </a:solidFill>
                          <a:latin typeface="黑体"/>
                          <a:cs typeface="黑体"/>
                        </a:rPr>
                        <a:t>if(Regs[R3]==0) Regs[R1]← </a:t>
                      </a:r>
                      <a:r>
                        <a:rPr dirty="0" sz="1800" spc="-10">
                          <a:solidFill>
                            <a:srgbClr val="40458B"/>
                          </a:solidFill>
                          <a:latin typeface="黑体"/>
                          <a:cs typeface="黑体"/>
                        </a:rPr>
                        <a:t>Regs[R2]</a:t>
                      </a:r>
                      <a:endParaRPr sz="1800">
                        <a:latin typeface="黑体"/>
                        <a:cs typeface="黑体"/>
                      </a:endParaRPr>
                    </a:p>
                  </a:txBody>
                  <a:tcPr marL="0" marR="0" marB="0" marT="64769">
                    <a:lnL w="12700">
                      <a:solidFill>
                        <a:srgbClr val="40458B"/>
                      </a:solidFill>
                      <a:prstDash val="solid"/>
                    </a:lnL>
                    <a:lnR w="28575">
                      <a:solidFill>
                        <a:srgbClr val="40458B"/>
                      </a:solidFill>
                      <a:prstDash val="solid"/>
                    </a:lnR>
                    <a:lnT w="12700">
                      <a:solidFill>
                        <a:srgbClr val="40458B"/>
                      </a:solidFill>
                      <a:prstDash val="solid"/>
                    </a:lnT>
                  </a:tcPr>
                </a:tc>
              </a:tr>
            </a:tbl>
          </a:graphicData>
        </a:graphic>
      </p:graphicFrame>
      <p:sp>
        <p:nvSpPr>
          <p:cNvPr id="3" name="object 3"/>
          <p:cNvSpPr txBox="1">
            <a:spLocks noGrp="1"/>
          </p:cNvSpPr>
          <p:nvPr>
            <p:ph type="title"/>
          </p:nvPr>
        </p:nvSpPr>
        <p:spPr>
          <a:xfrm>
            <a:off x="2358644" y="218947"/>
            <a:ext cx="1348740" cy="422275"/>
          </a:xfrm>
          <a:prstGeom prst="rect"/>
        </p:spPr>
        <p:txBody>
          <a:bodyPr wrap="square" lIns="0" tIns="12700" rIns="0" bIns="0" rtlCol="0" vert="horz">
            <a:spAutoFit/>
          </a:bodyPr>
          <a:lstStyle/>
          <a:p>
            <a:pPr marL="12700">
              <a:lnSpc>
                <a:spcPct val="100000"/>
              </a:lnSpc>
              <a:spcBef>
                <a:spcPts val="100"/>
              </a:spcBef>
            </a:pPr>
            <a:r>
              <a:rPr dirty="0" u="none" sz="2600" spc="-15" b="0">
                <a:solidFill>
                  <a:srgbClr val="40458B"/>
                </a:solidFill>
                <a:latin typeface="黑体"/>
                <a:cs typeface="黑体"/>
              </a:rPr>
              <a:t>跳转指令</a:t>
            </a:r>
            <a:endParaRPr sz="2600">
              <a:latin typeface="黑体"/>
              <a:cs typeface="黑体"/>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833562" y="1038288"/>
          <a:ext cx="8828405" cy="5753735"/>
        </p:xfrm>
        <a:graphic>
          <a:graphicData uri="http://schemas.openxmlformats.org/drawingml/2006/table">
            <a:tbl>
              <a:tblPr firstRow="1" bandRow="1">
                <a:tableStyleId>{2D5ABB26-0587-4C30-8999-92F81FD0307C}</a:tableStyleId>
              </a:tblPr>
              <a:tblGrid>
                <a:gridCol w="2305050"/>
                <a:gridCol w="2087879"/>
                <a:gridCol w="4330700"/>
              </a:tblGrid>
              <a:tr h="496570">
                <a:tc>
                  <a:txBody>
                    <a:bodyPr/>
                    <a:lstStyle/>
                    <a:p>
                      <a:pPr marL="641985">
                        <a:lnSpc>
                          <a:spcPct val="100000"/>
                        </a:lnSpc>
                        <a:spcBef>
                          <a:spcPts val="515"/>
                        </a:spcBef>
                      </a:pPr>
                      <a:r>
                        <a:rPr dirty="0" sz="2000" spc="-15">
                          <a:solidFill>
                            <a:srgbClr val="E14B04"/>
                          </a:solidFill>
                          <a:latin typeface="黑体"/>
                          <a:cs typeface="黑体"/>
                        </a:rPr>
                        <a:t>指令举例</a:t>
                      </a:r>
                      <a:endParaRPr sz="2000">
                        <a:latin typeface="黑体"/>
                        <a:cs typeface="黑体"/>
                      </a:endParaRPr>
                    </a:p>
                  </a:txBody>
                  <a:tcPr marL="0" marR="0" marB="0" marT="6540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515"/>
                        </a:spcBef>
                      </a:pPr>
                      <a:r>
                        <a:rPr dirty="0" sz="2000" spc="-15">
                          <a:solidFill>
                            <a:srgbClr val="E14B04"/>
                          </a:solidFill>
                          <a:latin typeface="黑体"/>
                          <a:cs typeface="黑体"/>
                        </a:rPr>
                        <a:t>指令名称</a:t>
                      </a:r>
                      <a:endParaRPr sz="2000">
                        <a:latin typeface="黑体"/>
                        <a:cs typeface="黑体"/>
                      </a:endParaRPr>
                    </a:p>
                  </a:txBody>
                  <a:tcPr marL="0" marR="0" marB="0" marT="6540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635" marR="76200">
                        <a:lnSpc>
                          <a:spcPct val="100000"/>
                        </a:lnSpc>
                        <a:spcBef>
                          <a:spcPts val="515"/>
                        </a:spcBef>
                      </a:pPr>
                      <a:r>
                        <a:rPr dirty="0" sz="2000" spc="-25">
                          <a:solidFill>
                            <a:srgbClr val="E14B04"/>
                          </a:solidFill>
                          <a:latin typeface="黑体"/>
                          <a:cs typeface="黑体"/>
                        </a:rPr>
                        <a:t>含义</a:t>
                      </a:r>
                      <a:endParaRPr sz="2000">
                        <a:latin typeface="黑体"/>
                        <a:cs typeface="黑体"/>
                      </a:endParaRPr>
                    </a:p>
                  </a:txBody>
                  <a:tcPr marL="0" marR="0" marB="0" marT="6540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3271520">
                <a:tc>
                  <a:txBody>
                    <a:bodyPr/>
                    <a:lstStyle/>
                    <a:p>
                      <a:pPr marL="91440">
                        <a:lnSpc>
                          <a:spcPct val="100000"/>
                        </a:lnSpc>
                        <a:spcBef>
                          <a:spcPts val="500"/>
                        </a:spcBef>
                        <a:tabLst>
                          <a:tab pos="662940" algn="l"/>
                        </a:tabLst>
                      </a:pPr>
                      <a:r>
                        <a:rPr dirty="0" sz="1800" spc="-50">
                          <a:solidFill>
                            <a:srgbClr val="40458B"/>
                          </a:solidFill>
                          <a:latin typeface="黑体"/>
                          <a:cs typeface="黑体"/>
                        </a:rPr>
                        <a:t>J</a:t>
                      </a:r>
                      <a:r>
                        <a:rPr dirty="0" sz="1800">
                          <a:solidFill>
                            <a:srgbClr val="40458B"/>
                          </a:solidFill>
                          <a:latin typeface="黑体"/>
                          <a:cs typeface="黑体"/>
                        </a:rPr>
                        <a:t>	</a:t>
                      </a:r>
                      <a:r>
                        <a:rPr dirty="0" sz="1800" spc="-20">
                          <a:solidFill>
                            <a:srgbClr val="40458B"/>
                          </a:solidFill>
                          <a:latin typeface="黑体"/>
                          <a:cs typeface="黑体"/>
                        </a:rPr>
                        <a:t>name</a:t>
                      </a:r>
                      <a:endParaRPr sz="1800">
                        <a:latin typeface="黑体"/>
                        <a:cs typeface="黑体"/>
                      </a:endParaRPr>
                    </a:p>
                  </a:txBody>
                  <a:tcPr marL="0" marR="0" marB="0" marT="6350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273050">
                        <a:lnSpc>
                          <a:spcPct val="120000"/>
                        </a:lnSpc>
                        <a:spcBef>
                          <a:spcPts val="70"/>
                        </a:spcBef>
                      </a:pPr>
                      <a:r>
                        <a:rPr dirty="0" sz="1800" spc="-40">
                          <a:solidFill>
                            <a:srgbClr val="40458B"/>
                          </a:solidFill>
                          <a:latin typeface="黑体"/>
                          <a:cs typeface="黑体"/>
                        </a:rPr>
                        <a:t>跳转 ，</a:t>
                      </a:r>
                      <a:r>
                        <a:rPr dirty="0" sz="1800" spc="-15">
                          <a:solidFill>
                            <a:srgbClr val="FF0000"/>
                          </a:solidFill>
                          <a:latin typeface="黑体"/>
                          <a:cs typeface="黑体"/>
                        </a:rPr>
                        <a:t>无条件跳</a:t>
                      </a:r>
                      <a:r>
                        <a:rPr dirty="0" sz="1800" spc="-20">
                          <a:solidFill>
                            <a:srgbClr val="FF0000"/>
                          </a:solidFill>
                          <a:latin typeface="黑体"/>
                          <a:cs typeface="黑体"/>
                        </a:rPr>
                        <a:t>转指令</a:t>
                      </a:r>
                      <a:endParaRPr sz="1800">
                        <a:latin typeface="黑体"/>
                        <a:cs typeface="黑体"/>
                      </a:endParaRPr>
                    </a:p>
                  </a:txBody>
                  <a:tcPr marL="0" marR="0" marB="0" marT="88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76200">
                        <a:lnSpc>
                          <a:spcPct val="100000"/>
                        </a:lnSpc>
                        <a:spcBef>
                          <a:spcPts val="500"/>
                        </a:spcBef>
                      </a:pPr>
                      <a:r>
                        <a:rPr dirty="0" sz="1800">
                          <a:solidFill>
                            <a:srgbClr val="40458B"/>
                          </a:solidFill>
                          <a:latin typeface="黑体"/>
                          <a:cs typeface="黑体"/>
                        </a:rPr>
                        <a:t>PC</a:t>
                      </a:r>
                      <a:r>
                        <a:rPr dirty="0" sz="1800" spc="-10">
                          <a:solidFill>
                            <a:srgbClr val="40458B"/>
                          </a:solidFill>
                          <a:latin typeface="黑体"/>
                          <a:cs typeface="黑体"/>
                        </a:rPr>
                        <a:t> </a:t>
                      </a:r>
                      <a:r>
                        <a:rPr dirty="0" baseline="-20833" sz="1800">
                          <a:solidFill>
                            <a:srgbClr val="40458B"/>
                          </a:solidFill>
                          <a:latin typeface="黑体"/>
                          <a:cs typeface="黑体"/>
                        </a:rPr>
                        <a:t>36</a:t>
                      </a:r>
                      <a:r>
                        <a:rPr dirty="0" baseline="-20833" sz="1800">
                          <a:solidFill>
                            <a:srgbClr val="40458B"/>
                          </a:solidFill>
                          <a:latin typeface="Times New Roman"/>
                          <a:cs typeface="Times New Roman"/>
                        </a:rPr>
                        <a:t>··</a:t>
                      </a:r>
                      <a:r>
                        <a:rPr dirty="0" baseline="-20833" sz="1800">
                          <a:solidFill>
                            <a:srgbClr val="40458B"/>
                          </a:solidFill>
                          <a:latin typeface="黑体"/>
                          <a:cs typeface="黑体"/>
                        </a:rPr>
                        <a:t>63</a:t>
                      </a:r>
                      <a:r>
                        <a:rPr dirty="0" sz="1800">
                          <a:solidFill>
                            <a:srgbClr val="40458B"/>
                          </a:solidFill>
                          <a:latin typeface="黑体"/>
                          <a:cs typeface="黑体"/>
                        </a:rPr>
                        <a:t>← </a:t>
                      </a:r>
                      <a:r>
                        <a:rPr dirty="0" sz="1800" spc="-20">
                          <a:solidFill>
                            <a:srgbClr val="40458B"/>
                          </a:solidFill>
                          <a:latin typeface="黑体"/>
                          <a:cs typeface="黑体"/>
                        </a:rPr>
                        <a:t>name</a:t>
                      </a:r>
                      <a:endParaRPr sz="1800">
                        <a:latin typeface="黑体"/>
                        <a:cs typeface="黑体"/>
                      </a:endParaRPr>
                    </a:p>
                    <a:p>
                      <a:pPr marL="92075" marR="229235">
                        <a:lnSpc>
                          <a:spcPct val="120100"/>
                        </a:lnSpc>
                        <a:spcBef>
                          <a:spcPts val="430"/>
                        </a:spcBef>
                      </a:pPr>
                      <a:r>
                        <a:rPr dirty="0" sz="1800">
                          <a:solidFill>
                            <a:srgbClr val="40458B"/>
                          </a:solidFill>
                          <a:latin typeface="黑体"/>
                          <a:cs typeface="黑体"/>
                        </a:rPr>
                        <a:t>1、Name</a:t>
                      </a:r>
                      <a:r>
                        <a:rPr dirty="0" sz="1800" spc="-5">
                          <a:solidFill>
                            <a:srgbClr val="40458B"/>
                          </a:solidFill>
                          <a:latin typeface="黑体"/>
                          <a:cs typeface="黑体"/>
                        </a:rPr>
                        <a:t> 跳转的目标内存地址</a:t>
                      </a:r>
                      <a:r>
                        <a:rPr dirty="0" sz="1800">
                          <a:solidFill>
                            <a:srgbClr val="40458B"/>
                          </a:solidFill>
                          <a:latin typeface="黑体"/>
                          <a:cs typeface="黑体"/>
                        </a:rPr>
                        <a:t>，26</a:t>
                      </a:r>
                      <a:r>
                        <a:rPr dirty="0" sz="1800" spc="-25">
                          <a:solidFill>
                            <a:srgbClr val="40458B"/>
                          </a:solidFill>
                          <a:latin typeface="黑体"/>
                          <a:cs typeface="黑体"/>
                        </a:rPr>
                        <a:t>位立</a:t>
                      </a:r>
                      <a:r>
                        <a:rPr dirty="0" sz="1800" spc="-10">
                          <a:solidFill>
                            <a:srgbClr val="40458B"/>
                          </a:solidFill>
                          <a:latin typeface="黑体"/>
                          <a:cs typeface="黑体"/>
                        </a:rPr>
                        <a:t>即数，无符号整数，表示跳转地址的高</a:t>
                      </a:r>
                      <a:r>
                        <a:rPr dirty="0" sz="1800" spc="-50">
                          <a:solidFill>
                            <a:srgbClr val="40458B"/>
                          </a:solidFill>
                          <a:latin typeface="黑体"/>
                          <a:cs typeface="黑体"/>
                        </a:rPr>
                        <a:t>4</a:t>
                      </a:r>
                      <a:r>
                        <a:rPr dirty="0" sz="1800">
                          <a:solidFill>
                            <a:srgbClr val="40458B"/>
                          </a:solidFill>
                          <a:latin typeface="黑体"/>
                          <a:cs typeface="黑体"/>
                        </a:rPr>
                        <a:t>位和低28</a:t>
                      </a:r>
                      <a:r>
                        <a:rPr dirty="0" sz="1800" spc="-5">
                          <a:solidFill>
                            <a:srgbClr val="40458B"/>
                          </a:solidFill>
                          <a:latin typeface="黑体"/>
                          <a:cs typeface="黑体"/>
                        </a:rPr>
                        <a:t>位，共一个字节的地址。</a:t>
                      </a:r>
                      <a:endParaRPr sz="1800">
                        <a:latin typeface="黑体"/>
                        <a:cs typeface="黑体"/>
                      </a:endParaRPr>
                    </a:p>
                    <a:p>
                      <a:pPr marL="92075">
                        <a:lnSpc>
                          <a:spcPct val="120000"/>
                        </a:lnSpc>
                        <a:spcBef>
                          <a:spcPts val="430"/>
                        </a:spcBef>
                      </a:pPr>
                      <a:r>
                        <a:rPr dirty="0" sz="1800">
                          <a:solidFill>
                            <a:srgbClr val="40458B"/>
                          </a:solidFill>
                          <a:latin typeface="黑体"/>
                          <a:cs typeface="黑体"/>
                        </a:rPr>
                        <a:t>2、其中MIPS</a:t>
                      </a:r>
                      <a:r>
                        <a:rPr dirty="0" sz="1800" spc="-5">
                          <a:solidFill>
                            <a:srgbClr val="40458B"/>
                          </a:solidFill>
                          <a:latin typeface="黑体"/>
                          <a:cs typeface="黑体"/>
                        </a:rPr>
                        <a:t>指令地址以字节为单位，因</a:t>
                      </a:r>
                      <a:r>
                        <a:rPr dirty="0" sz="1800" spc="-50">
                          <a:solidFill>
                            <a:srgbClr val="40458B"/>
                          </a:solidFill>
                          <a:latin typeface="黑体"/>
                          <a:cs typeface="黑体"/>
                        </a:rPr>
                        <a:t> </a:t>
                      </a:r>
                      <a:r>
                        <a:rPr dirty="0" sz="1800">
                          <a:solidFill>
                            <a:srgbClr val="40458B"/>
                          </a:solidFill>
                          <a:latin typeface="黑体"/>
                          <a:cs typeface="黑体"/>
                        </a:rPr>
                        <a:t>此26位跳转地址必须是4的倍数（</a:t>
                      </a:r>
                      <a:r>
                        <a:rPr dirty="0" sz="1800" spc="-15">
                          <a:solidFill>
                            <a:srgbClr val="40458B"/>
                          </a:solidFill>
                          <a:latin typeface="黑体"/>
                          <a:cs typeface="黑体"/>
                        </a:rPr>
                        <a:t>立即数左</a:t>
                      </a:r>
                      <a:r>
                        <a:rPr dirty="0" sz="1800" spc="-10">
                          <a:solidFill>
                            <a:srgbClr val="40458B"/>
                          </a:solidFill>
                          <a:latin typeface="黑体"/>
                          <a:cs typeface="黑体"/>
                        </a:rPr>
                        <a:t>移2位，保证起始地址是</a:t>
                      </a:r>
                      <a:r>
                        <a:rPr dirty="0" sz="1800">
                          <a:solidFill>
                            <a:srgbClr val="40458B"/>
                          </a:solidFill>
                          <a:latin typeface="黑体"/>
                          <a:cs typeface="黑体"/>
                        </a:rPr>
                        <a:t>****</a:t>
                      </a:r>
                      <a:r>
                        <a:rPr dirty="0" sz="1800" spc="75">
                          <a:solidFill>
                            <a:srgbClr val="40458B"/>
                          </a:solidFill>
                          <a:latin typeface="黑体"/>
                          <a:cs typeface="黑体"/>
                        </a:rPr>
                        <a:t> </a:t>
                      </a:r>
                      <a:r>
                        <a:rPr dirty="0" sz="1800" spc="-10">
                          <a:solidFill>
                            <a:srgbClr val="40458B"/>
                          </a:solidFill>
                          <a:latin typeface="黑体"/>
                          <a:cs typeface="黑体"/>
                        </a:rPr>
                        <a:t>…*00）</a:t>
                      </a:r>
                      <a:r>
                        <a:rPr dirty="0" sz="1800" spc="-50">
                          <a:solidFill>
                            <a:srgbClr val="40458B"/>
                          </a:solidFill>
                          <a:latin typeface="黑体"/>
                          <a:cs typeface="黑体"/>
                        </a:rPr>
                        <a:t>。</a:t>
                      </a:r>
                      <a:endParaRPr sz="1800">
                        <a:latin typeface="黑体"/>
                        <a:cs typeface="黑体"/>
                      </a:endParaRPr>
                    </a:p>
                    <a:p>
                      <a:pPr marL="92075" marR="76200">
                        <a:lnSpc>
                          <a:spcPct val="100000"/>
                        </a:lnSpc>
                        <a:spcBef>
                          <a:spcPts val="870"/>
                        </a:spcBef>
                      </a:pPr>
                      <a:r>
                        <a:rPr dirty="0" sz="1800">
                          <a:solidFill>
                            <a:srgbClr val="40458B"/>
                          </a:solidFill>
                          <a:latin typeface="黑体"/>
                          <a:cs typeface="黑体"/>
                        </a:rPr>
                        <a:t>例如 J 0X1000 #跳转到内存地址</a:t>
                      </a:r>
                      <a:r>
                        <a:rPr dirty="0" sz="1800" spc="-10">
                          <a:solidFill>
                            <a:srgbClr val="40458B"/>
                          </a:solidFill>
                          <a:latin typeface="黑体"/>
                          <a:cs typeface="黑体"/>
                        </a:rPr>
                        <a:t>0x1000</a:t>
                      </a:r>
                      <a:endParaRPr sz="1800">
                        <a:latin typeface="黑体"/>
                        <a:cs typeface="黑体"/>
                      </a:endParaRPr>
                    </a:p>
                  </a:txBody>
                  <a:tcPr marL="0" marR="0" marB="0" marT="635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1515745">
                <a:tc>
                  <a:txBody>
                    <a:bodyPr/>
                    <a:lstStyle/>
                    <a:p>
                      <a:pPr marL="91440">
                        <a:lnSpc>
                          <a:spcPct val="100000"/>
                        </a:lnSpc>
                        <a:spcBef>
                          <a:spcPts val="505"/>
                        </a:spcBef>
                        <a:tabLst>
                          <a:tab pos="662940" algn="l"/>
                        </a:tabLst>
                      </a:pPr>
                      <a:r>
                        <a:rPr dirty="0" sz="1800" spc="-25">
                          <a:solidFill>
                            <a:srgbClr val="40458B"/>
                          </a:solidFill>
                          <a:latin typeface="黑体"/>
                          <a:cs typeface="黑体"/>
                        </a:rPr>
                        <a:t>JAL</a:t>
                      </a:r>
                      <a:r>
                        <a:rPr dirty="0" sz="1800">
                          <a:solidFill>
                            <a:srgbClr val="40458B"/>
                          </a:solidFill>
                          <a:latin typeface="黑体"/>
                          <a:cs typeface="黑体"/>
                        </a:rPr>
                        <a:t>	</a:t>
                      </a:r>
                      <a:r>
                        <a:rPr dirty="0" sz="1800" spc="-20">
                          <a:solidFill>
                            <a:srgbClr val="40458B"/>
                          </a:solidFill>
                          <a:latin typeface="黑体"/>
                          <a:cs typeface="黑体"/>
                        </a:rPr>
                        <a:t>name</a:t>
                      </a:r>
                      <a:endParaRPr sz="1800">
                        <a:latin typeface="黑体"/>
                        <a:cs typeface="黑体"/>
                      </a:endParaRPr>
                    </a:p>
                  </a:txBody>
                  <a:tcPr marL="0" marR="0" marB="0" marT="6413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pPr>
                      <a:r>
                        <a:rPr dirty="0" sz="1800" spc="-10">
                          <a:solidFill>
                            <a:srgbClr val="40458B"/>
                          </a:solidFill>
                          <a:latin typeface="黑体"/>
                          <a:cs typeface="黑体"/>
                        </a:rPr>
                        <a:t>跳转并链接</a:t>
                      </a:r>
                      <a:endParaRPr sz="1800">
                        <a:latin typeface="黑体"/>
                        <a:cs typeface="黑体"/>
                      </a:endParaRPr>
                    </a:p>
                    <a:p>
                      <a:pPr marL="92075">
                        <a:lnSpc>
                          <a:spcPct val="100000"/>
                        </a:lnSpc>
                        <a:spcBef>
                          <a:spcPts val="865"/>
                        </a:spcBef>
                      </a:pPr>
                      <a:r>
                        <a:rPr dirty="0" sz="1800" spc="-20">
                          <a:solidFill>
                            <a:srgbClr val="FF0000"/>
                          </a:solidFill>
                          <a:latin typeface="黑体"/>
                          <a:cs typeface="黑体"/>
                        </a:rPr>
                        <a:t>带链接的无条件跳</a:t>
                      </a:r>
                      <a:endParaRPr sz="1800">
                        <a:latin typeface="黑体"/>
                        <a:cs typeface="黑体"/>
                      </a:endParaRPr>
                    </a:p>
                    <a:p>
                      <a:pPr marL="92075">
                        <a:lnSpc>
                          <a:spcPct val="100000"/>
                        </a:lnSpc>
                        <a:spcBef>
                          <a:spcPts val="434"/>
                        </a:spcBef>
                      </a:pPr>
                      <a:r>
                        <a:rPr dirty="0" sz="1800" spc="-20">
                          <a:solidFill>
                            <a:srgbClr val="FF0000"/>
                          </a:solidFill>
                          <a:latin typeface="黑体"/>
                          <a:cs typeface="黑体"/>
                        </a:rPr>
                        <a:t>转指令</a:t>
                      </a:r>
                      <a:endParaRPr sz="1800">
                        <a:latin typeface="黑体"/>
                        <a:cs typeface="黑体"/>
                      </a:endParaRPr>
                    </a:p>
                  </a:txBody>
                  <a:tcPr marL="0" marR="0" marB="0" marT="6413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76200">
                        <a:lnSpc>
                          <a:spcPct val="100000"/>
                        </a:lnSpc>
                        <a:spcBef>
                          <a:spcPts val="505"/>
                        </a:spcBef>
                      </a:pPr>
                      <a:r>
                        <a:rPr dirty="0" sz="1800">
                          <a:solidFill>
                            <a:srgbClr val="40458B"/>
                          </a:solidFill>
                          <a:latin typeface="黑体"/>
                          <a:cs typeface="黑体"/>
                        </a:rPr>
                        <a:t>Regs[R31]←PC+4；PC </a:t>
                      </a:r>
                      <a:r>
                        <a:rPr dirty="0" baseline="-20833" sz="1800" spc="-15">
                          <a:solidFill>
                            <a:srgbClr val="40458B"/>
                          </a:solidFill>
                          <a:latin typeface="黑体"/>
                          <a:cs typeface="黑体"/>
                        </a:rPr>
                        <a:t>36</a:t>
                      </a:r>
                      <a:r>
                        <a:rPr dirty="0" baseline="-20833" sz="1800" spc="-15">
                          <a:solidFill>
                            <a:srgbClr val="40458B"/>
                          </a:solidFill>
                          <a:latin typeface="Times New Roman"/>
                          <a:cs typeface="Times New Roman"/>
                        </a:rPr>
                        <a:t>··</a:t>
                      </a:r>
                      <a:r>
                        <a:rPr dirty="0" baseline="-20833" sz="1800" spc="-15">
                          <a:solidFill>
                            <a:srgbClr val="40458B"/>
                          </a:solidFill>
                          <a:latin typeface="黑体"/>
                          <a:cs typeface="黑体"/>
                        </a:rPr>
                        <a:t>63</a:t>
                      </a:r>
                      <a:r>
                        <a:rPr dirty="0" sz="1800" spc="-10">
                          <a:solidFill>
                            <a:srgbClr val="40458B"/>
                          </a:solidFill>
                          <a:latin typeface="黑体"/>
                          <a:cs typeface="黑体"/>
                        </a:rPr>
                        <a:t>←name；</a:t>
                      </a:r>
                      <a:endParaRPr sz="1800">
                        <a:latin typeface="黑体"/>
                        <a:cs typeface="黑体"/>
                      </a:endParaRPr>
                    </a:p>
                    <a:p>
                      <a:pPr marL="92075" marR="76200">
                        <a:lnSpc>
                          <a:spcPct val="100000"/>
                        </a:lnSpc>
                        <a:spcBef>
                          <a:spcPts val="865"/>
                        </a:spcBef>
                      </a:pPr>
                      <a:r>
                        <a:rPr dirty="0" sz="1800" spc="-10">
                          <a:solidFill>
                            <a:srgbClr val="40458B"/>
                          </a:solidFill>
                          <a:latin typeface="黑体"/>
                          <a:cs typeface="黑体"/>
                        </a:rPr>
                        <a:t>((PC+4)－2</a:t>
                      </a:r>
                      <a:r>
                        <a:rPr dirty="0" baseline="25462" sz="1800" spc="-15">
                          <a:solidFill>
                            <a:srgbClr val="40458B"/>
                          </a:solidFill>
                          <a:latin typeface="黑体"/>
                          <a:cs typeface="黑体"/>
                        </a:rPr>
                        <a:t>27</a:t>
                      </a:r>
                      <a:r>
                        <a:rPr dirty="0" sz="1800" spc="-10">
                          <a:solidFill>
                            <a:srgbClr val="40458B"/>
                          </a:solidFill>
                          <a:latin typeface="黑体"/>
                          <a:cs typeface="黑体"/>
                        </a:rPr>
                        <a:t>)≤name＜((PC+4)+2</a:t>
                      </a:r>
                      <a:r>
                        <a:rPr dirty="0" baseline="25462" sz="1800" spc="-15">
                          <a:solidFill>
                            <a:srgbClr val="40458B"/>
                          </a:solidFill>
                          <a:latin typeface="黑体"/>
                          <a:cs typeface="黑体"/>
                        </a:rPr>
                        <a:t>27</a:t>
                      </a:r>
                      <a:r>
                        <a:rPr dirty="0" sz="1800" spc="-10">
                          <a:solidFill>
                            <a:srgbClr val="40458B"/>
                          </a:solidFill>
                          <a:latin typeface="黑体"/>
                          <a:cs typeface="黑体"/>
                        </a:rPr>
                        <a:t>)</a:t>
                      </a:r>
                      <a:endParaRPr sz="1800">
                        <a:latin typeface="黑体"/>
                        <a:cs typeface="黑体"/>
                      </a:endParaRPr>
                    </a:p>
                    <a:p>
                      <a:pPr marL="92075" marR="229870">
                        <a:lnSpc>
                          <a:spcPct val="120000"/>
                        </a:lnSpc>
                        <a:spcBef>
                          <a:spcPts val="434"/>
                        </a:spcBef>
                      </a:pPr>
                      <a:r>
                        <a:rPr dirty="0" sz="1800">
                          <a:solidFill>
                            <a:srgbClr val="40458B"/>
                          </a:solidFill>
                          <a:latin typeface="黑体"/>
                          <a:cs typeface="黑体"/>
                        </a:rPr>
                        <a:t>1、先将下一条指令保存到R31；2</a:t>
                      </a:r>
                      <a:r>
                        <a:rPr dirty="0" sz="1800" spc="-20">
                          <a:solidFill>
                            <a:srgbClr val="40458B"/>
                          </a:solidFill>
                          <a:latin typeface="黑体"/>
                          <a:cs typeface="黑体"/>
                        </a:rPr>
                        <a:t>、然后</a:t>
                      </a:r>
                      <a:r>
                        <a:rPr dirty="0" sz="1800" spc="-10">
                          <a:solidFill>
                            <a:srgbClr val="40458B"/>
                          </a:solidFill>
                          <a:latin typeface="黑体"/>
                          <a:cs typeface="黑体"/>
                        </a:rPr>
                        <a:t>跳转到目标地址；</a:t>
                      </a:r>
                      <a:endParaRPr sz="1800">
                        <a:latin typeface="黑体"/>
                        <a:cs typeface="黑体"/>
                      </a:endParaRPr>
                    </a:p>
                  </a:txBody>
                  <a:tcPr marL="0" marR="0" marB="0" marT="6413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69900">
                <a:tc>
                  <a:txBody>
                    <a:bodyPr/>
                    <a:lstStyle/>
                    <a:p>
                      <a:pPr marL="91440">
                        <a:lnSpc>
                          <a:spcPct val="100000"/>
                        </a:lnSpc>
                        <a:spcBef>
                          <a:spcPts val="509"/>
                        </a:spcBef>
                        <a:tabLst>
                          <a:tab pos="777240" algn="l"/>
                        </a:tabLst>
                      </a:pPr>
                      <a:r>
                        <a:rPr dirty="0" sz="1800" spc="-20">
                          <a:solidFill>
                            <a:srgbClr val="40458B"/>
                          </a:solidFill>
                          <a:latin typeface="黑体"/>
                          <a:cs typeface="黑体"/>
                        </a:rPr>
                        <a:t>JALR</a:t>
                      </a:r>
                      <a:r>
                        <a:rPr dirty="0" sz="1800">
                          <a:solidFill>
                            <a:srgbClr val="40458B"/>
                          </a:solidFill>
                          <a:latin typeface="黑体"/>
                          <a:cs typeface="黑体"/>
                        </a:rPr>
                        <a:t>	</a:t>
                      </a:r>
                      <a:r>
                        <a:rPr dirty="0" sz="1800" spc="-25">
                          <a:solidFill>
                            <a:srgbClr val="40458B"/>
                          </a:solidFill>
                          <a:latin typeface="黑体"/>
                          <a:cs typeface="黑体"/>
                        </a:rPr>
                        <a:t>R3</a:t>
                      </a:r>
                      <a:endParaRPr sz="1800">
                        <a:latin typeface="黑体"/>
                        <a:cs typeface="黑体"/>
                      </a:endParaRPr>
                    </a:p>
                  </a:txBody>
                  <a:tcPr marL="0" marR="0" marB="0" marT="64769">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R="66675">
                        <a:lnSpc>
                          <a:spcPct val="100000"/>
                        </a:lnSpc>
                        <a:spcBef>
                          <a:spcPts val="509"/>
                        </a:spcBef>
                      </a:pPr>
                      <a:r>
                        <a:rPr dirty="0" sz="1800" spc="-10">
                          <a:solidFill>
                            <a:srgbClr val="40458B"/>
                          </a:solidFill>
                          <a:latin typeface="黑体"/>
                          <a:cs typeface="黑体"/>
                        </a:rPr>
                        <a:t>寄存器跳转并链接</a:t>
                      </a:r>
                      <a:endParaRPr sz="1800">
                        <a:latin typeface="黑体"/>
                        <a:cs typeface="黑体"/>
                      </a:endParaRPr>
                    </a:p>
                  </a:txBody>
                  <a:tcPr marL="0" marR="0" marB="0" marT="64769">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76200">
                        <a:lnSpc>
                          <a:spcPct val="100000"/>
                        </a:lnSpc>
                        <a:spcBef>
                          <a:spcPts val="509"/>
                        </a:spcBef>
                      </a:pPr>
                      <a:r>
                        <a:rPr dirty="0" sz="1800">
                          <a:solidFill>
                            <a:srgbClr val="40458B"/>
                          </a:solidFill>
                          <a:latin typeface="黑体"/>
                          <a:cs typeface="黑体"/>
                        </a:rPr>
                        <a:t>Regs[R31]←PC+4；PC← </a:t>
                      </a:r>
                      <a:r>
                        <a:rPr dirty="0" sz="1800" spc="-10">
                          <a:solidFill>
                            <a:srgbClr val="40458B"/>
                          </a:solidFill>
                          <a:latin typeface="黑体"/>
                          <a:cs typeface="黑体"/>
                        </a:rPr>
                        <a:t>Regs[R3]</a:t>
                      </a:r>
                      <a:endParaRPr sz="1800">
                        <a:latin typeface="黑体"/>
                        <a:cs typeface="黑体"/>
                      </a:endParaRPr>
                    </a:p>
                  </a:txBody>
                  <a:tcPr marL="0" marR="0" marB="0" marT="64769">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bl>
          </a:graphicData>
        </a:graphic>
      </p:graphicFrame>
      <p:sp>
        <p:nvSpPr>
          <p:cNvPr id="3" name="object 3"/>
          <p:cNvSpPr txBox="1">
            <a:spLocks noGrp="1"/>
          </p:cNvSpPr>
          <p:nvPr>
            <p:ph type="title"/>
          </p:nvPr>
        </p:nvSpPr>
        <p:spPr>
          <a:xfrm>
            <a:off x="2358644" y="218947"/>
            <a:ext cx="1348740" cy="422275"/>
          </a:xfrm>
          <a:prstGeom prst="rect"/>
        </p:spPr>
        <p:txBody>
          <a:bodyPr wrap="square" lIns="0" tIns="12700" rIns="0" bIns="0" rtlCol="0" vert="horz">
            <a:spAutoFit/>
          </a:bodyPr>
          <a:lstStyle/>
          <a:p>
            <a:pPr marL="12700">
              <a:lnSpc>
                <a:spcPct val="100000"/>
              </a:lnSpc>
              <a:spcBef>
                <a:spcPts val="100"/>
              </a:spcBef>
            </a:pPr>
            <a:r>
              <a:rPr dirty="0" u="none" sz="2600" spc="-15" b="0">
                <a:solidFill>
                  <a:srgbClr val="40458B"/>
                </a:solidFill>
                <a:latin typeface="黑体"/>
                <a:cs typeface="黑体"/>
              </a:rPr>
              <a:t>跳转指令</a:t>
            </a:r>
            <a:endParaRPr sz="2600">
              <a:latin typeface="黑体"/>
              <a:cs typeface="黑体"/>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760537" y="620712"/>
          <a:ext cx="8745855" cy="6221094"/>
        </p:xfrm>
        <a:graphic>
          <a:graphicData uri="http://schemas.openxmlformats.org/drawingml/2006/table">
            <a:tbl>
              <a:tblPr firstRow="1" bandRow="1">
                <a:tableStyleId>{2D5ABB26-0587-4C30-8999-92F81FD0307C}</a:tableStyleId>
              </a:tblPr>
              <a:tblGrid>
                <a:gridCol w="2305050"/>
                <a:gridCol w="2087879"/>
                <a:gridCol w="4248150"/>
              </a:tblGrid>
              <a:tr h="494030">
                <a:tc>
                  <a:txBody>
                    <a:bodyPr/>
                    <a:lstStyle/>
                    <a:p>
                      <a:pPr marL="641985">
                        <a:lnSpc>
                          <a:spcPct val="100000"/>
                        </a:lnSpc>
                        <a:spcBef>
                          <a:spcPts val="515"/>
                        </a:spcBef>
                      </a:pPr>
                      <a:r>
                        <a:rPr dirty="0" sz="2000" spc="-15">
                          <a:solidFill>
                            <a:srgbClr val="E14B04"/>
                          </a:solidFill>
                          <a:latin typeface="黑体"/>
                          <a:cs typeface="黑体"/>
                        </a:rPr>
                        <a:t>指令举例</a:t>
                      </a:r>
                      <a:endParaRPr sz="2000">
                        <a:latin typeface="黑体"/>
                        <a:cs typeface="黑体"/>
                      </a:endParaRPr>
                    </a:p>
                  </a:txBody>
                  <a:tcPr marL="0" marR="0" marB="0" marT="65404">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532765">
                        <a:lnSpc>
                          <a:spcPct val="100000"/>
                        </a:lnSpc>
                        <a:spcBef>
                          <a:spcPts val="515"/>
                        </a:spcBef>
                      </a:pPr>
                      <a:r>
                        <a:rPr dirty="0" sz="2000" spc="-15">
                          <a:solidFill>
                            <a:srgbClr val="E14B04"/>
                          </a:solidFill>
                          <a:latin typeface="黑体"/>
                          <a:cs typeface="黑体"/>
                        </a:rPr>
                        <a:t>指令名称</a:t>
                      </a:r>
                      <a:endParaRPr sz="2000">
                        <a:latin typeface="黑体"/>
                        <a:cs typeface="黑体"/>
                      </a:endParaRPr>
                    </a:p>
                  </a:txBody>
                  <a:tcPr marL="0" marR="0" marB="0" marT="65404">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635">
                        <a:lnSpc>
                          <a:spcPct val="100000"/>
                        </a:lnSpc>
                        <a:spcBef>
                          <a:spcPts val="515"/>
                        </a:spcBef>
                      </a:pPr>
                      <a:r>
                        <a:rPr dirty="0" sz="2000" spc="-25">
                          <a:solidFill>
                            <a:srgbClr val="E14B04"/>
                          </a:solidFill>
                          <a:latin typeface="黑体"/>
                          <a:cs typeface="黑体"/>
                        </a:rPr>
                        <a:t>含义</a:t>
                      </a:r>
                      <a:endParaRPr sz="2000">
                        <a:latin typeface="黑体"/>
                        <a:cs typeface="黑体"/>
                      </a:endParaRPr>
                    </a:p>
                  </a:txBody>
                  <a:tcPr marL="0" marR="0" marB="0" marT="65404">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802640">
                <a:tc>
                  <a:txBody>
                    <a:bodyPr/>
                    <a:lstStyle/>
                    <a:p>
                      <a:pPr marL="91440">
                        <a:lnSpc>
                          <a:spcPct val="100000"/>
                        </a:lnSpc>
                        <a:spcBef>
                          <a:spcPts val="495"/>
                        </a:spcBef>
                        <a:tabLst>
                          <a:tab pos="662940" algn="l"/>
                        </a:tabLst>
                      </a:pPr>
                      <a:r>
                        <a:rPr dirty="0" sz="1800" spc="-50">
                          <a:solidFill>
                            <a:srgbClr val="40458B"/>
                          </a:solidFill>
                          <a:latin typeface="黑体"/>
                          <a:cs typeface="黑体"/>
                        </a:rPr>
                        <a:t>J</a:t>
                      </a:r>
                      <a:r>
                        <a:rPr dirty="0" sz="1800">
                          <a:solidFill>
                            <a:srgbClr val="40458B"/>
                          </a:solidFill>
                          <a:latin typeface="黑体"/>
                          <a:cs typeface="黑体"/>
                        </a:rPr>
                        <a:t>	</a:t>
                      </a:r>
                      <a:r>
                        <a:rPr dirty="0" sz="1800" spc="-20">
                          <a:solidFill>
                            <a:srgbClr val="40458B"/>
                          </a:solidFill>
                          <a:latin typeface="黑体"/>
                          <a:cs typeface="黑体"/>
                        </a:rPr>
                        <a:t>name</a:t>
                      </a:r>
                      <a:endParaRPr sz="1800">
                        <a:latin typeface="黑体"/>
                        <a:cs typeface="黑体"/>
                      </a:endParaRPr>
                    </a:p>
                  </a:txBody>
                  <a:tcPr marL="0" marR="0" marB="0" marT="6286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495"/>
                        </a:spcBef>
                      </a:pPr>
                      <a:r>
                        <a:rPr dirty="0" sz="1800" spc="-30">
                          <a:solidFill>
                            <a:srgbClr val="40458B"/>
                          </a:solidFill>
                          <a:latin typeface="黑体"/>
                          <a:cs typeface="黑体"/>
                        </a:rPr>
                        <a:t>跳转</a:t>
                      </a:r>
                      <a:endParaRPr sz="1800">
                        <a:latin typeface="黑体"/>
                        <a:cs typeface="黑体"/>
                      </a:endParaRPr>
                    </a:p>
                  </a:txBody>
                  <a:tcPr marL="0" marR="0" marB="0" marT="628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495"/>
                        </a:spcBef>
                      </a:pPr>
                      <a:r>
                        <a:rPr dirty="0" sz="1800">
                          <a:solidFill>
                            <a:srgbClr val="40458B"/>
                          </a:solidFill>
                          <a:latin typeface="黑体"/>
                          <a:cs typeface="黑体"/>
                        </a:rPr>
                        <a:t>PC</a:t>
                      </a:r>
                      <a:r>
                        <a:rPr dirty="0" sz="1800" spc="-20">
                          <a:solidFill>
                            <a:srgbClr val="40458B"/>
                          </a:solidFill>
                          <a:latin typeface="黑体"/>
                          <a:cs typeface="黑体"/>
                        </a:rPr>
                        <a:t> </a:t>
                      </a:r>
                      <a:r>
                        <a:rPr dirty="0" baseline="-20833" sz="1800">
                          <a:solidFill>
                            <a:srgbClr val="40458B"/>
                          </a:solidFill>
                          <a:latin typeface="黑体"/>
                          <a:cs typeface="黑体"/>
                        </a:rPr>
                        <a:t>36</a:t>
                      </a:r>
                      <a:r>
                        <a:rPr dirty="0" baseline="-20833" sz="1800">
                          <a:solidFill>
                            <a:srgbClr val="40458B"/>
                          </a:solidFill>
                          <a:latin typeface="Times New Roman"/>
                          <a:cs typeface="Times New Roman"/>
                        </a:rPr>
                        <a:t>··</a:t>
                      </a:r>
                      <a:r>
                        <a:rPr dirty="0" baseline="-20833" sz="1800">
                          <a:solidFill>
                            <a:srgbClr val="40458B"/>
                          </a:solidFill>
                          <a:latin typeface="黑体"/>
                          <a:cs typeface="黑体"/>
                        </a:rPr>
                        <a:t>63</a:t>
                      </a:r>
                      <a:r>
                        <a:rPr dirty="0" sz="1800">
                          <a:solidFill>
                            <a:srgbClr val="40458B"/>
                          </a:solidFill>
                          <a:latin typeface="黑体"/>
                          <a:cs typeface="黑体"/>
                        </a:rPr>
                        <a:t>←</a:t>
                      </a:r>
                      <a:r>
                        <a:rPr dirty="0" sz="1800" spc="-5">
                          <a:solidFill>
                            <a:srgbClr val="40458B"/>
                          </a:solidFill>
                          <a:latin typeface="黑体"/>
                          <a:cs typeface="黑体"/>
                        </a:rPr>
                        <a:t> </a:t>
                      </a:r>
                      <a:r>
                        <a:rPr dirty="0" sz="1800" spc="-20">
                          <a:solidFill>
                            <a:srgbClr val="40458B"/>
                          </a:solidFill>
                          <a:latin typeface="黑体"/>
                          <a:cs typeface="黑体"/>
                        </a:rPr>
                        <a:t>name</a:t>
                      </a:r>
                      <a:endParaRPr sz="1800">
                        <a:latin typeface="黑体"/>
                        <a:cs typeface="黑体"/>
                      </a:endParaRPr>
                    </a:p>
                    <a:p>
                      <a:pPr marL="92075">
                        <a:lnSpc>
                          <a:spcPct val="100000"/>
                        </a:lnSpc>
                        <a:spcBef>
                          <a:spcPts val="870"/>
                        </a:spcBef>
                      </a:pPr>
                      <a:r>
                        <a:rPr dirty="0" sz="1800">
                          <a:solidFill>
                            <a:srgbClr val="40458B"/>
                          </a:solidFill>
                          <a:latin typeface="黑体"/>
                          <a:cs typeface="黑体"/>
                        </a:rPr>
                        <a:t>例如 J 0X1000 #跳转到内存地址</a:t>
                      </a:r>
                      <a:r>
                        <a:rPr dirty="0" sz="1800" spc="-10">
                          <a:solidFill>
                            <a:srgbClr val="40458B"/>
                          </a:solidFill>
                          <a:latin typeface="黑体"/>
                          <a:cs typeface="黑体"/>
                        </a:rPr>
                        <a:t>0x1000</a:t>
                      </a:r>
                      <a:endParaRPr sz="1800">
                        <a:latin typeface="黑体"/>
                        <a:cs typeface="黑体"/>
                      </a:endParaRPr>
                    </a:p>
                  </a:txBody>
                  <a:tcPr marL="0" marR="0" marB="0" marT="6286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1186180">
                <a:tc>
                  <a:txBody>
                    <a:bodyPr/>
                    <a:lstStyle/>
                    <a:p>
                      <a:pPr marL="91440">
                        <a:lnSpc>
                          <a:spcPct val="100000"/>
                        </a:lnSpc>
                        <a:spcBef>
                          <a:spcPts val="500"/>
                        </a:spcBef>
                        <a:tabLst>
                          <a:tab pos="662940" algn="l"/>
                        </a:tabLst>
                      </a:pPr>
                      <a:r>
                        <a:rPr dirty="0" sz="1800" spc="-25">
                          <a:solidFill>
                            <a:srgbClr val="40458B"/>
                          </a:solidFill>
                          <a:latin typeface="黑体"/>
                          <a:cs typeface="黑体"/>
                        </a:rPr>
                        <a:t>JAL</a:t>
                      </a:r>
                      <a:r>
                        <a:rPr dirty="0" sz="1800">
                          <a:solidFill>
                            <a:srgbClr val="40458B"/>
                          </a:solidFill>
                          <a:latin typeface="黑体"/>
                          <a:cs typeface="黑体"/>
                        </a:rPr>
                        <a:t>	</a:t>
                      </a:r>
                      <a:r>
                        <a:rPr dirty="0" sz="1800" spc="-20">
                          <a:solidFill>
                            <a:srgbClr val="40458B"/>
                          </a:solidFill>
                          <a:latin typeface="黑体"/>
                          <a:cs typeface="黑体"/>
                        </a:rPr>
                        <a:t>name</a:t>
                      </a:r>
                      <a:endParaRPr sz="1800">
                        <a:latin typeface="黑体"/>
                        <a:cs typeface="黑体"/>
                      </a:endParaRPr>
                    </a:p>
                  </a:txBody>
                  <a:tcPr marL="0" marR="0" marB="0" marT="6350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500"/>
                        </a:spcBef>
                      </a:pPr>
                      <a:r>
                        <a:rPr dirty="0" sz="1800" spc="-10">
                          <a:solidFill>
                            <a:srgbClr val="40458B"/>
                          </a:solidFill>
                          <a:latin typeface="黑体"/>
                          <a:cs typeface="黑体"/>
                        </a:rPr>
                        <a:t>跳转并链接</a:t>
                      </a:r>
                      <a:endParaRPr sz="1800">
                        <a:latin typeface="黑体"/>
                        <a:cs typeface="黑体"/>
                      </a:endParaRPr>
                    </a:p>
                  </a:txBody>
                  <a:tcPr marL="0" marR="0" marB="0" marT="635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0"/>
                        </a:spcBef>
                      </a:pPr>
                      <a:r>
                        <a:rPr dirty="0" sz="1800">
                          <a:solidFill>
                            <a:srgbClr val="40458B"/>
                          </a:solidFill>
                          <a:latin typeface="黑体"/>
                          <a:cs typeface="黑体"/>
                        </a:rPr>
                        <a:t>Regs[R31]←PC+4；PC </a:t>
                      </a:r>
                      <a:r>
                        <a:rPr dirty="0" baseline="-20833" sz="1800" spc="-15">
                          <a:solidFill>
                            <a:srgbClr val="40458B"/>
                          </a:solidFill>
                          <a:latin typeface="黑体"/>
                          <a:cs typeface="黑体"/>
                        </a:rPr>
                        <a:t>36</a:t>
                      </a:r>
                      <a:r>
                        <a:rPr dirty="0" baseline="-20833" sz="1800" spc="-15">
                          <a:solidFill>
                            <a:srgbClr val="40458B"/>
                          </a:solidFill>
                          <a:latin typeface="Times New Roman"/>
                          <a:cs typeface="Times New Roman"/>
                        </a:rPr>
                        <a:t>··</a:t>
                      </a:r>
                      <a:r>
                        <a:rPr dirty="0" baseline="-20833" sz="1800" spc="-15">
                          <a:solidFill>
                            <a:srgbClr val="40458B"/>
                          </a:solidFill>
                          <a:latin typeface="黑体"/>
                          <a:cs typeface="黑体"/>
                        </a:rPr>
                        <a:t>63</a:t>
                      </a:r>
                      <a:r>
                        <a:rPr dirty="0" sz="1800" spc="-10">
                          <a:solidFill>
                            <a:srgbClr val="40458B"/>
                          </a:solidFill>
                          <a:latin typeface="黑体"/>
                          <a:cs typeface="黑体"/>
                        </a:rPr>
                        <a:t>←name；</a:t>
                      </a:r>
                      <a:endParaRPr sz="1800">
                        <a:latin typeface="黑体"/>
                        <a:cs typeface="黑体"/>
                      </a:endParaRPr>
                    </a:p>
                    <a:p>
                      <a:pPr marL="92075">
                        <a:lnSpc>
                          <a:spcPct val="100000"/>
                        </a:lnSpc>
                        <a:spcBef>
                          <a:spcPts val="865"/>
                        </a:spcBef>
                      </a:pPr>
                      <a:r>
                        <a:rPr dirty="0" sz="1800" spc="-10">
                          <a:solidFill>
                            <a:srgbClr val="40458B"/>
                          </a:solidFill>
                          <a:latin typeface="黑体"/>
                          <a:cs typeface="黑体"/>
                        </a:rPr>
                        <a:t>((PC+4)－2</a:t>
                      </a:r>
                      <a:r>
                        <a:rPr dirty="0" baseline="25462" sz="1800" spc="-15">
                          <a:solidFill>
                            <a:srgbClr val="40458B"/>
                          </a:solidFill>
                          <a:latin typeface="黑体"/>
                          <a:cs typeface="黑体"/>
                        </a:rPr>
                        <a:t>27</a:t>
                      </a:r>
                      <a:r>
                        <a:rPr dirty="0" sz="1800" spc="-10">
                          <a:solidFill>
                            <a:srgbClr val="40458B"/>
                          </a:solidFill>
                          <a:latin typeface="黑体"/>
                          <a:cs typeface="黑体"/>
                        </a:rPr>
                        <a:t>)≤name＜((PC+4)+2</a:t>
                      </a:r>
                      <a:r>
                        <a:rPr dirty="0" baseline="25462" sz="1800" spc="-15">
                          <a:solidFill>
                            <a:srgbClr val="40458B"/>
                          </a:solidFill>
                          <a:latin typeface="黑体"/>
                          <a:cs typeface="黑体"/>
                        </a:rPr>
                        <a:t>27</a:t>
                      </a:r>
                      <a:r>
                        <a:rPr dirty="0" sz="1800" spc="-10">
                          <a:solidFill>
                            <a:srgbClr val="40458B"/>
                          </a:solidFill>
                          <a:latin typeface="黑体"/>
                          <a:cs typeface="黑体"/>
                        </a:rPr>
                        <a:t>)</a:t>
                      </a:r>
                      <a:endParaRPr sz="1800">
                        <a:latin typeface="黑体"/>
                        <a:cs typeface="黑体"/>
                      </a:endParaRPr>
                    </a:p>
                  </a:txBody>
                  <a:tcPr marL="0" marR="0" marB="0" marT="635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67995">
                <a:tc>
                  <a:txBody>
                    <a:bodyPr/>
                    <a:lstStyle/>
                    <a:p>
                      <a:pPr marL="91440">
                        <a:lnSpc>
                          <a:spcPct val="100000"/>
                        </a:lnSpc>
                        <a:spcBef>
                          <a:spcPts val="500"/>
                        </a:spcBef>
                        <a:tabLst>
                          <a:tab pos="777240" algn="l"/>
                        </a:tabLst>
                      </a:pPr>
                      <a:r>
                        <a:rPr dirty="0" sz="1800" spc="-20">
                          <a:solidFill>
                            <a:srgbClr val="40458B"/>
                          </a:solidFill>
                          <a:latin typeface="黑体"/>
                          <a:cs typeface="黑体"/>
                        </a:rPr>
                        <a:t>JALR</a:t>
                      </a:r>
                      <a:r>
                        <a:rPr dirty="0" sz="1800">
                          <a:solidFill>
                            <a:srgbClr val="40458B"/>
                          </a:solidFill>
                          <a:latin typeface="黑体"/>
                          <a:cs typeface="黑体"/>
                        </a:rPr>
                        <a:t>	</a:t>
                      </a:r>
                      <a:r>
                        <a:rPr dirty="0" sz="1800" spc="-25">
                          <a:solidFill>
                            <a:srgbClr val="40458B"/>
                          </a:solidFill>
                          <a:latin typeface="黑体"/>
                          <a:cs typeface="黑体"/>
                        </a:rPr>
                        <a:t>R3</a:t>
                      </a:r>
                      <a:endParaRPr sz="1800">
                        <a:latin typeface="黑体"/>
                        <a:cs typeface="黑体"/>
                      </a:endParaRPr>
                    </a:p>
                  </a:txBody>
                  <a:tcPr marL="0" marR="0" marB="0" marT="6350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500"/>
                        </a:spcBef>
                      </a:pPr>
                      <a:r>
                        <a:rPr dirty="0" sz="1800" spc="-20">
                          <a:solidFill>
                            <a:srgbClr val="40458B"/>
                          </a:solidFill>
                          <a:latin typeface="黑体"/>
                          <a:cs typeface="黑体"/>
                        </a:rPr>
                        <a:t>寄存器跳转并链接</a:t>
                      </a:r>
                      <a:endParaRPr sz="1800">
                        <a:latin typeface="黑体"/>
                        <a:cs typeface="黑体"/>
                      </a:endParaRPr>
                    </a:p>
                  </a:txBody>
                  <a:tcPr marL="0" marR="0" marB="0" marT="635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0"/>
                        </a:spcBef>
                      </a:pPr>
                      <a:r>
                        <a:rPr dirty="0" sz="1800">
                          <a:solidFill>
                            <a:srgbClr val="40458B"/>
                          </a:solidFill>
                          <a:latin typeface="黑体"/>
                          <a:cs typeface="黑体"/>
                        </a:rPr>
                        <a:t>Regs[R31]←PC+4；PC←</a:t>
                      </a:r>
                      <a:r>
                        <a:rPr dirty="0" sz="1800" spc="-80">
                          <a:solidFill>
                            <a:srgbClr val="40458B"/>
                          </a:solidFill>
                          <a:latin typeface="黑体"/>
                          <a:cs typeface="黑体"/>
                        </a:rPr>
                        <a:t> </a:t>
                      </a:r>
                      <a:r>
                        <a:rPr dirty="0" sz="1800" spc="-10">
                          <a:solidFill>
                            <a:srgbClr val="40458B"/>
                          </a:solidFill>
                          <a:latin typeface="黑体"/>
                          <a:cs typeface="黑体"/>
                        </a:rPr>
                        <a:t>Regs[R3]</a:t>
                      </a:r>
                      <a:endParaRPr sz="1800">
                        <a:latin typeface="黑体"/>
                        <a:cs typeface="黑体"/>
                      </a:endParaRPr>
                    </a:p>
                  </a:txBody>
                  <a:tcPr marL="0" marR="0" marB="0" marT="635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92759">
                <a:tc>
                  <a:txBody>
                    <a:bodyPr/>
                    <a:lstStyle/>
                    <a:p>
                      <a:pPr marL="91440">
                        <a:lnSpc>
                          <a:spcPct val="100000"/>
                        </a:lnSpc>
                        <a:spcBef>
                          <a:spcPts val="500"/>
                        </a:spcBef>
                        <a:tabLst>
                          <a:tab pos="548640" algn="l"/>
                        </a:tabLst>
                      </a:pPr>
                      <a:r>
                        <a:rPr dirty="0" sz="1800" spc="-25">
                          <a:solidFill>
                            <a:srgbClr val="40458B"/>
                          </a:solidFill>
                          <a:latin typeface="黑体"/>
                          <a:cs typeface="黑体"/>
                        </a:rPr>
                        <a:t>JR</a:t>
                      </a:r>
                      <a:r>
                        <a:rPr dirty="0" sz="1800">
                          <a:solidFill>
                            <a:srgbClr val="40458B"/>
                          </a:solidFill>
                          <a:latin typeface="黑体"/>
                          <a:cs typeface="黑体"/>
                        </a:rPr>
                        <a:t>	</a:t>
                      </a:r>
                      <a:r>
                        <a:rPr dirty="0" sz="1800" spc="-25">
                          <a:solidFill>
                            <a:srgbClr val="40458B"/>
                          </a:solidFill>
                          <a:latin typeface="黑体"/>
                          <a:cs typeface="黑体"/>
                        </a:rPr>
                        <a:t>R5</a:t>
                      </a:r>
                      <a:endParaRPr sz="1800">
                        <a:latin typeface="黑体"/>
                        <a:cs typeface="黑体"/>
                      </a:endParaRPr>
                    </a:p>
                  </a:txBody>
                  <a:tcPr marL="0" marR="0" marB="0" marT="6350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500"/>
                        </a:spcBef>
                      </a:pPr>
                      <a:r>
                        <a:rPr dirty="0" sz="1800" spc="-10">
                          <a:solidFill>
                            <a:srgbClr val="40458B"/>
                          </a:solidFill>
                          <a:latin typeface="黑体"/>
                          <a:cs typeface="黑体"/>
                        </a:rPr>
                        <a:t>寄存器跳转</a:t>
                      </a:r>
                      <a:endParaRPr sz="1800">
                        <a:latin typeface="黑体"/>
                        <a:cs typeface="黑体"/>
                      </a:endParaRPr>
                    </a:p>
                  </a:txBody>
                  <a:tcPr marL="0" marR="0" marB="0" marT="635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0"/>
                        </a:spcBef>
                      </a:pPr>
                      <a:r>
                        <a:rPr dirty="0" sz="1800">
                          <a:solidFill>
                            <a:srgbClr val="40458B"/>
                          </a:solidFill>
                          <a:latin typeface="黑体"/>
                          <a:cs typeface="黑体"/>
                        </a:rPr>
                        <a:t>PC← </a:t>
                      </a:r>
                      <a:r>
                        <a:rPr dirty="0" sz="1800" spc="-10">
                          <a:solidFill>
                            <a:srgbClr val="40458B"/>
                          </a:solidFill>
                          <a:latin typeface="黑体"/>
                          <a:cs typeface="黑体"/>
                        </a:rPr>
                        <a:t>Regs[R5]</a:t>
                      </a:r>
                      <a:endParaRPr sz="1800">
                        <a:latin typeface="黑体"/>
                        <a:cs typeface="黑体"/>
                      </a:endParaRPr>
                    </a:p>
                  </a:txBody>
                  <a:tcPr marL="0" marR="0" marB="0" marT="635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02640">
                <a:tc>
                  <a:txBody>
                    <a:bodyPr/>
                    <a:lstStyle/>
                    <a:p>
                      <a:pPr marL="91440">
                        <a:lnSpc>
                          <a:spcPct val="100000"/>
                        </a:lnSpc>
                        <a:spcBef>
                          <a:spcPts val="505"/>
                        </a:spcBef>
                      </a:pPr>
                      <a:r>
                        <a:rPr dirty="0" sz="1800">
                          <a:solidFill>
                            <a:srgbClr val="40458B"/>
                          </a:solidFill>
                          <a:latin typeface="黑体"/>
                          <a:cs typeface="黑体"/>
                        </a:rPr>
                        <a:t>BEQZ </a:t>
                      </a:r>
                      <a:r>
                        <a:rPr dirty="0" sz="1800" spc="-10">
                          <a:solidFill>
                            <a:srgbClr val="40458B"/>
                          </a:solidFill>
                          <a:latin typeface="黑体"/>
                          <a:cs typeface="黑体"/>
                        </a:rPr>
                        <a:t>R4，name</a:t>
                      </a:r>
                      <a:endParaRPr sz="1800">
                        <a:latin typeface="黑体"/>
                        <a:cs typeface="黑体"/>
                      </a:endParaRPr>
                    </a:p>
                  </a:txBody>
                  <a:tcPr marL="0" marR="0" marB="0" marT="6413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505"/>
                        </a:spcBef>
                      </a:pPr>
                      <a:r>
                        <a:rPr dirty="0" sz="1800" spc="-10">
                          <a:solidFill>
                            <a:srgbClr val="40458B"/>
                          </a:solidFill>
                          <a:latin typeface="黑体"/>
                          <a:cs typeface="黑体"/>
                        </a:rPr>
                        <a:t>等于零时分支</a:t>
                      </a:r>
                      <a:endParaRPr sz="1800">
                        <a:latin typeface="黑体"/>
                        <a:cs typeface="黑体"/>
                      </a:endParaRPr>
                    </a:p>
                  </a:txBody>
                  <a:tcPr marL="0" marR="0" marB="0" marT="6413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tabLst>
                          <a:tab pos="2149475" algn="l"/>
                          <a:tab pos="3292475" algn="l"/>
                        </a:tabLst>
                      </a:pPr>
                      <a:r>
                        <a:rPr dirty="0" sz="1800">
                          <a:solidFill>
                            <a:srgbClr val="40458B"/>
                          </a:solidFill>
                          <a:latin typeface="黑体"/>
                          <a:cs typeface="黑体"/>
                        </a:rPr>
                        <a:t>if(Regs[R4]== </a:t>
                      </a:r>
                      <a:r>
                        <a:rPr dirty="0" sz="1800" spc="-25">
                          <a:solidFill>
                            <a:srgbClr val="40458B"/>
                          </a:solidFill>
                          <a:latin typeface="黑体"/>
                          <a:cs typeface="黑体"/>
                        </a:rPr>
                        <a:t>0)</a:t>
                      </a:r>
                      <a:r>
                        <a:rPr dirty="0" sz="1800">
                          <a:solidFill>
                            <a:srgbClr val="40458B"/>
                          </a:solidFill>
                          <a:latin typeface="黑体"/>
                          <a:cs typeface="黑体"/>
                        </a:rPr>
                        <a:t>	</a:t>
                      </a:r>
                      <a:r>
                        <a:rPr dirty="0" sz="1800" spc="-10">
                          <a:solidFill>
                            <a:srgbClr val="40458B"/>
                          </a:solidFill>
                          <a:latin typeface="黑体"/>
                          <a:cs typeface="黑体"/>
                        </a:rPr>
                        <a:t>PC←name</a:t>
                      </a:r>
                      <a:r>
                        <a:rPr dirty="0" sz="1800">
                          <a:solidFill>
                            <a:srgbClr val="40458B"/>
                          </a:solidFill>
                          <a:latin typeface="黑体"/>
                          <a:cs typeface="黑体"/>
                        </a:rPr>
                        <a:t>	</a:t>
                      </a:r>
                      <a:r>
                        <a:rPr dirty="0" sz="1800" spc="-50">
                          <a:solidFill>
                            <a:srgbClr val="40458B"/>
                          </a:solidFill>
                          <a:latin typeface="黑体"/>
                          <a:cs typeface="黑体"/>
                        </a:rPr>
                        <a:t>；</a:t>
                      </a:r>
                      <a:endParaRPr sz="1800">
                        <a:latin typeface="黑体"/>
                        <a:cs typeface="黑体"/>
                      </a:endParaRPr>
                    </a:p>
                    <a:p>
                      <a:pPr marL="92075">
                        <a:lnSpc>
                          <a:spcPct val="100000"/>
                        </a:lnSpc>
                        <a:spcBef>
                          <a:spcPts val="860"/>
                        </a:spcBef>
                      </a:pPr>
                      <a:r>
                        <a:rPr dirty="0" sz="1800" spc="-10">
                          <a:solidFill>
                            <a:srgbClr val="40458B"/>
                          </a:solidFill>
                          <a:latin typeface="黑体"/>
                          <a:cs typeface="黑体"/>
                        </a:rPr>
                        <a:t>((PC+4)－2</a:t>
                      </a:r>
                      <a:r>
                        <a:rPr dirty="0" baseline="25462" sz="1800" spc="-15">
                          <a:solidFill>
                            <a:srgbClr val="40458B"/>
                          </a:solidFill>
                          <a:latin typeface="黑体"/>
                          <a:cs typeface="黑体"/>
                        </a:rPr>
                        <a:t>17</a:t>
                      </a:r>
                      <a:r>
                        <a:rPr dirty="0" sz="1800" spc="-10">
                          <a:solidFill>
                            <a:srgbClr val="40458B"/>
                          </a:solidFill>
                          <a:latin typeface="黑体"/>
                          <a:cs typeface="黑体"/>
                        </a:rPr>
                        <a:t>)≤name＜((PC+4)+2</a:t>
                      </a:r>
                      <a:r>
                        <a:rPr dirty="0" baseline="25462" sz="1800" spc="-15">
                          <a:solidFill>
                            <a:srgbClr val="40458B"/>
                          </a:solidFill>
                          <a:latin typeface="黑体"/>
                          <a:cs typeface="黑体"/>
                        </a:rPr>
                        <a:t>17</a:t>
                      </a:r>
                      <a:r>
                        <a:rPr dirty="0" sz="1800" spc="-10">
                          <a:solidFill>
                            <a:srgbClr val="40458B"/>
                          </a:solidFill>
                          <a:latin typeface="黑体"/>
                          <a:cs typeface="黑体"/>
                        </a:rPr>
                        <a:t>)</a:t>
                      </a:r>
                      <a:endParaRPr sz="1800">
                        <a:latin typeface="黑体"/>
                        <a:cs typeface="黑体"/>
                      </a:endParaRPr>
                    </a:p>
                  </a:txBody>
                  <a:tcPr marL="0" marR="0" marB="0" marT="6413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1515745">
                <a:tc>
                  <a:txBody>
                    <a:bodyPr/>
                    <a:lstStyle/>
                    <a:p>
                      <a:pPr marL="91440">
                        <a:lnSpc>
                          <a:spcPct val="100000"/>
                        </a:lnSpc>
                        <a:spcBef>
                          <a:spcPts val="505"/>
                        </a:spcBef>
                        <a:tabLst>
                          <a:tab pos="662940" algn="l"/>
                        </a:tabLst>
                      </a:pPr>
                      <a:r>
                        <a:rPr dirty="0" sz="1800" spc="-25">
                          <a:solidFill>
                            <a:srgbClr val="40458B"/>
                          </a:solidFill>
                          <a:latin typeface="黑体"/>
                          <a:cs typeface="黑体"/>
                        </a:rPr>
                        <a:t>BNE</a:t>
                      </a:r>
                      <a:r>
                        <a:rPr dirty="0" sz="1800">
                          <a:solidFill>
                            <a:srgbClr val="40458B"/>
                          </a:solidFill>
                          <a:latin typeface="黑体"/>
                          <a:cs typeface="黑体"/>
                        </a:rPr>
                        <a:t>	</a:t>
                      </a:r>
                      <a:r>
                        <a:rPr dirty="0" sz="1800" spc="-10">
                          <a:solidFill>
                            <a:srgbClr val="40458B"/>
                          </a:solidFill>
                          <a:latin typeface="黑体"/>
                          <a:cs typeface="黑体"/>
                        </a:rPr>
                        <a:t>R3，R4，name</a:t>
                      </a:r>
                      <a:endParaRPr sz="1800">
                        <a:latin typeface="黑体"/>
                        <a:cs typeface="黑体"/>
                      </a:endParaRPr>
                    </a:p>
                  </a:txBody>
                  <a:tcPr marL="0" marR="0" marB="0" marT="6413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1440">
                        <a:lnSpc>
                          <a:spcPct val="100000"/>
                        </a:lnSpc>
                        <a:spcBef>
                          <a:spcPts val="505"/>
                        </a:spcBef>
                      </a:pPr>
                      <a:r>
                        <a:rPr dirty="0" sz="1800" spc="-10">
                          <a:solidFill>
                            <a:srgbClr val="40458B"/>
                          </a:solidFill>
                          <a:latin typeface="黑体"/>
                          <a:cs typeface="黑体"/>
                        </a:rPr>
                        <a:t>不相等时分支</a:t>
                      </a:r>
                      <a:endParaRPr sz="1800">
                        <a:latin typeface="黑体"/>
                        <a:cs typeface="黑体"/>
                      </a:endParaRPr>
                    </a:p>
                  </a:txBody>
                  <a:tcPr marL="0" marR="0" marB="0" marT="6413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05"/>
                        </a:spcBef>
                      </a:pPr>
                      <a:r>
                        <a:rPr dirty="0" sz="1800">
                          <a:solidFill>
                            <a:srgbClr val="40458B"/>
                          </a:solidFill>
                          <a:latin typeface="黑体"/>
                          <a:cs typeface="黑体"/>
                        </a:rPr>
                        <a:t>if(Regs[R3]!= Regs[R4]) </a:t>
                      </a:r>
                      <a:r>
                        <a:rPr dirty="0" sz="1800" spc="-10">
                          <a:solidFill>
                            <a:srgbClr val="40458B"/>
                          </a:solidFill>
                          <a:latin typeface="黑体"/>
                          <a:cs typeface="黑体"/>
                        </a:rPr>
                        <a:t>PC←name</a:t>
                      </a:r>
                      <a:endParaRPr sz="1800">
                        <a:latin typeface="黑体"/>
                        <a:cs typeface="黑体"/>
                      </a:endParaRPr>
                    </a:p>
                    <a:p>
                      <a:pPr marL="92075">
                        <a:lnSpc>
                          <a:spcPct val="100000"/>
                        </a:lnSpc>
                        <a:spcBef>
                          <a:spcPts val="865"/>
                        </a:spcBef>
                      </a:pPr>
                      <a:r>
                        <a:rPr dirty="0" sz="1800" spc="-10">
                          <a:solidFill>
                            <a:srgbClr val="40458B"/>
                          </a:solidFill>
                          <a:latin typeface="黑体"/>
                          <a:cs typeface="黑体"/>
                        </a:rPr>
                        <a:t>((PC+4)－2</a:t>
                      </a:r>
                      <a:r>
                        <a:rPr dirty="0" baseline="25462" sz="1800" spc="-15">
                          <a:solidFill>
                            <a:srgbClr val="40458B"/>
                          </a:solidFill>
                          <a:latin typeface="黑体"/>
                          <a:cs typeface="黑体"/>
                        </a:rPr>
                        <a:t>17</a:t>
                      </a:r>
                      <a:r>
                        <a:rPr dirty="0" sz="1800" spc="-10">
                          <a:solidFill>
                            <a:srgbClr val="40458B"/>
                          </a:solidFill>
                          <a:latin typeface="黑体"/>
                          <a:cs typeface="黑体"/>
                        </a:rPr>
                        <a:t>)≤name＜((PC+4)+2</a:t>
                      </a:r>
                      <a:r>
                        <a:rPr dirty="0" baseline="25462" sz="1800" spc="-15">
                          <a:solidFill>
                            <a:srgbClr val="40458B"/>
                          </a:solidFill>
                          <a:latin typeface="黑体"/>
                          <a:cs typeface="黑体"/>
                        </a:rPr>
                        <a:t>17</a:t>
                      </a:r>
                      <a:r>
                        <a:rPr dirty="0" sz="1800" spc="-10">
                          <a:solidFill>
                            <a:srgbClr val="40458B"/>
                          </a:solidFill>
                          <a:latin typeface="黑体"/>
                          <a:cs typeface="黑体"/>
                        </a:rPr>
                        <a:t>)</a:t>
                      </a:r>
                      <a:endParaRPr sz="1800">
                        <a:latin typeface="黑体"/>
                        <a:cs typeface="黑体"/>
                      </a:endParaRPr>
                    </a:p>
                    <a:p>
                      <a:pPr marL="92075" marR="226695">
                        <a:lnSpc>
                          <a:spcPct val="120000"/>
                        </a:lnSpc>
                        <a:spcBef>
                          <a:spcPts val="434"/>
                        </a:spcBef>
                      </a:pPr>
                      <a:r>
                        <a:rPr dirty="0" sz="1800">
                          <a:solidFill>
                            <a:srgbClr val="40458B"/>
                          </a:solidFill>
                          <a:latin typeface="黑体"/>
                          <a:cs typeface="黑体"/>
                        </a:rPr>
                        <a:t>标签</a:t>
                      </a:r>
                      <a:r>
                        <a:rPr dirty="0" sz="1800" spc="-20">
                          <a:solidFill>
                            <a:srgbClr val="40458B"/>
                          </a:solidFill>
                          <a:latin typeface="Tahoma"/>
                          <a:cs typeface="Tahoma"/>
                        </a:rPr>
                        <a:t>name</a:t>
                      </a:r>
                      <a:r>
                        <a:rPr dirty="0" sz="1800">
                          <a:solidFill>
                            <a:srgbClr val="40458B"/>
                          </a:solidFill>
                          <a:latin typeface="黑体"/>
                          <a:cs typeface="黑体"/>
                        </a:rPr>
                        <a:t>的地址范围由当前</a:t>
                      </a:r>
                      <a:r>
                        <a:rPr dirty="0" sz="1800" spc="-10">
                          <a:solidFill>
                            <a:srgbClr val="40458B"/>
                          </a:solidFill>
                          <a:latin typeface="Tahoma"/>
                          <a:cs typeface="Tahoma"/>
                        </a:rPr>
                        <a:t>PC</a:t>
                      </a:r>
                      <a:r>
                        <a:rPr dirty="0" sz="1800">
                          <a:solidFill>
                            <a:srgbClr val="40458B"/>
                          </a:solidFill>
                          <a:latin typeface="黑体"/>
                          <a:cs typeface="黑体"/>
                        </a:rPr>
                        <a:t>加上</a:t>
                      </a:r>
                      <a:r>
                        <a:rPr dirty="0" sz="1800" spc="-10">
                          <a:solidFill>
                            <a:srgbClr val="40458B"/>
                          </a:solidFill>
                          <a:latin typeface="Tahoma"/>
                          <a:cs typeface="Tahoma"/>
                        </a:rPr>
                        <a:t>4</a:t>
                      </a:r>
                      <a:r>
                        <a:rPr dirty="0" sz="1800" spc="-50">
                          <a:solidFill>
                            <a:srgbClr val="40458B"/>
                          </a:solidFill>
                          <a:latin typeface="黑体"/>
                          <a:cs typeface="黑体"/>
                        </a:rPr>
                        <a:t>字</a:t>
                      </a:r>
                      <a:r>
                        <a:rPr dirty="0" sz="1800" spc="-10">
                          <a:solidFill>
                            <a:srgbClr val="40458B"/>
                          </a:solidFill>
                          <a:latin typeface="黑体"/>
                          <a:cs typeface="黑体"/>
                        </a:rPr>
                        <a:t>节对齐后的地址决定</a:t>
                      </a:r>
                      <a:endParaRPr sz="1800">
                        <a:latin typeface="黑体"/>
                        <a:cs typeface="黑体"/>
                      </a:endParaRPr>
                    </a:p>
                  </a:txBody>
                  <a:tcPr marL="0" marR="0" marB="0" marT="6413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59105">
                <a:tc>
                  <a:txBody>
                    <a:bodyPr/>
                    <a:lstStyle/>
                    <a:p>
                      <a:pPr marL="91440">
                        <a:lnSpc>
                          <a:spcPct val="100000"/>
                        </a:lnSpc>
                        <a:spcBef>
                          <a:spcPts val="509"/>
                        </a:spcBef>
                      </a:pPr>
                      <a:r>
                        <a:rPr dirty="0" sz="1800">
                          <a:solidFill>
                            <a:srgbClr val="40458B"/>
                          </a:solidFill>
                          <a:latin typeface="黑体"/>
                          <a:cs typeface="黑体"/>
                        </a:rPr>
                        <a:t>MOVZ </a:t>
                      </a:r>
                      <a:r>
                        <a:rPr dirty="0" sz="1800" spc="-10">
                          <a:solidFill>
                            <a:srgbClr val="40458B"/>
                          </a:solidFill>
                          <a:latin typeface="黑体"/>
                          <a:cs typeface="黑体"/>
                        </a:rPr>
                        <a:t>R1，R2，R3</a:t>
                      </a:r>
                      <a:endParaRPr sz="1800">
                        <a:latin typeface="黑体"/>
                        <a:cs typeface="黑体"/>
                      </a:endParaRPr>
                    </a:p>
                  </a:txBody>
                  <a:tcPr marL="0" marR="0" marB="0" marT="64769">
                    <a:lnL w="28575">
                      <a:solidFill>
                        <a:srgbClr val="40458B"/>
                      </a:solidFill>
                      <a:prstDash val="solid"/>
                    </a:lnL>
                    <a:lnR w="12700">
                      <a:solidFill>
                        <a:srgbClr val="40458B"/>
                      </a:solidFill>
                      <a:prstDash val="solid"/>
                    </a:lnR>
                    <a:lnT w="12700">
                      <a:solidFill>
                        <a:srgbClr val="40458B"/>
                      </a:solidFill>
                      <a:prstDash val="solid"/>
                    </a:lnT>
                  </a:tcPr>
                </a:tc>
                <a:tc>
                  <a:txBody>
                    <a:bodyPr/>
                    <a:lstStyle/>
                    <a:p>
                      <a:pPr marL="91440">
                        <a:lnSpc>
                          <a:spcPct val="100000"/>
                        </a:lnSpc>
                        <a:spcBef>
                          <a:spcPts val="509"/>
                        </a:spcBef>
                      </a:pPr>
                      <a:r>
                        <a:rPr dirty="0" sz="1800" spc="-10">
                          <a:solidFill>
                            <a:srgbClr val="40458B"/>
                          </a:solidFill>
                          <a:latin typeface="黑体"/>
                          <a:cs typeface="黑体"/>
                        </a:rPr>
                        <a:t>等于零时移动</a:t>
                      </a:r>
                      <a:endParaRPr sz="1800">
                        <a:latin typeface="黑体"/>
                        <a:cs typeface="黑体"/>
                      </a:endParaRPr>
                    </a:p>
                  </a:txBody>
                  <a:tcPr marL="0" marR="0" marB="0" marT="64769">
                    <a:lnL w="12700">
                      <a:solidFill>
                        <a:srgbClr val="40458B"/>
                      </a:solidFill>
                      <a:prstDash val="solid"/>
                    </a:lnL>
                    <a:lnR w="12700">
                      <a:solidFill>
                        <a:srgbClr val="40458B"/>
                      </a:solidFill>
                      <a:prstDash val="solid"/>
                    </a:lnR>
                    <a:lnT w="12700">
                      <a:solidFill>
                        <a:srgbClr val="40458B"/>
                      </a:solidFill>
                      <a:prstDash val="solid"/>
                    </a:lnT>
                  </a:tcPr>
                </a:tc>
                <a:tc>
                  <a:txBody>
                    <a:bodyPr/>
                    <a:lstStyle/>
                    <a:p>
                      <a:pPr marL="92075">
                        <a:lnSpc>
                          <a:spcPct val="100000"/>
                        </a:lnSpc>
                        <a:spcBef>
                          <a:spcPts val="509"/>
                        </a:spcBef>
                      </a:pPr>
                      <a:r>
                        <a:rPr dirty="0" sz="1800">
                          <a:solidFill>
                            <a:srgbClr val="40458B"/>
                          </a:solidFill>
                          <a:latin typeface="黑体"/>
                          <a:cs typeface="黑体"/>
                        </a:rPr>
                        <a:t>if(Regs[R3]==0) Regs[R1]← </a:t>
                      </a:r>
                      <a:r>
                        <a:rPr dirty="0" sz="1800" spc="-10">
                          <a:solidFill>
                            <a:srgbClr val="40458B"/>
                          </a:solidFill>
                          <a:latin typeface="黑体"/>
                          <a:cs typeface="黑体"/>
                        </a:rPr>
                        <a:t>Regs[R2]</a:t>
                      </a:r>
                      <a:endParaRPr sz="1800">
                        <a:latin typeface="黑体"/>
                        <a:cs typeface="黑体"/>
                      </a:endParaRPr>
                    </a:p>
                  </a:txBody>
                  <a:tcPr marL="0" marR="0" marB="0" marT="64769">
                    <a:lnL w="12700">
                      <a:solidFill>
                        <a:srgbClr val="40458B"/>
                      </a:solidFill>
                      <a:prstDash val="solid"/>
                    </a:lnL>
                    <a:lnR w="28575">
                      <a:solidFill>
                        <a:srgbClr val="40458B"/>
                      </a:solidFill>
                      <a:prstDash val="solid"/>
                    </a:lnR>
                    <a:lnT w="12700">
                      <a:solidFill>
                        <a:srgbClr val="40458B"/>
                      </a:solidFill>
                      <a:prstDash val="solid"/>
                    </a:lnT>
                  </a:tcPr>
                </a:tc>
              </a:tr>
            </a:tbl>
          </a:graphicData>
        </a:graphic>
      </p:graphicFrame>
      <p:sp>
        <p:nvSpPr>
          <p:cNvPr id="3" name="object 3"/>
          <p:cNvSpPr txBox="1">
            <a:spLocks noGrp="1"/>
          </p:cNvSpPr>
          <p:nvPr>
            <p:ph type="title"/>
          </p:nvPr>
        </p:nvSpPr>
        <p:spPr>
          <a:xfrm>
            <a:off x="2071242" y="74421"/>
            <a:ext cx="1348740" cy="422275"/>
          </a:xfrm>
          <a:prstGeom prst="rect"/>
        </p:spPr>
        <p:txBody>
          <a:bodyPr wrap="square" lIns="0" tIns="12700" rIns="0" bIns="0" rtlCol="0" vert="horz">
            <a:spAutoFit/>
          </a:bodyPr>
          <a:lstStyle/>
          <a:p>
            <a:pPr marL="12700">
              <a:lnSpc>
                <a:spcPct val="100000"/>
              </a:lnSpc>
              <a:spcBef>
                <a:spcPts val="100"/>
              </a:spcBef>
            </a:pPr>
            <a:r>
              <a:rPr dirty="0" u="none" sz="2600" spc="-15" b="0">
                <a:solidFill>
                  <a:srgbClr val="40458B"/>
                </a:solidFill>
                <a:latin typeface="黑体"/>
                <a:cs typeface="黑体"/>
              </a:rPr>
              <a:t>跳转指令</a:t>
            </a:r>
            <a:endParaRPr sz="2600">
              <a:latin typeface="黑体"/>
              <a:cs typeface="黑体"/>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t>	2.6.7</a:t>
            </a:r>
            <a:r>
              <a:rPr dirty="0" spc="-55"/>
              <a:t> </a:t>
            </a:r>
            <a:r>
              <a:rPr dirty="0"/>
              <a:t>MIPS</a:t>
            </a:r>
            <a:r>
              <a:rPr dirty="0">
                <a:latin typeface="微软雅黑"/>
                <a:cs typeface="微软雅黑"/>
              </a:rPr>
              <a:t>的浮点</a:t>
            </a:r>
            <a:r>
              <a:rPr dirty="0" spc="-25">
                <a:latin typeface="微软雅黑"/>
                <a:cs typeface="微软雅黑"/>
              </a:rPr>
              <a:t>操</a:t>
            </a:r>
            <a:r>
              <a:rPr dirty="0" spc="-50">
                <a:latin typeface="微软雅黑"/>
                <a:cs typeface="微软雅黑"/>
              </a:rPr>
              <a:t>作</a:t>
            </a:r>
            <a:r>
              <a:rPr dirty="0">
                <a:latin typeface="微软雅黑"/>
                <a:cs typeface="微软雅黑"/>
              </a:rPr>
              <a:t>	</a:t>
            </a:r>
          </a:p>
        </p:txBody>
      </p:sp>
      <p:sp>
        <p:nvSpPr>
          <p:cNvPr id="4" name="object 4" descr=""/>
          <p:cNvSpPr txBox="1"/>
          <p:nvPr/>
        </p:nvSpPr>
        <p:spPr>
          <a:xfrm>
            <a:off x="2288794" y="1013529"/>
            <a:ext cx="7545070" cy="4711700"/>
          </a:xfrm>
          <a:prstGeom prst="rect">
            <a:avLst/>
          </a:prstGeom>
        </p:spPr>
        <p:txBody>
          <a:bodyPr wrap="square" lIns="0" tIns="90805" rIns="0" bIns="0" rtlCol="0" vert="horz">
            <a:spAutoFit/>
          </a:bodyPr>
          <a:lstStyle/>
          <a:p>
            <a:pPr marL="354965" indent="-342265">
              <a:lnSpc>
                <a:spcPct val="100000"/>
              </a:lnSpc>
              <a:spcBef>
                <a:spcPts val="715"/>
              </a:spcBef>
              <a:buClr>
                <a:srgbClr val="40458B"/>
              </a:buClr>
              <a:buSzPct val="114285"/>
              <a:buFont typeface="Wingdings"/>
              <a:buChar char=""/>
              <a:tabLst>
                <a:tab pos="354965" algn="l"/>
              </a:tabLst>
            </a:pPr>
            <a:r>
              <a:rPr dirty="0" sz="2800" spc="-35">
                <a:solidFill>
                  <a:srgbClr val="172152"/>
                </a:solidFill>
                <a:latin typeface="黑体"/>
                <a:cs typeface="黑体"/>
              </a:rPr>
              <a:t>分支指令</a:t>
            </a:r>
            <a:r>
              <a:rPr dirty="0" sz="2800" spc="-30">
                <a:solidFill>
                  <a:srgbClr val="172152"/>
                </a:solidFill>
                <a:latin typeface="黑体"/>
                <a:cs typeface="黑体"/>
              </a:rPr>
              <a:t>（</a:t>
            </a:r>
            <a:r>
              <a:rPr dirty="0" sz="2800" spc="-35">
                <a:solidFill>
                  <a:srgbClr val="172152"/>
                </a:solidFill>
                <a:latin typeface="黑体"/>
                <a:cs typeface="黑体"/>
              </a:rPr>
              <a:t>条件转移</a:t>
            </a:r>
            <a:r>
              <a:rPr dirty="0" sz="2800" spc="-50">
                <a:solidFill>
                  <a:srgbClr val="172152"/>
                </a:solidFill>
                <a:latin typeface="黑体"/>
                <a:cs typeface="黑体"/>
              </a:rPr>
              <a:t>）</a:t>
            </a:r>
            <a:endParaRPr sz="2800">
              <a:latin typeface="黑体"/>
              <a:cs typeface="黑体"/>
            </a:endParaRPr>
          </a:p>
          <a:p>
            <a:pPr lvl="1" marL="1099185" indent="-457200">
              <a:lnSpc>
                <a:spcPct val="100000"/>
              </a:lnSpc>
              <a:spcBef>
                <a:spcPts val="775"/>
              </a:spcBef>
              <a:buClr>
                <a:srgbClr val="006FC0"/>
              </a:buClr>
              <a:buSzPct val="88636"/>
              <a:buFont typeface="Wingdings"/>
              <a:buChar char=""/>
              <a:tabLst>
                <a:tab pos="1099185" algn="l"/>
              </a:tabLst>
            </a:pPr>
            <a:r>
              <a:rPr dirty="0" sz="2200" spc="-30">
                <a:solidFill>
                  <a:srgbClr val="D50092"/>
                </a:solidFill>
                <a:latin typeface="黑体"/>
                <a:cs typeface="黑体"/>
              </a:rPr>
              <a:t>分支条件</a:t>
            </a:r>
            <a:r>
              <a:rPr dirty="0" sz="2200" spc="-35">
                <a:solidFill>
                  <a:srgbClr val="006FC0"/>
                </a:solidFill>
                <a:latin typeface="黑体"/>
                <a:cs typeface="黑体"/>
              </a:rPr>
              <a:t>由指令确定</a:t>
            </a:r>
            <a:endParaRPr sz="2200">
              <a:latin typeface="黑体"/>
              <a:cs typeface="黑体"/>
            </a:endParaRPr>
          </a:p>
          <a:p>
            <a:pPr marL="948055">
              <a:lnSpc>
                <a:spcPct val="100000"/>
              </a:lnSpc>
              <a:spcBef>
                <a:spcPts val="745"/>
              </a:spcBef>
            </a:pPr>
            <a:r>
              <a:rPr dirty="0" sz="2000" spc="-10" b="1">
                <a:solidFill>
                  <a:srgbClr val="E14B04"/>
                </a:solidFill>
                <a:latin typeface="黑体"/>
                <a:cs typeface="黑体"/>
              </a:rPr>
              <a:t>例如：</a:t>
            </a:r>
            <a:r>
              <a:rPr dirty="0" sz="2000" spc="-25" b="1">
                <a:solidFill>
                  <a:srgbClr val="6F2F9F"/>
                </a:solidFill>
                <a:latin typeface="黑体"/>
                <a:cs typeface="黑体"/>
              </a:rPr>
              <a:t>测试某个寄存器的值是否为零</a:t>
            </a:r>
            <a:endParaRPr sz="2000">
              <a:latin typeface="黑体"/>
              <a:cs typeface="黑体"/>
            </a:endParaRPr>
          </a:p>
          <a:p>
            <a:pPr lvl="1" marL="1099185" indent="-457200">
              <a:lnSpc>
                <a:spcPct val="100000"/>
              </a:lnSpc>
              <a:spcBef>
                <a:spcPts val="770"/>
              </a:spcBef>
              <a:buSzPct val="88636"/>
              <a:buFont typeface="Wingdings"/>
              <a:buChar char=""/>
              <a:tabLst>
                <a:tab pos="1099185" algn="l"/>
              </a:tabLst>
            </a:pPr>
            <a:r>
              <a:rPr dirty="0" sz="2200" spc="-35">
                <a:solidFill>
                  <a:srgbClr val="006FC0"/>
                </a:solidFill>
                <a:latin typeface="黑体"/>
                <a:cs typeface="黑体"/>
              </a:rPr>
              <a:t>提供一组比较指令，用于比较两个寄存器的值。</a:t>
            </a:r>
            <a:endParaRPr sz="2200">
              <a:latin typeface="黑体"/>
              <a:cs typeface="黑体"/>
            </a:endParaRPr>
          </a:p>
          <a:p>
            <a:pPr marL="948055">
              <a:lnSpc>
                <a:spcPct val="100000"/>
              </a:lnSpc>
              <a:spcBef>
                <a:spcPts val="740"/>
              </a:spcBef>
            </a:pPr>
            <a:r>
              <a:rPr dirty="0" sz="2000" spc="-10" b="1">
                <a:solidFill>
                  <a:srgbClr val="E14B04"/>
                </a:solidFill>
                <a:latin typeface="黑体"/>
                <a:cs typeface="黑体"/>
              </a:rPr>
              <a:t>例如：</a:t>
            </a:r>
            <a:r>
              <a:rPr dirty="0" sz="2000" spc="-25" b="1">
                <a:solidFill>
                  <a:srgbClr val="6F2F9F"/>
                </a:solidFill>
                <a:latin typeface="黑体"/>
                <a:cs typeface="黑体"/>
              </a:rPr>
              <a:t>“置小于”指令</a:t>
            </a:r>
            <a:endParaRPr sz="2000">
              <a:latin typeface="黑体"/>
              <a:cs typeface="黑体"/>
            </a:endParaRPr>
          </a:p>
          <a:p>
            <a:pPr lvl="1" marL="1099185" indent="-457200">
              <a:lnSpc>
                <a:spcPct val="100000"/>
              </a:lnSpc>
              <a:spcBef>
                <a:spcPts val="775"/>
              </a:spcBef>
              <a:buSzPct val="88636"/>
              <a:buFont typeface="Wingdings"/>
              <a:buChar char=""/>
              <a:tabLst>
                <a:tab pos="1099185" algn="l"/>
              </a:tabLst>
            </a:pPr>
            <a:r>
              <a:rPr dirty="0" sz="2200" spc="-35">
                <a:solidFill>
                  <a:srgbClr val="006FC0"/>
                </a:solidFill>
                <a:latin typeface="黑体"/>
                <a:cs typeface="黑体"/>
              </a:rPr>
              <a:t>有的分支指令可以直接判断寄存器内容是否为负，或</a:t>
            </a:r>
            <a:endParaRPr sz="2200">
              <a:latin typeface="黑体"/>
              <a:cs typeface="黑体"/>
            </a:endParaRPr>
          </a:p>
          <a:p>
            <a:pPr marL="1099185">
              <a:lnSpc>
                <a:spcPct val="100000"/>
              </a:lnSpc>
              <a:spcBef>
                <a:spcPts val="265"/>
              </a:spcBef>
            </a:pPr>
            <a:r>
              <a:rPr dirty="0" sz="2200" spc="-35">
                <a:solidFill>
                  <a:srgbClr val="006FC0"/>
                </a:solidFill>
                <a:latin typeface="黑体"/>
                <a:cs typeface="黑体"/>
              </a:rPr>
              <a:t>者比较两个寄存器是否相等。</a:t>
            </a:r>
            <a:endParaRPr sz="2200">
              <a:latin typeface="黑体"/>
              <a:cs typeface="黑体"/>
            </a:endParaRPr>
          </a:p>
          <a:p>
            <a:pPr lvl="1" marL="1099185" indent="-457200">
              <a:lnSpc>
                <a:spcPct val="100000"/>
              </a:lnSpc>
              <a:spcBef>
                <a:spcPts val="790"/>
              </a:spcBef>
              <a:buClr>
                <a:srgbClr val="006FC0"/>
              </a:buClr>
              <a:buSzPct val="88636"/>
              <a:buFont typeface="Wingdings"/>
              <a:buChar char=""/>
              <a:tabLst>
                <a:tab pos="1099185" algn="l"/>
              </a:tabLst>
            </a:pPr>
            <a:r>
              <a:rPr dirty="0" sz="2200" spc="-35">
                <a:solidFill>
                  <a:srgbClr val="D50092"/>
                </a:solidFill>
                <a:latin typeface="黑体"/>
                <a:cs typeface="黑体"/>
              </a:rPr>
              <a:t>分支的目标地址</a:t>
            </a:r>
            <a:endParaRPr sz="2200">
              <a:latin typeface="黑体"/>
              <a:cs typeface="黑体"/>
            </a:endParaRPr>
          </a:p>
          <a:p>
            <a:pPr marL="948055">
              <a:lnSpc>
                <a:spcPct val="100000"/>
              </a:lnSpc>
              <a:spcBef>
                <a:spcPts val="740"/>
              </a:spcBef>
            </a:pPr>
            <a:r>
              <a:rPr dirty="0" sz="2000" b="1">
                <a:solidFill>
                  <a:srgbClr val="6F2F9F"/>
                </a:solidFill>
                <a:latin typeface="黑体"/>
                <a:cs typeface="黑体"/>
              </a:rPr>
              <a:t>由</a:t>
            </a:r>
            <a:r>
              <a:rPr dirty="0" sz="2000" b="1">
                <a:solidFill>
                  <a:srgbClr val="6F2F9F"/>
                </a:solidFill>
                <a:latin typeface="宋体"/>
                <a:cs typeface="宋体"/>
              </a:rPr>
              <a:t>16</a:t>
            </a:r>
            <a:r>
              <a:rPr dirty="0" sz="2000" spc="-20" b="1">
                <a:solidFill>
                  <a:srgbClr val="6F2F9F"/>
                </a:solidFill>
                <a:latin typeface="黑体"/>
                <a:cs typeface="黑体"/>
              </a:rPr>
              <a:t>位带符号偏移量</a:t>
            </a:r>
            <a:r>
              <a:rPr dirty="0" sz="2000" spc="-20" b="1">
                <a:solidFill>
                  <a:srgbClr val="FF0000"/>
                </a:solidFill>
                <a:latin typeface="黑体"/>
                <a:cs typeface="黑体"/>
              </a:rPr>
              <a:t>左移两位</a:t>
            </a:r>
            <a:r>
              <a:rPr dirty="0" sz="2000" spc="-15" b="1">
                <a:solidFill>
                  <a:srgbClr val="6F2F9F"/>
                </a:solidFill>
                <a:latin typeface="黑体"/>
                <a:cs typeface="黑体"/>
              </a:rPr>
              <a:t>后和</a:t>
            </a:r>
            <a:r>
              <a:rPr dirty="0" sz="2000" spc="-10" b="1">
                <a:solidFill>
                  <a:srgbClr val="6F2F9F"/>
                </a:solidFill>
                <a:latin typeface="宋体"/>
                <a:cs typeface="宋体"/>
              </a:rPr>
              <a:t>PC</a:t>
            </a:r>
            <a:r>
              <a:rPr dirty="0" sz="2000" spc="-25" b="1">
                <a:solidFill>
                  <a:srgbClr val="6F2F9F"/>
                </a:solidFill>
                <a:latin typeface="黑体"/>
                <a:cs typeface="黑体"/>
              </a:rPr>
              <a:t>相加的结果来决定</a:t>
            </a:r>
            <a:endParaRPr sz="2000">
              <a:latin typeface="黑体"/>
              <a:cs typeface="黑体"/>
            </a:endParaRPr>
          </a:p>
          <a:p>
            <a:pPr lvl="1" marL="1099185" marR="5080" indent="-457200">
              <a:lnSpc>
                <a:spcPct val="110000"/>
              </a:lnSpc>
              <a:spcBef>
                <a:spcPts val="509"/>
              </a:spcBef>
              <a:buSzPct val="88636"/>
              <a:buFont typeface="Wingdings"/>
              <a:buChar char=""/>
              <a:tabLst>
                <a:tab pos="1099185" algn="l"/>
              </a:tabLst>
            </a:pPr>
            <a:r>
              <a:rPr dirty="0" sz="2200" spc="-35">
                <a:solidFill>
                  <a:srgbClr val="006FC0"/>
                </a:solidFill>
                <a:latin typeface="黑体"/>
                <a:cs typeface="黑体"/>
              </a:rPr>
              <a:t>一条浮点条件分支指令：通过测试浮点状态寄存器来决定是否进行分支。</a:t>
            </a:r>
            <a:endParaRPr sz="2200">
              <a:latin typeface="黑体"/>
              <a:cs typeface="黑体"/>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6524624"/>
            <a:ext cx="12184380" cy="333375"/>
          </a:xfrm>
          <a:custGeom>
            <a:avLst/>
            <a:gdLst/>
            <a:ahLst/>
            <a:cxnLst/>
            <a:rect l="l" t="t" r="r" b="b"/>
            <a:pathLst>
              <a:path w="12184380" h="333375">
                <a:moveTo>
                  <a:pt x="0" y="333375"/>
                </a:moveTo>
                <a:lnTo>
                  <a:pt x="12184063" y="333375"/>
                </a:lnTo>
                <a:lnTo>
                  <a:pt x="12184063" y="0"/>
                </a:lnTo>
                <a:lnTo>
                  <a:pt x="0" y="0"/>
                </a:lnTo>
                <a:lnTo>
                  <a:pt x="0" y="333375"/>
                </a:lnTo>
                <a:close/>
              </a:path>
            </a:pathLst>
          </a:custGeom>
          <a:solidFill>
            <a:srgbClr val="044775"/>
          </a:solid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39570" algn="l"/>
                <a:tab pos="11028045" algn="l"/>
              </a:tabLst>
            </a:pPr>
            <a:r>
              <a:rPr dirty="0"/>
              <a:t>	2.6.7</a:t>
            </a:r>
            <a:r>
              <a:rPr dirty="0" spc="-55"/>
              <a:t> </a:t>
            </a:r>
            <a:r>
              <a:rPr dirty="0"/>
              <a:t>MIPS</a:t>
            </a:r>
            <a:r>
              <a:rPr dirty="0">
                <a:latin typeface="微软雅黑"/>
                <a:cs typeface="微软雅黑"/>
              </a:rPr>
              <a:t>的浮点</a:t>
            </a:r>
            <a:r>
              <a:rPr dirty="0" spc="-25">
                <a:latin typeface="微软雅黑"/>
                <a:cs typeface="微软雅黑"/>
              </a:rPr>
              <a:t>操</a:t>
            </a:r>
            <a:r>
              <a:rPr dirty="0" spc="-50">
                <a:latin typeface="微软雅黑"/>
                <a:cs typeface="微软雅黑"/>
              </a:rPr>
              <a:t>作</a:t>
            </a:r>
            <a:r>
              <a:rPr dirty="0">
                <a:latin typeface="微软雅黑"/>
                <a:cs typeface="微软雅黑"/>
              </a:rPr>
              <a:t>	</a:t>
            </a:r>
          </a:p>
        </p:txBody>
      </p:sp>
      <p:sp>
        <p:nvSpPr>
          <p:cNvPr id="4" name="object 4" descr=""/>
          <p:cNvSpPr txBox="1"/>
          <p:nvPr/>
        </p:nvSpPr>
        <p:spPr>
          <a:xfrm>
            <a:off x="2214117" y="1445329"/>
            <a:ext cx="8660130" cy="4156710"/>
          </a:xfrm>
          <a:prstGeom prst="rect">
            <a:avLst/>
          </a:prstGeom>
        </p:spPr>
        <p:txBody>
          <a:bodyPr wrap="square" lIns="0" tIns="154305" rIns="0" bIns="0" rtlCol="0" vert="horz">
            <a:spAutoFit/>
          </a:bodyPr>
          <a:lstStyle/>
          <a:p>
            <a:pPr marL="469265" indent="-456565">
              <a:lnSpc>
                <a:spcPct val="100000"/>
              </a:lnSpc>
              <a:spcBef>
                <a:spcPts val="1215"/>
              </a:spcBef>
              <a:buClr>
                <a:srgbClr val="40458B"/>
              </a:buClr>
              <a:buSzPct val="117857"/>
              <a:buFont typeface="Wingdings"/>
              <a:buChar char=""/>
              <a:tabLst>
                <a:tab pos="469265" algn="l"/>
              </a:tabLst>
            </a:pPr>
            <a:r>
              <a:rPr dirty="0" sz="2800" spc="-35">
                <a:solidFill>
                  <a:srgbClr val="172152"/>
                </a:solidFill>
                <a:latin typeface="黑体"/>
                <a:cs typeface="黑体"/>
              </a:rPr>
              <a:t>由操作码指出操作数是单精度</a:t>
            </a:r>
            <a:r>
              <a:rPr dirty="0" sz="2800" spc="-25">
                <a:solidFill>
                  <a:srgbClr val="172152"/>
                </a:solidFill>
                <a:latin typeface="黑体"/>
                <a:cs typeface="黑体"/>
              </a:rPr>
              <a:t>（SP）</a:t>
            </a:r>
            <a:r>
              <a:rPr dirty="0" sz="2800" spc="-35">
                <a:solidFill>
                  <a:srgbClr val="172152"/>
                </a:solidFill>
                <a:latin typeface="黑体"/>
                <a:cs typeface="黑体"/>
              </a:rPr>
              <a:t>或双精度</a:t>
            </a:r>
            <a:r>
              <a:rPr dirty="0" sz="2800" spc="-20">
                <a:solidFill>
                  <a:srgbClr val="172152"/>
                </a:solidFill>
                <a:latin typeface="黑体"/>
                <a:cs typeface="黑体"/>
              </a:rPr>
              <a:t>（DP）</a:t>
            </a:r>
            <a:endParaRPr sz="2800">
              <a:latin typeface="黑体"/>
              <a:cs typeface="黑体"/>
            </a:endParaRPr>
          </a:p>
          <a:p>
            <a:pPr lvl="1" marL="1099185" indent="-457200">
              <a:lnSpc>
                <a:spcPct val="100000"/>
              </a:lnSpc>
              <a:spcBef>
                <a:spcPts val="875"/>
              </a:spcBef>
              <a:buClr>
                <a:srgbClr val="006FC0"/>
              </a:buClr>
              <a:buSzPct val="88636"/>
              <a:buFont typeface="Wingdings"/>
              <a:buChar char=""/>
              <a:tabLst>
                <a:tab pos="1099185" algn="l"/>
              </a:tabLst>
            </a:pPr>
            <a:r>
              <a:rPr dirty="0" sz="2200" spc="-25">
                <a:solidFill>
                  <a:srgbClr val="D50092"/>
                </a:solidFill>
                <a:latin typeface="黑体"/>
                <a:cs typeface="黑体"/>
              </a:rPr>
              <a:t>后缀</a:t>
            </a:r>
            <a:r>
              <a:rPr dirty="0" sz="2200" spc="-20">
                <a:solidFill>
                  <a:srgbClr val="D50092"/>
                </a:solidFill>
                <a:latin typeface="黑体"/>
                <a:cs typeface="黑体"/>
              </a:rPr>
              <a:t>S：</a:t>
            </a:r>
            <a:r>
              <a:rPr dirty="0" sz="2200" spc="-35">
                <a:solidFill>
                  <a:srgbClr val="006FC0"/>
                </a:solidFill>
                <a:latin typeface="黑体"/>
                <a:cs typeface="黑体"/>
              </a:rPr>
              <a:t>表示操作数是单精度浮点数</a:t>
            </a:r>
            <a:endParaRPr sz="2200">
              <a:latin typeface="黑体"/>
              <a:cs typeface="黑体"/>
            </a:endParaRPr>
          </a:p>
          <a:p>
            <a:pPr lvl="1" marL="1099185" indent="-457200">
              <a:lnSpc>
                <a:spcPct val="100000"/>
              </a:lnSpc>
              <a:spcBef>
                <a:spcPts val="795"/>
              </a:spcBef>
              <a:buClr>
                <a:srgbClr val="006FC0"/>
              </a:buClr>
              <a:buSzPct val="88636"/>
              <a:buFont typeface="Wingdings"/>
              <a:buChar char=""/>
              <a:tabLst>
                <a:tab pos="1099185" algn="l"/>
              </a:tabLst>
            </a:pPr>
            <a:r>
              <a:rPr dirty="0" sz="2200" spc="-25">
                <a:solidFill>
                  <a:srgbClr val="D50092"/>
                </a:solidFill>
                <a:latin typeface="黑体"/>
                <a:cs typeface="黑体"/>
              </a:rPr>
              <a:t>后缀</a:t>
            </a:r>
            <a:r>
              <a:rPr dirty="0" sz="2200" spc="-20">
                <a:solidFill>
                  <a:srgbClr val="D50092"/>
                </a:solidFill>
                <a:latin typeface="黑体"/>
                <a:cs typeface="黑体"/>
              </a:rPr>
              <a:t>D：</a:t>
            </a:r>
            <a:r>
              <a:rPr dirty="0" sz="2200" spc="-35">
                <a:solidFill>
                  <a:srgbClr val="006FC0"/>
                </a:solidFill>
                <a:latin typeface="黑体"/>
                <a:cs typeface="黑体"/>
              </a:rPr>
              <a:t>表示是双精度浮点数</a:t>
            </a:r>
            <a:endParaRPr sz="2200">
              <a:latin typeface="黑体"/>
              <a:cs typeface="黑体"/>
            </a:endParaRPr>
          </a:p>
          <a:p>
            <a:pPr marL="469265" indent="-456565">
              <a:lnSpc>
                <a:spcPct val="100000"/>
              </a:lnSpc>
              <a:spcBef>
                <a:spcPts val="925"/>
              </a:spcBef>
              <a:buClr>
                <a:srgbClr val="40458B"/>
              </a:buClr>
              <a:buSzPct val="117857"/>
              <a:buFont typeface="Wingdings"/>
              <a:buChar char=""/>
              <a:tabLst>
                <a:tab pos="469265" algn="l"/>
              </a:tabLst>
            </a:pPr>
            <a:r>
              <a:rPr dirty="0" sz="2800" spc="-40">
                <a:solidFill>
                  <a:srgbClr val="172152"/>
                </a:solidFill>
                <a:latin typeface="黑体"/>
                <a:cs typeface="黑体"/>
              </a:rPr>
              <a:t>浮点操作</a:t>
            </a:r>
            <a:endParaRPr sz="2800">
              <a:latin typeface="黑体"/>
              <a:cs typeface="黑体"/>
            </a:endParaRPr>
          </a:p>
          <a:p>
            <a:pPr marL="948690">
              <a:lnSpc>
                <a:spcPct val="100000"/>
              </a:lnSpc>
              <a:spcBef>
                <a:spcPts val="825"/>
              </a:spcBef>
            </a:pPr>
            <a:r>
              <a:rPr dirty="0" sz="2000" spc="-25" b="1">
                <a:solidFill>
                  <a:srgbClr val="6F2F9F"/>
                </a:solidFill>
                <a:latin typeface="黑体"/>
                <a:cs typeface="黑体"/>
              </a:rPr>
              <a:t>包括加、减、乘、除，分别有单精度和双精度指令。</a:t>
            </a:r>
            <a:endParaRPr sz="2000">
              <a:latin typeface="黑体"/>
              <a:cs typeface="黑体"/>
            </a:endParaRPr>
          </a:p>
          <a:p>
            <a:pPr marL="469265" indent="-456565">
              <a:lnSpc>
                <a:spcPct val="100000"/>
              </a:lnSpc>
              <a:spcBef>
                <a:spcPts val="905"/>
              </a:spcBef>
              <a:buClr>
                <a:srgbClr val="40458B"/>
              </a:buClr>
              <a:buSzPct val="117857"/>
              <a:buFont typeface="Wingdings"/>
              <a:buChar char=""/>
              <a:tabLst>
                <a:tab pos="469265" algn="l"/>
              </a:tabLst>
            </a:pPr>
            <a:r>
              <a:rPr dirty="0" sz="2800" spc="-40">
                <a:solidFill>
                  <a:srgbClr val="172152"/>
                </a:solidFill>
                <a:latin typeface="黑体"/>
                <a:cs typeface="黑体"/>
              </a:rPr>
              <a:t>浮点数比较指令</a:t>
            </a:r>
            <a:endParaRPr sz="2800">
              <a:latin typeface="黑体"/>
              <a:cs typeface="黑体"/>
            </a:endParaRPr>
          </a:p>
          <a:p>
            <a:pPr algn="just" lvl="1" marL="1099185" marR="565150" indent="-457834">
              <a:lnSpc>
                <a:spcPct val="110100"/>
              </a:lnSpc>
              <a:spcBef>
                <a:spcPts val="610"/>
              </a:spcBef>
              <a:buSzPct val="88636"/>
              <a:buFont typeface="Wingdings"/>
              <a:buChar char=""/>
              <a:tabLst>
                <a:tab pos="1099185" algn="l"/>
              </a:tabLst>
            </a:pPr>
            <a:r>
              <a:rPr dirty="0" sz="2200" spc="-35">
                <a:solidFill>
                  <a:srgbClr val="006FC0"/>
                </a:solidFill>
                <a:latin typeface="黑体"/>
                <a:cs typeface="黑体"/>
              </a:rPr>
              <a:t>根据比较结果设置浮点状态寄存器中的某一位，以便于后</a:t>
            </a:r>
            <a:r>
              <a:rPr dirty="0" sz="2200" spc="-30">
                <a:solidFill>
                  <a:srgbClr val="006FC0"/>
                </a:solidFill>
                <a:latin typeface="黑体"/>
                <a:cs typeface="黑体"/>
              </a:rPr>
              <a:t>面的分支指令</a:t>
            </a:r>
            <a:r>
              <a:rPr dirty="0" sz="2200" spc="-20">
                <a:solidFill>
                  <a:srgbClr val="006FC0"/>
                </a:solidFill>
                <a:latin typeface="黑体"/>
                <a:cs typeface="黑体"/>
              </a:rPr>
              <a:t>BC1T（</a:t>
            </a:r>
            <a:r>
              <a:rPr dirty="0" sz="2200" spc="-30">
                <a:solidFill>
                  <a:srgbClr val="006FC0"/>
                </a:solidFill>
                <a:latin typeface="黑体"/>
                <a:cs typeface="黑体"/>
              </a:rPr>
              <a:t>若真则分支）或</a:t>
            </a:r>
            <a:r>
              <a:rPr dirty="0" sz="2200" spc="-20">
                <a:solidFill>
                  <a:srgbClr val="006FC0"/>
                </a:solidFill>
                <a:latin typeface="黑体"/>
                <a:cs typeface="黑体"/>
              </a:rPr>
              <a:t>BC1F（</a:t>
            </a:r>
            <a:r>
              <a:rPr dirty="0" sz="2200" spc="-30">
                <a:solidFill>
                  <a:srgbClr val="006FC0"/>
                </a:solidFill>
                <a:latin typeface="黑体"/>
                <a:cs typeface="黑体"/>
              </a:rPr>
              <a:t>若假则分支</a:t>
            </a:r>
            <a:r>
              <a:rPr dirty="0" sz="2200" spc="-50">
                <a:solidFill>
                  <a:srgbClr val="006FC0"/>
                </a:solidFill>
                <a:latin typeface="黑体"/>
                <a:cs typeface="黑体"/>
              </a:rPr>
              <a:t>）</a:t>
            </a:r>
            <a:r>
              <a:rPr dirty="0" sz="2200" spc="-35">
                <a:solidFill>
                  <a:srgbClr val="006FC0"/>
                </a:solidFill>
                <a:latin typeface="黑体"/>
                <a:cs typeface="黑体"/>
              </a:rPr>
              <a:t>测试该位，以决定是否进行分支。</a:t>
            </a:r>
            <a:endParaRPr sz="2200">
              <a:latin typeface="黑体"/>
              <a:cs typeface="黑体"/>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668F5"/>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yyan</dc:creator>
  <dc:title>没有幻灯片标题</dc:title>
  <dcterms:created xsi:type="dcterms:W3CDTF">2025-12-28T08:56:13Z</dcterms:created>
  <dcterms:modified xsi:type="dcterms:W3CDTF">2025-12-28T08:56:13Z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2025-09-17T00:00:00Z</vt:filetime>
  </property>
  <property fmtid="{D5CDD505-2E9C-101B-9397-08002B2CF9AE}" pid="3" name="Creator">
    <vt:lpwstr>Microsoft® PowerPoint® 2021</vt:lpwstr>
  </property>
  <property fmtid="{D5CDD505-2E9C-101B-9397-08002B2CF9AE}" pid="4" name="LastSaved">
    <vt:filetime>2025-12-28T00:00:00Z</vt:filetime>
  </property>
  <property fmtid="{D5CDD505-2E9C-101B-9397-08002B2CF9AE}" pid="5" name="Producer">
    <vt:lpwstr>Microsoft® PowerPoint® 2021</vt:lpwstr>
  </property>
</Properties>
</file>